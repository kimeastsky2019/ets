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0"/>
  </p:notesMasterIdLst>
  <p:handoutMasterIdLst>
    <p:handoutMasterId r:id="rId31"/>
  </p:handoutMasterIdLst>
  <p:sldIdLst>
    <p:sldId id="2147483593" r:id="rId5"/>
    <p:sldId id="273" r:id="rId6"/>
    <p:sldId id="2147483632" r:id="rId7"/>
    <p:sldId id="260" r:id="rId8"/>
    <p:sldId id="2147483635" r:id="rId9"/>
    <p:sldId id="2147483638" r:id="rId10"/>
    <p:sldId id="2147483639" r:id="rId11"/>
    <p:sldId id="2147483595" r:id="rId12"/>
    <p:sldId id="2147483596" r:id="rId13"/>
    <p:sldId id="262" r:id="rId14"/>
    <p:sldId id="2147483641" r:id="rId15"/>
    <p:sldId id="264" r:id="rId16"/>
    <p:sldId id="2147483647" r:id="rId17"/>
    <p:sldId id="2147483637" r:id="rId18"/>
    <p:sldId id="256" r:id="rId19"/>
    <p:sldId id="2147483636" r:id="rId20"/>
    <p:sldId id="2147483617" r:id="rId21"/>
    <p:sldId id="2147483618" r:id="rId22"/>
    <p:sldId id="2147483634" r:id="rId23"/>
    <p:sldId id="257" r:id="rId24"/>
    <p:sldId id="259" r:id="rId25"/>
    <p:sldId id="261" r:id="rId26"/>
    <p:sldId id="2147483646" r:id="rId27"/>
    <p:sldId id="258" r:id="rId28"/>
    <p:sldId id="274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8DC8E8"/>
    <a:srgbClr val="0086B8"/>
    <a:srgbClr val="043B72"/>
    <a:srgbClr val="00A9CE"/>
    <a:srgbClr val="F0AF6B"/>
    <a:srgbClr val="F4B183"/>
    <a:srgbClr val="CB6015"/>
    <a:srgbClr val="E6EAF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0942F-0FB4-42B3-91F5-17AF8C3EEF05}" v="7" dt="2026-02-24T16:26:42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3" y="2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1816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-Min La" userId="730696ea-53a3-4e95-97a6-548a6563044c" providerId="ADAL" clId="{77DB2BBC-17F4-40AB-99E9-3FF5839C5203}"/>
    <pc:docChg chg="undo custSel addSld delSld modSld">
      <pc:chgData name="Jong-Min La" userId="730696ea-53a3-4e95-97a6-548a6563044c" providerId="ADAL" clId="{77DB2BBC-17F4-40AB-99E9-3FF5839C5203}" dt="2026-02-24T16:26:42.357" v="14"/>
      <pc:docMkLst>
        <pc:docMk/>
      </pc:docMkLst>
      <pc:sldChg chg="modSp">
        <pc:chgData name="Jong-Min La" userId="730696ea-53a3-4e95-97a6-548a6563044c" providerId="ADAL" clId="{77DB2BBC-17F4-40AB-99E9-3FF5839C5203}" dt="2026-02-24T16:26:42.357" v="14"/>
        <pc:sldMkLst>
          <pc:docMk/>
          <pc:sldMk cId="2065715893" sldId="259"/>
        </pc:sldMkLst>
        <pc:graphicFrameChg chg="mod">
          <ac:chgData name="Jong-Min La" userId="730696ea-53a3-4e95-97a6-548a6563044c" providerId="ADAL" clId="{77DB2BBC-17F4-40AB-99E9-3FF5839C5203}" dt="2026-02-24T16:26:42.357" v="14"/>
          <ac:graphicFrameMkLst>
            <pc:docMk/>
            <pc:sldMk cId="2065715893" sldId="259"/>
            <ac:graphicFrameMk id="2" creationId="{42CCBF95-ACAF-77FF-59A0-A71D86E61B25}"/>
          </ac:graphicFrameMkLst>
        </pc:graphicFrameChg>
      </pc:sldChg>
      <pc:sldChg chg="modSp">
        <pc:chgData name="Jong-Min La" userId="730696ea-53a3-4e95-97a6-548a6563044c" providerId="ADAL" clId="{77DB2BBC-17F4-40AB-99E9-3FF5839C5203}" dt="2026-02-19T04:50:20.241" v="1" actId="20578"/>
        <pc:sldMkLst>
          <pc:docMk/>
          <pc:sldMk cId="3585363773" sldId="2147483638"/>
        </pc:sldMkLst>
        <pc:spChg chg="mod">
          <ac:chgData name="Jong-Min La" userId="730696ea-53a3-4e95-97a6-548a6563044c" providerId="ADAL" clId="{77DB2BBC-17F4-40AB-99E9-3FF5839C5203}" dt="2026-02-19T04:50:20.241" v="1" actId="20578"/>
          <ac:spMkLst>
            <pc:docMk/>
            <pc:sldMk cId="3585363773" sldId="2147483638"/>
            <ac:spMk id="20" creationId="{3024EB83-8FB6-6DB5-B788-5E4CAD9B5836}"/>
          </ac:spMkLst>
        </pc:spChg>
      </pc:sldChg>
      <pc:sldChg chg="modSp mod">
        <pc:chgData name="Jong-Min La" userId="730696ea-53a3-4e95-97a6-548a6563044c" providerId="ADAL" clId="{77DB2BBC-17F4-40AB-99E9-3FF5839C5203}" dt="2026-02-19T05:45:12.690" v="6" actId="20577"/>
        <pc:sldMkLst>
          <pc:docMk/>
          <pc:sldMk cId="29134697" sldId="2147483646"/>
        </pc:sldMkLst>
        <pc:spChg chg="mod">
          <ac:chgData name="Jong-Min La" userId="730696ea-53a3-4e95-97a6-548a6563044c" providerId="ADAL" clId="{77DB2BBC-17F4-40AB-99E9-3FF5839C5203}" dt="2026-02-19T05:45:12.690" v="6" actId="20577"/>
          <ac:spMkLst>
            <pc:docMk/>
            <pc:sldMk cId="29134697" sldId="2147483646"/>
            <ac:spMk id="158" creationId="{6BCED59B-238C-CB4F-87DF-A68F2AE4379D}"/>
          </ac:spMkLst>
        </pc:spChg>
      </pc:sldChg>
      <pc:sldChg chg="addSp delSp modSp mod">
        <pc:chgData name="Jong-Min La" userId="730696ea-53a3-4e95-97a6-548a6563044c" providerId="ADAL" clId="{77DB2BBC-17F4-40AB-99E9-3FF5839C5203}" dt="2026-02-20T05:52:19.602" v="10" actId="478"/>
        <pc:sldMkLst>
          <pc:docMk/>
          <pc:sldMk cId="721040255" sldId="2147483647"/>
        </pc:sldMkLst>
        <pc:spChg chg="add del">
          <ac:chgData name="Jong-Min La" userId="730696ea-53a3-4e95-97a6-548a6563044c" providerId="ADAL" clId="{77DB2BBC-17F4-40AB-99E9-3FF5839C5203}" dt="2026-02-20T05:52:19.602" v="10" actId="478"/>
          <ac:spMkLst>
            <pc:docMk/>
            <pc:sldMk cId="721040255" sldId="2147483647"/>
            <ac:spMk id="55" creationId="{048D3122-26EA-26ED-97E3-80C98CB6D10A}"/>
          </ac:spMkLst>
        </pc:spChg>
        <pc:spChg chg="mod">
          <ac:chgData name="Jong-Min La" userId="730696ea-53a3-4e95-97a6-548a6563044c" providerId="ADAL" clId="{77DB2BBC-17F4-40AB-99E9-3FF5839C5203}" dt="2026-02-20T04:39:16.709" v="8" actId="14100"/>
          <ac:spMkLst>
            <pc:docMk/>
            <pc:sldMk cId="721040255" sldId="2147483647"/>
            <ac:spMk id="87" creationId="{B3ED8A40-A29B-2E45-5997-4E5A1241D1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6FB8-697A-6DD7-BE60-B3A69C71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10543D-0B96-1BC9-72EF-9E52B9339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0E575C-D4C2-B911-FCFE-0F781A840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7AA4-9A2B-9597-397B-A90E0B45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EE0786-04A2-0D15-9408-5DAE1E16D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51F772-7834-9E89-4307-6B756B153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02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52A0-DEF1-0C79-6416-8A94D4D0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D51F18-A259-41BB-37C2-BD56A7495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E380E-215A-3C90-6A06-6690EDE91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9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340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2026-02-19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241-3DB2-4398-B83A-2C2555D5AAA5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AI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거버넌스 컨설팅 중간보고</a:t>
            </a:r>
          </a:p>
        </p:txBody>
      </p:sp>
    </p:spTree>
    <p:extLst>
      <p:ext uri="{BB962C8B-B14F-4D97-AF65-F5344CB8AC3E}">
        <p14:creationId xmlns:p14="http://schemas.microsoft.com/office/powerpoint/2010/main" val="108425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5EE81F0-CD3E-4FC5-B80A-D1B1413B9FE7}"/>
              </a:ext>
            </a:extLst>
          </p:cNvPr>
          <p:cNvSpPr txBox="1"/>
          <p:nvPr/>
        </p:nvSpPr>
        <p:spPr>
          <a:xfrm>
            <a:off x="3287997" y="2990565"/>
            <a:ext cx="5167846" cy="315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수립 추진 배경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조직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협의체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규정</a:t>
            </a:r>
            <a:r>
              <a:rPr lang="en-US" altLang="ko-KR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지침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프로세스　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활용 도구 및 문서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Next Plan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Q&amp;A 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55793-210A-44F1-A322-65ADFCAD94DF}"/>
              </a:ext>
            </a:extLst>
          </p:cNvPr>
          <p:cNvSpPr txBox="1"/>
          <p:nvPr/>
        </p:nvSpPr>
        <p:spPr>
          <a:xfrm>
            <a:off x="2890529" y="2217802"/>
            <a:ext cx="2534912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>
              <a:defRPr b="1" spc="-20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600" b="0">
                <a:ln>
                  <a:solidFill>
                    <a:srgbClr val="F58220"/>
                  </a:solidFill>
                </a:ln>
                <a:latin typeface="+mn-ea"/>
                <a:ea typeface="+mn-ea"/>
              </a:rPr>
              <a:t>CONTENTS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6E0572F-279F-4A49-9BB4-2869F6A5A2C1}"/>
              </a:ext>
            </a:extLst>
          </p:cNvPr>
          <p:cNvCxnSpPr>
            <a:cxnSpLocks/>
          </p:cNvCxnSpPr>
          <p:nvPr/>
        </p:nvCxnSpPr>
        <p:spPr>
          <a:xfrm>
            <a:off x="5425440" y="2475390"/>
            <a:ext cx="647192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53">
            <a:extLst>
              <a:ext uri="{FF2B5EF4-FFF2-40B4-BE49-F238E27FC236}">
                <a16:creationId xmlns:a16="http://schemas.microsoft.com/office/drawing/2014/main" id="{F4A7A541-1169-3F1D-6FFC-F1FAB877F1EA}"/>
              </a:ext>
            </a:extLst>
          </p:cNvPr>
          <p:cNvSpPr/>
          <p:nvPr/>
        </p:nvSpPr>
        <p:spPr>
          <a:xfrm>
            <a:off x="3766186" y="3994718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6" name="사각형: 둥근 모서리 53">
            <a:extLst>
              <a:ext uri="{FF2B5EF4-FFF2-40B4-BE49-F238E27FC236}">
                <a16:creationId xmlns:a16="http://schemas.microsoft.com/office/drawing/2014/main" id="{75518DE6-BCE6-D9CE-CC5A-700738F0CDC0}"/>
              </a:ext>
            </a:extLst>
          </p:cNvPr>
          <p:cNvSpPr/>
          <p:nvPr/>
        </p:nvSpPr>
        <p:spPr>
          <a:xfrm>
            <a:off x="3766186" y="4309055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２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7" name="사각형: 둥근 모서리 53">
            <a:extLst>
              <a:ext uri="{FF2B5EF4-FFF2-40B4-BE49-F238E27FC236}">
                <a16:creationId xmlns:a16="http://schemas.microsoft.com/office/drawing/2014/main" id="{E26B19F7-0F47-2598-4C59-DD76FB4546C7}"/>
              </a:ext>
            </a:extLst>
          </p:cNvPr>
          <p:cNvSpPr/>
          <p:nvPr/>
        </p:nvSpPr>
        <p:spPr>
          <a:xfrm>
            <a:off x="3766186" y="4623392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３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8" name="사각형: 둥근 모서리 53">
            <a:extLst>
              <a:ext uri="{FF2B5EF4-FFF2-40B4-BE49-F238E27FC236}">
                <a16:creationId xmlns:a16="http://schemas.microsoft.com/office/drawing/2014/main" id="{5BD3C756-9F00-A0D6-5330-9770CE613692}"/>
              </a:ext>
            </a:extLst>
          </p:cNvPr>
          <p:cNvSpPr/>
          <p:nvPr/>
        </p:nvSpPr>
        <p:spPr>
          <a:xfrm>
            <a:off x="3766186" y="4937729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４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9" name="사각형: 둥근 모서리 53">
            <a:extLst>
              <a:ext uri="{FF2B5EF4-FFF2-40B4-BE49-F238E27FC236}">
                <a16:creationId xmlns:a16="http://schemas.microsoft.com/office/drawing/2014/main" id="{1ED6C3C7-7E8E-1FCB-DB2A-E254008D2121}"/>
              </a:ext>
            </a:extLst>
          </p:cNvPr>
          <p:cNvSpPr/>
          <p:nvPr/>
        </p:nvSpPr>
        <p:spPr>
          <a:xfrm>
            <a:off x="3766186" y="5252065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５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688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2129-44C1-6E3E-99CA-A0A104AC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7301F7-F80E-6623-3A52-0E623F9CCE95}"/>
              </a:ext>
            </a:extLst>
          </p:cNvPr>
          <p:cNvSpPr/>
          <p:nvPr/>
        </p:nvSpPr>
        <p:spPr>
          <a:xfrm>
            <a:off x="3985243" y="2093197"/>
            <a:ext cx="4524345" cy="1755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3819F8-466E-1337-C57D-19C374E0E113}"/>
              </a:ext>
            </a:extLst>
          </p:cNvPr>
          <p:cNvSpPr/>
          <p:nvPr/>
        </p:nvSpPr>
        <p:spPr>
          <a:xfrm>
            <a:off x="2454147" y="4887495"/>
            <a:ext cx="4726829" cy="911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B60771B-4C1C-777E-5D96-7164BC927D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I</a:t>
            </a:r>
            <a:r>
              <a:rPr lang="ko-KR" altLang="en-US"/>
              <a:t>．</a:t>
            </a:r>
            <a:r>
              <a:rPr lang="en-US" altLang="ko-KR"/>
              <a:t>AI</a:t>
            </a:r>
            <a:r>
              <a:rPr lang="ko-KR" altLang="en-US"/>
              <a:t>거버넌스 수립 추진 배경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81DF7E7-81EB-8800-02B6-8FB371DD7F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금융분야 </a:t>
            </a:r>
            <a:r>
              <a:rPr lang="en-US" altLang="ko-KR"/>
              <a:t>AI</a:t>
            </a:r>
            <a:r>
              <a:rPr lang="ko-KR" altLang="en-US"/>
              <a:t> 규제 변화 대응 모습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0BBA173-7F7F-BC02-AFF0-D9D5ED2F76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정부기관이 금융분야 </a:t>
            </a:r>
            <a:r>
              <a:rPr lang="en-US" altLang="ko-KR"/>
              <a:t>AI </a:t>
            </a:r>
            <a:r>
              <a:rPr lang="ko-KR" altLang="en-US"/>
              <a:t>관련 정책 및 제도를 지속적으로 제</a:t>
            </a:r>
            <a:r>
              <a:rPr lang="en-US" altLang="ko-KR"/>
              <a:t>·</a:t>
            </a:r>
            <a:r>
              <a:rPr lang="ko-KR" altLang="en-US"/>
              <a:t>개정함에 따라</a:t>
            </a:r>
            <a:r>
              <a:rPr lang="en-US" altLang="ko-KR"/>
              <a:t>, </a:t>
            </a:r>
            <a:r>
              <a:rPr lang="ko-KR" altLang="en-US"/>
              <a:t>금융권은 규제 준수와 신뢰성 확보를 위해 </a:t>
            </a:r>
            <a:r>
              <a:rPr lang="en-US" altLang="ko-KR"/>
              <a:t>AI </a:t>
            </a:r>
            <a:r>
              <a:rPr lang="ko-KR" altLang="en-US"/>
              <a:t>거버넌스 체계 수립을 진행중임</a:t>
            </a:r>
          </a:p>
        </p:txBody>
      </p:sp>
      <p:grpSp>
        <p:nvGrpSpPr>
          <p:cNvPr id="68" name="그룹 78">
            <a:extLst>
              <a:ext uri="{FF2B5EF4-FFF2-40B4-BE49-F238E27FC236}">
                <a16:creationId xmlns:a16="http://schemas.microsoft.com/office/drawing/2014/main" id="{2476E953-436B-0704-16C5-1F183EBFC319}"/>
              </a:ext>
            </a:extLst>
          </p:cNvPr>
          <p:cNvGrpSpPr/>
          <p:nvPr/>
        </p:nvGrpSpPr>
        <p:grpSpPr>
          <a:xfrm>
            <a:off x="407988" y="1374190"/>
            <a:ext cx="11376025" cy="362535"/>
            <a:chOff x="407988" y="1722930"/>
            <a:chExt cx="5510674" cy="362535"/>
          </a:xfrm>
        </p:grpSpPr>
        <p:sp>
          <p:nvSpPr>
            <p:cNvPr id="71" name="직사각형 79">
              <a:extLst>
                <a:ext uri="{FF2B5EF4-FFF2-40B4-BE49-F238E27FC236}">
                  <a16:creationId xmlns:a16="http://schemas.microsoft.com/office/drawing/2014/main" id="{444C2A4A-3EC4-C4AD-22A0-AD5A20D1AC0C}"/>
                </a:ext>
              </a:extLst>
            </p:cNvPr>
            <p:cNvSpPr/>
            <p:nvPr/>
          </p:nvSpPr>
          <p:spPr>
            <a:xfrm>
              <a:off x="407988" y="1722930"/>
              <a:ext cx="5510674" cy="3625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en-US" altLang="ko-KR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관련 감독 기관 제도 변화</a:t>
              </a:r>
            </a:p>
          </p:txBody>
        </p:sp>
        <p:cxnSp>
          <p:nvCxnSpPr>
            <p:cNvPr id="72" name="직선 연결선 80">
              <a:extLst>
                <a:ext uri="{FF2B5EF4-FFF2-40B4-BE49-F238E27FC236}">
                  <a16:creationId xmlns:a16="http://schemas.microsoft.com/office/drawing/2014/main" id="{495D6DC5-0E12-BF4D-69B8-3FD6ED8BED42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2085465"/>
              <a:ext cx="5510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ED75969E-0A18-5CEF-7571-B1A9BA7A07E2}"/>
              </a:ext>
            </a:extLst>
          </p:cNvPr>
          <p:cNvSpPr/>
          <p:nvPr/>
        </p:nvSpPr>
        <p:spPr>
          <a:xfrm>
            <a:off x="520286" y="4084459"/>
            <a:ext cx="11125613" cy="325747"/>
          </a:xfrm>
          <a:prstGeom prst="rightArrow">
            <a:avLst>
              <a:gd name="adj1" fmla="val 50000"/>
              <a:gd name="adj2" fmla="val 93162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ED7D31"/>
              </a:gs>
            </a:gsLst>
            <a:lin ang="0" scaled="0"/>
          </a:gra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B9C5D20-DEB4-6DB5-4A5A-4857BBD9BBDB}"/>
              </a:ext>
            </a:extLst>
          </p:cNvPr>
          <p:cNvCxnSpPr>
            <a:cxnSpLocks/>
          </p:cNvCxnSpPr>
          <p:nvPr/>
        </p:nvCxnSpPr>
        <p:spPr>
          <a:xfrm flipV="1">
            <a:off x="1602305" y="4337243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FA41159-70F5-094E-9359-6E3EE854BD6D}"/>
              </a:ext>
            </a:extLst>
          </p:cNvPr>
          <p:cNvCxnSpPr>
            <a:cxnSpLocks/>
            <a:stCxn id="107" idx="0"/>
            <a:endCxn id="108" idx="4"/>
          </p:cNvCxnSpPr>
          <p:nvPr/>
        </p:nvCxnSpPr>
        <p:spPr>
          <a:xfrm flipV="1">
            <a:off x="3270634" y="4337243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8A6745F9-9802-D910-962A-A88F51E3BF94}"/>
              </a:ext>
            </a:extLst>
          </p:cNvPr>
          <p:cNvGrpSpPr/>
          <p:nvPr/>
        </p:nvGrpSpPr>
        <p:grpSpPr>
          <a:xfrm>
            <a:off x="1391525" y="3849094"/>
            <a:ext cx="421559" cy="488149"/>
            <a:chOff x="1391525" y="3969076"/>
            <a:chExt cx="421559" cy="488149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73469D7-5FC3-39FD-9032-4264E2C4C7FA}"/>
                </a:ext>
              </a:extLst>
            </p:cNvPr>
            <p:cNvSpPr/>
            <p:nvPr/>
          </p:nvSpPr>
          <p:spPr>
            <a:xfrm>
              <a:off x="1512304" y="4277225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D8864A4-9125-7809-15E9-B92B2CD7CD2F}"/>
                </a:ext>
              </a:extLst>
            </p:cNvPr>
            <p:cNvSpPr txBox="1"/>
            <p:nvPr/>
          </p:nvSpPr>
          <p:spPr>
            <a:xfrm>
              <a:off x="1391525" y="3969076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’22.08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2" name="Rectangle: Rounded Corners 50">
            <a:extLst>
              <a:ext uri="{FF2B5EF4-FFF2-40B4-BE49-F238E27FC236}">
                <a16:creationId xmlns:a16="http://schemas.microsoft.com/office/drawing/2014/main" id="{0CB4C698-86DD-6E3B-39AF-5A8403F947B9}"/>
              </a:ext>
            </a:extLst>
          </p:cNvPr>
          <p:cNvSpPr/>
          <p:nvPr/>
        </p:nvSpPr>
        <p:spPr>
          <a:xfrm>
            <a:off x="887695" y="5003261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활용 안내서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10BC24-8FED-51B1-A0B3-6B90A7BDC2ED}"/>
              </a:ext>
            </a:extLst>
          </p:cNvPr>
          <p:cNvGrpSpPr/>
          <p:nvPr/>
        </p:nvGrpSpPr>
        <p:grpSpPr>
          <a:xfrm>
            <a:off x="838793" y="3849093"/>
            <a:ext cx="421559" cy="488149"/>
            <a:chOff x="838793" y="3969075"/>
            <a:chExt cx="421559" cy="488149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7130DDE-36EB-A83C-02BA-630391F55A17}"/>
                </a:ext>
              </a:extLst>
            </p:cNvPr>
            <p:cNvSpPr/>
            <p:nvPr/>
          </p:nvSpPr>
          <p:spPr>
            <a:xfrm>
              <a:off x="959572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659A3F5-9272-1D87-23FC-6EFF137DCACC}"/>
                </a:ext>
              </a:extLst>
            </p:cNvPr>
            <p:cNvSpPr txBox="1"/>
            <p:nvPr/>
          </p:nvSpPr>
          <p:spPr>
            <a:xfrm>
              <a:off x="838793" y="3969075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’21.07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7" name="Rectangle: Rounded Corners 50">
            <a:extLst>
              <a:ext uri="{FF2B5EF4-FFF2-40B4-BE49-F238E27FC236}">
                <a16:creationId xmlns:a16="http://schemas.microsoft.com/office/drawing/2014/main" id="{796808F1-5EBC-1C0E-12DC-429017FF7008}"/>
              </a:ext>
            </a:extLst>
          </p:cNvPr>
          <p:cNvSpPr/>
          <p:nvPr/>
        </p:nvSpPr>
        <p:spPr>
          <a:xfrm>
            <a:off x="334963" y="2191449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운영 가이드라인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FE63D8-4EBB-5930-0C41-3BE0E7BD3F43}"/>
              </a:ext>
            </a:extLst>
          </p:cNvPr>
          <p:cNvGrpSpPr/>
          <p:nvPr/>
        </p:nvGrpSpPr>
        <p:grpSpPr>
          <a:xfrm>
            <a:off x="2515170" y="3849093"/>
            <a:ext cx="421559" cy="488149"/>
            <a:chOff x="2456665" y="3969075"/>
            <a:chExt cx="421559" cy="488149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42207D8-B594-9A3E-919D-47152186502C}"/>
                </a:ext>
              </a:extLst>
            </p:cNvPr>
            <p:cNvSpPr/>
            <p:nvPr/>
          </p:nvSpPr>
          <p:spPr>
            <a:xfrm>
              <a:off x="2577444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8B57085-6D24-A139-E7C1-D88428A03107}"/>
                </a:ext>
              </a:extLst>
            </p:cNvPr>
            <p:cNvSpPr txBox="1"/>
            <p:nvPr/>
          </p:nvSpPr>
          <p:spPr>
            <a:xfrm>
              <a:off x="2456665" y="3969075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’23.04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02" name="Rectangle: Rounded Corners 50">
            <a:extLst>
              <a:ext uri="{FF2B5EF4-FFF2-40B4-BE49-F238E27FC236}">
                <a16:creationId xmlns:a16="http://schemas.microsoft.com/office/drawing/2014/main" id="{98B99F43-285F-5504-4F38-8DACCE45DB68}"/>
              </a:ext>
            </a:extLst>
          </p:cNvPr>
          <p:cNvSpPr/>
          <p:nvPr/>
        </p:nvSpPr>
        <p:spPr>
          <a:xfrm>
            <a:off x="2011340" y="2191449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기반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보안 가이드라인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6C057FF-E807-CB36-2D44-3852F2D79136}"/>
              </a:ext>
            </a:extLst>
          </p:cNvPr>
          <p:cNvSpPr/>
          <p:nvPr/>
        </p:nvSpPr>
        <p:spPr>
          <a:xfrm>
            <a:off x="3180634" y="4157243"/>
            <a:ext cx="180000" cy="1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F7F7F"/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6FCE25E-6701-6DA8-6D6B-0D988CC92AD6}"/>
              </a:ext>
            </a:extLst>
          </p:cNvPr>
          <p:cNvSpPr txBox="1"/>
          <p:nvPr/>
        </p:nvSpPr>
        <p:spPr>
          <a:xfrm>
            <a:off x="3059855" y="3849094"/>
            <a:ext cx="421559" cy="2149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rPr>
              <a:t>’25.01</a:t>
            </a:r>
            <a:endParaRPr kumimoji="0" lang="ko-KR" altLang="en-US" sz="1000" b="1" i="0" u="none" strike="noStrike" kern="1200" cap="none" spc="0" normalizeH="0" baseline="0" noProof="0">
              <a:ln>
                <a:solidFill>
                  <a:srgbClr val="3E8AF7">
                    <a:alpha val="0"/>
                  </a:srgbClr>
                </a:solidFill>
              </a:ln>
              <a:solidFill>
                <a:srgbClr val="2E2E38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7" name="Rectangle: Rounded Corners 50">
            <a:extLst>
              <a:ext uri="{FF2B5EF4-FFF2-40B4-BE49-F238E27FC236}">
                <a16:creationId xmlns:a16="http://schemas.microsoft.com/office/drawing/2014/main" id="{215B42E2-5A04-3132-4325-456CC5CAE7D5}"/>
              </a:ext>
            </a:extLst>
          </p:cNvPr>
          <p:cNvSpPr/>
          <p:nvPr/>
        </p:nvSpPr>
        <p:spPr>
          <a:xfrm>
            <a:off x="2556025" y="5003261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인공지능기본법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제정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공포</a:t>
            </a:r>
          </a:p>
        </p:txBody>
      </p:sp>
      <p:cxnSp>
        <p:nvCxnSpPr>
          <p:cNvPr id="110" name="Straight Arrow Connector 68">
            <a:extLst>
              <a:ext uri="{FF2B5EF4-FFF2-40B4-BE49-F238E27FC236}">
                <a16:creationId xmlns:a16="http://schemas.microsoft.com/office/drawing/2014/main" id="{09BF4133-4FE2-A435-4505-B4E530B62520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>
            <a:off x="1049572" y="2865344"/>
            <a:ext cx="1" cy="9837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68">
            <a:extLst>
              <a:ext uri="{FF2B5EF4-FFF2-40B4-BE49-F238E27FC236}">
                <a16:creationId xmlns:a16="http://schemas.microsoft.com/office/drawing/2014/main" id="{ECE9F75A-B579-8E3F-90DA-2CF623B9C8C9}"/>
              </a:ext>
            </a:extLst>
          </p:cNvPr>
          <p:cNvCxnSpPr>
            <a:cxnSpLocks/>
            <a:stCxn id="102" idx="2"/>
            <a:endCxn id="104" idx="0"/>
          </p:cNvCxnSpPr>
          <p:nvPr/>
        </p:nvCxnSpPr>
        <p:spPr>
          <a:xfrm>
            <a:off x="2725949" y="2865344"/>
            <a:ext cx="1" cy="9837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70">
            <a:extLst>
              <a:ext uri="{FF2B5EF4-FFF2-40B4-BE49-F238E27FC236}">
                <a16:creationId xmlns:a16="http://schemas.microsoft.com/office/drawing/2014/main" id="{DE556782-DAFB-294A-EF89-EE4F61A18551}"/>
              </a:ext>
            </a:extLst>
          </p:cNvPr>
          <p:cNvCxnSpPr>
            <a:cxnSpLocks/>
            <a:stCxn id="117" idx="0"/>
            <a:endCxn id="123" idx="4"/>
          </p:cNvCxnSpPr>
          <p:nvPr/>
        </p:nvCxnSpPr>
        <p:spPr>
          <a:xfrm flipH="1" flipV="1">
            <a:off x="4921334" y="4337242"/>
            <a:ext cx="1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40">
            <a:extLst>
              <a:ext uri="{FF2B5EF4-FFF2-40B4-BE49-F238E27FC236}">
                <a16:creationId xmlns:a16="http://schemas.microsoft.com/office/drawing/2014/main" id="{E7CD636E-E4BB-20F8-C8BA-D578D4B2838A}"/>
              </a:ext>
            </a:extLst>
          </p:cNvPr>
          <p:cNvSpPr/>
          <p:nvPr/>
        </p:nvSpPr>
        <p:spPr>
          <a:xfrm>
            <a:off x="4831334" y="4157242"/>
            <a:ext cx="180000" cy="1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F7F7F"/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3B7169-071E-5C1C-8858-A218C8645630}"/>
              </a:ext>
            </a:extLst>
          </p:cNvPr>
          <p:cNvSpPr txBox="1"/>
          <p:nvPr/>
        </p:nvSpPr>
        <p:spPr>
          <a:xfrm>
            <a:off x="4710555" y="3849094"/>
            <a:ext cx="421559" cy="2149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rPr>
              <a:t>’25.09</a:t>
            </a:r>
            <a:endParaRPr kumimoji="0" lang="ko-KR" altLang="en-US" sz="1000" b="1" i="0" u="none" strike="noStrike" kern="1200" cap="none" spc="0" normalizeH="0" baseline="0" noProof="0">
              <a:ln>
                <a:solidFill>
                  <a:srgbClr val="3E8AF7">
                    <a:alpha val="0"/>
                  </a:srgbClr>
                </a:solidFill>
              </a:ln>
              <a:solidFill>
                <a:srgbClr val="2E2E38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5" name="Rectangle: Rounded Corners 54">
            <a:extLst>
              <a:ext uri="{FF2B5EF4-FFF2-40B4-BE49-F238E27FC236}">
                <a16:creationId xmlns:a16="http://schemas.microsoft.com/office/drawing/2014/main" id="{3F5642DC-063F-EB36-5571-FA077638E4F1}"/>
              </a:ext>
            </a:extLst>
          </p:cNvPr>
          <p:cNvSpPr/>
          <p:nvPr/>
        </p:nvSpPr>
        <p:spPr>
          <a:xfrm>
            <a:off x="4271690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투명성 확보 가이드라인</a:t>
            </a:r>
            <a:endParaRPr kumimoji="0" lang="en-US" altLang="ko-KR" sz="1200" b="1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6" name="Rectangle: Rounded Corners 54">
            <a:extLst>
              <a:ext uri="{FF2B5EF4-FFF2-40B4-BE49-F238E27FC236}">
                <a16:creationId xmlns:a16="http://schemas.microsoft.com/office/drawing/2014/main" id="{6FD147AC-B272-1E7A-CB83-CFF69EC16BB5}"/>
              </a:ext>
            </a:extLst>
          </p:cNvPr>
          <p:cNvSpPr/>
          <p:nvPr/>
        </p:nvSpPr>
        <p:spPr>
          <a:xfrm>
            <a:off x="5657809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사업자 책무 고시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7" name="Rectangle: Rounded Corners 54">
            <a:extLst>
              <a:ext uri="{FF2B5EF4-FFF2-40B4-BE49-F238E27FC236}">
                <a16:creationId xmlns:a16="http://schemas.microsoft.com/office/drawing/2014/main" id="{876E9F78-2033-92E3-00EE-425868E55B15}"/>
              </a:ext>
            </a:extLst>
          </p:cNvPr>
          <p:cNvSpPr/>
          <p:nvPr/>
        </p:nvSpPr>
        <p:spPr>
          <a:xfrm>
            <a:off x="4271690" y="500326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안전성 확보 고시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8" name="Rectangle: Rounded Corners 54">
            <a:extLst>
              <a:ext uri="{FF2B5EF4-FFF2-40B4-BE49-F238E27FC236}">
                <a16:creationId xmlns:a16="http://schemas.microsoft.com/office/drawing/2014/main" id="{BAD44302-8A53-93FE-6DDF-F2E65869DE38}"/>
              </a:ext>
            </a:extLst>
          </p:cNvPr>
          <p:cNvSpPr/>
          <p:nvPr/>
        </p:nvSpPr>
        <p:spPr>
          <a:xfrm>
            <a:off x="5657809" y="500326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안전성 확보 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9" name="Rectangle: Rounded Corners 54">
            <a:extLst>
              <a:ext uri="{FF2B5EF4-FFF2-40B4-BE49-F238E27FC236}">
                <a16:creationId xmlns:a16="http://schemas.microsoft.com/office/drawing/2014/main" id="{B9C25ABD-1189-9A63-8ECB-8BF701F28957}"/>
              </a:ext>
            </a:extLst>
          </p:cNvPr>
          <p:cNvSpPr/>
          <p:nvPr/>
        </p:nvSpPr>
        <p:spPr>
          <a:xfrm>
            <a:off x="7043928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ko-KR" altLang="en-US" sz="1200" b="1" spc="-7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고영향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사업자 책무 가이드라인</a:t>
            </a:r>
          </a:p>
        </p:txBody>
      </p:sp>
      <p:cxnSp>
        <p:nvCxnSpPr>
          <p:cNvPr id="120" name="Straight Arrow Connector 70">
            <a:extLst>
              <a:ext uri="{FF2B5EF4-FFF2-40B4-BE49-F238E27FC236}">
                <a16:creationId xmlns:a16="http://schemas.microsoft.com/office/drawing/2014/main" id="{9587B0C0-3645-DC16-D27C-77FBE1F98D50}"/>
              </a:ext>
            </a:extLst>
          </p:cNvPr>
          <p:cNvCxnSpPr>
            <a:cxnSpLocks/>
            <a:stCxn id="115" idx="2"/>
            <a:endCxn id="124" idx="0"/>
          </p:cNvCxnSpPr>
          <p:nvPr/>
        </p:nvCxnSpPr>
        <p:spPr>
          <a:xfrm>
            <a:off x="4921335" y="2904393"/>
            <a:ext cx="0" cy="9447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: Rounded Corners 54">
            <a:extLst>
              <a:ext uri="{FF2B5EF4-FFF2-40B4-BE49-F238E27FC236}">
                <a16:creationId xmlns:a16="http://schemas.microsoft.com/office/drawing/2014/main" id="{79883212-6AD6-7BCC-EC28-DBB8FE5F9047}"/>
              </a:ext>
            </a:extLst>
          </p:cNvPr>
          <p:cNvSpPr/>
          <p:nvPr/>
        </p:nvSpPr>
        <p:spPr>
          <a:xfrm>
            <a:off x="7043928" y="310968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ko-KR" altLang="en-US" sz="1200" b="1" spc="-7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고영향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판단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22" name="Rectangle: Rounded Corners 54">
            <a:extLst>
              <a:ext uri="{FF2B5EF4-FFF2-40B4-BE49-F238E27FC236}">
                <a16:creationId xmlns:a16="http://schemas.microsoft.com/office/drawing/2014/main" id="{605AF80E-964D-295E-C13A-9813DD5D591E}"/>
              </a:ext>
            </a:extLst>
          </p:cNvPr>
          <p:cNvSpPr/>
          <p:nvPr/>
        </p:nvSpPr>
        <p:spPr>
          <a:xfrm>
            <a:off x="5657809" y="310968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영향평가 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B7236EC-7FE7-BB8C-6FAC-70F19F05B507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10811174" y="2865344"/>
            <a:ext cx="8514" cy="96148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FF53F8-6653-3A3B-0E21-5D3D9ABE43D6}"/>
              </a:ext>
            </a:extLst>
          </p:cNvPr>
          <p:cNvGrpSpPr/>
          <p:nvPr/>
        </p:nvGrpSpPr>
        <p:grpSpPr>
          <a:xfrm>
            <a:off x="10364668" y="3826830"/>
            <a:ext cx="910040" cy="510413"/>
            <a:chOff x="10347640" y="3946812"/>
            <a:chExt cx="910040" cy="510413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778E10E-0428-5080-9215-9A59EE17966C}"/>
                </a:ext>
              </a:extLst>
            </p:cNvPr>
            <p:cNvSpPr/>
            <p:nvPr/>
          </p:nvSpPr>
          <p:spPr>
            <a:xfrm>
              <a:off x="10712660" y="4277225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ED7D31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A06F212-44C9-8AF6-F7FD-A150A63D1887}"/>
                </a:ext>
              </a:extLst>
            </p:cNvPr>
            <p:cNvSpPr txBox="1"/>
            <p:nvPr/>
          </p:nvSpPr>
          <p:spPr>
            <a:xfrm>
              <a:off x="10347640" y="3946812"/>
              <a:ext cx="91004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ED7D31"/>
                  </a:solidFill>
                  <a:effectLst/>
                  <a:uLnTx/>
                  <a:uFillTx/>
                  <a:latin typeface="+mn-ea"/>
                  <a:cs typeface="+mn-cs"/>
                </a:rPr>
                <a:t>2026. 01. 22</a:t>
              </a:r>
              <a:endParaRPr kumimoji="0" lang="ko-KR" altLang="en-US" sz="12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28" name="Rectangle: Rounded Corners 50">
            <a:extLst>
              <a:ext uri="{FF2B5EF4-FFF2-40B4-BE49-F238E27FC236}">
                <a16:creationId xmlns:a16="http://schemas.microsoft.com/office/drawing/2014/main" id="{313B2960-A23F-CF02-62CE-913C660A1605}"/>
              </a:ext>
            </a:extLst>
          </p:cNvPr>
          <p:cNvSpPr/>
          <p:nvPr/>
        </p:nvSpPr>
        <p:spPr>
          <a:xfrm>
            <a:off x="10105079" y="2191449"/>
            <a:ext cx="1429218" cy="673895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인공지능기본법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시행령 시행</a:t>
            </a:r>
          </a:p>
        </p:txBody>
      </p:sp>
      <p:sp>
        <p:nvSpPr>
          <p:cNvPr id="129" name="Freeform 1754">
            <a:extLst>
              <a:ext uri="{FF2B5EF4-FFF2-40B4-BE49-F238E27FC236}">
                <a16:creationId xmlns:a16="http://schemas.microsoft.com/office/drawing/2014/main" id="{4F187BD9-FC06-7CE3-598E-14975A64B933}"/>
              </a:ext>
            </a:extLst>
          </p:cNvPr>
          <p:cNvSpPr>
            <a:spLocks/>
          </p:cNvSpPr>
          <p:nvPr/>
        </p:nvSpPr>
        <p:spPr bwMode="gray">
          <a:xfrm>
            <a:off x="11320406" y="1857861"/>
            <a:ext cx="325493" cy="51166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ED7D31"/>
          </a:solidFill>
          <a:ln w="19050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lIns="83986" tIns="41993" rIns="83986" bIns="41993"/>
          <a:lstStyle/>
          <a:p>
            <a:pPr marL="0" marR="0" lvl="0" indent="0" algn="l" defTabSz="957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Arial" pitchFamily="34" charset="0"/>
              <a:sym typeface="나눔고딕"/>
            </a:endParaRPr>
          </a:p>
        </p:txBody>
      </p:sp>
      <p:sp>
        <p:nvSpPr>
          <p:cNvPr id="133" name="Rectangle: Rounded Corners 50">
            <a:extLst>
              <a:ext uri="{FF2B5EF4-FFF2-40B4-BE49-F238E27FC236}">
                <a16:creationId xmlns:a16="http://schemas.microsoft.com/office/drawing/2014/main" id="{AA31C3DD-907F-91D4-F19D-F923CEAA245A}"/>
              </a:ext>
            </a:extLst>
          </p:cNvPr>
          <p:cNvSpPr/>
          <p:nvPr/>
        </p:nvSpPr>
        <p:spPr>
          <a:xfrm>
            <a:off x="8575011" y="2191450"/>
            <a:ext cx="1200759" cy="71294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금융분야 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가이드라인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안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)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CC6CC0-D89A-0155-3AF4-CF1681935E1D}"/>
              </a:ext>
            </a:extLst>
          </p:cNvPr>
          <p:cNvGrpSpPr/>
          <p:nvPr/>
        </p:nvGrpSpPr>
        <p:grpSpPr>
          <a:xfrm>
            <a:off x="8964611" y="3849094"/>
            <a:ext cx="421559" cy="488148"/>
            <a:chOff x="8972010" y="3969076"/>
            <a:chExt cx="421559" cy="488148"/>
          </a:xfrm>
        </p:grpSpPr>
        <p:sp>
          <p:nvSpPr>
            <p:cNvPr id="32" name="Oval 40">
              <a:extLst>
                <a:ext uri="{FF2B5EF4-FFF2-40B4-BE49-F238E27FC236}">
                  <a16:creationId xmlns:a16="http://schemas.microsoft.com/office/drawing/2014/main" id="{CDDBFD56-D451-AA52-1572-7391B3118C3C}"/>
                </a:ext>
              </a:extLst>
            </p:cNvPr>
            <p:cNvSpPr/>
            <p:nvPr/>
          </p:nvSpPr>
          <p:spPr>
            <a:xfrm>
              <a:off x="9092789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DF1D82-2B19-C3C1-13BB-4B5AFA4BD5ED}"/>
                </a:ext>
              </a:extLst>
            </p:cNvPr>
            <p:cNvSpPr txBox="1"/>
            <p:nvPr/>
          </p:nvSpPr>
          <p:spPr>
            <a:xfrm>
              <a:off x="8972010" y="3969076"/>
              <a:ext cx="42155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’25.12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cxnSp>
        <p:nvCxnSpPr>
          <p:cNvPr id="34" name="Straight Arrow Connector 70">
            <a:extLst>
              <a:ext uri="{FF2B5EF4-FFF2-40B4-BE49-F238E27FC236}">
                <a16:creationId xmlns:a16="http://schemas.microsoft.com/office/drawing/2014/main" id="{B7C404DE-4FD7-1117-E654-0A4E6E3E86B9}"/>
              </a:ext>
            </a:extLst>
          </p:cNvPr>
          <p:cNvCxnSpPr>
            <a:cxnSpLocks/>
            <a:stCxn id="133" idx="2"/>
            <a:endCxn id="33" idx="0"/>
          </p:cNvCxnSpPr>
          <p:nvPr/>
        </p:nvCxnSpPr>
        <p:spPr>
          <a:xfrm>
            <a:off x="9175391" y="2904394"/>
            <a:ext cx="0" cy="9447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57B2D3-B93E-9387-902F-CE77DCB99ACE}"/>
              </a:ext>
            </a:extLst>
          </p:cNvPr>
          <p:cNvGrpSpPr/>
          <p:nvPr/>
        </p:nvGrpSpPr>
        <p:grpSpPr>
          <a:xfrm>
            <a:off x="9739243" y="3849094"/>
            <a:ext cx="421559" cy="488148"/>
            <a:chOff x="8972010" y="3969076"/>
            <a:chExt cx="421559" cy="488148"/>
          </a:xfrm>
        </p:grpSpPr>
        <p:sp>
          <p:nvSpPr>
            <p:cNvPr id="48" name="Oval 40">
              <a:extLst>
                <a:ext uri="{FF2B5EF4-FFF2-40B4-BE49-F238E27FC236}">
                  <a16:creationId xmlns:a16="http://schemas.microsoft.com/office/drawing/2014/main" id="{FAD283F2-0972-E350-5D3C-39D09F04DAF7}"/>
                </a:ext>
              </a:extLst>
            </p:cNvPr>
            <p:cNvSpPr/>
            <p:nvPr/>
          </p:nvSpPr>
          <p:spPr>
            <a:xfrm>
              <a:off x="9092789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2BBE59-BDF4-3968-A723-CAD457889493}"/>
                </a:ext>
              </a:extLst>
            </p:cNvPr>
            <p:cNvSpPr txBox="1"/>
            <p:nvPr/>
          </p:nvSpPr>
          <p:spPr>
            <a:xfrm>
              <a:off x="8972010" y="3969076"/>
              <a:ext cx="42155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’26.1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50" name="Rectangle: Rounded Corners 50">
            <a:extLst>
              <a:ext uri="{FF2B5EF4-FFF2-40B4-BE49-F238E27FC236}">
                <a16:creationId xmlns:a16="http://schemas.microsoft.com/office/drawing/2014/main" id="{8DEDB1C6-EA90-445C-6589-B90983E96F79}"/>
              </a:ext>
            </a:extLst>
          </p:cNvPr>
          <p:cNvSpPr/>
          <p:nvPr/>
        </p:nvSpPr>
        <p:spPr>
          <a:xfrm>
            <a:off x="9098181" y="5003260"/>
            <a:ext cx="1703682" cy="71294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금융분야 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위험관리 프레임워크</a:t>
            </a:r>
            <a:b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(AI RMF)</a:t>
            </a:r>
            <a:endParaRPr lang="ko-KR" altLang="en-US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1" name="Straight Arrow Connector 70">
            <a:extLst>
              <a:ext uri="{FF2B5EF4-FFF2-40B4-BE49-F238E27FC236}">
                <a16:creationId xmlns:a16="http://schemas.microsoft.com/office/drawing/2014/main" id="{AF7A1E92-3258-F9AB-199E-E6FCFAD36D38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9950022" y="4337242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65DA2AF-F2F8-B64F-7E65-C32C8B6601FE}"/>
              </a:ext>
            </a:extLst>
          </p:cNvPr>
          <p:cNvCxnSpPr>
            <a:cxnSpLocks/>
            <a:stCxn id="116" idx="2"/>
          </p:cNvCxnSpPr>
          <p:nvPr/>
        </p:nvCxnSpPr>
        <p:spPr>
          <a:xfrm rot="5400000">
            <a:off x="5562545" y="2263182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CE2A573-4041-E8CC-CA8E-AB9873ECF5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62545" y="2366880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1D0FE82-8F41-E717-243C-6F97EF0ADAC7}"/>
              </a:ext>
            </a:extLst>
          </p:cNvPr>
          <p:cNvCxnSpPr>
            <a:cxnSpLocks/>
          </p:cNvCxnSpPr>
          <p:nvPr/>
        </p:nvCxnSpPr>
        <p:spPr>
          <a:xfrm rot="5400000">
            <a:off x="6952875" y="2263182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7A59F62-E575-E163-835F-7A395387E8E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52875" y="2366880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E76045E-9E06-1660-9D98-06E4DB22706B}"/>
              </a:ext>
            </a:extLst>
          </p:cNvPr>
          <p:cNvCxnSpPr>
            <a:stCxn id="117" idx="3"/>
            <a:endCxn id="118" idx="1"/>
          </p:cNvCxnSpPr>
          <p:nvPr/>
        </p:nvCxnSpPr>
        <p:spPr>
          <a:xfrm>
            <a:off x="5570979" y="5359732"/>
            <a:ext cx="8683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50">
            <a:extLst>
              <a:ext uri="{FF2B5EF4-FFF2-40B4-BE49-F238E27FC236}">
                <a16:creationId xmlns:a16="http://schemas.microsoft.com/office/drawing/2014/main" id="{DF53CFE0-20B6-40E8-3D42-87937C23AF69}"/>
              </a:ext>
            </a:extLst>
          </p:cNvPr>
          <p:cNvSpPr/>
          <p:nvPr/>
        </p:nvSpPr>
        <p:spPr>
          <a:xfrm>
            <a:off x="4874656" y="3800484"/>
            <a:ext cx="1650101" cy="35704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기본법 하위법령집</a:t>
            </a:r>
            <a:endParaRPr kumimoji="0" lang="ko-KR" altLang="en-US" sz="1050" b="1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EACFAC-5A92-3F98-918C-D059A408F4F0}"/>
              </a:ext>
            </a:extLst>
          </p:cNvPr>
          <p:cNvSpPr/>
          <p:nvPr/>
        </p:nvSpPr>
        <p:spPr>
          <a:xfrm>
            <a:off x="10473470" y="1454139"/>
            <a:ext cx="1310542" cy="209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과학기술정보통신부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65A0EA-F2AB-B3C6-0229-3B69D32F750A}"/>
              </a:ext>
            </a:extLst>
          </p:cNvPr>
          <p:cNvSpPr/>
          <p:nvPr/>
        </p:nvSpPr>
        <p:spPr>
          <a:xfrm>
            <a:off x="9719783" y="1454139"/>
            <a:ext cx="739767" cy="2096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ko-KR" altLang="en-US" sz="1000">
                <a:solidFill>
                  <a:schemeClr val="tx1"/>
                </a:solidFill>
              </a:rPr>
              <a:t>소관부서</a:t>
            </a:r>
            <a:r>
              <a:rPr lang="en-US" altLang="ko-KR" sz="1000">
                <a:solidFill>
                  <a:schemeClr val="tx1"/>
                </a:solidFill>
              </a:rPr>
              <a:t>:</a:t>
            </a:r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30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F76C4C6-E46F-B196-D78C-068C53545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B6F27E-7E8F-C84E-B1E8-DC670F8CD8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본 사업 추진 개요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BEC55F-BD95-9515-49BA-2BCEAE6ACB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인공지능기본법</a:t>
            </a:r>
            <a:r>
              <a:rPr lang="en-US" altLang="ko-KR"/>
              <a:t> </a:t>
            </a:r>
            <a:r>
              <a:rPr lang="ko-KR" altLang="en-US"/>
              <a:t>및 시행령</a:t>
            </a:r>
            <a:r>
              <a:rPr lang="en-US" altLang="ko-KR"/>
              <a:t>, </a:t>
            </a:r>
            <a:r>
              <a:rPr lang="ko-KR" altLang="en-US"/>
              <a:t>관련 가이드라인</a:t>
            </a:r>
            <a:r>
              <a:rPr lang="en-US" altLang="ko-KR"/>
              <a:t> </a:t>
            </a:r>
            <a:r>
              <a:rPr lang="ko-KR" altLang="en-US"/>
              <a:t>등 규제에 적합한 </a:t>
            </a:r>
            <a:r>
              <a:rPr lang="en-US" altLang="ko-KR"/>
              <a:t>AI </a:t>
            </a:r>
            <a:r>
              <a:rPr lang="ko-KR" altLang="en-US"/>
              <a:t>위험관리 규정 및 지침 수립을 통해 </a:t>
            </a:r>
            <a:r>
              <a:rPr lang="en-US" altLang="ko-KR"/>
              <a:t>AI </a:t>
            </a:r>
            <a:r>
              <a:rPr lang="ko-KR" altLang="en-US"/>
              <a:t>서비스 위험관리체계를 마련함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D2F5BFC3-0004-C7A2-3555-A4B59F43CB1C}"/>
              </a:ext>
            </a:extLst>
          </p:cNvPr>
          <p:cNvSpPr/>
          <p:nvPr/>
        </p:nvSpPr>
        <p:spPr>
          <a:xfrm>
            <a:off x="6987540" y="1772687"/>
            <a:ext cx="4904423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프로젝트 범위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D1A89FD4-9F2E-28B2-5EBE-7F52CEF72034}"/>
              </a:ext>
            </a:extLst>
          </p:cNvPr>
          <p:cNvSpPr/>
          <p:nvPr/>
        </p:nvSpPr>
        <p:spPr>
          <a:xfrm>
            <a:off x="324596" y="1736725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사업명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20">
            <a:extLst>
              <a:ext uri="{FF2B5EF4-FFF2-40B4-BE49-F238E27FC236}">
                <a16:creationId xmlns:a16="http://schemas.microsoft.com/office/drawing/2014/main" id="{FBB779AB-8A1C-73F9-807C-C276797C0C04}"/>
              </a:ext>
            </a:extLst>
          </p:cNvPr>
          <p:cNvSpPr/>
          <p:nvPr/>
        </p:nvSpPr>
        <p:spPr>
          <a:xfrm>
            <a:off x="1552023" y="1736725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‘AI&amp;IT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혁신 기반 확보를 위한 전사 클라우드 구축 사업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’ 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컨설팅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8DD2859E-53C1-7F48-6D55-8199EA1A5A1F}"/>
              </a:ext>
            </a:extLst>
          </p:cNvPr>
          <p:cNvSpPr/>
          <p:nvPr/>
        </p:nvSpPr>
        <p:spPr>
          <a:xfrm>
            <a:off x="324596" y="2329003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지향점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3D450450-157A-CC6E-E582-3B7FDBB7AB54}"/>
              </a:ext>
            </a:extLst>
          </p:cNvPr>
          <p:cNvSpPr/>
          <p:nvPr/>
        </p:nvSpPr>
        <p:spPr>
          <a:xfrm>
            <a:off x="1552023" y="2329003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실행 방안 수립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CC9A8E7B-282A-5364-1E2F-D05F9A4E5D1B}"/>
              </a:ext>
            </a:extLst>
          </p:cNvPr>
          <p:cNvSpPr/>
          <p:nvPr/>
        </p:nvSpPr>
        <p:spPr>
          <a:xfrm>
            <a:off x="324596" y="2921281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사업기간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D271370-5CC0-2A1B-587A-1CD816ECD81E}"/>
              </a:ext>
            </a:extLst>
          </p:cNvPr>
          <p:cNvSpPr/>
          <p:nvPr/>
        </p:nvSpPr>
        <p:spPr>
          <a:xfrm>
            <a:off x="1552023" y="2921281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2025.11.01 ~ 2026.02.27 (16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주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 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14D14C5A-8866-F35B-9C43-C1B7E7608740}"/>
              </a:ext>
            </a:extLst>
          </p:cNvPr>
          <p:cNvSpPr/>
          <p:nvPr/>
        </p:nvSpPr>
        <p:spPr>
          <a:xfrm>
            <a:off x="324596" y="3513559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수행사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E54B05DC-518D-C092-1EA7-128C3003005D}"/>
              </a:ext>
            </a:extLst>
          </p:cNvPr>
          <p:cNvSpPr/>
          <p:nvPr/>
        </p:nvSpPr>
        <p:spPr>
          <a:xfrm>
            <a:off x="1552023" y="3513559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EY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컨설팅 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386DC304-D7D5-FFA8-5CB0-83D6020BCD48}"/>
              </a:ext>
            </a:extLst>
          </p:cNvPr>
          <p:cNvSpPr/>
          <p:nvPr/>
        </p:nvSpPr>
        <p:spPr>
          <a:xfrm>
            <a:off x="324596" y="4105835"/>
            <a:ext cx="1176233" cy="2418790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공식산출물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39E38B57-C75F-24D1-95C8-B98A4781A82F}"/>
              </a:ext>
            </a:extLst>
          </p:cNvPr>
          <p:cNvSpPr/>
          <p:nvPr/>
        </p:nvSpPr>
        <p:spPr>
          <a:xfrm>
            <a:off x="1552023" y="4105835"/>
            <a:ext cx="5196018" cy="24187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규정 및 지침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윤리기준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거버넌스규정서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거버넌스운영지침서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운영지침서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요건 매트릭스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 도구 및 템플릿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지원 템플릿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체크리스트 등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１５종 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 및 시스템 구축 요건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성능 품질 개선 및 고도화 방안　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0" name="Rectangle: Rounded Corners 50">
            <a:extLst>
              <a:ext uri="{FF2B5EF4-FFF2-40B4-BE49-F238E27FC236}">
                <a16:creationId xmlns:a16="http://schemas.microsoft.com/office/drawing/2014/main" id="{88D07347-C899-FF49-07AF-CF587ECD472D}"/>
              </a:ext>
            </a:extLst>
          </p:cNvPr>
          <p:cNvSpPr/>
          <p:nvPr/>
        </p:nvSpPr>
        <p:spPr>
          <a:xfrm>
            <a:off x="6987540" y="2191450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내외부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환경분석</a:t>
            </a:r>
          </a:p>
        </p:txBody>
      </p:sp>
      <p:sp>
        <p:nvSpPr>
          <p:cNvPr id="21" name="사각형: 둥근 모서리 21">
            <a:extLst>
              <a:ext uri="{FF2B5EF4-FFF2-40B4-BE49-F238E27FC236}">
                <a16:creationId xmlns:a16="http://schemas.microsoft.com/office/drawing/2014/main" id="{E58CC79E-4973-2AF1-09A7-B0E92D1C84D4}"/>
              </a:ext>
            </a:extLst>
          </p:cNvPr>
          <p:cNvSpPr/>
          <p:nvPr/>
        </p:nvSpPr>
        <p:spPr>
          <a:xfrm>
            <a:off x="8229019" y="2191450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국내외 법제도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정부기관의 가이드라인 및 정책 등 최신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 동향 분석</a:t>
            </a:r>
            <a:endParaRPr kumimoji="1" lang="en-US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NIST, ISO,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글로벌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금융사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벤치마킹 사례 등을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미래에셋증권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내부 현황에 맞게 적용 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Rectangle: Rounded Corners 50">
            <a:extLst>
              <a:ext uri="{FF2B5EF4-FFF2-40B4-BE49-F238E27FC236}">
                <a16:creationId xmlns:a16="http://schemas.microsoft.com/office/drawing/2014/main" id="{0B309820-B05D-7CD9-E288-3321249B2094}"/>
              </a:ext>
            </a:extLst>
          </p:cNvPr>
          <p:cNvSpPr/>
          <p:nvPr/>
        </p:nvSpPr>
        <p:spPr>
          <a:xfrm>
            <a:off x="6987540" y="3264127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규정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·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지침　및 지원도구</a:t>
            </a:r>
            <a:endParaRPr lang="en-US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</a:t>
            </a:r>
            <a:r>
              <a:rPr lang="ko-KR" altLang="en-US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템플릿</a:t>
            </a:r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, </a:t>
            </a:r>
            <a:r>
              <a:rPr lang="ko-KR" altLang="en-US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체크리스트 등</a:t>
            </a:r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) </a:t>
            </a:r>
            <a:endParaRPr lang="ko-KR" altLang="en-US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5" name="사각형: 둥근 모서리 21">
            <a:extLst>
              <a:ext uri="{FF2B5EF4-FFF2-40B4-BE49-F238E27FC236}">
                <a16:creationId xmlns:a16="http://schemas.microsoft.com/office/drawing/2014/main" id="{83113A52-7E79-8F31-9A4B-DFDDE73D5590}"/>
              </a:ext>
            </a:extLst>
          </p:cNvPr>
          <p:cNvSpPr/>
          <p:nvPr/>
        </p:nvSpPr>
        <p:spPr>
          <a:xfrm>
            <a:off x="8229019" y="3264127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위험 수준을 객관적으로 식별하고 평가하기 위한 운영안 마련</a:t>
            </a:r>
            <a:endParaRPr kumimoji="1" lang="en-US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위험관리를 위한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AI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거버넌스운영지침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AI 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운영지침 제공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Rectangle: Rounded Corners 50">
            <a:extLst>
              <a:ext uri="{FF2B5EF4-FFF2-40B4-BE49-F238E27FC236}">
                <a16:creationId xmlns:a16="http://schemas.microsoft.com/office/drawing/2014/main" id="{89D21E6F-ACE8-5C1C-AD44-AF4BF611683C}"/>
              </a:ext>
            </a:extLst>
          </p:cNvPr>
          <p:cNvSpPr/>
          <p:nvPr/>
        </p:nvSpPr>
        <p:spPr>
          <a:xfrm>
            <a:off x="6987540" y="4336804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평가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완화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및 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성능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고도화 방안 정의서 </a:t>
            </a:r>
          </a:p>
        </p:txBody>
      </p:sp>
      <p:sp>
        <p:nvSpPr>
          <p:cNvPr id="28" name="사각형: 둥근 모서리 21">
            <a:extLst>
              <a:ext uri="{FF2B5EF4-FFF2-40B4-BE49-F238E27FC236}">
                <a16:creationId xmlns:a16="http://schemas.microsoft.com/office/drawing/2014/main" id="{A6031AAE-27B8-F54A-1216-A8A4AE693B2F}"/>
              </a:ext>
            </a:extLst>
          </p:cNvPr>
          <p:cNvSpPr/>
          <p:nvPr/>
        </p:nvSpPr>
        <p:spPr>
          <a:xfrm>
            <a:off x="8229019" y="4336804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실 기술관점에서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 평가 방안 수립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기술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데이터 관점에서 모니터링을 통한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성능 고도화 방안 수립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Rectangle: Rounded Corners 50">
            <a:extLst>
              <a:ext uri="{FF2B5EF4-FFF2-40B4-BE49-F238E27FC236}">
                <a16:creationId xmlns:a16="http://schemas.microsoft.com/office/drawing/2014/main" id="{91B5BF6A-C6E6-B76C-6557-1CC4F90C6DAF}"/>
              </a:ext>
            </a:extLst>
          </p:cNvPr>
          <p:cNvSpPr/>
          <p:nvPr/>
        </p:nvSpPr>
        <p:spPr>
          <a:xfrm>
            <a:off x="6987540" y="5409482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구축 요건</a:t>
            </a:r>
          </a:p>
        </p:txBody>
      </p:sp>
      <p:sp>
        <p:nvSpPr>
          <p:cNvPr id="31" name="사각형: 둥근 모서리 21">
            <a:extLst>
              <a:ext uri="{FF2B5EF4-FFF2-40B4-BE49-F238E27FC236}">
                <a16:creationId xmlns:a16="http://schemas.microsoft.com/office/drawing/2014/main" id="{AC34A4C8-C541-F306-37F1-C1B583793AB4}"/>
              </a:ext>
            </a:extLst>
          </p:cNvPr>
          <p:cNvSpPr/>
          <p:nvPr/>
        </p:nvSpPr>
        <p:spPr>
          <a:xfrm>
            <a:off x="8229019" y="5409482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 평가 및 관리시스템 구축 요건 수립</a:t>
            </a:r>
            <a:endParaRPr kumimoji="1" lang="en-US" altLang="ko-KR" sz="1200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862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A0D4-D552-FFB5-882E-F1126864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0EFE12-94D2-6766-F900-1C01605B2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862102"/>
              </p:ext>
            </p:extLst>
          </p:nvPr>
        </p:nvGraphicFramePr>
        <p:xfrm>
          <a:off x="331792" y="1793271"/>
          <a:ext cx="10776083" cy="4740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904">
                  <a:extLst>
                    <a:ext uri="{9D8B030D-6E8A-4147-A177-3AD203B41FA5}">
                      <a16:colId xmlns:a16="http://schemas.microsoft.com/office/drawing/2014/main" val="2366509227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65388766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918158083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066988298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975619612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89330654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824964541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032732816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120364045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938384464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076228313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4001827883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139136858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989962111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342355119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123019490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546014477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342523195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199499476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039738406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518048641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125355477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603858138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508026462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000079781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820498335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1594943328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770475843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3132381172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2275608522"/>
                    </a:ext>
                  </a:extLst>
                </a:gridCol>
                <a:gridCol w="335904">
                  <a:extLst>
                    <a:ext uri="{9D8B030D-6E8A-4147-A177-3AD203B41FA5}">
                      <a16:colId xmlns:a16="http://schemas.microsoft.com/office/drawing/2014/main" val="416333113"/>
                    </a:ext>
                  </a:extLst>
                </a:gridCol>
                <a:gridCol w="363059">
                  <a:extLst>
                    <a:ext uri="{9D8B030D-6E8A-4147-A177-3AD203B41FA5}">
                      <a16:colId xmlns:a16="http://schemas.microsoft.com/office/drawing/2014/main" val="3178270231"/>
                    </a:ext>
                  </a:extLst>
                </a:gridCol>
              </a:tblGrid>
              <a:tr h="25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W7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W8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W9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W10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6709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11/10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11/14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11/17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11/21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11/24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11/28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12/01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12/05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12/08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12/12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12/15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12/19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12/22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12/26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12/29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01/02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01/05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01/09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01/12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01/16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01/19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01/23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01/26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01/30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02/02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02/06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02/09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02/13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02/16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02/20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02/23</a:t>
                      </a:r>
                      <a:endParaRPr lang="ko-KR" altLang="en-US" sz="105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02/27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892424"/>
                  </a:ext>
                </a:extLst>
              </a:tr>
              <a:tr h="4236879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09780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365A2D-1376-8585-B915-D93C7E0B51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4B51A1-6785-008F-2A65-EEF98FBE81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거버넌스 컨설팅 잔여 과제는 현 시점 모두 초안 작성 완료하였으며</a:t>
            </a:r>
            <a:r>
              <a:rPr lang="en-US" altLang="ko-KR" dirty="0"/>
              <a:t> </a:t>
            </a:r>
            <a:r>
              <a:rPr lang="ko-KR" altLang="en-US" dirty="0"/>
              <a:t>리뷰 및 피드백 보완 진행중임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A071A8-2A55-2B1F-EF5D-D011188B48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컨설팅 추진 경과 </a:t>
            </a:r>
            <a:r>
              <a:rPr lang="en-US" altLang="ko-KR" dirty="0"/>
              <a:t>(1/3)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6D359AA5-3865-7B6E-0000-39F3419AED0E}"/>
              </a:ext>
            </a:extLst>
          </p:cNvPr>
          <p:cNvSpPr/>
          <p:nvPr/>
        </p:nvSpPr>
        <p:spPr>
          <a:xfrm>
            <a:off x="331787" y="1324764"/>
            <a:ext cx="10930574" cy="396000"/>
          </a:xfrm>
          <a:prstGeom prst="homePlate">
            <a:avLst>
              <a:gd name="adj" fmla="val 2490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WBS</a:t>
            </a:r>
            <a:endParaRPr lang="ko-KR" altLang="en-US" sz="1400" b="1" baseline="300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5332B5C-F351-9DC2-CA72-EF598E612D4E}"/>
              </a:ext>
            </a:extLst>
          </p:cNvPr>
          <p:cNvGrpSpPr/>
          <p:nvPr/>
        </p:nvGrpSpPr>
        <p:grpSpPr>
          <a:xfrm>
            <a:off x="377314" y="2345504"/>
            <a:ext cx="2613703" cy="382340"/>
            <a:chOff x="377314" y="2345504"/>
            <a:chExt cx="2613703" cy="382340"/>
          </a:xfrm>
        </p:grpSpPr>
        <p:sp>
          <p:nvSpPr>
            <p:cNvPr id="14" name="Rectangle: Rounded Corners 54">
              <a:extLst>
                <a:ext uri="{FF2B5EF4-FFF2-40B4-BE49-F238E27FC236}">
                  <a16:creationId xmlns:a16="http://schemas.microsoft.com/office/drawing/2014/main" id="{3E7DF569-2562-21F4-8F4E-9A3150D72DE7}"/>
                </a:ext>
              </a:extLst>
            </p:cNvPr>
            <p:cNvSpPr/>
            <p:nvPr/>
          </p:nvSpPr>
          <p:spPr>
            <a:xfrm>
              <a:off x="405495" y="2345504"/>
              <a:ext cx="2585522" cy="382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거버넌스 수립 요건검토 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BBD338C-9AAD-5746-8BF4-FC2DC1F5FEC7}"/>
                </a:ext>
              </a:extLst>
            </p:cNvPr>
            <p:cNvSpPr/>
            <p:nvPr/>
          </p:nvSpPr>
          <p:spPr>
            <a:xfrm>
              <a:off x="377314" y="2345504"/>
              <a:ext cx="272160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1" name="Rectangle: Rounded Corners 54">
            <a:extLst>
              <a:ext uri="{FF2B5EF4-FFF2-40B4-BE49-F238E27FC236}">
                <a16:creationId xmlns:a16="http://schemas.microsoft.com/office/drawing/2014/main" id="{D26801E0-77B6-9DEF-BF11-AE2BE07BFB60}"/>
              </a:ext>
            </a:extLst>
          </p:cNvPr>
          <p:cNvSpPr/>
          <p:nvPr/>
        </p:nvSpPr>
        <p:spPr>
          <a:xfrm>
            <a:off x="11179625" y="1902134"/>
            <a:ext cx="706811" cy="3823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58220"/>
                </a:solidFill>
                <a:latin typeface="+mn-ea"/>
              </a:rPr>
              <a:t>진행 경과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F321B80-2E22-609B-94F2-83C051681CA0}"/>
              </a:ext>
            </a:extLst>
          </p:cNvPr>
          <p:cNvGrpSpPr/>
          <p:nvPr/>
        </p:nvGrpSpPr>
        <p:grpSpPr>
          <a:xfrm>
            <a:off x="5785578" y="6124791"/>
            <a:ext cx="5302422" cy="382340"/>
            <a:chOff x="6111074" y="6142285"/>
            <a:chExt cx="5611026" cy="382340"/>
          </a:xfrm>
        </p:grpSpPr>
        <p:sp>
          <p:nvSpPr>
            <p:cNvPr id="33" name="Rectangle: Rounded Corners 54">
              <a:extLst>
                <a:ext uri="{FF2B5EF4-FFF2-40B4-BE49-F238E27FC236}">
                  <a16:creationId xmlns:a16="http://schemas.microsoft.com/office/drawing/2014/main" id="{F28FD0AB-84CB-0140-5706-4DD663B09BEE}"/>
                </a:ext>
              </a:extLst>
            </p:cNvPr>
            <p:cNvSpPr/>
            <p:nvPr/>
          </p:nvSpPr>
          <p:spPr>
            <a:xfrm>
              <a:off x="6111074" y="6142285"/>
              <a:ext cx="5611026" cy="382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거버넌스 지원도구 설계 </a:t>
              </a:r>
              <a:r>
                <a:rPr lang="en-US" altLang="ko-KR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(</a:t>
              </a:r>
              <a:r>
                <a:rPr lang="ko-KR" altLang="en-US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템플릿</a:t>
              </a:r>
              <a:r>
                <a:rPr lang="en-US" altLang="ko-KR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, </a:t>
              </a:r>
              <a:r>
                <a:rPr lang="ko-KR" altLang="en-US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체크리스트</a:t>
              </a:r>
              <a:r>
                <a:rPr lang="en-US" altLang="ko-KR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 </a:t>
              </a:r>
              <a:r>
                <a:rPr lang="ko-KR" altLang="en-US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등</a:t>
              </a:r>
              <a:r>
                <a:rPr lang="en-US" altLang="ko-KR" sz="10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)</a:t>
              </a: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CE885C2-4A31-E191-2DA4-F9AD3BA70025}"/>
                </a:ext>
              </a:extLst>
            </p:cNvPr>
            <p:cNvSpPr/>
            <p:nvPr/>
          </p:nvSpPr>
          <p:spPr>
            <a:xfrm>
              <a:off x="6111074" y="6156089"/>
              <a:ext cx="288000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9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8F8E268-0B84-2A05-8E92-E2A23DC24B8D}"/>
              </a:ext>
            </a:extLst>
          </p:cNvPr>
          <p:cNvGrpSpPr/>
          <p:nvPr/>
        </p:nvGrpSpPr>
        <p:grpSpPr>
          <a:xfrm>
            <a:off x="1722009" y="4749193"/>
            <a:ext cx="5984565" cy="382340"/>
            <a:chOff x="1811005" y="5289982"/>
            <a:chExt cx="6332870" cy="382340"/>
          </a:xfrm>
        </p:grpSpPr>
        <p:sp>
          <p:nvSpPr>
            <p:cNvPr id="38" name="Rectangle: Rounded Corners 54">
              <a:extLst>
                <a:ext uri="{FF2B5EF4-FFF2-40B4-BE49-F238E27FC236}">
                  <a16:creationId xmlns:a16="http://schemas.microsoft.com/office/drawing/2014/main" id="{5D1E39AD-19ED-D608-2F80-F97D30902570}"/>
                </a:ext>
              </a:extLst>
            </p:cNvPr>
            <p:cNvSpPr/>
            <p:nvPr/>
          </p:nvSpPr>
          <p:spPr>
            <a:xfrm>
              <a:off x="1811005" y="5289982"/>
              <a:ext cx="6332870" cy="382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생성형 </a:t>
              </a:r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특화 보안 대책 수립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D7C6BBA-AD51-D455-A29E-2523F447D2B6}"/>
                </a:ext>
              </a:extLst>
            </p:cNvPr>
            <p:cNvSpPr/>
            <p:nvPr/>
          </p:nvSpPr>
          <p:spPr>
            <a:xfrm>
              <a:off x="1811005" y="5289982"/>
              <a:ext cx="288000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6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890932-BE48-051D-194E-B9EBE1968542}"/>
              </a:ext>
            </a:extLst>
          </p:cNvPr>
          <p:cNvGrpSpPr/>
          <p:nvPr/>
        </p:nvGrpSpPr>
        <p:grpSpPr>
          <a:xfrm>
            <a:off x="7755778" y="5665965"/>
            <a:ext cx="2666723" cy="382340"/>
            <a:chOff x="8195943" y="5289982"/>
            <a:chExt cx="2821928" cy="382340"/>
          </a:xfrm>
        </p:grpSpPr>
        <p:sp>
          <p:nvSpPr>
            <p:cNvPr id="18" name="Rectangle: Rounded Corners 54">
              <a:extLst>
                <a:ext uri="{FF2B5EF4-FFF2-40B4-BE49-F238E27FC236}">
                  <a16:creationId xmlns:a16="http://schemas.microsoft.com/office/drawing/2014/main" id="{4D2F497B-CA4A-885B-DC28-8C09B32D353C}"/>
                </a:ext>
              </a:extLst>
            </p:cNvPr>
            <p:cNvSpPr/>
            <p:nvPr/>
          </p:nvSpPr>
          <p:spPr>
            <a:xfrm>
              <a:off x="8224255" y="5289982"/>
              <a:ext cx="2793616" cy="382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성능 평가 및 고도화 방안 수립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BEE2A2E-A1EF-D81D-CDD8-8FDA3A5B2D69}"/>
                </a:ext>
              </a:extLst>
            </p:cNvPr>
            <p:cNvSpPr/>
            <p:nvPr/>
          </p:nvSpPr>
          <p:spPr>
            <a:xfrm>
              <a:off x="8195943" y="5289982"/>
              <a:ext cx="288000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8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7076DE-0E7D-732F-A6CF-DD9332F949EE}"/>
              </a:ext>
            </a:extLst>
          </p:cNvPr>
          <p:cNvGrpSpPr/>
          <p:nvPr/>
        </p:nvGrpSpPr>
        <p:grpSpPr>
          <a:xfrm>
            <a:off x="983256" y="2804334"/>
            <a:ext cx="1987882" cy="382340"/>
            <a:chOff x="1029254" y="2973811"/>
            <a:chExt cx="2103578" cy="382340"/>
          </a:xfrm>
        </p:grpSpPr>
        <p:sp>
          <p:nvSpPr>
            <p:cNvPr id="44" name="Rectangle: Rounded Corners 54">
              <a:extLst>
                <a:ext uri="{FF2B5EF4-FFF2-40B4-BE49-F238E27FC236}">
                  <a16:creationId xmlns:a16="http://schemas.microsoft.com/office/drawing/2014/main" id="{FCD46B7D-E617-DBD2-76AD-243CDC4C554F}"/>
                </a:ext>
              </a:extLst>
            </p:cNvPr>
            <p:cNvSpPr/>
            <p:nvPr/>
          </p:nvSpPr>
          <p:spPr>
            <a:xfrm>
              <a:off x="1122465" y="2973811"/>
              <a:ext cx="2010367" cy="38234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To-Be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참조 모델 작성</a:t>
              </a: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5F5791D3-1E4E-0159-C887-FAD63BD842F2}"/>
                </a:ext>
              </a:extLst>
            </p:cNvPr>
            <p:cNvSpPr/>
            <p:nvPr/>
          </p:nvSpPr>
          <p:spPr>
            <a:xfrm>
              <a:off x="1029254" y="2973811"/>
              <a:ext cx="270212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>
                  <a:solidFill>
                    <a:schemeClr val="tx1"/>
                  </a:solidFill>
                  <a:latin typeface="+mn-ea"/>
                </a:rPr>
                <a:t>2</a:t>
              </a:r>
              <a:endParaRPr lang="ko-KR" altLang="en-US" sz="1600" b="1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6" name="Rectangle: Rounded Corners 54">
            <a:extLst>
              <a:ext uri="{FF2B5EF4-FFF2-40B4-BE49-F238E27FC236}">
                <a16:creationId xmlns:a16="http://schemas.microsoft.com/office/drawing/2014/main" id="{FB96807A-99C1-8F6E-56C9-0D209400E0DC}"/>
              </a:ext>
            </a:extLst>
          </p:cNvPr>
          <p:cNvSpPr/>
          <p:nvPr/>
        </p:nvSpPr>
        <p:spPr>
          <a:xfrm>
            <a:off x="8395659" y="3313964"/>
            <a:ext cx="1991676" cy="381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ko-KR" altLang="en-US" sz="12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 협의 및 의견 수렴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3E1A314-8FE8-632A-45A6-2CDD6AA91861}"/>
              </a:ext>
            </a:extLst>
          </p:cNvPr>
          <p:cNvGrpSpPr/>
          <p:nvPr/>
        </p:nvGrpSpPr>
        <p:grpSpPr>
          <a:xfrm>
            <a:off x="1722012" y="3263164"/>
            <a:ext cx="6653648" cy="432400"/>
            <a:chOff x="1722012" y="3263162"/>
            <a:chExt cx="6653648" cy="432400"/>
          </a:xfrm>
        </p:grpSpPr>
        <p:sp>
          <p:nvSpPr>
            <p:cNvPr id="19" name="Rectangle: Rounded Corners 54">
              <a:extLst>
                <a:ext uri="{FF2B5EF4-FFF2-40B4-BE49-F238E27FC236}">
                  <a16:creationId xmlns:a16="http://schemas.microsoft.com/office/drawing/2014/main" id="{97D10A85-483B-1E16-865F-BA074CD810D4}"/>
                </a:ext>
              </a:extLst>
            </p:cNvPr>
            <p:cNvSpPr/>
            <p:nvPr/>
          </p:nvSpPr>
          <p:spPr>
            <a:xfrm>
              <a:off x="1722012" y="3313962"/>
              <a:ext cx="6653648" cy="381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거버넌스 규정 수립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42C5D6B-24E0-9320-56A4-CB979A77BA7C}"/>
                </a:ext>
              </a:extLst>
            </p:cNvPr>
            <p:cNvSpPr/>
            <p:nvPr/>
          </p:nvSpPr>
          <p:spPr>
            <a:xfrm>
              <a:off x="1722012" y="3263162"/>
              <a:ext cx="255350" cy="229403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3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00C42FE5-3323-FFA1-28A5-C05F62D334F4}"/>
              </a:ext>
            </a:extLst>
          </p:cNvPr>
          <p:cNvSpPr/>
          <p:nvPr/>
        </p:nvSpPr>
        <p:spPr>
          <a:xfrm>
            <a:off x="8395659" y="3792372"/>
            <a:ext cx="1991676" cy="381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ko-KR" altLang="en-US" sz="12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 협의 및 의견 수렴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566E0CA-8574-53BB-2B57-4B1619CD9D31}"/>
              </a:ext>
            </a:extLst>
          </p:cNvPr>
          <p:cNvGrpSpPr/>
          <p:nvPr/>
        </p:nvGrpSpPr>
        <p:grpSpPr>
          <a:xfrm>
            <a:off x="1722012" y="3772053"/>
            <a:ext cx="6653648" cy="401920"/>
            <a:chOff x="1722012" y="3772051"/>
            <a:chExt cx="6653648" cy="401920"/>
          </a:xfrm>
        </p:grpSpPr>
        <p:sp>
          <p:nvSpPr>
            <p:cNvPr id="22" name="Rectangle: Rounded Corners 54">
              <a:extLst>
                <a:ext uri="{FF2B5EF4-FFF2-40B4-BE49-F238E27FC236}">
                  <a16:creationId xmlns:a16="http://schemas.microsoft.com/office/drawing/2014/main" id="{67DE87A3-275B-0625-EAE3-5F08ED04944B}"/>
                </a:ext>
              </a:extLst>
            </p:cNvPr>
            <p:cNvSpPr/>
            <p:nvPr/>
          </p:nvSpPr>
          <p:spPr>
            <a:xfrm>
              <a:off x="1722012" y="3792371"/>
              <a:ext cx="6653648" cy="381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거버넌스 운영 지침 수립</a:t>
              </a: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E318DEF-548A-CE52-5AF1-64B6C5A063BB}"/>
                </a:ext>
              </a:extLst>
            </p:cNvPr>
            <p:cNvSpPr/>
            <p:nvPr/>
          </p:nvSpPr>
          <p:spPr>
            <a:xfrm>
              <a:off x="1722012" y="3772051"/>
              <a:ext cx="255350" cy="229403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4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6" name="Rectangle: Rounded Corners 54">
            <a:extLst>
              <a:ext uri="{FF2B5EF4-FFF2-40B4-BE49-F238E27FC236}">
                <a16:creationId xmlns:a16="http://schemas.microsoft.com/office/drawing/2014/main" id="{1D448D30-926E-7816-8B2F-C90DCF4FCA94}"/>
              </a:ext>
            </a:extLst>
          </p:cNvPr>
          <p:cNvSpPr/>
          <p:nvPr/>
        </p:nvSpPr>
        <p:spPr>
          <a:xfrm>
            <a:off x="8395659" y="4291104"/>
            <a:ext cx="1991676" cy="381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ko-KR" altLang="en-US" sz="12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 협의 및 의견 수렴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4913B3E-F276-9475-8439-BA17460E7D61}"/>
              </a:ext>
            </a:extLst>
          </p:cNvPr>
          <p:cNvGrpSpPr/>
          <p:nvPr/>
        </p:nvGrpSpPr>
        <p:grpSpPr>
          <a:xfrm>
            <a:off x="1722012" y="4250463"/>
            <a:ext cx="6653648" cy="422240"/>
            <a:chOff x="1722012" y="4250460"/>
            <a:chExt cx="6653648" cy="422240"/>
          </a:xfrm>
        </p:grpSpPr>
        <p:sp>
          <p:nvSpPr>
            <p:cNvPr id="25" name="Rectangle: Rounded Corners 54">
              <a:extLst>
                <a:ext uri="{FF2B5EF4-FFF2-40B4-BE49-F238E27FC236}">
                  <a16:creationId xmlns:a16="http://schemas.microsoft.com/office/drawing/2014/main" id="{B30F91E3-BBA4-1117-76B1-2A338AB6C564}"/>
                </a:ext>
              </a:extLst>
            </p:cNvPr>
            <p:cNvSpPr/>
            <p:nvPr/>
          </p:nvSpPr>
          <p:spPr>
            <a:xfrm>
              <a:off x="1722012" y="4291100"/>
              <a:ext cx="6653648" cy="381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개발운영 지침 수립</a:t>
              </a: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96877A4-A0EC-6C8A-9A7B-86DACEFA45E3}"/>
                </a:ext>
              </a:extLst>
            </p:cNvPr>
            <p:cNvSpPr/>
            <p:nvPr/>
          </p:nvSpPr>
          <p:spPr>
            <a:xfrm>
              <a:off x="1722012" y="4250460"/>
              <a:ext cx="255350" cy="229403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5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7341154-B3EB-C4CA-3D7A-B85F6F7CF352}"/>
              </a:ext>
            </a:extLst>
          </p:cNvPr>
          <p:cNvGrpSpPr/>
          <p:nvPr/>
        </p:nvGrpSpPr>
        <p:grpSpPr>
          <a:xfrm>
            <a:off x="7091824" y="5208022"/>
            <a:ext cx="3984171" cy="381454"/>
            <a:chOff x="7493345" y="5720185"/>
            <a:chExt cx="4216053" cy="381454"/>
          </a:xfrm>
        </p:grpSpPr>
        <p:sp>
          <p:nvSpPr>
            <p:cNvPr id="45" name="Rectangle: Rounded Corners 54">
              <a:extLst>
                <a:ext uri="{FF2B5EF4-FFF2-40B4-BE49-F238E27FC236}">
                  <a16:creationId xmlns:a16="http://schemas.microsoft.com/office/drawing/2014/main" id="{2C2C5E45-F470-4893-2E17-C2D68803999A}"/>
                </a:ext>
              </a:extLst>
            </p:cNvPr>
            <p:cNvSpPr/>
            <p:nvPr/>
          </p:nvSpPr>
          <p:spPr>
            <a:xfrm>
              <a:off x="7493345" y="5720185"/>
              <a:ext cx="4216053" cy="38145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위험 평가</a:t>
              </a:r>
              <a:r>
                <a:rPr lang="en-US" altLang="ko-KR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&amp;</a:t>
              </a:r>
              <a:r>
                <a:rPr lang="ko-KR" altLang="en-US" sz="1200" spc="-7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완화 방안 및 구축요건 작성</a:t>
              </a:r>
            </a:p>
          </p:txBody>
        </p:sp>
        <p:sp>
          <p:nvSpPr>
            <p:cNvPr id="67" name="사각형: 둥근 모서리 38">
              <a:extLst>
                <a:ext uri="{FF2B5EF4-FFF2-40B4-BE49-F238E27FC236}">
                  <a16:creationId xmlns:a16="http://schemas.microsoft.com/office/drawing/2014/main" id="{C4910233-628B-A6D0-1F55-1A3ECC5E1FC6}"/>
                </a:ext>
              </a:extLst>
            </p:cNvPr>
            <p:cNvSpPr/>
            <p:nvPr/>
          </p:nvSpPr>
          <p:spPr>
            <a:xfrm>
              <a:off x="7494005" y="5733772"/>
              <a:ext cx="288000" cy="2294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7</a:t>
              </a:r>
              <a:endParaRPr lang="ko-KR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C8BC4CA-9F31-ABAA-60BD-A9BF2D20D31C}"/>
              </a:ext>
            </a:extLst>
          </p:cNvPr>
          <p:cNvGrpSpPr/>
          <p:nvPr/>
        </p:nvGrpSpPr>
        <p:grpSpPr>
          <a:xfrm>
            <a:off x="9953393" y="1607821"/>
            <a:ext cx="277960" cy="4926330"/>
            <a:chOff x="10618016" y="1640582"/>
            <a:chExt cx="277960" cy="4469645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5FF04680-EF37-1A37-8AE5-AE029F8D9626}"/>
                </a:ext>
              </a:extLst>
            </p:cNvPr>
            <p:cNvSpPr/>
            <p:nvPr/>
          </p:nvSpPr>
          <p:spPr>
            <a:xfrm flipV="1">
              <a:off x="10618016" y="1640582"/>
              <a:ext cx="277960" cy="152400"/>
            </a:xfrm>
            <a:prstGeom prst="triangle">
              <a:avLst/>
            </a:prstGeom>
            <a:solidFill>
              <a:srgbClr val="043B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DB443D9-C2ED-8A0C-8AC5-52F34987FB34}"/>
                </a:ext>
              </a:extLst>
            </p:cNvPr>
            <p:cNvCxnSpPr>
              <a:cxnSpLocks/>
            </p:cNvCxnSpPr>
            <p:nvPr/>
          </p:nvCxnSpPr>
          <p:spPr>
            <a:xfrm>
              <a:off x="10756996" y="1757422"/>
              <a:ext cx="0" cy="4352805"/>
            </a:xfrm>
            <a:prstGeom prst="line">
              <a:avLst/>
            </a:prstGeom>
            <a:ln w="28575">
              <a:solidFill>
                <a:srgbClr val="043B7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9A2874-895C-24B9-ED17-10B8295CD83E}"/>
              </a:ext>
            </a:extLst>
          </p:cNvPr>
          <p:cNvCxnSpPr>
            <a:cxnSpLocks/>
          </p:cNvCxnSpPr>
          <p:nvPr/>
        </p:nvCxnSpPr>
        <p:spPr>
          <a:xfrm>
            <a:off x="405495" y="2766089"/>
            <a:ext cx="11486468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83124C-0EB4-2151-791E-4F36B241C1E5}"/>
              </a:ext>
            </a:extLst>
          </p:cNvPr>
          <p:cNvCxnSpPr>
            <a:cxnSpLocks/>
          </p:cNvCxnSpPr>
          <p:nvPr/>
        </p:nvCxnSpPr>
        <p:spPr>
          <a:xfrm>
            <a:off x="1768481" y="3224919"/>
            <a:ext cx="10123482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4F546C-8DEF-64D9-5092-7D921B5F9FFB}"/>
              </a:ext>
            </a:extLst>
          </p:cNvPr>
          <p:cNvCxnSpPr>
            <a:cxnSpLocks/>
          </p:cNvCxnSpPr>
          <p:nvPr/>
        </p:nvCxnSpPr>
        <p:spPr>
          <a:xfrm>
            <a:off x="1768481" y="3733808"/>
            <a:ext cx="10123482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C98E7C-EE78-B47C-F5E8-85DD3F7928B3}"/>
              </a:ext>
            </a:extLst>
          </p:cNvPr>
          <p:cNvCxnSpPr>
            <a:cxnSpLocks/>
          </p:cNvCxnSpPr>
          <p:nvPr/>
        </p:nvCxnSpPr>
        <p:spPr>
          <a:xfrm>
            <a:off x="1768481" y="4212218"/>
            <a:ext cx="10123482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3FAFBE-9ADB-8F6D-5F63-55627E27CA18}"/>
              </a:ext>
            </a:extLst>
          </p:cNvPr>
          <p:cNvCxnSpPr>
            <a:cxnSpLocks/>
          </p:cNvCxnSpPr>
          <p:nvPr/>
        </p:nvCxnSpPr>
        <p:spPr>
          <a:xfrm>
            <a:off x="1768481" y="4710948"/>
            <a:ext cx="10123482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1B49D4-838C-811D-22EF-B5D9FF122260}"/>
              </a:ext>
            </a:extLst>
          </p:cNvPr>
          <p:cNvCxnSpPr>
            <a:cxnSpLocks/>
          </p:cNvCxnSpPr>
          <p:nvPr/>
        </p:nvCxnSpPr>
        <p:spPr>
          <a:xfrm>
            <a:off x="1722009" y="5169777"/>
            <a:ext cx="10123482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B4585F-F45F-A054-39B7-F45E924FE464}"/>
              </a:ext>
            </a:extLst>
          </p:cNvPr>
          <p:cNvCxnSpPr>
            <a:cxnSpLocks/>
          </p:cNvCxnSpPr>
          <p:nvPr/>
        </p:nvCxnSpPr>
        <p:spPr>
          <a:xfrm>
            <a:off x="7091824" y="5627720"/>
            <a:ext cx="4747410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6E020C-71C5-93C7-F031-9CC5B85043D8}"/>
              </a:ext>
            </a:extLst>
          </p:cNvPr>
          <p:cNvCxnSpPr>
            <a:cxnSpLocks/>
          </p:cNvCxnSpPr>
          <p:nvPr/>
        </p:nvCxnSpPr>
        <p:spPr>
          <a:xfrm>
            <a:off x="7782533" y="6086550"/>
            <a:ext cx="4056701" cy="0"/>
          </a:xfrm>
          <a:prstGeom prst="line">
            <a:avLst/>
          </a:prstGeom>
          <a:ln>
            <a:solidFill>
              <a:srgbClr val="F5822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0CAFE6C-A09A-78F9-F1C2-321514AD683F}"/>
              </a:ext>
            </a:extLst>
          </p:cNvPr>
          <p:cNvGrpSpPr/>
          <p:nvPr/>
        </p:nvGrpSpPr>
        <p:grpSpPr>
          <a:xfrm>
            <a:off x="8980144" y="964449"/>
            <a:ext cx="2876891" cy="271234"/>
            <a:chOff x="8980144" y="929724"/>
            <a:chExt cx="2876891" cy="27123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5405043-3DC8-C368-D0E8-C750EB871E7F}"/>
                </a:ext>
              </a:extLst>
            </p:cNvPr>
            <p:cNvSpPr txBox="1"/>
            <p:nvPr/>
          </p:nvSpPr>
          <p:spPr>
            <a:xfrm>
              <a:off x="9210040" y="929724"/>
              <a:ext cx="2646995" cy="2712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r"/>
              <a:endParaRPr lang="ko-KR" altLang="en-US" sz="800"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4A6B190-5DD8-AB69-0E0E-885723AFAA29}"/>
                </a:ext>
              </a:extLst>
            </p:cNvPr>
            <p:cNvSpPr txBox="1"/>
            <p:nvPr/>
          </p:nvSpPr>
          <p:spPr>
            <a:xfrm>
              <a:off x="8980144" y="96847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79" name="Rectangle: Rounded Corners 54">
              <a:extLst>
                <a:ext uri="{FF2B5EF4-FFF2-40B4-BE49-F238E27FC236}">
                  <a16:creationId xmlns:a16="http://schemas.microsoft.com/office/drawing/2014/main" id="{339AD4A1-93CC-6E22-B125-683C82592918}"/>
                </a:ext>
              </a:extLst>
            </p:cNvPr>
            <p:cNvSpPr/>
            <p:nvPr/>
          </p:nvSpPr>
          <p:spPr>
            <a:xfrm>
              <a:off x="9505202" y="987846"/>
              <a:ext cx="291816" cy="154991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ko-KR" altLang="en-US" sz="800" kern="0" dirty="0">
                  <a:latin typeface="+mn-ea"/>
                </a:rPr>
                <a:t>완료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FD8EE6B-5138-C55B-2ED4-B4110BFDCCCA}"/>
                </a:ext>
              </a:extLst>
            </p:cNvPr>
            <p:cNvSpPr/>
            <p:nvPr/>
          </p:nvSpPr>
          <p:spPr>
            <a:xfrm>
              <a:off x="9367035" y="997294"/>
              <a:ext cx="142038" cy="142038"/>
            </a:xfrm>
            <a:prstGeom prst="ellipse">
              <a:avLst/>
            </a:prstGeom>
            <a:solidFill>
              <a:srgbClr val="F58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Partial Circle 80">
              <a:extLst>
                <a:ext uri="{FF2B5EF4-FFF2-40B4-BE49-F238E27FC236}">
                  <a16:creationId xmlns:a16="http://schemas.microsoft.com/office/drawing/2014/main" id="{CA90F509-D37A-A3C0-29AE-00C6CE831DD7}"/>
                </a:ext>
              </a:extLst>
            </p:cNvPr>
            <p:cNvSpPr/>
            <p:nvPr/>
          </p:nvSpPr>
          <p:spPr>
            <a:xfrm>
              <a:off x="9878811" y="997294"/>
              <a:ext cx="142038" cy="142038"/>
            </a:xfrm>
            <a:prstGeom prst="pie">
              <a:avLst/>
            </a:prstGeom>
            <a:solidFill>
              <a:srgbClr val="F58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Partial Circle 81">
              <a:extLst>
                <a:ext uri="{FF2B5EF4-FFF2-40B4-BE49-F238E27FC236}">
                  <a16:creationId xmlns:a16="http://schemas.microsoft.com/office/drawing/2014/main" id="{F2AECE4C-DF47-FC3A-5A74-632CA70DADC0}"/>
                </a:ext>
              </a:extLst>
            </p:cNvPr>
            <p:cNvSpPr/>
            <p:nvPr/>
          </p:nvSpPr>
          <p:spPr>
            <a:xfrm>
              <a:off x="11191342" y="997294"/>
              <a:ext cx="142038" cy="142038"/>
            </a:xfrm>
            <a:prstGeom prst="pie">
              <a:avLst>
                <a:gd name="adj1" fmla="val 5497209"/>
                <a:gd name="adj2" fmla="val 16200000"/>
              </a:avLst>
            </a:prstGeom>
            <a:solidFill>
              <a:srgbClr val="F58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Rectangle: Rounded Corners 54">
              <a:extLst>
                <a:ext uri="{FF2B5EF4-FFF2-40B4-BE49-F238E27FC236}">
                  <a16:creationId xmlns:a16="http://schemas.microsoft.com/office/drawing/2014/main" id="{5124834A-63FE-9597-1646-3857996EF93E}"/>
                </a:ext>
              </a:extLst>
            </p:cNvPr>
            <p:cNvSpPr/>
            <p:nvPr/>
          </p:nvSpPr>
          <p:spPr>
            <a:xfrm>
              <a:off x="10047740" y="987846"/>
              <a:ext cx="1062793" cy="154991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ko-KR" altLang="en-US" sz="800" kern="0" dirty="0">
                  <a:latin typeface="+mn-ea"/>
                </a:rPr>
                <a:t>리뷰 및 피드백 반영중 </a:t>
              </a:r>
            </a:p>
          </p:txBody>
        </p:sp>
        <p:sp>
          <p:nvSpPr>
            <p:cNvPr id="84" name="Rectangle: Rounded Corners 54">
              <a:extLst>
                <a:ext uri="{FF2B5EF4-FFF2-40B4-BE49-F238E27FC236}">
                  <a16:creationId xmlns:a16="http://schemas.microsoft.com/office/drawing/2014/main" id="{B2D34389-1669-B385-3BE8-9425D4F9FE76}"/>
                </a:ext>
              </a:extLst>
            </p:cNvPr>
            <p:cNvSpPr/>
            <p:nvPr/>
          </p:nvSpPr>
          <p:spPr>
            <a:xfrm>
              <a:off x="11302584" y="987846"/>
              <a:ext cx="465616" cy="154991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ko-KR" altLang="en-US" sz="800" kern="0" dirty="0">
                  <a:latin typeface="+mn-ea"/>
                </a:rPr>
                <a:t>초안완료</a:t>
              </a:r>
            </a:p>
          </p:txBody>
        </p:sp>
      </p:grpSp>
      <p:sp>
        <p:nvSpPr>
          <p:cNvPr id="85" name="Oval 84">
            <a:extLst>
              <a:ext uri="{FF2B5EF4-FFF2-40B4-BE49-F238E27FC236}">
                <a16:creationId xmlns:a16="http://schemas.microsoft.com/office/drawing/2014/main" id="{0F5B1C24-8A0B-1ABF-BE70-FC850A016C60}"/>
              </a:ext>
            </a:extLst>
          </p:cNvPr>
          <p:cNvSpPr/>
          <p:nvPr/>
        </p:nvSpPr>
        <p:spPr>
          <a:xfrm>
            <a:off x="11333380" y="2336518"/>
            <a:ext cx="365666" cy="36566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EA0796C-FC05-0494-8C15-0EE06054C394}"/>
              </a:ext>
            </a:extLst>
          </p:cNvPr>
          <p:cNvSpPr/>
          <p:nvPr/>
        </p:nvSpPr>
        <p:spPr>
          <a:xfrm>
            <a:off x="11333380" y="2812228"/>
            <a:ext cx="365666" cy="36566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5AEA3BE-A2CD-9CDE-2A30-DE78A55EE445}"/>
              </a:ext>
            </a:extLst>
          </p:cNvPr>
          <p:cNvSpPr/>
          <p:nvPr/>
        </p:nvSpPr>
        <p:spPr>
          <a:xfrm>
            <a:off x="11333380" y="4761453"/>
            <a:ext cx="365666" cy="36566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Partial Circle 87">
            <a:extLst>
              <a:ext uri="{FF2B5EF4-FFF2-40B4-BE49-F238E27FC236}">
                <a16:creationId xmlns:a16="http://schemas.microsoft.com/office/drawing/2014/main" id="{735CA379-9EB4-C5F2-BC4B-07E9FB07C0F2}"/>
              </a:ext>
            </a:extLst>
          </p:cNvPr>
          <p:cNvSpPr/>
          <p:nvPr/>
        </p:nvSpPr>
        <p:spPr>
          <a:xfrm>
            <a:off x="11333380" y="3298049"/>
            <a:ext cx="365666" cy="365666"/>
          </a:xfrm>
          <a:prstGeom prst="pi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Partial Circle 88">
            <a:extLst>
              <a:ext uri="{FF2B5EF4-FFF2-40B4-BE49-F238E27FC236}">
                <a16:creationId xmlns:a16="http://schemas.microsoft.com/office/drawing/2014/main" id="{CB771DCF-5E3B-10DC-8917-36B1D517E620}"/>
              </a:ext>
            </a:extLst>
          </p:cNvPr>
          <p:cNvSpPr/>
          <p:nvPr/>
        </p:nvSpPr>
        <p:spPr>
          <a:xfrm>
            <a:off x="11333380" y="3798972"/>
            <a:ext cx="365666" cy="365666"/>
          </a:xfrm>
          <a:prstGeom prst="pi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Partial Circle 89">
            <a:extLst>
              <a:ext uri="{FF2B5EF4-FFF2-40B4-BE49-F238E27FC236}">
                <a16:creationId xmlns:a16="http://schemas.microsoft.com/office/drawing/2014/main" id="{C875F274-CA28-C314-A728-89082C961959}"/>
              </a:ext>
            </a:extLst>
          </p:cNvPr>
          <p:cNvSpPr/>
          <p:nvPr/>
        </p:nvSpPr>
        <p:spPr>
          <a:xfrm>
            <a:off x="11333380" y="4290506"/>
            <a:ext cx="365666" cy="365666"/>
          </a:xfrm>
          <a:prstGeom prst="pi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Partial Circle 90">
            <a:extLst>
              <a:ext uri="{FF2B5EF4-FFF2-40B4-BE49-F238E27FC236}">
                <a16:creationId xmlns:a16="http://schemas.microsoft.com/office/drawing/2014/main" id="{447D7A05-7C34-2684-11DA-05406B98523A}"/>
              </a:ext>
            </a:extLst>
          </p:cNvPr>
          <p:cNvSpPr/>
          <p:nvPr/>
        </p:nvSpPr>
        <p:spPr>
          <a:xfrm>
            <a:off x="11333380" y="5224787"/>
            <a:ext cx="365666" cy="365666"/>
          </a:xfrm>
          <a:prstGeom prst="pi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Partial Circle 91">
            <a:extLst>
              <a:ext uri="{FF2B5EF4-FFF2-40B4-BE49-F238E27FC236}">
                <a16:creationId xmlns:a16="http://schemas.microsoft.com/office/drawing/2014/main" id="{143B909C-E982-A2F3-0916-1A25F94E707D}"/>
              </a:ext>
            </a:extLst>
          </p:cNvPr>
          <p:cNvSpPr/>
          <p:nvPr/>
        </p:nvSpPr>
        <p:spPr>
          <a:xfrm>
            <a:off x="11333380" y="6138595"/>
            <a:ext cx="365666" cy="365666"/>
          </a:xfrm>
          <a:prstGeom prst="pie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Partial Circle 92">
            <a:extLst>
              <a:ext uri="{FF2B5EF4-FFF2-40B4-BE49-F238E27FC236}">
                <a16:creationId xmlns:a16="http://schemas.microsoft.com/office/drawing/2014/main" id="{1DC5D398-83E8-838E-B99A-25A6B95FFACE}"/>
              </a:ext>
            </a:extLst>
          </p:cNvPr>
          <p:cNvSpPr/>
          <p:nvPr/>
        </p:nvSpPr>
        <p:spPr>
          <a:xfrm>
            <a:off x="11333380" y="5674302"/>
            <a:ext cx="365666" cy="365666"/>
          </a:xfrm>
          <a:prstGeom prst="pie">
            <a:avLst>
              <a:gd name="adj1" fmla="val 5400707"/>
              <a:gd name="adj2" fmla="val 1620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Rectangle: Rounded Corners 54">
            <a:extLst>
              <a:ext uri="{FF2B5EF4-FFF2-40B4-BE49-F238E27FC236}">
                <a16:creationId xmlns:a16="http://schemas.microsoft.com/office/drawing/2014/main" id="{DFD18A9E-800E-6863-D1FE-A552243B2057}"/>
              </a:ext>
            </a:extLst>
          </p:cNvPr>
          <p:cNvSpPr/>
          <p:nvPr/>
        </p:nvSpPr>
        <p:spPr>
          <a:xfrm>
            <a:off x="11154100" y="1888543"/>
            <a:ext cx="757862" cy="4615718"/>
          </a:xfrm>
          <a:prstGeom prst="roundRect">
            <a:avLst/>
          </a:prstGeom>
          <a:noFill/>
          <a:ln w="28575">
            <a:solidFill>
              <a:srgbClr val="F5822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ko-KR" altLang="en-US" sz="1200" spc="-7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813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4A50-DB55-D13D-42F9-45C8E2B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5A270-458B-3FF2-25E7-DA769D0B57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A6881-8680-D323-1F11-267167B23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컨설팅 추진 경과 </a:t>
            </a:r>
            <a:r>
              <a:rPr lang="en-US" altLang="ko-KR" dirty="0"/>
              <a:t>(2/3)</a:t>
            </a:r>
          </a:p>
        </p:txBody>
      </p:sp>
      <p:sp>
        <p:nvSpPr>
          <p:cNvPr id="54" name="사각형: 둥근 모서리 56">
            <a:extLst>
              <a:ext uri="{FF2B5EF4-FFF2-40B4-BE49-F238E27FC236}">
                <a16:creationId xmlns:a16="http://schemas.microsoft.com/office/drawing/2014/main" id="{76E3360F-1E56-290B-8534-67923BB0BD2B}"/>
              </a:ext>
            </a:extLst>
          </p:cNvPr>
          <p:cNvSpPr/>
          <p:nvPr/>
        </p:nvSpPr>
        <p:spPr>
          <a:xfrm>
            <a:off x="1180215" y="1324764"/>
            <a:ext cx="5295789" cy="396000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 규정 및 지침 수립</a:t>
            </a:r>
          </a:p>
        </p:txBody>
      </p:sp>
      <p:sp>
        <p:nvSpPr>
          <p:cNvPr id="11" name="사각형: 둥근 모서리 56">
            <a:extLst>
              <a:ext uri="{FF2B5EF4-FFF2-40B4-BE49-F238E27FC236}">
                <a16:creationId xmlns:a16="http://schemas.microsoft.com/office/drawing/2014/main" id="{583381AD-3BB9-B010-5CB6-051BAEA045C8}"/>
              </a:ext>
            </a:extLst>
          </p:cNvPr>
          <p:cNvSpPr/>
          <p:nvPr/>
        </p:nvSpPr>
        <p:spPr>
          <a:xfrm>
            <a:off x="1180215" y="1783176"/>
            <a:ext cx="5295789" cy="264390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(2/4)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종 작성 완료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369888" indent="-285750">
              <a:spcBef>
                <a:spcPts val="100"/>
              </a:spcBef>
              <a:spcAft>
                <a:spcPts val="600"/>
              </a:spcAft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윤리기준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AI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거버넌스규정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AI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거버넌스운영지침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AI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 지침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369888" indent="-285750">
              <a:spcBef>
                <a:spcPts val="100"/>
              </a:spcBef>
              <a:spcAft>
                <a:spcPts val="600"/>
              </a:spcAft>
              <a:buFontTx/>
              <a:buChar char="-"/>
            </a:pP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유관부서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검토 진행中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369888" indent="-285750">
              <a:spcBef>
                <a:spcPts val="100"/>
              </a:spcBef>
              <a:spcAft>
                <a:spcPts val="600"/>
              </a:spcAft>
              <a:buFontTx/>
              <a:buChar char="-"/>
            </a:pP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369888" indent="-285750">
              <a:spcBef>
                <a:spcPts val="100"/>
              </a:spcBef>
              <a:spcAft>
                <a:spcPts val="600"/>
              </a:spcAft>
              <a:buFontTx/>
              <a:buChar char="-"/>
            </a:pP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사각형: 둥근 모서리 56">
            <a:extLst>
              <a:ext uri="{FF2B5EF4-FFF2-40B4-BE49-F238E27FC236}">
                <a16:creationId xmlns:a16="http://schemas.microsoft.com/office/drawing/2014/main" id="{D41CF443-60E4-E1AD-D05C-107E11D30202}"/>
              </a:ext>
            </a:extLst>
          </p:cNvPr>
          <p:cNvSpPr/>
          <p:nvPr/>
        </p:nvSpPr>
        <p:spPr>
          <a:xfrm>
            <a:off x="1180215" y="5533236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N/A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사각형: 둥근 모서리 56">
            <a:extLst>
              <a:ext uri="{FF2B5EF4-FFF2-40B4-BE49-F238E27FC236}">
                <a16:creationId xmlns:a16="http://schemas.microsoft.com/office/drawing/2014/main" id="{FA7996FC-C8CC-CF3C-2151-E0F6C268EC54}"/>
              </a:ext>
            </a:extLst>
          </p:cNvPr>
          <p:cNvSpPr/>
          <p:nvPr/>
        </p:nvSpPr>
        <p:spPr>
          <a:xfrm>
            <a:off x="6596174" y="1324764"/>
            <a:ext cx="5295789" cy="396000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 지원도구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(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템플릿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체크리스트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)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설계  </a:t>
            </a:r>
          </a:p>
        </p:txBody>
      </p:sp>
      <p:sp>
        <p:nvSpPr>
          <p:cNvPr id="17" name="사각형: 둥근 모서리 56">
            <a:extLst>
              <a:ext uri="{FF2B5EF4-FFF2-40B4-BE49-F238E27FC236}">
                <a16:creationId xmlns:a16="http://schemas.microsoft.com/office/drawing/2014/main" id="{AA1E05AE-1C64-946F-BDD3-59321E3B79C8}"/>
              </a:ext>
            </a:extLst>
          </p:cNvPr>
          <p:cNvSpPr/>
          <p:nvPr/>
        </p:nvSpPr>
        <p:spPr>
          <a:xfrm>
            <a:off x="6596174" y="1783176"/>
            <a:ext cx="5295789" cy="264390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0" rtlCol="0" anchor="t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(2/13)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템플릿 및 체크리스트 수정본 전달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위험등급평가서 피드백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간소화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반영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 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중요도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필수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선택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 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위험도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상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하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 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구분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–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대고객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임직원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포함</a:t>
            </a:r>
            <a:endParaRPr lang="en-US" altLang="ko-KR" sz="1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고객사 검토 진행中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사각형: 둥근 모서리 56">
            <a:extLst>
              <a:ext uri="{FF2B5EF4-FFF2-40B4-BE49-F238E27FC236}">
                <a16:creationId xmlns:a16="http://schemas.microsoft.com/office/drawing/2014/main" id="{3024EB83-8FB6-6DB5-B788-5E4CAD9B5836}"/>
              </a:ext>
            </a:extLst>
          </p:cNvPr>
          <p:cNvSpPr/>
          <p:nvPr/>
        </p:nvSpPr>
        <p:spPr>
          <a:xfrm>
            <a:off x="6596174" y="5533236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설명회 피드백 관련 업무 간소화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F/U 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위험등급별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필수체크리스트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작성 서식 구분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템플릿 및 서식 內 필수 작성 항목 구분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(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미래에셋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ITSM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프로세스 內 적용 가능 항목 검토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선정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사각형: 둥근 모서리 56">
            <a:extLst>
              <a:ext uri="{FF2B5EF4-FFF2-40B4-BE49-F238E27FC236}">
                <a16:creationId xmlns:a16="http://schemas.microsoft.com/office/drawing/2014/main" id="{C607EE60-C1E3-8F09-B2B0-F291E75DE489}"/>
              </a:ext>
            </a:extLst>
          </p:cNvPr>
          <p:cNvSpPr/>
          <p:nvPr/>
        </p:nvSpPr>
        <p:spPr>
          <a:xfrm>
            <a:off x="334966" y="1324764"/>
            <a:ext cx="725080" cy="396000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</a:p>
        </p:txBody>
      </p:sp>
      <p:sp>
        <p:nvSpPr>
          <p:cNvPr id="23" name="사각형: 둥근 모서리 56">
            <a:extLst>
              <a:ext uri="{FF2B5EF4-FFF2-40B4-BE49-F238E27FC236}">
                <a16:creationId xmlns:a16="http://schemas.microsoft.com/office/drawing/2014/main" id="{26F4DEF9-EF3F-988E-75AD-92617D3609C3}"/>
              </a:ext>
            </a:extLst>
          </p:cNvPr>
          <p:cNvSpPr/>
          <p:nvPr/>
        </p:nvSpPr>
        <p:spPr>
          <a:xfrm>
            <a:off x="334966" y="1783175"/>
            <a:ext cx="725080" cy="2643902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진행현황</a:t>
            </a:r>
          </a:p>
        </p:txBody>
      </p:sp>
      <p:sp>
        <p:nvSpPr>
          <p:cNvPr id="49" name="사각형: 둥근 모서리 29">
            <a:extLst>
              <a:ext uri="{FF2B5EF4-FFF2-40B4-BE49-F238E27FC236}">
                <a16:creationId xmlns:a16="http://schemas.microsoft.com/office/drawing/2014/main" id="{1B1A215B-A1E5-A857-6721-11C3618F7E7E}"/>
              </a:ext>
            </a:extLst>
          </p:cNvPr>
          <p:cNvSpPr/>
          <p:nvPr/>
        </p:nvSpPr>
        <p:spPr>
          <a:xfrm>
            <a:off x="2297092" y="1407866"/>
            <a:ext cx="189664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5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410A6E61-07CE-AE4B-728B-8EE296AB0519}"/>
              </a:ext>
            </a:extLst>
          </p:cNvPr>
          <p:cNvSpPr/>
          <p:nvPr/>
        </p:nvSpPr>
        <p:spPr>
          <a:xfrm>
            <a:off x="7315442" y="1407866"/>
            <a:ext cx="189664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9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사각형: 둥근 모서리 56">
            <a:extLst>
              <a:ext uri="{FF2B5EF4-FFF2-40B4-BE49-F238E27FC236}">
                <a16:creationId xmlns:a16="http://schemas.microsoft.com/office/drawing/2014/main" id="{AAC7A1DE-6F73-9FC7-2BF7-12473A528E9E}"/>
              </a:ext>
            </a:extLst>
          </p:cNvPr>
          <p:cNvSpPr/>
          <p:nvPr/>
        </p:nvSpPr>
        <p:spPr>
          <a:xfrm>
            <a:off x="334966" y="5533236"/>
            <a:ext cx="725080" cy="991389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기타사항</a:t>
            </a:r>
          </a:p>
        </p:txBody>
      </p:sp>
      <p:sp>
        <p:nvSpPr>
          <p:cNvPr id="61" name="사각형: 둥근 모서리 56">
            <a:extLst>
              <a:ext uri="{FF2B5EF4-FFF2-40B4-BE49-F238E27FC236}">
                <a16:creationId xmlns:a16="http://schemas.microsoft.com/office/drawing/2014/main" id="{A0680966-25CA-813D-7AF5-6E47BA785672}"/>
              </a:ext>
            </a:extLst>
          </p:cNvPr>
          <p:cNvSpPr/>
          <p:nvPr/>
        </p:nvSpPr>
        <p:spPr>
          <a:xfrm>
            <a:off x="1180215" y="4479700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(~2/20)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유관부서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의견 수렴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(~2/27)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피드백 반영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사각형: 둥근 모서리 56">
            <a:extLst>
              <a:ext uri="{FF2B5EF4-FFF2-40B4-BE49-F238E27FC236}">
                <a16:creationId xmlns:a16="http://schemas.microsoft.com/office/drawing/2014/main" id="{F2A859BA-6368-47D3-2263-4E955A141F2A}"/>
              </a:ext>
            </a:extLst>
          </p:cNvPr>
          <p:cNvSpPr/>
          <p:nvPr/>
        </p:nvSpPr>
        <p:spPr>
          <a:xfrm>
            <a:off x="6596174" y="4479700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(~2/27)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피드백 반영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사각형: 둥근 모서리 56">
            <a:extLst>
              <a:ext uri="{FF2B5EF4-FFF2-40B4-BE49-F238E27FC236}">
                <a16:creationId xmlns:a16="http://schemas.microsoft.com/office/drawing/2014/main" id="{762977C0-917A-D38B-F75F-A0490B31147A}"/>
              </a:ext>
            </a:extLst>
          </p:cNvPr>
          <p:cNvSpPr/>
          <p:nvPr/>
        </p:nvSpPr>
        <p:spPr>
          <a:xfrm>
            <a:off x="334966" y="4479700"/>
            <a:ext cx="725080" cy="991389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일정계획</a:t>
            </a:r>
          </a:p>
        </p:txBody>
      </p:sp>
      <p:sp>
        <p:nvSpPr>
          <p:cNvPr id="2" name="사각형: 둥근 모서리 29">
            <a:extLst>
              <a:ext uri="{FF2B5EF4-FFF2-40B4-BE49-F238E27FC236}">
                <a16:creationId xmlns:a16="http://schemas.microsoft.com/office/drawing/2014/main" id="{E51850A7-98AF-634F-F2B6-13EEE06B1217}"/>
              </a:ext>
            </a:extLst>
          </p:cNvPr>
          <p:cNvSpPr/>
          <p:nvPr/>
        </p:nvSpPr>
        <p:spPr>
          <a:xfrm>
            <a:off x="1779314" y="1407866"/>
            <a:ext cx="189664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EFC80474-2BF3-42E9-59B0-59641023872B}"/>
              </a:ext>
            </a:extLst>
          </p:cNvPr>
          <p:cNvSpPr/>
          <p:nvPr/>
        </p:nvSpPr>
        <p:spPr>
          <a:xfrm>
            <a:off x="2038203" y="1407866"/>
            <a:ext cx="189664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85363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B52D-AF88-13CF-8B1A-CCFADD563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E3594E-9E09-1D60-5F2A-AAE127B98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AE7E7F-5A70-DAB1-56BE-200CB94F00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컨설팅 추진 경과 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54" name="사각형: 둥근 모서리 56">
            <a:extLst>
              <a:ext uri="{FF2B5EF4-FFF2-40B4-BE49-F238E27FC236}">
                <a16:creationId xmlns:a16="http://schemas.microsoft.com/office/drawing/2014/main" id="{B7A57878-3769-97AA-AC19-E6605AA7FCEB}"/>
              </a:ext>
            </a:extLst>
          </p:cNvPr>
          <p:cNvSpPr/>
          <p:nvPr/>
        </p:nvSpPr>
        <p:spPr>
          <a:xfrm>
            <a:off x="1180215" y="1324764"/>
            <a:ext cx="10711748" cy="396000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위험 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&amp;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완화 방안 및 구축요건 작성</a:t>
            </a:r>
          </a:p>
        </p:txBody>
      </p:sp>
      <p:sp>
        <p:nvSpPr>
          <p:cNvPr id="11" name="사각형: 둥근 모서리 56">
            <a:extLst>
              <a:ext uri="{FF2B5EF4-FFF2-40B4-BE49-F238E27FC236}">
                <a16:creationId xmlns:a16="http://schemas.microsoft.com/office/drawing/2014/main" id="{55107C48-4754-199D-7ECC-18992CA3B4A0}"/>
              </a:ext>
            </a:extLst>
          </p:cNvPr>
          <p:cNvSpPr/>
          <p:nvPr/>
        </p:nvSpPr>
        <p:spPr>
          <a:xfrm>
            <a:off x="1180215" y="2252488"/>
            <a:ext cx="5295789" cy="217459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(2/11) AI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위험평가 및 완화 관련 구축 요건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(ITSM /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위험평가시스템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위험관리시스템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초안 완료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 AI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프로세스에 따른 구축 요건</a:t>
            </a:r>
            <a:b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공통 관리 영역 구분하여 작성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(2/12)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 피드백 수렴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56" name="사각형: 둥근 모서리 56">
            <a:extLst>
              <a:ext uri="{FF2B5EF4-FFF2-40B4-BE49-F238E27FC236}">
                <a16:creationId xmlns:a16="http://schemas.microsoft.com/office/drawing/2014/main" id="{4ABED64B-2C9E-DE05-9B20-5CFE06E983CB}"/>
              </a:ext>
            </a:extLst>
          </p:cNvPr>
          <p:cNvSpPr/>
          <p:nvPr/>
        </p:nvSpPr>
        <p:spPr>
          <a:xfrm>
            <a:off x="1180215" y="5533236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N/A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사각형: 둥근 모서리 56">
            <a:extLst>
              <a:ext uri="{FF2B5EF4-FFF2-40B4-BE49-F238E27FC236}">
                <a16:creationId xmlns:a16="http://schemas.microsoft.com/office/drawing/2014/main" id="{333F27AC-2D28-2C32-08BB-39379E99625F}"/>
              </a:ext>
            </a:extLst>
          </p:cNvPr>
          <p:cNvSpPr/>
          <p:nvPr/>
        </p:nvSpPr>
        <p:spPr>
          <a:xfrm>
            <a:off x="6596174" y="2252488"/>
            <a:ext cx="5295789" cy="217459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(2/5) AI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평가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완화 방안 정의서 초안 완료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고객사 검토 진행中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사각형: 둥근 모서리 56">
            <a:extLst>
              <a:ext uri="{FF2B5EF4-FFF2-40B4-BE49-F238E27FC236}">
                <a16:creationId xmlns:a16="http://schemas.microsoft.com/office/drawing/2014/main" id="{F3050587-A59E-5195-4FE9-DF7E3F9D1B4E}"/>
              </a:ext>
            </a:extLst>
          </p:cNvPr>
          <p:cNvSpPr/>
          <p:nvPr/>
        </p:nvSpPr>
        <p:spPr>
          <a:xfrm>
            <a:off x="6596174" y="5533236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N/A</a:t>
            </a:r>
          </a:p>
        </p:txBody>
      </p:sp>
      <p:sp>
        <p:nvSpPr>
          <p:cNvPr id="21" name="사각형: 둥근 모서리 56">
            <a:extLst>
              <a:ext uri="{FF2B5EF4-FFF2-40B4-BE49-F238E27FC236}">
                <a16:creationId xmlns:a16="http://schemas.microsoft.com/office/drawing/2014/main" id="{95CCE2B9-5E55-9268-12CB-4603D3609B42}"/>
              </a:ext>
            </a:extLst>
          </p:cNvPr>
          <p:cNvSpPr/>
          <p:nvPr/>
        </p:nvSpPr>
        <p:spPr>
          <a:xfrm>
            <a:off x="334966" y="1324764"/>
            <a:ext cx="725080" cy="396000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</a:p>
        </p:txBody>
      </p:sp>
      <p:sp>
        <p:nvSpPr>
          <p:cNvPr id="23" name="사각형: 둥근 모서리 56">
            <a:extLst>
              <a:ext uri="{FF2B5EF4-FFF2-40B4-BE49-F238E27FC236}">
                <a16:creationId xmlns:a16="http://schemas.microsoft.com/office/drawing/2014/main" id="{7169BD77-E4D0-1D78-9D26-F4D8BBFD42E3}"/>
              </a:ext>
            </a:extLst>
          </p:cNvPr>
          <p:cNvSpPr/>
          <p:nvPr/>
        </p:nvSpPr>
        <p:spPr>
          <a:xfrm>
            <a:off x="334966" y="1783175"/>
            <a:ext cx="725080" cy="2643902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진행현황</a:t>
            </a:r>
          </a:p>
        </p:txBody>
      </p:sp>
      <p:sp>
        <p:nvSpPr>
          <p:cNvPr id="49" name="사각형: 둥근 모서리 29">
            <a:extLst>
              <a:ext uri="{FF2B5EF4-FFF2-40B4-BE49-F238E27FC236}">
                <a16:creationId xmlns:a16="http://schemas.microsoft.com/office/drawing/2014/main" id="{055E03FC-A0EF-A333-0A23-AE161F5639CC}"/>
              </a:ext>
            </a:extLst>
          </p:cNvPr>
          <p:cNvSpPr/>
          <p:nvPr/>
        </p:nvSpPr>
        <p:spPr>
          <a:xfrm>
            <a:off x="4498032" y="1407866"/>
            <a:ext cx="189664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7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사각형: 둥근 모서리 56">
            <a:extLst>
              <a:ext uri="{FF2B5EF4-FFF2-40B4-BE49-F238E27FC236}">
                <a16:creationId xmlns:a16="http://schemas.microsoft.com/office/drawing/2014/main" id="{0275CFB6-05DE-EA33-7CCE-75D274B4C265}"/>
              </a:ext>
            </a:extLst>
          </p:cNvPr>
          <p:cNvSpPr/>
          <p:nvPr/>
        </p:nvSpPr>
        <p:spPr>
          <a:xfrm>
            <a:off x="334966" y="5533236"/>
            <a:ext cx="725080" cy="991389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기타사항</a:t>
            </a:r>
          </a:p>
        </p:txBody>
      </p:sp>
      <p:sp>
        <p:nvSpPr>
          <p:cNvPr id="61" name="사각형: 둥근 모서리 56">
            <a:extLst>
              <a:ext uri="{FF2B5EF4-FFF2-40B4-BE49-F238E27FC236}">
                <a16:creationId xmlns:a16="http://schemas.microsoft.com/office/drawing/2014/main" id="{8B453231-0C63-2A9D-1744-8AFDBBC312BA}"/>
              </a:ext>
            </a:extLst>
          </p:cNvPr>
          <p:cNvSpPr/>
          <p:nvPr/>
        </p:nvSpPr>
        <p:spPr>
          <a:xfrm>
            <a:off x="1180215" y="4479700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(~2/20)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피드백 반영 및 최종본 전달 예정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사각형: 둥근 모서리 56">
            <a:extLst>
              <a:ext uri="{FF2B5EF4-FFF2-40B4-BE49-F238E27FC236}">
                <a16:creationId xmlns:a16="http://schemas.microsoft.com/office/drawing/2014/main" id="{A6F1EAE6-A6CE-19B6-6C96-50F43D5E483D}"/>
              </a:ext>
            </a:extLst>
          </p:cNvPr>
          <p:cNvSpPr/>
          <p:nvPr/>
        </p:nvSpPr>
        <p:spPr>
          <a:xfrm>
            <a:off x="6596174" y="4479700"/>
            <a:ext cx="5295789" cy="1000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(~2/20)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고객사 피드백 수취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(~2/27)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피드백 반영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사각형: 둥근 모서리 56">
            <a:extLst>
              <a:ext uri="{FF2B5EF4-FFF2-40B4-BE49-F238E27FC236}">
                <a16:creationId xmlns:a16="http://schemas.microsoft.com/office/drawing/2014/main" id="{870401CC-7D1D-DE5E-6E08-FB9788703DC9}"/>
              </a:ext>
            </a:extLst>
          </p:cNvPr>
          <p:cNvSpPr/>
          <p:nvPr/>
        </p:nvSpPr>
        <p:spPr>
          <a:xfrm>
            <a:off x="334966" y="4479700"/>
            <a:ext cx="725080" cy="991389"/>
          </a:xfrm>
          <a:prstGeom prst="roundRect">
            <a:avLst>
              <a:gd name="adj" fmla="val 1292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일정계획</a:t>
            </a:r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4686EFCF-C1F2-8228-AB17-5D28E60F6147}"/>
              </a:ext>
            </a:extLst>
          </p:cNvPr>
          <p:cNvSpPr/>
          <p:nvPr/>
        </p:nvSpPr>
        <p:spPr>
          <a:xfrm>
            <a:off x="1180214" y="1803866"/>
            <a:ext cx="5295789" cy="396000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ITSM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구축요건</a:t>
            </a:r>
            <a:endParaRPr lang="ko-KR" altLang="en-US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5" name="사각형: 둥근 모서리 56">
            <a:extLst>
              <a:ext uri="{FF2B5EF4-FFF2-40B4-BE49-F238E27FC236}">
                <a16:creationId xmlns:a16="http://schemas.microsoft.com/office/drawing/2014/main" id="{D25A1C34-DA50-4841-D3E5-8CBD08B72D02}"/>
              </a:ext>
            </a:extLst>
          </p:cNvPr>
          <p:cNvSpPr/>
          <p:nvPr/>
        </p:nvSpPr>
        <p:spPr>
          <a:xfrm>
            <a:off x="6596174" y="1803866"/>
            <a:ext cx="5295789" cy="396000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 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&amp;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완화 방안 정의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* </a:t>
            </a:r>
            <a:endParaRPr lang="ko-KR" altLang="en-US" sz="140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4FA63731-5BE4-2719-B821-DDB1BB1A8102}"/>
              </a:ext>
            </a:extLst>
          </p:cNvPr>
          <p:cNvSpPr txBox="1">
            <a:spLocks/>
          </p:cNvSpPr>
          <p:nvPr/>
        </p:nvSpPr>
        <p:spPr>
          <a:xfrm>
            <a:off x="6574059" y="6617252"/>
            <a:ext cx="4535901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전문업체 </a:t>
            </a:r>
            <a:r>
              <a:rPr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이니텍에서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실 기술관점에서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위험 평가 방안 작성</a:t>
            </a:r>
          </a:p>
        </p:txBody>
      </p:sp>
    </p:spTree>
    <p:extLst>
      <p:ext uri="{BB962C8B-B14F-4D97-AF65-F5344CB8AC3E}">
        <p14:creationId xmlns:p14="http://schemas.microsoft.com/office/powerpoint/2010/main" val="7228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텍스트 개체 틀 83">
            <a:extLst>
              <a:ext uri="{FF2B5EF4-FFF2-40B4-BE49-F238E27FC236}">
                <a16:creationId xmlns:a16="http://schemas.microsoft.com/office/drawing/2014/main" id="{A5AE968B-FBD7-C7D5-1191-191722BB12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5" name="텍스트 개체 틀 84">
            <a:extLst>
              <a:ext uri="{FF2B5EF4-FFF2-40B4-BE49-F238E27FC236}">
                <a16:creationId xmlns:a16="http://schemas.microsoft.com/office/drawing/2014/main" id="{B061D433-FB9E-9B28-2A28-A0C3EF62A8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[Back-up] AI</a:t>
            </a:r>
            <a:r>
              <a:rPr lang="ko-KR" altLang="en-US" dirty="0"/>
              <a:t>거버넌스 수행 업무별 주요 내용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0FF02D7-4A6C-EE2B-D666-688577772427}"/>
              </a:ext>
            </a:extLst>
          </p:cNvPr>
          <p:cNvGrpSpPr/>
          <p:nvPr/>
        </p:nvGrpSpPr>
        <p:grpSpPr>
          <a:xfrm>
            <a:off x="10086831" y="800100"/>
            <a:ext cx="1770204" cy="271234"/>
            <a:chOff x="6539862" y="6278352"/>
            <a:chExt cx="1770204" cy="252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E5027D-4B27-9BB9-419F-18A8C0C2797E}"/>
                </a:ext>
              </a:extLst>
            </p:cNvPr>
            <p:cNvSpPr txBox="1"/>
            <p:nvPr/>
          </p:nvSpPr>
          <p:spPr>
            <a:xfrm>
              <a:off x="6719862" y="6278352"/>
              <a:ext cx="1590204" cy="25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r"/>
              <a:endParaRPr lang="ko-KR" altLang="en-US" sz="800">
                <a:latin typeface="+mn-ea"/>
              </a:endParaRPr>
            </a:p>
          </p:txBody>
        </p:sp>
        <p:sp>
          <p:nvSpPr>
            <p:cNvPr id="28" name="Rectangle: Rounded Corners 54">
              <a:extLst>
                <a:ext uri="{FF2B5EF4-FFF2-40B4-BE49-F238E27FC236}">
                  <a16:creationId xmlns:a16="http://schemas.microsoft.com/office/drawing/2014/main" id="{502D85D0-1296-40FB-71FA-69022626C91F}"/>
                </a:ext>
              </a:extLst>
            </p:cNvPr>
            <p:cNvSpPr/>
            <p:nvPr/>
          </p:nvSpPr>
          <p:spPr>
            <a:xfrm>
              <a:off x="7350919" y="6332352"/>
              <a:ext cx="928683" cy="144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en-US" altLang="ko-KR" sz="800" b="1" kern="0">
                  <a:latin typeface="+mn-ea"/>
                </a:rPr>
                <a:t>Working Doc.</a:t>
              </a:r>
              <a:endParaRPr lang="ko-KR" altLang="en-US" sz="800" b="1" kern="0"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3300A7-9B86-AE3B-C51D-9A06B77C3750}"/>
                </a:ext>
              </a:extLst>
            </p:cNvPr>
            <p:cNvSpPr txBox="1"/>
            <p:nvPr/>
          </p:nvSpPr>
          <p:spPr>
            <a:xfrm>
              <a:off x="6539862" y="6314352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>
                  <a:latin typeface="+mn-ea"/>
                </a:rPr>
                <a:t>범례</a:t>
              </a:r>
            </a:p>
          </p:txBody>
        </p:sp>
        <p:sp>
          <p:nvSpPr>
            <p:cNvPr id="30" name="Rectangle: Rounded Corners 54">
              <a:extLst>
                <a:ext uri="{FF2B5EF4-FFF2-40B4-BE49-F238E27FC236}">
                  <a16:creationId xmlns:a16="http://schemas.microsoft.com/office/drawing/2014/main" id="{9565AFD5-090C-BAA0-0C5F-EB91A41555AE}"/>
                </a:ext>
              </a:extLst>
            </p:cNvPr>
            <p:cNvSpPr/>
            <p:nvPr/>
          </p:nvSpPr>
          <p:spPr>
            <a:xfrm>
              <a:off x="6895689" y="6332352"/>
              <a:ext cx="400461" cy="144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ko-KR" altLang="en-US" sz="800" b="1" kern="0">
                  <a:latin typeface="+mn-ea"/>
                </a:rPr>
                <a:t>공식</a:t>
              </a:r>
            </a:p>
          </p:txBody>
        </p:sp>
      </p:grpSp>
      <p:sp>
        <p:nvSpPr>
          <p:cNvPr id="5" name="Google Shape;134;p5">
            <a:extLst>
              <a:ext uri="{FF2B5EF4-FFF2-40B4-BE49-F238E27FC236}">
                <a16:creationId xmlns:a16="http://schemas.microsoft.com/office/drawing/2014/main" id="{5B0C6A88-4582-AF0D-A1B7-878A4417DCFD}"/>
              </a:ext>
            </a:extLst>
          </p:cNvPr>
          <p:cNvSpPr/>
          <p:nvPr/>
        </p:nvSpPr>
        <p:spPr>
          <a:xfrm>
            <a:off x="733729" y="1637651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수립 요건 검토</a:t>
            </a:r>
          </a:p>
        </p:txBody>
      </p:sp>
      <p:sp>
        <p:nvSpPr>
          <p:cNvPr id="7" name="Google Shape;134;p5">
            <a:extLst>
              <a:ext uri="{FF2B5EF4-FFF2-40B4-BE49-F238E27FC236}">
                <a16:creationId xmlns:a16="http://schemas.microsoft.com/office/drawing/2014/main" id="{946DFD91-518D-4972-4071-8D1BBE5023F6}"/>
              </a:ext>
            </a:extLst>
          </p:cNvPr>
          <p:cNvSpPr/>
          <p:nvPr/>
        </p:nvSpPr>
        <p:spPr>
          <a:xfrm>
            <a:off x="733729" y="2751395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규정 수립</a:t>
            </a: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E041C1AE-8DB3-5DB7-457C-B4CAAC018BEF}"/>
              </a:ext>
            </a:extLst>
          </p:cNvPr>
          <p:cNvSpPr/>
          <p:nvPr/>
        </p:nvSpPr>
        <p:spPr>
          <a:xfrm>
            <a:off x="733729" y="3308267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AI</a:t>
            </a:r>
            <a:r>
              <a:rPr lang="ko-KR" altLang="en-US" sz="1200" b="1" kern="0" dirty="0">
                <a:latin typeface="+mn-ea"/>
                <a:sym typeface="Arial"/>
              </a:rPr>
              <a:t>거버넌스 운영 지침 수립</a:t>
            </a: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6B9D6966-1E2A-D5C5-A49A-574BDE4A8B9E}"/>
              </a:ext>
            </a:extLst>
          </p:cNvPr>
          <p:cNvSpPr/>
          <p:nvPr/>
        </p:nvSpPr>
        <p:spPr>
          <a:xfrm>
            <a:off x="733729" y="3865139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개발운영 지침 수립</a:t>
            </a: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14021B6F-D479-A4A6-B7BC-43E17A1D0CC4}"/>
              </a:ext>
            </a:extLst>
          </p:cNvPr>
          <p:cNvSpPr/>
          <p:nvPr/>
        </p:nvSpPr>
        <p:spPr>
          <a:xfrm>
            <a:off x="733729" y="4422011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보안 대책 수립</a:t>
            </a: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1C643E69-96C8-4F81-9083-8095249567E8}"/>
              </a:ext>
            </a:extLst>
          </p:cNvPr>
          <p:cNvSpPr/>
          <p:nvPr/>
        </p:nvSpPr>
        <p:spPr>
          <a:xfrm>
            <a:off x="733729" y="5535755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[</a:t>
            </a:r>
            <a:r>
              <a:rPr lang="ko-KR" altLang="en-US" sz="1200" b="1" kern="0" dirty="0">
                <a:latin typeface="+mn-ea"/>
                <a:sym typeface="Arial"/>
              </a:rPr>
              <a:t>신규</a:t>
            </a:r>
            <a:r>
              <a:rPr lang="en-US" altLang="ko-KR" sz="1200" b="1" kern="0" dirty="0">
                <a:latin typeface="+mn-ea"/>
                <a:sym typeface="Arial"/>
              </a:rPr>
              <a:t>Task] AI</a:t>
            </a:r>
            <a:r>
              <a:rPr lang="ko-KR" altLang="en-US" sz="1200" b="1" kern="0" dirty="0">
                <a:latin typeface="+mn-ea"/>
                <a:sym typeface="Arial"/>
              </a:rPr>
              <a:t>성능 평가 및 고도화 방안 수립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B6B452E1-C93E-A45F-86AB-357BCCCC7EBD}"/>
              </a:ext>
            </a:extLst>
          </p:cNvPr>
          <p:cNvSpPr/>
          <p:nvPr/>
        </p:nvSpPr>
        <p:spPr>
          <a:xfrm>
            <a:off x="733729" y="6092625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[</a:t>
            </a:r>
            <a:r>
              <a:rPr lang="ko-KR" altLang="en-US" sz="1200" b="1" kern="0" dirty="0">
                <a:latin typeface="+mn-ea"/>
                <a:sym typeface="Arial"/>
              </a:rPr>
              <a:t>신규</a:t>
            </a:r>
            <a:r>
              <a:rPr lang="en-US" altLang="ko-KR" sz="1200" b="1" kern="0" dirty="0">
                <a:latin typeface="+mn-ea"/>
                <a:sym typeface="Arial"/>
              </a:rPr>
              <a:t>Task] AI</a:t>
            </a:r>
            <a:r>
              <a:rPr lang="ko-KR" altLang="en-US" sz="1200" b="1" kern="0" dirty="0">
                <a:latin typeface="+mn-ea"/>
                <a:sym typeface="Arial"/>
              </a:rPr>
              <a:t>거버넌스 지원도구 설계</a:t>
            </a:r>
          </a:p>
        </p:txBody>
      </p:sp>
      <p:sp>
        <p:nvSpPr>
          <p:cNvPr id="31" name="사각형: 둥근 모서리 56">
            <a:extLst>
              <a:ext uri="{FF2B5EF4-FFF2-40B4-BE49-F238E27FC236}">
                <a16:creationId xmlns:a16="http://schemas.microsoft.com/office/drawing/2014/main" id="{6988F6CF-3B4E-48AE-1679-55D010839969}"/>
              </a:ext>
            </a:extLst>
          </p:cNvPr>
          <p:cNvSpPr/>
          <p:nvPr/>
        </p:nvSpPr>
        <p:spPr>
          <a:xfrm>
            <a:off x="334965" y="1121824"/>
            <a:ext cx="4288095" cy="390955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업무</a:t>
            </a:r>
          </a:p>
        </p:txBody>
      </p:sp>
      <p:sp>
        <p:nvSpPr>
          <p:cNvPr id="4" name="Google Shape;134;p5">
            <a:extLst>
              <a:ext uri="{FF2B5EF4-FFF2-40B4-BE49-F238E27FC236}">
                <a16:creationId xmlns:a16="http://schemas.microsoft.com/office/drawing/2014/main" id="{0E7C981E-EABB-B759-1E4D-9229FF42B78E}"/>
              </a:ext>
            </a:extLst>
          </p:cNvPr>
          <p:cNvSpPr/>
          <p:nvPr/>
        </p:nvSpPr>
        <p:spPr>
          <a:xfrm>
            <a:off x="733729" y="4978883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[</a:t>
            </a:r>
            <a:r>
              <a:rPr lang="ko-KR" altLang="en-US" sz="1200" b="1" kern="0" dirty="0">
                <a:latin typeface="+mn-ea"/>
                <a:sym typeface="Arial"/>
              </a:rPr>
              <a:t>신규</a:t>
            </a:r>
            <a:r>
              <a:rPr lang="en-US" altLang="ko-KR" sz="1200" b="1" kern="0" dirty="0">
                <a:latin typeface="+mn-ea"/>
                <a:sym typeface="Arial"/>
              </a:rPr>
              <a:t>Task] AI </a:t>
            </a:r>
            <a:r>
              <a:rPr lang="ko-KR" altLang="en-US" sz="1200" b="1" kern="0" dirty="0">
                <a:latin typeface="+mn-ea"/>
                <a:sym typeface="Arial"/>
              </a:rPr>
              <a:t>위험 평가 방안 및 구축 요건 작성</a:t>
            </a:r>
          </a:p>
        </p:txBody>
      </p:sp>
      <p:sp>
        <p:nvSpPr>
          <p:cNvPr id="2" name="Google Shape;134;p5">
            <a:extLst>
              <a:ext uri="{FF2B5EF4-FFF2-40B4-BE49-F238E27FC236}">
                <a16:creationId xmlns:a16="http://schemas.microsoft.com/office/drawing/2014/main" id="{5DCA70EA-04EB-6C6B-D05A-3AFC7E020177}"/>
              </a:ext>
            </a:extLst>
          </p:cNvPr>
          <p:cNvSpPr/>
          <p:nvPr/>
        </p:nvSpPr>
        <p:spPr>
          <a:xfrm>
            <a:off x="733729" y="2194523"/>
            <a:ext cx="3889331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To-Be </a:t>
            </a:r>
            <a:r>
              <a:rPr lang="ko-KR" altLang="en-US" sz="1200" b="1" kern="0">
                <a:latin typeface="+mn-ea"/>
                <a:sym typeface="Arial"/>
              </a:rPr>
              <a:t>참조 모델 작성</a:t>
            </a:r>
          </a:p>
        </p:txBody>
      </p:sp>
      <p:sp>
        <p:nvSpPr>
          <p:cNvPr id="6" name="Google Shape;134;p5">
            <a:extLst>
              <a:ext uri="{FF2B5EF4-FFF2-40B4-BE49-F238E27FC236}">
                <a16:creationId xmlns:a16="http://schemas.microsoft.com/office/drawing/2014/main" id="{89C6BC7B-C0F5-7074-6DD3-E7D9E0A3DD0F}"/>
              </a:ext>
            </a:extLst>
          </p:cNvPr>
          <p:cNvSpPr/>
          <p:nvPr/>
        </p:nvSpPr>
        <p:spPr>
          <a:xfrm>
            <a:off x="4849316" y="1637651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국내 </a:t>
            </a: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법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시행령</a:t>
            </a:r>
            <a:r>
              <a:rPr lang="en-US" altLang="ko-KR" sz="1200" b="1" kern="0">
                <a:latin typeface="+mn-ea"/>
                <a:sym typeface="Arial"/>
              </a:rPr>
              <a:t>, AI</a:t>
            </a:r>
            <a:r>
              <a:rPr lang="ko-KR" altLang="en-US" sz="1200" b="1" kern="0">
                <a:latin typeface="+mn-ea"/>
                <a:sym typeface="Arial"/>
              </a:rPr>
              <a:t>거버넌스 유관 규제 및 현황 분석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13" name="Google Shape;134;p5">
            <a:extLst>
              <a:ext uri="{FF2B5EF4-FFF2-40B4-BE49-F238E27FC236}">
                <a16:creationId xmlns:a16="http://schemas.microsoft.com/office/drawing/2014/main" id="{B4C819F0-E397-CA69-B5BC-18E9D7678073}"/>
              </a:ext>
            </a:extLst>
          </p:cNvPr>
          <p:cNvSpPr/>
          <p:nvPr/>
        </p:nvSpPr>
        <p:spPr>
          <a:xfrm>
            <a:off x="9284178" y="1637651"/>
            <a:ext cx="2572857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요건 매트릭스</a:t>
            </a:r>
          </a:p>
        </p:txBody>
      </p:sp>
      <p:sp>
        <p:nvSpPr>
          <p:cNvPr id="14" name="Google Shape;134;p5">
            <a:extLst>
              <a:ext uri="{FF2B5EF4-FFF2-40B4-BE49-F238E27FC236}">
                <a16:creationId xmlns:a16="http://schemas.microsoft.com/office/drawing/2014/main" id="{DB02DD31-0991-EBF1-07E3-438D90024F98}"/>
              </a:ext>
            </a:extLst>
          </p:cNvPr>
          <p:cNvSpPr/>
          <p:nvPr/>
        </p:nvSpPr>
        <p:spPr>
          <a:xfrm>
            <a:off x="9284178" y="2751395"/>
            <a:ext cx="2572857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AI</a:t>
            </a:r>
            <a:r>
              <a:rPr lang="ko-KR" altLang="en-US" sz="1200" b="1" kern="0" dirty="0">
                <a:latin typeface="+mn-ea"/>
                <a:sym typeface="Arial"/>
              </a:rPr>
              <a:t>거버넌스 규정서</a:t>
            </a:r>
          </a:p>
        </p:txBody>
      </p:sp>
      <p:sp>
        <p:nvSpPr>
          <p:cNvPr id="15" name="Google Shape;134;p5">
            <a:extLst>
              <a:ext uri="{FF2B5EF4-FFF2-40B4-BE49-F238E27FC236}">
                <a16:creationId xmlns:a16="http://schemas.microsoft.com/office/drawing/2014/main" id="{F6824DCD-3694-D344-2F49-5E9FDF61D1B0}"/>
              </a:ext>
            </a:extLst>
          </p:cNvPr>
          <p:cNvSpPr/>
          <p:nvPr/>
        </p:nvSpPr>
        <p:spPr>
          <a:xfrm>
            <a:off x="9284178" y="3308267"/>
            <a:ext cx="2572857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운영 지침서</a:t>
            </a:r>
          </a:p>
        </p:txBody>
      </p:sp>
      <p:sp>
        <p:nvSpPr>
          <p:cNvPr id="16" name="Google Shape;134;p5">
            <a:extLst>
              <a:ext uri="{FF2B5EF4-FFF2-40B4-BE49-F238E27FC236}">
                <a16:creationId xmlns:a16="http://schemas.microsoft.com/office/drawing/2014/main" id="{2CC409DF-825E-1395-3E1E-849AC9A69970}"/>
              </a:ext>
            </a:extLst>
          </p:cNvPr>
          <p:cNvSpPr/>
          <p:nvPr/>
        </p:nvSpPr>
        <p:spPr>
          <a:xfrm>
            <a:off x="9284178" y="3865139"/>
            <a:ext cx="2572857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개발운영 지침서</a:t>
            </a:r>
          </a:p>
        </p:txBody>
      </p:sp>
      <p:sp>
        <p:nvSpPr>
          <p:cNvPr id="17" name="Google Shape;134;p5">
            <a:extLst>
              <a:ext uri="{FF2B5EF4-FFF2-40B4-BE49-F238E27FC236}">
                <a16:creationId xmlns:a16="http://schemas.microsoft.com/office/drawing/2014/main" id="{ECFBE74A-1B19-67D4-E2AE-B0980AF2A2A2}"/>
              </a:ext>
            </a:extLst>
          </p:cNvPr>
          <p:cNvSpPr/>
          <p:nvPr/>
        </p:nvSpPr>
        <p:spPr>
          <a:xfrm>
            <a:off x="9284178" y="4422011"/>
            <a:ext cx="2572857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보안 대책서</a:t>
            </a:r>
          </a:p>
        </p:txBody>
      </p:sp>
      <p:sp>
        <p:nvSpPr>
          <p:cNvPr id="18" name="Google Shape;134;p5">
            <a:extLst>
              <a:ext uri="{FF2B5EF4-FFF2-40B4-BE49-F238E27FC236}">
                <a16:creationId xmlns:a16="http://schemas.microsoft.com/office/drawing/2014/main" id="{A3562E5B-8097-7ACE-DCD0-3EDA081B751B}"/>
              </a:ext>
            </a:extLst>
          </p:cNvPr>
          <p:cNvSpPr/>
          <p:nvPr/>
        </p:nvSpPr>
        <p:spPr>
          <a:xfrm>
            <a:off x="9284178" y="5535755"/>
            <a:ext cx="2572857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성능 평가 및 고도화 방안 정의서</a:t>
            </a:r>
          </a:p>
        </p:txBody>
      </p:sp>
      <p:sp>
        <p:nvSpPr>
          <p:cNvPr id="19" name="Google Shape;134;p5">
            <a:extLst>
              <a:ext uri="{FF2B5EF4-FFF2-40B4-BE49-F238E27FC236}">
                <a16:creationId xmlns:a16="http://schemas.microsoft.com/office/drawing/2014/main" id="{EAB15345-DF8D-B279-B9D2-DD904FC98769}"/>
              </a:ext>
            </a:extLst>
          </p:cNvPr>
          <p:cNvSpPr/>
          <p:nvPr/>
        </p:nvSpPr>
        <p:spPr>
          <a:xfrm>
            <a:off x="9284178" y="6092625"/>
            <a:ext cx="2572857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 dirty="0">
                <a:latin typeface="+mn-ea"/>
                <a:sym typeface="Arial"/>
              </a:rPr>
              <a:t>AI </a:t>
            </a:r>
            <a:r>
              <a:rPr lang="ko-KR" altLang="en-US" sz="1200" b="1" kern="0" dirty="0" err="1">
                <a:latin typeface="+mn-ea"/>
                <a:sym typeface="Arial"/>
              </a:rPr>
              <a:t>위수탁</a:t>
            </a:r>
            <a:r>
              <a:rPr lang="ko-KR" altLang="en-US" sz="1200" b="1" kern="0" dirty="0">
                <a:latin typeface="+mn-ea"/>
                <a:sym typeface="Arial"/>
              </a:rPr>
              <a:t> 체크리스트</a:t>
            </a:r>
            <a:r>
              <a:rPr lang="en-US" altLang="ko-KR" sz="1200" b="1" kern="0" dirty="0">
                <a:latin typeface="+mn-ea"/>
                <a:sym typeface="Arial"/>
              </a:rPr>
              <a:t>, </a:t>
            </a:r>
            <a:r>
              <a:rPr lang="ko-KR" altLang="en-US" sz="1200" b="1" kern="0" dirty="0">
                <a:latin typeface="+mn-ea"/>
                <a:sym typeface="Arial"/>
              </a:rPr>
              <a:t>위험등급평가서 등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BC6AD514-F66A-69D0-4115-E6CF4FBE5E09}"/>
              </a:ext>
            </a:extLst>
          </p:cNvPr>
          <p:cNvSpPr/>
          <p:nvPr/>
        </p:nvSpPr>
        <p:spPr>
          <a:xfrm>
            <a:off x="4849316" y="2751395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 dirty="0">
                <a:latin typeface="+mn-ea"/>
                <a:sym typeface="Arial"/>
              </a:rPr>
              <a:t>AI</a:t>
            </a:r>
            <a:r>
              <a:rPr lang="ko-KR" altLang="en-US" sz="1200" b="1" kern="0" dirty="0">
                <a:latin typeface="+mn-ea"/>
                <a:sym typeface="Arial"/>
              </a:rPr>
              <a:t>거버넌스 규정 설계</a:t>
            </a:r>
            <a:br>
              <a:rPr lang="en-US" altLang="ko-KR" sz="1200" b="1" kern="0" dirty="0">
                <a:latin typeface="+mn-ea"/>
                <a:sym typeface="Arial"/>
              </a:rPr>
            </a:br>
            <a:r>
              <a:rPr lang="en-US" altLang="ko-KR" sz="1000" kern="0" dirty="0">
                <a:latin typeface="+mn-ea"/>
                <a:sym typeface="Arial"/>
              </a:rPr>
              <a:t>(</a:t>
            </a:r>
            <a:r>
              <a:rPr lang="ko-KR" altLang="en-US" sz="1000" kern="0" dirty="0">
                <a:latin typeface="+mn-ea"/>
                <a:sym typeface="Arial"/>
              </a:rPr>
              <a:t>대상</a:t>
            </a:r>
            <a:r>
              <a:rPr lang="en-US" altLang="ko-KR" sz="1000" kern="0" dirty="0">
                <a:latin typeface="+mn-ea"/>
                <a:sym typeface="Arial"/>
              </a:rPr>
              <a:t>, </a:t>
            </a:r>
            <a:r>
              <a:rPr lang="ko-KR" altLang="en-US" sz="1000" kern="0" dirty="0">
                <a:latin typeface="+mn-ea"/>
                <a:sym typeface="Arial"/>
              </a:rPr>
              <a:t>범위</a:t>
            </a:r>
            <a:r>
              <a:rPr lang="en-US" altLang="ko-KR" sz="1000" kern="0" dirty="0">
                <a:latin typeface="+mn-ea"/>
                <a:sym typeface="Arial"/>
              </a:rPr>
              <a:t>, </a:t>
            </a:r>
            <a:r>
              <a:rPr lang="ko-KR" altLang="en-US" sz="1000" kern="0" dirty="0">
                <a:latin typeface="+mn-ea"/>
                <a:sym typeface="Arial"/>
              </a:rPr>
              <a:t>원칙</a:t>
            </a:r>
            <a:r>
              <a:rPr lang="en-US" altLang="ko-KR" sz="1000" kern="0" dirty="0">
                <a:latin typeface="+mn-ea"/>
                <a:sym typeface="Arial"/>
              </a:rPr>
              <a:t>, </a:t>
            </a:r>
            <a:r>
              <a:rPr lang="ko-KR" altLang="en-US" sz="1000" kern="0" dirty="0">
                <a:latin typeface="+mn-ea"/>
                <a:sym typeface="Arial"/>
              </a:rPr>
              <a:t>기준</a:t>
            </a:r>
            <a:r>
              <a:rPr lang="en-US" altLang="ko-KR" sz="1000" kern="0" dirty="0">
                <a:latin typeface="+mn-ea"/>
                <a:sym typeface="Arial"/>
              </a:rPr>
              <a:t>, AI</a:t>
            </a:r>
            <a:r>
              <a:rPr lang="ko-KR" altLang="en-US" sz="1000" kern="0" dirty="0" err="1">
                <a:latin typeface="+mn-ea"/>
                <a:sym typeface="Arial"/>
              </a:rPr>
              <a:t>거버넌스협의체</a:t>
            </a:r>
            <a:r>
              <a:rPr lang="en-US" altLang="ko-KR" sz="1000" kern="0" dirty="0">
                <a:latin typeface="+mn-ea"/>
                <a:sym typeface="Arial"/>
              </a:rPr>
              <a:t> </a:t>
            </a:r>
            <a:r>
              <a:rPr lang="ko-KR" altLang="en-US" sz="1000" kern="0" dirty="0">
                <a:latin typeface="+mn-ea"/>
                <a:sym typeface="Arial"/>
              </a:rPr>
              <a:t>등</a:t>
            </a:r>
            <a:r>
              <a:rPr lang="en-US" altLang="ko-KR" sz="1000" kern="0" dirty="0">
                <a:latin typeface="+mn-ea"/>
                <a:sym typeface="Arial"/>
              </a:rPr>
              <a:t>)</a:t>
            </a:r>
            <a:endParaRPr lang="ko-KR" altLang="en-US" sz="1050" kern="0" dirty="0">
              <a:latin typeface="+mn-ea"/>
              <a:sym typeface="Arial"/>
            </a:endParaRPr>
          </a:p>
        </p:txBody>
      </p:sp>
      <p:sp>
        <p:nvSpPr>
          <p:cNvPr id="21" name="Google Shape;134;p5">
            <a:extLst>
              <a:ext uri="{FF2B5EF4-FFF2-40B4-BE49-F238E27FC236}">
                <a16:creationId xmlns:a16="http://schemas.microsoft.com/office/drawing/2014/main" id="{B1747486-8DE8-711B-C3F2-EAAC3AD77D3B}"/>
              </a:ext>
            </a:extLst>
          </p:cNvPr>
          <p:cNvSpPr/>
          <p:nvPr/>
        </p:nvSpPr>
        <p:spPr>
          <a:xfrm>
            <a:off x="4849316" y="3308267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운영 지침 설계 </a:t>
            </a:r>
            <a:br>
              <a:rPr lang="en-US" altLang="ko-KR" sz="1200" b="1" kern="0">
                <a:latin typeface="+mn-ea"/>
                <a:sym typeface="Arial"/>
              </a:rPr>
            </a:br>
            <a:r>
              <a:rPr lang="en-US" altLang="ko-KR" sz="1000" kern="0">
                <a:latin typeface="+mn-ea"/>
                <a:sym typeface="Arial"/>
              </a:rPr>
              <a:t>(</a:t>
            </a:r>
            <a:r>
              <a:rPr lang="ko-KR" altLang="en-US" sz="1000" kern="0">
                <a:latin typeface="+mn-ea"/>
                <a:sym typeface="Arial"/>
              </a:rPr>
              <a:t>거버넌스 조직</a:t>
            </a:r>
            <a:r>
              <a:rPr lang="en-US" altLang="ko-KR" sz="1000" kern="0">
                <a:latin typeface="+mn-ea"/>
                <a:sym typeface="Arial"/>
              </a:rPr>
              <a:t>, R&amp;R, </a:t>
            </a:r>
            <a:r>
              <a:rPr lang="ko-KR" altLang="en-US" sz="1000" kern="0">
                <a:latin typeface="+mn-ea"/>
                <a:sym typeface="Arial"/>
              </a:rPr>
              <a:t>통제</a:t>
            </a:r>
            <a:r>
              <a:rPr lang="en-US" altLang="ko-KR" sz="1000" kern="0">
                <a:latin typeface="+mn-ea"/>
                <a:sym typeface="Arial"/>
              </a:rPr>
              <a:t>/</a:t>
            </a:r>
            <a:r>
              <a:rPr lang="ko-KR" altLang="en-US" sz="1000" kern="0">
                <a:latin typeface="+mn-ea"/>
                <a:sym typeface="Arial"/>
              </a:rPr>
              <a:t>승인 등</a:t>
            </a:r>
            <a:r>
              <a:rPr lang="en-US" altLang="ko-KR" sz="1000" kern="0">
                <a:latin typeface="+mn-ea"/>
                <a:sym typeface="Arial"/>
              </a:rPr>
              <a:t>)</a:t>
            </a:r>
            <a:endParaRPr lang="ko-KR" altLang="en-US" sz="1050" kern="0">
              <a:latin typeface="+mn-ea"/>
              <a:sym typeface="Arial"/>
            </a:endParaRP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3CA7DE23-D4E3-E1DA-1E5E-0E566AB5B3B2}"/>
              </a:ext>
            </a:extLst>
          </p:cNvPr>
          <p:cNvSpPr/>
          <p:nvPr/>
        </p:nvSpPr>
        <p:spPr>
          <a:xfrm>
            <a:off x="4849316" y="3865139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개발운영 지침 설계 </a:t>
            </a:r>
            <a:br>
              <a:rPr lang="en-US" altLang="ko-KR" sz="1200" b="1" kern="0">
                <a:latin typeface="+mn-ea"/>
                <a:sym typeface="Arial"/>
              </a:rPr>
            </a:br>
            <a:r>
              <a:rPr lang="en-US" altLang="ko-KR" sz="1000" kern="0">
                <a:latin typeface="+mn-ea"/>
                <a:sym typeface="Arial"/>
              </a:rPr>
              <a:t>(</a:t>
            </a:r>
            <a:r>
              <a:rPr lang="ko-KR" altLang="en-US" sz="1000" kern="0">
                <a:latin typeface="+mn-ea"/>
                <a:sym typeface="Arial"/>
              </a:rPr>
              <a:t>기획</a:t>
            </a:r>
            <a:r>
              <a:rPr lang="en-US" altLang="ko-KR" sz="1000" kern="0">
                <a:latin typeface="+mn-ea"/>
                <a:sym typeface="Arial"/>
              </a:rPr>
              <a:t>~</a:t>
            </a:r>
            <a:r>
              <a:rPr lang="ko-KR" altLang="en-US" sz="1000" kern="0">
                <a:latin typeface="+mn-ea"/>
                <a:sym typeface="Arial"/>
              </a:rPr>
              <a:t>운영 각 단계별 수행 절차 및 </a:t>
            </a:r>
            <a:r>
              <a:rPr lang="en-US" altLang="ko-KR" sz="1000" kern="0">
                <a:latin typeface="+mn-ea"/>
                <a:sym typeface="Arial"/>
              </a:rPr>
              <a:t>R&amp;R)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6C75A0D6-C5EA-3528-6183-4D390F662C66}"/>
              </a:ext>
            </a:extLst>
          </p:cNvPr>
          <p:cNvSpPr/>
          <p:nvPr/>
        </p:nvSpPr>
        <p:spPr>
          <a:xfrm>
            <a:off x="4849316" y="4422011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운영관리 보안대책 요건 정의 및 수립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D3BDFA8F-2569-61B1-295C-64FD022A2699}"/>
              </a:ext>
            </a:extLst>
          </p:cNvPr>
          <p:cNvSpPr/>
          <p:nvPr/>
        </p:nvSpPr>
        <p:spPr>
          <a:xfrm>
            <a:off x="4849316" y="5535755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업무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기술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데이터 관점에서 모니터링을 통한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성능 고도화 방안</a:t>
            </a:r>
            <a:endParaRPr lang="ko-KR" altLang="en-US" sz="1200" kern="0">
              <a:latin typeface="+mn-ea"/>
              <a:sym typeface="Arial"/>
            </a:endParaRP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31F63725-7D00-DB59-1103-0CE45994A467}"/>
              </a:ext>
            </a:extLst>
          </p:cNvPr>
          <p:cNvSpPr/>
          <p:nvPr/>
        </p:nvSpPr>
        <p:spPr>
          <a:xfrm>
            <a:off x="4849316" y="6092625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서비스 각 영역을 평가할 수 있는 체크리스트 설계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32" name="사각형: 둥근 모서리 56">
            <a:extLst>
              <a:ext uri="{FF2B5EF4-FFF2-40B4-BE49-F238E27FC236}">
                <a16:creationId xmlns:a16="http://schemas.microsoft.com/office/drawing/2014/main" id="{27954FD4-C051-5C0C-60C1-B0B58AE247E9}"/>
              </a:ext>
            </a:extLst>
          </p:cNvPr>
          <p:cNvSpPr/>
          <p:nvPr/>
        </p:nvSpPr>
        <p:spPr>
          <a:xfrm>
            <a:off x="4849316" y="1121823"/>
            <a:ext cx="4288096" cy="432000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상세 내용</a:t>
            </a:r>
          </a:p>
        </p:txBody>
      </p:sp>
      <p:sp>
        <p:nvSpPr>
          <p:cNvPr id="41" name="사각형: 둥근 모서리 56">
            <a:extLst>
              <a:ext uri="{FF2B5EF4-FFF2-40B4-BE49-F238E27FC236}">
                <a16:creationId xmlns:a16="http://schemas.microsoft.com/office/drawing/2014/main" id="{69E17192-AAB8-3AEF-34A2-195FA3ED8FC8}"/>
              </a:ext>
            </a:extLst>
          </p:cNvPr>
          <p:cNvSpPr/>
          <p:nvPr/>
        </p:nvSpPr>
        <p:spPr>
          <a:xfrm>
            <a:off x="9284178" y="1121824"/>
            <a:ext cx="2572857" cy="390955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산출물 명</a:t>
            </a:r>
          </a:p>
        </p:txBody>
      </p: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6DA87A99-0DAF-EEBF-50A8-D2CEFA129155}"/>
              </a:ext>
            </a:extLst>
          </p:cNvPr>
          <p:cNvSpPr/>
          <p:nvPr/>
        </p:nvSpPr>
        <p:spPr>
          <a:xfrm>
            <a:off x="4849316" y="4978883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 dirty="0">
                <a:latin typeface="+mn-ea"/>
                <a:sym typeface="Arial"/>
              </a:rPr>
              <a:t>실 기술관점에서 </a:t>
            </a:r>
            <a:r>
              <a:rPr lang="en-US" altLang="ko-KR" sz="1200" b="1" kern="0" dirty="0">
                <a:latin typeface="+mn-ea"/>
                <a:sym typeface="Arial"/>
              </a:rPr>
              <a:t>AI </a:t>
            </a:r>
            <a:r>
              <a:rPr lang="ko-KR" altLang="en-US" sz="1200" b="1" kern="0" dirty="0">
                <a:latin typeface="+mn-ea"/>
                <a:sym typeface="Arial"/>
              </a:rPr>
              <a:t>위험 평가 방안 및 구축 요건 수립</a:t>
            </a:r>
          </a:p>
        </p:txBody>
      </p:sp>
      <p:sp>
        <p:nvSpPr>
          <p:cNvPr id="38" name="Google Shape;134;p5">
            <a:extLst>
              <a:ext uri="{FF2B5EF4-FFF2-40B4-BE49-F238E27FC236}">
                <a16:creationId xmlns:a16="http://schemas.microsoft.com/office/drawing/2014/main" id="{9275CEC9-8EFD-C771-AAD5-12471176D3EE}"/>
              </a:ext>
            </a:extLst>
          </p:cNvPr>
          <p:cNvSpPr/>
          <p:nvPr/>
        </p:nvSpPr>
        <p:spPr>
          <a:xfrm>
            <a:off x="9284178" y="4978883"/>
            <a:ext cx="2572857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위험 평가 방안</a:t>
            </a:r>
            <a:r>
              <a:rPr lang="en-US" altLang="ko-KR" sz="1200" b="1" kern="0">
                <a:latin typeface="+mn-ea"/>
                <a:sym typeface="Arial"/>
              </a:rPr>
              <a:t>, </a:t>
            </a:r>
            <a:r>
              <a:rPr lang="ko-KR" altLang="en-US" sz="1200" b="1" kern="0">
                <a:latin typeface="+mn-ea"/>
                <a:sym typeface="Arial"/>
              </a:rPr>
              <a:t>구축 요건</a:t>
            </a:r>
          </a:p>
        </p:txBody>
      </p:sp>
      <p:sp>
        <p:nvSpPr>
          <p:cNvPr id="3" name="Google Shape;134;p5">
            <a:extLst>
              <a:ext uri="{FF2B5EF4-FFF2-40B4-BE49-F238E27FC236}">
                <a16:creationId xmlns:a16="http://schemas.microsoft.com/office/drawing/2014/main" id="{0F915FA9-B092-A2FB-A953-D86FFF4F75D6}"/>
              </a:ext>
            </a:extLst>
          </p:cNvPr>
          <p:cNvSpPr/>
          <p:nvPr/>
        </p:nvSpPr>
        <p:spPr>
          <a:xfrm>
            <a:off x="4849316" y="2194523"/>
            <a:ext cx="4288096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참조모델 제시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B42A2A32-1225-C298-4848-1DE5E0CE109E}"/>
              </a:ext>
            </a:extLst>
          </p:cNvPr>
          <p:cNvSpPr/>
          <p:nvPr/>
        </p:nvSpPr>
        <p:spPr>
          <a:xfrm>
            <a:off x="9284178" y="2194523"/>
            <a:ext cx="2572857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To-Be </a:t>
            </a:r>
            <a:r>
              <a:rPr lang="ko-KR" altLang="en-US" sz="1200" b="1" kern="0">
                <a:latin typeface="+mn-ea"/>
                <a:sym typeface="Arial"/>
              </a:rPr>
              <a:t>참조모델 정의서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279A529-6D01-133D-09B6-B62C9DB0486D}"/>
              </a:ext>
            </a:extLst>
          </p:cNvPr>
          <p:cNvSpPr/>
          <p:nvPr/>
        </p:nvSpPr>
        <p:spPr>
          <a:xfrm>
            <a:off x="334964" y="1637651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F87E027A-B829-FDED-2541-EB804C0F1707}"/>
              </a:ext>
            </a:extLst>
          </p:cNvPr>
          <p:cNvSpPr/>
          <p:nvPr/>
        </p:nvSpPr>
        <p:spPr>
          <a:xfrm>
            <a:off x="334964" y="3308267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3EBEA7BE-3744-0D2F-10C9-0DD4849457D3}"/>
              </a:ext>
            </a:extLst>
          </p:cNvPr>
          <p:cNvSpPr/>
          <p:nvPr/>
        </p:nvSpPr>
        <p:spPr>
          <a:xfrm>
            <a:off x="334964" y="3865139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5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C6FD01F3-D086-AFC3-0204-E89FAC2B634E}"/>
              </a:ext>
            </a:extLst>
          </p:cNvPr>
          <p:cNvSpPr/>
          <p:nvPr/>
        </p:nvSpPr>
        <p:spPr>
          <a:xfrm>
            <a:off x="334964" y="4422011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6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1AC118F-858B-49AB-C044-1ABF95FF2BA6}"/>
              </a:ext>
            </a:extLst>
          </p:cNvPr>
          <p:cNvSpPr/>
          <p:nvPr/>
        </p:nvSpPr>
        <p:spPr>
          <a:xfrm>
            <a:off x="334964" y="4978883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7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E8EC4F17-2A83-4E3E-2425-C4733C264A55}"/>
              </a:ext>
            </a:extLst>
          </p:cNvPr>
          <p:cNvSpPr/>
          <p:nvPr/>
        </p:nvSpPr>
        <p:spPr>
          <a:xfrm>
            <a:off x="334964" y="5535755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8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1B7B01E8-9F86-8E78-6521-1BACFD7D02C3}"/>
              </a:ext>
            </a:extLst>
          </p:cNvPr>
          <p:cNvSpPr/>
          <p:nvPr/>
        </p:nvSpPr>
        <p:spPr>
          <a:xfrm>
            <a:off x="334964" y="6092625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9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4B26EA08-ED74-F94C-64C8-9C567887453F}"/>
              </a:ext>
            </a:extLst>
          </p:cNvPr>
          <p:cNvSpPr/>
          <p:nvPr/>
        </p:nvSpPr>
        <p:spPr>
          <a:xfrm>
            <a:off x="334964" y="2751395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0F9F0E0-684E-121C-B171-9C50A54411CE}"/>
              </a:ext>
            </a:extLst>
          </p:cNvPr>
          <p:cNvSpPr/>
          <p:nvPr/>
        </p:nvSpPr>
        <p:spPr>
          <a:xfrm>
            <a:off x="334964" y="2194523"/>
            <a:ext cx="432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289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EE2474-4D0A-501E-9A46-2A929E412B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8C01E-0055-89F3-6121-E2AE9B0820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분석 대상 및 요건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765919-4B87-FE2E-F557-5DE988111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금융분야 정책 준수를 위해 확정 </a:t>
            </a:r>
            <a:r>
              <a:rPr lang="en-US" altLang="ko-KR"/>
              <a:t>4</a:t>
            </a:r>
            <a:r>
              <a:rPr lang="ko-KR" altLang="en-US"/>
              <a:t>종 및 기타 </a:t>
            </a:r>
            <a:r>
              <a:rPr lang="en-US" altLang="ko-KR"/>
              <a:t>2</a:t>
            </a:r>
            <a:r>
              <a:rPr lang="ko-KR" altLang="en-US"/>
              <a:t>종을 포함한 </a:t>
            </a:r>
            <a:r>
              <a:rPr lang="en-US" altLang="ko-KR"/>
              <a:t>AI</a:t>
            </a:r>
            <a:r>
              <a:rPr lang="ko-KR" altLang="en-US"/>
              <a:t>거버넌스 체계를 기반으로</a:t>
            </a:r>
            <a:r>
              <a:rPr lang="en-US" altLang="ko-KR"/>
              <a:t>, </a:t>
            </a:r>
            <a:r>
              <a:rPr lang="ko-KR" altLang="en-US"/>
              <a:t>프로젝트 기간 內 게재된 신규 </a:t>
            </a:r>
            <a:r>
              <a:rPr lang="en-US" altLang="ko-KR"/>
              <a:t>10</a:t>
            </a:r>
            <a:r>
              <a:rPr lang="ko-KR" altLang="en-US"/>
              <a:t>종에 관한 </a:t>
            </a:r>
            <a:r>
              <a:rPr lang="en-US" altLang="ko-KR"/>
              <a:t>AI</a:t>
            </a:r>
            <a:r>
              <a:rPr lang="ko-KR" altLang="en-US"/>
              <a:t>거버넌스 체계 수립을 완료함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79166B77-D574-BC7B-6E4A-AFA2CD9DE2B2}"/>
              </a:ext>
            </a:extLst>
          </p:cNvPr>
          <p:cNvSpPr/>
          <p:nvPr/>
        </p:nvSpPr>
        <p:spPr>
          <a:xfrm>
            <a:off x="6342730" y="1733890"/>
            <a:ext cx="1775161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상위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4145FAE7-742C-B4EF-25A6-6FF3E4C816CF}"/>
              </a:ext>
            </a:extLst>
          </p:cNvPr>
          <p:cNvSpPr/>
          <p:nvPr/>
        </p:nvSpPr>
        <p:spPr>
          <a:xfrm>
            <a:off x="6342730" y="1355107"/>
            <a:ext cx="4595171" cy="3249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8323303-47EB-B25C-31E0-E77725738AF4}"/>
              </a:ext>
            </a:extLst>
          </p:cNvPr>
          <p:cNvSpPr/>
          <p:nvPr/>
        </p:nvSpPr>
        <p:spPr>
          <a:xfrm>
            <a:off x="6342730" y="3818638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7FDD6E-F71E-B637-C4F9-14E8DDDAC203}"/>
              </a:ext>
            </a:extLst>
          </p:cNvPr>
          <p:cNvSpPr/>
          <p:nvPr/>
        </p:nvSpPr>
        <p:spPr>
          <a:xfrm>
            <a:off x="6342730" y="313872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216A9D2-8770-9A5A-5347-E7C410976943}"/>
              </a:ext>
            </a:extLst>
          </p:cNvPr>
          <p:cNvSpPr/>
          <p:nvPr/>
        </p:nvSpPr>
        <p:spPr>
          <a:xfrm>
            <a:off x="6342730" y="211884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범위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8F2B4B-FAF2-76A0-4248-F18EB674F621}"/>
              </a:ext>
            </a:extLst>
          </p:cNvPr>
          <p:cNvSpPr/>
          <p:nvPr/>
        </p:nvSpPr>
        <p:spPr>
          <a:xfrm>
            <a:off x="6342730" y="2458803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구조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512CC1-CF6B-2BA4-8ACF-E389DF38877F}"/>
              </a:ext>
            </a:extLst>
          </p:cNvPr>
          <p:cNvSpPr/>
          <p:nvPr/>
        </p:nvSpPr>
        <p:spPr>
          <a:xfrm>
            <a:off x="6342730" y="2798762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수탁 및 </a:t>
            </a:r>
            <a:b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이용자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15AC78-5AA7-6840-715F-F3994CDAC760}"/>
              </a:ext>
            </a:extLst>
          </p:cNvPr>
          <p:cNvSpPr/>
          <p:nvPr/>
        </p:nvSpPr>
        <p:spPr>
          <a:xfrm>
            <a:off x="6342730" y="3478679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규제준수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553061C-48C8-CF5C-65ED-72175C9CD311}"/>
              </a:ext>
            </a:extLst>
          </p:cNvPr>
          <p:cNvSpPr/>
          <p:nvPr/>
        </p:nvSpPr>
        <p:spPr>
          <a:xfrm>
            <a:off x="6342730" y="4158597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0E104A7-BE4E-ADEA-6C18-EEBB7FA82821}"/>
              </a:ext>
            </a:extLst>
          </p:cNvPr>
          <p:cNvSpPr/>
          <p:nvPr/>
        </p:nvSpPr>
        <p:spPr>
          <a:xfrm>
            <a:off x="6342730" y="449855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투명성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설명가능성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042DB7E-AD41-D7CA-F2EC-9078D4555AF1}"/>
              </a:ext>
            </a:extLst>
          </p:cNvPr>
          <p:cNvSpPr/>
          <p:nvPr/>
        </p:nvSpPr>
        <p:spPr>
          <a:xfrm>
            <a:off x="6342730" y="4838514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공정성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9F97D4-F932-9E44-626E-D4A0F4BB3B54}"/>
              </a:ext>
            </a:extLst>
          </p:cNvPr>
          <p:cNvSpPr/>
          <p:nvPr/>
        </p:nvSpPr>
        <p:spPr>
          <a:xfrm>
            <a:off x="6342730" y="5178473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21B6409-0AEC-DA18-681D-69354FCCD620}"/>
              </a:ext>
            </a:extLst>
          </p:cNvPr>
          <p:cNvSpPr/>
          <p:nvPr/>
        </p:nvSpPr>
        <p:spPr>
          <a:xfrm>
            <a:off x="6342730" y="551843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1AE9EE4-9E2B-A623-36D6-A740975B7381}"/>
              </a:ext>
            </a:extLst>
          </p:cNvPr>
          <p:cNvSpPr/>
          <p:nvPr/>
        </p:nvSpPr>
        <p:spPr>
          <a:xfrm>
            <a:off x="6342730" y="591836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고영향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인공지능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AAB5ED8-1419-19D8-F821-A6B2540F5EF9}"/>
              </a:ext>
            </a:extLst>
          </p:cNvPr>
          <p:cNvSpPr/>
          <p:nvPr/>
        </p:nvSpPr>
        <p:spPr>
          <a:xfrm>
            <a:off x="6342730" y="625831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67AA7495-88F4-5539-30EF-5865094472B7}"/>
              </a:ext>
            </a:extLst>
          </p:cNvPr>
          <p:cNvSpPr/>
          <p:nvPr/>
        </p:nvSpPr>
        <p:spPr>
          <a:xfrm>
            <a:off x="8229019" y="1733890"/>
            <a:ext cx="2708882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하위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203C543-9733-3BFC-20AC-ADF61CE25075}"/>
              </a:ext>
            </a:extLst>
          </p:cNvPr>
          <p:cNvSpPr/>
          <p:nvPr/>
        </p:nvSpPr>
        <p:spPr>
          <a:xfrm>
            <a:off x="8229019" y="3818638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영향도 분석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A277F9-836E-A6B3-558B-78FDC082B16F}"/>
              </a:ext>
            </a:extLst>
          </p:cNvPr>
          <p:cNvSpPr/>
          <p:nvPr/>
        </p:nvSpPr>
        <p:spPr>
          <a:xfrm>
            <a:off x="8229019" y="313872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교육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FA93756-5695-3904-99F9-079C25F7BB0A}"/>
              </a:ext>
            </a:extLst>
          </p:cNvPr>
          <p:cNvSpPr/>
          <p:nvPr/>
        </p:nvSpPr>
        <p:spPr>
          <a:xfrm>
            <a:off x="8229019" y="211884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기본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목적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6F57989-725D-5803-19C2-DBCA40C31451}"/>
              </a:ext>
            </a:extLst>
          </p:cNvPr>
          <p:cNvSpPr/>
          <p:nvPr/>
        </p:nvSpPr>
        <p:spPr>
          <a:xfrm>
            <a:off x="8229019" y="2458803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역할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책임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 분장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57C580-4999-853F-FB84-249E319033D1}"/>
              </a:ext>
            </a:extLst>
          </p:cNvPr>
          <p:cNvSpPr/>
          <p:nvPr/>
        </p:nvSpPr>
        <p:spPr>
          <a:xfrm>
            <a:off x="8229019" y="2798762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위탁 서비스 관리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이용자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 관리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35EB1C9-38AB-5B67-3BD6-591C812079FE}"/>
              </a:ext>
            </a:extLst>
          </p:cNvPr>
          <p:cNvSpPr/>
          <p:nvPr/>
        </p:nvSpPr>
        <p:spPr>
          <a:xfrm>
            <a:off x="8229019" y="3478679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법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규정 준수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내부정책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10915E-D7DF-3910-E234-FEA9B3E23B03}"/>
              </a:ext>
            </a:extLst>
          </p:cNvPr>
          <p:cNvSpPr/>
          <p:nvPr/>
        </p:nvSpPr>
        <p:spPr>
          <a:xfrm>
            <a:off x="8229019" y="4158597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 확보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 요건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9A6892A-EDC9-5116-F002-256AA88405C5}"/>
              </a:ext>
            </a:extLst>
          </p:cNvPr>
          <p:cNvSpPr/>
          <p:nvPr/>
        </p:nvSpPr>
        <p:spPr>
          <a:xfrm>
            <a:off x="8229019" y="449855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설명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알림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기록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로깅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E69284C-C476-9AE9-7FB1-131C55E502A4}"/>
              </a:ext>
            </a:extLst>
          </p:cNvPr>
          <p:cNvSpPr/>
          <p:nvPr/>
        </p:nvSpPr>
        <p:spPr>
          <a:xfrm>
            <a:off x="8229019" y="4838514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검증 공정성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편향 방지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검토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30CCECF-8489-BA75-4363-184F8A00F117}"/>
              </a:ext>
            </a:extLst>
          </p:cNvPr>
          <p:cNvSpPr/>
          <p:nvPr/>
        </p:nvSpPr>
        <p:spPr>
          <a:xfrm>
            <a:off x="8229019" y="5178473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테스트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 절차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0512D11-7746-32F9-48CE-287055FC352D}"/>
              </a:ext>
            </a:extLst>
          </p:cNvPr>
          <p:cNvSpPr/>
          <p:nvPr/>
        </p:nvSpPr>
        <p:spPr>
          <a:xfrm>
            <a:off x="8229019" y="551843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모니터링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1AC53E1-A10B-621D-9680-ACE01557CCF5}"/>
              </a:ext>
            </a:extLst>
          </p:cNvPr>
          <p:cNvSpPr/>
          <p:nvPr/>
        </p:nvSpPr>
        <p:spPr>
          <a:xfrm>
            <a:off x="8229019" y="591836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인공지능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4B2B49-BB93-5483-8062-10DC623920F0}"/>
              </a:ext>
            </a:extLst>
          </p:cNvPr>
          <p:cNvSpPr/>
          <p:nvPr/>
        </p:nvSpPr>
        <p:spPr>
          <a:xfrm>
            <a:off x="8229019" y="625831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F61F0BE3-7DA7-F2B5-900C-275188D8968C}"/>
              </a:ext>
            </a:extLst>
          </p:cNvPr>
          <p:cNvSpPr/>
          <p:nvPr/>
        </p:nvSpPr>
        <p:spPr>
          <a:xfrm rot="5400000">
            <a:off x="6135866" y="3652995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A35B4A3-A5A8-3FF9-C1EF-EDC58C95A6AE}"/>
              </a:ext>
            </a:extLst>
          </p:cNvPr>
          <p:cNvSpPr/>
          <p:nvPr/>
        </p:nvSpPr>
        <p:spPr>
          <a:xfrm>
            <a:off x="645929" y="1677405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기본법</a:t>
            </a:r>
            <a:endParaRPr lang="en" altLang="ko-KR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63BA57CD-E01C-9508-C6B8-CF31117F3DE5}"/>
              </a:ext>
            </a:extLst>
          </p:cNvPr>
          <p:cNvSpPr/>
          <p:nvPr/>
        </p:nvSpPr>
        <p:spPr>
          <a:xfrm>
            <a:off x="645929" y="2466266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활용 안내서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1F2A1AFF-A2D7-1D8A-8000-15538F6BB6EA}"/>
              </a:ext>
            </a:extLst>
          </p:cNvPr>
          <p:cNvSpPr/>
          <p:nvPr/>
        </p:nvSpPr>
        <p:spPr>
          <a:xfrm>
            <a:off x="645929" y="3255129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운영 가이드라인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8BA3A52-3F9D-A896-2280-0FEFF718C44D}"/>
              </a:ext>
            </a:extLst>
          </p:cNvPr>
          <p:cNvSpPr/>
          <p:nvPr/>
        </p:nvSpPr>
        <p:spPr>
          <a:xfrm>
            <a:off x="645929" y="4043990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기반 보안 가이드라인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E31F7763-C8DB-F2D0-A11E-701772C43000}"/>
              </a:ext>
            </a:extLst>
          </p:cNvPr>
          <p:cNvSpPr/>
          <p:nvPr/>
        </p:nvSpPr>
        <p:spPr>
          <a:xfrm>
            <a:off x="1552023" y="1677405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 사업자에게 투명성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안전성 확보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고지 의무 등 구체적인 책임을 부여하여 기업의 역할을 강화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폐기 등 전 생애주기에 걸쳐 발생할 수 있는 잠재적 위험을 사전 식별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평가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완화 조치 마련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1316F90C-ECD5-0789-6FCF-4E7CA93ACDF6}"/>
              </a:ext>
            </a:extLst>
          </p:cNvPr>
          <p:cNvSpPr/>
          <p:nvPr/>
        </p:nvSpPr>
        <p:spPr>
          <a:xfrm>
            <a:off x="1552023" y="2466266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금융회사가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를 안전하고 신뢰할 수 있게 개발 및 활용하도록 돕기 위한 지침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개발부터 운영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관리까지 전 과정에 걸친 원칙과 절차를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04376F85-46CE-CB3B-AA5A-C2C36AA37111}"/>
              </a:ext>
            </a:extLst>
          </p:cNvPr>
          <p:cNvSpPr/>
          <p:nvPr/>
        </p:nvSpPr>
        <p:spPr>
          <a:xfrm>
            <a:off x="1552023" y="3255129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배포부터 운영 및 모니터링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윤리적 책임 등 전 과정에서 지켜야 할 실무 지침을 제시함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의 안전성과 신뢰성을 확보하고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이를 통해 이용자 및 시장 위험을 최소화하며 공정성을 유지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3733E5C7-9936-3033-B6C2-86449CB3194C}"/>
              </a:ext>
            </a:extLst>
          </p:cNvPr>
          <p:cNvSpPr/>
          <p:nvPr/>
        </p:nvSpPr>
        <p:spPr>
          <a:xfrm>
            <a:off x="1552023" y="4043990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가 적용된 금융 시스템의 보안성 및 안전성을 확보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및 운영 전 과정에서 고려해야 할 데이터 보안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 보호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시스템 접근 통제 등 보안 원칙과 점검 항목을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3" name="사각형: 둥근 모서리 20">
            <a:extLst>
              <a:ext uri="{FF2B5EF4-FFF2-40B4-BE49-F238E27FC236}">
                <a16:creationId xmlns:a16="http://schemas.microsoft.com/office/drawing/2014/main" id="{13350D65-FC6C-515B-138E-500CE5B89AB6}"/>
              </a:ext>
            </a:extLst>
          </p:cNvPr>
          <p:cNvSpPr/>
          <p:nvPr/>
        </p:nvSpPr>
        <p:spPr>
          <a:xfrm>
            <a:off x="324596" y="1677404"/>
            <a:ext cx="270137" cy="3083760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확정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사각형: 둥근 모서리 20">
            <a:extLst>
              <a:ext uri="{FF2B5EF4-FFF2-40B4-BE49-F238E27FC236}">
                <a16:creationId xmlns:a16="http://schemas.microsoft.com/office/drawing/2014/main" id="{65795154-23FD-4B9B-6874-A6367E810135}"/>
              </a:ext>
            </a:extLst>
          </p:cNvPr>
          <p:cNvSpPr/>
          <p:nvPr/>
        </p:nvSpPr>
        <p:spPr>
          <a:xfrm>
            <a:off x="324596" y="1355108"/>
            <a:ext cx="5771404" cy="28686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외부 현황 분석 대상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F3A7F4A9-D3E4-FFC8-04A9-6CCB21528D31}"/>
              </a:ext>
            </a:extLst>
          </p:cNvPr>
          <p:cNvSpPr/>
          <p:nvPr/>
        </p:nvSpPr>
        <p:spPr>
          <a:xfrm>
            <a:off x="324596" y="5137606"/>
            <a:ext cx="1176232" cy="138701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신규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48B4DE07-71A8-BD29-500E-285CB192CACC}"/>
              </a:ext>
            </a:extLst>
          </p:cNvPr>
          <p:cNvSpPr/>
          <p:nvPr/>
        </p:nvSpPr>
        <p:spPr>
          <a:xfrm>
            <a:off x="1552023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투명성 확보 가이드라인</a:t>
            </a:r>
          </a:p>
        </p:txBody>
      </p:sp>
      <p:sp>
        <p:nvSpPr>
          <p:cNvPr id="46" name="사각형: 둥근 모서리 20">
            <a:extLst>
              <a:ext uri="{FF2B5EF4-FFF2-40B4-BE49-F238E27FC236}">
                <a16:creationId xmlns:a16="http://schemas.microsoft.com/office/drawing/2014/main" id="{96359652-A79E-8216-56BC-F8F68E6885A2}"/>
              </a:ext>
            </a:extLst>
          </p:cNvPr>
          <p:cNvSpPr/>
          <p:nvPr/>
        </p:nvSpPr>
        <p:spPr>
          <a:xfrm>
            <a:off x="3532569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판단 가이드라인</a:t>
            </a:r>
          </a:p>
        </p:txBody>
      </p:sp>
      <p:sp>
        <p:nvSpPr>
          <p:cNvPr id="47" name="사각형: 둥근 모서리 20">
            <a:extLst>
              <a:ext uri="{FF2B5EF4-FFF2-40B4-BE49-F238E27FC236}">
                <a16:creationId xmlns:a16="http://schemas.microsoft.com/office/drawing/2014/main" id="{687FE6EA-EBA7-42B8-7FCE-0F08FB6A5A47}"/>
              </a:ext>
            </a:extLst>
          </p:cNvPr>
          <p:cNvSpPr/>
          <p:nvPr/>
        </p:nvSpPr>
        <p:spPr>
          <a:xfrm>
            <a:off x="4852933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고시</a:t>
            </a: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D5A50AD4-B94E-5698-3B12-E076E1488B3A}"/>
              </a:ext>
            </a:extLst>
          </p:cNvPr>
          <p:cNvSpPr/>
          <p:nvPr/>
        </p:nvSpPr>
        <p:spPr>
          <a:xfrm>
            <a:off x="5513114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가이드라인</a:t>
            </a: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4AC530BC-CADE-92FD-33BC-514E4891BE55}"/>
              </a:ext>
            </a:extLst>
          </p:cNvPr>
          <p:cNvSpPr/>
          <p:nvPr/>
        </p:nvSpPr>
        <p:spPr>
          <a:xfrm>
            <a:off x="2872387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가이드라인</a:t>
            </a:r>
          </a:p>
        </p:txBody>
      </p:sp>
      <p:sp>
        <p:nvSpPr>
          <p:cNvPr id="50" name="사각형: 둥근 모서리 20">
            <a:extLst>
              <a:ext uri="{FF2B5EF4-FFF2-40B4-BE49-F238E27FC236}">
                <a16:creationId xmlns:a16="http://schemas.microsoft.com/office/drawing/2014/main" id="{DFA03BF7-69D1-B6CF-F701-8A51766C6F78}"/>
              </a:ext>
            </a:extLst>
          </p:cNvPr>
          <p:cNvSpPr/>
          <p:nvPr/>
        </p:nvSpPr>
        <p:spPr>
          <a:xfrm>
            <a:off x="4192752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영향평가 가이드라인</a:t>
            </a:r>
          </a:p>
        </p:txBody>
      </p:sp>
      <p:sp>
        <p:nvSpPr>
          <p:cNvPr id="51" name="사각형: 둥근 모서리 20">
            <a:extLst>
              <a:ext uri="{FF2B5EF4-FFF2-40B4-BE49-F238E27FC236}">
                <a16:creationId xmlns:a16="http://schemas.microsoft.com/office/drawing/2014/main" id="{6DDBFCC1-4D7F-990F-DB4A-6F5380F725DF}"/>
              </a:ext>
            </a:extLst>
          </p:cNvPr>
          <p:cNvSpPr/>
          <p:nvPr/>
        </p:nvSpPr>
        <p:spPr>
          <a:xfrm>
            <a:off x="324596" y="4805988"/>
            <a:ext cx="1176232" cy="248923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기타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2" name="사각형: 둥근 모서리 20">
            <a:extLst>
              <a:ext uri="{FF2B5EF4-FFF2-40B4-BE49-F238E27FC236}">
                <a16:creationId xmlns:a16="http://schemas.microsoft.com/office/drawing/2014/main" id="{D8A01244-410A-2AA4-123E-442ED71C9507}"/>
              </a:ext>
            </a:extLst>
          </p:cNvPr>
          <p:cNvSpPr/>
          <p:nvPr/>
        </p:nvSpPr>
        <p:spPr>
          <a:xfrm>
            <a:off x="1552023" y="4805988"/>
            <a:ext cx="2214967" cy="24892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신용정보법</a:t>
            </a:r>
          </a:p>
        </p:txBody>
      </p:sp>
      <p:sp>
        <p:nvSpPr>
          <p:cNvPr id="53" name="사각형: 둥근 모서리 20">
            <a:extLst>
              <a:ext uri="{FF2B5EF4-FFF2-40B4-BE49-F238E27FC236}">
                <a16:creationId xmlns:a16="http://schemas.microsoft.com/office/drawing/2014/main" id="{2FE49999-4451-5ACE-9194-348993C00843}"/>
              </a:ext>
            </a:extLst>
          </p:cNvPr>
          <p:cNvSpPr/>
          <p:nvPr/>
        </p:nvSpPr>
        <p:spPr>
          <a:xfrm>
            <a:off x="3881032" y="4805988"/>
            <a:ext cx="2214967" cy="24892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개인정보 보호법</a:t>
            </a:r>
          </a:p>
        </p:txBody>
      </p:sp>
      <p:sp>
        <p:nvSpPr>
          <p:cNvPr id="63" name="사각형: 둥근 모서리 20">
            <a:extLst>
              <a:ext uri="{FF2B5EF4-FFF2-40B4-BE49-F238E27FC236}">
                <a16:creationId xmlns:a16="http://schemas.microsoft.com/office/drawing/2014/main" id="{E7851C6E-2B3D-787F-80C2-D92D60FCA223}"/>
              </a:ext>
            </a:extLst>
          </p:cNvPr>
          <p:cNvSpPr/>
          <p:nvPr/>
        </p:nvSpPr>
        <p:spPr>
          <a:xfrm>
            <a:off x="2212204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고시</a:t>
            </a:r>
          </a:p>
        </p:txBody>
      </p:sp>
      <p:sp>
        <p:nvSpPr>
          <p:cNvPr id="94" name="사각형: 둥근 모서리 20">
            <a:extLst>
              <a:ext uri="{FF2B5EF4-FFF2-40B4-BE49-F238E27FC236}">
                <a16:creationId xmlns:a16="http://schemas.microsoft.com/office/drawing/2014/main" id="{DC486290-A622-2A3E-3C5B-096F3C546904}"/>
              </a:ext>
            </a:extLst>
          </p:cNvPr>
          <p:cNvSpPr/>
          <p:nvPr/>
        </p:nvSpPr>
        <p:spPr>
          <a:xfrm>
            <a:off x="1552023" y="5105900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기본법 시행령</a:t>
            </a:r>
          </a:p>
        </p:txBody>
      </p:sp>
      <p:sp>
        <p:nvSpPr>
          <p:cNvPr id="95" name="사각형: 둥근 모서리 20">
            <a:extLst>
              <a:ext uri="{FF2B5EF4-FFF2-40B4-BE49-F238E27FC236}">
                <a16:creationId xmlns:a16="http://schemas.microsoft.com/office/drawing/2014/main" id="{3BCBB550-B71A-66A0-0D56-FFD7718161C8}"/>
              </a:ext>
            </a:extLst>
          </p:cNvPr>
          <p:cNvSpPr/>
          <p:nvPr/>
        </p:nvSpPr>
        <p:spPr>
          <a:xfrm>
            <a:off x="1552023" y="6017927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가이드라인</a:t>
            </a:r>
          </a:p>
        </p:txBody>
      </p:sp>
      <p:sp>
        <p:nvSpPr>
          <p:cNvPr id="96" name="사각형: 둥근 모서리 20">
            <a:extLst>
              <a:ext uri="{FF2B5EF4-FFF2-40B4-BE49-F238E27FC236}">
                <a16:creationId xmlns:a16="http://schemas.microsoft.com/office/drawing/2014/main" id="{B33ADD2E-5C9B-935A-CE82-4C6359E50FAC}"/>
              </a:ext>
            </a:extLst>
          </p:cNvPr>
          <p:cNvSpPr/>
          <p:nvPr/>
        </p:nvSpPr>
        <p:spPr>
          <a:xfrm>
            <a:off x="1552023" y="6289684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위험관리 프레임워크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(AI RMF) 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Rectangle: Rounded Corners 54">
            <a:extLst>
              <a:ext uri="{FF2B5EF4-FFF2-40B4-BE49-F238E27FC236}">
                <a16:creationId xmlns:a16="http://schemas.microsoft.com/office/drawing/2014/main" id="{76FF4040-2C19-1909-D6AF-6A9C482CD1F8}"/>
              </a:ext>
            </a:extLst>
          </p:cNvPr>
          <p:cNvSpPr/>
          <p:nvPr/>
        </p:nvSpPr>
        <p:spPr>
          <a:xfrm>
            <a:off x="1935163" y="6583617"/>
            <a:ext cx="7773988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*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프로젝트 수행 착수 시점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(’25.11)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기준 </a:t>
            </a:r>
            <a:r>
              <a:rPr lang="ko-KR" altLang="en-US" sz="8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미확정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 고려 대상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. 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기본법 하위법령집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-8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종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(‘25.09),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금융분야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가이드라인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(’25.12),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금융분야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위험관리 프레임워크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(’26.01)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의견수렴용 발표</a:t>
            </a:r>
            <a:endParaRPr kumimoji="0" lang="ko-KR" altLang="en-US" sz="8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0" name="사각형: 둥근 모서리 20">
            <a:extLst>
              <a:ext uri="{FF2B5EF4-FFF2-40B4-BE49-F238E27FC236}">
                <a16:creationId xmlns:a16="http://schemas.microsoft.com/office/drawing/2014/main" id="{8BF6DAA9-94AE-2E1C-2DED-ADE4FFBC607C}"/>
              </a:ext>
            </a:extLst>
          </p:cNvPr>
          <p:cNvSpPr/>
          <p:nvPr/>
        </p:nvSpPr>
        <p:spPr>
          <a:xfrm>
            <a:off x="7736452" y="6229243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1" name="사각형: 둥근 모서리 20">
            <a:extLst>
              <a:ext uri="{FF2B5EF4-FFF2-40B4-BE49-F238E27FC236}">
                <a16:creationId xmlns:a16="http://schemas.microsoft.com/office/drawing/2014/main" id="{CB7A1D02-B6E8-F679-6BB3-CE4447178B6A}"/>
              </a:ext>
            </a:extLst>
          </p:cNvPr>
          <p:cNvSpPr/>
          <p:nvPr/>
        </p:nvSpPr>
        <p:spPr>
          <a:xfrm>
            <a:off x="7736452" y="5900035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02466530-8967-F90D-2E0D-26636F09548C}"/>
              </a:ext>
            </a:extLst>
          </p:cNvPr>
          <p:cNvSpPr/>
          <p:nvPr/>
        </p:nvSpPr>
        <p:spPr>
          <a:xfrm>
            <a:off x="10977297" y="2247900"/>
            <a:ext cx="143464" cy="3414713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9DFC83-B882-718C-9566-CAC7DDC28038}"/>
              </a:ext>
            </a:extLst>
          </p:cNvPr>
          <p:cNvSpPr txBox="1"/>
          <p:nvPr/>
        </p:nvSpPr>
        <p:spPr>
          <a:xfrm>
            <a:off x="11115608" y="3613716"/>
            <a:ext cx="776355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인공지능기본법 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(’26.01) 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시행을 위한 </a:t>
            </a:r>
            <a:b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신규 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10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종에서 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구체화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/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강화된 </a:t>
            </a:r>
            <a:b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가이드라인 제공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</p:txBody>
      </p:sp>
      <p:sp>
        <p:nvSpPr>
          <p:cNvPr id="106" name="사각형: 둥근 모서리 20">
            <a:extLst>
              <a:ext uri="{FF2B5EF4-FFF2-40B4-BE49-F238E27FC236}">
                <a16:creationId xmlns:a16="http://schemas.microsoft.com/office/drawing/2014/main" id="{BA9F28A6-F3AE-89C8-13EA-F72E8A4789E5}"/>
              </a:ext>
            </a:extLst>
          </p:cNvPr>
          <p:cNvSpPr/>
          <p:nvPr/>
        </p:nvSpPr>
        <p:spPr>
          <a:xfrm>
            <a:off x="1196684" y="5552471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E5722FF-3348-C001-F6B0-9DF748D18CCA}"/>
              </a:ext>
            </a:extLst>
          </p:cNvPr>
          <p:cNvSpPr txBox="1"/>
          <p:nvPr/>
        </p:nvSpPr>
        <p:spPr>
          <a:xfrm>
            <a:off x="11088423" y="6181323"/>
            <a:ext cx="69849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신규 개념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F51BFBB2-D151-EF9E-DC50-74FADB11C9AF}"/>
              </a:ext>
            </a:extLst>
          </p:cNvPr>
          <p:cNvSpPr/>
          <p:nvPr/>
        </p:nvSpPr>
        <p:spPr>
          <a:xfrm>
            <a:off x="10977297" y="5946621"/>
            <a:ext cx="143464" cy="548769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99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77DE-29BA-A8A7-127E-D550A552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rapezoid 120">
            <a:extLst>
              <a:ext uri="{FF2B5EF4-FFF2-40B4-BE49-F238E27FC236}">
                <a16:creationId xmlns:a16="http://schemas.microsoft.com/office/drawing/2014/main" id="{E44B7A6D-762F-8488-0413-C126129A2AEC}"/>
              </a:ext>
            </a:extLst>
          </p:cNvPr>
          <p:cNvSpPr/>
          <p:nvPr/>
        </p:nvSpPr>
        <p:spPr>
          <a:xfrm rot="16200000">
            <a:off x="4274932" y="4124429"/>
            <a:ext cx="4218522" cy="576385"/>
          </a:xfrm>
          <a:custGeom>
            <a:avLst/>
            <a:gdLst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649524 w 4312411"/>
              <a:gd name="connsiteY2" fmla="*/ 0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174962 w 4312411"/>
              <a:gd name="connsiteY2" fmla="*/ 4629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083522 w 4312411"/>
              <a:gd name="connsiteY2" fmla="*/ 4629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083522 w 4312411"/>
              <a:gd name="connsiteY2" fmla="*/ 3105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7754 h 667754"/>
              <a:gd name="connsiteX1" fmla="*/ 662887 w 4312411"/>
              <a:gd name="connsiteY1" fmla="*/ 7041 h 667754"/>
              <a:gd name="connsiteX2" fmla="*/ 3083522 w 4312411"/>
              <a:gd name="connsiteY2" fmla="*/ 0 h 667754"/>
              <a:gd name="connsiteX3" fmla="*/ 4312411 w 4312411"/>
              <a:gd name="connsiteY3" fmla="*/ 667754 h 667754"/>
              <a:gd name="connsiteX4" fmla="*/ 0 w 4312411"/>
              <a:gd name="connsiteY4" fmla="*/ 667754 h 6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2411" h="667754">
                <a:moveTo>
                  <a:pt x="0" y="667754"/>
                </a:moveTo>
                <a:lnTo>
                  <a:pt x="662887" y="7041"/>
                </a:lnTo>
                <a:lnTo>
                  <a:pt x="3083522" y="0"/>
                </a:lnTo>
                <a:lnTo>
                  <a:pt x="4312411" y="667754"/>
                </a:lnTo>
                <a:lnTo>
                  <a:pt x="0" y="667754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BE5D6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사각형: 둥근 모서리 42">
            <a:extLst>
              <a:ext uri="{FF2B5EF4-FFF2-40B4-BE49-F238E27FC236}">
                <a16:creationId xmlns:a16="http://schemas.microsoft.com/office/drawing/2014/main" id="{68A46E11-98B1-D947-B655-64A826267139}"/>
              </a:ext>
            </a:extLst>
          </p:cNvPr>
          <p:cNvSpPr/>
          <p:nvPr/>
        </p:nvSpPr>
        <p:spPr>
          <a:xfrm>
            <a:off x="259080" y="3339165"/>
            <a:ext cx="5928360" cy="26425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ED7D3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70CD3C0-FC8E-A07F-5F42-3F7F63B4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876E2DD7-E523-527D-BBDC-413BA25F4F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거버넌스의 개념적 모습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1DC877E-CBB2-E760-80D9-D95421233A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가지 관점</a:t>
            </a:r>
            <a:r>
              <a:rPr lang="ko-KR" altLang="en-US" baseline="30000"/>
              <a:t>조직</a:t>
            </a:r>
            <a:r>
              <a:rPr lang="en-US" altLang="ko-KR" baseline="30000"/>
              <a:t>, </a:t>
            </a:r>
            <a:r>
              <a:rPr lang="ko-KR" altLang="en-US" baseline="30000"/>
              <a:t>협의체</a:t>
            </a:r>
            <a:r>
              <a:rPr lang="en-US" altLang="ko-KR" baseline="30000"/>
              <a:t>, </a:t>
            </a:r>
            <a:r>
              <a:rPr lang="ko-KR" altLang="en-US" baseline="30000"/>
              <a:t>활용 도구</a:t>
            </a:r>
            <a:r>
              <a:rPr lang="en-US" altLang="ko-KR" baseline="30000"/>
              <a:t>&amp;</a:t>
            </a:r>
            <a:r>
              <a:rPr lang="ko-KR" altLang="en-US" baseline="30000"/>
              <a:t>문서</a:t>
            </a:r>
            <a:r>
              <a:rPr lang="en-US" altLang="ko-KR" baseline="30000"/>
              <a:t>, </a:t>
            </a:r>
            <a:r>
              <a:rPr lang="ko-KR" altLang="en-US" baseline="30000"/>
              <a:t>기능</a:t>
            </a:r>
            <a:r>
              <a:rPr lang="en-US" altLang="ko-KR" baseline="30000"/>
              <a:t>&amp;</a:t>
            </a:r>
            <a:r>
              <a:rPr lang="ko-KR" altLang="en-US" baseline="30000"/>
              <a:t>프로세스</a:t>
            </a:r>
            <a:r>
              <a:rPr lang="en-US" altLang="ko-KR" baseline="30000"/>
              <a:t>, </a:t>
            </a:r>
            <a:r>
              <a:rPr lang="ko-KR" altLang="en-US" baseline="30000"/>
              <a:t>시스템</a:t>
            </a:r>
            <a:r>
              <a:rPr lang="ko-KR" altLang="en-US"/>
              <a:t>을 기반으로 </a:t>
            </a:r>
            <a:r>
              <a:rPr lang="en-US" altLang="ko-KR"/>
              <a:t>AI</a:t>
            </a:r>
            <a:r>
              <a:rPr lang="ko-KR" altLang="en-US"/>
              <a:t>서비스 개발 全 라이프사이클에서 발생하는 </a:t>
            </a:r>
            <a:r>
              <a:rPr lang="en-US" altLang="ko-KR"/>
              <a:t>AI</a:t>
            </a:r>
            <a:r>
              <a:rPr lang="ko-KR" altLang="en-US"/>
              <a:t>위험에 대해 식별 및 평가함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B77D1236-4393-69F3-354B-0AFF666CDF56}"/>
              </a:ext>
            </a:extLst>
          </p:cNvPr>
          <p:cNvSpPr/>
          <p:nvPr/>
        </p:nvSpPr>
        <p:spPr>
          <a:xfrm>
            <a:off x="6763985" y="1341438"/>
            <a:ext cx="5040000" cy="698400"/>
          </a:xfrm>
          <a:custGeom>
            <a:avLst/>
            <a:gdLst>
              <a:gd name="connsiteX0" fmla="*/ 2520000 w 5040000"/>
              <a:gd name="connsiteY0" fmla="*/ 0 h 698400"/>
              <a:gd name="connsiteX1" fmla="*/ 5040000 w 5040000"/>
              <a:gd name="connsiteY1" fmla="*/ 424732 h 698400"/>
              <a:gd name="connsiteX2" fmla="*/ 5040000 w 5040000"/>
              <a:gd name="connsiteY2" fmla="*/ 698400 h 698400"/>
              <a:gd name="connsiteX3" fmla="*/ 0 w 5040000"/>
              <a:gd name="connsiteY3" fmla="*/ 698400 h 698400"/>
              <a:gd name="connsiteX4" fmla="*/ 0 w 5040000"/>
              <a:gd name="connsiteY4" fmla="*/ 424732 h 6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000" h="698400">
                <a:moveTo>
                  <a:pt x="2520000" y="0"/>
                </a:moveTo>
                <a:lnTo>
                  <a:pt x="5040000" y="424732"/>
                </a:lnTo>
                <a:lnTo>
                  <a:pt x="5040000" y="698400"/>
                </a:lnTo>
                <a:lnTo>
                  <a:pt x="0" y="698400"/>
                </a:lnTo>
                <a:lnTo>
                  <a:pt x="0" y="424732"/>
                </a:lnTo>
                <a:close/>
              </a:path>
            </a:pathLst>
          </a:cu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b" anchorCtr="0">
            <a:noAutofit/>
          </a:bodyPr>
          <a:lstStyle/>
          <a:p>
            <a:pPr algn="ctr"/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안전하고 투명한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AI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서비스 제공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”</a:t>
            </a:r>
            <a:endParaRPr lang="ko-KR" altLang="en-US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73E36D-622A-9CDF-D932-0ED17903E704}"/>
              </a:ext>
            </a:extLst>
          </p:cNvPr>
          <p:cNvSpPr/>
          <p:nvPr/>
        </p:nvSpPr>
        <p:spPr>
          <a:xfrm>
            <a:off x="6943985" y="2150551"/>
            <a:ext cx="4680000" cy="1273637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전사적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위험관리 체계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5281D2-32F2-A9BC-555B-FBF5E681CAE9}"/>
              </a:ext>
            </a:extLst>
          </p:cNvPr>
          <p:cNvSpPr/>
          <p:nvPr/>
        </p:nvSpPr>
        <p:spPr>
          <a:xfrm>
            <a:off x="7123985" y="2533992"/>
            <a:ext cx="4320000" cy="8343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개발 전 생애주기에 걸친 위험관리 방안 및 환경 구축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기반 안전성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투명성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강건성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등 확보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전사차원의 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안전성에 대해 식별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90283D-F4E4-6DD6-F1EB-2A3F3D99DE4B}"/>
              </a:ext>
            </a:extLst>
          </p:cNvPr>
          <p:cNvSpPr/>
          <p:nvPr/>
        </p:nvSpPr>
        <p:spPr>
          <a:xfrm>
            <a:off x="6763985" y="5049487"/>
            <a:ext cx="5040000" cy="1152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8F89F9-51D7-AB67-95BC-B0CF1313C4E8}"/>
              </a:ext>
            </a:extLst>
          </p:cNvPr>
          <p:cNvGrpSpPr/>
          <p:nvPr/>
        </p:nvGrpSpPr>
        <p:grpSpPr>
          <a:xfrm>
            <a:off x="6943985" y="5375541"/>
            <a:ext cx="4680000" cy="753341"/>
            <a:chOff x="514963" y="5695943"/>
            <a:chExt cx="4680000" cy="753341"/>
          </a:xfrm>
        </p:grpSpPr>
        <p:sp>
          <p:nvSpPr>
            <p:cNvPr id="2" name="사각형: 둥근 모서리 20">
              <a:extLst>
                <a:ext uri="{FF2B5EF4-FFF2-40B4-BE49-F238E27FC236}">
                  <a16:creationId xmlns:a16="http://schemas.microsoft.com/office/drawing/2014/main" id="{B9858CF2-D12E-7BD1-DFEE-DDF4179ACBE2}"/>
                </a:ext>
              </a:extLst>
            </p:cNvPr>
            <p:cNvSpPr/>
            <p:nvPr/>
          </p:nvSpPr>
          <p:spPr>
            <a:xfrm>
              <a:off x="51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기본법</a:t>
              </a:r>
              <a:endParaRPr lang="en" altLang="ko-KR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사각형: 둥근 모서리 20">
              <a:extLst>
                <a:ext uri="{FF2B5EF4-FFF2-40B4-BE49-F238E27FC236}">
                  <a16:creationId xmlns:a16="http://schemas.microsoft.com/office/drawing/2014/main" id="{A1D36345-A7DC-4EF3-05C2-A8C1A7256E9F}"/>
                </a:ext>
              </a:extLst>
            </p:cNvPr>
            <p:cNvSpPr/>
            <p:nvPr/>
          </p:nvSpPr>
          <p:spPr>
            <a:xfrm>
              <a:off x="1762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·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활용 안내서</a:t>
              </a:r>
            </a:p>
          </p:txBody>
        </p:sp>
        <p:sp>
          <p:nvSpPr>
            <p:cNvPr id="4" name="사각형: 둥근 모서리 20">
              <a:extLst>
                <a:ext uri="{FF2B5EF4-FFF2-40B4-BE49-F238E27FC236}">
                  <a16:creationId xmlns:a16="http://schemas.microsoft.com/office/drawing/2014/main" id="{C55D5BA0-F62C-8F15-F9CB-1B5E718697A0}"/>
                </a:ext>
              </a:extLst>
            </p:cNvPr>
            <p:cNvSpPr/>
            <p:nvPr/>
          </p:nvSpPr>
          <p:spPr>
            <a:xfrm>
              <a:off x="2494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운영 가이드라인</a:t>
              </a:r>
            </a:p>
          </p:txBody>
        </p:sp>
        <p:sp>
          <p:nvSpPr>
            <p:cNvPr id="5" name="사각형: 둥근 모서리 20">
              <a:extLst>
                <a:ext uri="{FF2B5EF4-FFF2-40B4-BE49-F238E27FC236}">
                  <a16:creationId xmlns:a16="http://schemas.microsoft.com/office/drawing/2014/main" id="{158B53E7-16F2-5B11-361D-D5C76861B665}"/>
                </a:ext>
              </a:extLst>
            </p:cNvPr>
            <p:cNvSpPr/>
            <p:nvPr/>
          </p:nvSpPr>
          <p:spPr>
            <a:xfrm>
              <a:off x="3226963" y="5695943"/>
              <a:ext cx="72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기반 보안 가이드라인</a:t>
              </a:r>
            </a:p>
          </p:txBody>
        </p:sp>
        <p:sp>
          <p:nvSpPr>
            <p:cNvPr id="13" name="사각형: 둥근 모서리 20">
              <a:extLst>
                <a:ext uri="{FF2B5EF4-FFF2-40B4-BE49-F238E27FC236}">
                  <a16:creationId xmlns:a16="http://schemas.microsoft.com/office/drawing/2014/main" id="{46CF104F-AFA3-3546-E16F-869E890B3EF4}"/>
                </a:ext>
              </a:extLst>
            </p:cNvPr>
            <p:cNvSpPr/>
            <p:nvPr/>
          </p:nvSpPr>
          <p:spPr>
            <a:xfrm>
              <a:off x="1138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기본법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시행령</a:t>
              </a:r>
            </a:p>
          </p:txBody>
        </p:sp>
        <p:sp>
          <p:nvSpPr>
            <p:cNvPr id="18" name="사각형: 둥근 모서리 20">
              <a:extLst>
                <a:ext uri="{FF2B5EF4-FFF2-40B4-BE49-F238E27FC236}">
                  <a16:creationId xmlns:a16="http://schemas.microsoft.com/office/drawing/2014/main" id="{BEAABFE6-E871-9E28-AD59-C7A2637737B0}"/>
                </a:ext>
              </a:extLst>
            </p:cNvPr>
            <p:cNvSpPr/>
            <p:nvPr/>
          </p:nvSpPr>
          <p:spPr>
            <a:xfrm>
              <a:off x="51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0D54BB5-305E-6207-FC1C-1D38EA8F6F21}"/>
                </a:ext>
              </a:extLst>
            </p:cNvPr>
            <p:cNvSpPr/>
            <p:nvPr/>
          </p:nvSpPr>
          <p:spPr>
            <a:xfrm>
              <a:off x="11413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9" name="사각형: 둥근 모서리 20">
              <a:extLst>
                <a:ext uri="{FF2B5EF4-FFF2-40B4-BE49-F238E27FC236}">
                  <a16:creationId xmlns:a16="http://schemas.microsoft.com/office/drawing/2014/main" id="{9500A20D-1BE1-837C-DE54-A3775FFAD26F}"/>
                </a:ext>
              </a:extLst>
            </p:cNvPr>
            <p:cNvSpPr/>
            <p:nvPr/>
          </p:nvSpPr>
          <p:spPr>
            <a:xfrm>
              <a:off x="20197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사각형: 둥근 모서리 20">
              <a:extLst>
                <a:ext uri="{FF2B5EF4-FFF2-40B4-BE49-F238E27FC236}">
                  <a16:creationId xmlns:a16="http://schemas.microsoft.com/office/drawing/2014/main" id="{24F0BFE9-1DC3-86E9-D1CC-457A8E837F80}"/>
                </a:ext>
              </a:extLst>
            </p:cNvPr>
            <p:cNvSpPr/>
            <p:nvPr/>
          </p:nvSpPr>
          <p:spPr>
            <a:xfrm>
              <a:off x="28981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판단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사각형: 둥근 모서리 20">
              <a:extLst>
                <a:ext uri="{FF2B5EF4-FFF2-40B4-BE49-F238E27FC236}">
                  <a16:creationId xmlns:a16="http://schemas.microsoft.com/office/drawing/2014/main" id="{369F1FBC-230F-EA08-7FA5-7BFA1F8B13E4}"/>
                </a:ext>
              </a:extLst>
            </p:cNvPr>
            <p:cNvSpPr/>
            <p:nvPr/>
          </p:nvSpPr>
          <p:spPr>
            <a:xfrm>
              <a:off x="37765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영향평가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사각형: 둥근 모서리 20">
              <a:extLst>
                <a:ext uri="{FF2B5EF4-FFF2-40B4-BE49-F238E27FC236}">
                  <a16:creationId xmlns:a16="http://schemas.microsoft.com/office/drawing/2014/main" id="{5DC04CC0-122E-AAD0-10D7-8D43BE320BBC}"/>
                </a:ext>
              </a:extLst>
            </p:cNvPr>
            <p:cNvSpPr/>
            <p:nvPr/>
          </p:nvSpPr>
          <p:spPr>
            <a:xfrm>
              <a:off x="4030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신용정보법</a:t>
              </a:r>
            </a:p>
          </p:txBody>
        </p:sp>
        <p:sp>
          <p:nvSpPr>
            <p:cNvPr id="47" name="사각형: 둥근 모서리 20">
              <a:extLst>
                <a:ext uri="{FF2B5EF4-FFF2-40B4-BE49-F238E27FC236}">
                  <a16:creationId xmlns:a16="http://schemas.microsoft.com/office/drawing/2014/main" id="{67A94D49-1053-DCFB-15C6-1C692D312769}"/>
                </a:ext>
              </a:extLst>
            </p:cNvPr>
            <p:cNvSpPr/>
            <p:nvPr/>
          </p:nvSpPr>
          <p:spPr>
            <a:xfrm>
              <a:off x="465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개인정보 보호법</a:t>
              </a:r>
            </a:p>
          </p:txBody>
        </p:sp>
        <p:sp>
          <p:nvSpPr>
            <p:cNvPr id="51" name="사각형: 둥근 모서리 20">
              <a:extLst>
                <a:ext uri="{FF2B5EF4-FFF2-40B4-BE49-F238E27FC236}">
                  <a16:creationId xmlns:a16="http://schemas.microsoft.com/office/drawing/2014/main" id="{7922250D-320F-809C-1B1B-8F85909A03D4}"/>
                </a:ext>
              </a:extLst>
            </p:cNvPr>
            <p:cNvSpPr/>
            <p:nvPr/>
          </p:nvSpPr>
          <p:spPr>
            <a:xfrm>
              <a:off x="465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C950C8-9293-476F-9D9B-8C36C658A001}"/>
              </a:ext>
            </a:extLst>
          </p:cNvPr>
          <p:cNvSpPr/>
          <p:nvPr/>
        </p:nvSpPr>
        <p:spPr>
          <a:xfrm>
            <a:off x="6943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조직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4A2B83E-6692-4466-4DC5-BAACB31929D9}"/>
              </a:ext>
            </a:extLst>
          </p:cNvPr>
          <p:cNvSpPr/>
          <p:nvPr/>
        </p:nvSpPr>
        <p:spPr>
          <a:xfrm>
            <a:off x="10759985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 도구 및 문서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1A6B8A3-266C-7C74-25EA-797023E69546}"/>
              </a:ext>
            </a:extLst>
          </p:cNvPr>
          <p:cNvSpPr/>
          <p:nvPr/>
        </p:nvSpPr>
        <p:spPr>
          <a:xfrm>
            <a:off x="8215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협의체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4D64E3-9426-C0D8-980F-180647F76B84}"/>
              </a:ext>
            </a:extLst>
          </p:cNvPr>
          <p:cNvSpPr/>
          <p:nvPr/>
        </p:nvSpPr>
        <p:spPr>
          <a:xfrm>
            <a:off x="9487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R&amp;R,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프로세스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5DCD09F-26B2-A3CE-B7D6-1FFD38C5892E}"/>
              </a:ext>
            </a:extLst>
          </p:cNvPr>
          <p:cNvSpPr/>
          <p:nvPr/>
        </p:nvSpPr>
        <p:spPr>
          <a:xfrm>
            <a:off x="346135" y="2209478"/>
            <a:ext cx="1864144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사용자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0FE6134-F8F0-458D-C876-69CECFF1A1F0}"/>
              </a:ext>
            </a:extLst>
          </p:cNvPr>
          <p:cNvSpPr/>
          <p:nvPr/>
        </p:nvSpPr>
        <p:spPr>
          <a:xfrm>
            <a:off x="346135" y="2804944"/>
            <a:ext cx="1864144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</a:t>
            </a:r>
          </a:p>
        </p:txBody>
      </p:sp>
      <p:sp>
        <p:nvSpPr>
          <p:cNvPr id="67" name="직사각형 13">
            <a:extLst>
              <a:ext uri="{FF2B5EF4-FFF2-40B4-BE49-F238E27FC236}">
                <a16:creationId xmlns:a16="http://schemas.microsoft.com/office/drawing/2014/main" id="{15ECEFBF-88E4-C6B0-99CE-6ED6413DC85F}"/>
              </a:ext>
            </a:extLst>
          </p:cNvPr>
          <p:cNvSpPr/>
          <p:nvPr/>
        </p:nvSpPr>
        <p:spPr>
          <a:xfrm>
            <a:off x="346134" y="1736725"/>
            <a:ext cx="1864144" cy="360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구분</a:t>
            </a:r>
          </a:p>
        </p:txBody>
      </p:sp>
      <p:sp>
        <p:nvSpPr>
          <p:cNvPr id="75" name="직사각형 73">
            <a:extLst>
              <a:ext uri="{FF2B5EF4-FFF2-40B4-BE49-F238E27FC236}">
                <a16:creationId xmlns:a16="http://schemas.microsoft.com/office/drawing/2014/main" id="{C7A0E844-DC7A-4FBE-E38D-8E80409B13CF}"/>
              </a:ext>
            </a:extLst>
          </p:cNvPr>
          <p:cNvSpPr/>
          <p:nvPr/>
        </p:nvSpPr>
        <p:spPr>
          <a:xfrm>
            <a:off x="346136" y="3438147"/>
            <a:ext cx="405400" cy="2413502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체계</a:t>
            </a:r>
          </a:p>
        </p:txBody>
      </p:sp>
      <p:sp>
        <p:nvSpPr>
          <p:cNvPr id="76" name="직사각형 73">
            <a:extLst>
              <a:ext uri="{FF2B5EF4-FFF2-40B4-BE49-F238E27FC236}">
                <a16:creationId xmlns:a16="http://schemas.microsoft.com/office/drawing/2014/main" id="{AEA43C52-4A44-532F-5E03-49FA55CAA348}"/>
              </a:ext>
            </a:extLst>
          </p:cNvPr>
          <p:cNvSpPr/>
          <p:nvPr/>
        </p:nvSpPr>
        <p:spPr>
          <a:xfrm>
            <a:off x="867937" y="3442474"/>
            <a:ext cx="1342342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규정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지침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도구</a:t>
            </a:r>
            <a:endParaRPr lang="ko-KR" altLang="en-US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직사각형 73">
            <a:extLst>
              <a:ext uri="{FF2B5EF4-FFF2-40B4-BE49-F238E27FC236}">
                <a16:creationId xmlns:a16="http://schemas.microsoft.com/office/drawing/2014/main" id="{9BE30DBC-4379-CDC7-BC1B-5D63123F04CA}"/>
              </a:ext>
            </a:extLst>
          </p:cNvPr>
          <p:cNvSpPr/>
          <p:nvPr/>
        </p:nvSpPr>
        <p:spPr>
          <a:xfrm>
            <a:off x="867937" y="4080004"/>
            <a:ext cx="1342342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 모델</a:t>
            </a:r>
          </a:p>
        </p:txBody>
      </p:sp>
      <p:sp>
        <p:nvSpPr>
          <p:cNvPr id="78" name="직사각형 73">
            <a:extLst>
              <a:ext uri="{FF2B5EF4-FFF2-40B4-BE49-F238E27FC236}">
                <a16:creationId xmlns:a16="http://schemas.microsoft.com/office/drawing/2014/main" id="{D66C0158-441A-5E1C-804A-FAE16BA768E9}"/>
              </a:ext>
            </a:extLst>
          </p:cNvPr>
          <p:cNvSpPr/>
          <p:nvPr/>
        </p:nvSpPr>
        <p:spPr>
          <a:xfrm>
            <a:off x="867937" y="4723263"/>
            <a:ext cx="1342342" cy="1128386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자동화</a:t>
            </a:r>
            <a:b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시스템</a:t>
            </a:r>
          </a:p>
        </p:txBody>
      </p:sp>
      <p:sp>
        <p:nvSpPr>
          <p:cNvPr id="69" name="직사각형 13">
            <a:extLst>
              <a:ext uri="{FF2B5EF4-FFF2-40B4-BE49-F238E27FC236}">
                <a16:creationId xmlns:a16="http://schemas.microsoft.com/office/drawing/2014/main" id="{FA30AFC2-78BE-91BF-876C-22311F55F804}"/>
              </a:ext>
            </a:extLst>
          </p:cNvPr>
          <p:cNvSpPr/>
          <p:nvPr/>
        </p:nvSpPr>
        <p:spPr>
          <a:xfrm>
            <a:off x="2362553" y="1736725"/>
            <a:ext cx="3733447" cy="360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내용</a:t>
            </a:r>
          </a:p>
        </p:txBody>
      </p:sp>
      <p:sp>
        <p:nvSpPr>
          <p:cNvPr id="79" name="직사각형 72">
            <a:extLst>
              <a:ext uri="{FF2B5EF4-FFF2-40B4-BE49-F238E27FC236}">
                <a16:creationId xmlns:a16="http://schemas.microsoft.com/office/drawing/2014/main" id="{EC240A2E-A2C6-B3CE-C4F1-BCE7C815B9D0}"/>
              </a:ext>
            </a:extLst>
          </p:cNvPr>
          <p:cNvSpPr/>
          <p:nvPr/>
        </p:nvSpPr>
        <p:spPr>
          <a:xfrm>
            <a:off x="2362553" y="2209478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</a:t>
            </a:r>
          </a:p>
        </p:txBody>
      </p:sp>
      <p:sp>
        <p:nvSpPr>
          <p:cNvPr id="80" name="직사각형 72">
            <a:extLst>
              <a:ext uri="{FF2B5EF4-FFF2-40B4-BE49-F238E27FC236}">
                <a16:creationId xmlns:a16="http://schemas.microsoft.com/office/drawing/2014/main" id="{454367AD-7B0D-5913-8083-953E3D4B0898}"/>
              </a:ext>
            </a:extLst>
          </p:cNvPr>
          <p:cNvSpPr/>
          <p:nvPr/>
        </p:nvSpPr>
        <p:spPr>
          <a:xfrm>
            <a:off x="4318441" y="2209478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내부 임직원</a:t>
            </a:r>
          </a:p>
        </p:txBody>
      </p:sp>
      <p:sp>
        <p:nvSpPr>
          <p:cNvPr id="82" name="직사각형 72">
            <a:extLst>
              <a:ext uri="{FF2B5EF4-FFF2-40B4-BE49-F238E27FC236}">
                <a16:creationId xmlns:a16="http://schemas.microsoft.com/office/drawing/2014/main" id="{27F2DB4C-AFB2-4183-B763-66F6385B832F}"/>
              </a:ext>
            </a:extLst>
          </p:cNvPr>
          <p:cNvSpPr/>
          <p:nvPr/>
        </p:nvSpPr>
        <p:spPr>
          <a:xfrm>
            <a:off x="2362553" y="2804944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 서비스</a:t>
            </a:r>
          </a:p>
        </p:txBody>
      </p:sp>
      <p:sp>
        <p:nvSpPr>
          <p:cNvPr id="85" name="직사각형 72">
            <a:extLst>
              <a:ext uri="{FF2B5EF4-FFF2-40B4-BE49-F238E27FC236}">
                <a16:creationId xmlns:a16="http://schemas.microsoft.com/office/drawing/2014/main" id="{53C63B03-DBA4-5773-729E-134F24414D46}"/>
              </a:ext>
            </a:extLst>
          </p:cNvPr>
          <p:cNvSpPr/>
          <p:nvPr/>
        </p:nvSpPr>
        <p:spPr>
          <a:xfrm>
            <a:off x="4318441" y="2804944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내부 </a:t>
            </a:r>
            <a:r>
              <a:rPr lang="ko-KR" altLang="en-US" sz="1400" b="1" spc="-15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직원용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서비스</a:t>
            </a:r>
          </a:p>
        </p:txBody>
      </p:sp>
      <p:sp>
        <p:nvSpPr>
          <p:cNvPr id="86" name="직사각형 72">
            <a:extLst>
              <a:ext uri="{FF2B5EF4-FFF2-40B4-BE49-F238E27FC236}">
                <a16:creationId xmlns:a16="http://schemas.microsoft.com/office/drawing/2014/main" id="{E77A1643-BCDC-A35E-7B86-D23F6B165D64}"/>
              </a:ext>
            </a:extLst>
          </p:cNvPr>
          <p:cNvSpPr/>
          <p:nvPr/>
        </p:nvSpPr>
        <p:spPr>
          <a:xfrm>
            <a:off x="2362552" y="3442474"/>
            <a:ext cx="373344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체계</a:t>
            </a: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누가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역할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언제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Life-cycle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무엇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책무</a:t>
            </a:r>
          </a:p>
        </p:txBody>
      </p:sp>
      <p:sp>
        <p:nvSpPr>
          <p:cNvPr id="87" name="직사각형 72">
            <a:extLst>
              <a:ext uri="{FF2B5EF4-FFF2-40B4-BE49-F238E27FC236}">
                <a16:creationId xmlns:a16="http://schemas.microsoft.com/office/drawing/2014/main" id="{056B38B1-9A29-FD27-868C-C1CB78D42E0E}"/>
              </a:ext>
            </a:extLst>
          </p:cNvPr>
          <p:cNvSpPr/>
          <p:nvPr/>
        </p:nvSpPr>
        <p:spPr>
          <a:xfrm>
            <a:off x="2362553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조직</a:t>
            </a:r>
          </a:p>
        </p:txBody>
      </p:sp>
      <p:sp>
        <p:nvSpPr>
          <p:cNvPr id="88" name="직사각형 72">
            <a:extLst>
              <a:ext uri="{FF2B5EF4-FFF2-40B4-BE49-F238E27FC236}">
                <a16:creationId xmlns:a16="http://schemas.microsoft.com/office/drawing/2014/main" id="{A63B8291-DAF7-8567-DD35-7073C51B51DB}"/>
              </a:ext>
            </a:extLst>
          </p:cNvPr>
          <p:cNvSpPr/>
          <p:nvPr/>
        </p:nvSpPr>
        <p:spPr>
          <a:xfrm>
            <a:off x="3657792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</a:t>
            </a:r>
          </a:p>
        </p:txBody>
      </p:sp>
      <p:sp>
        <p:nvSpPr>
          <p:cNvPr id="90" name="직사각형 72">
            <a:extLst>
              <a:ext uri="{FF2B5EF4-FFF2-40B4-BE49-F238E27FC236}">
                <a16:creationId xmlns:a16="http://schemas.microsoft.com/office/drawing/2014/main" id="{1C7128E1-E85A-DD1A-C00B-9E120AA98DF0}"/>
              </a:ext>
            </a:extLst>
          </p:cNvPr>
          <p:cNvSpPr/>
          <p:nvPr/>
        </p:nvSpPr>
        <p:spPr>
          <a:xfrm>
            <a:off x="4953033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이해관계자</a:t>
            </a:r>
          </a:p>
        </p:txBody>
      </p:sp>
      <p:sp>
        <p:nvSpPr>
          <p:cNvPr id="98" name="직사각형 72">
            <a:extLst>
              <a:ext uri="{FF2B5EF4-FFF2-40B4-BE49-F238E27FC236}">
                <a16:creationId xmlns:a16="http://schemas.microsoft.com/office/drawing/2014/main" id="{225C44DD-F583-F99D-E380-56DF290E12A9}"/>
              </a:ext>
            </a:extLst>
          </p:cNvPr>
          <p:cNvSpPr/>
          <p:nvPr/>
        </p:nvSpPr>
        <p:spPr>
          <a:xfrm>
            <a:off x="2362553" y="4723263"/>
            <a:ext cx="373344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 시스템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BE1859A-E6FE-5B9F-42ED-47766EAD107C}"/>
              </a:ext>
            </a:extLst>
          </p:cNvPr>
          <p:cNvGrpSpPr/>
          <p:nvPr/>
        </p:nvGrpSpPr>
        <p:grpSpPr>
          <a:xfrm>
            <a:off x="2362553" y="5366522"/>
            <a:ext cx="3733447" cy="485127"/>
            <a:chOff x="2362553" y="5366522"/>
            <a:chExt cx="2968752" cy="485127"/>
          </a:xfrm>
        </p:grpSpPr>
        <p:sp>
          <p:nvSpPr>
            <p:cNvPr id="99" name="직사각형 72">
              <a:extLst>
                <a:ext uri="{FF2B5EF4-FFF2-40B4-BE49-F238E27FC236}">
                  <a16:creationId xmlns:a16="http://schemas.microsoft.com/office/drawing/2014/main" id="{0481742E-8694-7DBF-E039-E869B1A16060}"/>
                </a:ext>
              </a:extLst>
            </p:cNvPr>
            <p:cNvSpPr/>
            <p:nvPr/>
          </p:nvSpPr>
          <p:spPr>
            <a:xfrm>
              <a:off x="2362553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설명가능성</a:t>
              </a:r>
            </a:p>
          </p:txBody>
        </p:sp>
        <p:sp>
          <p:nvSpPr>
            <p:cNvPr id="107" name="직사각형 72">
              <a:extLst>
                <a:ext uri="{FF2B5EF4-FFF2-40B4-BE49-F238E27FC236}">
                  <a16:creationId xmlns:a16="http://schemas.microsoft.com/office/drawing/2014/main" id="{2EDB227F-6BDD-E85E-D8E3-8281F7162098}"/>
                </a:ext>
              </a:extLst>
            </p:cNvPr>
            <p:cNvSpPr/>
            <p:nvPr/>
          </p:nvSpPr>
          <p:spPr>
            <a:xfrm>
              <a:off x="3127248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3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모델 편향성</a:t>
              </a:r>
            </a:p>
          </p:txBody>
        </p:sp>
        <p:sp>
          <p:nvSpPr>
            <p:cNvPr id="109" name="직사각형 72">
              <a:extLst>
                <a:ext uri="{FF2B5EF4-FFF2-40B4-BE49-F238E27FC236}">
                  <a16:creationId xmlns:a16="http://schemas.microsoft.com/office/drawing/2014/main" id="{E9A6E749-E7FF-525B-4327-3E4D1A0E736F}"/>
                </a:ext>
              </a:extLst>
            </p:cNvPr>
            <p:cNvSpPr/>
            <p:nvPr/>
          </p:nvSpPr>
          <p:spPr>
            <a:xfrm>
              <a:off x="3891943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데이터 편향성</a:t>
              </a:r>
            </a:p>
          </p:txBody>
        </p:sp>
        <p:sp>
          <p:nvSpPr>
            <p:cNvPr id="112" name="직사각형 72">
              <a:extLst>
                <a:ext uri="{FF2B5EF4-FFF2-40B4-BE49-F238E27FC236}">
                  <a16:creationId xmlns:a16="http://schemas.microsoft.com/office/drawing/2014/main" id="{2EA69991-58D3-4727-5873-AE2196653F0A}"/>
                </a:ext>
              </a:extLst>
            </p:cNvPr>
            <p:cNvSpPr/>
            <p:nvPr/>
          </p:nvSpPr>
          <p:spPr>
            <a:xfrm>
              <a:off x="4656639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15" name="사각형: 둥근 모서리 53">
            <a:extLst>
              <a:ext uri="{FF2B5EF4-FFF2-40B4-BE49-F238E27FC236}">
                <a16:creationId xmlns:a16="http://schemas.microsoft.com/office/drawing/2014/main" id="{0C5DB5CB-B8E2-2B78-09F1-268599A8255F}"/>
              </a:ext>
            </a:extLst>
          </p:cNvPr>
          <p:cNvSpPr/>
          <p:nvPr/>
        </p:nvSpPr>
        <p:spPr>
          <a:xfrm>
            <a:off x="-437340" y="3993881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17" name="사각형: 둥근 모서리 53">
            <a:extLst>
              <a:ext uri="{FF2B5EF4-FFF2-40B4-BE49-F238E27FC236}">
                <a16:creationId xmlns:a16="http://schemas.microsoft.com/office/drawing/2014/main" id="{C7841237-AB5D-8D0E-826E-D06465A21733}"/>
              </a:ext>
            </a:extLst>
          </p:cNvPr>
          <p:cNvSpPr/>
          <p:nvPr/>
        </p:nvSpPr>
        <p:spPr>
          <a:xfrm>
            <a:off x="-437340" y="4297045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118" name="사각형: 둥근 모서리 53">
            <a:extLst>
              <a:ext uri="{FF2B5EF4-FFF2-40B4-BE49-F238E27FC236}">
                <a16:creationId xmlns:a16="http://schemas.microsoft.com/office/drawing/2014/main" id="{E93CF13B-B5B2-67E1-28C7-695FEAD8DFA6}"/>
              </a:ext>
            </a:extLst>
          </p:cNvPr>
          <p:cNvSpPr/>
          <p:nvPr/>
        </p:nvSpPr>
        <p:spPr>
          <a:xfrm>
            <a:off x="-629323" y="3368308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119" name="사각형: 둥근 모서리 53">
            <a:extLst>
              <a:ext uri="{FF2B5EF4-FFF2-40B4-BE49-F238E27FC236}">
                <a16:creationId xmlns:a16="http://schemas.microsoft.com/office/drawing/2014/main" id="{2BD226BC-4CA2-5F8C-CF97-F3E44B31BD1B}"/>
              </a:ext>
            </a:extLst>
          </p:cNvPr>
          <p:cNvSpPr/>
          <p:nvPr/>
        </p:nvSpPr>
        <p:spPr>
          <a:xfrm>
            <a:off x="-458668" y="3368308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120" name="사각형: 둥근 모서리 53">
            <a:extLst>
              <a:ext uri="{FF2B5EF4-FFF2-40B4-BE49-F238E27FC236}">
                <a16:creationId xmlns:a16="http://schemas.microsoft.com/office/drawing/2014/main" id="{F47FCAEE-643C-5FED-20D2-39358C604000}"/>
              </a:ext>
            </a:extLst>
          </p:cNvPr>
          <p:cNvSpPr/>
          <p:nvPr/>
        </p:nvSpPr>
        <p:spPr>
          <a:xfrm>
            <a:off x="-575069" y="4679373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123" name="직사각형 13">
            <a:extLst>
              <a:ext uri="{FF2B5EF4-FFF2-40B4-BE49-F238E27FC236}">
                <a16:creationId xmlns:a16="http://schemas.microsoft.com/office/drawing/2014/main" id="{5F257807-3059-AFFB-0D4A-AFB2BD5B442A}"/>
              </a:ext>
            </a:extLst>
          </p:cNvPr>
          <p:cNvSpPr/>
          <p:nvPr/>
        </p:nvSpPr>
        <p:spPr>
          <a:xfrm>
            <a:off x="6943985" y="4698436"/>
            <a:ext cx="4680000" cy="258114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Life-cycle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별 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위험관리 시스템 </a:t>
            </a:r>
          </a:p>
        </p:txBody>
      </p:sp>
    </p:spTree>
    <p:extLst>
      <p:ext uri="{BB962C8B-B14F-4D97-AF65-F5344CB8AC3E}">
        <p14:creationId xmlns:p14="http://schemas.microsoft.com/office/powerpoint/2010/main" val="1671694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667B80-60CD-7BBA-7991-05DFA1089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647D-6BAB-5C41-BE2B-6E040BCB2B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본 사업의 기대 효과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D7577E-AB31-BB98-259B-21926B5F22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6965"/>
            <a:ext cx="11520000" cy="325410"/>
          </a:xfrm>
        </p:spPr>
        <p:txBody>
          <a:bodyPr/>
          <a:lstStyle/>
          <a:p>
            <a:r>
              <a:rPr lang="ko-KR" altLang="en-US"/>
              <a:t>본 컨설팅을 통해 고객을 보호하고</a:t>
            </a:r>
            <a:r>
              <a:rPr lang="en-US" altLang="ko-KR"/>
              <a:t>,</a:t>
            </a:r>
            <a:r>
              <a:rPr lang="ko-KR" altLang="en-US"/>
              <a:t> 감독기관의 가이드라인을 선제적으로 준수하여 </a:t>
            </a:r>
            <a:r>
              <a:rPr lang="en-US" altLang="ko-KR"/>
              <a:t>AI  </a:t>
            </a:r>
            <a:r>
              <a:rPr lang="ko-KR" altLang="en-US"/>
              <a:t>위험관리 체계 수립을 선도함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25EAFE-9C54-1A2F-5096-01AC1DA06BC0}"/>
              </a:ext>
            </a:extLst>
          </p:cNvPr>
          <p:cNvSpPr/>
          <p:nvPr/>
        </p:nvSpPr>
        <p:spPr>
          <a:xfrm>
            <a:off x="84073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고객 보호 및 운영 리스크 관리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FFA904FC-2354-90CB-7089-241546672688}"/>
              </a:ext>
            </a:extLst>
          </p:cNvPr>
          <p:cNvSpPr/>
          <p:nvPr/>
        </p:nvSpPr>
        <p:spPr>
          <a:xfrm>
            <a:off x="56895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고객 보호를 최우선 가치로 하는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국내외 벤치마킹 기반 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위험평가 도구개발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통제 항목 표준화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점검 가이드 수립을 통한 안정성 확보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89A215-6D06-71A1-F873-31134B0F72FE}"/>
              </a:ext>
            </a:extLst>
          </p:cNvPr>
          <p:cNvSpPr/>
          <p:nvPr/>
        </p:nvSpPr>
        <p:spPr>
          <a:xfrm>
            <a:off x="376681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금융권 </a:t>
            </a:r>
            <a:br>
              <a:rPr lang="en-US" altLang="ko-KR" sz="1600" b="1"/>
            </a:br>
            <a:r>
              <a:rPr lang="en-US" altLang="ko-KR" sz="1600" b="1"/>
              <a:t>AI </a:t>
            </a:r>
            <a:r>
              <a:rPr lang="ko-KR" altLang="en-US" sz="1600" b="1"/>
              <a:t>거버넌스 선도적 역할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AAB7B68B-6FCA-F918-DD65-DD9ACB52EFA7}"/>
              </a:ext>
            </a:extLst>
          </p:cNvPr>
          <p:cNvSpPr/>
          <p:nvPr/>
        </p:nvSpPr>
        <p:spPr>
          <a:xfrm>
            <a:off x="349503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전문업체 등과의 지속적인 협업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소통을 통한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체계 고도화 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체계의 시스템구축요건 도출 등을 수행하며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위험관리 체계 수립 선도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AC9CC7-F484-3B38-3817-5FCACCCC6259}"/>
              </a:ext>
            </a:extLst>
          </p:cNvPr>
          <p:cNvSpPr/>
          <p:nvPr/>
        </p:nvSpPr>
        <p:spPr>
          <a:xfrm>
            <a:off x="669289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안전한 </a:t>
            </a:r>
            <a:br>
              <a:rPr lang="en-US" altLang="ko-KR" sz="1600" b="1"/>
            </a:br>
            <a:r>
              <a:rPr lang="en-US" altLang="ko-KR" sz="1600" b="1"/>
              <a:t>AI </a:t>
            </a:r>
            <a:r>
              <a:rPr lang="ko-KR" altLang="en-US" sz="1600" b="1"/>
              <a:t>도입 가속화</a:t>
            </a: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86AB4355-A025-9E92-4155-1E1470394C8D}"/>
              </a:ext>
            </a:extLst>
          </p:cNvPr>
          <p:cNvSpPr/>
          <p:nvPr/>
        </p:nvSpPr>
        <p:spPr>
          <a:xfrm>
            <a:off x="642111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관련 실무자의 업무 불확실성 해소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라이프사이클별 위험관리 체계 도입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환경 특성을 반영한 실효성 있는 개선안 마련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FB21B7-9B6A-2337-40FB-01D7C041324A}"/>
              </a:ext>
            </a:extLst>
          </p:cNvPr>
          <p:cNvSpPr/>
          <p:nvPr/>
        </p:nvSpPr>
        <p:spPr>
          <a:xfrm>
            <a:off x="9618979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AI </a:t>
            </a:r>
            <a:r>
              <a:rPr lang="ko-KR" altLang="en-US" sz="1600" b="1"/>
              <a:t>서비스</a:t>
            </a:r>
            <a:r>
              <a:rPr lang="en-US" altLang="ko-KR" sz="1600" b="1"/>
              <a:t> </a:t>
            </a:r>
            <a:r>
              <a:rPr lang="ko-KR" altLang="en-US" sz="1600" b="1"/>
              <a:t>도입 체계 표준화</a:t>
            </a: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871334D5-9F7C-5401-D594-9C4D1B1C8641}"/>
              </a:ext>
            </a:extLst>
          </p:cNvPr>
          <p:cNvSpPr/>
          <p:nvPr/>
        </p:nvSpPr>
        <p:spPr>
          <a:xfrm>
            <a:off x="9347200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도입 시 필요한 프로세스 및 기준 표준화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중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저 위험등급별 통제 및 관리 절차 상이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940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27FF-856D-7EB7-AA7C-C660EFCB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4D4454E7-5222-7E79-CDA0-BADD72D297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D2F2307-577F-BC2B-9390-BC74FDB708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거버넌스 프레임워크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608C734-9A48-6C6B-C284-66C46F8FE0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가지 관점</a:t>
            </a:r>
            <a:r>
              <a:rPr lang="ko-KR" altLang="en-US" baseline="30000"/>
              <a:t>조직</a:t>
            </a:r>
            <a:r>
              <a:rPr lang="en-US" altLang="ko-KR" baseline="30000"/>
              <a:t>, </a:t>
            </a:r>
            <a:r>
              <a:rPr lang="ko-KR" altLang="en-US" baseline="30000"/>
              <a:t>협의체</a:t>
            </a:r>
            <a:r>
              <a:rPr lang="en-US" altLang="ko-KR" baseline="30000"/>
              <a:t>, </a:t>
            </a:r>
            <a:r>
              <a:rPr lang="ko-KR" altLang="en-US" baseline="30000"/>
              <a:t>규정</a:t>
            </a:r>
            <a:r>
              <a:rPr lang="en-US" altLang="ko-KR" baseline="30000"/>
              <a:t>/</a:t>
            </a:r>
            <a:r>
              <a:rPr lang="ko-KR" altLang="en-US" baseline="30000"/>
              <a:t>지침</a:t>
            </a:r>
            <a:r>
              <a:rPr lang="en-US" altLang="ko-KR" baseline="30000"/>
              <a:t>, </a:t>
            </a:r>
            <a:r>
              <a:rPr lang="ko-KR" altLang="en-US" baseline="30000"/>
              <a:t>프로세스</a:t>
            </a:r>
            <a:r>
              <a:rPr lang="en-US" altLang="ko-KR" baseline="30000"/>
              <a:t>, </a:t>
            </a:r>
            <a:r>
              <a:rPr lang="ko-KR" altLang="en-US" baseline="30000"/>
              <a:t>활용 도구</a:t>
            </a:r>
            <a:r>
              <a:rPr lang="en-US" altLang="ko-KR" baseline="30000"/>
              <a:t>&amp;</a:t>
            </a:r>
            <a:r>
              <a:rPr lang="ko-KR" altLang="en-US" baseline="30000"/>
              <a:t>문서</a:t>
            </a:r>
            <a:r>
              <a:rPr lang="en-US" altLang="ko-KR" baseline="30000"/>
              <a:t>,</a:t>
            </a:r>
            <a:r>
              <a:rPr lang="ko-KR" altLang="en-US"/>
              <a:t>을 기반으로 </a:t>
            </a:r>
            <a:r>
              <a:rPr lang="en-US" altLang="ko-KR"/>
              <a:t>AI</a:t>
            </a:r>
            <a:r>
              <a:rPr lang="ko-KR" altLang="en-US"/>
              <a:t>서비스 개발 全 라이프사이클에서 발생하는 </a:t>
            </a:r>
            <a:r>
              <a:rPr lang="en-US" altLang="ko-KR"/>
              <a:t>AI</a:t>
            </a:r>
            <a:r>
              <a:rPr lang="ko-KR" altLang="en-US"/>
              <a:t>위험을 식별 및 평가함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75A1C1C4-B362-A9EF-65BC-C6D6EDDCA37D}"/>
              </a:ext>
            </a:extLst>
          </p:cNvPr>
          <p:cNvSpPr/>
          <p:nvPr/>
        </p:nvSpPr>
        <p:spPr>
          <a:xfrm>
            <a:off x="334963" y="1736725"/>
            <a:ext cx="1341637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조직</a:t>
            </a:r>
          </a:p>
        </p:txBody>
      </p: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A360AE63-2772-866C-DA49-8E48B968E181}"/>
              </a:ext>
            </a:extLst>
          </p:cNvPr>
          <p:cNvSpPr/>
          <p:nvPr/>
        </p:nvSpPr>
        <p:spPr>
          <a:xfrm>
            <a:off x="334965" y="2559431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기획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BCC57B88-42D7-FA34-F963-02880A173594}"/>
              </a:ext>
            </a:extLst>
          </p:cNvPr>
          <p:cNvSpPr/>
          <p:nvPr/>
        </p:nvSpPr>
        <p:spPr>
          <a:xfrm>
            <a:off x="334965" y="5417489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36" name="Google Shape;134;p5">
            <a:extLst>
              <a:ext uri="{FF2B5EF4-FFF2-40B4-BE49-F238E27FC236}">
                <a16:creationId xmlns:a16="http://schemas.microsoft.com/office/drawing/2014/main" id="{09499965-BE0F-98CE-B340-0DB09EFF7C0B}"/>
              </a:ext>
            </a:extLst>
          </p:cNvPr>
          <p:cNvSpPr/>
          <p:nvPr/>
        </p:nvSpPr>
        <p:spPr>
          <a:xfrm>
            <a:off x="334965" y="4464805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37" name="Google Shape;134;p5">
            <a:extLst>
              <a:ext uri="{FF2B5EF4-FFF2-40B4-BE49-F238E27FC236}">
                <a16:creationId xmlns:a16="http://schemas.microsoft.com/office/drawing/2014/main" id="{F798C880-2DD1-CBA5-BD45-BE6B353F33A7}"/>
              </a:ext>
            </a:extLst>
          </p:cNvPr>
          <p:cNvSpPr/>
          <p:nvPr/>
        </p:nvSpPr>
        <p:spPr>
          <a:xfrm>
            <a:off x="334965" y="3512118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04B78FCC-EA79-3917-B7DB-114A1FDBA5DF}"/>
              </a:ext>
            </a:extLst>
          </p:cNvPr>
          <p:cNvSpPr/>
          <p:nvPr/>
        </p:nvSpPr>
        <p:spPr>
          <a:xfrm>
            <a:off x="1845495" y="1736725"/>
            <a:ext cx="2683274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협의체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F463860E-EFED-203B-7F76-BB05412CA30A}"/>
              </a:ext>
            </a:extLst>
          </p:cNvPr>
          <p:cNvSpPr/>
          <p:nvPr/>
        </p:nvSpPr>
        <p:spPr>
          <a:xfrm>
            <a:off x="915782" y="5228794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AC5565CF-1250-5DDB-17CF-AA8307D74AEF}"/>
              </a:ext>
            </a:extLst>
          </p:cNvPr>
          <p:cNvSpPr/>
          <p:nvPr/>
        </p:nvSpPr>
        <p:spPr>
          <a:xfrm>
            <a:off x="915782" y="427610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1B2ECA0B-133C-D9E2-6D2A-51E7F6EC66FB}"/>
              </a:ext>
            </a:extLst>
          </p:cNvPr>
          <p:cNvSpPr/>
          <p:nvPr/>
        </p:nvSpPr>
        <p:spPr>
          <a:xfrm>
            <a:off x="915782" y="3323420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2BB9D258-4923-92D5-2468-A9C4950A90C3}"/>
              </a:ext>
            </a:extLst>
          </p:cNvPr>
          <p:cNvSpPr/>
          <p:nvPr/>
        </p:nvSpPr>
        <p:spPr>
          <a:xfrm>
            <a:off x="4771826" y="1736725"/>
            <a:ext cx="2012456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규정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지침</a:t>
            </a:r>
          </a:p>
        </p:txBody>
      </p:sp>
      <p:sp>
        <p:nvSpPr>
          <p:cNvPr id="46" name="Google Shape;134;p5">
            <a:extLst>
              <a:ext uri="{FF2B5EF4-FFF2-40B4-BE49-F238E27FC236}">
                <a16:creationId xmlns:a16="http://schemas.microsoft.com/office/drawing/2014/main" id="{9C7470F1-C647-6650-A2AA-D23FF73B4F29}"/>
              </a:ext>
            </a:extLst>
          </p:cNvPr>
          <p:cNvSpPr/>
          <p:nvPr/>
        </p:nvSpPr>
        <p:spPr>
          <a:xfrm>
            <a:off x="4771826" y="2559430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규정서</a:t>
            </a:r>
          </a:p>
        </p:txBody>
      </p:sp>
      <p:sp>
        <p:nvSpPr>
          <p:cNvPr id="49" name="Google Shape;134;p5">
            <a:extLst>
              <a:ext uri="{FF2B5EF4-FFF2-40B4-BE49-F238E27FC236}">
                <a16:creationId xmlns:a16="http://schemas.microsoft.com/office/drawing/2014/main" id="{E95D5D77-2AF7-3F86-1DA2-C45A32045241}"/>
              </a:ext>
            </a:extLst>
          </p:cNvPr>
          <p:cNvSpPr/>
          <p:nvPr/>
        </p:nvSpPr>
        <p:spPr>
          <a:xfrm>
            <a:off x="4771826" y="5159387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 운영 지침서</a:t>
            </a:r>
          </a:p>
        </p:txBody>
      </p:sp>
      <p:sp>
        <p:nvSpPr>
          <p:cNvPr id="50" name="Google Shape;134;p5">
            <a:extLst>
              <a:ext uri="{FF2B5EF4-FFF2-40B4-BE49-F238E27FC236}">
                <a16:creationId xmlns:a16="http://schemas.microsoft.com/office/drawing/2014/main" id="{0E140D49-1C9F-04DB-FC0A-F3ECDB0FCCBD}"/>
              </a:ext>
            </a:extLst>
          </p:cNvPr>
          <p:cNvSpPr/>
          <p:nvPr/>
        </p:nvSpPr>
        <p:spPr>
          <a:xfrm>
            <a:off x="4771826" y="3859408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운영 지침서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4F45F318-66E3-6378-776C-1792C54CE7C4}"/>
              </a:ext>
            </a:extLst>
          </p:cNvPr>
          <p:cNvSpPr/>
          <p:nvPr/>
        </p:nvSpPr>
        <p:spPr>
          <a:xfrm>
            <a:off x="6869563" y="1736725"/>
            <a:ext cx="2809232" cy="288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프로세스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115C6E-D72D-4D08-5822-85BCD0FC080B}"/>
              </a:ext>
            </a:extLst>
          </p:cNvPr>
          <p:cNvSpPr/>
          <p:nvPr/>
        </p:nvSpPr>
        <p:spPr>
          <a:xfrm>
            <a:off x="6869562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기획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설계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26DDF0-A0B4-6EBF-568F-D5A4B60DEA06}"/>
              </a:ext>
            </a:extLst>
          </p:cNvPr>
          <p:cNvSpPr/>
          <p:nvPr/>
        </p:nvSpPr>
        <p:spPr>
          <a:xfrm>
            <a:off x="7605292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5EFC7DA-4EA9-B044-1FA6-4E20EF159C83}"/>
              </a:ext>
            </a:extLst>
          </p:cNvPr>
          <p:cNvSpPr/>
          <p:nvPr/>
        </p:nvSpPr>
        <p:spPr>
          <a:xfrm>
            <a:off x="8341021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검증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9B93EB-1CFA-12D7-DAB9-9159CA9CD7A3}"/>
              </a:ext>
            </a:extLst>
          </p:cNvPr>
          <p:cNvSpPr/>
          <p:nvPr/>
        </p:nvSpPr>
        <p:spPr>
          <a:xfrm>
            <a:off x="9076750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모니터링</a:t>
            </a:r>
          </a:p>
        </p:txBody>
      </p:sp>
      <p:sp>
        <p:nvSpPr>
          <p:cNvPr id="60" name="Google Shape;134;p5">
            <a:extLst>
              <a:ext uri="{FF2B5EF4-FFF2-40B4-BE49-F238E27FC236}">
                <a16:creationId xmlns:a16="http://schemas.microsoft.com/office/drawing/2014/main" id="{BF049919-3FD7-329A-DFDE-F87A1AFA6A56}"/>
              </a:ext>
            </a:extLst>
          </p:cNvPr>
          <p:cNvSpPr/>
          <p:nvPr/>
        </p:nvSpPr>
        <p:spPr>
          <a:xfrm>
            <a:off x="6869563" y="2559431"/>
            <a:ext cx="2809230" cy="3578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961F16A-90CE-D2E3-B872-EF3010147921}"/>
              </a:ext>
            </a:extLst>
          </p:cNvPr>
          <p:cNvCxnSpPr>
            <a:cxnSpLocks/>
          </p:cNvCxnSpPr>
          <p:nvPr/>
        </p:nvCxnSpPr>
        <p:spPr>
          <a:xfrm>
            <a:off x="7538450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820A2C0-336B-8CD6-FB87-761311C37482}"/>
              </a:ext>
            </a:extLst>
          </p:cNvPr>
          <p:cNvCxnSpPr>
            <a:cxnSpLocks/>
          </p:cNvCxnSpPr>
          <p:nvPr/>
        </p:nvCxnSpPr>
        <p:spPr>
          <a:xfrm>
            <a:off x="8274180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FDE97B2-AB6F-6706-E435-D6F02F6D6B02}"/>
              </a:ext>
            </a:extLst>
          </p:cNvPr>
          <p:cNvCxnSpPr>
            <a:cxnSpLocks/>
          </p:cNvCxnSpPr>
          <p:nvPr/>
        </p:nvCxnSpPr>
        <p:spPr>
          <a:xfrm>
            <a:off x="9009909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FE2DF19-267B-CBB0-1637-6B19382A991D}"/>
              </a:ext>
            </a:extLst>
          </p:cNvPr>
          <p:cNvSpPr/>
          <p:nvPr/>
        </p:nvSpPr>
        <p:spPr>
          <a:xfrm>
            <a:off x="7009881" y="2674460"/>
            <a:ext cx="2528594" cy="33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위험 식별 및 평가 관점에서 신규로 도출된 조직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협의체 중심으로 역할과 프로세스 정의</a:t>
            </a:r>
            <a:endParaRPr lang="en-US" altLang="ko-KR" sz="120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+mn-ea"/>
              </a:rPr>
              <a:t>他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Task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內 상세 정의 </a:t>
            </a:r>
            <a:r>
              <a:rPr lang="en-US" altLang="ko-KR" sz="1200" baseline="30000">
                <a:solidFill>
                  <a:schemeClr val="tx1"/>
                </a:solidFill>
                <a:latin typeface="+mn-ea"/>
              </a:rPr>
              <a:t>1)</a:t>
            </a:r>
            <a:endParaRPr lang="ko-KR" altLang="en-US" sz="1200" baseline="30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E215C36A-4460-278C-C323-480CA75E98F4}"/>
              </a:ext>
            </a:extLst>
          </p:cNvPr>
          <p:cNvSpPr/>
          <p:nvPr/>
        </p:nvSpPr>
        <p:spPr>
          <a:xfrm>
            <a:off x="9879505" y="1736725"/>
            <a:ext cx="2012456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 도구 및 문서</a:t>
            </a:r>
          </a:p>
        </p:txBody>
      </p:sp>
      <p:sp>
        <p:nvSpPr>
          <p:cNvPr id="5" name="Google Shape;134;p5">
            <a:extLst>
              <a:ext uri="{FF2B5EF4-FFF2-40B4-BE49-F238E27FC236}">
                <a16:creationId xmlns:a16="http://schemas.microsoft.com/office/drawing/2014/main" id="{35976B1A-EB2B-3482-BD22-DE063FCD147D}"/>
              </a:ext>
            </a:extLst>
          </p:cNvPr>
          <p:cNvSpPr/>
          <p:nvPr/>
        </p:nvSpPr>
        <p:spPr>
          <a:xfrm>
            <a:off x="9899990" y="2559430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템플릿</a:t>
            </a:r>
          </a:p>
        </p:txBody>
      </p:sp>
      <p:sp>
        <p:nvSpPr>
          <p:cNvPr id="6" name="Google Shape;134;p5">
            <a:extLst>
              <a:ext uri="{FF2B5EF4-FFF2-40B4-BE49-F238E27FC236}">
                <a16:creationId xmlns:a16="http://schemas.microsoft.com/office/drawing/2014/main" id="{E2CC09C3-0B53-708E-ADDB-6F576614C63C}"/>
              </a:ext>
            </a:extLst>
          </p:cNvPr>
          <p:cNvSpPr/>
          <p:nvPr/>
        </p:nvSpPr>
        <p:spPr>
          <a:xfrm>
            <a:off x="9899990" y="5159387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 등급 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식별 평가서</a:t>
            </a:r>
          </a:p>
        </p:txBody>
      </p:sp>
      <p:sp>
        <p:nvSpPr>
          <p:cNvPr id="7" name="Google Shape;134;p5">
            <a:extLst>
              <a:ext uri="{FF2B5EF4-FFF2-40B4-BE49-F238E27FC236}">
                <a16:creationId xmlns:a16="http://schemas.microsoft.com/office/drawing/2014/main" id="{2AB7D77E-A9EC-0098-9B46-2B2C19D7FCDF}"/>
              </a:ext>
            </a:extLst>
          </p:cNvPr>
          <p:cNvSpPr/>
          <p:nvPr/>
        </p:nvSpPr>
        <p:spPr>
          <a:xfrm>
            <a:off x="9899990" y="3859409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체크리스트</a:t>
            </a:r>
          </a:p>
        </p:txBody>
      </p:sp>
      <p:sp>
        <p:nvSpPr>
          <p:cNvPr id="11" name="자유형: 도형 75">
            <a:extLst>
              <a:ext uri="{FF2B5EF4-FFF2-40B4-BE49-F238E27FC236}">
                <a16:creationId xmlns:a16="http://schemas.microsoft.com/office/drawing/2014/main" id="{31A4FCA0-B5A0-94EF-DD11-65A02EBE4076}"/>
              </a:ext>
            </a:extLst>
          </p:cNvPr>
          <p:cNvSpPr/>
          <p:nvPr/>
        </p:nvSpPr>
        <p:spPr>
          <a:xfrm>
            <a:off x="5688054" y="490844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자유형: 도형 76">
            <a:extLst>
              <a:ext uri="{FF2B5EF4-FFF2-40B4-BE49-F238E27FC236}">
                <a16:creationId xmlns:a16="http://schemas.microsoft.com/office/drawing/2014/main" id="{70CFEEA5-D4AC-E021-1B2A-F715CB262744}"/>
              </a:ext>
            </a:extLst>
          </p:cNvPr>
          <p:cNvSpPr/>
          <p:nvPr/>
        </p:nvSpPr>
        <p:spPr>
          <a:xfrm>
            <a:off x="5688054" y="3608469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자유형: 도형 75">
            <a:extLst>
              <a:ext uri="{FF2B5EF4-FFF2-40B4-BE49-F238E27FC236}">
                <a16:creationId xmlns:a16="http://schemas.microsoft.com/office/drawing/2014/main" id="{CD72CA88-F25B-F396-3A82-69B4CF47AE83}"/>
              </a:ext>
            </a:extLst>
          </p:cNvPr>
          <p:cNvSpPr/>
          <p:nvPr/>
        </p:nvSpPr>
        <p:spPr>
          <a:xfrm>
            <a:off x="10805976" y="490844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자유형: 도형 76">
            <a:extLst>
              <a:ext uri="{FF2B5EF4-FFF2-40B4-BE49-F238E27FC236}">
                <a16:creationId xmlns:a16="http://schemas.microsoft.com/office/drawing/2014/main" id="{777D1087-C6B5-9480-1529-BA08F70EDF55}"/>
              </a:ext>
            </a:extLst>
          </p:cNvPr>
          <p:cNvSpPr/>
          <p:nvPr/>
        </p:nvSpPr>
        <p:spPr>
          <a:xfrm>
            <a:off x="10805976" y="3608469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사각형: 둥근 모서리 53">
            <a:extLst>
              <a:ext uri="{FF2B5EF4-FFF2-40B4-BE49-F238E27FC236}">
                <a16:creationId xmlns:a16="http://schemas.microsoft.com/office/drawing/2014/main" id="{EEA8A079-0BD6-B156-F7F1-5E1573CAF8BD}"/>
              </a:ext>
            </a:extLst>
          </p:cNvPr>
          <p:cNvSpPr/>
          <p:nvPr/>
        </p:nvSpPr>
        <p:spPr>
          <a:xfrm>
            <a:off x="525146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9" name="사각형: 둥근 모서리 53">
            <a:extLst>
              <a:ext uri="{FF2B5EF4-FFF2-40B4-BE49-F238E27FC236}">
                <a16:creationId xmlns:a16="http://schemas.microsoft.com/office/drawing/2014/main" id="{AF060DC5-113E-7CAE-5AED-22ECB2B3DF25}"/>
              </a:ext>
            </a:extLst>
          </p:cNvPr>
          <p:cNvSpPr/>
          <p:nvPr/>
        </p:nvSpPr>
        <p:spPr>
          <a:xfrm>
            <a:off x="2105766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21" name="사각형: 둥근 모서리 53">
            <a:extLst>
              <a:ext uri="{FF2B5EF4-FFF2-40B4-BE49-F238E27FC236}">
                <a16:creationId xmlns:a16="http://schemas.microsoft.com/office/drawing/2014/main" id="{F543F120-899A-EC20-64F8-1D0DA82032B7}"/>
              </a:ext>
            </a:extLst>
          </p:cNvPr>
          <p:cNvSpPr/>
          <p:nvPr/>
        </p:nvSpPr>
        <p:spPr>
          <a:xfrm>
            <a:off x="4774072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29" name="사각형: 둥근 모서리 53">
            <a:extLst>
              <a:ext uri="{FF2B5EF4-FFF2-40B4-BE49-F238E27FC236}">
                <a16:creationId xmlns:a16="http://schemas.microsoft.com/office/drawing/2014/main" id="{5A06CA84-95B9-F11C-0361-B9EE1F57E4B4}"/>
              </a:ext>
            </a:extLst>
          </p:cNvPr>
          <p:cNvSpPr/>
          <p:nvPr/>
        </p:nvSpPr>
        <p:spPr>
          <a:xfrm>
            <a:off x="7584704" y="1751057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30" name="사각형: 둥근 모서리 53">
            <a:extLst>
              <a:ext uri="{FF2B5EF4-FFF2-40B4-BE49-F238E27FC236}">
                <a16:creationId xmlns:a16="http://schemas.microsoft.com/office/drawing/2014/main" id="{72808AD1-85BE-B60A-8883-B08AEF1AB8FD}"/>
              </a:ext>
            </a:extLst>
          </p:cNvPr>
          <p:cNvSpPr/>
          <p:nvPr/>
        </p:nvSpPr>
        <p:spPr>
          <a:xfrm>
            <a:off x="9888891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31" name="Rectangle: Rounded Corners 54">
            <a:extLst>
              <a:ext uri="{FF2B5EF4-FFF2-40B4-BE49-F238E27FC236}">
                <a16:creationId xmlns:a16="http://schemas.microsoft.com/office/drawing/2014/main" id="{87377168-BAB5-86BF-8A2D-443855E53806}"/>
              </a:ext>
            </a:extLst>
          </p:cNvPr>
          <p:cNvSpPr/>
          <p:nvPr/>
        </p:nvSpPr>
        <p:spPr>
          <a:xfrm>
            <a:off x="1935163" y="6583617"/>
            <a:ext cx="7773988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1)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他 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Task 1. AI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위험 평가 및 완화조치 방안 수립 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2. AI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거버넌스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활용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지원도구 개발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18D2FA-53E3-2706-3AA6-C055494E6F87}"/>
              </a:ext>
            </a:extLst>
          </p:cNvPr>
          <p:cNvGrpSpPr/>
          <p:nvPr/>
        </p:nvGrpSpPr>
        <p:grpSpPr>
          <a:xfrm>
            <a:off x="1845495" y="2559431"/>
            <a:ext cx="2683274" cy="3578056"/>
            <a:chOff x="1845495" y="2559431"/>
            <a:chExt cx="2683274" cy="3463029"/>
          </a:xfrm>
        </p:grpSpPr>
        <p:sp>
          <p:nvSpPr>
            <p:cNvPr id="38" name="Google Shape;134;p5">
              <a:extLst>
                <a:ext uri="{FF2B5EF4-FFF2-40B4-BE49-F238E27FC236}">
                  <a16:creationId xmlns:a16="http://schemas.microsoft.com/office/drawing/2014/main" id="{A545AA2A-EE5D-4B5A-A964-EB7BD138C5CA}"/>
                </a:ext>
              </a:extLst>
            </p:cNvPr>
            <p:cNvSpPr/>
            <p:nvPr/>
          </p:nvSpPr>
          <p:spPr>
            <a:xfrm>
              <a:off x="1845495" y="2559431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Tech &amp; AI</a:t>
              </a:r>
              <a:r>
                <a:rPr lang="ko-KR" altLang="en-US" sz="1200" b="1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부문장</a:t>
              </a:r>
              <a:endPara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40" name="Google Shape;134;p5">
              <a:extLst>
                <a:ext uri="{FF2B5EF4-FFF2-40B4-BE49-F238E27FC236}">
                  <a16:creationId xmlns:a16="http://schemas.microsoft.com/office/drawing/2014/main" id="{936BE087-13A7-B3A7-0372-DEEC51516682}"/>
                </a:ext>
              </a:extLst>
            </p:cNvPr>
            <p:cNvSpPr/>
            <p:nvPr/>
          </p:nvSpPr>
          <p:spPr>
            <a:xfrm>
              <a:off x="1845495" y="4366179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금융소비자보호본부장</a:t>
              </a:r>
            </a:p>
          </p:txBody>
        </p:sp>
        <p:sp>
          <p:nvSpPr>
            <p:cNvPr id="41" name="Google Shape;134;p5">
              <a:extLst>
                <a:ext uri="{FF2B5EF4-FFF2-40B4-BE49-F238E27FC236}">
                  <a16:creationId xmlns:a16="http://schemas.microsoft.com/office/drawing/2014/main" id="{1C1AA844-5DC0-3826-ED7E-ABD736A325FE}"/>
                </a:ext>
              </a:extLst>
            </p:cNvPr>
            <p:cNvSpPr/>
            <p:nvPr/>
          </p:nvSpPr>
          <p:spPr>
            <a:xfrm>
              <a:off x="1845495" y="3462804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정보보호본부장</a:t>
              </a:r>
            </a:p>
          </p:txBody>
        </p:sp>
        <p:sp>
          <p:nvSpPr>
            <p:cNvPr id="42" name="Google Shape;134;p5">
              <a:extLst>
                <a:ext uri="{FF2B5EF4-FFF2-40B4-BE49-F238E27FC236}">
                  <a16:creationId xmlns:a16="http://schemas.microsoft.com/office/drawing/2014/main" id="{6681E825-B59B-3E44-5FDA-58C0D00A2EF1}"/>
                </a:ext>
              </a:extLst>
            </p:cNvPr>
            <p:cNvSpPr/>
            <p:nvPr/>
          </p:nvSpPr>
          <p:spPr>
            <a:xfrm>
              <a:off x="1845495" y="3011118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AI</a:t>
              </a:r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솔루션본부장</a:t>
              </a:r>
            </a:p>
          </p:txBody>
        </p:sp>
        <p:sp>
          <p:nvSpPr>
            <p:cNvPr id="44" name="Google Shape;134;p5">
              <a:extLst>
                <a:ext uri="{FF2B5EF4-FFF2-40B4-BE49-F238E27FC236}">
                  <a16:creationId xmlns:a16="http://schemas.microsoft.com/office/drawing/2014/main" id="{805CDA16-7988-5FDF-2CEE-7A433599D89D}"/>
                </a:ext>
              </a:extLst>
            </p:cNvPr>
            <p:cNvSpPr/>
            <p:nvPr/>
          </p:nvSpPr>
          <p:spPr>
            <a:xfrm>
              <a:off x="1845495" y="4817865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경영혁신본부장</a:t>
              </a:r>
            </a:p>
          </p:txBody>
        </p:sp>
        <p:sp>
          <p:nvSpPr>
            <p:cNvPr id="45" name="Google Shape;134;p5">
              <a:extLst>
                <a:ext uri="{FF2B5EF4-FFF2-40B4-BE49-F238E27FC236}">
                  <a16:creationId xmlns:a16="http://schemas.microsoft.com/office/drawing/2014/main" id="{E5A1BFF5-2F61-DADB-FA1E-24B807E64265}"/>
                </a:ext>
              </a:extLst>
            </p:cNvPr>
            <p:cNvSpPr/>
            <p:nvPr/>
          </p:nvSpPr>
          <p:spPr>
            <a:xfrm>
              <a:off x="1845495" y="3914491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컴플라이언스본부장</a:t>
              </a:r>
              <a:endPara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64" name="Google Shape;134;p5">
              <a:extLst>
                <a:ext uri="{FF2B5EF4-FFF2-40B4-BE49-F238E27FC236}">
                  <a16:creationId xmlns:a16="http://schemas.microsoft.com/office/drawing/2014/main" id="{3CFC5DAE-C291-D8F2-ED36-04D2519A87C7}"/>
                </a:ext>
              </a:extLst>
            </p:cNvPr>
            <p:cNvSpPr/>
            <p:nvPr/>
          </p:nvSpPr>
          <p:spPr>
            <a:xfrm>
              <a:off x="1845495" y="5269550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디지털플랫폼본부장</a:t>
              </a:r>
              <a:endParaRPr lang="ko-KR" altLang="en-US" sz="12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3" name="Google Shape;134;p5">
              <a:extLst>
                <a:ext uri="{FF2B5EF4-FFF2-40B4-BE49-F238E27FC236}">
                  <a16:creationId xmlns:a16="http://schemas.microsoft.com/office/drawing/2014/main" id="{47BF64C4-02E4-2423-B105-A55B07DE5401}"/>
                </a:ext>
              </a:extLst>
            </p:cNvPr>
            <p:cNvSpPr/>
            <p:nvPr/>
          </p:nvSpPr>
          <p:spPr>
            <a:xfrm>
              <a:off x="1845495" y="5714994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IT</a:t>
              </a:r>
              <a:r>
                <a:rPr lang="ko-KR" altLang="en-US" sz="1200" b="1" spc="-1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인프라본부장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93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11">
            <a:extLst>
              <a:ext uri="{FF2B5EF4-FFF2-40B4-BE49-F238E27FC236}">
                <a16:creationId xmlns:a16="http://schemas.microsoft.com/office/drawing/2014/main" id="{048D3122-26EA-26ED-97E3-80C98CB6D10A}"/>
              </a:ext>
            </a:extLst>
          </p:cNvPr>
          <p:cNvSpPr/>
          <p:nvPr/>
        </p:nvSpPr>
        <p:spPr>
          <a:xfrm>
            <a:off x="7200194" y="2722486"/>
            <a:ext cx="4701668" cy="29750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ㅏ</a:t>
            </a:r>
            <a:endParaRPr kumimoji="1" lang="ko-KR" altLang="en-US" sz="12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+mn-ea"/>
              <a:sym typeface="Arial"/>
            </a:endParaRPr>
          </a:p>
        </p:txBody>
      </p:sp>
      <p:sp>
        <p:nvSpPr>
          <p:cNvPr id="87" name="직사각형 27">
            <a:extLst>
              <a:ext uri="{FF2B5EF4-FFF2-40B4-BE49-F238E27FC236}">
                <a16:creationId xmlns:a16="http://schemas.microsoft.com/office/drawing/2014/main" id="{B3ED8A40-A29B-2E45-5997-4E5A1241D1AC}"/>
              </a:ext>
            </a:extLst>
          </p:cNvPr>
          <p:cNvSpPr/>
          <p:nvPr/>
        </p:nvSpPr>
        <p:spPr>
          <a:xfrm>
            <a:off x="7356743" y="3680463"/>
            <a:ext cx="1788660" cy="185975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kumimoji="1" lang="ko-KR" altLang="en-US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6BE26933-C351-4AE4-FB59-E5F1499A9164}"/>
              </a:ext>
            </a:extLst>
          </p:cNvPr>
          <p:cNvSpPr/>
          <p:nvPr/>
        </p:nvSpPr>
        <p:spPr>
          <a:xfrm>
            <a:off x="1322614" y="2636838"/>
            <a:ext cx="4701668" cy="199187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사업부서와의 분리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, 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거버넌스 부서 역할 구체화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CDB6DE-1A27-04F7-36BC-98EC06212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6F3FD2-0FE8-21E3-B1C4-FC4ACB480C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조직 체계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907461-8ED7-E99F-7DFC-7B8A99D5A9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와 관련한 위험관리에 대한 전략 수립 및 의사결정 등의 역할을 수행 활성화를 위해 </a:t>
            </a:r>
            <a:r>
              <a:rPr lang="en-US" altLang="ko-KR"/>
              <a:t>AI </a:t>
            </a:r>
            <a:r>
              <a:rPr lang="ko-KR" altLang="en-US"/>
              <a:t>거버넌스 전담조직 및 </a:t>
            </a:r>
            <a:r>
              <a:rPr lang="en-US" altLang="ko-KR"/>
              <a:t>AI</a:t>
            </a:r>
            <a:r>
              <a:rPr lang="ko-KR" altLang="en-US" err="1"/>
              <a:t>거버넌스협의체를</a:t>
            </a:r>
            <a:r>
              <a:rPr lang="ko-KR" altLang="en-US"/>
              <a:t> 구성함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05AB0F9-6FF7-F6CB-AE5C-60947068E275}"/>
              </a:ext>
            </a:extLst>
          </p:cNvPr>
          <p:cNvSpPr/>
          <p:nvPr/>
        </p:nvSpPr>
        <p:spPr>
          <a:xfrm>
            <a:off x="371963" y="202784"/>
            <a:ext cx="430677" cy="432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0E652A-E0B0-8660-AE45-51E198442659}"/>
              </a:ext>
            </a:extLst>
          </p:cNvPr>
          <p:cNvSpPr/>
          <p:nvPr/>
        </p:nvSpPr>
        <p:spPr>
          <a:xfrm>
            <a:off x="912493" y="202784"/>
            <a:ext cx="430677" cy="432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BA0F5B1-142E-F263-741F-DA317E2C5B52}"/>
              </a:ext>
            </a:extLst>
          </p:cNvPr>
          <p:cNvSpPr/>
          <p:nvPr/>
        </p:nvSpPr>
        <p:spPr>
          <a:xfrm>
            <a:off x="6212542" y="1736827"/>
            <a:ext cx="5689319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거버넌스협의체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6988C816-6FB7-6933-33FE-0F5428A7BF16}"/>
              </a:ext>
            </a:extLst>
          </p:cNvPr>
          <p:cNvSpPr/>
          <p:nvPr/>
        </p:nvSpPr>
        <p:spPr>
          <a:xfrm>
            <a:off x="334963" y="1736827"/>
            <a:ext cx="5689319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거버넌스 전담조직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직사각형 13">
            <a:extLst>
              <a:ext uri="{FF2B5EF4-FFF2-40B4-BE49-F238E27FC236}">
                <a16:creationId xmlns:a16="http://schemas.microsoft.com/office/drawing/2014/main" id="{C78DCCDE-0657-3ED8-348F-BF9C0528626B}"/>
              </a:ext>
            </a:extLst>
          </p:cNvPr>
          <p:cNvSpPr/>
          <p:nvPr/>
        </p:nvSpPr>
        <p:spPr>
          <a:xfrm>
            <a:off x="534195" y="2232949"/>
            <a:ext cx="5300973" cy="259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거버넌스 전문성 및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미래에셋증권의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조직 구성을 고려하여 “기존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그룹 內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신설”을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권고함</a:t>
            </a:r>
          </a:p>
        </p:txBody>
      </p:sp>
      <p:sp>
        <p:nvSpPr>
          <p:cNvPr id="12" name="직사각형 26">
            <a:extLst>
              <a:ext uri="{FF2B5EF4-FFF2-40B4-BE49-F238E27FC236}">
                <a16:creationId xmlns:a16="http://schemas.microsoft.com/office/drawing/2014/main" id="{687EAC38-8895-3CFD-03C6-28177F45CAF9}"/>
              </a:ext>
            </a:extLst>
          </p:cNvPr>
          <p:cNvSpPr/>
          <p:nvPr/>
        </p:nvSpPr>
        <p:spPr>
          <a:xfrm>
            <a:off x="1322614" y="5320368"/>
            <a:ext cx="4701667" cy="5626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 기획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/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개발 부서와의 독립성 보장 되나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같은 본부내 존재함</a:t>
            </a:r>
            <a:endParaRPr kumimoji="1" lang="en-US" altLang="ko-KR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</p:txBody>
      </p:sp>
      <p:sp>
        <p:nvSpPr>
          <p:cNvPr id="13" name="직사각형 27">
            <a:extLst>
              <a:ext uri="{FF2B5EF4-FFF2-40B4-BE49-F238E27FC236}">
                <a16:creationId xmlns:a16="http://schemas.microsoft.com/office/drawing/2014/main" id="{A9ED1684-F396-2EDE-C285-7D33833C2EB1}"/>
              </a:ext>
            </a:extLst>
          </p:cNvPr>
          <p:cNvSpPr/>
          <p:nvPr/>
        </p:nvSpPr>
        <p:spPr>
          <a:xfrm>
            <a:off x="1322614" y="4683674"/>
            <a:ext cx="4701667" cy="56261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낮은 유관 법률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증권업에 대한 이해도 보유</a:t>
            </a:r>
          </a:p>
        </p:txBody>
      </p:sp>
      <p:sp>
        <p:nvSpPr>
          <p:cNvPr id="14" name="직사각형 28">
            <a:extLst>
              <a:ext uri="{FF2B5EF4-FFF2-40B4-BE49-F238E27FC236}">
                <a16:creationId xmlns:a16="http://schemas.microsoft.com/office/drawing/2014/main" id="{689CF028-CC8E-14AB-91A1-AC0C03862855}"/>
              </a:ext>
            </a:extLst>
          </p:cNvPr>
          <p:cNvSpPr/>
          <p:nvPr/>
        </p:nvSpPr>
        <p:spPr>
          <a:xfrm>
            <a:off x="1322614" y="5957058"/>
            <a:ext cx="4701667" cy="56261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사업부서와의 협업과 전문 유관 조직과의 협력이 가능</a:t>
            </a:r>
          </a:p>
        </p:txBody>
      </p:sp>
      <p:sp>
        <p:nvSpPr>
          <p:cNvPr id="15" name="사각형: 둥근 모서리 41">
            <a:extLst>
              <a:ext uri="{FF2B5EF4-FFF2-40B4-BE49-F238E27FC236}">
                <a16:creationId xmlns:a16="http://schemas.microsoft.com/office/drawing/2014/main" id="{D44D52EB-BF5A-D8DB-510E-111F8AFF1C6E}"/>
              </a:ext>
            </a:extLst>
          </p:cNvPr>
          <p:cNvSpPr/>
          <p:nvPr/>
        </p:nvSpPr>
        <p:spPr>
          <a:xfrm>
            <a:off x="1937019" y="2909445"/>
            <a:ext cx="3303344" cy="269168"/>
          </a:xfrm>
          <a:prstGeom prst="round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Tech&amp;AI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부문</a:t>
            </a:r>
          </a:p>
        </p:txBody>
      </p:sp>
      <p:cxnSp>
        <p:nvCxnSpPr>
          <p:cNvPr id="16" name="직선 연결선[R] 99">
            <a:extLst>
              <a:ext uri="{FF2B5EF4-FFF2-40B4-BE49-F238E27FC236}">
                <a16:creationId xmlns:a16="http://schemas.microsoft.com/office/drawing/2014/main" id="{CC565FA8-DFD7-26B7-9DD3-9F07D3FF854D}"/>
              </a:ext>
            </a:extLst>
          </p:cNvPr>
          <p:cNvCxnSpPr>
            <a:cxnSpLocks/>
          </p:cNvCxnSpPr>
          <p:nvPr/>
        </p:nvCxnSpPr>
        <p:spPr>
          <a:xfrm>
            <a:off x="3588690" y="3178613"/>
            <a:ext cx="0" cy="1302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43">
            <a:extLst>
              <a:ext uri="{FF2B5EF4-FFF2-40B4-BE49-F238E27FC236}">
                <a16:creationId xmlns:a16="http://schemas.microsoft.com/office/drawing/2014/main" id="{52B0B36A-457F-E5BF-00DA-9647073D4998}"/>
              </a:ext>
            </a:extLst>
          </p:cNvPr>
          <p:cNvSpPr/>
          <p:nvPr/>
        </p:nvSpPr>
        <p:spPr>
          <a:xfrm>
            <a:off x="1937019" y="3738053"/>
            <a:ext cx="1642111" cy="269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8" name="사각형: 둥근 모서리 44">
            <a:extLst>
              <a:ext uri="{FF2B5EF4-FFF2-40B4-BE49-F238E27FC236}">
                <a16:creationId xmlns:a16="http://schemas.microsoft.com/office/drawing/2014/main" id="{9DB6D1F1-183A-B741-DBA0-66657743B298}"/>
              </a:ext>
            </a:extLst>
          </p:cNvPr>
          <p:cNvSpPr/>
          <p:nvPr/>
        </p:nvSpPr>
        <p:spPr>
          <a:xfrm>
            <a:off x="1937019" y="3279024"/>
            <a:ext cx="3303344" cy="269168"/>
          </a:xfrm>
          <a:prstGeom prst="roundRect">
            <a:avLst/>
          </a:prstGeom>
          <a:solidFill>
            <a:srgbClr val="F0AF6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</a:t>
            </a:r>
          </a:p>
        </p:txBody>
      </p:sp>
      <p:sp>
        <p:nvSpPr>
          <p:cNvPr id="19" name="사각형: 둥근 모서리 45">
            <a:extLst>
              <a:ext uri="{FF2B5EF4-FFF2-40B4-BE49-F238E27FC236}">
                <a16:creationId xmlns:a16="http://schemas.microsoft.com/office/drawing/2014/main" id="{028FEC49-14F2-347B-A50C-B1012029872F}"/>
              </a:ext>
            </a:extLst>
          </p:cNvPr>
          <p:cNvSpPr/>
          <p:nvPr/>
        </p:nvSpPr>
        <p:spPr>
          <a:xfrm>
            <a:off x="3661327" y="3738053"/>
            <a:ext cx="1579036" cy="26916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AI Gov.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부서</a:t>
            </a:r>
          </a:p>
        </p:txBody>
      </p:sp>
      <p:sp>
        <p:nvSpPr>
          <p:cNvPr id="20" name="사각형: 둥근 모서리 1">
            <a:extLst>
              <a:ext uri="{FF2B5EF4-FFF2-40B4-BE49-F238E27FC236}">
                <a16:creationId xmlns:a16="http://schemas.microsoft.com/office/drawing/2014/main" id="{2416363B-1044-EE6E-F1D9-607E1C895600}"/>
              </a:ext>
            </a:extLst>
          </p:cNvPr>
          <p:cNvSpPr/>
          <p:nvPr/>
        </p:nvSpPr>
        <p:spPr>
          <a:xfrm rot="1843658" flipH="1">
            <a:off x="4909370" y="3657125"/>
            <a:ext cx="500507" cy="144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77172">
              <a:defRPr/>
            </a:pPr>
            <a:r>
              <a:rPr lang="ko-KR" altLang="en-US" sz="7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신설</a:t>
            </a:r>
          </a:p>
        </p:txBody>
      </p:sp>
      <p:cxnSp>
        <p:nvCxnSpPr>
          <p:cNvPr id="21" name="연결선: 꺾임 47">
            <a:extLst>
              <a:ext uri="{FF2B5EF4-FFF2-40B4-BE49-F238E27FC236}">
                <a16:creationId xmlns:a16="http://schemas.microsoft.com/office/drawing/2014/main" id="{C62FA057-3C62-01CD-E2A8-4C74C9E6DE7E}"/>
              </a:ext>
            </a:extLst>
          </p:cNvPr>
          <p:cNvCxnSpPr/>
          <p:nvPr/>
        </p:nvCxnSpPr>
        <p:spPr>
          <a:xfrm rot="5400000">
            <a:off x="3108270" y="3227814"/>
            <a:ext cx="130227" cy="8306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48">
            <a:extLst>
              <a:ext uri="{FF2B5EF4-FFF2-40B4-BE49-F238E27FC236}">
                <a16:creationId xmlns:a16="http://schemas.microsoft.com/office/drawing/2014/main" id="{FCC22141-74E2-CD13-5579-AF8857AD59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54655" y="3212044"/>
            <a:ext cx="130227" cy="86215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4">
            <a:extLst>
              <a:ext uri="{FF2B5EF4-FFF2-40B4-BE49-F238E27FC236}">
                <a16:creationId xmlns:a16="http://schemas.microsoft.com/office/drawing/2014/main" id="{621D753B-DADA-E9F1-E328-EB98BE274FBB}"/>
              </a:ext>
            </a:extLst>
          </p:cNvPr>
          <p:cNvSpPr/>
          <p:nvPr/>
        </p:nvSpPr>
        <p:spPr>
          <a:xfrm>
            <a:off x="329130" y="2636838"/>
            <a:ext cx="849241" cy="197646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구성방안</a:t>
            </a:r>
          </a:p>
        </p:txBody>
      </p:sp>
      <p:sp>
        <p:nvSpPr>
          <p:cNvPr id="36" name="직사각형 6">
            <a:extLst>
              <a:ext uri="{FF2B5EF4-FFF2-40B4-BE49-F238E27FC236}">
                <a16:creationId xmlns:a16="http://schemas.microsoft.com/office/drawing/2014/main" id="{E9A63BE0-DA4D-E83E-C703-63A90DC15D81}"/>
              </a:ext>
            </a:extLst>
          </p:cNvPr>
          <p:cNvSpPr/>
          <p:nvPr/>
        </p:nvSpPr>
        <p:spPr>
          <a:xfrm>
            <a:off x="702773" y="5320368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독립성</a:t>
            </a:r>
          </a:p>
        </p:txBody>
      </p:sp>
      <p:sp>
        <p:nvSpPr>
          <p:cNvPr id="37" name="직사각형 7">
            <a:extLst>
              <a:ext uri="{FF2B5EF4-FFF2-40B4-BE49-F238E27FC236}">
                <a16:creationId xmlns:a16="http://schemas.microsoft.com/office/drawing/2014/main" id="{23B1BD1D-469A-BFAE-05BF-EFB4BF6B802E}"/>
              </a:ext>
            </a:extLst>
          </p:cNvPr>
          <p:cNvSpPr/>
          <p:nvPr/>
        </p:nvSpPr>
        <p:spPr>
          <a:xfrm>
            <a:off x="702728" y="4683675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전문성</a:t>
            </a:r>
          </a:p>
        </p:txBody>
      </p:sp>
      <p:sp>
        <p:nvSpPr>
          <p:cNvPr id="38" name="직사각형 8">
            <a:extLst>
              <a:ext uri="{FF2B5EF4-FFF2-40B4-BE49-F238E27FC236}">
                <a16:creationId xmlns:a16="http://schemas.microsoft.com/office/drawing/2014/main" id="{D8048554-42F3-269B-B034-4F5C49F77234}"/>
              </a:ext>
            </a:extLst>
          </p:cNvPr>
          <p:cNvSpPr/>
          <p:nvPr/>
        </p:nvSpPr>
        <p:spPr>
          <a:xfrm>
            <a:off x="702773" y="5957061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협업 가능성</a:t>
            </a:r>
          </a:p>
        </p:txBody>
      </p:sp>
      <p:sp>
        <p:nvSpPr>
          <p:cNvPr id="39" name="사각형: 둥근 모서리 20">
            <a:extLst>
              <a:ext uri="{FF2B5EF4-FFF2-40B4-BE49-F238E27FC236}">
                <a16:creationId xmlns:a16="http://schemas.microsoft.com/office/drawing/2014/main" id="{957BE180-0858-199E-3606-A8BB6B344A75}"/>
              </a:ext>
            </a:extLst>
          </p:cNvPr>
          <p:cNvSpPr/>
          <p:nvPr/>
        </p:nvSpPr>
        <p:spPr>
          <a:xfrm>
            <a:off x="333406" y="4683676"/>
            <a:ext cx="334053" cy="183599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필수 요소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44" name="직선 연결선 19">
            <a:extLst>
              <a:ext uri="{FF2B5EF4-FFF2-40B4-BE49-F238E27FC236}">
                <a16:creationId xmlns:a16="http://schemas.microsoft.com/office/drawing/2014/main" id="{E902571B-054D-2FFF-C79D-7C5FFA9266CB}"/>
              </a:ext>
            </a:extLst>
          </p:cNvPr>
          <p:cNvCxnSpPr>
            <a:cxnSpLocks/>
          </p:cNvCxnSpPr>
          <p:nvPr/>
        </p:nvCxnSpPr>
        <p:spPr>
          <a:xfrm>
            <a:off x="10756657" y="3460177"/>
            <a:ext cx="0" cy="390647"/>
          </a:xfrm>
          <a:prstGeom prst="line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45" name="Freeform 14">
            <a:extLst>
              <a:ext uri="{FF2B5EF4-FFF2-40B4-BE49-F238E27FC236}">
                <a16:creationId xmlns:a16="http://schemas.microsoft.com/office/drawing/2014/main" id="{6CE2B13D-C25E-A9E2-3DD1-EE6C85BE62F5}"/>
              </a:ext>
            </a:extLst>
          </p:cNvPr>
          <p:cNvSpPr>
            <a:spLocks/>
          </p:cNvSpPr>
          <p:nvPr/>
        </p:nvSpPr>
        <p:spPr bwMode="auto">
          <a:xfrm>
            <a:off x="7506380" y="3150844"/>
            <a:ext cx="1452990" cy="64701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협의체</a:t>
            </a:r>
          </a:p>
        </p:txBody>
      </p:sp>
      <p:cxnSp>
        <p:nvCxnSpPr>
          <p:cNvPr id="46" name="직선 연결선 21">
            <a:extLst>
              <a:ext uri="{FF2B5EF4-FFF2-40B4-BE49-F238E27FC236}">
                <a16:creationId xmlns:a16="http://schemas.microsoft.com/office/drawing/2014/main" id="{327F8526-CF8D-ABA9-EC65-C60B266CADA3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8959370" y="3463557"/>
            <a:ext cx="1788660" cy="10792"/>
          </a:xfrm>
          <a:prstGeom prst="line">
            <a:avLst/>
          </a:prstGeom>
          <a:ln w="12700" cap="sq">
            <a:solidFill>
              <a:schemeClr val="tx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49" name="직사각형 4">
            <a:extLst>
              <a:ext uri="{FF2B5EF4-FFF2-40B4-BE49-F238E27FC236}">
                <a16:creationId xmlns:a16="http://schemas.microsoft.com/office/drawing/2014/main" id="{B5DBAF0D-EC2E-CF82-DB36-395E87CB6532}"/>
              </a:ext>
            </a:extLst>
          </p:cNvPr>
          <p:cNvSpPr/>
          <p:nvPr/>
        </p:nvSpPr>
        <p:spPr>
          <a:xfrm>
            <a:off x="6212364" y="2636838"/>
            <a:ext cx="849241" cy="29712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조직 內</a:t>
            </a: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위치</a:t>
            </a:r>
          </a:p>
        </p:txBody>
      </p:sp>
      <p:sp>
        <p:nvSpPr>
          <p:cNvPr id="76" name="직사각형 13">
            <a:extLst>
              <a:ext uri="{FF2B5EF4-FFF2-40B4-BE49-F238E27FC236}">
                <a16:creationId xmlns:a16="http://schemas.microsoft.com/office/drawing/2014/main" id="{2CC2CB24-E2B0-D2FA-E8AF-C4F2B5D9499F}"/>
              </a:ext>
            </a:extLst>
          </p:cNvPr>
          <p:cNvSpPr/>
          <p:nvPr/>
        </p:nvSpPr>
        <p:spPr>
          <a:xfrm>
            <a:off x="6490621" y="2232949"/>
            <a:ext cx="5300973" cy="259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유관부서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內 다자간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거버넌스 협의체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구성을 권고함</a:t>
            </a:r>
          </a:p>
        </p:txBody>
      </p:sp>
      <p:sp>
        <p:nvSpPr>
          <p:cNvPr id="79" name="Google Shape;134;p5">
            <a:extLst>
              <a:ext uri="{FF2B5EF4-FFF2-40B4-BE49-F238E27FC236}">
                <a16:creationId xmlns:a16="http://schemas.microsoft.com/office/drawing/2014/main" id="{1E447878-CE61-8ADE-B146-B0867D529571}"/>
              </a:ext>
            </a:extLst>
          </p:cNvPr>
          <p:cNvSpPr/>
          <p:nvPr/>
        </p:nvSpPr>
        <p:spPr>
          <a:xfrm>
            <a:off x="7599277" y="3904305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Tech &amp; AI</a:t>
            </a: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부문장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 </a:t>
            </a:r>
            <a:r>
              <a:rPr kumimoji="1" lang="ko-KR" altLang="en-US" sz="800" b="1" kern="0" baseline="30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협의체장</a:t>
            </a:r>
            <a:endParaRPr kumimoji="1" lang="ko-KR" altLang="en-US" sz="800" b="1" kern="0" baseline="3000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0" name="Google Shape;134;p5">
            <a:extLst>
              <a:ext uri="{FF2B5EF4-FFF2-40B4-BE49-F238E27FC236}">
                <a16:creationId xmlns:a16="http://schemas.microsoft.com/office/drawing/2014/main" id="{A0D47DF7-7E5F-C733-72FE-E85050B8875D}"/>
              </a:ext>
            </a:extLst>
          </p:cNvPr>
          <p:cNvSpPr/>
          <p:nvPr/>
        </p:nvSpPr>
        <p:spPr>
          <a:xfrm>
            <a:off x="7599277" y="4832101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금융소비자보호본부장</a:t>
            </a:r>
          </a:p>
        </p:txBody>
      </p:sp>
      <p:sp>
        <p:nvSpPr>
          <p:cNvPr id="81" name="Google Shape;134;p5">
            <a:extLst>
              <a:ext uri="{FF2B5EF4-FFF2-40B4-BE49-F238E27FC236}">
                <a16:creationId xmlns:a16="http://schemas.microsoft.com/office/drawing/2014/main" id="{6568969F-D0CA-21F5-A13D-745571F29E2E}"/>
              </a:ext>
            </a:extLst>
          </p:cNvPr>
          <p:cNvSpPr/>
          <p:nvPr/>
        </p:nvSpPr>
        <p:spPr>
          <a:xfrm>
            <a:off x="7599277" y="4368203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정보보호본부장</a:t>
            </a:r>
          </a:p>
        </p:txBody>
      </p:sp>
      <p:sp>
        <p:nvSpPr>
          <p:cNvPr id="82" name="Google Shape;134;p5">
            <a:extLst>
              <a:ext uri="{FF2B5EF4-FFF2-40B4-BE49-F238E27FC236}">
                <a16:creationId xmlns:a16="http://schemas.microsoft.com/office/drawing/2014/main" id="{AC008F56-34E9-7470-1F87-BF8120CF5095}"/>
              </a:ext>
            </a:extLst>
          </p:cNvPr>
          <p:cNvSpPr/>
          <p:nvPr/>
        </p:nvSpPr>
        <p:spPr>
          <a:xfrm>
            <a:off x="7599277" y="4136254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솔루션본부장</a:t>
            </a:r>
          </a:p>
        </p:txBody>
      </p:sp>
      <p:sp>
        <p:nvSpPr>
          <p:cNvPr id="83" name="Google Shape;134;p5">
            <a:extLst>
              <a:ext uri="{FF2B5EF4-FFF2-40B4-BE49-F238E27FC236}">
                <a16:creationId xmlns:a16="http://schemas.microsoft.com/office/drawing/2014/main" id="{1EA5CCD7-D9FF-FBA0-26F2-65C49729D27F}"/>
              </a:ext>
            </a:extLst>
          </p:cNvPr>
          <p:cNvSpPr/>
          <p:nvPr/>
        </p:nvSpPr>
        <p:spPr>
          <a:xfrm>
            <a:off x="7599277" y="5064050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경영혁신본부장</a:t>
            </a:r>
          </a:p>
        </p:txBody>
      </p:sp>
      <p:sp>
        <p:nvSpPr>
          <p:cNvPr id="84" name="Google Shape;134;p5">
            <a:extLst>
              <a:ext uri="{FF2B5EF4-FFF2-40B4-BE49-F238E27FC236}">
                <a16:creationId xmlns:a16="http://schemas.microsoft.com/office/drawing/2014/main" id="{5C78DD97-2923-FCED-1A61-5966FF7B7CC3}"/>
              </a:ext>
            </a:extLst>
          </p:cNvPr>
          <p:cNvSpPr/>
          <p:nvPr/>
        </p:nvSpPr>
        <p:spPr>
          <a:xfrm>
            <a:off x="7599277" y="4600152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컴플라이언스본부장</a:t>
            </a:r>
            <a:endParaRPr kumimoji="1" lang="ko-KR" altLang="en-US" sz="900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5" name="Google Shape;134;p5">
            <a:extLst>
              <a:ext uri="{FF2B5EF4-FFF2-40B4-BE49-F238E27FC236}">
                <a16:creationId xmlns:a16="http://schemas.microsoft.com/office/drawing/2014/main" id="{6607A20E-21B8-FF9F-B7D7-AD71137FD051}"/>
              </a:ext>
            </a:extLst>
          </p:cNvPr>
          <p:cNvSpPr/>
          <p:nvPr/>
        </p:nvSpPr>
        <p:spPr>
          <a:xfrm>
            <a:off x="7599277" y="5295998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디지털플랫폼본부장</a:t>
            </a:r>
            <a:endParaRPr kumimoji="1" lang="ko-KR" altLang="en-US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8" name="직사각형 4">
            <a:extLst>
              <a:ext uri="{FF2B5EF4-FFF2-40B4-BE49-F238E27FC236}">
                <a16:creationId xmlns:a16="http://schemas.microsoft.com/office/drawing/2014/main" id="{ECB883E3-DB98-199E-CB01-27048E8D64CA}"/>
              </a:ext>
            </a:extLst>
          </p:cNvPr>
          <p:cNvSpPr/>
          <p:nvPr/>
        </p:nvSpPr>
        <p:spPr>
          <a:xfrm>
            <a:off x="6212364" y="5678793"/>
            <a:ext cx="849241" cy="8458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운영 원칙</a:t>
            </a:r>
          </a:p>
        </p:txBody>
      </p:sp>
      <p:sp>
        <p:nvSpPr>
          <p:cNvPr id="89" name="직사각형 28">
            <a:extLst>
              <a:ext uri="{FF2B5EF4-FFF2-40B4-BE49-F238E27FC236}">
                <a16:creationId xmlns:a16="http://schemas.microsoft.com/office/drawing/2014/main" id="{C929798E-5EC7-B167-824B-CDB508BB7998}"/>
              </a:ext>
            </a:extLst>
          </p:cNvPr>
          <p:cNvSpPr/>
          <p:nvPr/>
        </p:nvSpPr>
        <p:spPr>
          <a:xfrm>
            <a:off x="7200194" y="5673840"/>
            <a:ext cx="4701667" cy="845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 </a:t>
            </a:r>
            <a:r>
              <a:rPr kumimoji="1"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관련 부서의 장을 협의체장으로 지정 사안에 따라 협의원을 조정하여 운영 가능 </a:t>
            </a:r>
            <a:endParaRPr kumimoji="1" lang="en-US" altLang="ko-KR" sz="12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협의체장</a:t>
            </a:r>
            <a:r>
              <a:rPr kumimoji="1" lang="en-US" altLang="ko-KR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</a:t>
            </a:r>
            <a:r>
              <a:rPr kumimoji="1"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 </a:t>
            </a:r>
            <a:r>
              <a:rPr kumimoji="1" lang="ko-KR" altLang="en-US" sz="1200" kern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협의원</a:t>
            </a:r>
            <a:r>
              <a:rPr kumimoji="1" lang="en-US" altLang="ko-KR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관련 유관 부서의 요청에 따라 수시 개최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7F139B9-C611-E89C-B0F9-1E3E24028B73}"/>
              </a:ext>
            </a:extLst>
          </p:cNvPr>
          <p:cNvSpPr txBox="1"/>
          <p:nvPr/>
        </p:nvSpPr>
        <p:spPr>
          <a:xfrm>
            <a:off x="9142694" y="3656022"/>
            <a:ext cx="9333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간사</a:t>
            </a:r>
            <a:r>
              <a:rPr kumimoji="1" lang="en-US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: AI</a:t>
            </a:r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거버넌스</a:t>
            </a:r>
            <a:br>
              <a:rPr kumimoji="1" lang="en-US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</a:br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담당자의 장</a:t>
            </a:r>
            <a:endParaRPr kumimoji="1" lang="ko-KR" altLang="en-US" sz="10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43" name="사각형: 둥근 모서리 18">
            <a:extLst>
              <a:ext uri="{FF2B5EF4-FFF2-40B4-BE49-F238E27FC236}">
                <a16:creationId xmlns:a16="http://schemas.microsoft.com/office/drawing/2014/main" id="{B747F992-D4AE-26E5-6DC8-82A345CDE486}"/>
              </a:ext>
            </a:extLst>
          </p:cNvPr>
          <p:cNvSpPr/>
          <p:nvPr/>
        </p:nvSpPr>
        <p:spPr>
          <a:xfrm>
            <a:off x="9926876" y="3669673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전담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부서</a:t>
            </a:r>
          </a:p>
        </p:txBody>
      </p:sp>
    </p:spTree>
    <p:extLst>
      <p:ext uri="{BB962C8B-B14F-4D97-AF65-F5344CB8AC3E}">
        <p14:creationId xmlns:p14="http://schemas.microsoft.com/office/powerpoint/2010/main" val="721040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1C42B1-C1B9-DD28-82CE-1AE6C357A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A8EDD-4C77-A448-F1BC-2092D0CE2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부서별 수행 상세 업무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6E3CE-E54B-C7D4-6A1A-0533E460E3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업무 관련 전문성을 확보하고</a:t>
            </a:r>
            <a:r>
              <a:rPr lang="en-US" altLang="ko-KR"/>
              <a:t> </a:t>
            </a:r>
            <a:r>
              <a:rPr lang="ko-KR" altLang="en-US"/>
              <a:t>조직 전반에 책임감 있는 </a:t>
            </a:r>
            <a:r>
              <a:rPr lang="en-US" altLang="ko-KR"/>
              <a:t>AI</a:t>
            </a:r>
            <a:r>
              <a:rPr lang="ko-KR" altLang="en-US"/>
              <a:t>관리 역량 강화를 수행 가능하도록 담당 팀</a:t>
            </a:r>
            <a:r>
              <a:rPr lang="en-US" altLang="ko-KR"/>
              <a:t>(</a:t>
            </a:r>
            <a:r>
              <a:rPr lang="ko-KR" altLang="en-US"/>
              <a:t>자</a:t>
            </a:r>
            <a:r>
              <a:rPr lang="en-US" altLang="ko-KR"/>
              <a:t>) </a:t>
            </a:r>
            <a:r>
              <a:rPr lang="ko-KR" altLang="en-US"/>
              <a:t>지정이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1D6B98BD-A56B-BD11-8478-1E384A4153D4}"/>
              </a:ext>
            </a:extLst>
          </p:cNvPr>
          <p:cNvSpPr/>
          <p:nvPr/>
        </p:nvSpPr>
        <p:spPr>
          <a:xfrm>
            <a:off x="2027238" y="1341438"/>
            <a:ext cx="7104019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 상세 업무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5FE776A-912E-1C14-8929-2FAB3A0AA605}"/>
              </a:ext>
            </a:extLst>
          </p:cNvPr>
          <p:cNvSpPr/>
          <p:nvPr/>
        </p:nvSpPr>
        <p:spPr>
          <a:xfrm>
            <a:off x="334964" y="1341438"/>
            <a:ext cx="1584324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B7ECEA4B-5E40-F5E2-7848-7B5A86FDA0A0}"/>
              </a:ext>
            </a:extLst>
          </p:cNvPr>
          <p:cNvSpPr/>
          <p:nvPr/>
        </p:nvSpPr>
        <p:spPr>
          <a:xfrm>
            <a:off x="9239208" y="1341438"/>
            <a:ext cx="2652758" cy="319757"/>
          </a:xfrm>
          <a:prstGeom prst="roundRect">
            <a:avLst>
              <a:gd name="adj" fmla="val 0"/>
            </a:avLst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담당팀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자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468A6DFB-2DF4-8524-5373-5D2D7FA26D92}"/>
              </a:ext>
            </a:extLst>
          </p:cNvPr>
          <p:cNvSpPr/>
          <p:nvPr/>
        </p:nvSpPr>
        <p:spPr>
          <a:xfrm>
            <a:off x="9239207" y="1783449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홍길동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임꺽정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9E749785-F649-0AE4-F850-41DB349DBBC3}"/>
              </a:ext>
            </a:extLst>
          </p:cNvPr>
          <p:cNvSpPr/>
          <p:nvPr/>
        </p:nvSpPr>
        <p:spPr>
          <a:xfrm>
            <a:off x="9239207" y="4712147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[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신설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] AI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거버넌스부서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B3BD6AB7-8A95-676C-E242-73B292DA91C7}"/>
              </a:ext>
            </a:extLst>
          </p:cNvPr>
          <p:cNvSpPr/>
          <p:nvPr/>
        </p:nvSpPr>
        <p:spPr>
          <a:xfrm>
            <a:off x="9239207" y="2759682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Science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이순신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광개토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마켓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플랫폼팀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이황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5EBBD418-707D-DB91-F128-CC3785409A4F}"/>
              </a:ext>
            </a:extLst>
          </p:cNvPr>
          <p:cNvSpPr/>
          <p:nvPr/>
        </p:nvSpPr>
        <p:spPr>
          <a:xfrm>
            <a:off x="9239207" y="3735914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상동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4EB6DEAB-7425-E108-C653-A49FA5617734}"/>
              </a:ext>
            </a:extLst>
          </p:cNvPr>
          <p:cNvSpPr/>
          <p:nvPr/>
        </p:nvSpPr>
        <p:spPr>
          <a:xfrm>
            <a:off x="9239207" y="5688378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각 부문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본부의 장 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en-US" altLang="ko-KR" sz="11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Tech&amp;AI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정보보호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b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컴플라이언스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금융소비자보호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경영혁신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디지털플랫폼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13" name="직선 연결선 80">
            <a:extLst>
              <a:ext uri="{FF2B5EF4-FFF2-40B4-BE49-F238E27FC236}">
                <a16:creationId xmlns:a16="http://schemas.microsoft.com/office/drawing/2014/main" id="{CA1C72E0-26E7-BC9C-B3A3-18539B103A2C}"/>
              </a:ext>
            </a:extLst>
          </p:cNvPr>
          <p:cNvCxnSpPr>
            <a:cxnSpLocks/>
          </p:cNvCxnSpPr>
          <p:nvPr/>
        </p:nvCxnSpPr>
        <p:spPr bwMode="auto">
          <a:xfrm>
            <a:off x="2027238" y="2657976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4" name="직선 연결선 80">
            <a:extLst>
              <a:ext uri="{FF2B5EF4-FFF2-40B4-BE49-F238E27FC236}">
                <a16:creationId xmlns:a16="http://schemas.microsoft.com/office/drawing/2014/main" id="{C29B6735-FF64-10B9-FCA2-2E999B07FD67}"/>
              </a:ext>
            </a:extLst>
          </p:cNvPr>
          <p:cNvCxnSpPr>
            <a:cxnSpLocks/>
          </p:cNvCxnSpPr>
          <p:nvPr/>
        </p:nvCxnSpPr>
        <p:spPr bwMode="auto">
          <a:xfrm>
            <a:off x="2027238" y="3634208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5" name="직선 연결선 80">
            <a:extLst>
              <a:ext uri="{FF2B5EF4-FFF2-40B4-BE49-F238E27FC236}">
                <a16:creationId xmlns:a16="http://schemas.microsoft.com/office/drawing/2014/main" id="{D854ADE7-79E9-6021-48AB-6FD94140A185}"/>
              </a:ext>
            </a:extLst>
          </p:cNvPr>
          <p:cNvCxnSpPr>
            <a:cxnSpLocks/>
          </p:cNvCxnSpPr>
          <p:nvPr/>
        </p:nvCxnSpPr>
        <p:spPr bwMode="auto">
          <a:xfrm>
            <a:off x="2027238" y="4610441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6" name="직선 연결선 80">
            <a:extLst>
              <a:ext uri="{FF2B5EF4-FFF2-40B4-BE49-F238E27FC236}">
                <a16:creationId xmlns:a16="http://schemas.microsoft.com/office/drawing/2014/main" id="{88ABFD21-AD7D-9293-6FD5-9B07D250FD48}"/>
              </a:ext>
            </a:extLst>
          </p:cNvPr>
          <p:cNvCxnSpPr>
            <a:cxnSpLocks/>
          </p:cNvCxnSpPr>
          <p:nvPr/>
        </p:nvCxnSpPr>
        <p:spPr bwMode="auto">
          <a:xfrm>
            <a:off x="2027238" y="5586673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sp>
        <p:nvSpPr>
          <p:cNvPr id="17" name="Rectangle: Rounded Corners 9">
            <a:extLst>
              <a:ext uri="{FF2B5EF4-FFF2-40B4-BE49-F238E27FC236}">
                <a16:creationId xmlns:a16="http://schemas.microsoft.com/office/drawing/2014/main" id="{65DBC71C-577C-9963-6125-295B98452BF9}"/>
              </a:ext>
            </a:extLst>
          </p:cNvPr>
          <p:cNvSpPr/>
          <p:nvPr/>
        </p:nvSpPr>
        <p:spPr>
          <a:xfrm>
            <a:off x="2027238" y="1751736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사업 목적에 기반한 구체적인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계획 수립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사용자 보호 및 투명성 목적을 반영하여 위험 관리 계획 수립 및 점검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Rectangle: Rounded Corners 26">
            <a:extLst>
              <a:ext uri="{FF2B5EF4-FFF2-40B4-BE49-F238E27FC236}">
                <a16:creationId xmlns:a16="http://schemas.microsoft.com/office/drawing/2014/main" id="{6A46A7D0-D635-4E48-1D51-60A632D1A24F}"/>
              </a:ext>
            </a:extLst>
          </p:cNvPr>
          <p:cNvSpPr/>
          <p:nvPr/>
        </p:nvSpPr>
        <p:spPr>
          <a:xfrm>
            <a:off x="2027238" y="4680434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체계 구축 및 총괄 관리 기능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실행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위험관리정책 준수 및 통제 절차 이행 여부 점검 및 모니터링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 운영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관련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대∙내외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규제 대응 등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Rectangle: Rounded Corners 27">
            <a:extLst>
              <a:ext uri="{FF2B5EF4-FFF2-40B4-BE49-F238E27FC236}">
                <a16:creationId xmlns:a16="http://schemas.microsoft.com/office/drawing/2014/main" id="{45FC91EE-8307-0481-5145-5C6322C69F92}"/>
              </a:ext>
            </a:extLst>
          </p:cNvPr>
          <p:cNvSpPr/>
          <p:nvPr/>
        </p:nvSpPr>
        <p:spPr>
          <a:xfrm>
            <a:off x="2027238" y="2727969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학습 등 수행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IT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개발계획 수립 및 이행</a:t>
            </a:r>
          </a:p>
        </p:txBody>
      </p:sp>
      <p:sp>
        <p:nvSpPr>
          <p:cNvPr id="20" name="Rectangle: Rounded Corners 28">
            <a:extLst>
              <a:ext uri="{FF2B5EF4-FFF2-40B4-BE49-F238E27FC236}">
                <a16:creationId xmlns:a16="http://schemas.microsoft.com/office/drawing/2014/main" id="{815C1C12-30FB-02AC-638F-9225437B2E99}"/>
              </a:ext>
            </a:extLst>
          </p:cNvPr>
          <p:cNvSpPr/>
          <p:nvPr/>
        </p:nvSpPr>
        <p:spPr>
          <a:xfrm>
            <a:off x="2027238" y="3704201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 및 유지보수 등 수행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사후 모니터링 관련 지원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시스템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장애 대응 등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CA23ACC1-79BF-FEC7-ED47-DC210F41B664}"/>
              </a:ext>
            </a:extLst>
          </p:cNvPr>
          <p:cNvSpPr/>
          <p:nvPr/>
        </p:nvSpPr>
        <p:spPr>
          <a:xfrm>
            <a:off x="2027238" y="5656665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조직 내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거버넌스 체계의 최고 의사결정 및 심의 기구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. 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서비스의 신뢰성과 법규 준수를 위한 제도적 통제를 확립하는 역할 수행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 규제 변화에 따른 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지침서 </a:t>
            </a:r>
            <a:r>
              <a:rPr lang="ko-KR" altLang="en-US" sz="1200" kern="0" err="1">
                <a:solidFill>
                  <a:prstClr val="black"/>
                </a:solidFill>
                <a:latin typeface="+mn-ea"/>
              </a:rPr>
              <a:t>제개정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이견 및 개선사항 등 심의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anose="05000000000000000000" pitchFamily="2" charset="2"/>
              </a:rPr>
              <a:t>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전사 전파 및 공유</a:t>
            </a: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1C3B56ED-E055-67E1-9034-C9F3F7C663DC}"/>
              </a:ext>
            </a:extLst>
          </p:cNvPr>
          <p:cNvSpPr/>
          <p:nvPr/>
        </p:nvSpPr>
        <p:spPr>
          <a:xfrm>
            <a:off x="334964" y="1741688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</a:t>
            </a: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BCC20E29-A43A-F467-2AD3-2255C7959D6E}"/>
              </a:ext>
            </a:extLst>
          </p:cNvPr>
          <p:cNvSpPr/>
          <p:nvPr/>
        </p:nvSpPr>
        <p:spPr>
          <a:xfrm>
            <a:off x="334964" y="4680434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8A82F349-B1F2-47B7-DCB9-E4FB89E66AFA}"/>
              </a:ext>
            </a:extLst>
          </p:cNvPr>
          <p:cNvSpPr/>
          <p:nvPr/>
        </p:nvSpPr>
        <p:spPr>
          <a:xfrm>
            <a:off x="334964" y="2727969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7C930044-EC31-7AC6-AF77-9A6FAECDC93D}"/>
              </a:ext>
            </a:extLst>
          </p:cNvPr>
          <p:cNvSpPr/>
          <p:nvPr/>
        </p:nvSpPr>
        <p:spPr>
          <a:xfrm>
            <a:off x="334964" y="3704201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26" name="Google Shape;134;p5">
            <a:extLst>
              <a:ext uri="{FF2B5EF4-FFF2-40B4-BE49-F238E27FC236}">
                <a16:creationId xmlns:a16="http://schemas.microsoft.com/office/drawing/2014/main" id="{71F83895-B32E-D6D2-4E8F-200FC6AFD6D4}"/>
              </a:ext>
            </a:extLst>
          </p:cNvPr>
          <p:cNvSpPr/>
          <p:nvPr/>
        </p:nvSpPr>
        <p:spPr>
          <a:xfrm>
            <a:off x="334964" y="5656665"/>
            <a:ext cx="1584324" cy="836247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</p:spTree>
    <p:extLst>
      <p:ext uri="{BB962C8B-B14F-4D97-AF65-F5344CB8AC3E}">
        <p14:creationId xmlns:p14="http://schemas.microsoft.com/office/powerpoint/2010/main" val="2062992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D311-9A8F-A1B6-E664-29A55F1A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83F931-0331-66FB-1DD0-55D8B1F310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EEAB-1019-4558-FB88-860735BED8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규정</a:t>
            </a:r>
            <a:r>
              <a:rPr lang="en-US" altLang="ko-KR"/>
              <a:t>/</a:t>
            </a:r>
            <a:r>
              <a:rPr lang="ko-KR" altLang="en-US"/>
              <a:t>지침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B10B4B-1442-FDDB-FEC1-D38489C8D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윤리기준을 최상위 규정 下 </a:t>
            </a:r>
            <a:r>
              <a:rPr lang="en-US" altLang="ko-KR"/>
              <a:t>AI</a:t>
            </a:r>
            <a:r>
              <a:rPr lang="ko-KR" altLang="en-US" err="1"/>
              <a:t>거버넌스규정을</a:t>
            </a:r>
            <a:r>
              <a:rPr lang="ko-KR" altLang="en-US"/>
              <a:t> 수립하였으며</a:t>
            </a:r>
            <a:r>
              <a:rPr lang="en-US" altLang="ko-KR"/>
              <a:t>, AI </a:t>
            </a:r>
            <a:r>
              <a:rPr lang="ko-KR" altLang="en-US"/>
              <a:t>관련 업무 프로세스 전반에 걸친 표준화된 기준 및 방안은 지침에 수립함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CC67A48-BC14-0312-B24E-06F87B7AE515}"/>
              </a:ext>
            </a:extLst>
          </p:cNvPr>
          <p:cNvSpPr/>
          <p:nvPr/>
        </p:nvSpPr>
        <p:spPr>
          <a:xfrm>
            <a:off x="334963" y="1736827"/>
            <a:ext cx="11557000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규정 체계 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0" name="사각형: 둥근 모서리 41">
            <a:extLst>
              <a:ext uri="{FF2B5EF4-FFF2-40B4-BE49-F238E27FC236}">
                <a16:creationId xmlns:a16="http://schemas.microsoft.com/office/drawing/2014/main" id="{746DE06A-123F-DBDB-EF23-C219ADA7B472}"/>
              </a:ext>
            </a:extLst>
          </p:cNvPr>
          <p:cNvSpPr/>
          <p:nvPr/>
        </p:nvSpPr>
        <p:spPr>
          <a:xfrm>
            <a:off x="2184484" y="2612871"/>
            <a:ext cx="1940501" cy="56317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윤리기준</a:t>
            </a:r>
          </a:p>
        </p:txBody>
      </p:sp>
      <p:sp>
        <p:nvSpPr>
          <p:cNvPr id="14" name="사각형: 둥근 모서리 41">
            <a:extLst>
              <a:ext uri="{FF2B5EF4-FFF2-40B4-BE49-F238E27FC236}">
                <a16:creationId xmlns:a16="http://schemas.microsoft.com/office/drawing/2014/main" id="{207DDB36-16C5-EB7F-8E19-1F1EF11E1B58}"/>
              </a:ext>
            </a:extLst>
          </p:cNvPr>
          <p:cNvSpPr/>
          <p:nvPr/>
        </p:nvSpPr>
        <p:spPr>
          <a:xfrm>
            <a:off x="719498" y="4950762"/>
            <a:ext cx="1940501" cy="563172"/>
          </a:xfrm>
          <a:prstGeom prst="round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운영지침</a:t>
            </a:r>
          </a:p>
        </p:txBody>
      </p:sp>
      <p:sp>
        <p:nvSpPr>
          <p:cNvPr id="15" name="사각형: 둥근 모서리 41">
            <a:extLst>
              <a:ext uri="{FF2B5EF4-FFF2-40B4-BE49-F238E27FC236}">
                <a16:creationId xmlns:a16="http://schemas.microsoft.com/office/drawing/2014/main" id="{8651B7CB-514F-F166-17F0-053C40D17642}"/>
              </a:ext>
            </a:extLst>
          </p:cNvPr>
          <p:cNvSpPr/>
          <p:nvPr/>
        </p:nvSpPr>
        <p:spPr>
          <a:xfrm>
            <a:off x="3488288" y="4950762"/>
            <a:ext cx="1940501" cy="563172"/>
          </a:xfrm>
          <a:prstGeom prst="round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운영지침</a:t>
            </a:r>
          </a:p>
        </p:txBody>
      </p:sp>
      <p:cxnSp>
        <p:nvCxnSpPr>
          <p:cNvPr id="16" name="연결선: 꺾임 48">
            <a:extLst>
              <a:ext uri="{FF2B5EF4-FFF2-40B4-BE49-F238E27FC236}">
                <a16:creationId xmlns:a16="http://schemas.microsoft.com/office/drawing/2014/main" id="{4939293E-0956-613D-2F6E-291622AEE0BD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rot="16200000" flipH="1">
            <a:off x="2919278" y="3411500"/>
            <a:ext cx="1774719" cy="1303804"/>
          </a:xfrm>
          <a:prstGeom prst="bentConnector3">
            <a:avLst>
              <a:gd name="adj1" fmla="val 6889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48">
            <a:extLst>
              <a:ext uri="{FF2B5EF4-FFF2-40B4-BE49-F238E27FC236}">
                <a16:creationId xmlns:a16="http://schemas.microsoft.com/office/drawing/2014/main" id="{FC852786-1B6A-16A5-057D-E45F3184AC43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1534883" y="3330909"/>
            <a:ext cx="1774719" cy="1464986"/>
          </a:xfrm>
          <a:prstGeom prst="bentConnector3">
            <a:avLst>
              <a:gd name="adj1" fmla="val 6889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41">
            <a:extLst>
              <a:ext uri="{FF2B5EF4-FFF2-40B4-BE49-F238E27FC236}">
                <a16:creationId xmlns:a16="http://schemas.microsoft.com/office/drawing/2014/main" id="{E6E61A64-A4F1-1FE7-C10C-943F7C092531}"/>
              </a:ext>
            </a:extLst>
          </p:cNvPr>
          <p:cNvSpPr/>
          <p:nvPr/>
        </p:nvSpPr>
        <p:spPr>
          <a:xfrm>
            <a:off x="2184484" y="3591936"/>
            <a:ext cx="1940501" cy="563172"/>
          </a:xfrm>
          <a:prstGeom prst="roundRect">
            <a:avLst/>
          </a:prstGeom>
          <a:solidFill>
            <a:srgbClr val="F4B183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거버넌스규정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24" name="직사각형 5">
            <a:extLst>
              <a:ext uri="{FF2B5EF4-FFF2-40B4-BE49-F238E27FC236}">
                <a16:creationId xmlns:a16="http://schemas.microsoft.com/office/drawing/2014/main" id="{169E5F53-3E87-E96E-78C2-45049774A089}"/>
              </a:ext>
            </a:extLst>
          </p:cNvPr>
          <p:cNvSpPr/>
          <p:nvPr/>
        </p:nvSpPr>
        <p:spPr>
          <a:xfrm>
            <a:off x="334963" y="5874154"/>
            <a:ext cx="985954" cy="563173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비고 </a:t>
            </a:r>
          </a:p>
        </p:txBody>
      </p:sp>
      <p:sp>
        <p:nvSpPr>
          <p:cNvPr id="25" name="직사각형 6">
            <a:extLst>
              <a:ext uri="{FF2B5EF4-FFF2-40B4-BE49-F238E27FC236}">
                <a16:creationId xmlns:a16="http://schemas.microsoft.com/office/drawing/2014/main" id="{CF5A525D-F697-A527-AB60-AC83437BCD2A}"/>
              </a:ext>
            </a:extLst>
          </p:cNvPr>
          <p:cNvSpPr/>
          <p:nvPr/>
        </p:nvSpPr>
        <p:spPr>
          <a:xfrm>
            <a:off x="1435138" y="5874154"/>
            <a:ext cx="4589143" cy="563173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 지침 및 개인정보보호 지침 등은 정보보호 산하 관리</a:t>
            </a:r>
            <a:endParaRPr lang="ko-KR" altLang="en-US" sz="1200" b="1" u="sng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7F031F55-3A6A-8DD6-6A2C-76FC6FF9111D}"/>
              </a:ext>
            </a:extLst>
          </p:cNvPr>
          <p:cNvSpPr>
            <a:spLocks/>
          </p:cNvSpPr>
          <p:nvPr/>
        </p:nvSpPr>
        <p:spPr bwMode="auto">
          <a:xfrm>
            <a:off x="6376818" y="2387599"/>
            <a:ext cx="5349621" cy="4137025"/>
          </a:xfrm>
          <a:prstGeom prst="roundRect">
            <a:avLst>
              <a:gd name="adj" fmla="val 7741"/>
            </a:avLst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108000" rIns="3600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인권보장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 전 단계에서 인간의 존엄과 가치를 존중하며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인간의 권리와 자유를 침해하지 않아야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공정성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는 사용자의 다양성과 대표성을 반영하여 설계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운영되어야 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모든 사람에게 차별 없이 공정하게 적용되어야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투명성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활용 목적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방식 및 주요 위험에 대해 이해관계자가 인지할 수 있도록 적절한 수준의 투명성과 설명가능성을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신뢰성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에 활용되는 데이터는 목적에 부합하게 수집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이용되어야 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데이터 품질 및 위험을 체계적으로 관리하여 신뢰성을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책임성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활용과 관련된 책임 주체를 명확히 하여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발생 가능한 피해에 대해 책임 있게 대응해야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안정성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가 인간에게 직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간접적인 해를 초래해서는 안 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잠재적 위험을 사전에 식별하고 관리할 수 있도록 설계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운영되어야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보안성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 전 과정에서 오류 또는 침해 발생 시 통제 수단을 포함한 보호조치를 마련하여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AI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활용 시 보안을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A308382E-E43C-9B4F-C3DC-18EEA0F04425}"/>
              </a:ext>
            </a:extLst>
          </p:cNvPr>
          <p:cNvSpPr/>
          <p:nvPr/>
        </p:nvSpPr>
        <p:spPr>
          <a:xfrm>
            <a:off x="7197429" y="2174849"/>
            <a:ext cx="3708401" cy="32541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윤리기준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ED1EB047-EE9F-64D9-ED35-52DD8E283853}"/>
              </a:ext>
            </a:extLst>
          </p:cNvPr>
          <p:cNvSpPr/>
          <p:nvPr/>
        </p:nvSpPr>
        <p:spPr>
          <a:xfrm>
            <a:off x="371963" y="202784"/>
            <a:ext cx="430677" cy="432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6843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C7CD-07A6-6008-28A8-F550985D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946AD4-DE82-4191-A58E-BDC33B3CEF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0FF680-5694-ECD5-614E-C00FDEE1A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(1/3)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13E29E-AF45-7545-F4AD-C879774A4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 err="1"/>
              <a:t>거버넌스규정의</a:t>
            </a:r>
            <a:r>
              <a:rPr lang="ko-KR" altLang="en-US"/>
              <a:t>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092E667A-3F9D-8997-537C-AB0791B2FE31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686F551A-C707-DF72-E9E3-7A0E0950CD68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ED027CD3-E453-EDC5-E119-243B8130062A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2482C321-2E78-1DDA-D0D4-2A8FBCA71F57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326CE046-3AB4-1B0D-F189-478F287921BF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C3CA1B37-999F-E968-334A-EDF7E9583A5C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3D48F42B-AE49-D59D-8629-921B00ED2068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이용자 및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금융소비자의 보호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AECEB873-25C2-F326-D879-5935E12882E3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활용과 관련한 위험을 체계적으로 관리 위해 내부 규정으로 정의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6B8B9607-BD8D-2DE3-C1B4-377EF35A9B66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조직 구성 및 역할 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8D8A18E7-0A14-70DD-3BF0-BBE4D8A2F710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</a:t>
            </a:r>
          </a:p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정책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생애 주기별 정책 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 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E15EB224-7BD1-5DCE-1374-10752F126C93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전사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7F1894-4FAE-F141-DBEE-09B593D8F5E5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E7C60474-6A08-6577-C756-91F8DE39BD60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1762DD5E-A1D0-26F5-B29F-CC4969CA2DFB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E8942230-CFD1-9B31-5F26-83ECA0ED5EB0}"/>
              </a:ext>
            </a:extLst>
          </p:cNvPr>
          <p:cNvSpPr/>
          <p:nvPr/>
        </p:nvSpPr>
        <p:spPr>
          <a:xfrm>
            <a:off x="5935702" y="342293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윤리기준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FE3023D4-2FFE-9DDA-A169-634D0A33FA40}"/>
              </a:ext>
            </a:extLst>
          </p:cNvPr>
          <p:cNvSpPr/>
          <p:nvPr/>
        </p:nvSpPr>
        <p:spPr>
          <a:xfrm>
            <a:off x="5935702" y="38839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13D99F82-225A-8F84-A6FA-16037B4F8A57}"/>
              </a:ext>
            </a:extLst>
          </p:cNvPr>
          <p:cNvSpPr/>
          <p:nvPr/>
        </p:nvSpPr>
        <p:spPr>
          <a:xfrm>
            <a:off x="5935702" y="434497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이용자</a:t>
            </a:r>
            <a:r>
              <a:rPr lang="ko-KR" altLang="en-US" sz="1100" b="1" spc="-150">
                <a:latin typeface="+mn-ea"/>
                <a:cs typeface="Pretendard" panose="02000503000000020004" pitchFamily="50" charset="-127"/>
              </a:rPr>
              <a:t> 및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금융소비자의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A7DD4A65-75FC-B2FD-A690-769572DD3BD1}"/>
              </a:ext>
            </a:extLst>
          </p:cNvPr>
          <p:cNvSpPr/>
          <p:nvPr/>
        </p:nvSpPr>
        <p:spPr>
          <a:xfrm>
            <a:off x="8906961" y="53883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공통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" name="Rectangle: Rounded Corners 46">
            <a:extLst>
              <a:ext uri="{FF2B5EF4-FFF2-40B4-BE49-F238E27FC236}">
                <a16:creationId xmlns:a16="http://schemas.microsoft.com/office/drawing/2014/main" id="{68FDB8AF-3CEB-74C4-9C24-8561D50185B6}"/>
              </a:ext>
            </a:extLst>
          </p:cNvPr>
          <p:cNvSpPr/>
          <p:nvPr/>
        </p:nvSpPr>
        <p:spPr>
          <a:xfrm>
            <a:off x="8906961" y="580003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생애주기별 관리 정책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99B8DC9-1E21-D756-AA97-B10E8A944ECA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5676637" y="3325865"/>
            <a:ext cx="29902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F324EB0-5366-30A6-8938-AA5F39ABE692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5431422" y="3541670"/>
            <a:ext cx="789450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7DEA6B9D-8242-FE74-95D3-2EEFCC0C8300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5213638" y="3784906"/>
            <a:ext cx="122502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0A856704-C7C9-AF2E-6D3A-28EF7B0FBC39}"/>
              </a:ext>
            </a:extLst>
          </p:cNvPr>
          <p:cNvSpPr/>
          <p:nvPr/>
        </p:nvSpPr>
        <p:spPr>
          <a:xfrm>
            <a:off x="5598487" y="288991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원칙 및 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ABAF4A3-3C91-9C13-5B72-3C8B5B073B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63647" y="5053533"/>
            <a:ext cx="46752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61960AF-51F3-2530-4B22-F9F0A51D7B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04338" y="5312842"/>
            <a:ext cx="986140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46">
            <a:extLst>
              <a:ext uri="{FF2B5EF4-FFF2-40B4-BE49-F238E27FC236}">
                <a16:creationId xmlns:a16="http://schemas.microsoft.com/office/drawing/2014/main" id="{061FF93D-DF81-2EEF-BB33-0856AD42F3B6}"/>
              </a:ext>
            </a:extLst>
          </p:cNvPr>
          <p:cNvSpPr/>
          <p:nvPr/>
        </p:nvSpPr>
        <p:spPr>
          <a:xfrm>
            <a:off x="8569746" y="4904574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5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위험관리정책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3" name="Rectangle: Rounded Corners 46">
            <a:extLst>
              <a:ext uri="{FF2B5EF4-FFF2-40B4-BE49-F238E27FC236}">
                <a16:creationId xmlns:a16="http://schemas.microsoft.com/office/drawing/2014/main" id="{03CE3A4B-EDF4-1B86-0D3C-7FBFE75CAC71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47E5FA5A-59DB-65FD-63BC-5221DD99406E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F07BA1CB-E057-7F2E-1A4E-69DBA0523939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E8B9929C-EF47-2DEB-06B8-6A51C6D1AE8D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A5317790-890F-E593-16B2-C695A75DF0D1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55168640-ADCA-91D0-A33E-1BC579D8F1B6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B90B9113-9AD2-4819-79CC-CD86B414B8F0}"/>
              </a:ext>
            </a:extLst>
          </p:cNvPr>
          <p:cNvSpPr/>
          <p:nvPr/>
        </p:nvSpPr>
        <p:spPr>
          <a:xfrm>
            <a:off x="5935702" y="480599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68963F85-6C98-6D63-44C2-645555D28E0C}"/>
              </a:ext>
            </a:extLst>
          </p:cNvPr>
          <p:cNvSpPr/>
          <p:nvPr/>
        </p:nvSpPr>
        <p:spPr>
          <a:xfrm>
            <a:off x="5935702" y="526701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30BC5728-6865-A890-6B65-520875B8AA1E}"/>
              </a:ext>
            </a:extLst>
          </p:cNvPr>
          <p:cNvSpPr/>
          <p:nvPr/>
        </p:nvSpPr>
        <p:spPr>
          <a:xfrm>
            <a:off x="5598486" y="5728032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거버넌스 담당 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조직 및 협의체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64" name="Rectangle: Rounded Corners 46">
            <a:extLst>
              <a:ext uri="{FF2B5EF4-FFF2-40B4-BE49-F238E27FC236}">
                <a16:creationId xmlns:a16="http://schemas.microsoft.com/office/drawing/2014/main" id="{C7D2D623-7B02-FF33-EE11-776E9A41D85E}"/>
              </a:ext>
            </a:extLst>
          </p:cNvPr>
          <p:cNvSpPr/>
          <p:nvPr/>
        </p:nvSpPr>
        <p:spPr>
          <a:xfrm>
            <a:off x="8906961" y="284593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공통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5" name="Rectangle: Rounded Corners 46">
            <a:extLst>
              <a:ext uri="{FF2B5EF4-FFF2-40B4-BE49-F238E27FC236}">
                <a16:creationId xmlns:a16="http://schemas.microsoft.com/office/drawing/2014/main" id="{3113979F-C7FA-EA44-B72B-8868D7727E2B}"/>
              </a:ext>
            </a:extLst>
          </p:cNvPr>
          <p:cNvSpPr/>
          <p:nvPr/>
        </p:nvSpPr>
        <p:spPr>
          <a:xfrm>
            <a:off x="8906961" y="325766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6" name="Rectangle: Rounded Corners 46">
            <a:extLst>
              <a:ext uri="{FF2B5EF4-FFF2-40B4-BE49-F238E27FC236}">
                <a16:creationId xmlns:a16="http://schemas.microsoft.com/office/drawing/2014/main" id="{2AC9CC35-69A4-6AFF-BF6D-1B09F279B7AE}"/>
              </a:ext>
            </a:extLst>
          </p:cNvPr>
          <p:cNvSpPr/>
          <p:nvPr/>
        </p:nvSpPr>
        <p:spPr>
          <a:xfrm>
            <a:off x="8906961" y="366939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7" name="Rectangle: Rounded Corners 46">
            <a:extLst>
              <a:ext uri="{FF2B5EF4-FFF2-40B4-BE49-F238E27FC236}">
                <a16:creationId xmlns:a16="http://schemas.microsoft.com/office/drawing/2014/main" id="{78ADE4D1-9BEC-0C95-29E5-6443DDE67AF5}"/>
              </a:ext>
            </a:extLst>
          </p:cNvPr>
          <p:cNvSpPr/>
          <p:nvPr/>
        </p:nvSpPr>
        <p:spPr>
          <a:xfrm>
            <a:off x="8906961" y="408111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8" name="Rectangle: Rounded Corners 46">
            <a:extLst>
              <a:ext uri="{FF2B5EF4-FFF2-40B4-BE49-F238E27FC236}">
                <a16:creationId xmlns:a16="http://schemas.microsoft.com/office/drawing/2014/main" id="{E71F021B-E08C-687F-7E0C-4D2CE87120BF}"/>
              </a:ext>
            </a:extLst>
          </p:cNvPr>
          <p:cNvSpPr/>
          <p:nvPr/>
        </p:nvSpPr>
        <p:spPr>
          <a:xfrm>
            <a:off x="8906961" y="44928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73" name="연결선: 꺾임 27">
            <a:extLst>
              <a:ext uri="{FF2B5EF4-FFF2-40B4-BE49-F238E27FC236}">
                <a16:creationId xmlns:a16="http://schemas.microsoft.com/office/drawing/2014/main" id="{7059D0B9-7917-7B14-2D65-B12CD4D48223}"/>
              </a:ext>
            </a:extLst>
          </p:cNvPr>
          <p:cNvCxnSpPr>
            <a:cxnSpLocks/>
            <a:endCxn id="44" idx="1"/>
          </p:cNvCxnSpPr>
          <p:nvPr/>
        </p:nvCxnSpPr>
        <p:spPr>
          <a:xfrm rot="16200000" flipH="1">
            <a:off x="4985105" y="4017393"/>
            <a:ext cx="1682084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27">
            <a:extLst>
              <a:ext uri="{FF2B5EF4-FFF2-40B4-BE49-F238E27FC236}">
                <a16:creationId xmlns:a16="http://schemas.microsoft.com/office/drawing/2014/main" id="{1CAF4652-1C61-0433-6CFE-184656495F91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4754595" y="4247903"/>
            <a:ext cx="2143104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227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EF44E85-5228-7AC9-CA1B-DEEA186A4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D4BAE-C10C-CE68-AA06-E98A9FEBB7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(2/3)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4832D-654D-75A3-739E-F8A0CFBD21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 err="1"/>
              <a:t>거버넌스운영지침의</a:t>
            </a:r>
            <a:r>
              <a:rPr lang="ko-KR" altLang="en-US"/>
              <a:t>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55DE054D-21DD-DEB2-B02C-30A63C90E080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918A46F7-4303-3645-6ADE-69F71CDC7D45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B374565C-17E9-B991-F03A-439BA1D3EEFF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61695D5B-7A9B-2970-F11A-2E2E727CBF59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AB4BE079-0DA6-538B-6B77-B97F18FD487B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76297EE8-9FE3-BDBF-198E-6B9A2DF6C0EE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3FDCB3BC-480D-2D51-3364-D630DCBC233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이용자 및  금융소비자의 보호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임직원 윤리 교육 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60E34B14-71FD-CBF0-73D3-82CB917EA454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17ED1001-D582-361C-BC4A-03E62D1354A0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수행 조직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 업무 담당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담당자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),  AI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거버넌스협의체</a:t>
            </a:r>
            <a:endParaRPr kumimoji="0" lang="ko-KR" altLang="en-US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BD17941F-0C18-5D28-79A3-45DF0ABD9B39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DC449716-ECCF-4EB2-8204-0AC2DC902127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운영담당자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 </a:t>
            </a:r>
            <a:endParaRPr lang="en-US" altLang="ko-KR" sz="1200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</a:t>
            </a:r>
            <a:r>
              <a:rPr lang="ko-KR" altLang="en-US" sz="1200" kern="0" err="1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거버넌스담당자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2" name="Rectangle: Rounded Corners 46">
            <a:extLst>
              <a:ext uri="{FF2B5EF4-FFF2-40B4-BE49-F238E27FC236}">
                <a16:creationId xmlns:a16="http://schemas.microsoft.com/office/drawing/2014/main" id="{EF97FE1C-24E5-8B92-5C4C-D41861B550F4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3" name="Rectangle: Rounded Corners 46">
            <a:extLst>
              <a:ext uri="{FF2B5EF4-FFF2-40B4-BE49-F238E27FC236}">
                <a16:creationId xmlns:a16="http://schemas.microsoft.com/office/drawing/2014/main" id="{15CEB7D3-E955-AE73-DD5B-5E5A468E8980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8998B7F4-99D7-E2DE-0703-C8F40A98C505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A19DC8C8-FE85-F5C3-7AA5-3014E5599D7C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7A72AEA4-8BDF-9707-1E05-A513C18BF22E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06B0FF-B1EC-3C38-4BB3-BB9D40C50CB4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56" name="직사각형 16">
            <a:extLst>
              <a:ext uri="{FF2B5EF4-FFF2-40B4-BE49-F238E27FC236}">
                <a16:creationId xmlns:a16="http://schemas.microsoft.com/office/drawing/2014/main" id="{A61869AC-6783-8434-1DDA-F9D3EB37F4DB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57" name="Rectangle: Rounded Corners 46">
            <a:extLst>
              <a:ext uri="{FF2B5EF4-FFF2-40B4-BE49-F238E27FC236}">
                <a16:creationId xmlns:a16="http://schemas.microsoft.com/office/drawing/2014/main" id="{554686AD-A980-35BF-E07B-7DD1D9E7EA53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59" name="Rectangle: Rounded Corners 46">
            <a:extLst>
              <a:ext uri="{FF2B5EF4-FFF2-40B4-BE49-F238E27FC236}">
                <a16:creationId xmlns:a16="http://schemas.microsoft.com/office/drawing/2014/main" id="{732F18ED-5E15-703F-F6E2-E128E3DAA0A9}"/>
              </a:ext>
            </a:extLst>
          </p:cNvPr>
          <p:cNvSpPr/>
          <p:nvPr/>
        </p:nvSpPr>
        <p:spPr>
          <a:xfrm>
            <a:off x="5935702" y="334807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E8AF6569-B10D-6EDA-5ED8-D30945B4FE37}"/>
              </a:ext>
            </a:extLst>
          </p:cNvPr>
          <p:cNvSpPr/>
          <p:nvPr/>
        </p:nvSpPr>
        <p:spPr>
          <a:xfrm>
            <a:off x="5935702" y="3771663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이용자</a:t>
            </a:r>
            <a:r>
              <a:rPr lang="ko-KR" altLang="en-US" sz="1100" b="1" spc="-150">
                <a:latin typeface="+mn-ea"/>
                <a:cs typeface="Pretendard" panose="02000503000000020004" pitchFamily="50" charset="-127"/>
              </a:rPr>
              <a:t> 및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금융소비자의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1" name="Rectangle: Rounded Corners 46">
            <a:extLst>
              <a:ext uri="{FF2B5EF4-FFF2-40B4-BE49-F238E27FC236}">
                <a16:creationId xmlns:a16="http://schemas.microsoft.com/office/drawing/2014/main" id="{8C919CF7-54B1-6847-40EA-90168F3881DD}"/>
              </a:ext>
            </a:extLst>
          </p:cNvPr>
          <p:cNvSpPr/>
          <p:nvPr/>
        </p:nvSpPr>
        <p:spPr>
          <a:xfrm>
            <a:off x="5935702" y="41952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임직원 윤리 교육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2" name="Rectangle: Rounded Corners 46">
            <a:extLst>
              <a:ext uri="{FF2B5EF4-FFF2-40B4-BE49-F238E27FC236}">
                <a16:creationId xmlns:a16="http://schemas.microsoft.com/office/drawing/2014/main" id="{79CD2EFD-8840-2B96-FD5A-30FA2277ECC5}"/>
              </a:ext>
            </a:extLst>
          </p:cNvPr>
          <p:cNvSpPr/>
          <p:nvPr/>
        </p:nvSpPr>
        <p:spPr>
          <a:xfrm>
            <a:off x="8906961" y="490109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6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3" name="Rectangle: Rounded Corners 46">
            <a:extLst>
              <a:ext uri="{FF2B5EF4-FFF2-40B4-BE49-F238E27FC236}">
                <a16:creationId xmlns:a16="http://schemas.microsoft.com/office/drawing/2014/main" id="{6766017E-1650-CB0C-3F52-744932F9903B}"/>
              </a:ext>
            </a:extLst>
          </p:cNvPr>
          <p:cNvSpPr/>
          <p:nvPr/>
        </p:nvSpPr>
        <p:spPr>
          <a:xfrm>
            <a:off x="8906961" y="531224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7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64" name="연결선: 꺾임 25">
            <a:extLst>
              <a:ext uri="{FF2B5EF4-FFF2-40B4-BE49-F238E27FC236}">
                <a16:creationId xmlns:a16="http://schemas.microsoft.com/office/drawing/2014/main" id="{A75066B9-CFF2-94D5-B268-4240E44CDD72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5695351" y="3269721"/>
            <a:ext cx="261592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26">
            <a:extLst>
              <a:ext uri="{FF2B5EF4-FFF2-40B4-BE49-F238E27FC236}">
                <a16:creationId xmlns:a16="http://schemas.microsoft.com/office/drawing/2014/main" id="{51F8DC42-E67A-F51E-F882-348EEBCD78FD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5483557" y="3481518"/>
            <a:ext cx="68518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27">
            <a:extLst>
              <a:ext uri="{FF2B5EF4-FFF2-40B4-BE49-F238E27FC236}">
                <a16:creationId xmlns:a16="http://schemas.microsoft.com/office/drawing/2014/main" id="{D390A475-54D0-A6E9-BCE5-A2E22A29146B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5271761" y="3693312"/>
            <a:ext cx="1108773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46">
            <a:extLst>
              <a:ext uri="{FF2B5EF4-FFF2-40B4-BE49-F238E27FC236}">
                <a16:creationId xmlns:a16="http://schemas.microsoft.com/office/drawing/2014/main" id="{4A040836-5AE7-EA5A-7D16-B1E93CFDE75E}"/>
              </a:ext>
            </a:extLst>
          </p:cNvPr>
          <p:cNvSpPr/>
          <p:nvPr/>
        </p:nvSpPr>
        <p:spPr>
          <a:xfrm>
            <a:off x="5598487" y="2852481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일반지침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68" name="연결선: 꺾임 29">
            <a:extLst>
              <a:ext uri="{FF2B5EF4-FFF2-40B4-BE49-F238E27FC236}">
                <a16:creationId xmlns:a16="http://schemas.microsoft.com/office/drawing/2014/main" id="{15512BCF-AD63-30B8-D191-0DFD9CA95424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8464603" y="2976144"/>
            <a:ext cx="665612" cy="2191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30">
            <a:extLst>
              <a:ext uri="{FF2B5EF4-FFF2-40B4-BE49-F238E27FC236}">
                <a16:creationId xmlns:a16="http://schemas.microsoft.com/office/drawing/2014/main" id="{05A59565-069C-46A8-3077-D1709164E902}"/>
              </a:ext>
            </a:extLst>
          </p:cNvPr>
          <p:cNvCxnSpPr>
            <a:cxnSpLocks/>
            <a:endCxn id="74" idx="1"/>
          </p:cNvCxnSpPr>
          <p:nvPr/>
        </p:nvCxnSpPr>
        <p:spPr>
          <a:xfrm rot="16200000" flipH="1">
            <a:off x="8672491" y="2772884"/>
            <a:ext cx="249834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46">
            <a:extLst>
              <a:ext uri="{FF2B5EF4-FFF2-40B4-BE49-F238E27FC236}">
                <a16:creationId xmlns:a16="http://schemas.microsoft.com/office/drawing/2014/main" id="{96C74B10-E7FA-E87E-CE5E-8448103851C4}"/>
              </a:ext>
            </a:extLst>
          </p:cNvPr>
          <p:cNvSpPr/>
          <p:nvPr/>
        </p:nvSpPr>
        <p:spPr>
          <a:xfrm>
            <a:off x="5598486" y="461884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수행 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74" name="Rectangle: Rounded Corners 46">
            <a:extLst>
              <a:ext uri="{FF2B5EF4-FFF2-40B4-BE49-F238E27FC236}">
                <a16:creationId xmlns:a16="http://schemas.microsoft.com/office/drawing/2014/main" id="{A284B6EC-0FC3-A9C7-5E2F-92EFED4B5530}"/>
              </a:ext>
            </a:extLst>
          </p:cNvPr>
          <p:cNvSpPr/>
          <p:nvPr/>
        </p:nvSpPr>
        <p:spPr>
          <a:xfrm>
            <a:off x="8906961" y="28453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5" name="Rectangle: Rounded Corners 46">
            <a:extLst>
              <a:ext uri="{FF2B5EF4-FFF2-40B4-BE49-F238E27FC236}">
                <a16:creationId xmlns:a16="http://schemas.microsoft.com/office/drawing/2014/main" id="{4374AF30-267B-A348-55A4-9A6CF26E2B56}"/>
              </a:ext>
            </a:extLst>
          </p:cNvPr>
          <p:cNvSpPr/>
          <p:nvPr/>
        </p:nvSpPr>
        <p:spPr>
          <a:xfrm>
            <a:off x="8906961" y="32565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6" name="Rectangle: Rounded Corners 46">
            <a:extLst>
              <a:ext uri="{FF2B5EF4-FFF2-40B4-BE49-F238E27FC236}">
                <a16:creationId xmlns:a16="http://schemas.microsoft.com/office/drawing/2014/main" id="{3CB8D47C-8369-3032-9FF3-3C31267A747D}"/>
              </a:ext>
            </a:extLst>
          </p:cNvPr>
          <p:cNvSpPr/>
          <p:nvPr/>
        </p:nvSpPr>
        <p:spPr>
          <a:xfrm>
            <a:off x="8906961" y="36676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7" name="Rectangle: Rounded Corners 46">
            <a:extLst>
              <a:ext uri="{FF2B5EF4-FFF2-40B4-BE49-F238E27FC236}">
                <a16:creationId xmlns:a16="http://schemas.microsoft.com/office/drawing/2014/main" id="{712D266D-DB2A-C612-5C94-23ABD1620636}"/>
              </a:ext>
            </a:extLst>
          </p:cNvPr>
          <p:cNvSpPr/>
          <p:nvPr/>
        </p:nvSpPr>
        <p:spPr>
          <a:xfrm>
            <a:off x="8906961" y="407879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8" name="Rectangle: Rounded Corners 46">
            <a:extLst>
              <a:ext uri="{FF2B5EF4-FFF2-40B4-BE49-F238E27FC236}">
                <a16:creationId xmlns:a16="http://schemas.microsoft.com/office/drawing/2014/main" id="{B7FA1CB5-A117-E697-26C5-8FE2E447D064}"/>
              </a:ext>
            </a:extLst>
          </p:cNvPr>
          <p:cNvSpPr/>
          <p:nvPr/>
        </p:nvSpPr>
        <p:spPr>
          <a:xfrm>
            <a:off x="8906961" y="44899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7" name="Rectangle: Rounded Corners 46">
            <a:extLst>
              <a:ext uri="{FF2B5EF4-FFF2-40B4-BE49-F238E27FC236}">
                <a16:creationId xmlns:a16="http://schemas.microsoft.com/office/drawing/2014/main" id="{383D1F28-7EF6-63DD-2A5F-30DE21C43FAE}"/>
              </a:ext>
            </a:extLst>
          </p:cNvPr>
          <p:cNvSpPr/>
          <p:nvPr/>
        </p:nvSpPr>
        <p:spPr>
          <a:xfrm>
            <a:off x="5935702" y="511647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업무 담당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8" name="Rectangle: Rounded Corners 46">
            <a:extLst>
              <a:ext uri="{FF2B5EF4-FFF2-40B4-BE49-F238E27FC236}">
                <a16:creationId xmlns:a16="http://schemas.microsoft.com/office/drawing/2014/main" id="{680C5B91-F75E-F144-7B20-5AE9891A7923}"/>
              </a:ext>
            </a:extLst>
          </p:cNvPr>
          <p:cNvSpPr/>
          <p:nvPr/>
        </p:nvSpPr>
        <p:spPr>
          <a:xfrm>
            <a:off x="5935702" y="5540069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거버넌스 담당자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89" name="Rectangle: Rounded Corners 46">
            <a:extLst>
              <a:ext uri="{FF2B5EF4-FFF2-40B4-BE49-F238E27FC236}">
                <a16:creationId xmlns:a16="http://schemas.microsoft.com/office/drawing/2014/main" id="{9D09844A-EC82-BA2E-3DA6-F497A87B466A}"/>
              </a:ext>
            </a:extLst>
          </p:cNvPr>
          <p:cNvSpPr/>
          <p:nvPr/>
        </p:nvSpPr>
        <p:spPr>
          <a:xfrm>
            <a:off x="5935702" y="596366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거버넌스협의체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90" name="연결선: 꺾임 25">
            <a:extLst>
              <a:ext uri="{FF2B5EF4-FFF2-40B4-BE49-F238E27FC236}">
                <a16:creationId xmlns:a16="http://schemas.microsoft.com/office/drawing/2014/main" id="{5D505150-B1F7-25C0-D8AF-DA9DFCE15E2D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5695351" y="5038127"/>
            <a:ext cx="261592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26">
            <a:extLst>
              <a:ext uri="{FF2B5EF4-FFF2-40B4-BE49-F238E27FC236}">
                <a16:creationId xmlns:a16="http://schemas.microsoft.com/office/drawing/2014/main" id="{E5F2E581-7A28-37DB-7D7B-4DBA83AF109A}"/>
              </a:ext>
            </a:extLst>
          </p:cNvPr>
          <p:cNvCxnSpPr>
            <a:cxnSpLocks/>
            <a:endCxn id="88" idx="1"/>
          </p:cNvCxnSpPr>
          <p:nvPr/>
        </p:nvCxnSpPr>
        <p:spPr>
          <a:xfrm rot="16200000" flipH="1">
            <a:off x="5483557" y="5249924"/>
            <a:ext cx="68518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27">
            <a:extLst>
              <a:ext uri="{FF2B5EF4-FFF2-40B4-BE49-F238E27FC236}">
                <a16:creationId xmlns:a16="http://schemas.microsoft.com/office/drawing/2014/main" id="{998B42E3-DE26-2369-D62C-633A67078CFD}"/>
              </a:ext>
            </a:extLst>
          </p:cNvPr>
          <p:cNvCxnSpPr>
            <a:cxnSpLocks/>
            <a:endCxn id="89" idx="1"/>
          </p:cNvCxnSpPr>
          <p:nvPr/>
        </p:nvCxnSpPr>
        <p:spPr>
          <a:xfrm rot="16200000" flipH="1">
            <a:off x="5271761" y="5461718"/>
            <a:ext cx="1108773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29">
            <a:extLst>
              <a:ext uri="{FF2B5EF4-FFF2-40B4-BE49-F238E27FC236}">
                <a16:creationId xmlns:a16="http://schemas.microsoft.com/office/drawing/2014/main" id="{058F301D-4C4F-F846-0815-645684074C7F}"/>
              </a:ext>
            </a:extLst>
          </p:cNvPr>
          <p:cNvCxnSpPr>
            <a:cxnSpLocks/>
            <a:endCxn id="76" idx="1"/>
          </p:cNvCxnSpPr>
          <p:nvPr/>
        </p:nvCxnSpPr>
        <p:spPr>
          <a:xfrm rot="16200000" flipH="1">
            <a:off x="8469002" y="3391691"/>
            <a:ext cx="65681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29">
            <a:extLst>
              <a:ext uri="{FF2B5EF4-FFF2-40B4-BE49-F238E27FC236}">
                <a16:creationId xmlns:a16="http://schemas.microsoft.com/office/drawing/2014/main" id="{E345DA30-7006-C2AE-BB8B-D25DB40DCD0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8054026" y="3387863"/>
            <a:ext cx="148676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29">
            <a:extLst>
              <a:ext uri="{FF2B5EF4-FFF2-40B4-BE49-F238E27FC236}">
                <a16:creationId xmlns:a16="http://schemas.microsoft.com/office/drawing/2014/main" id="{9CA80A72-2249-D15C-3107-7BDCD197A177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7849493" y="3594478"/>
            <a:ext cx="1895826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29">
            <a:extLst>
              <a:ext uri="{FF2B5EF4-FFF2-40B4-BE49-F238E27FC236}">
                <a16:creationId xmlns:a16="http://schemas.microsoft.com/office/drawing/2014/main" id="{1A89A18A-E3D0-0E14-A29E-15B42C531627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7640560" y="3796693"/>
            <a:ext cx="2313690" cy="2191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29">
            <a:extLst>
              <a:ext uri="{FF2B5EF4-FFF2-40B4-BE49-F238E27FC236}">
                <a16:creationId xmlns:a16="http://schemas.microsoft.com/office/drawing/2014/main" id="{2CB81368-1B8B-6845-9F02-7B16F325E51E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7439959" y="4007240"/>
            <a:ext cx="2714890" cy="21911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46">
            <a:extLst>
              <a:ext uri="{FF2B5EF4-FFF2-40B4-BE49-F238E27FC236}">
                <a16:creationId xmlns:a16="http://schemas.microsoft.com/office/drawing/2014/main" id="{C8662F04-207B-DB84-B6B2-8B6E6C4E8B61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24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47FC338-D11C-88A4-596A-BEFA494A15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24203-C6AF-0773-2993-2AB35F3AB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(3/3)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D6294-DBE4-379E-1E65-CF60792BAE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개발</a:t>
            </a:r>
            <a:r>
              <a:rPr lang="en-US" altLang="ko-KR"/>
              <a:t>·</a:t>
            </a:r>
            <a:r>
              <a:rPr lang="ko-KR" altLang="en-US"/>
              <a:t>운영지침의 주요 내용은 다음과 같음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1D613886-4663-32BC-A99E-86B9B203D9E3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C7EB3EB-3F0E-04E3-5249-F2429B151F4C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C02B0A4D-CE6B-295D-1B32-A53E033F1978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4D12C54C-C708-0470-A4EB-B68C8D48487A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7CA94A0B-D4F8-77C1-3DE5-AF5774B70816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2600E6D8-FFFE-7F50-5041-B44353D7100B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F2543A00-8946-DA51-D0C6-F7B517E92A6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lvl="0" indent="-171450" defTabSz="1042873">
              <a:buFont typeface="Arial" panose="020B0604020202020204" pitchFamily="34" charset="0"/>
              <a:buChar char="•"/>
              <a:defRPr/>
            </a:pP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및 운영 원칙 및 기준</a:t>
            </a:r>
            <a:endParaRPr kumimoji="0" lang="ko-KR" altLang="en-US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AD03683A-48DC-E7F9-672E-84DA08813D7E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FD91F465-C7F5-7EB3-A5BB-C82BC0ACDCA8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 담당 역할</a:t>
            </a: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2E2611F4-4F2B-0374-C6A6-D303AB1C389C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lvl="0" indent="-171450" defTabSz="1042873">
              <a:buFont typeface="Arial" panose="020B0604020202020204" pitchFamily="34" charset="0"/>
              <a:buChar char="•"/>
              <a:defRPr/>
            </a:pP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및 운영 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: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기획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평가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b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10014681-C4D5-59F4-BDE4-2D15CA13186D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운영담당자</a:t>
            </a:r>
            <a:endParaRPr lang="en-US" altLang="ko-KR" sz="1200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9AB7591A-A0B4-0992-6E33-A646787FF75F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DB7A8522-7E7A-CD2C-62F3-CA4DC9C32266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836C9E34-FB4C-421C-08F2-30B1537A447B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B5E070E2-0368-1052-D126-28937B48146A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811E81C2-5C5A-BF2A-9985-D85F0375B5A7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9" name="Rectangle: Rounded Corners 46">
            <a:extLst>
              <a:ext uri="{FF2B5EF4-FFF2-40B4-BE49-F238E27FC236}">
                <a16:creationId xmlns:a16="http://schemas.microsoft.com/office/drawing/2014/main" id="{5557F104-3EC0-A9DD-59B2-379563C7CD96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0" name="직사각형 16">
            <a:extLst>
              <a:ext uri="{FF2B5EF4-FFF2-40B4-BE49-F238E27FC236}">
                <a16:creationId xmlns:a16="http://schemas.microsoft.com/office/drawing/2014/main" id="{B411B611-573B-1B96-B1C8-18B1DCAE7850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41" name="Rectangle: Rounded Corners 46">
            <a:extLst>
              <a:ext uri="{FF2B5EF4-FFF2-40B4-BE49-F238E27FC236}">
                <a16:creationId xmlns:a16="http://schemas.microsoft.com/office/drawing/2014/main" id="{186A95DB-D9D3-F782-6A3C-67C1B4BB97A1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747FE0F4-44D0-59CC-FBBA-8B17B3F38D25}"/>
              </a:ext>
            </a:extLst>
          </p:cNvPr>
          <p:cNvSpPr/>
          <p:nvPr/>
        </p:nvSpPr>
        <p:spPr>
          <a:xfrm>
            <a:off x="8906961" y="490109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6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2A514C8D-AC50-D44E-A4C2-0AEA2AD01071}"/>
              </a:ext>
            </a:extLst>
          </p:cNvPr>
          <p:cNvSpPr/>
          <p:nvPr/>
        </p:nvSpPr>
        <p:spPr>
          <a:xfrm>
            <a:off x="8906961" y="531224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7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0" name="Rectangle: Rounded Corners 46">
            <a:extLst>
              <a:ext uri="{FF2B5EF4-FFF2-40B4-BE49-F238E27FC236}">
                <a16:creationId xmlns:a16="http://schemas.microsoft.com/office/drawing/2014/main" id="{ABCD98B5-3C6C-FF32-E530-4806A10C0F7C}"/>
              </a:ext>
            </a:extLst>
          </p:cNvPr>
          <p:cNvSpPr/>
          <p:nvPr/>
        </p:nvSpPr>
        <p:spPr>
          <a:xfrm>
            <a:off x="5598487" y="2852481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 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운영 담당 역할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4" name="연결선: 꺾임 29">
            <a:extLst>
              <a:ext uri="{FF2B5EF4-FFF2-40B4-BE49-F238E27FC236}">
                <a16:creationId xmlns:a16="http://schemas.microsoft.com/office/drawing/2014/main" id="{AB2C3232-F831-2C9F-D390-600D6F67A940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8464603" y="2976144"/>
            <a:ext cx="665612" cy="2191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30">
            <a:extLst>
              <a:ext uri="{FF2B5EF4-FFF2-40B4-BE49-F238E27FC236}">
                <a16:creationId xmlns:a16="http://schemas.microsoft.com/office/drawing/2014/main" id="{DD387C1F-CF05-5703-36F6-FAC6B5FEC9FA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8672491" y="2772884"/>
            <a:ext cx="249834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46">
            <a:extLst>
              <a:ext uri="{FF2B5EF4-FFF2-40B4-BE49-F238E27FC236}">
                <a16:creationId xmlns:a16="http://schemas.microsoft.com/office/drawing/2014/main" id="{9138C2DD-36FE-AE39-0882-C700DEC2E119}"/>
              </a:ext>
            </a:extLst>
          </p:cNvPr>
          <p:cNvSpPr/>
          <p:nvPr/>
        </p:nvSpPr>
        <p:spPr>
          <a:xfrm>
            <a:off x="8906961" y="28453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8" name="Rectangle: Rounded Corners 46">
            <a:extLst>
              <a:ext uri="{FF2B5EF4-FFF2-40B4-BE49-F238E27FC236}">
                <a16:creationId xmlns:a16="http://schemas.microsoft.com/office/drawing/2014/main" id="{A8E3533B-D61D-8389-2E1E-79EE6CA38A65}"/>
              </a:ext>
            </a:extLst>
          </p:cNvPr>
          <p:cNvSpPr/>
          <p:nvPr/>
        </p:nvSpPr>
        <p:spPr>
          <a:xfrm>
            <a:off x="8906961" y="32565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9" name="Rectangle: Rounded Corners 46">
            <a:extLst>
              <a:ext uri="{FF2B5EF4-FFF2-40B4-BE49-F238E27FC236}">
                <a16:creationId xmlns:a16="http://schemas.microsoft.com/office/drawing/2014/main" id="{9072C010-3FF6-109A-8252-5ED4DBFEF417}"/>
              </a:ext>
            </a:extLst>
          </p:cNvPr>
          <p:cNvSpPr/>
          <p:nvPr/>
        </p:nvSpPr>
        <p:spPr>
          <a:xfrm>
            <a:off x="8906961" y="36676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4DD3A4DF-99E4-58FD-D0D9-2B087C48AA87}"/>
              </a:ext>
            </a:extLst>
          </p:cNvPr>
          <p:cNvSpPr/>
          <p:nvPr/>
        </p:nvSpPr>
        <p:spPr>
          <a:xfrm>
            <a:off x="8906961" y="407879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1" name="Rectangle: Rounded Corners 46">
            <a:extLst>
              <a:ext uri="{FF2B5EF4-FFF2-40B4-BE49-F238E27FC236}">
                <a16:creationId xmlns:a16="http://schemas.microsoft.com/office/drawing/2014/main" id="{0A1E48EA-2AED-D445-6004-25A4D49D4DD8}"/>
              </a:ext>
            </a:extLst>
          </p:cNvPr>
          <p:cNvSpPr/>
          <p:nvPr/>
        </p:nvSpPr>
        <p:spPr>
          <a:xfrm>
            <a:off x="8906961" y="44899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68" name="연결선: 꺾임 29">
            <a:extLst>
              <a:ext uri="{FF2B5EF4-FFF2-40B4-BE49-F238E27FC236}">
                <a16:creationId xmlns:a16="http://schemas.microsoft.com/office/drawing/2014/main" id="{C541BCFE-E795-8783-B2EF-88A458552E20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8469002" y="3391691"/>
            <a:ext cx="65681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29">
            <a:extLst>
              <a:ext uri="{FF2B5EF4-FFF2-40B4-BE49-F238E27FC236}">
                <a16:creationId xmlns:a16="http://schemas.microsoft.com/office/drawing/2014/main" id="{C0F23999-5C24-6877-5832-02BE0FB55AFE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8054026" y="3387863"/>
            <a:ext cx="148676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29">
            <a:extLst>
              <a:ext uri="{FF2B5EF4-FFF2-40B4-BE49-F238E27FC236}">
                <a16:creationId xmlns:a16="http://schemas.microsoft.com/office/drawing/2014/main" id="{C7229944-AC0A-5CDE-4033-3BF962BE5411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7849493" y="3594478"/>
            <a:ext cx="1895826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29">
            <a:extLst>
              <a:ext uri="{FF2B5EF4-FFF2-40B4-BE49-F238E27FC236}">
                <a16:creationId xmlns:a16="http://schemas.microsoft.com/office/drawing/2014/main" id="{27ACCCBA-0BBD-E580-8EC3-D03524B746CC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7640560" y="3796693"/>
            <a:ext cx="2313690" cy="2191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29">
            <a:extLst>
              <a:ext uri="{FF2B5EF4-FFF2-40B4-BE49-F238E27FC236}">
                <a16:creationId xmlns:a16="http://schemas.microsoft.com/office/drawing/2014/main" id="{D3ADFDB0-C81C-4C00-E4C7-41130A2A3815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7439959" y="4007240"/>
            <a:ext cx="2714890" cy="21911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46">
            <a:extLst>
              <a:ext uri="{FF2B5EF4-FFF2-40B4-BE49-F238E27FC236}">
                <a16:creationId xmlns:a16="http://schemas.microsoft.com/office/drawing/2014/main" id="{FBB2AEAF-F4C4-3551-2E0F-7FD23AA2C821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7255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A7A3-39B2-29B7-A0C7-F4497293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50DA46-846F-2A1A-9FA0-91C0386D7E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5427B6-07EB-652A-3B98-8EF74E742A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규제요건의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</a:t>
            </a:r>
            <a:r>
              <a:rPr lang="ko-KR" altLang="en-US" err="1"/>
              <a:t>규정</a:t>
            </a:r>
            <a:r>
              <a:rPr lang="ko-KR" altLang="en-US" err="1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err="1"/>
              <a:t>지침</a:t>
            </a:r>
            <a:r>
              <a:rPr lang="ko-KR" altLang="en-US"/>
              <a:t> 매핑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CC8C8-A275-B975-03C2-885F7C076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미래에셋증권에</a:t>
            </a:r>
            <a:r>
              <a:rPr lang="ko-KR" altLang="en-US"/>
              <a:t> 적합한 </a:t>
            </a:r>
            <a:r>
              <a:rPr lang="en-US" altLang="ko-KR"/>
              <a:t>AI </a:t>
            </a:r>
            <a:r>
              <a:rPr lang="ko-KR" altLang="en-US"/>
              <a:t>거버넌스 운영 체계를 수립하기 위해 관련 요건을 종합적으로 분석하고 체계적으로 반영함</a:t>
            </a:r>
          </a:p>
        </p:txBody>
      </p:sp>
      <p:cxnSp>
        <p:nvCxnSpPr>
          <p:cNvPr id="145" name="직선 연결선 147">
            <a:extLst>
              <a:ext uri="{FF2B5EF4-FFF2-40B4-BE49-F238E27FC236}">
                <a16:creationId xmlns:a16="http://schemas.microsoft.com/office/drawing/2014/main" id="{440C8B64-B4C0-E835-E7E1-069AB4E5459A}"/>
              </a:ext>
            </a:extLst>
          </p:cNvPr>
          <p:cNvCxnSpPr>
            <a:cxnSpLocks/>
          </p:cNvCxnSpPr>
          <p:nvPr/>
        </p:nvCxnSpPr>
        <p:spPr>
          <a:xfrm>
            <a:off x="6592314" y="1785843"/>
            <a:ext cx="0" cy="4670655"/>
          </a:xfrm>
          <a:prstGeom prst="line">
            <a:avLst/>
          </a:prstGeom>
          <a:ln w="19050">
            <a:solidFill>
              <a:srgbClr val="8F8F9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20">
            <a:extLst>
              <a:ext uri="{FF2B5EF4-FFF2-40B4-BE49-F238E27FC236}">
                <a16:creationId xmlns:a16="http://schemas.microsoft.com/office/drawing/2014/main" id="{D3F0F7C9-3EAF-BA7E-1394-FD187A819FA1}"/>
              </a:ext>
            </a:extLst>
          </p:cNvPr>
          <p:cNvSpPr/>
          <p:nvPr/>
        </p:nvSpPr>
        <p:spPr>
          <a:xfrm>
            <a:off x="6658340" y="1341437"/>
            <a:ext cx="165638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거버넌스규정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7" name="사각형: 둥근 모서리 20">
            <a:extLst>
              <a:ext uri="{FF2B5EF4-FFF2-40B4-BE49-F238E27FC236}">
                <a16:creationId xmlns:a16="http://schemas.microsoft.com/office/drawing/2014/main" id="{CAC22804-4845-4A99-052C-C7CA699F5121}"/>
              </a:ext>
            </a:extLst>
          </p:cNvPr>
          <p:cNvSpPr/>
          <p:nvPr/>
        </p:nvSpPr>
        <p:spPr>
          <a:xfrm>
            <a:off x="8446779" y="1341437"/>
            <a:ext cx="165674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거버넌스운영지침</a:t>
            </a:r>
            <a:endParaRPr kumimoji="1" lang="ko-KR" altLang="en-US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0" name="사각형: 둥근 모서리 20">
            <a:extLst>
              <a:ext uri="{FF2B5EF4-FFF2-40B4-BE49-F238E27FC236}">
                <a16:creationId xmlns:a16="http://schemas.microsoft.com/office/drawing/2014/main" id="{FB7A44B0-CE35-62AA-F3AA-E090342CAC75}"/>
              </a:ext>
            </a:extLst>
          </p:cNvPr>
          <p:cNvSpPr/>
          <p:nvPr/>
        </p:nvSpPr>
        <p:spPr>
          <a:xfrm>
            <a:off x="10235577" y="1341437"/>
            <a:ext cx="165638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개발</a:t>
            </a: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·</a:t>
            </a: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운영지침</a:t>
            </a:r>
          </a:p>
        </p:txBody>
      </p:sp>
      <p:sp>
        <p:nvSpPr>
          <p:cNvPr id="61" name="사각형: 둥근 모서리 20">
            <a:extLst>
              <a:ext uri="{FF2B5EF4-FFF2-40B4-BE49-F238E27FC236}">
                <a16:creationId xmlns:a16="http://schemas.microsoft.com/office/drawing/2014/main" id="{25432FF3-B117-9832-C6B0-A5D387A2ED92}"/>
              </a:ext>
            </a:extLst>
          </p:cNvPr>
          <p:cNvSpPr/>
          <p:nvPr/>
        </p:nvSpPr>
        <p:spPr>
          <a:xfrm>
            <a:off x="334964" y="1341437"/>
            <a:ext cx="2029785" cy="395287"/>
          </a:xfrm>
          <a:prstGeom prst="roundRect">
            <a:avLst>
              <a:gd name="adj" fmla="val 0"/>
            </a:avLst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요건 상위 분류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2" name="사각형: 둥근 모서리 20">
            <a:extLst>
              <a:ext uri="{FF2B5EF4-FFF2-40B4-BE49-F238E27FC236}">
                <a16:creationId xmlns:a16="http://schemas.microsoft.com/office/drawing/2014/main" id="{9D1D04C1-490F-7C63-9525-FEC87BA09430}"/>
              </a:ext>
            </a:extLst>
          </p:cNvPr>
          <p:cNvSpPr/>
          <p:nvPr/>
        </p:nvSpPr>
        <p:spPr>
          <a:xfrm>
            <a:off x="2496801" y="1341437"/>
            <a:ext cx="4029486" cy="395287"/>
          </a:xfrm>
          <a:prstGeom prst="roundRect">
            <a:avLst>
              <a:gd name="adj" fmla="val 0"/>
            </a:avLst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요건 하위 분류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64" name="그룹 25">
            <a:extLst>
              <a:ext uri="{FF2B5EF4-FFF2-40B4-BE49-F238E27FC236}">
                <a16:creationId xmlns:a16="http://schemas.microsoft.com/office/drawing/2014/main" id="{038D3611-8EBA-EF5B-AE99-4A4CADA3AC27}"/>
              </a:ext>
            </a:extLst>
          </p:cNvPr>
          <p:cNvGrpSpPr/>
          <p:nvPr/>
        </p:nvGrpSpPr>
        <p:grpSpPr>
          <a:xfrm>
            <a:off x="334963" y="3651241"/>
            <a:ext cx="11556999" cy="304799"/>
            <a:chOff x="407986" y="3959341"/>
            <a:chExt cx="11376027" cy="304799"/>
          </a:xfrm>
        </p:grpSpPr>
        <p:sp>
          <p:nvSpPr>
            <p:cNvPr id="65" name="사각형: 둥근 모서리 45">
              <a:extLst>
                <a:ext uri="{FF2B5EF4-FFF2-40B4-BE49-F238E27FC236}">
                  <a16:creationId xmlns:a16="http://schemas.microsoft.com/office/drawing/2014/main" id="{CCCC7715-E471-39CF-361F-ACF442065A1E}"/>
                </a:ext>
              </a:extLst>
            </p:cNvPr>
            <p:cNvSpPr/>
            <p:nvPr/>
          </p:nvSpPr>
          <p:spPr>
            <a:xfrm>
              <a:off x="6632345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6" name="사각형: 둥근 모서리 20">
              <a:extLst>
                <a:ext uri="{FF2B5EF4-FFF2-40B4-BE49-F238E27FC236}">
                  <a16:creationId xmlns:a16="http://schemas.microsoft.com/office/drawing/2014/main" id="{DCF1B095-2405-D61F-654A-D768E1A18295}"/>
                </a:ext>
              </a:extLst>
            </p:cNvPr>
            <p:cNvSpPr/>
            <p:nvPr/>
          </p:nvSpPr>
          <p:spPr>
            <a:xfrm>
              <a:off x="10153565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grpSp>
          <p:nvGrpSpPr>
            <p:cNvPr id="67" name="그룹 9">
              <a:extLst>
                <a:ext uri="{FF2B5EF4-FFF2-40B4-BE49-F238E27FC236}">
                  <a16:creationId xmlns:a16="http://schemas.microsoft.com/office/drawing/2014/main" id="{95FE8010-9515-751F-F1B7-5C817FEEBED0}"/>
                </a:ext>
              </a:extLst>
            </p:cNvPr>
            <p:cNvGrpSpPr/>
            <p:nvPr/>
          </p:nvGrpSpPr>
          <p:grpSpPr>
            <a:xfrm>
              <a:off x="407986" y="3959341"/>
              <a:ext cx="6094375" cy="304799"/>
              <a:chOff x="407986" y="3959341"/>
              <a:chExt cx="6094375" cy="304799"/>
            </a:xfrm>
          </p:grpSpPr>
          <p:sp>
            <p:nvSpPr>
              <p:cNvPr id="69" name="사각형: 둥근 모서리 48">
                <a:extLst>
                  <a:ext uri="{FF2B5EF4-FFF2-40B4-BE49-F238E27FC236}">
                    <a16:creationId xmlns:a16="http://schemas.microsoft.com/office/drawing/2014/main" id="{81A57D35-B602-7F0B-48B5-442DDFCDC970}"/>
                  </a:ext>
                </a:extLst>
              </p:cNvPr>
              <p:cNvSpPr/>
              <p:nvPr/>
            </p:nvSpPr>
            <p:spPr>
              <a:xfrm>
                <a:off x="407986" y="395934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위험관리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영향평가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70" name="사각형: 둥근 모서리 49">
                <a:extLst>
                  <a:ext uri="{FF2B5EF4-FFF2-40B4-BE49-F238E27FC236}">
                    <a16:creationId xmlns:a16="http://schemas.microsoft.com/office/drawing/2014/main" id="{C310B75B-B30B-8D0B-2E94-6975BE8B478E}"/>
                  </a:ext>
                </a:extLst>
              </p:cNvPr>
              <p:cNvSpPr/>
              <p:nvPr/>
            </p:nvSpPr>
            <p:spPr>
              <a:xfrm>
                <a:off x="2535971" y="395934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AI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위험평가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영향도 분석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68" name="사각형: 둥근 모서리 114">
              <a:extLst>
                <a:ext uri="{FF2B5EF4-FFF2-40B4-BE49-F238E27FC236}">
                  <a16:creationId xmlns:a16="http://schemas.microsoft.com/office/drawing/2014/main" id="{DD27043D-C3F5-F9E0-60D4-AB92A48D6F84}"/>
                </a:ext>
              </a:extLst>
            </p:cNvPr>
            <p:cNvSpPr/>
            <p:nvPr/>
          </p:nvSpPr>
          <p:spPr>
            <a:xfrm>
              <a:off x="8393132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1" name="그룹 17">
            <a:extLst>
              <a:ext uri="{FF2B5EF4-FFF2-40B4-BE49-F238E27FC236}">
                <a16:creationId xmlns:a16="http://schemas.microsoft.com/office/drawing/2014/main" id="{480302A6-4093-7D7F-12AA-340BFF4542E3}"/>
              </a:ext>
            </a:extLst>
          </p:cNvPr>
          <p:cNvGrpSpPr/>
          <p:nvPr/>
        </p:nvGrpSpPr>
        <p:grpSpPr>
          <a:xfrm>
            <a:off x="334963" y="2928319"/>
            <a:ext cx="11556999" cy="304799"/>
            <a:chOff x="407986" y="3277813"/>
            <a:chExt cx="11376027" cy="304799"/>
          </a:xfrm>
        </p:grpSpPr>
        <p:sp>
          <p:nvSpPr>
            <p:cNvPr id="72" name="사각형: 둥근 모서리 90">
              <a:extLst>
                <a:ext uri="{FF2B5EF4-FFF2-40B4-BE49-F238E27FC236}">
                  <a16:creationId xmlns:a16="http://schemas.microsoft.com/office/drawing/2014/main" id="{0C5F23E8-D610-6CD1-781F-28134EF91F2C}"/>
                </a:ext>
              </a:extLst>
            </p:cNvPr>
            <p:cNvSpPr/>
            <p:nvPr/>
          </p:nvSpPr>
          <p:spPr>
            <a:xfrm>
              <a:off x="6632345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3" name="사각형: 둥근 모서리 20">
              <a:extLst>
                <a:ext uri="{FF2B5EF4-FFF2-40B4-BE49-F238E27FC236}">
                  <a16:creationId xmlns:a16="http://schemas.microsoft.com/office/drawing/2014/main" id="{6BF11C84-9387-F04A-A4D6-A3A7B8BB773A}"/>
                </a:ext>
              </a:extLst>
            </p:cNvPr>
            <p:cNvSpPr/>
            <p:nvPr/>
          </p:nvSpPr>
          <p:spPr>
            <a:xfrm>
              <a:off x="10153565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4" name="사각형: 둥근 모서리 93">
              <a:extLst>
                <a:ext uri="{FF2B5EF4-FFF2-40B4-BE49-F238E27FC236}">
                  <a16:creationId xmlns:a16="http://schemas.microsoft.com/office/drawing/2014/main" id="{59E4FCDE-40A0-92F0-EDE9-259DA6EB8069}"/>
                </a:ext>
              </a:extLst>
            </p:cNvPr>
            <p:cNvSpPr/>
            <p:nvPr/>
          </p:nvSpPr>
          <p:spPr>
            <a:xfrm>
              <a:off x="407986" y="3277813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임직원 교육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5" name="사각형: 둥근 모서리 94">
              <a:extLst>
                <a:ext uri="{FF2B5EF4-FFF2-40B4-BE49-F238E27FC236}">
                  <a16:creationId xmlns:a16="http://schemas.microsoft.com/office/drawing/2014/main" id="{6D3CFB51-B3D8-8100-E0F2-45D875D47BAE}"/>
                </a:ext>
              </a:extLst>
            </p:cNvPr>
            <p:cNvSpPr/>
            <p:nvPr/>
          </p:nvSpPr>
          <p:spPr>
            <a:xfrm>
              <a:off x="2535971" y="3277813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임직원 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AI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교육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6" name="사각형: 둥근 모서리 122">
              <a:extLst>
                <a:ext uri="{FF2B5EF4-FFF2-40B4-BE49-F238E27FC236}">
                  <a16:creationId xmlns:a16="http://schemas.microsoft.com/office/drawing/2014/main" id="{9121BBC9-ED14-95D9-7431-BF7ED6653601}"/>
                </a:ext>
              </a:extLst>
            </p:cNvPr>
            <p:cNvSpPr/>
            <p:nvPr/>
          </p:nvSpPr>
          <p:spPr>
            <a:xfrm>
              <a:off x="8393132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7" name="그룹 14">
            <a:extLst>
              <a:ext uri="{FF2B5EF4-FFF2-40B4-BE49-F238E27FC236}">
                <a16:creationId xmlns:a16="http://schemas.microsoft.com/office/drawing/2014/main" id="{EBA082E7-B676-79EE-7B63-7E6A6B542632}"/>
              </a:ext>
            </a:extLst>
          </p:cNvPr>
          <p:cNvGrpSpPr/>
          <p:nvPr/>
        </p:nvGrpSpPr>
        <p:grpSpPr>
          <a:xfrm>
            <a:off x="334965" y="1843936"/>
            <a:ext cx="11556997" cy="304799"/>
            <a:chOff x="407988" y="2255521"/>
            <a:chExt cx="11376025" cy="304799"/>
          </a:xfrm>
        </p:grpSpPr>
        <p:sp>
          <p:nvSpPr>
            <p:cNvPr id="78" name="사각형: 둥근 모서리 20">
              <a:extLst>
                <a:ext uri="{FF2B5EF4-FFF2-40B4-BE49-F238E27FC236}">
                  <a16:creationId xmlns:a16="http://schemas.microsoft.com/office/drawing/2014/main" id="{C9243454-E069-6422-DB6D-0A2C58DA50E3}"/>
                </a:ext>
              </a:extLst>
            </p:cNvPr>
            <p:cNvSpPr/>
            <p:nvPr/>
          </p:nvSpPr>
          <p:spPr>
            <a:xfrm>
              <a:off x="6632345" y="225552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  <a:sym typeface="Wingdings" panose="05000000000000000000" pitchFamily="2" charset="2"/>
                </a:rPr>
                <a:t>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9" name="사각형: 둥근 모서리 20">
              <a:extLst>
                <a:ext uri="{FF2B5EF4-FFF2-40B4-BE49-F238E27FC236}">
                  <a16:creationId xmlns:a16="http://schemas.microsoft.com/office/drawing/2014/main" id="{A92D9EDB-3BAE-F505-D99D-15B867E79611}"/>
                </a:ext>
              </a:extLst>
            </p:cNvPr>
            <p:cNvSpPr/>
            <p:nvPr/>
          </p:nvSpPr>
          <p:spPr>
            <a:xfrm>
              <a:off x="8392778" y="2255521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0" name="사각형: 둥근 모서리 23">
              <a:extLst>
                <a:ext uri="{FF2B5EF4-FFF2-40B4-BE49-F238E27FC236}">
                  <a16:creationId xmlns:a16="http://schemas.microsoft.com/office/drawing/2014/main" id="{486D99E7-5D55-C15A-0C8E-05096BB7C03F}"/>
                </a:ext>
              </a:extLst>
            </p:cNvPr>
            <p:cNvSpPr/>
            <p:nvPr/>
          </p:nvSpPr>
          <p:spPr>
            <a:xfrm>
              <a:off x="407988" y="2255521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정의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적용 범위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1" name="사각형: 둥근 모서리 24">
              <a:extLst>
                <a:ext uri="{FF2B5EF4-FFF2-40B4-BE49-F238E27FC236}">
                  <a16:creationId xmlns:a16="http://schemas.microsoft.com/office/drawing/2014/main" id="{12336345-80DA-818A-BE75-0CD597AB579A}"/>
                </a:ext>
              </a:extLst>
            </p:cNvPr>
            <p:cNvSpPr/>
            <p:nvPr/>
          </p:nvSpPr>
          <p:spPr>
            <a:xfrm>
              <a:off x="2535971" y="2255521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기본 원칙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적용 목적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2" name="사각형: 둥근 모서리 20">
              <a:extLst>
                <a:ext uri="{FF2B5EF4-FFF2-40B4-BE49-F238E27FC236}">
                  <a16:creationId xmlns:a16="http://schemas.microsoft.com/office/drawing/2014/main" id="{49D81623-8815-6B03-10F6-635437DBE702}"/>
                </a:ext>
              </a:extLst>
            </p:cNvPr>
            <p:cNvSpPr/>
            <p:nvPr/>
          </p:nvSpPr>
          <p:spPr>
            <a:xfrm>
              <a:off x="10153211" y="2255521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3" name="그룹 15">
            <a:extLst>
              <a:ext uri="{FF2B5EF4-FFF2-40B4-BE49-F238E27FC236}">
                <a16:creationId xmlns:a16="http://schemas.microsoft.com/office/drawing/2014/main" id="{AF766E65-DC46-60CC-7A9D-9664C67A2934}"/>
              </a:ext>
            </a:extLst>
          </p:cNvPr>
          <p:cNvGrpSpPr/>
          <p:nvPr/>
        </p:nvGrpSpPr>
        <p:grpSpPr>
          <a:xfrm>
            <a:off x="334963" y="2205397"/>
            <a:ext cx="11556999" cy="304799"/>
            <a:chOff x="407986" y="2596285"/>
            <a:chExt cx="11376027" cy="304799"/>
          </a:xfrm>
        </p:grpSpPr>
        <p:sp>
          <p:nvSpPr>
            <p:cNvPr id="84" name="사각형: 둥근 모서리 33">
              <a:extLst>
                <a:ext uri="{FF2B5EF4-FFF2-40B4-BE49-F238E27FC236}">
                  <a16:creationId xmlns:a16="http://schemas.microsoft.com/office/drawing/2014/main" id="{03B08010-2215-FA56-972C-9FD99F1030C6}"/>
                </a:ext>
              </a:extLst>
            </p:cNvPr>
            <p:cNvSpPr/>
            <p:nvPr/>
          </p:nvSpPr>
          <p:spPr>
            <a:xfrm>
              <a:off x="6632345" y="259628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5" name="사각형: 둥근 모서리 20">
              <a:extLst>
                <a:ext uri="{FF2B5EF4-FFF2-40B4-BE49-F238E27FC236}">
                  <a16:creationId xmlns:a16="http://schemas.microsoft.com/office/drawing/2014/main" id="{E0724D7E-EEE3-E62A-C6F8-29BBB96B15EA}"/>
                </a:ext>
              </a:extLst>
            </p:cNvPr>
            <p:cNvSpPr/>
            <p:nvPr/>
          </p:nvSpPr>
          <p:spPr>
            <a:xfrm>
              <a:off x="8392778" y="2596285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6" name="사각형: 둥근 모서리 36">
              <a:extLst>
                <a:ext uri="{FF2B5EF4-FFF2-40B4-BE49-F238E27FC236}">
                  <a16:creationId xmlns:a16="http://schemas.microsoft.com/office/drawing/2014/main" id="{015F31E4-135B-17F6-D59A-2F7D47D5ABAD}"/>
                </a:ext>
              </a:extLst>
            </p:cNvPr>
            <p:cNvSpPr/>
            <p:nvPr/>
          </p:nvSpPr>
          <p:spPr>
            <a:xfrm>
              <a:off x="407986" y="2596285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거버넌스 구조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7" name="사각형: 둥근 모서리 37">
              <a:extLst>
                <a:ext uri="{FF2B5EF4-FFF2-40B4-BE49-F238E27FC236}">
                  <a16:creationId xmlns:a16="http://schemas.microsoft.com/office/drawing/2014/main" id="{CE7F1185-F63B-4A97-9585-4E632E50AF93}"/>
                </a:ext>
              </a:extLst>
            </p:cNvPr>
            <p:cNvSpPr/>
            <p:nvPr/>
          </p:nvSpPr>
          <p:spPr>
            <a:xfrm>
              <a:off x="2535971" y="2596285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역할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책임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협의체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업무 분장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8" name="사각형: 둥근 모서리 20">
              <a:extLst>
                <a:ext uri="{FF2B5EF4-FFF2-40B4-BE49-F238E27FC236}">
                  <a16:creationId xmlns:a16="http://schemas.microsoft.com/office/drawing/2014/main" id="{AAAA2FB3-6A02-37F9-43C9-09B050215AF4}"/>
                </a:ext>
              </a:extLst>
            </p:cNvPr>
            <p:cNvSpPr/>
            <p:nvPr/>
          </p:nvSpPr>
          <p:spPr>
            <a:xfrm>
              <a:off x="10153211" y="2596285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9" name="그룹 16">
            <a:extLst>
              <a:ext uri="{FF2B5EF4-FFF2-40B4-BE49-F238E27FC236}">
                <a16:creationId xmlns:a16="http://schemas.microsoft.com/office/drawing/2014/main" id="{B0C3A7D1-BFD4-7BED-6C91-85FD5FE1062B}"/>
              </a:ext>
            </a:extLst>
          </p:cNvPr>
          <p:cNvGrpSpPr/>
          <p:nvPr/>
        </p:nvGrpSpPr>
        <p:grpSpPr>
          <a:xfrm>
            <a:off x="334963" y="2566858"/>
            <a:ext cx="11556995" cy="304799"/>
            <a:chOff x="407986" y="2937049"/>
            <a:chExt cx="11376027" cy="304799"/>
          </a:xfrm>
        </p:grpSpPr>
        <p:sp>
          <p:nvSpPr>
            <p:cNvPr id="90" name="사각형: 둥근 모서리 108">
              <a:extLst>
                <a:ext uri="{FF2B5EF4-FFF2-40B4-BE49-F238E27FC236}">
                  <a16:creationId xmlns:a16="http://schemas.microsoft.com/office/drawing/2014/main" id="{C6DCAE08-66A0-BEFD-8FE0-78EAAFF03623}"/>
                </a:ext>
              </a:extLst>
            </p:cNvPr>
            <p:cNvSpPr/>
            <p:nvPr/>
          </p:nvSpPr>
          <p:spPr>
            <a:xfrm>
              <a:off x="6632345" y="2937049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1" name="사각형: 둥근 모서리 111">
              <a:extLst>
                <a:ext uri="{FF2B5EF4-FFF2-40B4-BE49-F238E27FC236}">
                  <a16:creationId xmlns:a16="http://schemas.microsoft.com/office/drawing/2014/main" id="{FF28AFBD-4DA4-20E2-EFFD-28F92DD44458}"/>
                </a:ext>
              </a:extLst>
            </p:cNvPr>
            <p:cNvSpPr/>
            <p:nvPr/>
          </p:nvSpPr>
          <p:spPr>
            <a:xfrm>
              <a:off x="407986" y="2937049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위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수탁 및 </a:t>
              </a:r>
              <a:b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</a:b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이용자</a:t>
              </a:r>
              <a:r>
                <a:rPr kumimoji="1" lang="en-US" altLang="ko-KR" sz="1200" b="1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금융소비자 보호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2" name="사각형: 둥근 모서리 112">
              <a:extLst>
                <a:ext uri="{FF2B5EF4-FFF2-40B4-BE49-F238E27FC236}">
                  <a16:creationId xmlns:a16="http://schemas.microsoft.com/office/drawing/2014/main" id="{813BA070-84FC-BC3D-A589-9590F7A8EEB5}"/>
                </a:ext>
              </a:extLst>
            </p:cNvPr>
            <p:cNvSpPr/>
            <p:nvPr/>
          </p:nvSpPr>
          <p:spPr>
            <a:xfrm>
              <a:off x="2535971" y="2937049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lvl="0" indent="-17145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위탁 서비스 관리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이용자</a:t>
              </a:r>
              <a:r>
                <a:rPr kumimoji="1" lang="en-US" altLang="ko-KR" sz="12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·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금융소비자 보호 관리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3" name="사각형: 둥근 모서리 123">
              <a:extLst>
                <a:ext uri="{FF2B5EF4-FFF2-40B4-BE49-F238E27FC236}">
                  <a16:creationId xmlns:a16="http://schemas.microsoft.com/office/drawing/2014/main" id="{9513455E-AACC-356D-6E7C-A33A9F74824C}"/>
                </a:ext>
              </a:extLst>
            </p:cNvPr>
            <p:cNvSpPr/>
            <p:nvPr/>
          </p:nvSpPr>
          <p:spPr>
            <a:xfrm>
              <a:off x="8393132" y="2937049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사각형: 둥근 모서리 20">
              <a:extLst>
                <a:ext uri="{FF2B5EF4-FFF2-40B4-BE49-F238E27FC236}">
                  <a16:creationId xmlns:a16="http://schemas.microsoft.com/office/drawing/2014/main" id="{346B155C-D9CA-C9EB-73CF-B50FE6D86FB4}"/>
                </a:ext>
              </a:extLst>
            </p:cNvPr>
            <p:cNvSpPr/>
            <p:nvPr/>
          </p:nvSpPr>
          <p:spPr>
            <a:xfrm>
              <a:off x="10153211" y="2937049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5" name="그룹 22">
            <a:extLst>
              <a:ext uri="{FF2B5EF4-FFF2-40B4-BE49-F238E27FC236}">
                <a16:creationId xmlns:a16="http://schemas.microsoft.com/office/drawing/2014/main" id="{50E6B89B-BB1E-64CB-0E4F-0347AD785D70}"/>
              </a:ext>
            </a:extLst>
          </p:cNvPr>
          <p:cNvGrpSpPr/>
          <p:nvPr/>
        </p:nvGrpSpPr>
        <p:grpSpPr>
          <a:xfrm>
            <a:off x="334963" y="3289780"/>
            <a:ext cx="11556999" cy="304799"/>
            <a:chOff x="407986" y="3618577"/>
            <a:chExt cx="11376027" cy="304799"/>
          </a:xfrm>
        </p:grpSpPr>
        <p:sp>
          <p:nvSpPr>
            <p:cNvPr id="96" name="사각형: 둥근 모서리 39">
              <a:extLst>
                <a:ext uri="{FF2B5EF4-FFF2-40B4-BE49-F238E27FC236}">
                  <a16:creationId xmlns:a16="http://schemas.microsoft.com/office/drawing/2014/main" id="{3BBB9908-5C4A-5B3C-C25E-1309D0511718}"/>
                </a:ext>
              </a:extLst>
            </p:cNvPr>
            <p:cNvSpPr/>
            <p:nvPr/>
          </p:nvSpPr>
          <p:spPr>
            <a:xfrm>
              <a:off x="6632345" y="361857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7" name="사각형: 둥근 모서리 42">
              <a:extLst>
                <a:ext uri="{FF2B5EF4-FFF2-40B4-BE49-F238E27FC236}">
                  <a16:creationId xmlns:a16="http://schemas.microsoft.com/office/drawing/2014/main" id="{C253BD86-29D0-67D3-77A5-4CE2846EE720}"/>
                </a:ext>
              </a:extLst>
            </p:cNvPr>
            <p:cNvSpPr/>
            <p:nvPr/>
          </p:nvSpPr>
          <p:spPr>
            <a:xfrm>
              <a:off x="407986" y="3618577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규제준수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기준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8" name="사각형: 둥근 모서리 43">
              <a:extLst>
                <a:ext uri="{FF2B5EF4-FFF2-40B4-BE49-F238E27FC236}">
                  <a16:creationId xmlns:a16="http://schemas.microsoft.com/office/drawing/2014/main" id="{498E9898-0280-6638-6AB2-156673F4E9C8}"/>
                </a:ext>
              </a:extLst>
            </p:cNvPr>
            <p:cNvSpPr/>
            <p:nvPr/>
          </p:nvSpPr>
          <p:spPr>
            <a:xfrm>
              <a:off x="2535971" y="3618577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법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규정 준수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원칙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내부정책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9" name="사각형: 둥근 모서리 113">
              <a:extLst>
                <a:ext uri="{FF2B5EF4-FFF2-40B4-BE49-F238E27FC236}">
                  <a16:creationId xmlns:a16="http://schemas.microsoft.com/office/drawing/2014/main" id="{C8C5A180-2805-02DC-A569-93BF4C71409B}"/>
                </a:ext>
              </a:extLst>
            </p:cNvPr>
            <p:cNvSpPr/>
            <p:nvPr/>
          </p:nvSpPr>
          <p:spPr>
            <a:xfrm>
              <a:off x="8393132" y="361857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사각형: 둥근 모서리 20">
              <a:extLst>
                <a:ext uri="{FF2B5EF4-FFF2-40B4-BE49-F238E27FC236}">
                  <a16:creationId xmlns:a16="http://schemas.microsoft.com/office/drawing/2014/main" id="{6156985C-F436-2B0C-3623-F8D09EB88700}"/>
                </a:ext>
              </a:extLst>
            </p:cNvPr>
            <p:cNvSpPr/>
            <p:nvPr/>
          </p:nvSpPr>
          <p:spPr>
            <a:xfrm>
              <a:off x="10153211" y="3618577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1" name="그룹 26">
            <a:extLst>
              <a:ext uri="{FF2B5EF4-FFF2-40B4-BE49-F238E27FC236}">
                <a16:creationId xmlns:a16="http://schemas.microsoft.com/office/drawing/2014/main" id="{2992B952-2B73-004B-529C-5A9E0D1AD253}"/>
              </a:ext>
            </a:extLst>
          </p:cNvPr>
          <p:cNvGrpSpPr/>
          <p:nvPr/>
        </p:nvGrpSpPr>
        <p:grpSpPr>
          <a:xfrm>
            <a:off x="334963" y="4012702"/>
            <a:ext cx="11556999" cy="304799"/>
            <a:chOff x="407986" y="4300105"/>
            <a:chExt cx="11376027" cy="304799"/>
          </a:xfrm>
        </p:grpSpPr>
        <p:sp>
          <p:nvSpPr>
            <p:cNvPr id="102" name="사각형: 둥근 모서리 51">
              <a:extLst>
                <a:ext uri="{FF2B5EF4-FFF2-40B4-BE49-F238E27FC236}">
                  <a16:creationId xmlns:a16="http://schemas.microsoft.com/office/drawing/2014/main" id="{8F7D5675-6449-5559-FC81-ED21CEC3AAD2}"/>
                </a:ext>
              </a:extLst>
            </p:cNvPr>
            <p:cNvSpPr/>
            <p:nvPr/>
          </p:nvSpPr>
          <p:spPr>
            <a:xfrm>
              <a:off x="6632345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03" name="그룹 8">
              <a:extLst>
                <a:ext uri="{FF2B5EF4-FFF2-40B4-BE49-F238E27FC236}">
                  <a16:creationId xmlns:a16="http://schemas.microsoft.com/office/drawing/2014/main" id="{8FCBB8C2-3922-5703-C961-41CE9822B1B2}"/>
                </a:ext>
              </a:extLst>
            </p:cNvPr>
            <p:cNvGrpSpPr/>
            <p:nvPr/>
          </p:nvGrpSpPr>
          <p:grpSpPr>
            <a:xfrm>
              <a:off x="407986" y="4300105"/>
              <a:ext cx="6094375" cy="304799"/>
              <a:chOff x="407986" y="4300105"/>
              <a:chExt cx="6094375" cy="304799"/>
            </a:xfrm>
          </p:grpSpPr>
          <p:sp>
            <p:nvSpPr>
              <p:cNvPr id="106" name="사각형: 둥근 모서리 54">
                <a:extLst>
                  <a:ext uri="{FF2B5EF4-FFF2-40B4-BE49-F238E27FC236}">
                    <a16:creationId xmlns:a16="http://schemas.microsoft.com/office/drawing/2014/main" id="{899379BE-6D43-2236-7642-C864B4AC4A2F}"/>
                  </a:ext>
                </a:extLst>
              </p:cNvPr>
              <p:cNvSpPr/>
              <p:nvPr/>
            </p:nvSpPr>
            <p:spPr>
              <a:xfrm>
                <a:off x="407986" y="4300105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안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정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성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보안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07" name="사각형: 둥근 모서리 55">
                <a:extLst>
                  <a:ext uri="{FF2B5EF4-FFF2-40B4-BE49-F238E27FC236}">
                    <a16:creationId xmlns:a16="http://schemas.microsoft.com/office/drawing/2014/main" id="{7EB91BAB-CFAA-D9B0-0866-5E214FAD10FE}"/>
                  </a:ext>
                </a:extLst>
              </p:cNvPr>
              <p:cNvSpPr/>
              <p:nvPr/>
            </p:nvSpPr>
            <p:spPr>
              <a:xfrm>
                <a:off x="2535971" y="4300105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안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정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성 확보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보안 요건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04" name="사각형: 둥근 모서리 115">
              <a:extLst>
                <a:ext uri="{FF2B5EF4-FFF2-40B4-BE49-F238E27FC236}">
                  <a16:creationId xmlns:a16="http://schemas.microsoft.com/office/drawing/2014/main" id="{3BC63EEC-4BA9-10D8-F91E-0C26C98E0AF4}"/>
                </a:ext>
              </a:extLst>
            </p:cNvPr>
            <p:cNvSpPr/>
            <p:nvPr/>
          </p:nvSpPr>
          <p:spPr>
            <a:xfrm>
              <a:off x="8393132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5" name="사각형: 둥근 모서리 129">
              <a:extLst>
                <a:ext uri="{FF2B5EF4-FFF2-40B4-BE49-F238E27FC236}">
                  <a16:creationId xmlns:a16="http://schemas.microsoft.com/office/drawing/2014/main" id="{D89B3537-0832-E355-D274-D2FDAAB7AC4B}"/>
                </a:ext>
              </a:extLst>
            </p:cNvPr>
            <p:cNvSpPr/>
            <p:nvPr/>
          </p:nvSpPr>
          <p:spPr>
            <a:xfrm>
              <a:off x="10153565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8" name="그룹 27">
            <a:extLst>
              <a:ext uri="{FF2B5EF4-FFF2-40B4-BE49-F238E27FC236}">
                <a16:creationId xmlns:a16="http://schemas.microsoft.com/office/drawing/2014/main" id="{87833E71-12B5-567A-EAF9-A341A7C7FF58}"/>
              </a:ext>
            </a:extLst>
          </p:cNvPr>
          <p:cNvGrpSpPr/>
          <p:nvPr/>
        </p:nvGrpSpPr>
        <p:grpSpPr>
          <a:xfrm>
            <a:off x="334963" y="4374163"/>
            <a:ext cx="11556999" cy="304799"/>
            <a:chOff x="407986" y="4981633"/>
            <a:chExt cx="11376027" cy="304799"/>
          </a:xfrm>
        </p:grpSpPr>
        <p:sp>
          <p:nvSpPr>
            <p:cNvPr id="109" name="사각형: 둥근 모서리 64">
              <a:extLst>
                <a:ext uri="{FF2B5EF4-FFF2-40B4-BE49-F238E27FC236}">
                  <a16:creationId xmlns:a16="http://schemas.microsoft.com/office/drawing/2014/main" id="{98815EF4-B6D2-E61B-20E7-C711E6B63870}"/>
                </a:ext>
              </a:extLst>
            </p:cNvPr>
            <p:cNvSpPr/>
            <p:nvPr/>
          </p:nvSpPr>
          <p:spPr>
            <a:xfrm>
              <a:off x="6632345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0" name="그룹 3">
              <a:extLst>
                <a:ext uri="{FF2B5EF4-FFF2-40B4-BE49-F238E27FC236}">
                  <a16:creationId xmlns:a16="http://schemas.microsoft.com/office/drawing/2014/main" id="{21922C95-CE05-9156-D971-E08327D331EE}"/>
                </a:ext>
              </a:extLst>
            </p:cNvPr>
            <p:cNvGrpSpPr/>
            <p:nvPr/>
          </p:nvGrpSpPr>
          <p:grpSpPr>
            <a:xfrm>
              <a:off x="407986" y="4981633"/>
              <a:ext cx="6094375" cy="304799"/>
              <a:chOff x="407986" y="4981633"/>
              <a:chExt cx="6094375" cy="304799"/>
            </a:xfrm>
          </p:grpSpPr>
          <p:sp>
            <p:nvSpPr>
              <p:cNvPr id="113" name="사각형: 둥근 모서리 68">
                <a:extLst>
                  <a:ext uri="{FF2B5EF4-FFF2-40B4-BE49-F238E27FC236}">
                    <a16:creationId xmlns:a16="http://schemas.microsoft.com/office/drawing/2014/main" id="{D31F673A-D0FD-808B-C31B-52F829982A3A}"/>
                  </a:ext>
                </a:extLst>
              </p:cNvPr>
              <p:cNvSpPr/>
              <p:nvPr/>
            </p:nvSpPr>
            <p:spPr>
              <a:xfrm>
                <a:off x="407986" y="4981633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투명성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설명가능성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14" name="사각형: 둥근 모서리 70">
                <a:extLst>
                  <a:ext uri="{FF2B5EF4-FFF2-40B4-BE49-F238E27FC236}">
                    <a16:creationId xmlns:a16="http://schemas.microsoft.com/office/drawing/2014/main" id="{BCCB43D7-2D69-6BB1-FE56-04E71077D0DB}"/>
                  </a:ext>
                </a:extLst>
              </p:cNvPr>
              <p:cNvSpPr/>
              <p:nvPr/>
            </p:nvSpPr>
            <p:spPr>
              <a:xfrm>
                <a:off x="2535971" y="4981633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결과 설명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알림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기록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로깅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11" name="사각형: 둥근 모서리 117">
              <a:extLst>
                <a:ext uri="{FF2B5EF4-FFF2-40B4-BE49-F238E27FC236}">
                  <a16:creationId xmlns:a16="http://schemas.microsoft.com/office/drawing/2014/main" id="{241E5843-923D-B137-B911-2C81FDBDBB95}"/>
                </a:ext>
              </a:extLst>
            </p:cNvPr>
            <p:cNvSpPr/>
            <p:nvPr/>
          </p:nvSpPr>
          <p:spPr>
            <a:xfrm>
              <a:off x="8393132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" name="사각형: 둥근 모서리 130">
              <a:extLst>
                <a:ext uri="{FF2B5EF4-FFF2-40B4-BE49-F238E27FC236}">
                  <a16:creationId xmlns:a16="http://schemas.microsoft.com/office/drawing/2014/main" id="{8920F59F-29FC-31CB-7CB3-4FF4F00935A4}"/>
                </a:ext>
              </a:extLst>
            </p:cNvPr>
            <p:cNvSpPr/>
            <p:nvPr/>
          </p:nvSpPr>
          <p:spPr>
            <a:xfrm>
              <a:off x="10153565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5" name="그룹 28">
            <a:extLst>
              <a:ext uri="{FF2B5EF4-FFF2-40B4-BE49-F238E27FC236}">
                <a16:creationId xmlns:a16="http://schemas.microsoft.com/office/drawing/2014/main" id="{E4D28876-38AF-6605-E9FD-676CC13D1A4A}"/>
              </a:ext>
            </a:extLst>
          </p:cNvPr>
          <p:cNvGrpSpPr/>
          <p:nvPr/>
        </p:nvGrpSpPr>
        <p:grpSpPr>
          <a:xfrm>
            <a:off x="334963" y="4735624"/>
            <a:ext cx="11556999" cy="304799"/>
            <a:chOff x="407986" y="5322397"/>
            <a:chExt cx="11376027" cy="304799"/>
          </a:xfrm>
        </p:grpSpPr>
        <p:sp>
          <p:nvSpPr>
            <p:cNvPr id="116" name="사각형: 둥근 모서리 72">
              <a:extLst>
                <a:ext uri="{FF2B5EF4-FFF2-40B4-BE49-F238E27FC236}">
                  <a16:creationId xmlns:a16="http://schemas.microsoft.com/office/drawing/2014/main" id="{7C6F9CDB-71AC-C335-542F-A26E275A6388}"/>
                </a:ext>
              </a:extLst>
            </p:cNvPr>
            <p:cNvSpPr/>
            <p:nvPr/>
          </p:nvSpPr>
          <p:spPr>
            <a:xfrm>
              <a:off x="6632345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7" name="그룹 5">
              <a:extLst>
                <a:ext uri="{FF2B5EF4-FFF2-40B4-BE49-F238E27FC236}">
                  <a16:creationId xmlns:a16="http://schemas.microsoft.com/office/drawing/2014/main" id="{76CE8038-D1F8-D19E-226F-E5F383DC9C99}"/>
                </a:ext>
              </a:extLst>
            </p:cNvPr>
            <p:cNvGrpSpPr/>
            <p:nvPr/>
          </p:nvGrpSpPr>
          <p:grpSpPr>
            <a:xfrm>
              <a:off x="407986" y="5322397"/>
              <a:ext cx="6094375" cy="304799"/>
              <a:chOff x="407986" y="5322397"/>
              <a:chExt cx="6094375" cy="304799"/>
            </a:xfrm>
          </p:grpSpPr>
          <p:sp>
            <p:nvSpPr>
              <p:cNvPr id="120" name="사각형: 둥근 모서리 75">
                <a:extLst>
                  <a:ext uri="{FF2B5EF4-FFF2-40B4-BE49-F238E27FC236}">
                    <a16:creationId xmlns:a16="http://schemas.microsoft.com/office/drawing/2014/main" id="{98E68D5D-3A24-1CFD-6A59-F964C192522F}"/>
                  </a:ext>
                </a:extLst>
              </p:cNvPr>
              <p:cNvSpPr/>
              <p:nvPr/>
            </p:nvSpPr>
            <p:spPr>
              <a:xfrm>
                <a:off x="407986" y="5322397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공정성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21" name="사각형: 둥근 모서리 76">
                <a:extLst>
                  <a:ext uri="{FF2B5EF4-FFF2-40B4-BE49-F238E27FC236}">
                    <a16:creationId xmlns:a16="http://schemas.microsoft.com/office/drawing/2014/main" id="{52D32A7B-408F-5374-81F7-E2D5BE673DF0}"/>
                  </a:ext>
                </a:extLst>
              </p:cNvPr>
              <p:cNvSpPr/>
              <p:nvPr/>
            </p:nvSpPr>
            <p:spPr>
              <a:xfrm>
                <a:off x="2535971" y="5322397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평가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검증 공정성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편향 방지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검토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18" name="사각형: 둥근 모서리 118">
              <a:extLst>
                <a:ext uri="{FF2B5EF4-FFF2-40B4-BE49-F238E27FC236}">
                  <a16:creationId xmlns:a16="http://schemas.microsoft.com/office/drawing/2014/main" id="{01F03733-BBE7-6002-511C-0C65F87A386C}"/>
                </a:ext>
              </a:extLst>
            </p:cNvPr>
            <p:cNvSpPr/>
            <p:nvPr/>
          </p:nvSpPr>
          <p:spPr>
            <a:xfrm>
              <a:off x="8393132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9" name="사각형: 둥근 모서리 131">
              <a:extLst>
                <a:ext uri="{FF2B5EF4-FFF2-40B4-BE49-F238E27FC236}">
                  <a16:creationId xmlns:a16="http://schemas.microsoft.com/office/drawing/2014/main" id="{D3269CC4-5B88-86E2-7E91-74C8269D1694}"/>
                </a:ext>
              </a:extLst>
            </p:cNvPr>
            <p:cNvSpPr/>
            <p:nvPr/>
          </p:nvSpPr>
          <p:spPr>
            <a:xfrm>
              <a:off x="10153565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2" name="그룹 29">
            <a:extLst>
              <a:ext uri="{FF2B5EF4-FFF2-40B4-BE49-F238E27FC236}">
                <a16:creationId xmlns:a16="http://schemas.microsoft.com/office/drawing/2014/main" id="{9A4234D3-1C89-D3DE-4DD1-17F6E607DC39}"/>
              </a:ext>
            </a:extLst>
          </p:cNvPr>
          <p:cNvGrpSpPr/>
          <p:nvPr/>
        </p:nvGrpSpPr>
        <p:grpSpPr>
          <a:xfrm>
            <a:off x="334963" y="5097085"/>
            <a:ext cx="11556999" cy="304799"/>
            <a:chOff x="407986" y="5663161"/>
            <a:chExt cx="11376027" cy="304799"/>
          </a:xfrm>
        </p:grpSpPr>
        <p:sp>
          <p:nvSpPr>
            <p:cNvPr id="123" name="사각형: 둥근 모서리 78">
              <a:extLst>
                <a:ext uri="{FF2B5EF4-FFF2-40B4-BE49-F238E27FC236}">
                  <a16:creationId xmlns:a16="http://schemas.microsoft.com/office/drawing/2014/main" id="{EB5AEF99-8915-CB82-ED5E-5DDC00A8497F}"/>
                </a:ext>
              </a:extLst>
            </p:cNvPr>
            <p:cNvSpPr/>
            <p:nvPr/>
          </p:nvSpPr>
          <p:spPr>
            <a:xfrm>
              <a:off x="663234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24" name="그룹 6">
              <a:extLst>
                <a:ext uri="{FF2B5EF4-FFF2-40B4-BE49-F238E27FC236}">
                  <a16:creationId xmlns:a16="http://schemas.microsoft.com/office/drawing/2014/main" id="{4A467817-4094-FAC6-7BAA-A644CB382B23}"/>
                </a:ext>
              </a:extLst>
            </p:cNvPr>
            <p:cNvGrpSpPr/>
            <p:nvPr/>
          </p:nvGrpSpPr>
          <p:grpSpPr>
            <a:xfrm>
              <a:off x="407986" y="5663161"/>
              <a:ext cx="6094375" cy="304799"/>
              <a:chOff x="407986" y="5663161"/>
              <a:chExt cx="6094375" cy="304799"/>
            </a:xfrm>
          </p:grpSpPr>
          <p:sp>
            <p:nvSpPr>
              <p:cNvPr id="127" name="사각형: 둥근 모서리 81">
                <a:extLst>
                  <a:ext uri="{FF2B5EF4-FFF2-40B4-BE49-F238E27FC236}">
                    <a16:creationId xmlns:a16="http://schemas.microsoft.com/office/drawing/2014/main" id="{A1938B23-82C6-A65C-283F-352B55A32EF5}"/>
                  </a:ext>
                </a:extLst>
              </p:cNvPr>
              <p:cNvSpPr/>
              <p:nvPr/>
            </p:nvSpPr>
            <p:spPr>
              <a:xfrm>
                <a:off x="407986" y="566316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기획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평가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점검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28" name="사각형: 둥근 모서리 82">
                <a:extLst>
                  <a:ext uri="{FF2B5EF4-FFF2-40B4-BE49-F238E27FC236}">
                    <a16:creationId xmlns:a16="http://schemas.microsoft.com/office/drawing/2014/main" id="{BF90FD2A-B49E-16C5-038A-6FFC67861B11}"/>
                  </a:ext>
                </a:extLst>
              </p:cNvPr>
              <p:cNvSpPr/>
              <p:nvPr/>
            </p:nvSpPr>
            <p:spPr>
              <a:xfrm>
                <a:off x="2535971" y="566316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lvl="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기획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설계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테스트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성능 평가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점검 절차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25" name="사각형: 둥근 모서리 119">
              <a:extLst>
                <a:ext uri="{FF2B5EF4-FFF2-40B4-BE49-F238E27FC236}">
                  <a16:creationId xmlns:a16="http://schemas.microsoft.com/office/drawing/2014/main" id="{02152160-0669-D558-CAB6-5BB40DDAF255}"/>
                </a:ext>
              </a:extLst>
            </p:cNvPr>
            <p:cNvSpPr/>
            <p:nvPr/>
          </p:nvSpPr>
          <p:spPr>
            <a:xfrm>
              <a:off x="8393132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6" name="사각형: 둥근 모서리 132">
              <a:extLst>
                <a:ext uri="{FF2B5EF4-FFF2-40B4-BE49-F238E27FC236}">
                  <a16:creationId xmlns:a16="http://schemas.microsoft.com/office/drawing/2014/main" id="{7A501637-2790-A756-C163-1C3DA6D310DE}"/>
                </a:ext>
              </a:extLst>
            </p:cNvPr>
            <p:cNvSpPr/>
            <p:nvPr/>
          </p:nvSpPr>
          <p:spPr>
            <a:xfrm>
              <a:off x="1015356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9" name="그룹 30">
            <a:extLst>
              <a:ext uri="{FF2B5EF4-FFF2-40B4-BE49-F238E27FC236}">
                <a16:creationId xmlns:a16="http://schemas.microsoft.com/office/drawing/2014/main" id="{111758CA-B5A7-A669-704C-2368287E2C78}"/>
              </a:ext>
            </a:extLst>
          </p:cNvPr>
          <p:cNvGrpSpPr/>
          <p:nvPr/>
        </p:nvGrpSpPr>
        <p:grpSpPr>
          <a:xfrm>
            <a:off x="334963" y="5458546"/>
            <a:ext cx="11556999" cy="304799"/>
            <a:chOff x="407986" y="6003926"/>
            <a:chExt cx="11376027" cy="304799"/>
          </a:xfrm>
        </p:grpSpPr>
        <p:sp>
          <p:nvSpPr>
            <p:cNvPr id="130" name="사각형: 둥근 모서리 84">
              <a:extLst>
                <a:ext uri="{FF2B5EF4-FFF2-40B4-BE49-F238E27FC236}">
                  <a16:creationId xmlns:a16="http://schemas.microsoft.com/office/drawing/2014/main" id="{E9EB6831-F2E2-00F3-8877-1180D8217E43}"/>
                </a:ext>
              </a:extLst>
            </p:cNvPr>
            <p:cNvSpPr/>
            <p:nvPr/>
          </p:nvSpPr>
          <p:spPr>
            <a:xfrm>
              <a:off x="663234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31" name="그룹 7">
              <a:extLst>
                <a:ext uri="{FF2B5EF4-FFF2-40B4-BE49-F238E27FC236}">
                  <a16:creationId xmlns:a16="http://schemas.microsoft.com/office/drawing/2014/main" id="{932C8B4C-B5DC-A040-A743-EAD37026A63D}"/>
                </a:ext>
              </a:extLst>
            </p:cNvPr>
            <p:cNvGrpSpPr/>
            <p:nvPr/>
          </p:nvGrpSpPr>
          <p:grpSpPr>
            <a:xfrm>
              <a:off x="407986" y="6003926"/>
              <a:ext cx="6094375" cy="304799"/>
              <a:chOff x="407986" y="6003926"/>
              <a:chExt cx="6094375" cy="304799"/>
            </a:xfrm>
          </p:grpSpPr>
          <p:sp>
            <p:nvSpPr>
              <p:cNvPr id="134" name="사각형: 둥근 모서리 87">
                <a:extLst>
                  <a:ext uri="{FF2B5EF4-FFF2-40B4-BE49-F238E27FC236}">
                    <a16:creationId xmlns:a16="http://schemas.microsoft.com/office/drawing/2014/main" id="{B18A51B2-9447-D38F-9A17-6BF628B00454}"/>
                  </a:ext>
                </a:extLst>
              </p:cNvPr>
              <p:cNvSpPr/>
              <p:nvPr/>
            </p:nvSpPr>
            <p:spPr>
              <a:xfrm>
                <a:off x="407986" y="6003926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운영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모니터링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35" name="사각형: 둥근 모서리 88">
                <a:extLst>
                  <a:ext uri="{FF2B5EF4-FFF2-40B4-BE49-F238E27FC236}">
                    <a16:creationId xmlns:a16="http://schemas.microsoft.com/office/drawing/2014/main" id="{36D1F4C2-08FE-293E-E4D8-F609B29C2AA0}"/>
                  </a:ext>
                </a:extLst>
              </p:cNvPr>
              <p:cNvSpPr/>
              <p:nvPr/>
            </p:nvSpPr>
            <p:spPr>
              <a:xfrm>
                <a:off x="2535971" y="6003926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운영</a:t>
                </a:r>
                <a:r>
                  <a:rPr kumimoji="1" lang="en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모니터링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32" name="사각형: 둥근 모서리 121">
              <a:extLst>
                <a:ext uri="{FF2B5EF4-FFF2-40B4-BE49-F238E27FC236}">
                  <a16:creationId xmlns:a16="http://schemas.microsoft.com/office/drawing/2014/main" id="{55A36BD7-AADE-CF71-6AB5-535F43E10212}"/>
                </a:ext>
              </a:extLst>
            </p:cNvPr>
            <p:cNvSpPr/>
            <p:nvPr/>
          </p:nvSpPr>
          <p:spPr>
            <a:xfrm>
              <a:off x="8393132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3" name="사각형: 둥근 모서리 133">
              <a:extLst>
                <a:ext uri="{FF2B5EF4-FFF2-40B4-BE49-F238E27FC236}">
                  <a16:creationId xmlns:a16="http://schemas.microsoft.com/office/drawing/2014/main" id="{CE6C9812-0DFB-301B-8B57-2393A8ADDF14}"/>
                </a:ext>
              </a:extLst>
            </p:cNvPr>
            <p:cNvSpPr/>
            <p:nvPr/>
          </p:nvSpPr>
          <p:spPr>
            <a:xfrm>
              <a:off x="1015356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D83C270-088E-540A-B27B-D3192F9EA3A9}"/>
              </a:ext>
            </a:extLst>
          </p:cNvPr>
          <p:cNvCxnSpPr>
            <a:cxnSpLocks/>
          </p:cNvCxnSpPr>
          <p:nvPr/>
        </p:nvCxnSpPr>
        <p:spPr>
          <a:xfrm>
            <a:off x="334964" y="2177066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BA924B4E-65B4-B28D-88A8-739D9D83A2B8}"/>
              </a:ext>
            </a:extLst>
          </p:cNvPr>
          <p:cNvCxnSpPr>
            <a:cxnSpLocks/>
          </p:cNvCxnSpPr>
          <p:nvPr/>
        </p:nvCxnSpPr>
        <p:spPr>
          <a:xfrm>
            <a:off x="334964" y="2538527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55B0A8A-6921-8E8D-A2E2-EF8F591EBDE3}"/>
              </a:ext>
            </a:extLst>
          </p:cNvPr>
          <p:cNvCxnSpPr>
            <a:cxnSpLocks/>
          </p:cNvCxnSpPr>
          <p:nvPr/>
        </p:nvCxnSpPr>
        <p:spPr>
          <a:xfrm>
            <a:off x="334964" y="2899988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486286D-2359-D7A0-B42B-39C2C0413296}"/>
              </a:ext>
            </a:extLst>
          </p:cNvPr>
          <p:cNvCxnSpPr>
            <a:cxnSpLocks/>
          </p:cNvCxnSpPr>
          <p:nvPr/>
        </p:nvCxnSpPr>
        <p:spPr>
          <a:xfrm>
            <a:off x="334964" y="3261449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1D2237A3-437C-79B3-CE8F-EF512466B21C}"/>
              </a:ext>
            </a:extLst>
          </p:cNvPr>
          <p:cNvCxnSpPr>
            <a:cxnSpLocks/>
          </p:cNvCxnSpPr>
          <p:nvPr/>
        </p:nvCxnSpPr>
        <p:spPr>
          <a:xfrm>
            <a:off x="334964" y="3622910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2">
            <a:extLst>
              <a:ext uri="{FF2B5EF4-FFF2-40B4-BE49-F238E27FC236}">
                <a16:creationId xmlns:a16="http://schemas.microsoft.com/office/drawing/2014/main" id="{A5235630-FCAD-00C0-51CC-535272F03BF0}"/>
              </a:ext>
            </a:extLst>
          </p:cNvPr>
          <p:cNvCxnSpPr>
            <a:cxnSpLocks/>
          </p:cNvCxnSpPr>
          <p:nvPr/>
        </p:nvCxnSpPr>
        <p:spPr>
          <a:xfrm>
            <a:off x="334964" y="4345832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3">
            <a:extLst>
              <a:ext uri="{FF2B5EF4-FFF2-40B4-BE49-F238E27FC236}">
                <a16:creationId xmlns:a16="http://schemas.microsoft.com/office/drawing/2014/main" id="{BD24CA7D-EA31-D6FE-A0CF-740EC4239052}"/>
              </a:ext>
            </a:extLst>
          </p:cNvPr>
          <p:cNvCxnSpPr>
            <a:cxnSpLocks/>
          </p:cNvCxnSpPr>
          <p:nvPr/>
        </p:nvCxnSpPr>
        <p:spPr>
          <a:xfrm>
            <a:off x="334964" y="4707293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4">
            <a:extLst>
              <a:ext uri="{FF2B5EF4-FFF2-40B4-BE49-F238E27FC236}">
                <a16:creationId xmlns:a16="http://schemas.microsoft.com/office/drawing/2014/main" id="{05CF62FC-BE72-002E-68DB-E869ACA67A36}"/>
              </a:ext>
            </a:extLst>
          </p:cNvPr>
          <p:cNvCxnSpPr>
            <a:cxnSpLocks/>
          </p:cNvCxnSpPr>
          <p:nvPr/>
        </p:nvCxnSpPr>
        <p:spPr>
          <a:xfrm>
            <a:off x="334964" y="5068754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5">
            <a:extLst>
              <a:ext uri="{FF2B5EF4-FFF2-40B4-BE49-F238E27FC236}">
                <a16:creationId xmlns:a16="http://schemas.microsoft.com/office/drawing/2014/main" id="{FAFA9DB0-9AE4-9553-70D0-696BD7BFB0FF}"/>
              </a:ext>
            </a:extLst>
          </p:cNvPr>
          <p:cNvCxnSpPr>
            <a:cxnSpLocks/>
          </p:cNvCxnSpPr>
          <p:nvPr/>
        </p:nvCxnSpPr>
        <p:spPr>
          <a:xfrm>
            <a:off x="334964" y="5430215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50">
            <a:extLst>
              <a:ext uri="{FF2B5EF4-FFF2-40B4-BE49-F238E27FC236}">
                <a16:creationId xmlns:a16="http://schemas.microsoft.com/office/drawing/2014/main" id="{C7100612-0030-D458-6A25-C51DDF982905}"/>
              </a:ext>
            </a:extLst>
          </p:cNvPr>
          <p:cNvCxnSpPr>
            <a:cxnSpLocks/>
          </p:cNvCxnSpPr>
          <p:nvPr/>
        </p:nvCxnSpPr>
        <p:spPr>
          <a:xfrm>
            <a:off x="334964" y="6514591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31">
            <a:extLst>
              <a:ext uri="{FF2B5EF4-FFF2-40B4-BE49-F238E27FC236}">
                <a16:creationId xmlns:a16="http://schemas.microsoft.com/office/drawing/2014/main" id="{87929694-5114-AE0C-663B-1238B104692B}"/>
              </a:ext>
            </a:extLst>
          </p:cNvPr>
          <p:cNvCxnSpPr>
            <a:cxnSpLocks/>
          </p:cNvCxnSpPr>
          <p:nvPr/>
        </p:nvCxnSpPr>
        <p:spPr>
          <a:xfrm>
            <a:off x="334964" y="3984371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29">
            <a:extLst>
              <a:ext uri="{FF2B5EF4-FFF2-40B4-BE49-F238E27FC236}">
                <a16:creationId xmlns:a16="http://schemas.microsoft.com/office/drawing/2014/main" id="{A816DF86-2DAB-6D3D-19D6-4C5753E86CBC}"/>
              </a:ext>
            </a:extLst>
          </p:cNvPr>
          <p:cNvGrpSpPr/>
          <p:nvPr/>
        </p:nvGrpSpPr>
        <p:grpSpPr>
          <a:xfrm>
            <a:off x="334963" y="5820007"/>
            <a:ext cx="11556999" cy="304799"/>
            <a:chOff x="407986" y="5663161"/>
            <a:chExt cx="11376027" cy="304799"/>
          </a:xfrm>
        </p:grpSpPr>
        <p:sp>
          <p:nvSpPr>
            <p:cNvPr id="56" name="사각형: 둥근 모서리 78">
              <a:extLst>
                <a:ext uri="{FF2B5EF4-FFF2-40B4-BE49-F238E27FC236}">
                  <a16:creationId xmlns:a16="http://schemas.microsoft.com/office/drawing/2014/main" id="{DFD23651-95E4-8630-4D9F-5DB65AF9FEEF}"/>
                </a:ext>
              </a:extLst>
            </p:cNvPr>
            <p:cNvSpPr/>
            <p:nvPr/>
          </p:nvSpPr>
          <p:spPr>
            <a:xfrm>
              <a:off x="663234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58" name="그룹 6">
              <a:extLst>
                <a:ext uri="{FF2B5EF4-FFF2-40B4-BE49-F238E27FC236}">
                  <a16:creationId xmlns:a16="http://schemas.microsoft.com/office/drawing/2014/main" id="{1DA15D7C-391F-76C7-FF35-EEEC76254BD2}"/>
                </a:ext>
              </a:extLst>
            </p:cNvPr>
            <p:cNvGrpSpPr/>
            <p:nvPr/>
          </p:nvGrpSpPr>
          <p:grpSpPr>
            <a:xfrm>
              <a:off x="407986" y="5663161"/>
              <a:ext cx="6094375" cy="304799"/>
              <a:chOff x="407986" y="5663161"/>
              <a:chExt cx="6094375" cy="304799"/>
            </a:xfrm>
          </p:grpSpPr>
          <p:sp>
            <p:nvSpPr>
              <p:cNvPr id="149" name="사각형: 둥근 모서리 81">
                <a:extLst>
                  <a:ext uri="{FF2B5EF4-FFF2-40B4-BE49-F238E27FC236}">
                    <a16:creationId xmlns:a16="http://schemas.microsoft.com/office/drawing/2014/main" id="{66972E0C-390A-EF6D-CA4A-815C66DED108}"/>
                  </a:ext>
                </a:extLst>
              </p:cNvPr>
              <p:cNvSpPr/>
              <p:nvPr/>
            </p:nvSpPr>
            <p:spPr>
              <a:xfrm>
                <a:off x="407986" y="566316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i="0" u="none" strike="noStrike" kern="0" cap="none" spc="0" normalizeH="0" baseline="0" noProof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고영향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인공지능</a:t>
                </a:r>
              </a:p>
            </p:txBody>
          </p:sp>
          <p:sp>
            <p:nvSpPr>
              <p:cNvPr id="150" name="사각형: 둥근 모서리 82">
                <a:extLst>
                  <a:ext uri="{FF2B5EF4-FFF2-40B4-BE49-F238E27FC236}">
                    <a16:creationId xmlns:a16="http://schemas.microsoft.com/office/drawing/2014/main" id="{25795EC3-2790-34EC-C0BE-7AFD233572E0}"/>
                  </a:ext>
                </a:extLst>
              </p:cNvPr>
              <p:cNvSpPr/>
              <p:nvPr/>
            </p:nvSpPr>
            <p:spPr>
              <a:xfrm>
                <a:off x="2535971" y="566316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lvl="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b="0" i="0" u="none" strike="noStrike" kern="0" cap="none" spc="0" normalizeH="0" baseline="0" noProof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고영향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인공지능 정의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목적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평가 방안 등</a:t>
                </a:r>
              </a:p>
            </p:txBody>
          </p:sp>
        </p:grpSp>
        <p:sp>
          <p:nvSpPr>
            <p:cNvPr id="59" name="사각형: 둥근 모서리 119">
              <a:extLst>
                <a:ext uri="{FF2B5EF4-FFF2-40B4-BE49-F238E27FC236}">
                  <a16:creationId xmlns:a16="http://schemas.microsoft.com/office/drawing/2014/main" id="{84A392A0-71E3-9CFF-F980-D25316A7EFE1}"/>
                </a:ext>
              </a:extLst>
            </p:cNvPr>
            <p:cNvSpPr/>
            <p:nvPr/>
          </p:nvSpPr>
          <p:spPr>
            <a:xfrm>
              <a:off x="8393132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3" name="사각형: 둥근 모서리 132">
              <a:extLst>
                <a:ext uri="{FF2B5EF4-FFF2-40B4-BE49-F238E27FC236}">
                  <a16:creationId xmlns:a16="http://schemas.microsoft.com/office/drawing/2014/main" id="{EF10E2D7-4BD6-EB14-A895-F5ED817C1AB4}"/>
                </a:ext>
              </a:extLst>
            </p:cNvPr>
            <p:cNvSpPr/>
            <p:nvPr/>
          </p:nvSpPr>
          <p:spPr>
            <a:xfrm>
              <a:off x="1015356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1" name="그룹 30">
            <a:extLst>
              <a:ext uri="{FF2B5EF4-FFF2-40B4-BE49-F238E27FC236}">
                <a16:creationId xmlns:a16="http://schemas.microsoft.com/office/drawing/2014/main" id="{5FE993C4-36AB-AE25-3278-59B39A6F3ED8}"/>
              </a:ext>
            </a:extLst>
          </p:cNvPr>
          <p:cNvGrpSpPr/>
          <p:nvPr/>
        </p:nvGrpSpPr>
        <p:grpSpPr>
          <a:xfrm>
            <a:off x="334963" y="6181468"/>
            <a:ext cx="11556999" cy="304799"/>
            <a:chOff x="407986" y="6003926"/>
            <a:chExt cx="11376027" cy="304799"/>
          </a:xfrm>
        </p:grpSpPr>
        <p:sp>
          <p:nvSpPr>
            <p:cNvPr id="152" name="사각형: 둥근 모서리 84">
              <a:extLst>
                <a:ext uri="{FF2B5EF4-FFF2-40B4-BE49-F238E27FC236}">
                  <a16:creationId xmlns:a16="http://schemas.microsoft.com/office/drawing/2014/main" id="{35DE7452-656F-7774-6E1E-C17973DAE9D6}"/>
                </a:ext>
              </a:extLst>
            </p:cNvPr>
            <p:cNvSpPr/>
            <p:nvPr/>
          </p:nvSpPr>
          <p:spPr>
            <a:xfrm>
              <a:off x="663234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53" name="그룹 7">
              <a:extLst>
                <a:ext uri="{FF2B5EF4-FFF2-40B4-BE49-F238E27FC236}">
                  <a16:creationId xmlns:a16="http://schemas.microsoft.com/office/drawing/2014/main" id="{1154745B-24F7-BCA6-5E5E-9B2A9983C336}"/>
                </a:ext>
              </a:extLst>
            </p:cNvPr>
            <p:cNvGrpSpPr/>
            <p:nvPr/>
          </p:nvGrpSpPr>
          <p:grpSpPr>
            <a:xfrm>
              <a:off x="407986" y="6003926"/>
              <a:ext cx="6094375" cy="304799"/>
              <a:chOff x="407986" y="6003926"/>
              <a:chExt cx="6094375" cy="304799"/>
            </a:xfrm>
          </p:grpSpPr>
          <p:sp>
            <p:nvSpPr>
              <p:cNvPr id="156" name="사각형: 둥근 모서리 87">
                <a:extLst>
                  <a:ext uri="{FF2B5EF4-FFF2-40B4-BE49-F238E27FC236}">
                    <a16:creationId xmlns:a16="http://schemas.microsoft.com/office/drawing/2014/main" id="{576429FD-3E69-436B-8FFB-6A7B602102BC}"/>
                  </a:ext>
                </a:extLst>
              </p:cNvPr>
              <p:cNvSpPr/>
              <p:nvPr/>
            </p:nvSpPr>
            <p:spPr>
              <a:xfrm>
                <a:off x="407986" y="6003926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인공지능 안전성</a:t>
                </a:r>
              </a:p>
            </p:txBody>
          </p:sp>
          <p:sp>
            <p:nvSpPr>
              <p:cNvPr id="157" name="사각형: 둥근 모서리 88">
                <a:extLst>
                  <a:ext uri="{FF2B5EF4-FFF2-40B4-BE49-F238E27FC236}">
                    <a16:creationId xmlns:a16="http://schemas.microsoft.com/office/drawing/2014/main" id="{A18C7BDF-4014-D8FB-DB0C-4D0860506EB0}"/>
                  </a:ext>
                </a:extLst>
              </p:cNvPr>
              <p:cNvSpPr/>
              <p:nvPr/>
            </p:nvSpPr>
            <p:spPr>
              <a:xfrm>
                <a:off x="2535971" y="6003926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인공지능 안전성 정의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목적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평가 방안 등</a:t>
                </a:r>
              </a:p>
            </p:txBody>
          </p:sp>
        </p:grpSp>
        <p:sp>
          <p:nvSpPr>
            <p:cNvPr id="154" name="사각형: 둥근 모서리 121">
              <a:extLst>
                <a:ext uri="{FF2B5EF4-FFF2-40B4-BE49-F238E27FC236}">
                  <a16:creationId xmlns:a16="http://schemas.microsoft.com/office/drawing/2014/main" id="{09575376-B3A8-EF82-E7C8-A1BDC06A5F7E}"/>
                </a:ext>
              </a:extLst>
            </p:cNvPr>
            <p:cNvSpPr/>
            <p:nvPr/>
          </p:nvSpPr>
          <p:spPr>
            <a:xfrm>
              <a:off x="8393132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5" name="사각형: 둥근 모서리 133">
              <a:extLst>
                <a:ext uri="{FF2B5EF4-FFF2-40B4-BE49-F238E27FC236}">
                  <a16:creationId xmlns:a16="http://schemas.microsoft.com/office/drawing/2014/main" id="{B10BD1B0-A8B7-A4DE-1358-6A8D7854956B}"/>
                </a:ext>
              </a:extLst>
            </p:cNvPr>
            <p:cNvSpPr/>
            <p:nvPr/>
          </p:nvSpPr>
          <p:spPr>
            <a:xfrm>
              <a:off x="1015356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58" name="직선 연결선 144">
            <a:extLst>
              <a:ext uri="{FF2B5EF4-FFF2-40B4-BE49-F238E27FC236}">
                <a16:creationId xmlns:a16="http://schemas.microsoft.com/office/drawing/2014/main" id="{B0660082-79AC-47D8-E236-1A3CCE476D28}"/>
              </a:ext>
            </a:extLst>
          </p:cNvPr>
          <p:cNvCxnSpPr>
            <a:cxnSpLocks/>
          </p:cNvCxnSpPr>
          <p:nvPr/>
        </p:nvCxnSpPr>
        <p:spPr>
          <a:xfrm>
            <a:off x="334964" y="5791676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45">
            <a:extLst>
              <a:ext uri="{FF2B5EF4-FFF2-40B4-BE49-F238E27FC236}">
                <a16:creationId xmlns:a16="http://schemas.microsoft.com/office/drawing/2014/main" id="{2B4AD5F5-50B5-F6B3-6C97-B13E0A2355D5}"/>
              </a:ext>
            </a:extLst>
          </p:cNvPr>
          <p:cNvCxnSpPr>
            <a:cxnSpLocks/>
          </p:cNvCxnSpPr>
          <p:nvPr/>
        </p:nvCxnSpPr>
        <p:spPr>
          <a:xfrm>
            <a:off x="334964" y="6153137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38ED07B0-5DEE-C4FF-5B7B-755471C55857}"/>
              </a:ext>
            </a:extLst>
          </p:cNvPr>
          <p:cNvSpPr/>
          <p:nvPr/>
        </p:nvSpPr>
        <p:spPr>
          <a:xfrm>
            <a:off x="6658339" y="1813291"/>
            <a:ext cx="5233623" cy="4670655"/>
          </a:xfrm>
          <a:prstGeom prst="roundRect">
            <a:avLst>
              <a:gd name="adj" fmla="val 0"/>
            </a:avLst>
          </a:prstGeom>
          <a:solidFill>
            <a:schemeClr val="bg1">
              <a:alpha val="71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규제요건 </a:t>
            </a:r>
            <a:endParaRPr kumimoji="1" lang="en-US" altLang="ko-KR" sz="4000" b="1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r>
              <a:rPr kumimoji="1" lang="ko-KR" altLang="en-US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반영</a:t>
            </a:r>
            <a:endParaRPr kumimoji="1" lang="en-US" altLang="ko-KR" sz="4000" b="1" i="1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24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081E-1617-8AF2-A3F4-CE5C38D8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777CAB-9F36-06E3-D396-2C21CFC922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E5F019-768A-A886-2EBA-21E0A0F3EC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      </a:t>
            </a:r>
            <a:r>
              <a:rPr lang="ko-KR" altLang="en-US" dirty="0" err="1"/>
              <a:t>미래에셋증권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거버넌스 프로세스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89391D-D5A3-A7E8-0812-665187AA0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서비스 개발 단계별로 준수해야 할 </a:t>
            </a:r>
            <a:r>
              <a:rPr lang="en-US" altLang="ko-KR" dirty="0"/>
              <a:t>AI</a:t>
            </a:r>
            <a:r>
              <a:rPr lang="ko-KR" altLang="en-US" dirty="0"/>
              <a:t>거버넌스 표준 프로세스를 다음과 같이 정의함</a:t>
            </a:r>
          </a:p>
        </p:txBody>
      </p:sp>
      <p:sp>
        <p:nvSpPr>
          <p:cNvPr id="8" name="사각형: 둥근 모서리 4">
            <a:extLst>
              <a:ext uri="{FF2B5EF4-FFF2-40B4-BE49-F238E27FC236}">
                <a16:creationId xmlns:a16="http://schemas.microsoft.com/office/drawing/2014/main" id="{6881B77C-6F0B-7B2F-29DF-A08EA001F823}"/>
              </a:ext>
            </a:extLst>
          </p:cNvPr>
          <p:cNvSpPr/>
          <p:nvPr/>
        </p:nvSpPr>
        <p:spPr>
          <a:xfrm>
            <a:off x="371963" y="202784"/>
            <a:ext cx="430677" cy="432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757E10-B6D5-0751-27D7-5E4720DBE96A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D3B9C9-F04E-B5B6-349B-7602626B4FF2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ACEC5E4A-D797-54C2-EF3E-77EFEE35D939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12" name="직사각형 56">
            <a:extLst>
              <a:ext uri="{FF2B5EF4-FFF2-40B4-BE49-F238E27FC236}">
                <a16:creationId xmlns:a16="http://schemas.microsoft.com/office/drawing/2014/main" id="{8DB5B452-6F5C-F479-A708-0853100B2B91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3" name="직사각형 56">
            <a:extLst>
              <a:ext uri="{FF2B5EF4-FFF2-40B4-BE49-F238E27FC236}">
                <a16:creationId xmlns:a16="http://schemas.microsoft.com/office/drawing/2014/main" id="{80CD4CD4-1C0C-EBF0-C6EC-F2095AA66A33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4" name="직사각형 56">
            <a:extLst>
              <a:ext uri="{FF2B5EF4-FFF2-40B4-BE49-F238E27FC236}">
                <a16:creationId xmlns:a16="http://schemas.microsoft.com/office/drawing/2014/main" id="{3276A74F-5E1E-42F9-7D2C-84A80C8E8D02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F2D8B71E-4BDD-3A77-632E-064706FE4944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1BF68E6C-615E-19CF-3772-F5AD462CB37B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044DFBEF-FC65-A8C1-D198-9430801943F2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8" name="직사각형 56">
            <a:extLst>
              <a:ext uri="{FF2B5EF4-FFF2-40B4-BE49-F238E27FC236}">
                <a16:creationId xmlns:a16="http://schemas.microsoft.com/office/drawing/2014/main" id="{E7AC2449-6577-CF39-7A7C-BA7D937744B8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9" name="직사각형 56">
            <a:extLst>
              <a:ext uri="{FF2B5EF4-FFF2-40B4-BE49-F238E27FC236}">
                <a16:creationId xmlns:a16="http://schemas.microsoft.com/office/drawing/2014/main" id="{B742BB0B-58E7-FDA8-BDBD-4DF0E81FA2E0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20" name="사각형: 둥근 모서리 20">
            <a:extLst>
              <a:ext uri="{FF2B5EF4-FFF2-40B4-BE49-F238E27FC236}">
                <a16:creationId xmlns:a16="http://schemas.microsoft.com/office/drawing/2014/main" id="{BEDEBB2F-3946-BB09-65DF-C412246B2424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179AF9-10DC-97F5-531D-C26B985F5A19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4D23A573-4AF6-FEC7-4B4D-7ED87DB036D9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3" name="사각형: 둥근 모서리 20">
            <a:extLst>
              <a:ext uri="{FF2B5EF4-FFF2-40B4-BE49-F238E27FC236}">
                <a16:creationId xmlns:a16="http://schemas.microsoft.com/office/drawing/2014/main" id="{603EE6C1-781A-A4F5-6379-8F64F7B51537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BEEB705C-C974-791B-28DC-1F079939CE59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5D543892-689F-1098-BCC3-50DBCA89DC2D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26" name="직사각형 56">
            <a:extLst>
              <a:ext uri="{FF2B5EF4-FFF2-40B4-BE49-F238E27FC236}">
                <a16:creationId xmlns:a16="http://schemas.microsoft.com/office/drawing/2014/main" id="{5D284957-4729-8D21-730A-C37F9F1F72B0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27" name="직사각형 56">
            <a:extLst>
              <a:ext uri="{FF2B5EF4-FFF2-40B4-BE49-F238E27FC236}">
                <a16:creationId xmlns:a16="http://schemas.microsoft.com/office/drawing/2014/main" id="{358FEE1F-4941-81A9-4001-B03D0AE125F3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28" name="직사각형 56">
            <a:extLst>
              <a:ext uri="{FF2B5EF4-FFF2-40B4-BE49-F238E27FC236}">
                <a16:creationId xmlns:a16="http://schemas.microsoft.com/office/drawing/2014/main" id="{EA6A52C9-DE38-FDB8-560E-03F094305BEA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29" name="연결선: 꺾임 26">
            <a:extLst>
              <a:ext uri="{FF2B5EF4-FFF2-40B4-BE49-F238E27FC236}">
                <a16:creationId xmlns:a16="http://schemas.microsoft.com/office/drawing/2014/main" id="{7F1AB67E-1842-E308-3BD9-D72A64048C3C}"/>
              </a:ext>
            </a:extLst>
          </p:cNvPr>
          <p:cNvCxnSpPr>
            <a:cxnSpLocks/>
            <a:stCxn id="27" idx="3"/>
            <a:endCxn id="13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직선 화살표 연결선 27">
            <a:extLst>
              <a:ext uri="{FF2B5EF4-FFF2-40B4-BE49-F238E27FC236}">
                <a16:creationId xmlns:a16="http://schemas.microsoft.com/office/drawing/2014/main" id="{E04C15F9-5131-6AB1-050E-3A802A6D393B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27">
            <a:extLst>
              <a:ext uri="{FF2B5EF4-FFF2-40B4-BE49-F238E27FC236}">
                <a16:creationId xmlns:a16="http://schemas.microsoft.com/office/drawing/2014/main" id="{D0B42D44-C007-084A-25CA-BD817C2B2BB5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연결선: 꺾임 26">
            <a:extLst>
              <a:ext uri="{FF2B5EF4-FFF2-40B4-BE49-F238E27FC236}">
                <a16:creationId xmlns:a16="http://schemas.microsoft.com/office/drawing/2014/main" id="{905EE357-DBC2-3B7C-B758-665EEC299DB2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 flipV="1">
            <a:off x="7680325" y="2928016"/>
            <a:ext cx="18420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3" name="직선 화살표 연결선 27">
            <a:extLst>
              <a:ext uri="{FF2B5EF4-FFF2-40B4-BE49-F238E27FC236}">
                <a16:creationId xmlns:a16="http://schemas.microsoft.com/office/drawing/2014/main" id="{85DE2289-F3AF-EC28-1375-7E555F70F199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51683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4A3EC1C3-71D1-6D7E-DF5B-D83D8DC4BB00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20D6256C-144D-646C-A74F-509F05364160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36" name="연결선: 꺾임 26">
            <a:extLst>
              <a:ext uri="{FF2B5EF4-FFF2-40B4-BE49-F238E27FC236}">
                <a16:creationId xmlns:a16="http://schemas.microsoft.com/office/drawing/2014/main" id="{FD8A60A7-1AA4-F423-D829-9C2FE16495D2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7" name="직선 화살표 연결선 27">
            <a:extLst>
              <a:ext uri="{FF2B5EF4-FFF2-40B4-BE49-F238E27FC236}">
                <a16:creationId xmlns:a16="http://schemas.microsoft.com/office/drawing/2014/main" id="{69898455-69F9-204D-4EC5-D017B9FAB69F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8" name="직사각형 56">
            <a:extLst>
              <a:ext uri="{FF2B5EF4-FFF2-40B4-BE49-F238E27FC236}">
                <a16:creationId xmlns:a16="http://schemas.microsoft.com/office/drawing/2014/main" id="{FA64A6E2-8F49-876E-B3C0-88F0A7C6859B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39" name="직사각형 56">
            <a:extLst>
              <a:ext uri="{FF2B5EF4-FFF2-40B4-BE49-F238E27FC236}">
                <a16:creationId xmlns:a16="http://schemas.microsoft.com/office/drawing/2014/main" id="{5E077D14-1A2A-2EA2-041B-0323AD07F054}"/>
              </a:ext>
            </a:extLst>
          </p:cNvPr>
          <p:cNvSpPr/>
          <p:nvPr/>
        </p:nvSpPr>
        <p:spPr>
          <a:xfrm>
            <a:off x="647387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40" name="직사각형 56">
            <a:extLst>
              <a:ext uri="{FF2B5EF4-FFF2-40B4-BE49-F238E27FC236}">
                <a16:creationId xmlns:a16="http://schemas.microsoft.com/office/drawing/2014/main" id="{7F3F6181-769A-D80D-A832-16BD3017963F}"/>
              </a:ext>
            </a:extLst>
          </p:cNvPr>
          <p:cNvSpPr/>
          <p:nvPr/>
        </p:nvSpPr>
        <p:spPr>
          <a:xfrm>
            <a:off x="733747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안전성 적용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대상 판단 </a:t>
            </a:r>
          </a:p>
        </p:txBody>
      </p:sp>
      <p:sp>
        <p:nvSpPr>
          <p:cNvPr id="41" name="직사각형 56">
            <a:extLst>
              <a:ext uri="{FF2B5EF4-FFF2-40B4-BE49-F238E27FC236}">
                <a16:creationId xmlns:a16="http://schemas.microsoft.com/office/drawing/2014/main" id="{7C7C0536-6099-BC4B-BF4D-01EB0CD739ED}"/>
              </a:ext>
            </a:extLst>
          </p:cNvPr>
          <p:cNvSpPr/>
          <p:nvPr/>
        </p:nvSpPr>
        <p:spPr>
          <a:xfrm>
            <a:off x="6473877" y="5460493"/>
            <a:ext cx="1206448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42" name="직선 화살표 연결선 27">
            <a:extLst>
              <a:ext uri="{FF2B5EF4-FFF2-40B4-BE49-F238E27FC236}">
                <a16:creationId xmlns:a16="http://schemas.microsoft.com/office/drawing/2014/main" id="{586FC7B1-293B-4685-EE6B-DC5D6BF6A055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6251357" y="2928016"/>
            <a:ext cx="2225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3" name="직사각형 56">
            <a:extLst>
              <a:ext uri="{FF2B5EF4-FFF2-40B4-BE49-F238E27FC236}">
                <a16:creationId xmlns:a16="http://schemas.microsoft.com/office/drawing/2014/main" id="{CEA1F4C4-D523-F7B5-7A92-3B56BB43C22B}"/>
              </a:ext>
            </a:extLst>
          </p:cNvPr>
          <p:cNvSpPr/>
          <p:nvPr/>
        </p:nvSpPr>
        <p:spPr>
          <a:xfrm>
            <a:off x="786452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4" name="직사각형 56">
            <a:extLst>
              <a:ext uri="{FF2B5EF4-FFF2-40B4-BE49-F238E27FC236}">
                <a16:creationId xmlns:a16="http://schemas.microsoft.com/office/drawing/2014/main" id="{583C7C67-AA76-BADA-111D-53493DC7348D}"/>
              </a:ext>
            </a:extLst>
          </p:cNvPr>
          <p:cNvSpPr/>
          <p:nvPr/>
        </p:nvSpPr>
        <p:spPr>
          <a:xfrm>
            <a:off x="869002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영향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평가</a:t>
            </a:r>
          </a:p>
        </p:txBody>
      </p:sp>
      <p:sp>
        <p:nvSpPr>
          <p:cNvPr id="45" name="직사각형 56">
            <a:extLst>
              <a:ext uri="{FF2B5EF4-FFF2-40B4-BE49-F238E27FC236}">
                <a16:creationId xmlns:a16="http://schemas.microsoft.com/office/drawing/2014/main" id="{0FD43E0F-76E7-EE37-29BA-C139F9019197}"/>
              </a:ext>
            </a:extLst>
          </p:cNvPr>
          <p:cNvSpPr/>
          <p:nvPr/>
        </p:nvSpPr>
        <p:spPr>
          <a:xfrm>
            <a:off x="9161971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6" name="직사각형 56">
            <a:extLst>
              <a:ext uri="{FF2B5EF4-FFF2-40B4-BE49-F238E27FC236}">
                <a16:creationId xmlns:a16="http://schemas.microsoft.com/office/drawing/2014/main" id="{9C828209-4ECB-EE90-1FB9-C16412EBDDB7}"/>
              </a:ext>
            </a:extLst>
          </p:cNvPr>
          <p:cNvSpPr/>
          <p:nvPr/>
        </p:nvSpPr>
        <p:spPr>
          <a:xfrm>
            <a:off x="7864527" y="5460493"/>
            <a:ext cx="1184223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위험등급별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차등화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47" name="직선 화살표 연결선 27">
            <a:extLst>
              <a:ext uri="{FF2B5EF4-FFF2-40B4-BE49-F238E27FC236}">
                <a16:creationId xmlns:a16="http://schemas.microsoft.com/office/drawing/2014/main" id="{D47A6637-07DA-AC12-E185-6B6268893C16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7175501" y="2928016"/>
            <a:ext cx="161976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8" name="직선 화살표 연결선 27">
            <a:extLst>
              <a:ext uri="{FF2B5EF4-FFF2-40B4-BE49-F238E27FC236}">
                <a16:creationId xmlns:a16="http://schemas.microsoft.com/office/drawing/2014/main" id="{F7B6AA60-3A82-2DC8-258A-3A837F434515}"/>
              </a:ext>
            </a:extLst>
          </p:cNvPr>
          <p:cNvCxnSpPr>
            <a:cxnSpLocks/>
            <a:stCxn id="43" idx="2"/>
            <a:endCxn id="49" idx="0"/>
          </p:cNvCxnSpPr>
          <p:nvPr/>
        </p:nvCxnSpPr>
        <p:spPr>
          <a:xfrm>
            <a:off x="8215339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9" name="직사각형 56">
            <a:extLst>
              <a:ext uri="{FF2B5EF4-FFF2-40B4-BE49-F238E27FC236}">
                <a16:creationId xmlns:a16="http://schemas.microsoft.com/office/drawing/2014/main" id="{56D41285-67AF-877E-7DB5-F80B378C6614}"/>
              </a:ext>
            </a:extLst>
          </p:cNvPr>
          <p:cNvSpPr/>
          <p:nvPr/>
        </p:nvSpPr>
        <p:spPr>
          <a:xfrm>
            <a:off x="7864527" y="3865661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7D068116-0B89-9699-8A14-3C2774F0CC18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215339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1" name="직선 화살표 연결선 27">
            <a:extLst>
              <a:ext uri="{FF2B5EF4-FFF2-40B4-BE49-F238E27FC236}">
                <a16:creationId xmlns:a16="http://schemas.microsoft.com/office/drawing/2014/main" id="{22544089-0122-5CEE-460E-5A176C25D65E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886938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2" name="직선 화살표 연결선 27">
            <a:extLst>
              <a:ext uri="{FF2B5EF4-FFF2-40B4-BE49-F238E27FC236}">
                <a16:creationId xmlns:a16="http://schemas.microsoft.com/office/drawing/2014/main" id="{8C5BC345-60C7-2B01-E8B9-3B7790C91D00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9048751" y="2928016"/>
            <a:ext cx="1132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DE22207D-AF17-901A-78B3-A9B3DEC7CCF8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4" name="연결선: 꺾임 26">
            <a:extLst>
              <a:ext uri="{FF2B5EF4-FFF2-40B4-BE49-F238E27FC236}">
                <a16:creationId xmlns:a16="http://schemas.microsoft.com/office/drawing/2014/main" id="{F4027EB2-593B-9BC0-FCD8-74A669E83FAD}"/>
              </a:ext>
            </a:extLst>
          </p:cNvPr>
          <p:cNvCxnSpPr>
            <a:cxnSpLocks/>
            <a:stCxn id="45" idx="3"/>
            <a:endCxn id="53" idx="1"/>
          </p:cNvCxnSpPr>
          <p:nvPr/>
        </p:nvCxnSpPr>
        <p:spPr>
          <a:xfrm>
            <a:off x="9520695" y="2928016"/>
            <a:ext cx="22326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" name="직사각형 56">
            <a:extLst>
              <a:ext uri="{FF2B5EF4-FFF2-40B4-BE49-F238E27FC236}">
                <a16:creationId xmlns:a16="http://schemas.microsoft.com/office/drawing/2014/main" id="{93121D4D-4A58-4CF9-5268-DF39A9895EFD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6" name="연결선: 꺾임 26">
            <a:extLst>
              <a:ext uri="{FF2B5EF4-FFF2-40B4-BE49-F238E27FC236}">
                <a16:creationId xmlns:a16="http://schemas.microsoft.com/office/drawing/2014/main" id="{A516EAF4-EED9-5753-04CE-C91AA739AB1B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6378681-F7ED-E054-B985-3AEF16F43897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8" name="직사각형 56">
            <a:extLst>
              <a:ext uri="{FF2B5EF4-FFF2-40B4-BE49-F238E27FC236}">
                <a16:creationId xmlns:a16="http://schemas.microsoft.com/office/drawing/2014/main" id="{1804C165-80EE-93DD-711D-D9A3C1DF919D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E11A978-0A17-726F-D17F-AF213A11CFD0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62DB5A9D-5AF2-73AF-537E-124ECDAABA96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14">
              <a:extLst>
                <a:ext uri="{FF2B5EF4-FFF2-40B4-BE49-F238E27FC236}">
                  <a16:creationId xmlns:a16="http://schemas.microsoft.com/office/drawing/2014/main" id="{71B1D3B1-159E-9DF6-5F6D-A3ADBA884565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61" name="직사각형 15">
              <a:extLst>
                <a:ext uri="{FF2B5EF4-FFF2-40B4-BE49-F238E27FC236}">
                  <a16:creationId xmlns:a16="http://schemas.microsoft.com/office/drawing/2014/main" id="{332E64F2-ADDC-F4A2-DC69-3A0986F79BB5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62" name="직사각형 16">
              <a:extLst>
                <a:ext uri="{FF2B5EF4-FFF2-40B4-BE49-F238E27FC236}">
                  <a16:creationId xmlns:a16="http://schemas.microsoft.com/office/drawing/2014/main" id="{0AE2217F-6C7C-CDC3-FBA6-8AA59AD0487D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D41C96-C651-7468-5063-AADC6E9D5753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5991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EBCE-5621-608C-1118-DF44836F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F14BC3-F2F0-FC52-19A5-98EE2EF092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[Back-up] AI</a:t>
            </a:r>
            <a:r>
              <a:rPr lang="ko-KR" altLang="en-US" dirty="0"/>
              <a:t>거버넌스 업무 프로세스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산출물 법령 근거</a:t>
            </a:r>
            <a:endParaRPr lang="ko-KR" alt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25D202-7703-FA61-5E49-00127C746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4046"/>
              </p:ext>
            </p:extLst>
          </p:nvPr>
        </p:nvGraphicFramePr>
        <p:xfrm>
          <a:off x="371963" y="800101"/>
          <a:ext cx="11520001" cy="5724524"/>
        </p:xfrm>
        <a:graphic>
          <a:graphicData uri="http://schemas.openxmlformats.org/drawingml/2006/table">
            <a:tbl>
              <a:tblPr/>
              <a:tblGrid>
                <a:gridCol w="410945">
                  <a:extLst>
                    <a:ext uri="{9D8B030D-6E8A-4147-A177-3AD203B41FA5}">
                      <a16:colId xmlns:a16="http://schemas.microsoft.com/office/drawing/2014/main" val="1974669217"/>
                    </a:ext>
                  </a:extLst>
                </a:gridCol>
                <a:gridCol w="725256">
                  <a:extLst>
                    <a:ext uri="{9D8B030D-6E8A-4147-A177-3AD203B41FA5}">
                      <a16:colId xmlns:a16="http://schemas.microsoft.com/office/drawing/2014/main" val="34939179"/>
                    </a:ext>
                  </a:extLst>
                </a:gridCol>
                <a:gridCol w="900317">
                  <a:extLst>
                    <a:ext uri="{9D8B030D-6E8A-4147-A177-3AD203B41FA5}">
                      <a16:colId xmlns:a16="http://schemas.microsoft.com/office/drawing/2014/main" val="108577428"/>
                    </a:ext>
                  </a:extLst>
                </a:gridCol>
                <a:gridCol w="1099650">
                  <a:extLst>
                    <a:ext uri="{9D8B030D-6E8A-4147-A177-3AD203B41FA5}">
                      <a16:colId xmlns:a16="http://schemas.microsoft.com/office/drawing/2014/main" val="3433427385"/>
                    </a:ext>
                  </a:extLst>
                </a:gridCol>
                <a:gridCol w="1081454">
                  <a:extLst>
                    <a:ext uri="{9D8B030D-6E8A-4147-A177-3AD203B41FA5}">
                      <a16:colId xmlns:a16="http://schemas.microsoft.com/office/drawing/2014/main" val="3753790747"/>
                    </a:ext>
                  </a:extLst>
                </a:gridCol>
                <a:gridCol w="7302379">
                  <a:extLst>
                    <a:ext uri="{9D8B030D-6E8A-4147-A177-3AD203B41FA5}">
                      <a16:colId xmlns:a16="http://schemas.microsoft.com/office/drawing/2014/main" val="2201456016"/>
                    </a:ext>
                  </a:extLst>
                </a:gridCol>
              </a:tblGrid>
              <a:tr h="19003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</a:t>
                      </a:r>
                      <a:endParaRPr lang="en-US" altLang="ko-KR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법령 근거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05692"/>
                  </a:ext>
                </a:extLst>
              </a:tr>
              <a:tr h="190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79132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기획 수립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가이드라인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기획 및 설계 단계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활용 목적이 윤리원칙에 부합하는지 검토하고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 맥락을 고려하여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활용으로 나타날 수 있는 사회적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경제적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문화적 영향 및 잠재적 피해 가능성을 평가하여야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897219"/>
                  </a:ext>
                </a:extLst>
              </a:tr>
              <a:tr h="6869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위험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영향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안전성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식별 및 평가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가이드라인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II .7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 원칙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거버넌스 원칙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1.3.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위험평가 체계 구축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인공지능 서비스별 위험을 관리하기 위해 위험 인식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측정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위험경감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잔여위험 평가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위험등급 산정 등의 종합 위험평가 체계를 구축한다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002761"/>
                  </a:ext>
                </a:extLst>
              </a:tr>
              <a:tr h="3453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단계</a:t>
                      </a: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서비스 개발계획 수립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개발ㆍ활용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안내서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개발 단계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시스템에 활용되는 학습데이터의 출처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품질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편향성 등을 조사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‧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검증하고 주기적인 데이터 갱신 등 데이터 품질 개선을 위한 방법을 검토한다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013214"/>
                  </a:ext>
                </a:extLst>
              </a:tr>
              <a:tr h="154522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프로세스</a:t>
                      </a:r>
                    </a:p>
                    <a:p>
                      <a:pPr algn="ctr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개발 단계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서비스 개발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11" marR="3611" marT="36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가이드라인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개발 단계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올바른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학습을 위하여 데이터의 출처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편향성 등을 조사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검증하고 주기적인 데이터 갱신 등 데이터 품질 개선을 위한 방법을 검토한다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시스템이 개인정보 보호법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 및 시행령 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조에 따른 민감정보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이와 유사한 사생활 관련 정보 등을 활용하는 경우 사전 동의 획득 또는 비식별조치 등 안전한 정보 활용을 위한 충분한 조치를 거쳐야 하며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정보 활용의 필요성을 평가하고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처리 과정에서 해당 정보의 재식별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악용가능성이 없도록 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관련 법령 등에 따라 고객에 대한 설명의무가 있는 금융서비스 등에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시스템을 활용하는 경우 또는 고위험 서비스에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시스템을 활용하는 경우에는 개발 단계에서부터 설명 가능성을 고려하고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가용한 설명 가능한 인공지능 기술 등을 확인하여 이를 도입하기 위한 노력을 기울인다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657788"/>
                  </a:ext>
                </a:extLst>
              </a:tr>
              <a:tr h="520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단계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위험관리 계획 준수사항 점검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개발ㆍ활용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안내서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거버넌스의 구축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2.2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금융회사 등은 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시스템의 전 과정에 걸쳐 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활용에 따라 나타날 수 있는 잠재적 위험을 인식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‧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평가하고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이를 관리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‧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최소화하는 방안을 검토하는 등 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활용으로 인한 잠재적 위험을 관리하는데 필요한 위험관리정책을 마련해야 한다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694906"/>
                  </a:ext>
                </a:extLst>
              </a:tr>
              <a:tr h="8619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운영 전 검증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가이드라인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AI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평가 및 검증 단계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윤리원칙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목적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사례에 따른 고객 영향 및 잠재적 피해의 정도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 측정 지표의 상충관계 등을 종합적으로 고려하여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적절한 성능 목표 수준 및 성능 측정 지표를 선정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 등은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윤리원칙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목적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공정성 평가 지표별 고객 영향 및 잠재적 피해의 정도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공정성 평가 지표의 상충관계 등을 종합적으로 고려하여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시스템의 적절한 공정성 목표 수준 및 공정성 판단 지표를 선정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432187"/>
                  </a:ext>
                </a:extLst>
              </a:tr>
              <a:tr h="868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단계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위험등급별 차등화 검증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금융분야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가이드라인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 .7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원칙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거버넌스 원칙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1.4.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위험통제 절차 마련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34" charset="-128"/>
                          <a:ea typeface="MS UI Gothic" panose="020B0600070205080204" pitchFamily="34" charset="-128"/>
                        </a:rPr>
                        <a:t>․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수준별로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차등화된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통제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관리를 수행하고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등 위험통제를 위한 제반 절차를 마련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금융회사등은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인공지능 서비스의 위험통제를 위해 위험별로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차등화된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관리를 수행하되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인공지능 서비스의 영향력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중대성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사회적 파급력 등이 큰 인공지능에 대해서는 강화된 통제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의무를 부여한다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8501"/>
                  </a:ext>
                </a:extLst>
              </a:tr>
            </a:tbl>
          </a:graphicData>
        </a:graphic>
      </p:graphicFrame>
      <p:sp>
        <p:nvSpPr>
          <p:cNvPr id="66" name="텍스트 개체 틀 2">
            <a:extLst>
              <a:ext uri="{FF2B5EF4-FFF2-40B4-BE49-F238E27FC236}">
                <a16:creationId xmlns:a16="http://schemas.microsoft.com/office/drawing/2014/main" id="{616F9579-4662-F032-28FC-67A32FDC9B52}"/>
              </a:ext>
            </a:extLst>
          </p:cNvPr>
          <p:cNvSpPr txBox="1">
            <a:spLocks/>
          </p:cNvSpPr>
          <p:nvPr/>
        </p:nvSpPr>
        <p:spPr>
          <a:xfrm>
            <a:off x="11100250" y="496140"/>
            <a:ext cx="1197711" cy="20544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400" b="0" kern="120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i="1" u="sng" dirty="0"/>
              <a:t>Selective</a:t>
            </a:r>
            <a:endParaRPr lang="ko-KR" altLang="en-US" sz="1600" b="1" i="1" u="sng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2CCBF95-ACAF-77FF-59A0-A71D86E61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565593"/>
              </p:ext>
            </p:extLst>
          </p:nvPr>
        </p:nvGraphicFramePr>
        <p:xfrm>
          <a:off x="11510964" y="100058"/>
          <a:ext cx="3810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380778" imgH="792318" progId="Excel.Sheet.12">
                  <p:embed/>
                </p:oleObj>
              </mc:Choice>
              <mc:Fallback>
                <p:oleObj name="Worksheet" showAsIcon="1" r:id="rId2" imgW="380778" imgH="792318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2CCBF95-ACAF-77FF-59A0-A71D86E61B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10964" y="100058"/>
                        <a:ext cx="3810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5715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4BD4-80E7-AC78-14C6-A7BE1D22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DA21A0-EE33-7A2E-0F68-A0AB0CE64C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248F67-825F-7F5A-53D5-A0754DE90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활용 도구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889FC-4C4F-6776-2E53-CA1F564BCE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거버넌스 유관 부서 담당자별 </a:t>
            </a:r>
            <a:r>
              <a:rPr lang="en-US" altLang="ko-KR"/>
              <a:t>R&amp;R·</a:t>
            </a:r>
            <a:r>
              <a:rPr lang="ko-KR" altLang="en-US"/>
              <a:t>업무 프로세스</a:t>
            </a:r>
            <a:r>
              <a:rPr lang="en-US" altLang="ko-KR"/>
              <a:t>·</a:t>
            </a:r>
            <a:r>
              <a:rPr lang="ko-KR" altLang="en-US"/>
              <a:t>산출물을 정의하고</a:t>
            </a:r>
            <a:r>
              <a:rPr lang="en-US" altLang="ko-KR"/>
              <a:t>, </a:t>
            </a:r>
            <a:r>
              <a:rPr lang="ko-KR" altLang="en-US"/>
              <a:t>거버넌스 활용 </a:t>
            </a:r>
            <a:r>
              <a:rPr lang="en-US" altLang="ko-KR"/>
              <a:t>·</a:t>
            </a:r>
            <a:r>
              <a:rPr lang="ko-KR" altLang="en-US"/>
              <a:t>지원 도구의 실제 운영</a:t>
            </a:r>
            <a:r>
              <a:rPr lang="en-US" altLang="ko-KR"/>
              <a:t>·</a:t>
            </a:r>
            <a:r>
              <a:rPr lang="ko-KR" altLang="en-US"/>
              <a:t>활용 관점에서 상세 실행 방안을 수립함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F8846A1-5889-E414-FC65-1A422D17905B}"/>
              </a:ext>
            </a:extLst>
          </p:cNvPr>
          <p:cNvSpPr/>
          <p:nvPr/>
        </p:nvSpPr>
        <p:spPr>
          <a:xfrm>
            <a:off x="334963" y="1736827"/>
            <a:ext cx="7711342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주요 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거버넌스 프로세스 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요약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63" name="Google Shape;134;p5">
            <a:extLst>
              <a:ext uri="{FF2B5EF4-FFF2-40B4-BE49-F238E27FC236}">
                <a16:creationId xmlns:a16="http://schemas.microsoft.com/office/drawing/2014/main" id="{65FA07F6-25A6-E7BB-E86A-0BFE187F5114}"/>
              </a:ext>
            </a:extLst>
          </p:cNvPr>
          <p:cNvSpPr/>
          <p:nvPr/>
        </p:nvSpPr>
        <p:spPr>
          <a:xfrm>
            <a:off x="508599" y="2727983"/>
            <a:ext cx="1738742" cy="466752"/>
          </a:xfrm>
          <a:prstGeom prst="rect">
            <a:avLst/>
          </a:prstGeom>
          <a:gradFill flip="none" rotWithShape="1">
            <a:gsLst>
              <a:gs pos="54000">
                <a:srgbClr val="FBE5D6"/>
              </a:gs>
              <a:gs pos="73000">
                <a:srgbClr val="F4B183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 수립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2) </a:t>
            </a:r>
            <a:endParaRPr lang="ko-KR" altLang="en-US" sz="1200" b="1" spc="-150" baseline="300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68" name="사각형: 둥근 모서리 20">
            <a:extLst>
              <a:ext uri="{FF2B5EF4-FFF2-40B4-BE49-F238E27FC236}">
                <a16:creationId xmlns:a16="http://schemas.microsoft.com/office/drawing/2014/main" id="{F14845C0-DD5C-DBC9-D449-DB21872327AB}"/>
              </a:ext>
            </a:extLst>
          </p:cNvPr>
          <p:cNvSpPr/>
          <p:nvPr/>
        </p:nvSpPr>
        <p:spPr>
          <a:xfrm>
            <a:off x="508599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69" name="사각형: 둥근 모서리 20">
            <a:extLst>
              <a:ext uri="{FF2B5EF4-FFF2-40B4-BE49-F238E27FC236}">
                <a16:creationId xmlns:a16="http://schemas.microsoft.com/office/drawing/2014/main" id="{70C8F264-9B88-35C7-E242-DB6FD650435D}"/>
              </a:ext>
            </a:extLst>
          </p:cNvPr>
          <p:cNvSpPr/>
          <p:nvPr/>
        </p:nvSpPr>
        <p:spPr>
          <a:xfrm>
            <a:off x="2421168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70" name="사각형: 둥근 모서리 20">
            <a:extLst>
              <a:ext uri="{FF2B5EF4-FFF2-40B4-BE49-F238E27FC236}">
                <a16:creationId xmlns:a16="http://schemas.microsoft.com/office/drawing/2014/main" id="{92A9CE58-3AF1-E147-8252-ED2C16F47EA0}"/>
              </a:ext>
            </a:extLst>
          </p:cNvPr>
          <p:cNvSpPr/>
          <p:nvPr/>
        </p:nvSpPr>
        <p:spPr>
          <a:xfrm>
            <a:off x="4333737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1" name="사각형: 둥근 모서리 20">
            <a:extLst>
              <a:ext uri="{FF2B5EF4-FFF2-40B4-BE49-F238E27FC236}">
                <a16:creationId xmlns:a16="http://schemas.microsoft.com/office/drawing/2014/main" id="{B5824CBA-3843-8376-76D5-9EC4E0300CA4}"/>
              </a:ext>
            </a:extLst>
          </p:cNvPr>
          <p:cNvSpPr/>
          <p:nvPr/>
        </p:nvSpPr>
        <p:spPr>
          <a:xfrm>
            <a:off x="6246305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4" name="Google Shape;134;p5">
            <a:extLst>
              <a:ext uri="{FF2B5EF4-FFF2-40B4-BE49-F238E27FC236}">
                <a16:creationId xmlns:a16="http://schemas.microsoft.com/office/drawing/2014/main" id="{8476811B-885F-6CD8-6DE7-979F9A876DDE}"/>
              </a:ext>
            </a:extLst>
          </p:cNvPr>
          <p:cNvSpPr/>
          <p:nvPr/>
        </p:nvSpPr>
        <p:spPr>
          <a:xfrm>
            <a:off x="508599" y="3349151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</a:t>
            </a:r>
            <a:r>
              <a:rPr lang="en-US" altLang="ko-KR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</a:t>
            </a:r>
            <a:r>
              <a:rPr lang="en-US" altLang="ko-KR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안전성 </a:t>
            </a:r>
            <a:endParaRPr lang="en-US" altLang="ko-KR" sz="12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식별 및 평가</a:t>
            </a:r>
            <a:r>
              <a:rPr lang="en-US" altLang="ko-KR" sz="1200" b="1" spc="-150" baseline="300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3) 4) </a:t>
            </a:r>
            <a:endParaRPr lang="ko-KR" altLang="en-US" sz="12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5" name="Google Shape;134;p5">
            <a:extLst>
              <a:ext uri="{FF2B5EF4-FFF2-40B4-BE49-F238E27FC236}">
                <a16:creationId xmlns:a16="http://schemas.microsoft.com/office/drawing/2014/main" id="{8F483EA8-19B4-0334-A5DE-E6EE2E29D770}"/>
              </a:ext>
            </a:extLst>
          </p:cNvPr>
          <p:cNvSpPr/>
          <p:nvPr/>
        </p:nvSpPr>
        <p:spPr>
          <a:xfrm>
            <a:off x="508599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개발계획 수립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6" name="Google Shape;134;p5">
            <a:extLst>
              <a:ext uri="{FF2B5EF4-FFF2-40B4-BE49-F238E27FC236}">
                <a16:creationId xmlns:a16="http://schemas.microsoft.com/office/drawing/2014/main" id="{37C19AC4-2763-8C46-DB0F-A3A5B1185B34}"/>
              </a:ext>
            </a:extLst>
          </p:cNvPr>
          <p:cNvSpPr/>
          <p:nvPr/>
        </p:nvSpPr>
        <p:spPr>
          <a:xfrm>
            <a:off x="508599" y="4591487"/>
            <a:ext cx="1738742" cy="466752"/>
          </a:xfrm>
          <a:prstGeom prst="rect">
            <a:avLst/>
          </a:prstGeom>
          <a:gradFill flip="none" rotWithShape="1">
            <a:gsLst>
              <a:gs pos="54000">
                <a:srgbClr val="FBE5D6"/>
              </a:gs>
              <a:gs pos="73000">
                <a:srgbClr val="F4B183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 계획 수립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7)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7" name="Google Shape;134;p5">
            <a:extLst>
              <a:ext uri="{FF2B5EF4-FFF2-40B4-BE49-F238E27FC236}">
                <a16:creationId xmlns:a16="http://schemas.microsoft.com/office/drawing/2014/main" id="{46CFA823-A2E7-9123-3B9B-926F2DE356C6}"/>
              </a:ext>
            </a:extLst>
          </p:cNvPr>
          <p:cNvSpPr/>
          <p:nvPr/>
        </p:nvSpPr>
        <p:spPr>
          <a:xfrm>
            <a:off x="2421168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개발환경 구축 및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학습데이터 관리</a:t>
            </a:r>
          </a:p>
        </p:txBody>
      </p:sp>
      <p:sp>
        <p:nvSpPr>
          <p:cNvPr id="78" name="Google Shape;134;p5">
            <a:extLst>
              <a:ext uri="{FF2B5EF4-FFF2-40B4-BE49-F238E27FC236}">
                <a16:creationId xmlns:a16="http://schemas.microsoft.com/office/drawing/2014/main" id="{A8308734-C6C7-5320-96A9-3BDB34E091FC}"/>
              </a:ext>
            </a:extLst>
          </p:cNvPr>
          <p:cNvSpPr/>
          <p:nvPr/>
        </p:nvSpPr>
        <p:spPr>
          <a:xfrm>
            <a:off x="2421168" y="3349151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개발</a:t>
            </a:r>
          </a:p>
        </p:txBody>
      </p:sp>
      <p:sp>
        <p:nvSpPr>
          <p:cNvPr id="79" name="Google Shape;134;p5">
            <a:extLst>
              <a:ext uri="{FF2B5EF4-FFF2-40B4-BE49-F238E27FC236}">
                <a16:creationId xmlns:a16="http://schemas.microsoft.com/office/drawing/2014/main" id="{3156F13D-2C87-26B0-5E99-626366B7A6EA}"/>
              </a:ext>
            </a:extLst>
          </p:cNvPr>
          <p:cNvSpPr/>
          <p:nvPr/>
        </p:nvSpPr>
        <p:spPr>
          <a:xfrm>
            <a:off x="2421168" y="3970319"/>
            <a:ext cx="1738742" cy="466752"/>
          </a:xfrm>
          <a:prstGeom prst="rect">
            <a:avLst/>
          </a:prstGeom>
          <a:solidFill>
            <a:srgbClr val="F4B183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위험관리 계획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준수사항 점검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0" name="Google Shape;134;p5">
            <a:extLst>
              <a:ext uri="{FF2B5EF4-FFF2-40B4-BE49-F238E27FC236}">
                <a16:creationId xmlns:a16="http://schemas.microsoft.com/office/drawing/2014/main" id="{C08552F6-BA95-19F1-16F6-B154643C8D23}"/>
              </a:ext>
            </a:extLst>
          </p:cNvPr>
          <p:cNvSpPr/>
          <p:nvPr/>
        </p:nvSpPr>
        <p:spPr>
          <a:xfrm>
            <a:off x="2421168" y="4591487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서비스 개발 요건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이행 점검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2" name="Google Shape;134;p5">
            <a:extLst>
              <a:ext uri="{FF2B5EF4-FFF2-40B4-BE49-F238E27FC236}">
                <a16:creationId xmlns:a16="http://schemas.microsoft.com/office/drawing/2014/main" id="{7DA0AF88-7500-5C44-E1C2-510646D695CD}"/>
              </a:ext>
            </a:extLst>
          </p:cNvPr>
          <p:cNvSpPr/>
          <p:nvPr/>
        </p:nvSpPr>
        <p:spPr>
          <a:xfrm>
            <a:off x="4333737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 전 검증</a:t>
            </a:r>
          </a:p>
        </p:txBody>
      </p:sp>
      <p:sp>
        <p:nvSpPr>
          <p:cNvPr id="84" name="Google Shape;134;p5">
            <a:extLst>
              <a:ext uri="{FF2B5EF4-FFF2-40B4-BE49-F238E27FC236}">
                <a16:creationId xmlns:a16="http://schemas.microsoft.com/office/drawing/2014/main" id="{D7578466-E829-58C3-8747-49E68FDD9484}"/>
              </a:ext>
            </a:extLst>
          </p:cNvPr>
          <p:cNvSpPr/>
          <p:nvPr/>
        </p:nvSpPr>
        <p:spPr>
          <a:xfrm>
            <a:off x="4333737" y="3349151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제 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자 평가 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검증 요청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및 결과 확인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9)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5" name="Google Shape;134;p5">
            <a:extLst>
              <a:ext uri="{FF2B5EF4-FFF2-40B4-BE49-F238E27FC236}">
                <a16:creationId xmlns:a16="http://schemas.microsoft.com/office/drawing/2014/main" id="{059E6C16-37A7-7EB0-D691-29F5D732B23F}"/>
              </a:ext>
            </a:extLst>
          </p:cNvPr>
          <p:cNvSpPr/>
          <p:nvPr/>
        </p:nvSpPr>
        <p:spPr>
          <a:xfrm>
            <a:off x="4333737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 승인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11) 12) 13)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7" name="Google Shape;134;p5">
            <a:extLst>
              <a:ext uri="{FF2B5EF4-FFF2-40B4-BE49-F238E27FC236}">
                <a16:creationId xmlns:a16="http://schemas.microsoft.com/office/drawing/2014/main" id="{DEF46FD6-73D5-6253-7448-92BB7228B26E}"/>
              </a:ext>
            </a:extLst>
          </p:cNvPr>
          <p:cNvSpPr/>
          <p:nvPr/>
        </p:nvSpPr>
        <p:spPr>
          <a:xfrm>
            <a:off x="6246305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배포</a:t>
            </a:r>
          </a:p>
        </p:txBody>
      </p:sp>
      <p:sp>
        <p:nvSpPr>
          <p:cNvPr id="88" name="Google Shape;134;p5">
            <a:extLst>
              <a:ext uri="{FF2B5EF4-FFF2-40B4-BE49-F238E27FC236}">
                <a16:creationId xmlns:a16="http://schemas.microsoft.com/office/drawing/2014/main" id="{63266324-D4A6-7E49-C10A-4BD759FC1B8F}"/>
              </a:ext>
            </a:extLst>
          </p:cNvPr>
          <p:cNvSpPr/>
          <p:nvPr/>
        </p:nvSpPr>
        <p:spPr>
          <a:xfrm>
            <a:off x="6246305" y="3349151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9" name="Google Shape;134;p5">
            <a:extLst>
              <a:ext uri="{FF2B5EF4-FFF2-40B4-BE49-F238E27FC236}">
                <a16:creationId xmlns:a16="http://schemas.microsoft.com/office/drawing/2014/main" id="{5677C6F8-9A2D-7F6B-AB0E-B47139C1FAD9}"/>
              </a:ext>
            </a:extLst>
          </p:cNvPr>
          <p:cNvSpPr/>
          <p:nvPr/>
        </p:nvSpPr>
        <p:spPr>
          <a:xfrm>
            <a:off x="6246305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 모니터링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14)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0" name="Google Shape;134;p5">
            <a:extLst>
              <a:ext uri="{FF2B5EF4-FFF2-40B4-BE49-F238E27FC236}">
                <a16:creationId xmlns:a16="http://schemas.microsoft.com/office/drawing/2014/main" id="{E4B85052-3A7E-A89B-60A0-ED665EB712D4}"/>
              </a:ext>
            </a:extLst>
          </p:cNvPr>
          <p:cNvSpPr/>
          <p:nvPr/>
        </p:nvSpPr>
        <p:spPr>
          <a:xfrm>
            <a:off x="6246305" y="4591487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15)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89FC09D2-3E31-A00B-7B42-5DAA897764A2}"/>
              </a:ext>
            </a:extLst>
          </p:cNvPr>
          <p:cNvSpPr/>
          <p:nvPr/>
        </p:nvSpPr>
        <p:spPr>
          <a:xfrm>
            <a:off x="8507706" y="2248156"/>
            <a:ext cx="538425" cy="3144202"/>
          </a:xfrm>
          <a:prstGeom prst="roundRect">
            <a:avLst>
              <a:gd name="adj" fmla="val 21557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서식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·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템플릿</a:t>
            </a:r>
            <a:endParaRPr kumimoji="1" lang="en-US" altLang="ko-KR" sz="1200" b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BDE0E1A8-3B94-068B-5CA3-BF08D210AB61}"/>
              </a:ext>
            </a:extLst>
          </p:cNvPr>
          <p:cNvSpPr/>
          <p:nvPr/>
        </p:nvSpPr>
        <p:spPr>
          <a:xfrm>
            <a:off x="9143808" y="2256180"/>
            <a:ext cx="2613885" cy="3136178"/>
          </a:xfrm>
          <a:prstGeom prst="roundRect">
            <a:avLst>
              <a:gd name="adj" fmla="val 476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3)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&amp;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안전성 여부 판단서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*, </a:t>
            </a:r>
            <a:b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 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 평가서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안정성 평가서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b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  </a:t>
            </a:r>
            <a:r>
              <a:rPr lang="ko-KR" altLang="en-US" sz="1200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고영향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책무 리스트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4)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위험등급평가서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개발계획서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위험관리 계획서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개발자 검증 결과서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9)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자 검증 결과서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모델설명서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11)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위험완화방안 확인서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12)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모니터링 계획서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13)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 승인 요청서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14) AI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서비스 모니터링 보고서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</a:p>
          <a:p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15)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개선계획서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0A5C20E7-A369-7EEC-9CB5-9B0BF63E9574}"/>
              </a:ext>
            </a:extLst>
          </p:cNvPr>
          <p:cNvSpPr/>
          <p:nvPr/>
        </p:nvSpPr>
        <p:spPr>
          <a:xfrm>
            <a:off x="9143807" y="5455629"/>
            <a:ext cx="2613885" cy="680314"/>
          </a:xfrm>
          <a:prstGeom prst="roundRect">
            <a:avLst>
              <a:gd name="adj" fmla="val 476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defTabSz="914400">
              <a:buClr>
                <a:srgbClr val="000000"/>
              </a:buClr>
            </a:pP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2)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업무 위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수탁 체크리스트</a:t>
            </a:r>
            <a:endParaRPr lang="en-US" altLang="ko-KR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defTabSz="914400">
              <a:buClr>
                <a:srgbClr val="000000"/>
              </a:buClr>
            </a:pP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AI </a:t>
            </a:r>
            <a:r>
              <a:rPr lang="ko-KR" altLang="en-US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위험점검 체크리스트</a:t>
            </a:r>
            <a:r>
              <a:rPr lang="en-US" altLang="ko-KR" sz="12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  <a:endParaRPr lang="ko-KR" altLang="en-US" sz="12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6" name="사각형: 둥근 모서리 20">
            <a:extLst>
              <a:ext uri="{FF2B5EF4-FFF2-40B4-BE49-F238E27FC236}">
                <a16:creationId xmlns:a16="http://schemas.microsoft.com/office/drawing/2014/main" id="{3EB81E52-DB5F-4F19-8509-03FDDDFDC859}"/>
              </a:ext>
            </a:extLst>
          </p:cNvPr>
          <p:cNvSpPr/>
          <p:nvPr/>
        </p:nvSpPr>
        <p:spPr>
          <a:xfrm>
            <a:off x="8507706" y="5455629"/>
            <a:ext cx="538425" cy="680314"/>
          </a:xfrm>
          <a:prstGeom prst="roundRect">
            <a:avLst>
              <a:gd name="adj" fmla="val 17358"/>
            </a:avLst>
          </a:prstGeom>
          <a:solidFill>
            <a:srgbClr val="F4B183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체크리스트</a:t>
            </a:r>
            <a:endParaRPr kumimoji="1" lang="en-US" altLang="ko-KR" sz="1200" b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00" name="사각형: 둥근 모서리 20">
            <a:extLst>
              <a:ext uri="{FF2B5EF4-FFF2-40B4-BE49-F238E27FC236}">
                <a16:creationId xmlns:a16="http://schemas.microsoft.com/office/drawing/2014/main" id="{8D53F8CE-EC1D-189B-1C3E-7D050980B1A5}"/>
              </a:ext>
            </a:extLst>
          </p:cNvPr>
          <p:cNvSpPr/>
          <p:nvPr/>
        </p:nvSpPr>
        <p:spPr>
          <a:xfrm>
            <a:off x="8507704" y="1736827"/>
            <a:ext cx="3249988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산출물</a:t>
            </a:r>
            <a:r>
              <a:rPr kumimoji="1"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*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16BA4D0B-E883-9912-4F09-79503B66A5F1}"/>
              </a:ext>
            </a:extLst>
          </p:cNvPr>
          <p:cNvSpPr txBox="1">
            <a:spLocks/>
          </p:cNvSpPr>
          <p:nvPr/>
        </p:nvSpPr>
        <p:spPr>
          <a:xfrm>
            <a:off x="8507704" y="6220674"/>
            <a:ext cx="3249988" cy="289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필수 작성 산출물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1A5F7221-B55D-AA20-2F8E-9AB1B25C7168}"/>
              </a:ext>
            </a:extLst>
          </p:cNvPr>
          <p:cNvSpPr/>
          <p:nvPr/>
        </p:nvSpPr>
        <p:spPr>
          <a:xfrm>
            <a:off x="371963" y="202784"/>
            <a:ext cx="430677" cy="432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5369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9129-7B50-5869-EF8B-C41C2596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53E2CFF-DEED-7DC8-FAA1-A76D01EED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089D83-5525-479F-475F-F33BE6D6BA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 담당자별 </a:t>
            </a:r>
            <a:r>
              <a:rPr lang="en-US" altLang="ko-KR"/>
              <a:t>R&amp;R/</a:t>
            </a:r>
            <a:r>
              <a:rPr lang="ko-KR" altLang="en-US"/>
              <a:t>업무 프로세스</a:t>
            </a:r>
            <a:r>
              <a:rPr lang="en-US" altLang="ko-KR"/>
              <a:t>/</a:t>
            </a:r>
            <a:r>
              <a:rPr lang="ko-KR" altLang="en-US"/>
              <a:t>산출물</a:t>
            </a:r>
            <a:endParaRPr lang="ko-KR" altLang="en-US" b="1"/>
          </a:p>
        </p:txBody>
      </p:sp>
      <p:sp>
        <p:nvSpPr>
          <p:cNvPr id="485" name="텍스트 개체 틀 3">
            <a:extLst>
              <a:ext uri="{FF2B5EF4-FFF2-40B4-BE49-F238E27FC236}">
                <a16:creationId xmlns:a16="http://schemas.microsoft.com/office/drawing/2014/main" id="{C459A81E-DFDA-1E0F-5D42-3FB30348BDF1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6B5ED00-E7B7-6E66-9EDC-BBBFCD7CEF2C}"/>
              </a:ext>
            </a:extLst>
          </p:cNvPr>
          <p:cNvCxnSpPr/>
          <p:nvPr/>
        </p:nvCxnSpPr>
        <p:spPr>
          <a:xfrm>
            <a:off x="334963" y="2087457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C9EF1C7-E0FD-0B0B-274E-8FB9C1A658C2}"/>
              </a:ext>
            </a:extLst>
          </p:cNvPr>
          <p:cNvCxnSpPr/>
          <p:nvPr/>
        </p:nvCxnSpPr>
        <p:spPr>
          <a:xfrm>
            <a:off x="334963" y="317704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CA65F8D-30BD-064F-9C66-156FC13E98D8}"/>
              </a:ext>
            </a:extLst>
          </p:cNvPr>
          <p:cNvCxnSpPr/>
          <p:nvPr/>
        </p:nvCxnSpPr>
        <p:spPr>
          <a:xfrm>
            <a:off x="334963" y="4266628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404B5E8-A47D-12B9-FD8C-12F3ACC96E4F}"/>
              </a:ext>
            </a:extLst>
          </p:cNvPr>
          <p:cNvCxnSpPr/>
          <p:nvPr/>
        </p:nvCxnSpPr>
        <p:spPr>
          <a:xfrm>
            <a:off x="334963" y="535621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26FEC4D-7D7D-3520-9B9C-53C07B740A41}"/>
              </a:ext>
            </a:extLst>
          </p:cNvPr>
          <p:cNvGrpSpPr/>
          <p:nvPr/>
        </p:nvGrpSpPr>
        <p:grpSpPr>
          <a:xfrm>
            <a:off x="4475359" y="998629"/>
            <a:ext cx="4968484" cy="5525996"/>
            <a:chOff x="4475359" y="998629"/>
            <a:chExt cx="4968484" cy="4848542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99735C3-9DEC-DB18-C1F6-53BC504D9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F1C3367-AC70-EECA-B3F3-86AF8FC4BC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ABF06368-9887-E948-F430-1C00DA554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13B4524-3E15-23D3-CF00-78F0884CB63C}"/>
              </a:ext>
            </a:extLst>
          </p:cNvPr>
          <p:cNvCxnSpPr/>
          <p:nvPr/>
        </p:nvCxnSpPr>
        <p:spPr>
          <a:xfrm>
            <a:off x="334963" y="590231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3" name="Google Shape;134;p5">
            <a:extLst>
              <a:ext uri="{FF2B5EF4-FFF2-40B4-BE49-F238E27FC236}">
                <a16:creationId xmlns:a16="http://schemas.microsoft.com/office/drawing/2014/main" id="{88A627B3-1BB1-1C21-3633-E4B239886825}"/>
              </a:ext>
            </a:extLst>
          </p:cNvPr>
          <p:cNvSpPr/>
          <p:nvPr/>
        </p:nvSpPr>
        <p:spPr>
          <a:xfrm>
            <a:off x="334961" y="5391682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15" name="Google Shape;134;p5">
            <a:extLst>
              <a:ext uri="{FF2B5EF4-FFF2-40B4-BE49-F238E27FC236}">
                <a16:creationId xmlns:a16="http://schemas.microsoft.com/office/drawing/2014/main" id="{33F616F9-59AB-4CE5-6069-591A1137D8AA}"/>
              </a:ext>
            </a:extLst>
          </p:cNvPr>
          <p:cNvSpPr/>
          <p:nvPr/>
        </p:nvSpPr>
        <p:spPr>
          <a:xfrm>
            <a:off x="334961" y="1033338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16" name="Google Shape;134;p5">
            <a:extLst>
              <a:ext uri="{FF2B5EF4-FFF2-40B4-BE49-F238E27FC236}">
                <a16:creationId xmlns:a16="http://schemas.microsoft.com/office/drawing/2014/main" id="{9BDCCB07-A0C8-0C04-8756-40190486BD8D}"/>
              </a:ext>
            </a:extLst>
          </p:cNvPr>
          <p:cNvSpPr/>
          <p:nvPr/>
        </p:nvSpPr>
        <p:spPr>
          <a:xfrm>
            <a:off x="334961" y="4302094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17" name="Google Shape;134;p5">
            <a:extLst>
              <a:ext uri="{FF2B5EF4-FFF2-40B4-BE49-F238E27FC236}">
                <a16:creationId xmlns:a16="http://schemas.microsoft.com/office/drawing/2014/main" id="{24D3A558-0FEE-B6D5-0E28-52DDA8DCBA24}"/>
              </a:ext>
            </a:extLst>
          </p:cNvPr>
          <p:cNvSpPr/>
          <p:nvPr/>
        </p:nvSpPr>
        <p:spPr>
          <a:xfrm>
            <a:off x="334961" y="3212509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18" name="Google Shape;134;p5">
            <a:extLst>
              <a:ext uri="{FF2B5EF4-FFF2-40B4-BE49-F238E27FC236}">
                <a16:creationId xmlns:a16="http://schemas.microsoft.com/office/drawing/2014/main" id="{FEAFDB81-AE9B-4939-75C5-D7F1F97CAEA4}"/>
              </a:ext>
            </a:extLst>
          </p:cNvPr>
          <p:cNvSpPr/>
          <p:nvPr/>
        </p:nvSpPr>
        <p:spPr>
          <a:xfrm>
            <a:off x="334961" y="2122923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6208D89-3EE0-4A86-FEC2-C553073EF20E}"/>
              </a:ext>
            </a:extLst>
          </p:cNvPr>
          <p:cNvGrpSpPr/>
          <p:nvPr/>
        </p:nvGrpSpPr>
        <p:grpSpPr>
          <a:xfrm>
            <a:off x="334961" y="800100"/>
            <a:ext cx="11557002" cy="195323"/>
            <a:chOff x="334961" y="800100"/>
            <a:chExt cx="11557002" cy="319758"/>
          </a:xfrm>
        </p:grpSpPr>
        <p:sp>
          <p:nvSpPr>
            <p:cNvPr id="519" name="사각형: 둥근 모서리 20">
              <a:extLst>
                <a:ext uri="{FF2B5EF4-FFF2-40B4-BE49-F238E27FC236}">
                  <a16:creationId xmlns:a16="http://schemas.microsoft.com/office/drawing/2014/main" id="{D5FF7451-A63F-207D-8DF9-D4479F93750F}"/>
                </a:ext>
              </a:extLst>
            </p:cNvPr>
            <p:cNvSpPr/>
            <p:nvPr/>
          </p:nvSpPr>
          <p:spPr>
            <a:xfrm>
              <a:off x="1333500" y="800100"/>
              <a:ext cx="3105738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기획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설계</a:t>
              </a:r>
            </a:p>
          </p:txBody>
        </p:sp>
        <p:sp>
          <p:nvSpPr>
            <p:cNvPr id="520" name="사각형: 둥근 모서리 20">
              <a:extLst>
                <a:ext uri="{FF2B5EF4-FFF2-40B4-BE49-F238E27FC236}">
                  <a16:creationId xmlns:a16="http://schemas.microsoft.com/office/drawing/2014/main" id="{109AA943-67C3-9970-BFF5-19574AC47513}"/>
                </a:ext>
              </a:extLst>
            </p:cNvPr>
            <p:cNvSpPr/>
            <p:nvPr/>
          </p:nvSpPr>
          <p:spPr>
            <a:xfrm>
              <a:off x="4511480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개발</a:t>
              </a:r>
            </a:p>
          </p:txBody>
        </p:sp>
        <p:sp>
          <p:nvSpPr>
            <p:cNvPr id="521" name="사각형: 둥근 모서리 20">
              <a:extLst>
                <a:ext uri="{FF2B5EF4-FFF2-40B4-BE49-F238E27FC236}">
                  <a16:creationId xmlns:a16="http://schemas.microsoft.com/office/drawing/2014/main" id="{C7DACE20-ADCF-A419-1479-13E3EA4C2505}"/>
                </a:ext>
              </a:extLst>
            </p:cNvPr>
            <p:cNvSpPr/>
            <p:nvPr/>
          </p:nvSpPr>
          <p:spPr>
            <a:xfrm>
              <a:off x="6995722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평가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검증</a:t>
              </a:r>
              <a:endPara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522" name="사각형: 둥근 모서리 20">
              <a:extLst>
                <a:ext uri="{FF2B5EF4-FFF2-40B4-BE49-F238E27FC236}">
                  <a16:creationId xmlns:a16="http://schemas.microsoft.com/office/drawing/2014/main" id="{0AC51037-1CEF-19B7-891C-E9991D285E8D}"/>
                </a:ext>
              </a:extLst>
            </p:cNvPr>
            <p:cNvSpPr/>
            <p:nvPr/>
          </p:nvSpPr>
          <p:spPr>
            <a:xfrm>
              <a:off x="9479963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도입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운영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모니터링</a:t>
              </a:r>
            </a:p>
          </p:txBody>
        </p:sp>
        <p:sp>
          <p:nvSpPr>
            <p:cNvPr id="523" name="사각형: 둥근 모서리 20">
              <a:extLst>
                <a:ext uri="{FF2B5EF4-FFF2-40B4-BE49-F238E27FC236}">
                  <a16:creationId xmlns:a16="http://schemas.microsoft.com/office/drawing/2014/main" id="{E4A29AEF-31CD-DB8A-0212-8ED8EBB3C4E6}"/>
                </a:ext>
              </a:extLst>
            </p:cNvPr>
            <p:cNvSpPr/>
            <p:nvPr/>
          </p:nvSpPr>
          <p:spPr>
            <a:xfrm>
              <a:off x="334961" y="800100"/>
              <a:ext cx="900000" cy="31975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구분</a:t>
              </a:r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</p:grpSp>
      <p:sp>
        <p:nvSpPr>
          <p:cNvPr id="524" name="직사각형 12">
            <a:extLst>
              <a:ext uri="{FF2B5EF4-FFF2-40B4-BE49-F238E27FC236}">
                <a16:creationId xmlns:a16="http://schemas.microsoft.com/office/drawing/2014/main" id="{94A4FB6F-0029-B203-788D-1B16A2B6A601}"/>
              </a:ext>
            </a:extLst>
          </p:cNvPr>
          <p:cNvSpPr/>
          <p:nvPr/>
        </p:nvSpPr>
        <p:spPr>
          <a:xfrm>
            <a:off x="1329090" y="1571716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25" name="직사각형 16">
            <a:extLst>
              <a:ext uri="{FF2B5EF4-FFF2-40B4-BE49-F238E27FC236}">
                <a16:creationId xmlns:a16="http://schemas.microsoft.com/office/drawing/2014/main" id="{4904FA16-A23C-3B31-5853-636A1D5AF732}"/>
              </a:ext>
            </a:extLst>
          </p:cNvPr>
          <p:cNvSpPr/>
          <p:nvPr/>
        </p:nvSpPr>
        <p:spPr>
          <a:xfrm>
            <a:off x="7025680" y="1068479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6" name="직사각형 17">
            <a:extLst>
              <a:ext uri="{FF2B5EF4-FFF2-40B4-BE49-F238E27FC236}">
                <a16:creationId xmlns:a16="http://schemas.microsoft.com/office/drawing/2014/main" id="{BC41CFAB-C387-67A6-50D8-98731140D4A8}"/>
              </a:ext>
            </a:extLst>
          </p:cNvPr>
          <p:cNvSpPr/>
          <p:nvPr/>
        </p:nvSpPr>
        <p:spPr>
          <a:xfrm>
            <a:off x="8272328" y="10684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요청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kumimoji="0" lang="en-US" altLang="ko-KR" sz="1000" i="0" u="none" kern="0" cap="none" spc="-150" normalizeH="0" baseline="3000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0) 11) 12) 13)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7" name="직사각형 18">
            <a:extLst>
              <a:ext uri="{FF2B5EF4-FFF2-40B4-BE49-F238E27FC236}">
                <a16:creationId xmlns:a16="http://schemas.microsoft.com/office/drawing/2014/main" id="{CEE74C9A-4B97-F101-6A51-175ED1939525}"/>
              </a:ext>
            </a:extLst>
          </p:cNvPr>
          <p:cNvSpPr/>
          <p:nvPr/>
        </p:nvSpPr>
        <p:spPr>
          <a:xfrm>
            <a:off x="7675178" y="4433206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적절성 확인</a:t>
            </a:r>
          </a:p>
        </p:txBody>
      </p:sp>
      <p:cxnSp>
        <p:nvCxnSpPr>
          <p:cNvPr id="532" name="직선 화살표 연결선 25">
            <a:extLst>
              <a:ext uri="{FF2B5EF4-FFF2-40B4-BE49-F238E27FC236}">
                <a16:creationId xmlns:a16="http://schemas.microsoft.com/office/drawing/2014/main" id="{4197AFEF-CB3D-8E19-4FC3-7BA1F0E3E7A3}"/>
              </a:ext>
            </a:extLst>
          </p:cNvPr>
          <p:cNvCxnSpPr>
            <a:cxnSpLocks/>
            <a:stCxn id="558" idx="2"/>
            <a:endCxn id="559" idx="0"/>
          </p:cNvCxnSpPr>
          <p:nvPr/>
        </p:nvCxnSpPr>
        <p:spPr>
          <a:xfrm>
            <a:off x="2173066" y="2699449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3" name="연결선: 꺾임 26">
            <a:extLst>
              <a:ext uri="{FF2B5EF4-FFF2-40B4-BE49-F238E27FC236}">
                <a16:creationId xmlns:a16="http://schemas.microsoft.com/office/drawing/2014/main" id="{0276BF8D-209E-0BF7-6D17-B4CF310E20B7}"/>
              </a:ext>
            </a:extLst>
          </p:cNvPr>
          <p:cNvCxnSpPr>
            <a:cxnSpLocks/>
            <a:stCxn id="132" idx="3"/>
            <a:endCxn id="547" idx="1"/>
          </p:cNvCxnSpPr>
          <p:nvPr/>
        </p:nvCxnSpPr>
        <p:spPr>
          <a:xfrm flipV="1">
            <a:off x="2749066" y="1230479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4" name="직선 화살표 연결선 27">
            <a:extLst>
              <a:ext uri="{FF2B5EF4-FFF2-40B4-BE49-F238E27FC236}">
                <a16:creationId xmlns:a16="http://schemas.microsoft.com/office/drawing/2014/main" id="{C2EB5250-0EDA-C8DE-4748-9C11DEEA9D34}"/>
              </a:ext>
            </a:extLst>
          </p:cNvPr>
          <p:cNvCxnSpPr>
            <a:cxnSpLocks/>
            <a:stCxn id="547" idx="2"/>
            <a:endCxn id="557" idx="0"/>
          </p:cNvCxnSpPr>
          <p:nvPr/>
        </p:nvCxnSpPr>
        <p:spPr>
          <a:xfrm>
            <a:off x="3754174" y="1392479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5" name="직선 화살표 연결선 28">
            <a:extLst>
              <a:ext uri="{FF2B5EF4-FFF2-40B4-BE49-F238E27FC236}">
                <a16:creationId xmlns:a16="http://schemas.microsoft.com/office/drawing/2014/main" id="{ABD2EA34-64CE-35DB-E388-E087BEEB61E9}"/>
              </a:ext>
            </a:extLst>
          </p:cNvPr>
          <p:cNvCxnSpPr>
            <a:cxnSpLocks/>
            <a:stCxn id="557" idx="2"/>
            <a:endCxn id="133" idx="0"/>
          </p:cNvCxnSpPr>
          <p:nvPr/>
        </p:nvCxnSpPr>
        <p:spPr>
          <a:xfrm>
            <a:off x="3754174" y="2288631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6" name="연결선: 꺾임 29">
            <a:extLst>
              <a:ext uri="{FF2B5EF4-FFF2-40B4-BE49-F238E27FC236}">
                <a16:creationId xmlns:a16="http://schemas.microsoft.com/office/drawing/2014/main" id="{FE5A102C-D641-939E-0938-B06CB34459E4}"/>
              </a:ext>
            </a:extLst>
          </p:cNvPr>
          <p:cNvCxnSpPr>
            <a:cxnSpLocks/>
            <a:stCxn id="133" idx="3"/>
            <a:endCxn id="560" idx="1"/>
          </p:cNvCxnSpPr>
          <p:nvPr/>
        </p:nvCxnSpPr>
        <p:spPr>
          <a:xfrm flipV="1">
            <a:off x="4330174" y="1230479"/>
            <a:ext cx="189814" cy="35696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7" name="직선 화살표 연결선 30">
            <a:extLst>
              <a:ext uri="{FF2B5EF4-FFF2-40B4-BE49-F238E27FC236}">
                <a16:creationId xmlns:a16="http://schemas.microsoft.com/office/drawing/2014/main" id="{2C981504-A26A-B311-0A0E-C39E080F79C1}"/>
              </a:ext>
            </a:extLst>
          </p:cNvPr>
          <p:cNvCxnSpPr>
            <a:cxnSpLocks/>
            <a:stCxn id="560" idx="2"/>
            <a:endCxn id="148" idx="0"/>
          </p:cNvCxnSpPr>
          <p:nvPr/>
        </p:nvCxnSpPr>
        <p:spPr>
          <a:xfrm>
            <a:off x="5059988" y="1392479"/>
            <a:ext cx="0" cy="52594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8" name="직선 화살표 연결선 31">
            <a:extLst>
              <a:ext uri="{FF2B5EF4-FFF2-40B4-BE49-F238E27FC236}">
                <a16:creationId xmlns:a16="http://schemas.microsoft.com/office/drawing/2014/main" id="{5B0FAF45-E893-F81D-7FE3-98FFA9D6936B}"/>
              </a:ext>
            </a:extLst>
          </p:cNvPr>
          <p:cNvCxnSpPr>
            <a:cxnSpLocks/>
            <a:stCxn id="525" idx="3"/>
            <a:endCxn id="526" idx="1"/>
          </p:cNvCxnSpPr>
          <p:nvPr/>
        </p:nvCxnSpPr>
        <p:spPr>
          <a:xfrm>
            <a:off x="8105680" y="1230479"/>
            <a:ext cx="166648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9" name="연결선: 꺾임 32">
            <a:extLst>
              <a:ext uri="{FF2B5EF4-FFF2-40B4-BE49-F238E27FC236}">
                <a16:creationId xmlns:a16="http://schemas.microsoft.com/office/drawing/2014/main" id="{9B4B8F78-658C-FF4A-8ABC-C2E8475C4229}"/>
              </a:ext>
            </a:extLst>
          </p:cNvPr>
          <p:cNvCxnSpPr>
            <a:cxnSpLocks/>
            <a:stCxn id="565" idx="2"/>
            <a:endCxn id="527" idx="1"/>
          </p:cNvCxnSpPr>
          <p:nvPr/>
        </p:nvCxnSpPr>
        <p:spPr>
          <a:xfrm rot="16200000" flipH="1">
            <a:off x="6669635" y="3589662"/>
            <a:ext cx="1905741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0" name="연결선: 꺾임 33">
            <a:extLst>
              <a:ext uri="{FF2B5EF4-FFF2-40B4-BE49-F238E27FC236}">
                <a16:creationId xmlns:a16="http://schemas.microsoft.com/office/drawing/2014/main" id="{F1698909-ECA0-5F1F-6CB6-FC1BDB81923E}"/>
              </a:ext>
            </a:extLst>
          </p:cNvPr>
          <p:cNvCxnSpPr>
            <a:cxnSpLocks/>
            <a:stCxn id="527" idx="3"/>
            <a:endCxn id="526" idx="2"/>
          </p:cNvCxnSpPr>
          <p:nvPr/>
        </p:nvCxnSpPr>
        <p:spPr>
          <a:xfrm flipV="1">
            <a:off x="8755178" y="1392479"/>
            <a:ext cx="57150" cy="3202727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1" name="연결선: 꺾임 34">
            <a:extLst>
              <a:ext uri="{FF2B5EF4-FFF2-40B4-BE49-F238E27FC236}">
                <a16:creationId xmlns:a16="http://schemas.microsoft.com/office/drawing/2014/main" id="{8D6E949A-D993-D076-1A12-39DAD4B27FA9}"/>
              </a:ext>
            </a:extLst>
          </p:cNvPr>
          <p:cNvCxnSpPr>
            <a:cxnSpLocks/>
            <a:stCxn id="138" idx="3"/>
            <a:endCxn id="151" idx="2"/>
          </p:cNvCxnSpPr>
          <p:nvPr/>
        </p:nvCxnSpPr>
        <p:spPr>
          <a:xfrm flipV="1">
            <a:off x="8755178" y="1890319"/>
            <a:ext cx="57150" cy="374386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2" name="연결선: 꺾임 35">
            <a:extLst>
              <a:ext uri="{FF2B5EF4-FFF2-40B4-BE49-F238E27FC236}">
                <a16:creationId xmlns:a16="http://schemas.microsoft.com/office/drawing/2014/main" id="{DD3CC0A4-790F-A6B9-C48C-87596FD9CCC7}"/>
              </a:ext>
            </a:extLst>
          </p:cNvPr>
          <p:cNvCxnSpPr>
            <a:cxnSpLocks/>
            <a:stCxn id="526" idx="3"/>
          </p:cNvCxnSpPr>
          <p:nvPr/>
        </p:nvCxnSpPr>
        <p:spPr>
          <a:xfrm>
            <a:off x="9352328" y="1230479"/>
            <a:ext cx="150124" cy="3666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47" name="직사각형 11">
            <a:extLst>
              <a:ext uri="{FF2B5EF4-FFF2-40B4-BE49-F238E27FC236}">
                <a16:creationId xmlns:a16="http://schemas.microsoft.com/office/drawing/2014/main" id="{3B9C507E-5BED-A9EF-5795-61AB0369ED33}"/>
              </a:ext>
            </a:extLst>
          </p:cNvPr>
          <p:cNvSpPr/>
          <p:nvPr/>
        </p:nvSpPr>
        <p:spPr>
          <a:xfrm>
            <a:off x="3178174" y="1068479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계획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6)</a:t>
            </a:r>
            <a:r>
              <a:rPr lang="ko-KR" altLang="en-US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7)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548" name="직선 화살표 연결선 36">
            <a:extLst>
              <a:ext uri="{FF2B5EF4-FFF2-40B4-BE49-F238E27FC236}">
                <a16:creationId xmlns:a16="http://schemas.microsoft.com/office/drawing/2014/main" id="{B63F1BE7-D63F-1372-E49F-FA2884278132}"/>
              </a:ext>
            </a:extLst>
          </p:cNvPr>
          <p:cNvCxnSpPr>
            <a:cxnSpLocks/>
            <a:stCxn id="133" idx="2"/>
            <a:endCxn id="134" idx="0"/>
          </p:cNvCxnSpPr>
          <p:nvPr/>
        </p:nvCxnSpPr>
        <p:spPr>
          <a:xfrm>
            <a:off x="3754174" y="4962176"/>
            <a:ext cx="0" cy="51102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9" name="직선 화살표 연결선 41">
            <a:extLst>
              <a:ext uri="{FF2B5EF4-FFF2-40B4-BE49-F238E27FC236}">
                <a16:creationId xmlns:a16="http://schemas.microsoft.com/office/drawing/2014/main" id="{9D83FE23-E685-4D8E-7DF3-637E0D1D4865}"/>
              </a:ext>
            </a:extLst>
          </p:cNvPr>
          <p:cNvCxnSpPr>
            <a:cxnSpLocks/>
            <a:stCxn id="562" idx="2"/>
            <a:endCxn id="563" idx="0"/>
          </p:cNvCxnSpPr>
          <p:nvPr/>
        </p:nvCxnSpPr>
        <p:spPr>
          <a:xfrm flipH="1">
            <a:off x="5059657" y="2674113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50" name="연결선: 꺾임 46">
            <a:extLst>
              <a:ext uri="{FF2B5EF4-FFF2-40B4-BE49-F238E27FC236}">
                <a16:creationId xmlns:a16="http://schemas.microsoft.com/office/drawing/2014/main" id="{96F134BA-B388-D24D-C157-6E19475A287A}"/>
              </a:ext>
            </a:extLst>
          </p:cNvPr>
          <p:cNvCxnSpPr>
            <a:cxnSpLocks/>
            <a:stCxn id="564" idx="3"/>
            <a:endCxn id="525" idx="1"/>
          </p:cNvCxnSpPr>
          <p:nvPr/>
        </p:nvCxnSpPr>
        <p:spPr>
          <a:xfrm flipV="1">
            <a:off x="6870148" y="1230479"/>
            <a:ext cx="155532" cy="171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1" name="직사각형 27">
            <a:extLst>
              <a:ext uri="{FF2B5EF4-FFF2-40B4-BE49-F238E27FC236}">
                <a16:creationId xmlns:a16="http://schemas.microsoft.com/office/drawing/2014/main" id="{E1F2A5B6-2320-677E-7E35-A7661EFB463B}"/>
              </a:ext>
            </a:extLst>
          </p:cNvPr>
          <p:cNvSpPr/>
          <p:nvPr/>
        </p:nvSpPr>
        <p:spPr>
          <a:xfrm>
            <a:off x="7675178" y="4945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자 평가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요청 및 결과 확인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9)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52" name="직선 화살표 연결선 41">
            <a:extLst>
              <a:ext uri="{FF2B5EF4-FFF2-40B4-BE49-F238E27FC236}">
                <a16:creationId xmlns:a16="http://schemas.microsoft.com/office/drawing/2014/main" id="{A6C359E8-D0E9-57BA-B183-EBD3455B79D6}"/>
              </a:ext>
            </a:extLst>
          </p:cNvPr>
          <p:cNvCxnSpPr>
            <a:cxnSpLocks/>
            <a:stCxn id="563" idx="3"/>
            <a:endCxn id="564" idx="1"/>
          </p:cNvCxnSpPr>
          <p:nvPr/>
        </p:nvCxnSpPr>
        <p:spPr>
          <a:xfrm>
            <a:off x="5599657" y="2943800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7" name="직사각형 57">
            <a:extLst>
              <a:ext uri="{FF2B5EF4-FFF2-40B4-BE49-F238E27FC236}">
                <a16:creationId xmlns:a16="http://schemas.microsoft.com/office/drawing/2014/main" id="{1CF8A554-3741-33CF-C07A-4DD381196898}"/>
              </a:ext>
            </a:extLst>
          </p:cNvPr>
          <p:cNvSpPr/>
          <p:nvPr/>
        </p:nvSpPr>
        <p:spPr>
          <a:xfrm>
            <a:off x="3178174" y="1571716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58" name="직사각형 56">
            <a:extLst>
              <a:ext uri="{FF2B5EF4-FFF2-40B4-BE49-F238E27FC236}">
                <a16:creationId xmlns:a16="http://schemas.microsoft.com/office/drawing/2014/main" id="{748DE1F9-1A05-35F6-1C3F-B181F48635AF}"/>
              </a:ext>
            </a:extLst>
          </p:cNvPr>
          <p:cNvSpPr/>
          <p:nvPr/>
        </p:nvSpPr>
        <p:spPr>
          <a:xfrm>
            <a:off x="1597066" y="2375449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559" name="직사각형 12">
            <a:extLst>
              <a:ext uri="{FF2B5EF4-FFF2-40B4-BE49-F238E27FC236}">
                <a16:creationId xmlns:a16="http://schemas.microsoft.com/office/drawing/2014/main" id="{F04BA4FA-4F7D-8DDB-A309-BD586EFE9E18}"/>
              </a:ext>
            </a:extLst>
          </p:cNvPr>
          <p:cNvSpPr/>
          <p:nvPr/>
        </p:nvSpPr>
        <p:spPr>
          <a:xfrm>
            <a:off x="1597066" y="2781800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5)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</p:txBody>
      </p:sp>
      <p:sp>
        <p:nvSpPr>
          <p:cNvPr id="560" name="직사각형 14">
            <a:extLst>
              <a:ext uri="{FF2B5EF4-FFF2-40B4-BE49-F238E27FC236}">
                <a16:creationId xmlns:a16="http://schemas.microsoft.com/office/drawing/2014/main" id="{3A0BF4FD-3D86-B13F-D400-37543B217F7C}"/>
              </a:ext>
            </a:extLst>
          </p:cNvPr>
          <p:cNvSpPr/>
          <p:nvPr/>
        </p:nvSpPr>
        <p:spPr>
          <a:xfrm>
            <a:off x="4519988" y="10684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561" name="직사각형 15">
            <a:extLst>
              <a:ext uri="{FF2B5EF4-FFF2-40B4-BE49-F238E27FC236}">
                <a16:creationId xmlns:a16="http://schemas.microsoft.com/office/drawing/2014/main" id="{3334FF96-96C8-65D8-4072-FC4EBCF0FA92}"/>
              </a:ext>
            </a:extLst>
          </p:cNvPr>
          <p:cNvSpPr/>
          <p:nvPr/>
        </p:nvSpPr>
        <p:spPr>
          <a:xfrm>
            <a:off x="5790148" y="1068479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7)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2" name="직사각형 58">
            <a:extLst>
              <a:ext uri="{FF2B5EF4-FFF2-40B4-BE49-F238E27FC236}">
                <a16:creationId xmlns:a16="http://schemas.microsoft.com/office/drawing/2014/main" id="{2D0A4A2C-5D84-12C3-5393-4340F4A02A20}"/>
              </a:ext>
            </a:extLst>
          </p:cNvPr>
          <p:cNvSpPr/>
          <p:nvPr/>
        </p:nvSpPr>
        <p:spPr>
          <a:xfrm>
            <a:off x="4519983" y="2350113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563" name="직사각형 22">
            <a:extLst>
              <a:ext uri="{FF2B5EF4-FFF2-40B4-BE49-F238E27FC236}">
                <a16:creationId xmlns:a16="http://schemas.microsoft.com/office/drawing/2014/main" id="{C446608A-45F9-1472-E5AB-7DBDDABBE944}"/>
              </a:ext>
            </a:extLst>
          </p:cNvPr>
          <p:cNvSpPr/>
          <p:nvPr/>
        </p:nvSpPr>
        <p:spPr>
          <a:xfrm>
            <a:off x="4519657" y="2781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564" name="직사각형 22">
            <a:extLst>
              <a:ext uri="{FF2B5EF4-FFF2-40B4-BE49-F238E27FC236}">
                <a16:creationId xmlns:a16="http://schemas.microsoft.com/office/drawing/2014/main" id="{CB234FDA-27F1-F1DF-5802-1DCDF969D888}"/>
              </a:ext>
            </a:extLst>
          </p:cNvPr>
          <p:cNvSpPr/>
          <p:nvPr/>
        </p:nvSpPr>
        <p:spPr>
          <a:xfrm>
            <a:off x="5790148" y="2781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8)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5" name="직사각형 25">
            <a:extLst>
              <a:ext uri="{FF2B5EF4-FFF2-40B4-BE49-F238E27FC236}">
                <a16:creationId xmlns:a16="http://schemas.microsoft.com/office/drawing/2014/main" id="{2F54F07C-8647-0612-5617-0566C0F173E3}"/>
              </a:ext>
            </a:extLst>
          </p:cNvPr>
          <p:cNvSpPr/>
          <p:nvPr/>
        </p:nvSpPr>
        <p:spPr>
          <a:xfrm>
            <a:off x="7029832" y="2365465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66" name="연결선: 꺾임 46">
            <a:extLst>
              <a:ext uri="{FF2B5EF4-FFF2-40B4-BE49-F238E27FC236}">
                <a16:creationId xmlns:a16="http://schemas.microsoft.com/office/drawing/2014/main" id="{3B9C59AF-FA4D-2E7F-1732-7A13B3084F88}"/>
              </a:ext>
            </a:extLst>
          </p:cNvPr>
          <p:cNvCxnSpPr>
            <a:cxnSpLocks/>
            <a:stCxn id="565" idx="2"/>
            <a:endCxn id="551" idx="1"/>
          </p:cNvCxnSpPr>
          <p:nvPr/>
        </p:nvCxnSpPr>
        <p:spPr>
          <a:xfrm rot="16200000" flipH="1">
            <a:off x="6413338" y="3845959"/>
            <a:ext cx="2418335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67" name="사각형: 둥근 모서리 65">
            <a:extLst>
              <a:ext uri="{FF2B5EF4-FFF2-40B4-BE49-F238E27FC236}">
                <a16:creationId xmlns:a16="http://schemas.microsoft.com/office/drawing/2014/main" id="{7FF05308-E6D8-57AF-C3E8-FCCF74AAAA9F}"/>
              </a:ext>
            </a:extLst>
          </p:cNvPr>
          <p:cNvSpPr/>
          <p:nvPr/>
        </p:nvSpPr>
        <p:spPr>
          <a:xfrm>
            <a:off x="7664123" y="4815790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568" name="사각형: 둥근 모서리 66">
            <a:extLst>
              <a:ext uri="{FF2B5EF4-FFF2-40B4-BE49-F238E27FC236}">
                <a16:creationId xmlns:a16="http://schemas.microsoft.com/office/drawing/2014/main" id="{53C0ABA4-67BF-4847-64FA-C6508CB888EA}"/>
              </a:ext>
            </a:extLst>
          </p:cNvPr>
          <p:cNvSpPr/>
          <p:nvPr/>
        </p:nvSpPr>
        <p:spPr>
          <a:xfrm>
            <a:off x="7664123" y="4290430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중위험</a:t>
            </a:r>
            <a:endParaRPr kumimoji="0" lang="ko-KR" altLang="en-US" sz="900" b="1" i="0" u="none" strike="noStrike" kern="1200" cap="none" spc="-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69" name="직선 화살표 연결선 41">
            <a:extLst>
              <a:ext uri="{FF2B5EF4-FFF2-40B4-BE49-F238E27FC236}">
                <a16:creationId xmlns:a16="http://schemas.microsoft.com/office/drawing/2014/main" id="{22FC5C8A-C1AF-CA28-DC0B-32740D81E5A4}"/>
              </a:ext>
            </a:extLst>
          </p:cNvPr>
          <p:cNvCxnSpPr>
            <a:cxnSpLocks/>
            <a:stCxn id="525" idx="2"/>
            <a:endCxn id="565" idx="0"/>
          </p:cNvCxnSpPr>
          <p:nvPr/>
        </p:nvCxnSpPr>
        <p:spPr>
          <a:xfrm>
            <a:off x="7565680" y="1392479"/>
            <a:ext cx="4152" cy="97298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0" name="연결선: 꺾임 84">
            <a:extLst>
              <a:ext uri="{FF2B5EF4-FFF2-40B4-BE49-F238E27FC236}">
                <a16:creationId xmlns:a16="http://schemas.microsoft.com/office/drawing/2014/main" id="{448DDC63-F6C8-93E5-65B5-904288763235}"/>
              </a:ext>
            </a:extLst>
          </p:cNvPr>
          <p:cNvCxnSpPr>
            <a:cxnSpLocks/>
            <a:stCxn id="572" idx="2"/>
            <a:endCxn id="558" idx="0"/>
          </p:cNvCxnSpPr>
          <p:nvPr/>
        </p:nvCxnSpPr>
        <p:spPr>
          <a:xfrm rot="16200000" flipH="1">
            <a:off x="1820318" y="2022701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1" name="직선 화살표 연결선 94">
            <a:extLst>
              <a:ext uri="{FF2B5EF4-FFF2-40B4-BE49-F238E27FC236}">
                <a16:creationId xmlns:a16="http://schemas.microsoft.com/office/drawing/2014/main" id="{225AE318-4A09-9A88-98BF-68DC742990C8}"/>
              </a:ext>
            </a:extLst>
          </p:cNvPr>
          <p:cNvCxnSpPr>
            <a:cxnSpLocks/>
            <a:stCxn id="559" idx="2"/>
          </p:cNvCxnSpPr>
          <p:nvPr/>
        </p:nvCxnSpPr>
        <p:spPr>
          <a:xfrm>
            <a:off x="2173066" y="3105800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2" name="사각형: 둥근 모서리 65">
            <a:extLst>
              <a:ext uri="{FF2B5EF4-FFF2-40B4-BE49-F238E27FC236}">
                <a16:creationId xmlns:a16="http://schemas.microsoft.com/office/drawing/2014/main" id="{C76C0F01-A8B0-E61C-E8AD-34AA9CEF311A}"/>
              </a:ext>
            </a:extLst>
          </p:cNvPr>
          <p:cNvSpPr/>
          <p:nvPr/>
        </p:nvSpPr>
        <p:spPr>
          <a:xfrm>
            <a:off x="1383904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573" name="사각형: 둥근 모서리 65">
            <a:extLst>
              <a:ext uri="{FF2B5EF4-FFF2-40B4-BE49-F238E27FC236}">
                <a16:creationId xmlns:a16="http://schemas.microsoft.com/office/drawing/2014/main" id="{9BBAAA25-12AF-B6E8-AF2C-4980A708B5E7}"/>
              </a:ext>
            </a:extLst>
          </p:cNvPr>
          <p:cNvSpPr/>
          <p:nvPr/>
        </p:nvSpPr>
        <p:spPr>
          <a:xfrm>
            <a:off x="1953838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4" name="사각형: 둥근 모서리 65">
            <a:extLst>
              <a:ext uri="{FF2B5EF4-FFF2-40B4-BE49-F238E27FC236}">
                <a16:creationId xmlns:a16="http://schemas.microsoft.com/office/drawing/2014/main" id="{841B4ECC-51D1-6CAA-C259-DCBDCA44E0E4}"/>
              </a:ext>
            </a:extLst>
          </p:cNvPr>
          <p:cNvSpPr/>
          <p:nvPr/>
        </p:nvSpPr>
        <p:spPr>
          <a:xfrm>
            <a:off x="2523772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5" name="직사각형 11">
            <a:extLst>
              <a:ext uri="{FF2B5EF4-FFF2-40B4-BE49-F238E27FC236}">
                <a16:creationId xmlns:a16="http://schemas.microsoft.com/office/drawing/2014/main" id="{9F3FED94-A07E-8719-A21E-551EC951CD6B}"/>
              </a:ext>
            </a:extLst>
          </p:cNvPr>
          <p:cNvSpPr/>
          <p:nvPr/>
        </p:nvSpPr>
        <p:spPr>
          <a:xfrm>
            <a:off x="1323975" y="1618516"/>
            <a:ext cx="169545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8" name="직사각형 10">
            <a:extLst>
              <a:ext uri="{FF2B5EF4-FFF2-40B4-BE49-F238E27FC236}">
                <a16:creationId xmlns:a16="http://schemas.microsoft.com/office/drawing/2014/main" id="{4621BC98-2B48-D0C2-49FE-0674A3DF293E}"/>
              </a:ext>
            </a:extLst>
          </p:cNvPr>
          <p:cNvSpPr/>
          <p:nvPr/>
        </p:nvSpPr>
        <p:spPr>
          <a:xfrm>
            <a:off x="1419225" y="1802475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4)</a:t>
            </a:r>
            <a:endParaRPr lang="ko-KR" altLang="en-US" sz="1000" kern="0" spc="-150" baseline="3000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29" name="직사각형 10">
            <a:extLst>
              <a:ext uri="{FF2B5EF4-FFF2-40B4-BE49-F238E27FC236}">
                <a16:creationId xmlns:a16="http://schemas.microsoft.com/office/drawing/2014/main" id="{F95A822F-F0EE-2C9E-3DCC-ABE6A8CD3CD9}"/>
              </a:ext>
            </a:extLst>
          </p:cNvPr>
          <p:cNvSpPr/>
          <p:nvPr/>
        </p:nvSpPr>
        <p:spPr>
          <a:xfrm>
            <a:off x="2085974" y="1802475"/>
            <a:ext cx="92392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3)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30" name="연결선: 꺾임 84">
            <a:extLst>
              <a:ext uri="{FF2B5EF4-FFF2-40B4-BE49-F238E27FC236}">
                <a16:creationId xmlns:a16="http://schemas.microsoft.com/office/drawing/2014/main" id="{1C8262EE-BF36-93E4-BFB3-7E3DA9234CC3}"/>
              </a:ext>
            </a:extLst>
          </p:cNvPr>
          <p:cNvCxnSpPr>
            <a:cxnSpLocks/>
            <a:stCxn id="574" idx="2"/>
            <a:endCxn id="558" idx="0"/>
          </p:cNvCxnSpPr>
          <p:nvPr/>
        </p:nvCxnSpPr>
        <p:spPr>
          <a:xfrm rot="5400000">
            <a:off x="2390253" y="2018023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31" name="연결선: 꺾임 84">
            <a:extLst>
              <a:ext uri="{FF2B5EF4-FFF2-40B4-BE49-F238E27FC236}">
                <a16:creationId xmlns:a16="http://schemas.microsoft.com/office/drawing/2014/main" id="{41430930-33A8-B266-AD9F-3D9A0CF09E3F}"/>
              </a:ext>
            </a:extLst>
          </p:cNvPr>
          <p:cNvCxnSpPr>
            <a:cxnSpLocks/>
            <a:stCxn id="573" idx="2"/>
            <a:endCxn id="558" idx="0"/>
          </p:cNvCxnSpPr>
          <p:nvPr/>
        </p:nvCxnSpPr>
        <p:spPr>
          <a:xfrm rot="5400000">
            <a:off x="2105286" y="2302990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32" name="직사각형 12">
            <a:extLst>
              <a:ext uri="{FF2B5EF4-FFF2-40B4-BE49-F238E27FC236}">
                <a16:creationId xmlns:a16="http://schemas.microsoft.com/office/drawing/2014/main" id="{DBC5C996-7938-98D1-B911-676F3C04A0ED}"/>
              </a:ext>
            </a:extLst>
          </p:cNvPr>
          <p:cNvSpPr/>
          <p:nvPr/>
        </p:nvSpPr>
        <p:spPr>
          <a:xfrm>
            <a:off x="1597066" y="4637665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133" name="직사각형 11">
            <a:extLst>
              <a:ext uri="{FF2B5EF4-FFF2-40B4-BE49-F238E27FC236}">
                <a16:creationId xmlns:a16="http://schemas.microsoft.com/office/drawing/2014/main" id="{83F3B618-AE38-F6D6-3D9F-D416088AB1E5}"/>
              </a:ext>
            </a:extLst>
          </p:cNvPr>
          <p:cNvSpPr/>
          <p:nvPr/>
        </p:nvSpPr>
        <p:spPr>
          <a:xfrm>
            <a:off x="3178174" y="4638176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sp>
        <p:nvSpPr>
          <p:cNvPr id="134" name="직사각형 11">
            <a:extLst>
              <a:ext uri="{FF2B5EF4-FFF2-40B4-BE49-F238E27FC236}">
                <a16:creationId xmlns:a16="http://schemas.microsoft.com/office/drawing/2014/main" id="{E305E75D-D7A6-C5B7-BCC2-8DCE1250269D}"/>
              </a:ext>
            </a:extLst>
          </p:cNvPr>
          <p:cNvSpPr/>
          <p:nvPr/>
        </p:nvSpPr>
        <p:spPr>
          <a:xfrm>
            <a:off x="3178174" y="5473201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사전 승인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5" name="사각형: 둥근 모서리 65">
            <a:extLst>
              <a:ext uri="{FF2B5EF4-FFF2-40B4-BE49-F238E27FC236}">
                <a16:creationId xmlns:a16="http://schemas.microsoft.com/office/drawing/2014/main" id="{02215EEB-4E44-4DCB-CBE0-7B1B9FE7414C}"/>
              </a:ext>
            </a:extLst>
          </p:cNvPr>
          <p:cNvSpPr/>
          <p:nvPr/>
        </p:nvSpPr>
        <p:spPr>
          <a:xfrm>
            <a:off x="3187764" y="5342169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136" name="연결선: 꺾임 29">
            <a:extLst>
              <a:ext uri="{FF2B5EF4-FFF2-40B4-BE49-F238E27FC236}">
                <a16:creationId xmlns:a16="http://schemas.microsoft.com/office/drawing/2014/main" id="{D4A0C809-7A49-8FCC-089C-35D28AA159D9}"/>
              </a:ext>
            </a:extLst>
          </p:cNvPr>
          <p:cNvCxnSpPr>
            <a:cxnSpLocks/>
            <a:stCxn id="134" idx="3"/>
            <a:endCxn id="560" idx="1"/>
          </p:cNvCxnSpPr>
          <p:nvPr/>
        </p:nvCxnSpPr>
        <p:spPr>
          <a:xfrm flipV="1">
            <a:off x="4330174" y="1230479"/>
            <a:ext cx="189814" cy="440472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37" name="연결선: 꺾임 46">
            <a:extLst>
              <a:ext uri="{FF2B5EF4-FFF2-40B4-BE49-F238E27FC236}">
                <a16:creationId xmlns:a16="http://schemas.microsoft.com/office/drawing/2014/main" id="{E1692D57-6085-696D-B675-912D92BB9D03}"/>
              </a:ext>
            </a:extLst>
          </p:cNvPr>
          <p:cNvCxnSpPr>
            <a:cxnSpLocks/>
            <a:stCxn id="561" idx="3"/>
            <a:endCxn id="525" idx="1"/>
          </p:cNvCxnSpPr>
          <p:nvPr/>
        </p:nvCxnSpPr>
        <p:spPr>
          <a:xfrm flipV="1">
            <a:off x="6870148" y="1230479"/>
            <a:ext cx="155532" cy="900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38" name="직사각형 27">
            <a:extLst>
              <a:ext uri="{FF2B5EF4-FFF2-40B4-BE49-F238E27FC236}">
                <a16:creationId xmlns:a16="http://schemas.microsoft.com/office/drawing/2014/main" id="{B9414053-DC13-3C97-193F-A2D291FBA477}"/>
              </a:ext>
            </a:extLst>
          </p:cNvPr>
          <p:cNvSpPr/>
          <p:nvPr/>
        </p:nvSpPr>
        <p:spPr>
          <a:xfrm>
            <a:off x="7675178" y="54721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9" name="사각형: 둥근 모서리 65">
            <a:extLst>
              <a:ext uri="{FF2B5EF4-FFF2-40B4-BE49-F238E27FC236}">
                <a16:creationId xmlns:a16="http://schemas.microsoft.com/office/drawing/2014/main" id="{8CB0B3D7-823A-2B12-EC00-D5DF159ED90A}"/>
              </a:ext>
            </a:extLst>
          </p:cNvPr>
          <p:cNvSpPr/>
          <p:nvPr/>
        </p:nvSpPr>
        <p:spPr>
          <a:xfrm>
            <a:off x="7664123" y="5342169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140" name="직선 화살표 연결선 41">
            <a:extLst>
              <a:ext uri="{FF2B5EF4-FFF2-40B4-BE49-F238E27FC236}">
                <a16:creationId xmlns:a16="http://schemas.microsoft.com/office/drawing/2014/main" id="{5EA8D4D5-8C0E-5F8C-CDE2-5AF7A6B05658}"/>
              </a:ext>
            </a:extLst>
          </p:cNvPr>
          <p:cNvCxnSpPr>
            <a:cxnSpLocks/>
            <a:stCxn id="551" idx="2"/>
            <a:endCxn id="138" idx="0"/>
          </p:cNvCxnSpPr>
          <p:nvPr/>
        </p:nvCxnSpPr>
        <p:spPr>
          <a:xfrm>
            <a:off x="8215178" y="5269800"/>
            <a:ext cx="0" cy="20237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41" name="연결선: 꺾임 34">
            <a:extLst>
              <a:ext uri="{FF2B5EF4-FFF2-40B4-BE49-F238E27FC236}">
                <a16:creationId xmlns:a16="http://schemas.microsoft.com/office/drawing/2014/main" id="{52825AEE-3195-3E25-54BC-4241DE52F3E2}"/>
              </a:ext>
            </a:extLst>
          </p:cNvPr>
          <p:cNvCxnSpPr>
            <a:cxnSpLocks/>
            <a:stCxn id="565" idx="3"/>
            <a:endCxn id="526" idx="1"/>
          </p:cNvCxnSpPr>
          <p:nvPr/>
        </p:nvCxnSpPr>
        <p:spPr>
          <a:xfrm flipV="1">
            <a:off x="8109832" y="1230479"/>
            <a:ext cx="162496" cy="129698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42" name="연결선: 꺾임 46">
            <a:extLst>
              <a:ext uri="{FF2B5EF4-FFF2-40B4-BE49-F238E27FC236}">
                <a16:creationId xmlns:a16="http://schemas.microsoft.com/office/drawing/2014/main" id="{8CF1DB5C-6E93-D955-9B05-0743779999FE}"/>
              </a:ext>
            </a:extLst>
          </p:cNvPr>
          <p:cNvCxnSpPr>
            <a:cxnSpLocks/>
            <a:stCxn id="563" idx="3"/>
            <a:endCxn id="561" idx="1"/>
          </p:cNvCxnSpPr>
          <p:nvPr/>
        </p:nvCxnSpPr>
        <p:spPr>
          <a:xfrm flipV="1">
            <a:off x="5599657" y="1320479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3" name="직사각형 56">
            <a:extLst>
              <a:ext uri="{FF2B5EF4-FFF2-40B4-BE49-F238E27FC236}">
                <a16:creationId xmlns:a16="http://schemas.microsoft.com/office/drawing/2014/main" id="{1F7B890E-DBE1-171F-4D50-5F85A4B13840}"/>
              </a:ext>
            </a:extLst>
          </p:cNvPr>
          <p:cNvSpPr/>
          <p:nvPr/>
        </p:nvSpPr>
        <p:spPr>
          <a:xfrm>
            <a:off x="1597066" y="1068479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1) 2)  </a:t>
            </a:r>
            <a:endParaRPr lang="ko-KR" altLang="en-US" sz="1000" kern="0" spc="-150" baseline="3000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144" name="직선 화살표 연결선 27">
            <a:extLst>
              <a:ext uri="{FF2B5EF4-FFF2-40B4-BE49-F238E27FC236}">
                <a16:creationId xmlns:a16="http://schemas.microsoft.com/office/drawing/2014/main" id="{95DC2A97-8897-895A-2ECF-BAD25C4EFD91}"/>
              </a:ext>
            </a:extLst>
          </p:cNvPr>
          <p:cNvCxnSpPr>
            <a:cxnSpLocks/>
            <a:stCxn id="143" idx="2"/>
            <a:endCxn id="524" idx="0"/>
          </p:cNvCxnSpPr>
          <p:nvPr/>
        </p:nvCxnSpPr>
        <p:spPr>
          <a:xfrm>
            <a:off x="2173066" y="1392479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5" name="사각형: 둥근 모서리 65">
            <a:extLst>
              <a:ext uri="{FF2B5EF4-FFF2-40B4-BE49-F238E27FC236}">
                <a16:creationId xmlns:a16="http://schemas.microsoft.com/office/drawing/2014/main" id="{88CCF44A-39CC-212E-21E8-5E241EF004D7}"/>
              </a:ext>
            </a:extLst>
          </p:cNvPr>
          <p:cNvSpPr/>
          <p:nvPr/>
        </p:nvSpPr>
        <p:spPr>
          <a:xfrm>
            <a:off x="2613466" y="182084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  <a:r>
              <a:rPr lang="en-US" altLang="ko-KR" sz="9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3)</a:t>
            </a:r>
            <a:endParaRPr lang="ko-KR" altLang="en-US" sz="900" b="1" spc="-15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6" name="연결선: 꺾임 84">
            <a:extLst>
              <a:ext uri="{FF2B5EF4-FFF2-40B4-BE49-F238E27FC236}">
                <a16:creationId xmlns:a16="http://schemas.microsoft.com/office/drawing/2014/main" id="{C676811F-538B-048F-5E03-E396679AF178}"/>
              </a:ext>
            </a:extLst>
          </p:cNvPr>
          <p:cNvCxnSpPr>
            <a:cxnSpLocks/>
            <a:stCxn id="129" idx="2"/>
            <a:endCxn id="572" idx="0"/>
          </p:cNvCxnSpPr>
          <p:nvPr/>
        </p:nvCxnSpPr>
        <p:spPr>
          <a:xfrm rot="5400000">
            <a:off x="2024649" y="1549150"/>
            <a:ext cx="106450" cy="94012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7" name="텍스트 개체 틀 3">
            <a:extLst>
              <a:ext uri="{FF2B5EF4-FFF2-40B4-BE49-F238E27FC236}">
                <a16:creationId xmlns:a16="http://schemas.microsoft.com/office/drawing/2014/main" id="{BCFAAB67-EC9A-5967-8C9A-FEDF80A3ACA7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직사각형 14">
            <a:extLst>
              <a:ext uri="{FF2B5EF4-FFF2-40B4-BE49-F238E27FC236}">
                <a16:creationId xmlns:a16="http://schemas.microsoft.com/office/drawing/2014/main" id="{DCD3F807-3B07-0207-E7AF-3AF3F2D6F839}"/>
              </a:ext>
            </a:extLst>
          </p:cNvPr>
          <p:cNvSpPr/>
          <p:nvPr/>
        </p:nvSpPr>
        <p:spPr>
          <a:xfrm>
            <a:off x="4519988" y="1918426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적용 대상 최종 판단</a:t>
            </a:r>
          </a:p>
        </p:txBody>
      </p:sp>
      <p:sp>
        <p:nvSpPr>
          <p:cNvPr id="149" name="사각형: 둥근 모서리 65">
            <a:extLst>
              <a:ext uri="{FF2B5EF4-FFF2-40B4-BE49-F238E27FC236}">
                <a16:creationId xmlns:a16="http://schemas.microsoft.com/office/drawing/2014/main" id="{48F657A4-03D1-6D9F-3830-1937BC1DBF83}"/>
              </a:ext>
            </a:extLst>
          </p:cNvPr>
          <p:cNvSpPr/>
          <p:nvPr/>
        </p:nvSpPr>
        <p:spPr>
          <a:xfrm>
            <a:off x="4525768" y="184936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150" name="직선 화살표 연결선 30">
            <a:extLst>
              <a:ext uri="{FF2B5EF4-FFF2-40B4-BE49-F238E27FC236}">
                <a16:creationId xmlns:a16="http://schemas.microsoft.com/office/drawing/2014/main" id="{672F0D4D-AE59-D335-50F4-A1F4418EAF21}"/>
              </a:ext>
            </a:extLst>
          </p:cNvPr>
          <p:cNvCxnSpPr>
            <a:cxnSpLocks/>
            <a:stCxn id="148" idx="2"/>
            <a:endCxn id="562" idx="0"/>
          </p:cNvCxnSpPr>
          <p:nvPr/>
        </p:nvCxnSpPr>
        <p:spPr>
          <a:xfrm flipH="1">
            <a:off x="5059983" y="2242426"/>
            <a:ext cx="5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51" name="직사각형 17">
            <a:extLst>
              <a:ext uri="{FF2B5EF4-FFF2-40B4-BE49-F238E27FC236}">
                <a16:creationId xmlns:a16="http://schemas.microsoft.com/office/drawing/2014/main" id="{1166C0FE-3A43-D175-BD9D-978062339EC3}"/>
              </a:ext>
            </a:extLst>
          </p:cNvPr>
          <p:cNvSpPr/>
          <p:nvPr/>
        </p:nvSpPr>
        <p:spPr>
          <a:xfrm>
            <a:off x="8272328" y="156631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권고</a:t>
            </a: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]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 수행</a:t>
            </a:r>
          </a:p>
        </p:txBody>
      </p:sp>
      <p:sp>
        <p:nvSpPr>
          <p:cNvPr id="152" name="사각형: 둥근 모서리 65">
            <a:extLst>
              <a:ext uri="{FF2B5EF4-FFF2-40B4-BE49-F238E27FC236}">
                <a16:creationId xmlns:a16="http://schemas.microsoft.com/office/drawing/2014/main" id="{2152D6C6-D970-6ADD-5076-307599DD251A}"/>
              </a:ext>
            </a:extLst>
          </p:cNvPr>
          <p:cNvSpPr/>
          <p:nvPr/>
        </p:nvSpPr>
        <p:spPr>
          <a:xfrm>
            <a:off x="8236708" y="148360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고영향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3" name="연결선: 꺾임 34">
            <a:extLst>
              <a:ext uri="{FF2B5EF4-FFF2-40B4-BE49-F238E27FC236}">
                <a16:creationId xmlns:a16="http://schemas.microsoft.com/office/drawing/2014/main" id="{28DE08B4-4A81-3420-B613-8ADBD3962E9C}"/>
              </a:ext>
            </a:extLst>
          </p:cNvPr>
          <p:cNvCxnSpPr>
            <a:cxnSpLocks/>
            <a:stCxn id="565" idx="3"/>
            <a:endCxn id="151" idx="1"/>
          </p:cNvCxnSpPr>
          <p:nvPr/>
        </p:nvCxnSpPr>
        <p:spPr>
          <a:xfrm flipV="1">
            <a:off x="8109832" y="1728319"/>
            <a:ext cx="162496" cy="79914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54" name="Google Shape;134;p5">
            <a:extLst>
              <a:ext uri="{FF2B5EF4-FFF2-40B4-BE49-F238E27FC236}">
                <a16:creationId xmlns:a16="http://schemas.microsoft.com/office/drawing/2014/main" id="{16007ECA-31A8-9E6E-0A49-F54CA756E899}"/>
              </a:ext>
            </a:extLst>
          </p:cNvPr>
          <p:cNvSpPr/>
          <p:nvPr/>
        </p:nvSpPr>
        <p:spPr>
          <a:xfrm>
            <a:off x="334961" y="5956300"/>
            <a:ext cx="900000" cy="568325"/>
          </a:xfrm>
          <a:prstGeom prst="rect">
            <a:avLst/>
          </a:prstGeom>
          <a:solidFill>
            <a:srgbClr val="043B7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산출물</a:t>
            </a:r>
          </a:p>
        </p:txBody>
      </p:sp>
      <p:sp>
        <p:nvSpPr>
          <p:cNvPr id="158" name="Google Shape;134;p5">
            <a:extLst>
              <a:ext uri="{FF2B5EF4-FFF2-40B4-BE49-F238E27FC236}">
                <a16:creationId xmlns:a16="http://schemas.microsoft.com/office/drawing/2014/main" id="{6BCED59B-238C-CB4F-87DF-A68F2AE4379D}"/>
              </a:ext>
            </a:extLst>
          </p:cNvPr>
          <p:cNvSpPr/>
          <p:nvPr/>
        </p:nvSpPr>
        <p:spPr>
          <a:xfrm>
            <a:off x="1350960" y="5956300"/>
            <a:ext cx="3081339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2" rtlCol="0" anchor="ctr"/>
          <a:lstStyle/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서비스기획서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2)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업무 위</a:t>
            </a:r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수탁 체크리스트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3)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영향</a:t>
            </a:r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&amp;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안전성 여부 판단서</a:t>
            </a:r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영향 평가서</a:t>
            </a:r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안정성 평가서 </a:t>
            </a:r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800" kern="0" spc="-150" dirty="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고영향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책무 리스트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4)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위험등급평가서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개발계획서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위험관리 계획서</a:t>
            </a:r>
            <a:endParaRPr lang="en-US" altLang="ko-KR" sz="8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AI </a:t>
            </a:r>
            <a:r>
              <a:rPr lang="ko-KR" altLang="en-US" sz="8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위험점검 체크리스트</a:t>
            </a:r>
          </a:p>
        </p:txBody>
      </p:sp>
      <p:sp>
        <p:nvSpPr>
          <p:cNvPr id="164" name="Google Shape;134;p5">
            <a:extLst>
              <a:ext uri="{FF2B5EF4-FFF2-40B4-BE49-F238E27FC236}">
                <a16:creationId xmlns:a16="http://schemas.microsoft.com/office/drawing/2014/main" id="{AF61F15F-E981-99CD-3DD7-D4FCDFA9081D}"/>
              </a:ext>
            </a:extLst>
          </p:cNvPr>
          <p:cNvSpPr/>
          <p:nvPr/>
        </p:nvSpPr>
        <p:spPr>
          <a:xfrm>
            <a:off x="4555331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개발자 검증 결과서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65" name="Google Shape;134;p5">
            <a:extLst>
              <a:ext uri="{FF2B5EF4-FFF2-40B4-BE49-F238E27FC236}">
                <a16:creationId xmlns:a16="http://schemas.microsoft.com/office/drawing/2014/main" id="{0B001809-E1AB-1A9E-ACF3-9028A00C4175}"/>
              </a:ext>
            </a:extLst>
          </p:cNvPr>
          <p:cNvSpPr/>
          <p:nvPr/>
        </p:nvSpPr>
        <p:spPr>
          <a:xfrm>
            <a:off x="7069931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9)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데이터∙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모델 제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자 검증 결과서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모델설명서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11)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위험완화방안 확인서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12)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모니터링 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13)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운영 승인 요청서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66" name="Google Shape;134;p5">
            <a:extLst>
              <a:ext uri="{FF2B5EF4-FFF2-40B4-BE49-F238E27FC236}">
                <a16:creationId xmlns:a16="http://schemas.microsoft.com/office/drawing/2014/main" id="{40E0B8B9-515C-619C-0E08-C73FB7D40E86}"/>
              </a:ext>
            </a:extLst>
          </p:cNvPr>
          <p:cNvSpPr/>
          <p:nvPr/>
        </p:nvSpPr>
        <p:spPr>
          <a:xfrm>
            <a:off x="9511473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14) AI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 서비스 모니터링 보고서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15)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9" name="직사각형 20">
            <a:extLst>
              <a:ext uri="{FF2B5EF4-FFF2-40B4-BE49-F238E27FC236}">
                <a16:creationId xmlns:a16="http://schemas.microsoft.com/office/drawing/2014/main" id="{99E94BCA-8377-779D-EEAD-1EA5B0B8EEFA}"/>
              </a:ext>
            </a:extLst>
          </p:cNvPr>
          <p:cNvSpPr/>
          <p:nvPr/>
        </p:nvSpPr>
        <p:spPr>
          <a:xfrm>
            <a:off x="10733909" y="1721684"/>
            <a:ext cx="1080000" cy="191444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개선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15) 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직사각형 21">
            <a:extLst>
              <a:ext uri="{FF2B5EF4-FFF2-40B4-BE49-F238E27FC236}">
                <a16:creationId xmlns:a16="http://schemas.microsoft.com/office/drawing/2014/main" id="{F9BC5936-CCE4-5709-E457-433B0E38241B}"/>
              </a:ext>
            </a:extLst>
          </p:cNvPr>
          <p:cNvSpPr/>
          <p:nvPr/>
        </p:nvSpPr>
        <p:spPr>
          <a:xfrm>
            <a:off x="9502452" y="4659117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직사각형 22">
            <a:extLst>
              <a:ext uri="{FF2B5EF4-FFF2-40B4-BE49-F238E27FC236}">
                <a16:creationId xmlns:a16="http://schemas.microsoft.com/office/drawing/2014/main" id="{047F50BB-96D8-6911-5D06-D20653A6D662}"/>
              </a:ext>
            </a:extLst>
          </p:cNvPr>
          <p:cNvSpPr/>
          <p:nvPr/>
        </p:nvSpPr>
        <p:spPr>
          <a:xfrm>
            <a:off x="10732873" y="4659117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22" name="직선 화살표 연결선 38">
            <a:extLst>
              <a:ext uri="{FF2B5EF4-FFF2-40B4-BE49-F238E27FC236}">
                <a16:creationId xmlns:a16="http://schemas.microsoft.com/office/drawing/2014/main" id="{EA678E6A-7F20-D0FB-C7BD-4410D47753B3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V="1">
            <a:off x="11272873" y="3636131"/>
            <a:ext cx="1036" cy="102298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3" name="연결선: 꺾임 39">
            <a:extLst>
              <a:ext uri="{FF2B5EF4-FFF2-40B4-BE49-F238E27FC236}">
                <a16:creationId xmlns:a16="http://schemas.microsoft.com/office/drawing/2014/main" id="{87376C4E-5359-1FFB-CA07-97829CBB301D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>
            <a:off x="10582452" y="3936314"/>
            <a:ext cx="150421" cy="97480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4" name="직선 화살표 연결선 53">
            <a:extLst>
              <a:ext uri="{FF2B5EF4-FFF2-40B4-BE49-F238E27FC236}">
                <a16:creationId xmlns:a16="http://schemas.microsoft.com/office/drawing/2014/main" id="{400DE256-81C8-7598-CA08-7F7409B6A3E7}"/>
              </a:ext>
            </a:extLst>
          </p:cNvPr>
          <p:cNvCxnSpPr>
            <a:cxnSpLocks/>
          </p:cNvCxnSpPr>
          <p:nvPr/>
        </p:nvCxnSpPr>
        <p:spPr>
          <a:xfrm flipV="1">
            <a:off x="9542780" y="3135057"/>
            <a:ext cx="0" cy="152731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5" name="직사각형 50">
            <a:extLst>
              <a:ext uri="{FF2B5EF4-FFF2-40B4-BE49-F238E27FC236}">
                <a16:creationId xmlns:a16="http://schemas.microsoft.com/office/drawing/2014/main" id="{23A4FAD1-5521-BC2F-7326-C1E6DDE66845}"/>
              </a:ext>
            </a:extLst>
          </p:cNvPr>
          <p:cNvSpPr/>
          <p:nvPr/>
        </p:nvSpPr>
        <p:spPr>
          <a:xfrm>
            <a:off x="9862452" y="331373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26" name="직사각형 51">
            <a:extLst>
              <a:ext uri="{FF2B5EF4-FFF2-40B4-BE49-F238E27FC236}">
                <a16:creationId xmlns:a16="http://schemas.microsoft.com/office/drawing/2014/main" id="{E29A484C-F04A-5687-A3D7-9C4C35C5D595}"/>
              </a:ext>
            </a:extLst>
          </p:cNvPr>
          <p:cNvSpPr/>
          <p:nvPr/>
        </p:nvSpPr>
        <p:spPr>
          <a:xfrm>
            <a:off x="9479963" y="2116403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7" name="직선 화살표 연결선 36">
            <a:extLst>
              <a:ext uri="{FF2B5EF4-FFF2-40B4-BE49-F238E27FC236}">
                <a16:creationId xmlns:a16="http://schemas.microsoft.com/office/drawing/2014/main" id="{350211A1-342A-03D3-1ABB-166C657D7242}"/>
              </a:ext>
            </a:extLst>
          </p:cNvPr>
          <p:cNvCxnSpPr>
            <a:cxnSpLocks/>
          </p:cNvCxnSpPr>
          <p:nvPr/>
        </p:nvCxnSpPr>
        <p:spPr>
          <a:xfrm flipV="1">
            <a:off x="10102340" y="3635495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8" name="직사각형 50">
            <a:extLst>
              <a:ext uri="{FF2B5EF4-FFF2-40B4-BE49-F238E27FC236}">
                <a16:creationId xmlns:a16="http://schemas.microsoft.com/office/drawing/2014/main" id="{1843B360-7033-28DD-3F3B-387A1763FFA1}"/>
              </a:ext>
            </a:extLst>
          </p:cNvPr>
          <p:cNvSpPr/>
          <p:nvPr/>
        </p:nvSpPr>
        <p:spPr>
          <a:xfrm>
            <a:off x="9862452" y="1721685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9" name="직선 화살표 연결선 38">
            <a:extLst>
              <a:ext uri="{FF2B5EF4-FFF2-40B4-BE49-F238E27FC236}">
                <a16:creationId xmlns:a16="http://schemas.microsoft.com/office/drawing/2014/main" id="{CE9341DE-26DB-B2B3-BED2-A8E93F968493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0222452" y="2045685"/>
            <a:ext cx="0" cy="126581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39">
            <a:extLst>
              <a:ext uri="{FF2B5EF4-FFF2-40B4-BE49-F238E27FC236}">
                <a16:creationId xmlns:a16="http://schemas.microsoft.com/office/drawing/2014/main" id="{B802F97E-7FC3-4808-1968-923BEDF8C346}"/>
              </a:ext>
            </a:extLst>
          </p:cNvPr>
          <p:cNvCxnSpPr>
            <a:cxnSpLocks/>
            <a:stCxn id="25" idx="3"/>
            <a:endCxn id="19" idx="1"/>
          </p:cNvCxnSpPr>
          <p:nvPr/>
        </p:nvCxnSpPr>
        <p:spPr>
          <a:xfrm flipV="1">
            <a:off x="10582452" y="2678908"/>
            <a:ext cx="151457" cy="7968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연결선: 꺾임 39">
            <a:extLst>
              <a:ext uri="{FF2B5EF4-FFF2-40B4-BE49-F238E27FC236}">
                <a16:creationId xmlns:a16="http://schemas.microsoft.com/office/drawing/2014/main" id="{744A2214-453E-1702-2CE6-EA6ED1B942A7}"/>
              </a:ext>
            </a:extLst>
          </p:cNvPr>
          <p:cNvCxnSpPr>
            <a:cxnSpLocks/>
            <a:stCxn id="26" idx="2"/>
            <a:endCxn id="25" idx="1"/>
          </p:cNvCxnSpPr>
          <p:nvPr/>
        </p:nvCxnSpPr>
        <p:spPr>
          <a:xfrm rot="16200000" flipH="1">
            <a:off x="9585606" y="3198886"/>
            <a:ext cx="340676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직선 화살표 연결선 36">
            <a:extLst>
              <a:ext uri="{FF2B5EF4-FFF2-40B4-BE49-F238E27FC236}">
                <a16:creationId xmlns:a16="http://schemas.microsoft.com/office/drawing/2014/main" id="{93A433DA-6538-948C-92DF-AE351CB7573C}"/>
              </a:ext>
            </a:extLst>
          </p:cNvPr>
          <p:cNvCxnSpPr>
            <a:cxnSpLocks/>
          </p:cNvCxnSpPr>
          <p:nvPr/>
        </p:nvCxnSpPr>
        <p:spPr>
          <a:xfrm>
            <a:off x="10379200" y="3637303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3" name="직사각형 50">
            <a:extLst>
              <a:ext uri="{FF2B5EF4-FFF2-40B4-BE49-F238E27FC236}">
                <a16:creationId xmlns:a16="http://schemas.microsoft.com/office/drawing/2014/main" id="{B28F874D-4AB7-1A5A-2F84-5C3FBC14D6E5}"/>
              </a:ext>
            </a:extLst>
          </p:cNvPr>
          <p:cNvSpPr/>
          <p:nvPr/>
        </p:nvSpPr>
        <p:spPr>
          <a:xfrm>
            <a:off x="9862452" y="3774314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14) 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34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6413F3C-88F7-293B-1598-B05998BD1D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5FFD2-789F-4C96-83BA-B31B140A0F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Next Plan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CF7011-29B8-1E69-517B-AC8CB515A1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ITSM–AI </a:t>
            </a:r>
            <a:r>
              <a:rPr lang="ko-KR" altLang="en-US"/>
              <a:t>위험관리시스템</a:t>
            </a:r>
            <a:r>
              <a:rPr lang="en-US" altLang="ko-KR"/>
              <a:t>–AI </a:t>
            </a:r>
            <a:r>
              <a:rPr lang="ko-KR" altLang="en-US"/>
              <a:t>위험평가시스템 구축 요건 수립을 기반으로</a:t>
            </a:r>
            <a:r>
              <a:rPr lang="en-US" altLang="ko-KR"/>
              <a:t>, </a:t>
            </a:r>
            <a:r>
              <a:rPr lang="ko-KR" altLang="en-US"/>
              <a:t>효율적</a:t>
            </a:r>
            <a:r>
              <a:rPr lang="en-US" altLang="ko-KR"/>
              <a:t>·</a:t>
            </a:r>
            <a:r>
              <a:rPr lang="ko-KR" altLang="en-US"/>
              <a:t>일관된 수행을 위해 </a:t>
            </a:r>
            <a:r>
              <a:rPr lang="en-US" altLang="ko-KR"/>
              <a:t>AI </a:t>
            </a:r>
            <a:r>
              <a:rPr lang="ko-KR" altLang="en-US"/>
              <a:t>거버넌스 오퍼레이션의 시스템 기반 자동화가 필요함</a:t>
            </a:r>
          </a:p>
        </p:txBody>
      </p:sp>
      <p:sp>
        <p:nvSpPr>
          <p:cNvPr id="7" name="Google Shape;298;p6">
            <a:extLst>
              <a:ext uri="{FF2B5EF4-FFF2-40B4-BE49-F238E27FC236}">
                <a16:creationId xmlns:a16="http://schemas.microsoft.com/office/drawing/2014/main" id="{38343249-3D36-EB58-2811-AB75AF1223DE}"/>
              </a:ext>
            </a:extLst>
          </p:cNvPr>
          <p:cNvSpPr/>
          <p:nvPr/>
        </p:nvSpPr>
        <p:spPr>
          <a:xfrm>
            <a:off x="689778" y="1784603"/>
            <a:ext cx="10785487" cy="1368633"/>
          </a:xfrm>
          <a:prstGeom prst="rect">
            <a:avLst/>
          </a:prstGeom>
          <a:solidFill>
            <a:srgbClr val="F58220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299;p6">
            <a:extLst>
              <a:ext uri="{FF2B5EF4-FFF2-40B4-BE49-F238E27FC236}">
                <a16:creationId xmlns:a16="http://schemas.microsoft.com/office/drawing/2014/main" id="{E2CC23F0-555E-5529-772D-40E246EF735D}"/>
              </a:ext>
            </a:extLst>
          </p:cNvPr>
          <p:cNvSpPr txBox="1"/>
          <p:nvPr/>
        </p:nvSpPr>
        <p:spPr>
          <a:xfrm>
            <a:off x="747345" y="1794513"/>
            <a:ext cx="1067035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ITSM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Google Shape;301;p6">
            <a:extLst>
              <a:ext uri="{FF2B5EF4-FFF2-40B4-BE49-F238E27FC236}">
                <a16:creationId xmlns:a16="http://schemas.microsoft.com/office/drawing/2014/main" id="{90B615D3-6EE4-8AEB-5B82-ACF1673B729E}"/>
              </a:ext>
            </a:extLst>
          </p:cNvPr>
          <p:cNvSpPr/>
          <p:nvPr/>
        </p:nvSpPr>
        <p:spPr>
          <a:xfrm>
            <a:off x="669856" y="3354580"/>
            <a:ext cx="10785487" cy="134862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302;p6">
            <a:extLst>
              <a:ext uri="{FF2B5EF4-FFF2-40B4-BE49-F238E27FC236}">
                <a16:creationId xmlns:a16="http://schemas.microsoft.com/office/drawing/2014/main" id="{CE296A02-E996-7534-CC68-76BD29912104}"/>
              </a:ext>
            </a:extLst>
          </p:cNvPr>
          <p:cNvSpPr txBox="1"/>
          <p:nvPr/>
        </p:nvSpPr>
        <p:spPr>
          <a:xfrm>
            <a:off x="727423" y="3364491"/>
            <a:ext cx="10670352" cy="41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 위험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관리시스템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Google Shape;304;p6">
            <a:extLst>
              <a:ext uri="{FF2B5EF4-FFF2-40B4-BE49-F238E27FC236}">
                <a16:creationId xmlns:a16="http://schemas.microsoft.com/office/drawing/2014/main" id="{68853668-4D6E-76EB-33AF-B01381B9E5CD}"/>
              </a:ext>
            </a:extLst>
          </p:cNvPr>
          <p:cNvSpPr/>
          <p:nvPr/>
        </p:nvSpPr>
        <p:spPr>
          <a:xfrm>
            <a:off x="669852" y="4904549"/>
            <a:ext cx="10805411" cy="1348626"/>
          </a:xfrm>
          <a:prstGeom prst="rect">
            <a:avLst/>
          </a:prstGeom>
          <a:solidFill>
            <a:srgbClr val="00A9CE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305;p6">
            <a:extLst>
              <a:ext uri="{FF2B5EF4-FFF2-40B4-BE49-F238E27FC236}">
                <a16:creationId xmlns:a16="http://schemas.microsoft.com/office/drawing/2014/main" id="{76629838-86BA-672F-E485-9191C9C0F238}"/>
              </a:ext>
            </a:extLst>
          </p:cNvPr>
          <p:cNvSpPr txBox="1"/>
          <p:nvPr/>
        </p:nvSpPr>
        <p:spPr>
          <a:xfrm>
            <a:off x="727419" y="4914460"/>
            <a:ext cx="10690276" cy="41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 위험 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평가시스템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Google Shape;307;p6">
            <a:extLst>
              <a:ext uri="{FF2B5EF4-FFF2-40B4-BE49-F238E27FC236}">
                <a16:creationId xmlns:a16="http://schemas.microsoft.com/office/drawing/2014/main" id="{A9470454-241E-5526-058E-1F9B547676CB}"/>
              </a:ext>
            </a:extLst>
          </p:cNvPr>
          <p:cNvSpPr/>
          <p:nvPr/>
        </p:nvSpPr>
        <p:spPr>
          <a:xfrm>
            <a:off x="1501759" y="2339247"/>
            <a:ext cx="1248849" cy="295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" name="Google Shape;308;p6">
            <a:extLst>
              <a:ext uri="{FF2B5EF4-FFF2-40B4-BE49-F238E27FC236}">
                <a16:creationId xmlns:a16="http://schemas.microsoft.com/office/drawing/2014/main" id="{0A15A75C-6584-CACF-8EA6-6CBEC4073F5C}"/>
              </a:ext>
            </a:extLst>
          </p:cNvPr>
          <p:cNvSpPr txBox="1"/>
          <p:nvPr/>
        </p:nvSpPr>
        <p:spPr>
          <a:xfrm>
            <a:off x="1559327" y="2377004"/>
            <a:ext cx="1133713" cy="2200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AI서비스</a:t>
            </a: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기획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Google Shape;310;p6">
            <a:extLst>
              <a:ext uri="{FF2B5EF4-FFF2-40B4-BE49-F238E27FC236}">
                <a16:creationId xmlns:a16="http://schemas.microsoft.com/office/drawing/2014/main" id="{A0F7F5DC-29C8-6812-1A08-A810D4CAAA47}"/>
              </a:ext>
            </a:extLst>
          </p:cNvPr>
          <p:cNvSpPr/>
          <p:nvPr/>
        </p:nvSpPr>
        <p:spPr>
          <a:xfrm>
            <a:off x="3077604" y="2339248"/>
            <a:ext cx="1373733" cy="29553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위험/영향/안전성 식별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및 </a:t>
            </a: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</a:t>
            </a:r>
            <a:endParaRPr lang="ko-KR" altLang="ko-KR" sz="1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Google Shape;313;p6">
            <a:extLst>
              <a:ext uri="{FF2B5EF4-FFF2-40B4-BE49-F238E27FC236}">
                <a16:creationId xmlns:a16="http://schemas.microsoft.com/office/drawing/2014/main" id="{265B6FFF-A180-6BD4-B26D-1CF24160876A}"/>
              </a:ext>
            </a:extLst>
          </p:cNvPr>
          <p:cNvSpPr/>
          <p:nvPr/>
        </p:nvSpPr>
        <p:spPr>
          <a:xfrm>
            <a:off x="4778333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" name="Google Shape;314;p6">
            <a:extLst>
              <a:ext uri="{FF2B5EF4-FFF2-40B4-BE49-F238E27FC236}">
                <a16:creationId xmlns:a16="http://schemas.microsoft.com/office/drawing/2014/main" id="{5C969949-2358-468D-2E51-B95B1B98DB01}"/>
              </a:ext>
            </a:extLst>
          </p:cNvPr>
          <p:cNvSpPr txBox="1"/>
          <p:nvPr/>
        </p:nvSpPr>
        <p:spPr>
          <a:xfrm>
            <a:off x="4835901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승인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Google Shape;316;p6">
            <a:extLst>
              <a:ext uri="{FF2B5EF4-FFF2-40B4-BE49-F238E27FC236}">
                <a16:creationId xmlns:a16="http://schemas.microsoft.com/office/drawing/2014/main" id="{776CD367-59F0-B790-25C5-8A73BC3741EB}"/>
              </a:ext>
            </a:extLst>
          </p:cNvPr>
          <p:cNvSpPr/>
          <p:nvPr/>
        </p:nvSpPr>
        <p:spPr>
          <a:xfrm>
            <a:off x="6303090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4" name="Google Shape;317;p6">
            <a:extLst>
              <a:ext uri="{FF2B5EF4-FFF2-40B4-BE49-F238E27FC236}">
                <a16:creationId xmlns:a16="http://schemas.microsoft.com/office/drawing/2014/main" id="{F95C4197-BE64-3EE1-1C78-B4390DB50F52}"/>
              </a:ext>
            </a:extLst>
          </p:cNvPr>
          <p:cNvSpPr txBox="1"/>
          <p:nvPr/>
        </p:nvSpPr>
        <p:spPr>
          <a:xfrm>
            <a:off x="6360658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개발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Google Shape;319;p6">
            <a:extLst>
              <a:ext uri="{FF2B5EF4-FFF2-40B4-BE49-F238E27FC236}">
                <a16:creationId xmlns:a16="http://schemas.microsoft.com/office/drawing/2014/main" id="{F6253128-CC4F-B3D4-C309-7EA89C2DAE26}"/>
              </a:ext>
            </a:extLst>
          </p:cNvPr>
          <p:cNvSpPr/>
          <p:nvPr/>
        </p:nvSpPr>
        <p:spPr>
          <a:xfrm>
            <a:off x="7827848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7" name="Google Shape;320;p6">
            <a:extLst>
              <a:ext uri="{FF2B5EF4-FFF2-40B4-BE49-F238E27FC236}">
                <a16:creationId xmlns:a16="http://schemas.microsoft.com/office/drawing/2014/main" id="{3CAF42D8-250A-7CA6-537B-87A9E790DF82}"/>
              </a:ext>
            </a:extLst>
          </p:cNvPr>
          <p:cNvSpPr txBox="1"/>
          <p:nvPr/>
        </p:nvSpPr>
        <p:spPr>
          <a:xfrm>
            <a:off x="7885416" y="2334665"/>
            <a:ext cx="1020183" cy="30469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오픈 평가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Google Shape;322;p6">
            <a:extLst>
              <a:ext uri="{FF2B5EF4-FFF2-40B4-BE49-F238E27FC236}">
                <a16:creationId xmlns:a16="http://schemas.microsoft.com/office/drawing/2014/main" id="{7BD8ACF5-AD07-83BD-5629-38C6710AE2A4}"/>
              </a:ext>
            </a:extLst>
          </p:cNvPr>
          <p:cNvSpPr/>
          <p:nvPr/>
        </p:nvSpPr>
        <p:spPr>
          <a:xfrm>
            <a:off x="9352607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0" name="Google Shape;323;p6">
            <a:extLst>
              <a:ext uri="{FF2B5EF4-FFF2-40B4-BE49-F238E27FC236}">
                <a16:creationId xmlns:a16="http://schemas.microsoft.com/office/drawing/2014/main" id="{88ECEC41-E154-2E65-8E88-E6C6E86163F8}"/>
              </a:ext>
            </a:extLst>
          </p:cNvPr>
          <p:cNvSpPr txBox="1"/>
          <p:nvPr/>
        </p:nvSpPr>
        <p:spPr>
          <a:xfrm>
            <a:off x="9410175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오픈 및 운영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Google Shape;325;p6">
            <a:extLst>
              <a:ext uri="{FF2B5EF4-FFF2-40B4-BE49-F238E27FC236}">
                <a16:creationId xmlns:a16="http://schemas.microsoft.com/office/drawing/2014/main" id="{867F94FC-49EA-4DB6-943C-0F778E66BBD9}"/>
              </a:ext>
            </a:extLst>
          </p:cNvPr>
          <p:cNvSpPr/>
          <p:nvPr/>
        </p:nvSpPr>
        <p:spPr>
          <a:xfrm>
            <a:off x="3386146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3" name="Google Shape;326;p6">
            <a:extLst>
              <a:ext uri="{FF2B5EF4-FFF2-40B4-BE49-F238E27FC236}">
                <a16:creationId xmlns:a16="http://schemas.microsoft.com/office/drawing/2014/main" id="{2DBD7597-CCBE-F1FE-67E3-249504BF8D5D}"/>
              </a:ext>
            </a:extLst>
          </p:cNvPr>
          <p:cNvSpPr txBox="1"/>
          <p:nvPr/>
        </p:nvSpPr>
        <p:spPr>
          <a:xfrm>
            <a:off x="3443714" y="3844920"/>
            <a:ext cx="1020183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위험 평가(수치화)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Google Shape;328;p6">
            <a:extLst>
              <a:ext uri="{FF2B5EF4-FFF2-40B4-BE49-F238E27FC236}">
                <a16:creationId xmlns:a16="http://schemas.microsoft.com/office/drawing/2014/main" id="{919CDDFC-C0F0-A308-454C-2D8CD14246FC}"/>
              </a:ext>
            </a:extLst>
          </p:cNvPr>
          <p:cNvSpPr/>
          <p:nvPr/>
        </p:nvSpPr>
        <p:spPr>
          <a:xfrm>
            <a:off x="4876245" y="3832584"/>
            <a:ext cx="264120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6" name="Google Shape;329;p6">
            <a:extLst>
              <a:ext uri="{FF2B5EF4-FFF2-40B4-BE49-F238E27FC236}">
                <a16:creationId xmlns:a16="http://schemas.microsoft.com/office/drawing/2014/main" id="{4FA9DF38-4B18-2E03-34A2-E4532752DB50}"/>
              </a:ext>
            </a:extLst>
          </p:cNvPr>
          <p:cNvSpPr txBox="1"/>
          <p:nvPr/>
        </p:nvSpPr>
        <p:spPr>
          <a:xfrm>
            <a:off x="4933811" y="3844920"/>
            <a:ext cx="2526075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 감소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진행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Google Shape;331;p6">
            <a:extLst>
              <a:ext uri="{FF2B5EF4-FFF2-40B4-BE49-F238E27FC236}">
                <a16:creationId xmlns:a16="http://schemas.microsoft.com/office/drawing/2014/main" id="{ABF760A7-D72B-3B79-9C58-523F7FAADE29}"/>
              </a:ext>
            </a:extLst>
          </p:cNvPr>
          <p:cNvSpPr/>
          <p:nvPr/>
        </p:nvSpPr>
        <p:spPr>
          <a:xfrm>
            <a:off x="7867371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9" name="Google Shape;332;p6">
            <a:extLst>
              <a:ext uri="{FF2B5EF4-FFF2-40B4-BE49-F238E27FC236}">
                <a16:creationId xmlns:a16="http://schemas.microsoft.com/office/drawing/2014/main" id="{4047720A-274B-CC07-E983-C725D1A82C53}"/>
              </a:ext>
            </a:extLst>
          </p:cNvPr>
          <p:cNvSpPr txBox="1"/>
          <p:nvPr/>
        </p:nvSpPr>
        <p:spPr>
          <a:xfrm>
            <a:off x="7924939" y="3849141"/>
            <a:ext cx="1020183" cy="36023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위험성 재평가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Google Shape;334;p6">
            <a:extLst>
              <a:ext uri="{FF2B5EF4-FFF2-40B4-BE49-F238E27FC236}">
                <a16:creationId xmlns:a16="http://schemas.microsoft.com/office/drawing/2014/main" id="{1242600E-6A78-BF12-8155-919057C6CBE3}"/>
              </a:ext>
            </a:extLst>
          </p:cNvPr>
          <p:cNvSpPr/>
          <p:nvPr/>
        </p:nvSpPr>
        <p:spPr>
          <a:xfrm>
            <a:off x="9352607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42" name="Google Shape;335;p6">
            <a:extLst>
              <a:ext uri="{FF2B5EF4-FFF2-40B4-BE49-F238E27FC236}">
                <a16:creationId xmlns:a16="http://schemas.microsoft.com/office/drawing/2014/main" id="{F2EF0246-E9EA-61C5-49A6-26F72076B25A}"/>
              </a:ext>
            </a:extLst>
          </p:cNvPr>
          <p:cNvSpPr txBox="1"/>
          <p:nvPr/>
        </p:nvSpPr>
        <p:spPr>
          <a:xfrm>
            <a:off x="9410175" y="3844920"/>
            <a:ext cx="1020183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수시 위험성 체크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Google Shape;336;p6">
            <a:extLst>
              <a:ext uri="{FF2B5EF4-FFF2-40B4-BE49-F238E27FC236}">
                <a16:creationId xmlns:a16="http://schemas.microsoft.com/office/drawing/2014/main" id="{ADF5B6F1-FCC4-73E0-6BF0-003D28CE3FD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763003" y="2487012"/>
            <a:ext cx="314601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" name="Google Shape;337;p6">
            <a:extLst>
              <a:ext uri="{FF2B5EF4-FFF2-40B4-BE49-F238E27FC236}">
                <a16:creationId xmlns:a16="http://schemas.microsoft.com/office/drawing/2014/main" id="{0B6D924D-DD68-5775-2225-662C769B8701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451337" y="2487013"/>
            <a:ext cx="326996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39;p6">
            <a:extLst>
              <a:ext uri="{FF2B5EF4-FFF2-40B4-BE49-F238E27FC236}">
                <a16:creationId xmlns:a16="http://schemas.microsoft.com/office/drawing/2014/main" id="{FD613C59-CEC7-41A8-0A32-38D09ACAC7B1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7438410" y="2487013"/>
            <a:ext cx="389438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" name="Google Shape;340;p6">
            <a:extLst>
              <a:ext uri="{FF2B5EF4-FFF2-40B4-BE49-F238E27FC236}">
                <a16:creationId xmlns:a16="http://schemas.microsoft.com/office/drawing/2014/main" id="{A9CEFA0A-7F09-CC1F-F0C8-28E651E87EC0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8963167" y="2487013"/>
            <a:ext cx="389439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" name="Google Shape;341;p6">
            <a:extLst>
              <a:ext uri="{FF2B5EF4-FFF2-40B4-BE49-F238E27FC236}">
                <a16:creationId xmlns:a16="http://schemas.microsoft.com/office/drawing/2014/main" id="{2B655AD8-749F-5C14-438E-83C0CF7C8EC0}"/>
              </a:ext>
            </a:extLst>
          </p:cNvPr>
          <p:cNvCxnSpPr/>
          <p:nvPr/>
        </p:nvCxnSpPr>
        <p:spPr>
          <a:xfrm>
            <a:off x="9630376" y="2683686"/>
            <a:ext cx="2" cy="114890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" name="Google Shape;342;p6">
            <a:extLst>
              <a:ext uri="{FF2B5EF4-FFF2-40B4-BE49-F238E27FC236}">
                <a16:creationId xmlns:a16="http://schemas.microsoft.com/office/drawing/2014/main" id="{2548AA7B-862C-5D18-60CC-4BEAB5BD387D}"/>
              </a:ext>
            </a:extLst>
          </p:cNvPr>
          <p:cNvCxnSpPr/>
          <p:nvPr/>
        </p:nvCxnSpPr>
        <p:spPr>
          <a:xfrm rot="10800000" flipH="1">
            <a:off x="10268988" y="2683686"/>
            <a:ext cx="2" cy="114890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" name="Google Shape;343;p6">
            <a:extLst>
              <a:ext uri="{FF2B5EF4-FFF2-40B4-BE49-F238E27FC236}">
                <a16:creationId xmlns:a16="http://schemas.microsoft.com/office/drawing/2014/main" id="{C7B04531-1D35-84A5-4D28-D3FD29A1141A}"/>
              </a:ext>
            </a:extLst>
          </p:cNvPr>
          <p:cNvCxnSpPr/>
          <p:nvPr/>
        </p:nvCxnSpPr>
        <p:spPr>
          <a:xfrm>
            <a:off x="4533977" y="4029260"/>
            <a:ext cx="329757" cy="1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344;p6">
            <a:extLst>
              <a:ext uri="{FF2B5EF4-FFF2-40B4-BE49-F238E27FC236}">
                <a16:creationId xmlns:a16="http://schemas.microsoft.com/office/drawing/2014/main" id="{61C2C68F-1F8E-6FFF-8B3D-E426391AE0D7}"/>
              </a:ext>
            </a:extLst>
          </p:cNvPr>
          <p:cNvCxnSpPr/>
          <p:nvPr/>
        </p:nvCxnSpPr>
        <p:spPr>
          <a:xfrm>
            <a:off x="7530136" y="4029260"/>
            <a:ext cx="324723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345;p6">
            <a:extLst>
              <a:ext uri="{FF2B5EF4-FFF2-40B4-BE49-F238E27FC236}">
                <a16:creationId xmlns:a16="http://schemas.microsoft.com/office/drawing/2014/main" id="{0EEAC084-E36A-FADF-B139-8E3AE1CA0D62}"/>
              </a:ext>
            </a:extLst>
          </p:cNvPr>
          <p:cNvCxnSpPr/>
          <p:nvPr/>
        </p:nvCxnSpPr>
        <p:spPr>
          <a:xfrm>
            <a:off x="9015201" y="4029260"/>
            <a:ext cx="324894" cy="1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AAD536B-F92C-4EAB-60D5-A374C162DB01}"/>
              </a:ext>
            </a:extLst>
          </p:cNvPr>
          <p:cNvGrpSpPr/>
          <p:nvPr/>
        </p:nvGrpSpPr>
        <p:grpSpPr>
          <a:xfrm>
            <a:off x="3386142" y="5133299"/>
            <a:ext cx="7192063" cy="988047"/>
            <a:chOff x="3386142" y="5133299"/>
            <a:chExt cx="7192063" cy="988047"/>
          </a:xfrm>
        </p:grpSpPr>
        <p:sp>
          <p:nvSpPr>
            <p:cNvPr id="53" name="Google Shape;347;p6">
              <a:extLst>
                <a:ext uri="{FF2B5EF4-FFF2-40B4-BE49-F238E27FC236}">
                  <a16:creationId xmlns:a16="http://schemas.microsoft.com/office/drawing/2014/main" id="{CA5FB1B0-8218-506B-A9ED-B68259837726}"/>
                </a:ext>
              </a:extLst>
            </p:cNvPr>
            <p:cNvSpPr/>
            <p:nvPr/>
          </p:nvSpPr>
          <p:spPr>
            <a:xfrm>
              <a:off x="3386146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54" name="Google Shape;348;p6">
              <a:extLst>
                <a:ext uri="{FF2B5EF4-FFF2-40B4-BE49-F238E27FC236}">
                  <a16:creationId xmlns:a16="http://schemas.microsoft.com/office/drawing/2014/main" id="{D2128F7C-9AC2-0286-B8C9-C94BF76AA714}"/>
                </a:ext>
              </a:extLst>
            </p:cNvPr>
            <p:cNvSpPr txBox="1"/>
            <p:nvPr/>
          </p:nvSpPr>
          <p:spPr>
            <a:xfrm>
              <a:off x="3443714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Google Shape;350;p6">
              <a:extLst>
                <a:ext uri="{FF2B5EF4-FFF2-40B4-BE49-F238E27FC236}">
                  <a16:creationId xmlns:a16="http://schemas.microsoft.com/office/drawing/2014/main" id="{1272F01B-EA49-08CB-4A45-4857413653BD}"/>
                </a:ext>
              </a:extLst>
            </p:cNvPr>
            <p:cNvSpPr/>
            <p:nvPr/>
          </p:nvSpPr>
          <p:spPr>
            <a:xfrm>
              <a:off x="6082516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57" name="Google Shape;351;p6">
              <a:extLst>
                <a:ext uri="{FF2B5EF4-FFF2-40B4-BE49-F238E27FC236}">
                  <a16:creationId xmlns:a16="http://schemas.microsoft.com/office/drawing/2014/main" id="{67CF9D73-C708-03E5-CD8A-645A29338FD1}"/>
                </a:ext>
              </a:extLst>
            </p:cNvPr>
            <p:cNvSpPr txBox="1"/>
            <p:nvPr/>
          </p:nvSpPr>
          <p:spPr>
            <a:xfrm>
              <a:off x="6140084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Google Shape;353;p6">
              <a:extLst>
                <a:ext uri="{FF2B5EF4-FFF2-40B4-BE49-F238E27FC236}">
                  <a16:creationId xmlns:a16="http://schemas.microsoft.com/office/drawing/2014/main" id="{B2066286-089D-C9B4-7CFE-CF102371D0DE}"/>
                </a:ext>
              </a:extLst>
            </p:cNvPr>
            <p:cNvSpPr/>
            <p:nvPr/>
          </p:nvSpPr>
          <p:spPr>
            <a:xfrm>
              <a:off x="8636974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0" name="Google Shape;354;p6">
              <a:extLst>
                <a:ext uri="{FF2B5EF4-FFF2-40B4-BE49-F238E27FC236}">
                  <a16:creationId xmlns:a16="http://schemas.microsoft.com/office/drawing/2014/main" id="{D87F0BED-C405-9793-C2C0-8FCB5D23A541}"/>
                </a:ext>
              </a:extLst>
            </p:cNvPr>
            <p:cNvSpPr txBox="1"/>
            <p:nvPr/>
          </p:nvSpPr>
          <p:spPr>
            <a:xfrm>
              <a:off x="8694542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Google Shape;356;p6">
              <a:extLst>
                <a:ext uri="{FF2B5EF4-FFF2-40B4-BE49-F238E27FC236}">
                  <a16:creationId xmlns:a16="http://schemas.microsoft.com/office/drawing/2014/main" id="{984D74EC-4C26-745A-9F74-156BA1EF83C5}"/>
                </a:ext>
              </a:extLst>
            </p:cNvPr>
            <p:cNvSpPr/>
            <p:nvPr/>
          </p:nvSpPr>
          <p:spPr>
            <a:xfrm>
              <a:off x="7250578" y="5727993"/>
              <a:ext cx="3327627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3" name="Google Shape;357;p6">
              <a:extLst>
                <a:ext uri="{FF2B5EF4-FFF2-40B4-BE49-F238E27FC236}">
                  <a16:creationId xmlns:a16="http://schemas.microsoft.com/office/drawing/2014/main" id="{37080851-7224-A61D-E356-8719C153EE18}"/>
                </a:ext>
              </a:extLst>
            </p:cNvPr>
            <p:cNvSpPr txBox="1"/>
            <p:nvPr/>
          </p:nvSpPr>
          <p:spPr>
            <a:xfrm>
              <a:off x="7308145" y="5814660"/>
              <a:ext cx="3212491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평가 이력 관리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Google Shape;359;p6">
              <a:extLst>
                <a:ext uri="{FF2B5EF4-FFF2-40B4-BE49-F238E27FC236}">
                  <a16:creationId xmlns:a16="http://schemas.microsoft.com/office/drawing/2014/main" id="{04403E6B-C642-9B46-B6C2-529E77CA7264}"/>
                </a:ext>
              </a:extLst>
            </p:cNvPr>
            <p:cNvSpPr/>
            <p:nvPr/>
          </p:nvSpPr>
          <p:spPr>
            <a:xfrm>
              <a:off x="3386142" y="5727993"/>
              <a:ext cx="3689779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6" name="Google Shape;360;p6">
              <a:extLst>
                <a:ext uri="{FF2B5EF4-FFF2-40B4-BE49-F238E27FC236}">
                  <a16:creationId xmlns:a16="http://schemas.microsoft.com/office/drawing/2014/main" id="{6F78FF84-8E31-F666-BBE0-6A784817232A}"/>
                </a:ext>
              </a:extLst>
            </p:cNvPr>
            <p:cNvSpPr txBox="1"/>
            <p:nvPr/>
          </p:nvSpPr>
          <p:spPr>
            <a:xfrm>
              <a:off x="3443709" y="5814660"/>
              <a:ext cx="3574644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평가항목 관리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0" name="Google Shape;365;p6">
            <a:extLst>
              <a:ext uri="{FF2B5EF4-FFF2-40B4-BE49-F238E27FC236}">
                <a16:creationId xmlns:a16="http://schemas.microsoft.com/office/drawing/2014/main" id="{6471BA7C-06EC-201A-CF0A-B42E5FFB810C}"/>
              </a:ext>
            </a:extLst>
          </p:cNvPr>
          <p:cNvSpPr/>
          <p:nvPr/>
        </p:nvSpPr>
        <p:spPr>
          <a:xfrm>
            <a:off x="1501758" y="1876724"/>
            <a:ext cx="2544172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329" y="0"/>
                </a:lnTo>
                <a:lnTo>
                  <a:pt x="21600" y="10800"/>
                </a:lnTo>
                <a:lnTo>
                  <a:pt x="20329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1" name="Google Shape;366;p6">
            <a:extLst>
              <a:ext uri="{FF2B5EF4-FFF2-40B4-BE49-F238E27FC236}">
                <a16:creationId xmlns:a16="http://schemas.microsoft.com/office/drawing/2014/main" id="{AB11646E-95AE-1851-441C-A59D9119434B}"/>
              </a:ext>
            </a:extLst>
          </p:cNvPr>
          <p:cNvSpPr txBox="1"/>
          <p:nvPr/>
        </p:nvSpPr>
        <p:spPr>
          <a:xfrm>
            <a:off x="1559325" y="1909703"/>
            <a:ext cx="2354190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기획·설계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Google Shape;368;p6">
            <a:extLst>
              <a:ext uri="{FF2B5EF4-FFF2-40B4-BE49-F238E27FC236}">
                <a16:creationId xmlns:a16="http://schemas.microsoft.com/office/drawing/2014/main" id="{4ACFC0E4-C71A-D59F-7C05-DCF9ACF86845}"/>
              </a:ext>
            </a:extLst>
          </p:cNvPr>
          <p:cNvSpPr/>
          <p:nvPr/>
        </p:nvSpPr>
        <p:spPr>
          <a:xfrm>
            <a:off x="4045922" y="1876724"/>
            <a:ext cx="2448826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9" name="Google Shape;369;p6">
            <a:extLst>
              <a:ext uri="{FF2B5EF4-FFF2-40B4-BE49-F238E27FC236}">
                <a16:creationId xmlns:a16="http://schemas.microsoft.com/office/drawing/2014/main" id="{6E118B1C-C782-B28A-A8E6-C02252B387FE}"/>
              </a:ext>
            </a:extLst>
          </p:cNvPr>
          <p:cNvSpPr txBox="1"/>
          <p:nvPr/>
        </p:nvSpPr>
        <p:spPr>
          <a:xfrm>
            <a:off x="4103489" y="1914560"/>
            <a:ext cx="2258844" cy="2398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Google Shape;371;p6">
            <a:extLst>
              <a:ext uri="{FF2B5EF4-FFF2-40B4-BE49-F238E27FC236}">
                <a16:creationId xmlns:a16="http://schemas.microsoft.com/office/drawing/2014/main" id="{E194799A-FDDD-916D-C7D0-204130A95CEC}"/>
              </a:ext>
            </a:extLst>
          </p:cNvPr>
          <p:cNvSpPr/>
          <p:nvPr/>
        </p:nvSpPr>
        <p:spPr>
          <a:xfrm>
            <a:off x="6494743" y="1876724"/>
            <a:ext cx="2448826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lang="ko-KR" sz="1400" b="1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7" name="Google Shape;372;p6">
            <a:extLst>
              <a:ext uri="{FF2B5EF4-FFF2-40B4-BE49-F238E27FC236}">
                <a16:creationId xmlns:a16="http://schemas.microsoft.com/office/drawing/2014/main" id="{AA7D9BBB-3435-34AF-1296-70C2306CE3AB}"/>
              </a:ext>
            </a:extLst>
          </p:cNvPr>
          <p:cNvSpPr txBox="1"/>
          <p:nvPr/>
        </p:nvSpPr>
        <p:spPr>
          <a:xfrm>
            <a:off x="6552310" y="1909703"/>
            <a:ext cx="2258844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평가·검증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Google Shape;374;p6">
            <a:extLst>
              <a:ext uri="{FF2B5EF4-FFF2-40B4-BE49-F238E27FC236}">
                <a16:creationId xmlns:a16="http://schemas.microsoft.com/office/drawing/2014/main" id="{C194D68E-4A03-34D0-621B-5D1843D4ACF4}"/>
              </a:ext>
            </a:extLst>
          </p:cNvPr>
          <p:cNvSpPr/>
          <p:nvPr/>
        </p:nvSpPr>
        <p:spPr>
          <a:xfrm>
            <a:off x="8943563" y="1876724"/>
            <a:ext cx="2448825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5" name="Google Shape;375;p6">
            <a:extLst>
              <a:ext uri="{FF2B5EF4-FFF2-40B4-BE49-F238E27FC236}">
                <a16:creationId xmlns:a16="http://schemas.microsoft.com/office/drawing/2014/main" id="{815E5BA6-F316-2517-0F37-B670D9E29B81}"/>
              </a:ext>
            </a:extLst>
          </p:cNvPr>
          <p:cNvSpPr txBox="1"/>
          <p:nvPr/>
        </p:nvSpPr>
        <p:spPr>
          <a:xfrm>
            <a:off x="9001130" y="1909703"/>
            <a:ext cx="2258843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도입·운영·모니터링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Google Shape;377;p6">
            <a:extLst>
              <a:ext uri="{FF2B5EF4-FFF2-40B4-BE49-F238E27FC236}">
                <a16:creationId xmlns:a16="http://schemas.microsoft.com/office/drawing/2014/main" id="{B8191FAD-2FA0-B014-D6D0-6DD0D9EFB87C}"/>
              </a:ext>
            </a:extLst>
          </p:cNvPr>
          <p:cNvSpPr/>
          <p:nvPr/>
        </p:nvSpPr>
        <p:spPr>
          <a:xfrm>
            <a:off x="1501759" y="2770696"/>
            <a:ext cx="1248849" cy="295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ko-KR" altLang="ko-KR" sz="1050" err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AI서비스</a:t>
            </a:r>
            <a:r>
              <a:rPr lang="ko-KR" altLang="ko-KR" sz="10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개발 계획</a:t>
            </a:r>
            <a:endParaRPr lang="ko-KR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Google Shape;361;p6">
            <a:extLst>
              <a:ext uri="{FF2B5EF4-FFF2-40B4-BE49-F238E27FC236}">
                <a16:creationId xmlns:a16="http://schemas.microsoft.com/office/drawing/2014/main" id="{459A7BF4-4722-FE57-5DBE-DECD205F6FEB}"/>
              </a:ext>
            </a:extLst>
          </p:cNvPr>
          <p:cNvSpPr/>
          <p:nvPr/>
        </p:nvSpPr>
        <p:spPr>
          <a:xfrm>
            <a:off x="5624028" y="458323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8" name="Google Shape;362;p6">
            <a:extLst>
              <a:ext uri="{FF2B5EF4-FFF2-40B4-BE49-F238E27FC236}">
                <a16:creationId xmlns:a16="http://schemas.microsoft.com/office/drawing/2014/main" id="{A124ADC0-9792-04F4-D7E9-2130B7A0C6FB}"/>
              </a:ext>
            </a:extLst>
          </p:cNvPr>
          <p:cNvSpPr/>
          <p:nvPr/>
        </p:nvSpPr>
        <p:spPr>
          <a:xfrm rot="10800000">
            <a:off x="7501661" y="456888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3" name="Google Shape;379;p6">
            <a:extLst>
              <a:ext uri="{FF2B5EF4-FFF2-40B4-BE49-F238E27FC236}">
                <a16:creationId xmlns:a16="http://schemas.microsoft.com/office/drawing/2014/main" id="{41FDA9FD-E0EC-FFB9-3293-41C3C3A449CA}"/>
              </a:ext>
            </a:extLst>
          </p:cNvPr>
          <p:cNvSpPr/>
          <p:nvPr/>
        </p:nvSpPr>
        <p:spPr>
          <a:xfrm>
            <a:off x="5624028" y="301755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4" name="Google Shape;380;p6">
            <a:extLst>
              <a:ext uri="{FF2B5EF4-FFF2-40B4-BE49-F238E27FC236}">
                <a16:creationId xmlns:a16="http://schemas.microsoft.com/office/drawing/2014/main" id="{0ACE0706-4A88-95A9-8EF4-FBC3D72943D3}"/>
              </a:ext>
            </a:extLst>
          </p:cNvPr>
          <p:cNvSpPr/>
          <p:nvPr/>
        </p:nvSpPr>
        <p:spPr>
          <a:xfrm rot="10800000">
            <a:off x="7501661" y="3003206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cxnSp>
        <p:nvCxnSpPr>
          <p:cNvPr id="100" name="Google Shape;337;p6">
            <a:extLst>
              <a:ext uri="{FF2B5EF4-FFF2-40B4-BE49-F238E27FC236}">
                <a16:creationId xmlns:a16="http://schemas.microsoft.com/office/drawing/2014/main" id="{F451842C-C689-46EF-2C49-F03F220A8EAD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5913652" y="2487013"/>
            <a:ext cx="389438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63787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Thank you!</a:t>
            </a:r>
            <a:endParaRPr sz="1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71F96850C604FA9DD4A6FAA1D7E94" ma:contentTypeVersion="11" ma:contentTypeDescription="Create a new document." ma:contentTypeScope="" ma:versionID="ac4e8b5e424075323024da34dfed7ab7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b3acacfc7b8f27a5e50f6f243b1f7b76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BAB7E2-13DC-4732-9DFB-383F58CEC96B}">
  <ds:schemaRefs>
    <ds:schemaRef ds:uri="5192ee0d-e524-4888-b581-1910cadcd210"/>
    <ds:schemaRef ds:uri="525df02f-3aee-47af-b2f3-c2ea8bcae9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34D0927-EB06-4246-AFE4-E7F980461D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2ee0d-e524-4888-b581-1910cadcd210"/>
    <ds:schemaRef ds:uri="525df02f-3aee-47af-b2f3-c2ea8bcae9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3878</TotalTime>
  <Words>5185</Words>
  <Application>Microsoft Office PowerPoint</Application>
  <PresentationFormat>Widescreen</PresentationFormat>
  <Paragraphs>959</Paragraphs>
  <Slides>25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Helvetica Neue</vt:lpstr>
      <vt:lpstr>MS UI Gothic</vt:lpstr>
      <vt:lpstr>Noto Sans KR</vt:lpstr>
      <vt:lpstr>맑은 고딕</vt:lpstr>
      <vt:lpstr>Arial</vt:lpstr>
      <vt:lpstr>Calibri</vt:lpstr>
      <vt:lpstr>Calibri Light</vt:lpstr>
      <vt:lpstr>Wingdings</vt:lpstr>
      <vt:lpstr>Office 테마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ji-eun</dc:creator>
  <cp:lastModifiedBy>Jong-Min La</cp:lastModifiedBy>
  <cp:revision>72</cp:revision>
  <dcterms:created xsi:type="dcterms:W3CDTF">2025-09-15T04:25:44Z</dcterms:created>
  <dcterms:modified xsi:type="dcterms:W3CDTF">2026-02-24T16:27:04Z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