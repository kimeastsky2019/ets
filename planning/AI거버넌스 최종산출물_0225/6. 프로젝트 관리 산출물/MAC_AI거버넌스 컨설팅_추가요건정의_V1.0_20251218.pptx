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147483593" r:id="rId5"/>
    <p:sldId id="2147483628" r:id="rId6"/>
    <p:sldId id="2147483627" r:id="rId7"/>
    <p:sldId id="2147483647" r:id="rId8"/>
    <p:sldId id="256" r:id="rId9"/>
    <p:sldId id="257" r:id="rId10"/>
    <p:sldId id="262" r:id="rId11"/>
    <p:sldId id="274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43B72"/>
    <a:srgbClr val="8C8C8C"/>
    <a:srgbClr val="595959"/>
    <a:srgbClr val="F2F2F2"/>
    <a:srgbClr val="F08200"/>
    <a:srgbClr val="E4E4E4"/>
    <a:srgbClr val="BABABA"/>
    <a:srgbClr val="F3F3F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yun Kim" userId="6e5fe149-fc7e-48c7-9f7f-ed1c1fb0e4be" providerId="ADAL" clId="{62A0FFAB-1EFA-4E4D-9414-D0B0E0A72A3B}"/>
    <pc:docChg chg="custSel addSld modSld">
      <pc:chgData name="Seyun Kim" userId="6e5fe149-fc7e-48c7-9f7f-ed1c1fb0e4be" providerId="ADAL" clId="{62A0FFAB-1EFA-4E4D-9414-D0B0E0A72A3B}" dt="2026-01-04T23:11:41.882" v="2039" actId="478"/>
      <pc:docMkLst>
        <pc:docMk/>
      </pc:docMkLst>
      <pc:sldChg chg="delSp modSp mod">
        <pc:chgData name="Seyun Kim" userId="6e5fe149-fc7e-48c7-9f7f-ed1c1fb0e4be" providerId="ADAL" clId="{62A0FFAB-1EFA-4E4D-9414-D0B0E0A72A3B}" dt="2026-01-04T23:11:41.882" v="2039" actId="478"/>
        <pc:sldMkLst>
          <pc:docMk/>
          <pc:sldMk cId="2945043573" sldId="256"/>
        </pc:sldMkLst>
      </pc:sldChg>
      <pc:sldChg chg="addSp delSp modSp add mod">
        <pc:chgData name="Seyun Kim" userId="6e5fe149-fc7e-48c7-9f7f-ed1c1fb0e4be" providerId="ADAL" clId="{62A0FFAB-1EFA-4E4D-9414-D0B0E0A72A3B}" dt="2025-12-19T05:48:17.557" v="2038" actId="1076"/>
        <pc:sldMkLst>
          <pc:docMk/>
          <pc:sldMk cId="177347760" sldId="257"/>
        </pc:sldMkLst>
      </pc:sldChg>
    </pc:docChg>
  </pc:docChgLst>
  <pc:docChgLst>
    <pc:chgData name="Jong-Min La" userId="730696ea-53a3-4e95-97a6-548a6563044c" providerId="ADAL" clId="{76EB35E3-8586-4744-87B5-D82140D5913E}"/>
    <pc:docChg chg="undo custSel modSld">
      <pc:chgData name="Jong-Min La" userId="730696ea-53a3-4e95-97a6-548a6563044c" providerId="ADAL" clId="{76EB35E3-8586-4744-87B5-D82140D5913E}" dt="2025-12-09T06:50:26.068" v="121" actId="14100"/>
      <pc:docMkLst>
        <pc:docMk/>
      </pc:docMkLst>
      <pc:sldChg chg="addSp delSp modSp mod">
        <pc:chgData name="Jong-Min La" userId="730696ea-53a3-4e95-97a6-548a6563044c" providerId="ADAL" clId="{76EB35E3-8586-4744-87B5-D82140D5913E}" dt="2025-12-09T06:50:26.068" v="121" actId="14100"/>
        <pc:sldMkLst>
          <pc:docMk/>
          <pc:sldMk cId="3246622396" sldId="2147483601"/>
        </pc:sldMkLst>
      </pc:sldChg>
    </pc:docChg>
  </pc:docChgLst>
  <pc:docChgLst>
    <pc:chgData name="Jong-Min La" userId="730696ea-53a3-4e95-97a6-548a6563044c" providerId="ADAL" clId="{8337EB37-83B1-4DB1-A08D-8BF753DFFC65}"/>
    <pc:docChg chg="undo custSel modSld">
      <pc:chgData name="Jong-Min La" userId="730696ea-53a3-4e95-97a6-548a6563044c" providerId="ADAL" clId="{8337EB37-83B1-4DB1-A08D-8BF753DFFC65}" dt="2025-12-08T02:05:03.149" v="243" actId="20577"/>
      <pc:docMkLst>
        <pc:docMk/>
      </pc:docMkLst>
      <pc:sldChg chg="addSp delSp modSp mod">
        <pc:chgData name="Jong-Min La" userId="730696ea-53a3-4e95-97a6-548a6563044c" providerId="ADAL" clId="{8337EB37-83B1-4DB1-A08D-8BF753DFFC65}" dt="2025-12-08T02:05:03.149" v="243" actId="20577"/>
        <pc:sldMkLst>
          <pc:docMk/>
          <pc:sldMk cId="2912412152" sldId="2147483598"/>
        </pc:sldMkLst>
      </pc:sldChg>
      <pc:sldChg chg="modSp mod">
        <pc:chgData name="Jong-Min La" userId="730696ea-53a3-4e95-97a6-548a6563044c" providerId="ADAL" clId="{8337EB37-83B1-4DB1-A08D-8BF753DFFC65}" dt="2025-12-03T06:50:36.598" v="54"/>
        <pc:sldMkLst>
          <pc:docMk/>
          <pc:sldMk cId="3246622396" sldId="2147483601"/>
        </pc:sldMkLst>
      </pc:sldChg>
      <pc:sldChg chg="modSp mod">
        <pc:chgData name="Jong-Min La" userId="730696ea-53a3-4e95-97a6-548a6563044c" providerId="ADAL" clId="{8337EB37-83B1-4DB1-A08D-8BF753DFFC65}" dt="2025-12-04T00:31:43.881" v="76" actId="20577"/>
        <pc:sldMkLst>
          <pc:docMk/>
          <pc:sldMk cId="2685249161" sldId="2147483617"/>
        </pc:sldMkLst>
      </pc:sldChg>
      <pc:sldChg chg="modSp mod">
        <pc:chgData name="Jong-Min La" userId="730696ea-53a3-4e95-97a6-548a6563044c" providerId="ADAL" clId="{8337EB37-83B1-4DB1-A08D-8BF753DFFC65}" dt="2025-12-04T00:31:48.096" v="81" actId="20577"/>
        <pc:sldMkLst>
          <pc:docMk/>
          <pc:sldMk cId="3347255876" sldId="2147483618"/>
        </pc:sldMkLst>
      </pc:sldChg>
      <pc:sldChg chg="modSp mod">
        <pc:chgData name="Jong-Min La" userId="730696ea-53a3-4e95-97a6-548a6563044c" providerId="ADAL" clId="{8337EB37-83B1-4DB1-A08D-8BF753DFFC65}" dt="2025-12-03T06:51:57.423" v="66" actId="20577"/>
        <pc:sldMkLst>
          <pc:docMk/>
          <pc:sldMk cId="1470260329" sldId="2147483626"/>
        </pc:sldMkLst>
      </pc:sldChg>
    </pc:docChg>
  </pc:docChgLst>
  <pc:docChgLst>
    <pc:chgData name="Seyun Kim" userId="6e5fe149-fc7e-48c7-9f7f-ed1c1fb0e4be" providerId="ADAL" clId="{B7E80C21-0F38-4799-B068-EFE6C7DC82F1}"/>
    <pc:docChg chg="custSel addSld delSld modSld addSection modSection">
      <pc:chgData name="Seyun Kim" userId="6e5fe149-fc7e-48c7-9f7f-ed1c1fb0e4be" providerId="ADAL" clId="{B7E80C21-0F38-4799-B068-EFE6C7DC82F1}" dt="2025-11-28T06:14:01.843" v="18" actId="478"/>
      <pc:docMkLst>
        <pc:docMk/>
      </pc:docMkLst>
      <pc:sldChg chg="delSp add mod">
        <pc:chgData name="Seyun Kim" userId="6e5fe149-fc7e-48c7-9f7f-ed1c1fb0e4be" providerId="ADAL" clId="{B7E80C21-0F38-4799-B068-EFE6C7DC82F1}" dt="2025-11-28T06:12:44.137" v="10" actId="478"/>
        <pc:sldMkLst>
          <pc:docMk/>
          <pc:sldMk cId="3795428590" sldId="2147476704"/>
        </pc:sldMkLst>
      </pc:sldChg>
      <pc:sldChg chg="delSp add mod">
        <pc:chgData name="Seyun Kim" userId="6e5fe149-fc7e-48c7-9f7f-ed1c1fb0e4be" providerId="ADAL" clId="{B7E80C21-0F38-4799-B068-EFE6C7DC82F1}" dt="2025-11-28T06:14:01.843" v="18" actId="478"/>
        <pc:sldMkLst>
          <pc:docMk/>
          <pc:sldMk cId="1315945106" sldId="2147478224"/>
        </pc:sldMkLst>
      </pc:sldChg>
      <pc:sldChg chg="delSp modSp add mod">
        <pc:chgData name="Seyun Kim" userId="6e5fe149-fc7e-48c7-9f7f-ed1c1fb0e4be" providerId="ADAL" clId="{B7E80C21-0F38-4799-B068-EFE6C7DC82F1}" dt="2025-11-28T06:13:10.332" v="14" actId="478"/>
        <pc:sldMkLst>
          <pc:docMk/>
          <pc:sldMk cId="2811535692" sldId="2147483007"/>
        </pc:sldMkLst>
      </pc:sldChg>
      <pc:sldChg chg="addSp modSp new mod modClrScheme chgLayout">
        <pc:chgData name="Seyun Kim" userId="6e5fe149-fc7e-48c7-9f7f-ed1c1fb0e4be" providerId="ADAL" clId="{B7E80C21-0F38-4799-B068-EFE6C7DC82F1}" dt="2025-11-28T06:07:36.983" v="4" actId="22"/>
        <pc:sldMkLst>
          <pc:docMk/>
          <pc:sldMk cId="3283548379" sldId="2147483624"/>
        </pc:sldMkLst>
      </pc:sldChg>
      <pc:sldChg chg="addSp new mod">
        <pc:chgData name="Seyun Kim" userId="6e5fe149-fc7e-48c7-9f7f-ed1c1fb0e4be" providerId="ADAL" clId="{B7E80C21-0F38-4799-B068-EFE6C7DC82F1}" dt="2025-11-28T06:09:01.829" v="6" actId="22"/>
        <pc:sldMkLst>
          <pc:docMk/>
          <pc:sldMk cId="3570681623" sldId="2147483625"/>
        </pc:sldMkLst>
      </pc:sldChg>
      <pc:sldChg chg="new del">
        <pc:chgData name="Seyun Kim" userId="6e5fe149-fc7e-48c7-9f7f-ed1c1fb0e4be" providerId="ADAL" clId="{B7E80C21-0F38-4799-B068-EFE6C7DC82F1}" dt="2025-11-28T06:13:26.239" v="15" actId="47"/>
        <pc:sldMkLst>
          <pc:docMk/>
          <pc:sldMk cId="3387678619" sldId="2147483626"/>
        </pc:sldMkLst>
      </pc:sldChg>
    </pc:docChg>
  </pc:docChgLst>
  <pc:docChgLst>
    <pc:chgData name="Keunjae Ryoo" userId="beae7182-cdec-4bed-a50a-9507bc4907b6" providerId="ADAL" clId="{8ACB3DAC-2224-4211-BF23-AD9C66B75482}"/>
    <pc:docChg chg="undo custSel addSld delSld modSld sldOrd delMainMaster delSection modSection">
      <pc:chgData name="Keunjae Ryoo" userId="beae7182-cdec-4bed-a50a-9507bc4907b6" providerId="ADAL" clId="{8ACB3DAC-2224-4211-BF23-AD9C66B75482}" dt="2025-12-19T05:54:25.728" v="11674" actId="1076"/>
      <pc:docMkLst>
        <pc:docMk/>
      </pc:docMkLst>
      <pc:sldChg chg="addSp delSp modSp add mod">
        <pc:chgData name="Keunjae Ryoo" userId="beae7182-cdec-4bed-a50a-9507bc4907b6" providerId="ADAL" clId="{8ACB3DAC-2224-4211-BF23-AD9C66B75482}" dt="2025-12-18T06:36:28.943" v="11653" actId="1037"/>
        <pc:sldMkLst>
          <pc:docMk/>
          <pc:sldMk cId="2945043573" sldId="256"/>
        </pc:sldMkLst>
      </pc:sldChg>
      <pc:sldChg chg="addSp delSp modSp add del mod">
        <pc:chgData name="Keunjae Ryoo" userId="beae7182-cdec-4bed-a50a-9507bc4907b6" providerId="ADAL" clId="{8ACB3DAC-2224-4211-BF23-AD9C66B75482}" dt="2025-12-16T10:20:41.293" v="11003" actId="47"/>
        <pc:sldMkLst>
          <pc:docMk/>
          <pc:sldMk cId="2963783619" sldId="256"/>
        </pc:sldMkLst>
      </pc:sldChg>
      <pc:sldChg chg="modSp mod">
        <pc:chgData name="Keunjae Ryoo" userId="beae7182-cdec-4bed-a50a-9507bc4907b6" providerId="ADAL" clId="{8ACB3DAC-2224-4211-BF23-AD9C66B75482}" dt="2025-12-19T05:54:25.728" v="11674" actId="1076"/>
        <pc:sldMkLst>
          <pc:docMk/>
          <pc:sldMk cId="177347760" sldId="257"/>
        </pc:sldMkLst>
      </pc:sldChg>
      <pc:sldChg chg="modSp del mod">
        <pc:chgData name="Keunjae Ryoo" userId="beae7182-cdec-4bed-a50a-9507bc4907b6" providerId="ADAL" clId="{8ACB3DAC-2224-4211-BF23-AD9C66B75482}" dt="2025-12-16T01:38:40.668" v="8316" actId="47"/>
        <pc:sldMkLst>
          <pc:docMk/>
          <pc:sldMk cId="4242138939" sldId="257"/>
        </pc:sldMkLst>
      </pc:sldChg>
      <pc:sldChg chg="add del ord">
        <pc:chgData name="Keunjae Ryoo" userId="beae7182-cdec-4bed-a50a-9507bc4907b6" providerId="ADAL" clId="{8ACB3DAC-2224-4211-BF23-AD9C66B75482}" dt="2025-12-16T05:44:53.280" v="10168" actId="47"/>
        <pc:sldMkLst>
          <pc:docMk/>
          <pc:sldMk cId="4086860101" sldId="261"/>
        </pc:sldMkLst>
      </pc:sldChg>
      <pc:sldChg chg="delSp modSp add del mod ord">
        <pc:chgData name="Keunjae Ryoo" userId="beae7182-cdec-4bed-a50a-9507bc4907b6" providerId="ADAL" clId="{8ACB3DAC-2224-4211-BF23-AD9C66B75482}" dt="2025-12-18T06:30:50.301" v="11490"/>
        <pc:sldMkLst>
          <pc:docMk/>
          <pc:sldMk cId="501414150" sldId="262"/>
        </pc:sldMkLst>
      </pc:sldChg>
      <pc:sldChg chg="del">
        <pc:chgData name="Keunjae Ryoo" userId="beae7182-cdec-4bed-a50a-9507bc4907b6" providerId="ADAL" clId="{8ACB3DAC-2224-4211-BF23-AD9C66B75482}" dt="2025-11-27T01:39:36.400" v="75" actId="47"/>
        <pc:sldMkLst>
          <pc:docMk/>
          <pc:sldMk cId="3256731962" sldId="267"/>
        </pc:sldMkLst>
      </pc:sldChg>
      <pc:sldChg chg="del">
        <pc:chgData name="Keunjae Ryoo" userId="beae7182-cdec-4bed-a50a-9507bc4907b6" providerId="ADAL" clId="{8ACB3DAC-2224-4211-BF23-AD9C66B75482}" dt="2025-11-27T01:39:36.400" v="75" actId="47"/>
        <pc:sldMkLst>
          <pc:docMk/>
          <pc:sldMk cId="782537296" sldId="271"/>
        </pc:sldMkLst>
      </pc:sldChg>
      <pc:sldChg chg="modSp add del mod">
        <pc:chgData name="Keunjae Ryoo" userId="beae7182-cdec-4bed-a50a-9507bc4907b6" providerId="ADAL" clId="{8ACB3DAC-2224-4211-BF23-AD9C66B75482}" dt="2025-12-16T09:57:17.366" v="10365" actId="47"/>
        <pc:sldMkLst>
          <pc:docMk/>
          <pc:sldMk cId="3196885454" sldId="273"/>
        </pc:sldMkLst>
      </pc:sldChg>
      <pc:sldChg chg="del">
        <pc:chgData name="Keunjae Ryoo" userId="beae7182-cdec-4bed-a50a-9507bc4907b6" providerId="ADAL" clId="{8ACB3DAC-2224-4211-BF23-AD9C66B75482}" dt="2025-11-27T01:39:36.400" v="75" actId="47"/>
        <pc:sldMkLst>
          <pc:docMk/>
          <pc:sldMk cId="3098534444" sldId="276"/>
        </pc:sldMkLst>
      </pc:sldChg>
      <pc:sldChg chg="del">
        <pc:chgData name="Keunjae Ryoo" userId="beae7182-cdec-4bed-a50a-9507bc4907b6" providerId="ADAL" clId="{8ACB3DAC-2224-4211-BF23-AD9C66B75482}" dt="2025-11-27T01:39:36.400" v="75" actId="47"/>
        <pc:sldMkLst>
          <pc:docMk/>
          <pc:sldMk cId="491414777" sldId="277"/>
        </pc:sldMkLst>
      </pc:sldChg>
      <pc:sldChg chg="del">
        <pc:chgData name="Keunjae Ryoo" userId="beae7182-cdec-4bed-a50a-9507bc4907b6" providerId="ADAL" clId="{8ACB3DAC-2224-4211-BF23-AD9C66B75482}" dt="2025-11-27T01:30:12.370" v="74" actId="47"/>
        <pc:sldMkLst>
          <pc:docMk/>
          <pc:sldMk cId="3596678546" sldId="281"/>
        </pc:sldMkLst>
      </pc:sldChg>
      <pc:sldChg chg="add del">
        <pc:chgData name="Keunjae Ryoo" userId="beae7182-cdec-4bed-a50a-9507bc4907b6" providerId="ADAL" clId="{8ACB3DAC-2224-4211-BF23-AD9C66B75482}" dt="2025-12-08T08:23:07.386" v="6735"/>
        <pc:sldMkLst>
          <pc:docMk/>
          <pc:sldMk cId="1744195125" sldId="2815"/>
        </pc:sldMkLst>
      </pc:sldChg>
      <pc:sldChg chg="addSp delSp modSp del mod modClrScheme chgLayout">
        <pc:chgData name="Keunjae Ryoo" userId="beae7182-cdec-4bed-a50a-9507bc4907b6" providerId="ADAL" clId="{8ACB3DAC-2224-4211-BF23-AD9C66B75482}" dt="2025-12-01T01:50:08.765" v="1667" actId="47"/>
        <pc:sldMkLst>
          <pc:docMk/>
          <pc:sldMk cId="3795428590" sldId="2147476704"/>
        </pc:sldMkLst>
      </pc:sldChg>
      <pc:sldChg chg="addSp delSp modSp del mod modClrScheme chgLayout">
        <pc:chgData name="Keunjae Ryoo" userId="beae7182-cdec-4bed-a50a-9507bc4907b6" providerId="ADAL" clId="{8ACB3DAC-2224-4211-BF23-AD9C66B75482}" dt="2025-12-01T01:50:10.108" v="1669" actId="47"/>
        <pc:sldMkLst>
          <pc:docMk/>
          <pc:sldMk cId="1315945106" sldId="2147478224"/>
        </pc:sldMkLst>
      </pc:sldChg>
      <pc:sldChg chg="addSp delSp modSp del mod modClrScheme chgLayout">
        <pc:chgData name="Keunjae Ryoo" userId="beae7182-cdec-4bed-a50a-9507bc4907b6" providerId="ADAL" clId="{8ACB3DAC-2224-4211-BF23-AD9C66B75482}" dt="2025-12-01T01:50:09.460" v="1668" actId="47"/>
        <pc:sldMkLst>
          <pc:docMk/>
          <pc:sldMk cId="2811535692" sldId="2147483007"/>
        </pc:sldMkLst>
      </pc:sldChg>
      <pc:sldChg chg="del">
        <pc:chgData name="Keunjae Ryoo" userId="beae7182-cdec-4bed-a50a-9507bc4907b6" providerId="ADAL" clId="{8ACB3DAC-2224-4211-BF23-AD9C66B75482}" dt="2025-11-27T01:29:05.841" v="30" actId="47"/>
        <pc:sldMkLst>
          <pc:docMk/>
          <pc:sldMk cId="3349431256" sldId="2147483592"/>
        </pc:sldMkLst>
      </pc:sldChg>
      <pc:sldChg chg="addSp delSp modSp mod">
        <pc:chgData name="Keunjae Ryoo" userId="beae7182-cdec-4bed-a50a-9507bc4907b6" providerId="ADAL" clId="{8ACB3DAC-2224-4211-BF23-AD9C66B75482}" dt="2025-12-18T06:58:55.450" v="11670" actId="20577"/>
        <pc:sldMkLst>
          <pc:docMk/>
          <pc:sldMk cId="1084257803" sldId="2147483593"/>
        </pc:sldMkLst>
      </pc:sldChg>
      <pc:sldChg chg="del">
        <pc:chgData name="Keunjae Ryoo" userId="beae7182-cdec-4bed-a50a-9507bc4907b6" providerId="ADAL" clId="{8ACB3DAC-2224-4211-BF23-AD9C66B75482}" dt="2025-11-27T01:29:03.851" v="29" actId="47"/>
        <pc:sldMkLst>
          <pc:docMk/>
          <pc:sldMk cId="144701911" sldId="2147483594"/>
        </pc:sldMkLst>
      </pc:sldChg>
      <pc:sldChg chg="addSp modSp new del mod modClrScheme chgLayout">
        <pc:chgData name="Keunjae Ryoo" userId="beae7182-cdec-4bed-a50a-9507bc4907b6" providerId="ADAL" clId="{8ACB3DAC-2224-4211-BF23-AD9C66B75482}" dt="2025-11-28T05:49:59.559" v="970" actId="47"/>
        <pc:sldMkLst>
          <pc:docMk/>
          <pc:sldMk cId="3627846388" sldId="2147483594"/>
        </pc:sldMkLst>
      </pc:sldChg>
      <pc:sldChg chg="addSp delSp modSp new del mod modClrScheme chgLayout">
        <pc:chgData name="Keunjae Ryoo" userId="beae7182-cdec-4bed-a50a-9507bc4907b6" providerId="ADAL" clId="{8ACB3DAC-2224-4211-BF23-AD9C66B75482}" dt="2025-12-16T01:47:57.922" v="8361" actId="47"/>
        <pc:sldMkLst>
          <pc:docMk/>
          <pc:sldMk cId="876723518" sldId="2147483595"/>
        </pc:sldMkLst>
      </pc:sldChg>
      <pc:sldChg chg="add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106906604" sldId="2147483596"/>
        </pc:sldMkLst>
      </pc:sldChg>
      <pc:sldChg chg="addSp delSp modSp new del mod ord modClrScheme chgLayout">
        <pc:chgData name="Keunjae Ryoo" userId="beae7182-cdec-4bed-a50a-9507bc4907b6" providerId="ADAL" clId="{8ACB3DAC-2224-4211-BF23-AD9C66B75482}" dt="2025-12-16T01:48:05.577" v="8362" actId="47"/>
        <pc:sldMkLst>
          <pc:docMk/>
          <pc:sldMk cId="4012925936" sldId="2147483597"/>
        </pc:sldMkLst>
      </pc:sldChg>
      <pc:sldChg chg="addSp delSp modSp new del mod ord">
        <pc:chgData name="Keunjae Ryoo" userId="beae7182-cdec-4bed-a50a-9507bc4907b6" providerId="ADAL" clId="{8ACB3DAC-2224-4211-BF23-AD9C66B75482}" dt="2025-12-16T01:48:05.577" v="8362" actId="47"/>
        <pc:sldMkLst>
          <pc:docMk/>
          <pc:sldMk cId="2912412152" sldId="2147483598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3187606681" sldId="2147483599"/>
        </pc:sldMkLst>
      </pc:sldChg>
      <pc:sldChg chg="add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2126294062" sldId="2147483600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3246622396" sldId="2147483601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2850728670" sldId="2147483602"/>
        </pc:sldMkLst>
      </pc:sldChg>
      <pc:sldChg chg="add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3921173956" sldId="2147483603"/>
        </pc:sldMkLst>
      </pc:sldChg>
      <pc:sldChg chg="add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3164491009" sldId="2147483604"/>
        </pc:sldMkLst>
      </pc:sldChg>
      <pc:sldChg chg="add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1577895283" sldId="2147483605"/>
        </pc:sldMkLst>
      </pc:sldChg>
      <pc:sldChg chg="addSp delSp modSp new del mod modClrScheme chgLayout">
        <pc:chgData name="Keunjae Ryoo" userId="beae7182-cdec-4bed-a50a-9507bc4907b6" providerId="ADAL" clId="{8ACB3DAC-2224-4211-BF23-AD9C66B75482}" dt="2025-12-16T01:48:05.577" v="8362" actId="47"/>
        <pc:sldMkLst>
          <pc:docMk/>
          <pc:sldMk cId="2832700374" sldId="2147483606"/>
        </pc:sldMkLst>
      </pc:sldChg>
      <pc:sldChg chg="addSp delSp modSp new del mod modClrScheme chgLayout">
        <pc:chgData name="Keunjae Ryoo" userId="beae7182-cdec-4bed-a50a-9507bc4907b6" providerId="ADAL" clId="{8ACB3DAC-2224-4211-BF23-AD9C66B75482}" dt="2025-12-16T01:48:05.577" v="8362" actId="47"/>
        <pc:sldMkLst>
          <pc:docMk/>
          <pc:sldMk cId="1491113015" sldId="2147483607"/>
        </pc:sldMkLst>
      </pc:sldChg>
      <pc:sldChg chg="addSp delSp modSp new del mod modClrScheme chgLayout">
        <pc:chgData name="Keunjae Ryoo" userId="beae7182-cdec-4bed-a50a-9507bc4907b6" providerId="ADAL" clId="{8ACB3DAC-2224-4211-BF23-AD9C66B75482}" dt="2025-12-16T01:58:11.214" v="8535" actId="47"/>
        <pc:sldMkLst>
          <pc:docMk/>
          <pc:sldMk cId="938831128" sldId="2147483608"/>
        </pc:sldMkLst>
      </pc:sldChg>
      <pc:sldChg chg="new del">
        <pc:chgData name="Keunjae Ryoo" userId="beae7182-cdec-4bed-a50a-9507bc4907b6" providerId="ADAL" clId="{8ACB3DAC-2224-4211-BF23-AD9C66B75482}" dt="2025-11-27T02:04:59.957" v="203" actId="47"/>
        <pc:sldMkLst>
          <pc:docMk/>
          <pc:sldMk cId="263055616" sldId="2147483609"/>
        </pc:sldMkLst>
      </pc:sldChg>
      <pc:sldChg chg="new del">
        <pc:chgData name="Keunjae Ryoo" userId="beae7182-cdec-4bed-a50a-9507bc4907b6" providerId="ADAL" clId="{8ACB3DAC-2224-4211-BF23-AD9C66B75482}" dt="2025-11-27T02:05:03.899" v="204" actId="47"/>
        <pc:sldMkLst>
          <pc:docMk/>
          <pc:sldMk cId="107709400" sldId="2147483610"/>
        </pc:sldMkLst>
      </pc:sldChg>
      <pc:sldChg chg="addSp delSp modSp new del">
        <pc:chgData name="Keunjae Ryoo" userId="beae7182-cdec-4bed-a50a-9507bc4907b6" providerId="ADAL" clId="{8ACB3DAC-2224-4211-BF23-AD9C66B75482}" dt="2025-12-16T01:48:05.577" v="8362" actId="47"/>
        <pc:sldMkLst>
          <pc:docMk/>
          <pc:sldMk cId="2403893735" sldId="2147483611"/>
        </pc:sldMkLst>
      </pc:sldChg>
      <pc:sldChg chg="addSp modSp new del">
        <pc:chgData name="Keunjae Ryoo" userId="beae7182-cdec-4bed-a50a-9507bc4907b6" providerId="ADAL" clId="{8ACB3DAC-2224-4211-BF23-AD9C66B75482}" dt="2025-12-16T01:48:05.577" v="8362" actId="47"/>
        <pc:sldMkLst>
          <pc:docMk/>
          <pc:sldMk cId="2085708667" sldId="2147483612"/>
        </pc:sldMkLst>
      </pc:sldChg>
      <pc:sldChg chg="addSp modSp new del">
        <pc:chgData name="Keunjae Ryoo" userId="beae7182-cdec-4bed-a50a-9507bc4907b6" providerId="ADAL" clId="{8ACB3DAC-2224-4211-BF23-AD9C66B75482}" dt="2025-12-16T01:48:05.577" v="8362" actId="47"/>
        <pc:sldMkLst>
          <pc:docMk/>
          <pc:sldMk cId="3411178896" sldId="2147483613"/>
        </pc:sldMkLst>
      </pc:sldChg>
      <pc:sldChg chg="addSp modSp new del">
        <pc:chgData name="Keunjae Ryoo" userId="beae7182-cdec-4bed-a50a-9507bc4907b6" providerId="ADAL" clId="{8ACB3DAC-2224-4211-BF23-AD9C66B75482}" dt="2025-12-16T01:48:05.577" v="8362" actId="47"/>
        <pc:sldMkLst>
          <pc:docMk/>
          <pc:sldMk cId="2615818366" sldId="2147483614"/>
        </pc:sldMkLst>
      </pc:sldChg>
      <pc:sldChg chg="addSp modSp new del">
        <pc:chgData name="Keunjae Ryoo" userId="beae7182-cdec-4bed-a50a-9507bc4907b6" providerId="ADAL" clId="{8ACB3DAC-2224-4211-BF23-AD9C66B75482}" dt="2025-12-16T01:48:05.577" v="8362" actId="47"/>
        <pc:sldMkLst>
          <pc:docMk/>
          <pc:sldMk cId="323342068" sldId="2147483615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1797465427" sldId="2147483616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2685249161" sldId="2147483617"/>
        </pc:sldMkLst>
      </pc:sldChg>
      <pc:sldChg chg="addSp delSp modSp new del mod">
        <pc:chgData name="Keunjae Ryoo" userId="beae7182-cdec-4bed-a50a-9507bc4907b6" providerId="ADAL" clId="{8ACB3DAC-2224-4211-BF23-AD9C66B75482}" dt="2025-12-16T01:48:05.577" v="8362" actId="47"/>
        <pc:sldMkLst>
          <pc:docMk/>
          <pc:sldMk cId="3347255876" sldId="2147483618"/>
        </pc:sldMkLst>
      </pc:sldChg>
      <pc:sldChg chg="new del">
        <pc:chgData name="Keunjae Ryoo" userId="beae7182-cdec-4bed-a50a-9507bc4907b6" providerId="ADAL" clId="{8ACB3DAC-2224-4211-BF23-AD9C66B75482}" dt="2025-11-27T02:24:34.046" v="251" actId="47"/>
        <pc:sldMkLst>
          <pc:docMk/>
          <pc:sldMk cId="1860180390" sldId="2147483619"/>
        </pc:sldMkLst>
      </pc:sldChg>
      <pc:sldChg chg="new del">
        <pc:chgData name="Keunjae Ryoo" userId="beae7182-cdec-4bed-a50a-9507bc4907b6" providerId="ADAL" clId="{8ACB3DAC-2224-4211-BF23-AD9C66B75482}" dt="2025-11-27T02:24:34.046" v="251" actId="47"/>
        <pc:sldMkLst>
          <pc:docMk/>
          <pc:sldMk cId="322821247" sldId="2147483620"/>
        </pc:sldMkLst>
      </pc:sldChg>
      <pc:sldChg chg="new del">
        <pc:chgData name="Keunjae Ryoo" userId="beae7182-cdec-4bed-a50a-9507bc4907b6" providerId="ADAL" clId="{8ACB3DAC-2224-4211-BF23-AD9C66B75482}" dt="2025-11-27T02:24:34.046" v="251" actId="47"/>
        <pc:sldMkLst>
          <pc:docMk/>
          <pc:sldMk cId="1758607577" sldId="2147483621"/>
        </pc:sldMkLst>
      </pc:sldChg>
      <pc:sldChg chg="addSp modSp new del ord">
        <pc:chgData name="Keunjae Ryoo" userId="beae7182-cdec-4bed-a50a-9507bc4907b6" providerId="ADAL" clId="{8ACB3DAC-2224-4211-BF23-AD9C66B75482}" dt="2025-12-16T01:48:05.577" v="8362" actId="47"/>
        <pc:sldMkLst>
          <pc:docMk/>
          <pc:sldMk cId="1317871187" sldId="2147483622"/>
        </pc:sldMkLst>
      </pc:sldChg>
      <pc:sldChg chg="addSp delSp modSp add del mod">
        <pc:chgData name="Keunjae Ryoo" userId="beae7182-cdec-4bed-a50a-9507bc4907b6" providerId="ADAL" clId="{8ACB3DAC-2224-4211-BF23-AD9C66B75482}" dt="2025-12-16T05:43:57.252" v="10105" actId="47"/>
        <pc:sldMkLst>
          <pc:docMk/>
          <pc:sldMk cId="4059472887" sldId="2147483623"/>
        </pc:sldMkLst>
      </pc:sldChg>
      <pc:sldChg chg="del">
        <pc:chgData name="Keunjae Ryoo" userId="beae7182-cdec-4bed-a50a-9507bc4907b6" providerId="ADAL" clId="{8ACB3DAC-2224-4211-BF23-AD9C66B75482}" dt="2025-12-01T01:50:06.724" v="1665" actId="47"/>
        <pc:sldMkLst>
          <pc:docMk/>
          <pc:sldMk cId="3283548379" sldId="2147483624"/>
        </pc:sldMkLst>
      </pc:sldChg>
      <pc:sldChg chg="del">
        <pc:chgData name="Keunjae Ryoo" userId="beae7182-cdec-4bed-a50a-9507bc4907b6" providerId="ADAL" clId="{8ACB3DAC-2224-4211-BF23-AD9C66B75482}" dt="2025-12-01T01:50:07.640" v="1666" actId="47"/>
        <pc:sldMkLst>
          <pc:docMk/>
          <pc:sldMk cId="3570681623" sldId="2147483625"/>
        </pc:sldMkLst>
      </pc:sldChg>
      <pc:sldChg chg="addSp delSp modSp add del mod ord modClrScheme chgLayout">
        <pc:chgData name="Keunjae Ryoo" userId="beae7182-cdec-4bed-a50a-9507bc4907b6" providerId="ADAL" clId="{8ACB3DAC-2224-4211-BF23-AD9C66B75482}" dt="2025-12-16T01:38:47.300" v="8319" actId="47"/>
        <pc:sldMkLst>
          <pc:docMk/>
          <pc:sldMk cId="1470260329" sldId="2147483626"/>
        </pc:sldMkLst>
      </pc:sldChg>
      <pc:sldChg chg="addSp delSp modSp new add del mod modClrScheme chgLayout">
        <pc:chgData name="Keunjae Ryoo" userId="beae7182-cdec-4bed-a50a-9507bc4907b6" providerId="ADAL" clId="{8ACB3DAC-2224-4211-BF23-AD9C66B75482}" dt="2025-12-18T05:41:56.720" v="11240" actId="6549"/>
        <pc:sldMkLst>
          <pc:docMk/>
          <pc:sldMk cId="1008016593" sldId="2147483627"/>
        </pc:sldMkLst>
      </pc:sldChg>
      <pc:sldChg chg="addSp delSp modSp new add del mod modClrScheme modAnim chgLayout">
        <pc:chgData name="Keunjae Ryoo" userId="beae7182-cdec-4bed-a50a-9507bc4907b6" providerId="ADAL" clId="{8ACB3DAC-2224-4211-BF23-AD9C66B75482}" dt="2025-12-08T08:43:54.453" v="7622" actId="47"/>
        <pc:sldMkLst>
          <pc:docMk/>
          <pc:sldMk cId="1299862439" sldId="2147483628"/>
        </pc:sldMkLst>
      </pc:sldChg>
      <pc:sldChg chg="addSp delSp modSp add mod">
        <pc:chgData name="Keunjae Ryoo" userId="beae7182-cdec-4bed-a50a-9507bc4907b6" providerId="ADAL" clId="{8ACB3DAC-2224-4211-BF23-AD9C66B75482}" dt="2025-12-18T06:43:55.069" v="11661" actId="20577"/>
        <pc:sldMkLst>
          <pc:docMk/>
          <pc:sldMk cId="2632504054" sldId="2147483628"/>
        </pc:sldMkLst>
      </pc:sldChg>
      <pc:sldChg chg="add del">
        <pc:chgData name="Keunjae Ryoo" userId="beae7182-cdec-4bed-a50a-9507bc4907b6" providerId="ADAL" clId="{8ACB3DAC-2224-4211-BF23-AD9C66B75482}" dt="2025-12-08T08:25:18.239" v="6757"/>
        <pc:sldMkLst>
          <pc:docMk/>
          <pc:sldMk cId="677314659" sldId="2147483629"/>
        </pc:sldMkLst>
      </pc:sldChg>
      <pc:sldChg chg="add del">
        <pc:chgData name="Keunjae Ryoo" userId="beae7182-cdec-4bed-a50a-9507bc4907b6" providerId="ADAL" clId="{8ACB3DAC-2224-4211-BF23-AD9C66B75482}" dt="2025-12-08T08:25:14.361" v="6755"/>
        <pc:sldMkLst>
          <pc:docMk/>
          <pc:sldMk cId="1788393821" sldId="2147483629"/>
        </pc:sldMkLst>
      </pc:sldChg>
      <pc:sldChg chg="addSp delSp modSp add del mod">
        <pc:chgData name="Keunjae Ryoo" userId="beae7182-cdec-4bed-a50a-9507bc4907b6" providerId="ADAL" clId="{8ACB3DAC-2224-4211-BF23-AD9C66B75482}" dt="2025-12-18T05:37:41.570" v="11167" actId="1076"/>
        <pc:sldMkLst>
          <pc:docMk/>
          <pc:sldMk cId="2529634776" sldId="2147483647"/>
        </pc:sldMkLst>
      </pc:sldChg>
      <pc:sldMasterChg chg="del">
        <pc:chgData name="Keunjae Ryoo" userId="beae7182-cdec-4bed-a50a-9507bc4907b6" providerId="ADAL" clId="{8ACB3DAC-2224-4211-BF23-AD9C66B75482}" dt="2025-12-01T00:25:48.993" v="1083" actId="2696"/>
        <pc:sldMasterMkLst>
          <pc:docMk/>
          <pc:sldMasterMk cId="415156083" sldId="2147483714"/>
        </pc:sldMasterMkLst>
      </pc:sldMasterChg>
      <pc:sldMasterChg chg="del">
        <pc:chgData name="Keunjae Ryoo" userId="beae7182-cdec-4bed-a50a-9507bc4907b6" providerId="ADAL" clId="{8ACB3DAC-2224-4211-BF23-AD9C66B75482}" dt="2025-12-01T00:25:51.887" v="1084" actId="2696"/>
        <pc:sldMasterMkLst>
          <pc:docMk/>
          <pc:sldMasterMk cId="3827810503" sldId="2147483718"/>
        </pc:sldMasterMkLst>
      </pc:sldMasterChg>
    </pc:docChg>
  </pc:docChgLst>
  <pc:docChgLst>
    <pc:chgData name="Jong-Min La" userId="730696ea-53a3-4e95-97a6-548a6563044c" providerId="ADAL" clId="{F94043DC-C288-4D6C-940B-59289CE235DE}"/>
    <pc:docChg chg="undo custSel modSld">
      <pc:chgData name="Jong-Min La" userId="730696ea-53a3-4e95-97a6-548a6563044c" providerId="ADAL" clId="{F94043DC-C288-4D6C-940B-59289CE235DE}" dt="2025-12-01T07:38:31.580" v="942" actId="20577"/>
      <pc:docMkLst>
        <pc:docMk/>
      </pc:docMkLst>
      <pc:sldChg chg="modSp mod">
        <pc:chgData name="Jong-Min La" userId="730696ea-53a3-4e95-97a6-548a6563044c" providerId="ADAL" clId="{F94043DC-C288-4D6C-940B-59289CE235DE}" dt="2025-12-01T06:10:49.108" v="1"/>
        <pc:sldMkLst>
          <pc:docMk/>
          <pc:sldMk cId="3347255876" sldId="2147483618"/>
        </pc:sldMkLst>
      </pc:sldChg>
      <pc:sldChg chg="addSp modSp mod">
        <pc:chgData name="Jong-Min La" userId="730696ea-53a3-4e95-97a6-548a6563044c" providerId="ADAL" clId="{F94043DC-C288-4D6C-940B-59289CE235DE}" dt="2025-12-01T07:38:31.580" v="942" actId="20577"/>
        <pc:sldMkLst>
          <pc:docMk/>
          <pc:sldMk cId="1470260329" sldId="214748362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3DC9-BFEB-31E9-D17C-CC1CE5A4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6461D8-E0CE-1262-5B23-DA0287F18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9A03B9-B119-B0B5-D0A5-F079C442C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550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6012-EB81-33CC-983B-16A022A0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68EF79-9D2F-4460-E5F3-61B2279CF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686091-0D0F-A993-801A-46C95CAA0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6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16903C-E722-417E-B46E-C345BECD148F}"/>
              </a:ext>
            </a:extLst>
          </p:cNvPr>
          <p:cNvSpPr txBox="1"/>
          <p:nvPr/>
        </p:nvSpPr>
        <p:spPr>
          <a:xfrm>
            <a:off x="982192" y="2360161"/>
            <a:ext cx="35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거버넌스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61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Version </a:t>
            </a:r>
            <a:r>
              <a:rPr lang="en-US" altLang="ko-KR" sz="1600" spc="-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1.0</a:t>
            </a:r>
            <a:endParaRPr kumimoji="0" lang="en-US" altLang="ko-KR" sz="16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2025-12-18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241-3DB2-4398-B83A-2C2555D5AAA5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추가</a:t>
            </a:r>
            <a:r>
              <a:rPr lang="en-US" altLang="ko-KR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변경 요구사항 정의</a:t>
            </a:r>
          </a:p>
        </p:txBody>
      </p:sp>
    </p:spTree>
    <p:extLst>
      <p:ext uri="{BB962C8B-B14F-4D97-AF65-F5344CB8AC3E}">
        <p14:creationId xmlns:p14="http://schemas.microsoft.com/office/powerpoint/2010/main" val="108425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CE3A-991C-8033-8400-ED5BFF57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99A607-3CCD-8C26-D49C-50F462E1F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67443"/>
              </p:ext>
            </p:extLst>
          </p:nvPr>
        </p:nvGraphicFramePr>
        <p:xfrm>
          <a:off x="334963" y="1580451"/>
          <a:ext cx="7402528" cy="49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658">
                  <a:extLst>
                    <a:ext uri="{9D8B030D-6E8A-4147-A177-3AD203B41FA5}">
                      <a16:colId xmlns:a16="http://schemas.microsoft.com/office/drawing/2014/main" val="2366509227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918158083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975619612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1824964541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1120364045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2076228313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139136858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342355119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546014477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199499476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518048641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603858138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2000079781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1594943328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3132381172"/>
                    </a:ext>
                  </a:extLst>
                </a:gridCol>
                <a:gridCol w="462658">
                  <a:extLst>
                    <a:ext uri="{9D8B030D-6E8A-4147-A177-3AD203B41FA5}">
                      <a16:colId xmlns:a16="http://schemas.microsoft.com/office/drawing/2014/main" val="41633311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W7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W8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W9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W10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670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~11/14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~11/21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~11/28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~12/05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~12/12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~12/19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~12/26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~01/02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~01/09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~01/16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~01/23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~01/30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~02/06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~02/13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~02/20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~02/27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892424"/>
                  </a:ext>
                </a:extLst>
              </a:tr>
              <a:tr h="4464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09780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06A230-86D2-20C5-1A24-E7BF02CF4D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57BAD-8934-6A54-4D24-BDCA86CE0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本 프로젝트는 금융권 </a:t>
            </a:r>
            <a:r>
              <a:rPr lang="en-US" altLang="ko-KR"/>
              <a:t>AI </a:t>
            </a:r>
            <a:r>
              <a:rPr lang="ko-KR" altLang="en-US"/>
              <a:t>확정 요건 충족을 위한 </a:t>
            </a:r>
            <a:r>
              <a:rPr lang="en-US" altLang="ko-KR"/>
              <a:t>AI</a:t>
            </a:r>
            <a:r>
              <a:rPr lang="ko-KR" altLang="en-US"/>
              <a:t>거버넌스 수립 중이며</a:t>
            </a:r>
            <a:r>
              <a:rPr lang="en-US" altLang="ko-KR"/>
              <a:t>, </a:t>
            </a:r>
            <a:r>
              <a:rPr lang="ko-KR" altLang="en-US"/>
              <a:t>당사 요청에 의해 </a:t>
            </a:r>
            <a:r>
              <a:rPr lang="en-US" altLang="ko-KR"/>
              <a:t>Task</a:t>
            </a:r>
            <a:r>
              <a:rPr lang="ko-KR" altLang="en-US"/>
              <a:t>와 일정을 일부 변경하여 수행하고 있음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378BA3-67E6-5CD8-006F-B3FC14C302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수립 계획 변경</a:t>
            </a:r>
            <a:r>
              <a:rPr lang="en-US" altLang="ko-KR"/>
              <a:t>(</a:t>
            </a:r>
            <a:r>
              <a:rPr lang="ko-KR" altLang="en-US"/>
              <a:t>案</a:t>
            </a:r>
            <a:r>
              <a:rPr lang="en-US" altLang="ko-KR"/>
              <a:t>) </a:t>
            </a:r>
            <a:r>
              <a:rPr lang="ko-KR" altLang="en-US"/>
              <a:t>및 진행 경과</a:t>
            </a:r>
            <a:endParaRPr lang="en-US" altLang="ko-KR"/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23913412-9686-E2C2-8307-D0425F75E089}"/>
              </a:ext>
            </a:extLst>
          </p:cNvPr>
          <p:cNvSpPr/>
          <p:nvPr/>
        </p:nvSpPr>
        <p:spPr>
          <a:xfrm>
            <a:off x="334963" y="1233648"/>
            <a:ext cx="7488000" cy="288000"/>
          </a:xfrm>
          <a:prstGeom prst="homePlate">
            <a:avLst>
              <a:gd name="adj" fmla="val 24901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本 프로젝트 內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진행 계획</a:t>
            </a:r>
            <a:endParaRPr lang="ko-KR" altLang="en-US" sz="1400" b="1" baseline="3000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DDD033AD-D05F-23D4-BD76-2EF12E2234A0}"/>
              </a:ext>
            </a:extLst>
          </p:cNvPr>
          <p:cNvSpPr/>
          <p:nvPr/>
        </p:nvSpPr>
        <p:spPr>
          <a:xfrm>
            <a:off x="7931963" y="1251111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거버넌스 요건검토 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7809BB8-0F93-ADE4-5473-A91727533C87}"/>
              </a:ext>
            </a:extLst>
          </p:cNvPr>
          <p:cNvSpPr/>
          <p:nvPr/>
        </p:nvSpPr>
        <p:spPr>
          <a:xfrm>
            <a:off x="8001509" y="180016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To-Be 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참조모델 정의서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07BC6B54-C1F5-2B8C-0107-3CD9D90AABC1}"/>
              </a:ext>
            </a:extLst>
          </p:cNvPr>
          <p:cNvSpPr/>
          <p:nvPr/>
        </p:nvSpPr>
        <p:spPr>
          <a:xfrm>
            <a:off x="8052687" y="183616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FB289D-9CB4-EB90-859D-D37DD627B71E}"/>
              </a:ext>
            </a:extLst>
          </p:cNvPr>
          <p:cNvSpPr txBox="1"/>
          <p:nvPr/>
        </p:nvSpPr>
        <p:spPr>
          <a:xfrm>
            <a:off x="8001509" y="1526509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국내 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AI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법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시행령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, AI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거버넌스 유관 규제 및 현황 분석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E1F069B6-A1B2-1746-FA65-52DC5F2D7462}"/>
              </a:ext>
            </a:extLst>
          </p:cNvPr>
          <p:cNvSpPr/>
          <p:nvPr/>
        </p:nvSpPr>
        <p:spPr>
          <a:xfrm>
            <a:off x="7931963" y="1251111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A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F1A089E-6FDD-15C2-C459-84B5092AA63F}"/>
              </a:ext>
            </a:extLst>
          </p:cNvPr>
          <p:cNvSpPr/>
          <p:nvPr/>
        </p:nvSpPr>
        <p:spPr>
          <a:xfrm>
            <a:off x="7931963" y="2331308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To-Be 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참조 모델 작성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EC5F30F4-4EFD-CC31-0E30-6F7388AB0443}"/>
              </a:ext>
            </a:extLst>
          </p:cNvPr>
          <p:cNvSpPr/>
          <p:nvPr/>
        </p:nvSpPr>
        <p:spPr>
          <a:xfrm>
            <a:off x="8001509" y="2880364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To-Be 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참조모델 정의서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BE94387-1B35-6A53-968D-E394ADA2DA7C}"/>
              </a:ext>
            </a:extLst>
          </p:cNvPr>
          <p:cNvSpPr/>
          <p:nvPr/>
        </p:nvSpPr>
        <p:spPr>
          <a:xfrm>
            <a:off x="8052687" y="2916364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BD1C2B-5C56-00CE-F3BC-FC6964F80F84}"/>
              </a:ext>
            </a:extLst>
          </p:cNvPr>
          <p:cNvSpPr txBox="1"/>
          <p:nvPr/>
        </p:nvSpPr>
        <p:spPr>
          <a:xfrm>
            <a:off x="8001509" y="2606706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AI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거버넌스 참조모델 제시</a:t>
            </a: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C74A57B4-AAB3-3343-982D-F628C6BF24CC}"/>
              </a:ext>
            </a:extLst>
          </p:cNvPr>
          <p:cNvSpPr/>
          <p:nvPr/>
        </p:nvSpPr>
        <p:spPr>
          <a:xfrm>
            <a:off x="7931963" y="2331308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B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81D31D5-27F3-347F-F516-E886A91E016B}"/>
              </a:ext>
            </a:extLst>
          </p:cNvPr>
          <p:cNvSpPr/>
          <p:nvPr/>
        </p:nvSpPr>
        <p:spPr>
          <a:xfrm>
            <a:off x="7931963" y="3411505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거버넌스  규정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운영지침 및 개발운영지침 수립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58EB62C4-F0A1-E66E-90BB-D8E075A88FAD}"/>
              </a:ext>
            </a:extLst>
          </p:cNvPr>
          <p:cNvSpPr/>
          <p:nvPr/>
        </p:nvSpPr>
        <p:spPr>
          <a:xfrm>
            <a:off x="8001509" y="3960560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000" b="1" spc="-150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거버넌스규정서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AI</a:t>
            </a:r>
            <a:r>
              <a:rPr lang="ko-KR" altLang="en-US" sz="1000" b="1" spc="-150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거버넌스운영지침서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AI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개발운영지침서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D2D43AA5-9AA5-5E64-AC65-C79E3494B50E}"/>
              </a:ext>
            </a:extLst>
          </p:cNvPr>
          <p:cNvSpPr/>
          <p:nvPr/>
        </p:nvSpPr>
        <p:spPr>
          <a:xfrm>
            <a:off x="8052687" y="3996560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02F005E-FD7E-CDF4-D6A9-8938542D6889}"/>
              </a:ext>
            </a:extLst>
          </p:cNvPr>
          <p:cNvSpPr txBox="1"/>
          <p:nvPr/>
        </p:nvSpPr>
        <p:spPr>
          <a:xfrm>
            <a:off x="8001509" y="3686903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AI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거버넌스 규정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운영지침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개발운영지침 설계</a:t>
            </a:r>
            <a:endParaRPr lang="en-US" altLang="ko-KR" sz="900">
              <a:ln>
                <a:solidFill>
                  <a:srgbClr val="F58220">
                    <a:alpha val="0"/>
                  </a:srgbClr>
                </a:solidFill>
              </a:ln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9BFED853-C05A-0460-844E-EC6915AF73E6}"/>
              </a:ext>
            </a:extLst>
          </p:cNvPr>
          <p:cNvSpPr/>
          <p:nvPr/>
        </p:nvSpPr>
        <p:spPr>
          <a:xfrm>
            <a:off x="7931963" y="3411505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C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45A5E223-877F-CDC6-CD1B-E74ACE7BF576}"/>
              </a:ext>
            </a:extLst>
          </p:cNvPr>
          <p:cNvSpPr/>
          <p:nvPr/>
        </p:nvSpPr>
        <p:spPr>
          <a:xfrm>
            <a:off x="7931963" y="4491702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생성형 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특화 보안 대책 수립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DD04CDA-6C99-9E78-DBCC-D033A2295621}"/>
              </a:ext>
            </a:extLst>
          </p:cNvPr>
          <p:cNvSpPr/>
          <p:nvPr/>
        </p:nvSpPr>
        <p:spPr>
          <a:xfrm>
            <a:off x="8001509" y="504075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생성형 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보안대책서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3184A4BB-8A99-7A85-C801-19606581F242}"/>
              </a:ext>
            </a:extLst>
          </p:cNvPr>
          <p:cNvSpPr/>
          <p:nvPr/>
        </p:nvSpPr>
        <p:spPr>
          <a:xfrm>
            <a:off x="8052687" y="507675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DE5F78-83AF-0C2A-0597-CA7FC3A012F0}"/>
              </a:ext>
            </a:extLst>
          </p:cNvPr>
          <p:cNvSpPr txBox="1"/>
          <p:nvPr/>
        </p:nvSpPr>
        <p:spPr>
          <a:xfrm>
            <a:off x="8001509" y="4767100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생성형 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AI 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특화 운영관리 보안대책 요건 정의 및 수립</a:t>
            </a: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066AF764-E3AB-54AF-2279-9EB6E1E5B128}"/>
              </a:ext>
            </a:extLst>
          </p:cNvPr>
          <p:cNvSpPr/>
          <p:nvPr/>
        </p:nvSpPr>
        <p:spPr>
          <a:xfrm>
            <a:off x="7931963" y="4491702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D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FEA86EA-0313-DD66-4154-84B4A82F51BB}"/>
              </a:ext>
            </a:extLst>
          </p:cNvPr>
          <p:cNvSpPr txBox="1"/>
          <p:nvPr/>
        </p:nvSpPr>
        <p:spPr>
          <a:xfrm>
            <a:off x="6727735" y="2081356"/>
            <a:ext cx="956321" cy="252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lIns="0" rtlCol="0" anchor="ctr">
            <a:noAutofit/>
          </a:bodyPr>
          <a:lstStyle/>
          <a:p>
            <a:pPr algn="r"/>
            <a:r>
              <a:rPr lang="en-US" altLang="ko-KR" sz="800">
                <a:latin typeface="+mn-ea"/>
              </a:rPr>
              <a:t> : </a:t>
            </a:r>
            <a:r>
              <a:rPr lang="ko-KR" altLang="en-US" sz="800">
                <a:latin typeface="+mn-ea"/>
              </a:rPr>
              <a:t>신규 </a:t>
            </a:r>
            <a:r>
              <a:rPr lang="en-US" altLang="ko-KR" sz="800">
                <a:latin typeface="+mn-ea"/>
              </a:rPr>
              <a:t>Task</a:t>
            </a:r>
            <a:endParaRPr lang="ko-KR" altLang="en-US" sz="800">
              <a:latin typeface="+mn-ea"/>
            </a:endParaRPr>
          </a:p>
        </p:txBody>
      </p:sp>
      <p:sp>
        <p:nvSpPr>
          <p:cNvPr id="145" name="Freeform 1754">
            <a:extLst>
              <a:ext uri="{FF2B5EF4-FFF2-40B4-BE49-F238E27FC236}">
                <a16:creationId xmlns:a16="http://schemas.microsoft.com/office/drawing/2014/main" id="{1100B196-482F-0DCF-1DA5-3CD160BB871E}"/>
              </a:ext>
            </a:extLst>
          </p:cNvPr>
          <p:cNvSpPr>
            <a:spLocks noChangeAspect="1"/>
          </p:cNvSpPr>
          <p:nvPr/>
        </p:nvSpPr>
        <p:spPr bwMode="gray">
          <a:xfrm>
            <a:off x="6911863" y="2114582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DB8064E-857B-25C4-8123-D310B6C05AA1}"/>
              </a:ext>
            </a:extLst>
          </p:cNvPr>
          <p:cNvSpPr txBox="1"/>
          <p:nvPr/>
        </p:nvSpPr>
        <p:spPr>
          <a:xfrm>
            <a:off x="6560584" y="2117356"/>
            <a:ext cx="324000" cy="180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800">
                <a:latin typeface="+mn-ea"/>
              </a:rPr>
              <a:t>범례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6BBB031-FBD2-E257-C6BA-8A30A3C1E952}"/>
              </a:ext>
            </a:extLst>
          </p:cNvPr>
          <p:cNvSpPr/>
          <p:nvPr/>
        </p:nvSpPr>
        <p:spPr>
          <a:xfrm>
            <a:off x="7931963" y="5516625"/>
            <a:ext cx="3060029" cy="1008000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안정성 평가 방안 및 요건 수립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615817-D97A-AD56-86A8-F68739D11834}"/>
              </a:ext>
            </a:extLst>
          </p:cNvPr>
          <p:cNvSpPr/>
          <p:nvPr/>
        </p:nvSpPr>
        <p:spPr>
          <a:xfrm>
            <a:off x="8001509" y="609549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안정성 평가 방안</a:t>
            </a:r>
            <a:r>
              <a:rPr lang="en-US" altLang="ko-KR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구축 요건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CADCA9-D2FB-4B67-5890-A9EDAB90B824}"/>
              </a:ext>
            </a:extLst>
          </p:cNvPr>
          <p:cNvSpPr/>
          <p:nvPr/>
        </p:nvSpPr>
        <p:spPr>
          <a:xfrm>
            <a:off x="8052687" y="613149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3FD55-F881-CD23-EAF1-D5053E2F65D6}"/>
              </a:ext>
            </a:extLst>
          </p:cNvPr>
          <p:cNvSpPr txBox="1"/>
          <p:nvPr/>
        </p:nvSpPr>
        <p:spPr>
          <a:xfrm>
            <a:off x="8001509" y="5762206"/>
            <a:ext cx="292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실 기술관점에서 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AI 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위험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영향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안정성 평가 방안 및 구축 요건 수립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6DFC9D5-7DE3-623B-78F7-FBED09FA4B0C}"/>
              </a:ext>
            </a:extLst>
          </p:cNvPr>
          <p:cNvSpPr/>
          <p:nvPr/>
        </p:nvSpPr>
        <p:spPr>
          <a:xfrm>
            <a:off x="7931963" y="5516625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E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" name="Rectangle: Rounded Corners 54">
            <a:extLst>
              <a:ext uri="{FF2B5EF4-FFF2-40B4-BE49-F238E27FC236}">
                <a16:creationId xmlns:a16="http://schemas.microsoft.com/office/drawing/2014/main" id="{9E98CE18-FF92-BCBD-357B-170585EF0D8C}"/>
              </a:ext>
            </a:extLst>
          </p:cNvPr>
          <p:cNvSpPr/>
          <p:nvPr/>
        </p:nvSpPr>
        <p:spPr>
          <a:xfrm>
            <a:off x="396832" y="2105752"/>
            <a:ext cx="1763543" cy="3993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요건검토 </a:t>
            </a:r>
          </a:p>
        </p:txBody>
      </p:sp>
      <p:sp>
        <p:nvSpPr>
          <p:cNvPr id="20" name="Rectangle: Rounded Corners 54">
            <a:extLst>
              <a:ext uri="{FF2B5EF4-FFF2-40B4-BE49-F238E27FC236}">
                <a16:creationId xmlns:a16="http://schemas.microsoft.com/office/drawing/2014/main" id="{B795C5E0-8CF2-DF7D-5170-74749AA929B6}"/>
              </a:ext>
            </a:extLst>
          </p:cNvPr>
          <p:cNvSpPr/>
          <p:nvPr/>
        </p:nvSpPr>
        <p:spPr>
          <a:xfrm>
            <a:off x="1308366" y="3015948"/>
            <a:ext cx="2701603" cy="5990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규정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Rectangle: Rounded Corners 54">
            <a:extLst>
              <a:ext uri="{FF2B5EF4-FFF2-40B4-BE49-F238E27FC236}">
                <a16:creationId xmlns:a16="http://schemas.microsoft.com/office/drawing/2014/main" id="{2369D02D-5DE8-F0D4-1283-0CE27BFC9EFB}"/>
              </a:ext>
            </a:extLst>
          </p:cNvPr>
          <p:cNvSpPr/>
          <p:nvPr/>
        </p:nvSpPr>
        <p:spPr>
          <a:xfrm>
            <a:off x="1365186" y="3294891"/>
            <a:ext cx="793401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Rectangle: Rounded Corners 54">
            <a:extLst>
              <a:ext uri="{FF2B5EF4-FFF2-40B4-BE49-F238E27FC236}">
                <a16:creationId xmlns:a16="http://schemas.microsoft.com/office/drawing/2014/main" id="{08F8D6EB-5338-D32A-9EF0-030406CC3FFB}"/>
              </a:ext>
            </a:extLst>
          </p:cNvPr>
          <p:cNvSpPr/>
          <p:nvPr/>
        </p:nvSpPr>
        <p:spPr>
          <a:xfrm>
            <a:off x="2222848" y="3294891"/>
            <a:ext cx="1732628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Rectangle: Rounded Corners 54">
            <a:extLst>
              <a:ext uri="{FF2B5EF4-FFF2-40B4-BE49-F238E27FC236}">
                <a16:creationId xmlns:a16="http://schemas.microsoft.com/office/drawing/2014/main" id="{FF87ADE3-5BAC-A999-9555-785744BFA7C7}"/>
              </a:ext>
            </a:extLst>
          </p:cNvPr>
          <p:cNvSpPr/>
          <p:nvPr/>
        </p:nvSpPr>
        <p:spPr>
          <a:xfrm>
            <a:off x="1308366" y="3670742"/>
            <a:ext cx="2701603" cy="5990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운영 지침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Rectangle: Rounded Corners 54">
            <a:extLst>
              <a:ext uri="{FF2B5EF4-FFF2-40B4-BE49-F238E27FC236}">
                <a16:creationId xmlns:a16="http://schemas.microsoft.com/office/drawing/2014/main" id="{BEDEFBB9-BB17-083B-FDC7-241F5FD8E00A}"/>
              </a:ext>
            </a:extLst>
          </p:cNvPr>
          <p:cNvSpPr/>
          <p:nvPr/>
        </p:nvSpPr>
        <p:spPr>
          <a:xfrm>
            <a:off x="1365186" y="3949685"/>
            <a:ext cx="793401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</a:p>
        </p:txBody>
      </p:sp>
      <p:sp>
        <p:nvSpPr>
          <p:cNvPr id="26" name="Rectangle: Rounded Corners 54">
            <a:extLst>
              <a:ext uri="{FF2B5EF4-FFF2-40B4-BE49-F238E27FC236}">
                <a16:creationId xmlns:a16="http://schemas.microsoft.com/office/drawing/2014/main" id="{25FE1F28-785A-8BC1-38CA-3E3E325E826F}"/>
              </a:ext>
            </a:extLst>
          </p:cNvPr>
          <p:cNvSpPr/>
          <p:nvPr/>
        </p:nvSpPr>
        <p:spPr>
          <a:xfrm>
            <a:off x="2222848" y="3949685"/>
            <a:ext cx="1732628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Rectangle: Rounded Corners 54">
            <a:extLst>
              <a:ext uri="{FF2B5EF4-FFF2-40B4-BE49-F238E27FC236}">
                <a16:creationId xmlns:a16="http://schemas.microsoft.com/office/drawing/2014/main" id="{47061A87-A943-A3DF-498F-7F1AD8EC5E8B}"/>
              </a:ext>
            </a:extLst>
          </p:cNvPr>
          <p:cNvSpPr/>
          <p:nvPr/>
        </p:nvSpPr>
        <p:spPr>
          <a:xfrm>
            <a:off x="1308366" y="4325537"/>
            <a:ext cx="2701603" cy="5990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개발운영 지침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Rectangle: Rounded Corners 54">
            <a:extLst>
              <a:ext uri="{FF2B5EF4-FFF2-40B4-BE49-F238E27FC236}">
                <a16:creationId xmlns:a16="http://schemas.microsoft.com/office/drawing/2014/main" id="{BED7A936-E188-66A2-47ED-27528254E7F1}"/>
              </a:ext>
            </a:extLst>
          </p:cNvPr>
          <p:cNvSpPr/>
          <p:nvPr/>
        </p:nvSpPr>
        <p:spPr>
          <a:xfrm>
            <a:off x="1365187" y="4604480"/>
            <a:ext cx="793401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</a:p>
        </p:txBody>
      </p:sp>
      <p:sp>
        <p:nvSpPr>
          <p:cNvPr id="31" name="Rectangle: Rounded Corners 54">
            <a:extLst>
              <a:ext uri="{FF2B5EF4-FFF2-40B4-BE49-F238E27FC236}">
                <a16:creationId xmlns:a16="http://schemas.microsoft.com/office/drawing/2014/main" id="{F3E1B484-7A2B-BF8F-AFA2-93652206D235}"/>
              </a:ext>
            </a:extLst>
          </p:cNvPr>
          <p:cNvSpPr/>
          <p:nvPr/>
        </p:nvSpPr>
        <p:spPr>
          <a:xfrm>
            <a:off x="2222849" y="4604480"/>
            <a:ext cx="1732628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Rectangle: Rounded Corners 54">
            <a:extLst>
              <a:ext uri="{FF2B5EF4-FFF2-40B4-BE49-F238E27FC236}">
                <a16:creationId xmlns:a16="http://schemas.microsoft.com/office/drawing/2014/main" id="{5E91C88E-7BF3-7663-F4BB-23B079A6EE15}"/>
              </a:ext>
            </a:extLst>
          </p:cNvPr>
          <p:cNvSpPr/>
          <p:nvPr/>
        </p:nvSpPr>
        <p:spPr>
          <a:xfrm>
            <a:off x="4080059" y="5890529"/>
            <a:ext cx="3603997" cy="5990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지원도구 설계</a:t>
            </a:r>
            <a:endParaRPr lang="en-US" altLang="ko-KR" sz="120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35" name="Rectangle: Rounded Corners 54">
            <a:extLst>
              <a:ext uri="{FF2B5EF4-FFF2-40B4-BE49-F238E27FC236}">
                <a16:creationId xmlns:a16="http://schemas.microsoft.com/office/drawing/2014/main" id="{C043CE92-F0CB-B0A6-02A2-7FA5202FC31F}"/>
              </a:ext>
            </a:extLst>
          </p:cNvPr>
          <p:cNvSpPr/>
          <p:nvPr/>
        </p:nvSpPr>
        <p:spPr>
          <a:xfrm>
            <a:off x="4134106" y="6168767"/>
            <a:ext cx="938952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템플릿</a:t>
            </a:r>
          </a:p>
        </p:txBody>
      </p:sp>
      <p:sp>
        <p:nvSpPr>
          <p:cNvPr id="37" name="Rectangle: Rounded Corners 54">
            <a:extLst>
              <a:ext uri="{FF2B5EF4-FFF2-40B4-BE49-F238E27FC236}">
                <a16:creationId xmlns:a16="http://schemas.microsoft.com/office/drawing/2014/main" id="{81373F54-AFE0-FC66-7004-C4A936E79D6A}"/>
              </a:ext>
            </a:extLst>
          </p:cNvPr>
          <p:cNvSpPr/>
          <p:nvPr/>
        </p:nvSpPr>
        <p:spPr>
          <a:xfrm>
            <a:off x="6691057" y="6168767"/>
            <a:ext cx="938952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체크리스트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Rectangle: Rounded Corners 54">
            <a:extLst>
              <a:ext uri="{FF2B5EF4-FFF2-40B4-BE49-F238E27FC236}">
                <a16:creationId xmlns:a16="http://schemas.microsoft.com/office/drawing/2014/main" id="{E005F2D1-F0CB-BA91-25AB-3D6091A5621A}"/>
              </a:ext>
            </a:extLst>
          </p:cNvPr>
          <p:cNvSpPr/>
          <p:nvPr/>
        </p:nvSpPr>
        <p:spPr>
          <a:xfrm>
            <a:off x="5198232" y="6168767"/>
            <a:ext cx="1329000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위험 등급 식별 평가서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Rectangle: Rounded Corners 54">
            <a:extLst>
              <a:ext uri="{FF2B5EF4-FFF2-40B4-BE49-F238E27FC236}">
                <a16:creationId xmlns:a16="http://schemas.microsoft.com/office/drawing/2014/main" id="{105BE800-F026-51F1-B4B4-7F7DA4CCBCD8}"/>
              </a:ext>
            </a:extLst>
          </p:cNvPr>
          <p:cNvSpPr/>
          <p:nvPr/>
        </p:nvSpPr>
        <p:spPr>
          <a:xfrm>
            <a:off x="1308365" y="4980331"/>
            <a:ext cx="4060789" cy="3993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생성형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특화 보안 대책 수립</a:t>
            </a:r>
          </a:p>
        </p:txBody>
      </p:sp>
      <p:sp>
        <p:nvSpPr>
          <p:cNvPr id="49" name="Rectangle: Rounded Corners 54">
            <a:extLst>
              <a:ext uri="{FF2B5EF4-FFF2-40B4-BE49-F238E27FC236}">
                <a16:creationId xmlns:a16="http://schemas.microsoft.com/office/drawing/2014/main" id="{B3BBF5F0-E78C-939D-3CBB-01BFE34C68C6}"/>
              </a:ext>
            </a:extLst>
          </p:cNvPr>
          <p:cNvSpPr/>
          <p:nvPr/>
        </p:nvSpPr>
        <p:spPr>
          <a:xfrm>
            <a:off x="864553" y="2560850"/>
            <a:ext cx="1295822" cy="3993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To-Be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참조 </a:t>
            </a:r>
            <a:b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모델 작성</a:t>
            </a:r>
          </a:p>
        </p:txBody>
      </p:sp>
      <p:sp>
        <p:nvSpPr>
          <p:cNvPr id="50" name="Rectangle: Rounded Corners 54">
            <a:extLst>
              <a:ext uri="{FF2B5EF4-FFF2-40B4-BE49-F238E27FC236}">
                <a16:creationId xmlns:a16="http://schemas.microsoft.com/office/drawing/2014/main" id="{D62625D6-D23D-8CFF-2D3A-224CE8C6221E}"/>
              </a:ext>
            </a:extLst>
          </p:cNvPr>
          <p:cNvSpPr/>
          <p:nvPr/>
        </p:nvSpPr>
        <p:spPr>
          <a:xfrm>
            <a:off x="3145530" y="5429724"/>
            <a:ext cx="3603995" cy="3993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안정성 평가 방안 및 요건 수립</a:t>
            </a:r>
          </a:p>
        </p:txBody>
      </p:sp>
      <p:sp>
        <p:nvSpPr>
          <p:cNvPr id="51" name="Rectangle: Rounded Corners 54">
            <a:extLst>
              <a:ext uri="{FF2B5EF4-FFF2-40B4-BE49-F238E27FC236}">
                <a16:creationId xmlns:a16="http://schemas.microsoft.com/office/drawing/2014/main" id="{8AC80B0C-EE15-B20A-72A4-031D7401E793}"/>
              </a:ext>
            </a:extLst>
          </p:cNvPr>
          <p:cNvSpPr/>
          <p:nvPr/>
        </p:nvSpPr>
        <p:spPr>
          <a:xfrm>
            <a:off x="4982171" y="4498275"/>
            <a:ext cx="2690790" cy="3993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모니터링 단계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] </a:t>
            </a:r>
            <a:b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 및 고도화 방안 수립</a:t>
            </a:r>
          </a:p>
        </p:txBody>
      </p:sp>
      <p:sp>
        <p:nvSpPr>
          <p:cNvPr id="91" name="Freeform 1754">
            <a:extLst>
              <a:ext uri="{FF2B5EF4-FFF2-40B4-BE49-F238E27FC236}">
                <a16:creationId xmlns:a16="http://schemas.microsoft.com/office/drawing/2014/main" id="{21532A3E-7BCD-4C90-ADE5-00416FADE7F3}"/>
              </a:ext>
            </a:extLst>
          </p:cNvPr>
          <p:cNvSpPr>
            <a:spLocks noChangeAspect="1"/>
          </p:cNvSpPr>
          <p:nvPr/>
        </p:nvSpPr>
        <p:spPr bwMode="gray">
          <a:xfrm>
            <a:off x="1885422" y="2662087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93" name="Freeform 1754">
            <a:extLst>
              <a:ext uri="{FF2B5EF4-FFF2-40B4-BE49-F238E27FC236}">
                <a16:creationId xmlns:a16="http://schemas.microsoft.com/office/drawing/2014/main" id="{5E0C6BE3-18A7-4F55-FFEC-879E17DCD2A6}"/>
              </a:ext>
            </a:extLst>
          </p:cNvPr>
          <p:cNvSpPr>
            <a:spLocks noChangeAspect="1"/>
          </p:cNvSpPr>
          <p:nvPr/>
        </p:nvSpPr>
        <p:spPr bwMode="gray">
          <a:xfrm>
            <a:off x="7381226" y="4461053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97" name="Freeform 1754">
            <a:extLst>
              <a:ext uri="{FF2B5EF4-FFF2-40B4-BE49-F238E27FC236}">
                <a16:creationId xmlns:a16="http://schemas.microsoft.com/office/drawing/2014/main" id="{FA77E514-8FC1-4DFD-A9B8-E48FB1A94560}"/>
              </a:ext>
            </a:extLst>
          </p:cNvPr>
          <p:cNvSpPr>
            <a:spLocks noChangeAspect="1"/>
          </p:cNvSpPr>
          <p:nvPr/>
        </p:nvSpPr>
        <p:spPr bwMode="gray">
          <a:xfrm>
            <a:off x="6419232" y="5531577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105" name="Freeform 1754">
            <a:extLst>
              <a:ext uri="{FF2B5EF4-FFF2-40B4-BE49-F238E27FC236}">
                <a16:creationId xmlns:a16="http://schemas.microsoft.com/office/drawing/2014/main" id="{D08DA76D-998D-E733-8040-C75F4C94FC96}"/>
              </a:ext>
            </a:extLst>
          </p:cNvPr>
          <p:cNvSpPr>
            <a:spLocks noChangeAspect="1"/>
          </p:cNvSpPr>
          <p:nvPr/>
        </p:nvSpPr>
        <p:spPr bwMode="gray">
          <a:xfrm>
            <a:off x="7280388" y="5936874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0F378918-A7D0-C22B-7332-80B2F20993E0}"/>
              </a:ext>
            </a:extLst>
          </p:cNvPr>
          <p:cNvSpPr/>
          <p:nvPr/>
        </p:nvSpPr>
        <p:spPr>
          <a:xfrm>
            <a:off x="369553" y="2074882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1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4009DDCB-EFD0-07E6-84B0-05F10236CCE5}"/>
              </a:ext>
            </a:extLst>
          </p:cNvPr>
          <p:cNvSpPr/>
          <p:nvPr/>
        </p:nvSpPr>
        <p:spPr>
          <a:xfrm>
            <a:off x="809260" y="2536015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2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2E76B4B5-FC47-3B59-4D42-8CB9AE2768C5}"/>
              </a:ext>
            </a:extLst>
          </p:cNvPr>
          <p:cNvSpPr/>
          <p:nvPr/>
        </p:nvSpPr>
        <p:spPr>
          <a:xfrm>
            <a:off x="1257186" y="2934906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5C70279C-7DF3-8BEE-CD47-6F1F11E731AA}"/>
              </a:ext>
            </a:extLst>
          </p:cNvPr>
          <p:cNvSpPr/>
          <p:nvPr/>
        </p:nvSpPr>
        <p:spPr>
          <a:xfrm>
            <a:off x="1251561" y="4916096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4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90CE43C7-7DA5-7040-19B7-5DE2FB8AEADB}"/>
              </a:ext>
            </a:extLst>
          </p:cNvPr>
          <p:cNvSpPr/>
          <p:nvPr/>
        </p:nvSpPr>
        <p:spPr>
          <a:xfrm>
            <a:off x="3089162" y="5379444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5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9C9B8015-9309-63DA-346F-64C6DFAE43B4}"/>
              </a:ext>
            </a:extLst>
          </p:cNvPr>
          <p:cNvSpPr/>
          <p:nvPr/>
        </p:nvSpPr>
        <p:spPr>
          <a:xfrm>
            <a:off x="1257186" y="3590231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8E7BCD6E-8E4D-CFA9-9742-29109C1B52E2}"/>
              </a:ext>
            </a:extLst>
          </p:cNvPr>
          <p:cNvSpPr/>
          <p:nvPr/>
        </p:nvSpPr>
        <p:spPr>
          <a:xfrm>
            <a:off x="1257186" y="4264594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5" name="Rectangle: Rounded Corners 46">
            <a:extLst>
              <a:ext uri="{FF2B5EF4-FFF2-40B4-BE49-F238E27FC236}">
                <a16:creationId xmlns:a16="http://schemas.microsoft.com/office/drawing/2014/main" id="{2A2F7189-7D08-0A06-7D58-3D31CE02B444}"/>
              </a:ext>
            </a:extLst>
          </p:cNvPr>
          <p:cNvSpPr/>
          <p:nvPr/>
        </p:nvSpPr>
        <p:spPr>
          <a:xfrm>
            <a:off x="11043170" y="5637884"/>
            <a:ext cx="817417" cy="765483"/>
          </a:xfrm>
          <a:prstGeom prst="roundRect">
            <a:avLst>
              <a:gd name="adj" fmla="val 11418"/>
            </a:avLst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범위</a:t>
            </a:r>
            <a:r>
              <a:rPr lang="en-US" altLang="ko-KR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&amp;</a:t>
            </a:r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공수에 대한 의사결정 </a:t>
            </a:r>
            <a:r>
              <a:rPr lang="ko-KR" altLang="en-US" sz="16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必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A35F57-A640-37E9-7428-217089E03F09}"/>
              </a:ext>
            </a:extLst>
          </p:cNvPr>
          <p:cNvSpPr/>
          <p:nvPr/>
        </p:nvSpPr>
        <p:spPr>
          <a:xfrm>
            <a:off x="11061538" y="181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작성 완료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BF4702-163A-F207-F585-54357446A349}"/>
              </a:ext>
            </a:extLst>
          </p:cNvPr>
          <p:cNvSpPr/>
          <p:nvPr/>
        </p:nvSpPr>
        <p:spPr>
          <a:xfrm>
            <a:off x="11061538" y="1278852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0F0EAF1-2208-8F53-8651-3281775504B0}"/>
              </a:ext>
            </a:extLst>
          </p:cNvPr>
          <p:cNvSpPr/>
          <p:nvPr/>
        </p:nvSpPr>
        <p:spPr>
          <a:xfrm>
            <a:off x="11061538" y="163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 리뷰 완료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7F66E-98F1-FE10-DA9C-359C941777B7}"/>
              </a:ext>
            </a:extLst>
          </p:cNvPr>
          <p:cNvSpPr/>
          <p:nvPr/>
        </p:nvSpPr>
        <p:spPr>
          <a:xfrm>
            <a:off x="11061538" y="145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리뷰 보완 중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B0BC270C-0237-EC81-C14A-79A4113B8B68}"/>
              </a:ext>
            </a:extLst>
          </p:cNvPr>
          <p:cNvSpPr/>
          <p:nvPr/>
        </p:nvSpPr>
        <p:spPr>
          <a:xfrm>
            <a:off x="11061538" y="199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FD49904-D77D-39F2-2FE7-E8DC8136B60A}"/>
              </a:ext>
            </a:extLst>
          </p:cNvPr>
          <p:cNvSpPr/>
          <p:nvPr/>
        </p:nvSpPr>
        <p:spPr>
          <a:xfrm>
            <a:off x="11061538" y="2899049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작성 완료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5E8E49F-F444-F790-DC16-065E58A90BFE}"/>
              </a:ext>
            </a:extLst>
          </p:cNvPr>
          <p:cNvSpPr/>
          <p:nvPr/>
        </p:nvSpPr>
        <p:spPr>
          <a:xfrm>
            <a:off x="11061538" y="2359049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6272B96-5DF8-B844-DF04-05955897EEEE}"/>
              </a:ext>
            </a:extLst>
          </p:cNvPr>
          <p:cNvSpPr/>
          <p:nvPr/>
        </p:nvSpPr>
        <p:spPr>
          <a:xfrm>
            <a:off x="11061538" y="2719049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 리뷰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F2C0278-6153-42EA-2508-02C9AC87544E}"/>
              </a:ext>
            </a:extLst>
          </p:cNvPr>
          <p:cNvSpPr/>
          <p:nvPr/>
        </p:nvSpPr>
        <p:spPr>
          <a:xfrm>
            <a:off x="11061538" y="2539049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리뷰 보완 중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77813EC-DA1D-376D-2F26-AA8D7C83AAFB}"/>
              </a:ext>
            </a:extLst>
          </p:cNvPr>
          <p:cNvSpPr/>
          <p:nvPr/>
        </p:nvSpPr>
        <p:spPr>
          <a:xfrm>
            <a:off x="11061538" y="3079049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09B404B-75A7-1BB4-A3AF-5895F8AC0BE4}"/>
              </a:ext>
            </a:extLst>
          </p:cNvPr>
          <p:cNvSpPr/>
          <p:nvPr/>
        </p:nvSpPr>
        <p:spPr>
          <a:xfrm>
            <a:off x="11061538" y="397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작성 완료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3061A9F-DB52-BE70-0C81-7BF34AEAFC3A}"/>
              </a:ext>
            </a:extLst>
          </p:cNvPr>
          <p:cNvSpPr/>
          <p:nvPr/>
        </p:nvSpPr>
        <p:spPr>
          <a:xfrm>
            <a:off x="11061538" y="3439246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5325432-CB0F-F1D3-5C18-A85C5BD63721}"/>
              </a:ext>
            </a:extLst>
          </p:cNvPr>
          <p:cNvSpPr/>
          <p:nvPr/>
        </p:nvSpPr>
        <p:spPr>
          <a:xfrm>
            <a:off x="11061538" y="379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 리뷰 완료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90476B1-D6C4-F1E9-AB84-D9010EF085FC}"/>
              </a:ext>
            </a:extLst>
          </p:cNvPr>
          <p:cNvSpPr/>
          <p:nvPr/>
        </p:nvSpPr>
        <p:spPr>
          <a:xfrm>
            <a:off x="11061538" y="361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리뷰 보완 중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CFCD178-88FB-75DF-9BA7-D4FAAD9BF90B}"/>
              </a:ext>
            </a:extLst>
          </p:cNvPr>
          <p:cNvSpPr/>
          <p:nvPr/>
        </p:nvSpPr>
        <p:spPr>
          <a:xfrm>
            <a:off x="11061538" y="415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CBB9B66-A166-BE8E-3AFC-FBB2B9BD4B23}"/>
              </a:ext>
            </a:extLst>
          </p:cNvPr>
          <p:cNvSpPr/>
          <p:nvPr/>
        </p:nvSpPr>
        <p:spPr>
          <a:xfrm>
            <a:off x="11061538" y="5059443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작성 완료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685A8D4C-A608-6F08-FDA8-2CDF22EA9304}"/>
              </a:ext>
            </a:extLst>
          </p:cNvPr>
          <p:cNvSpPr/>
          <p:nvPr/>
        </p:nvSpPr>
        <p:spPr>
          <a:xfrm>
            <a:off x="11061538" y="4519443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7F21F78-FA4B-E2A3-57F6-A0AB2D83FC7D}"/>
              </a:ext>
            </a:extLst>
          </p:cNvPr>
          <p:cNvSpPr/>
          <p:nvPr/>
        </p:nvSpPr>
        <p:spPr>
          <a:xfrm>
            <a:off x="11061538" y="4879443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 리뷰 완료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A56EFAF-1530-9700-37D5-7065A7F86BB6}"/>
              </a:ext>
            </a:extLst>
          </p:cNvPr>
          <p:cNvSpPr/>
          <p:nvPr/>
        </p:nvSpPr>
        <p:spPr>
          <a:xfrm>
            <a:off x="11061538" y="4699443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리뷰 보완 중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BB7EEAEF-8006-7E82-ED98-06901157A4D5}"/>
              </a:ext>
            </a:extLst>
          </p:cNvPr>
          <p:cNvSpPr/>
          <p:nvPr/>
        </p:nvSpPr>
        <p:spPr>
          <a:xfrm>
            <a:off x="11061538" y="5239443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760C1645-7250-7A16-680E-EFCF5DEED1D4}"/>
              </a:ext>
            </a:extLst>
          </p:cNvPr>
          <p:cNvGrpSpPr/>
          <p:nvPr/>
        </p:nvGrpSpPr>
        <p:grpSpPr>
          <a:xfrm>
            <a:off x="2845883" y="1496847"/>
            <a:ext cx="216000" cy="4989944"/>
            <a:chOff x="2744115" y="1496847"/>
            <a:chExt cx="216000" cy="4989944"/>
          </a:xfrm>
        </p:grpSpPr>
        <p:sp>
          <p:nvSpPr>
            <p:cNvPr id="135" name="이등변 삼각형 134">
              <a:extLst>
                <a:ext uri="{FF2B5EF4-FFF2-40B4-BE49-F238E27FC236}">
                  <a16:creationId xmlns:a16="http://schemas.microsoft.com/office/drawing/2014/main" id="{982C25A4-1908-94EA-FCAD-4C18DC8E1D72}"/>
                </a:ext>
              </a:extLst>
            </p:cNvPr>
            <p:cNvSpPr/>
            <p:nvPr/>
          </p:nvSpPr>
          <p:spPr>
            <a:xfrm rot="10800000">
              <a:off x="2744115" y="1496847"/>
              <a:ext cx="216000" cy="1080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01F17B80-D121-7FB7-3F06-9D9E60B4B187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>
              <a:off x="2852115" y="1604847"/>
              <a:ext cx="0" cy="4881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250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DC8239C-567C-84C4-10D7-EA04D0CA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597" y="3894971"/>
            <a:ext cx="1897870" cy="106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164FAA0-CE67-C1DA-4BD8-06E98140AD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E889BC-D49F-8BCA-6461-DEEA4FC0B9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위험</a:t>
            </a:r>
            <a:r>
              <a:rPr lang="en-US" altLang="ko-KR"/>
              <a:t>/</a:t>
            </a:r>
            <a:r>
              <a:rPr lang="ko-KR" altLang="en-US"/>
              <a:t>영향</a:t>
            </a:r>
            <a:r>
              <a:rPr lang="en-US" altLang="ko-KR"/>
              <a:t>/</a:t>
            </a:r>
            <a:r>
              <a:rPr lang="ko-KR" altLang="en-US"/>
              <a:t>안정성 평가 방안 및 구축 요건 수립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B4F8E3-2342-EBBA-45A4-E2C3506DD2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신규 요건인 </a:t>
            </a:r>
            <a:r>
              <a:rPr lang="en-US" altLang="ko-KR"/>
              <a:t>“AI </a:t>
            </a:r>
            <a:r>
              <a:rPr lang="ko-KR" altLang="en-US"/>
              <a:t>위험</a:t>
            </a:r>
            <a:r>
              <a:rPr lang="en-US" altLang="ko-KR"/>
              <a:t>/</a:t>
            </a:r>
            <a:r>
              <a:rPr lang="ko-KR" altLang="en-US"/>
              <a:t>영향</a:t>
            </a:r>
            <a:r>
              <a:rPr lang="en-US" altLang="ko-KR"/>
              <a:t>/</a:t>
            </a:r>
            <a:r>
              <a:rPr lang="ko-KR" altLang="en-US"/>
              <a:t>안정성 평가 방안 및 구축 요건 수립</a:t>
            </a:r>
            <a:r>
              <a:rPr lang="en-US" altLang="ko-KR"/>
              <a:t>”</a:t>
            </a:r>
            <a:r>
              <a:rPr lang="ko-KR" altLang="en-US"/>
              <a:t>에 대해 다음과 같이 수행 예정임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2BD44DAE-3920-A7E6-076D-714D7D3251AD}"/>
              </a:ext>
            </a:extLst>
          </p:cNvPr>
          <p:cNvSpPr/>
          <p:nvPr/>
        </p:nvSpPr>
        <p:spPr>
          <a:xfrm>
            <a:off x="1773515" y="1780422"/>
            <a:ext cx="3420000" cy="612000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안정성 평가 방안 및 구축 요건 수립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363DFC9D-EF68-6D12-96DE-DD164F0C6F2F}"/>
              </a:ext>
            </a:extLst>
          </p:cNvPr>
          <p:cNvSpPr/>
          <p:nvPr/>
        </p:nvSpPr>
        <p:spPr>
          <a:xfrm>
            <a:off x="1773515" y="5790187"/>
            <a:ext cx="3420000" cy="734438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안정성 평가서</a:t>
            </a:r>
          </a:p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안정성 평가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점검 방안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영향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안정성 관련 구축 요건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(RFP)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993ECC0D-DDD6-60A3-19F9-D6BA781E3062}"/>
              </a:ext>
            </a:extLst>
          </p:cNvPr>
          <p:cNvSpPr/>
          <p:nvPr/>
        </p:nvSpPr>
        <p:spPr>
          <a:xfrm>
            <a:off x="324596" y="1780422"/>
            <a:ext cx="1204912" cy="612000"/>
          </a:xfrm>
          <a:prstGeom prst="roundRect">
            <a:avLst>
              <a:gd name="adj" fmla="val 11418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Task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명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CA703C0F-0D11-7FBA-8B0A-E410DD6EED39}"/>
              </a:ext>
            </a:extLst>
          </p:cNvPr>
          <p:cNvSpPr/>
          <p:nvPr/>
        </p:nvSpPr>
        <p:spPr>
          <a:xfrm>
            <a:off x="324596" y="2460523"/>
            <a:ext cx="1204912" cy="3236892"/>
          </a:xfrm>
          <a:prstGeom prst="roundRect">
            <a:avLst>
              <a:gd name="adj" fmla="val 667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주요 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내용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009001FB-69A8-EF1C-AE10-34DAACE47BBB}"/>
              </a:ext>
            </a:extLst>
          </p:cNvPr>
          <p:cNvSpPr/>
          <p:nvPr/>
        </p:nvSpPr>
        <p:spPr>
          <a:xfrm>
            <a:off x="324597" y="5790187"/>
            <a:ext cx="1204912" cy="734438"/>
          </a:xfrm>
          <a:prstGeom prst="roundRect">
            <a:avLst>
              <a:gd name="adj" fmla="val 2243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산출물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59CEF4BE-D10E-9587-8715-699983B4F663}"/>
              </a:ext>
            </a:extLst>
          </p:cNvPr>
          <p:cNvSpPr/>
          <p:nvPr/>
        </p:nvSpPr>
        <p:spPr>
          <a:xfrm>
            <a:off x="324596" y="1334969"/>
            <a:ext cx="4868919" cy="360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신규 추가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Task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B24F224-51F6-C4C8-3938-ADC60D882738}"/>
              </a:ext>
            </a:extLst>
          </p:cNvPr>
          <p:cNvGrpSpPr/>
          <p:nvPr/>
        </p:nvGrpSpPr>
        <p:grpSpPr>
          <a:xfrm>
            <a:off x="1031033" y="3440138"/>
            <a:ext cx="4162482" cy="612000"/>
            <a:chOff x="1031033" y="3440138"/>
            <a:chExt cx="4162482" cy="612000"/>
          </a:xfrm>
        </p:grpSpPr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98176D1C-379F-0A40-879B-B7DE020E5BE3}"/>
                </a:ext>
              </a:extLst>
            </p:cNvPr>
            <p:cNvSpPr/>
            <p:nvPr/>
          </p:nvSpPr>
          <p:spPr>
            <a:xfrm>
              <a:off x="1773515" y="3440138"/>
              <a:ext cx="3420000" cy="612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상주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 EY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비상주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 </a:t>
              </a:r>
              <a:r>
                <a:rPr lang="ko-KR" altLang="en-US" sz="1050" kern="0" spc="-50" err="1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셀렉트스타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, KTR, </a:t>
              </a:r>
              <a:r>
                <a:rPr lang="ko-KR" altLang="en-US" sz="1050" kern="0" spc="-50" err="1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엔키화이트햇</a:t>
              </a:r>
              <a:endPara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9" name="Rectangle: Rounded Corners 46">
              <a:extLst>
                <a:ext uri="{FF2B5EF4-FFF2-40B4-BE49-F238E27FC236}">
                  <a16:creationId xmlns:a16="http://schemas.microsoft.com/office/drawing/2014/main" id="{83980CA1-6321-CD52-30F8-604A174CC532}"/>
                </a:ext>
              </a:extLst>
            </p:cNvPr>
            <p:cNvSpPr/>
            <p:nvPr/>
          </p:nvSpPr>
          <p:spPr>
            <a:xfrm>
              <a:off x="1031033" y="3440138"/>
              <a:ext cx="582110" cy="612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인력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F5804D-8B1A-5908-211D-79E1791F7069}"/>
              </a:ext>
            </a:extLst>
          </p:cNvPr>
          <p:cNvGrpSpPr/>
          <p:nvPr/>
        </p:nvGrpSpPr>
        <p:grpSpPr>
          <a:xfrm>
            <a:off x="1031033" y="4144910"/>
            <a:ext cx="4162482" cy="468000"/>
            <a:chOff x="1031033" y="4144910"/>
            <a:chExt cx="4162482" cy="468000"/>
          </a:xfrm>
        </p:grpSpPr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9D1F9BE7-1C87-A4DF-B79D-6DD10C174616}"/>
                </a:ext>
              </a:extLst>
            </p:cNvPr>
            <p:cNvSpPr/>
            <p:nvPr/>
          </p:nvSpPr>
          <p:spPr>
            <a:xfrm>
              <a:off x="1773515" y="4144910"/>
              <a:ext cx="3420000" cy="468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2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개월</a:t>
              </a:r>
            </a:p>
          </p:txBody>
        </p: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25B90013-D04B-5E1B-9672-B2EF765CB8AF}"/>
                </a:ext>
              </a:extLst>
            </p:cNvPr>
            <p:cNvSpPr/>
            <p:nvPr/>
          </p:nvSpPr>
          <p:spPr>
            <a:xfrm>
              <a:off x="1031033" y="4144910"/>
              <a:ext cx="582110" cy="468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기간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78975F-F55A-7F72-34B6-0D5EFFEB1622}"/>
              </a:ext>
            </a:extLst>
          </p:cNvPr>
          <p:cNvGrpSpPr/>
          <p:nvPr/>
        </p:nvGrpSpPr>
        <p:grpSpPr>
          <a:xfrm>
            <a:off x="1031033" y="4705682"/>
            <a:ext cx="4162482" cy="828000"/>
            <a:chOff x="1031033" y="4705682"/>
            <a:chExt cx="4162482" cy="828000"/>
          </a:xfrm>
        </p:grpSpPr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3D72C733-4F4C-225A-73AE-44873FF0D6D0}"/>
                </a:ext>
              </a:extLst>
            </p:cNvPr>
            <p:cNvSpPr/>
            <p:nvPr/>
          </p:nvSpPr>
          <p:spPr>
            <a:xfrm>
              <a:off x="1773515" y="4705682"/>
              <a:ext cx="3420000" cy="828000"/>
            </a:xfrm>
            <a:prstGeom prst="roundRect">
              <a:avLst>
                <a:gd name="adj" fmla="val 5596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영향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안정성 요소 정의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영향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안정성 평가 및 점검 방안 수립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영향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/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안정성 평가 구축 요건 수립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198B0F73-BDD0-71E9-9948-5C7307DB45CF}"/>
                </a:ext>
              </a:extLst>
            </p:cNvPr>
            <p:cNvSpPr/>
            <p:nvPr/>
          </p:nvSpPr>
          <p:spPr>
            <a:xfrm>
              <a:off x="1031033" y="4705682"/>
              <a:ext cx="582110" cy="828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활동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ACB5ABE-B9D7-6744-B2FC-91CFD991FC0B}"/>
              </a:ext>
            </a:extLst>
          </p:cNvPr>
          <p:cNvGrpSpPr/>
          <p:nvPr/>
        </p:nvGrpSpPr>
        <p:grpSpPr>
          <a:xfrm>
            <a:off x="1031033" y="2627366"/>
            <a:ext cx="4162482" cy="720000"/>
            <a:chOff x="1031033" y="2642891"/>
            <a:chExt cx="4162482" cy="720000"/>
          </a:xfrm>
        </p:grpSpPr>
        <p:sp>
          <p:nvSpPr>
            <p:cNvPr id="28" name="Rectangle: Rounded Corners 46">
              <a:extLst>
                <a:ext uri="{FF2B5EF4-FFF2-40B4-BE49-F238E27FC236}">
                  <a16:creationId xmlns:a16="http://schemas.microsoft.com/office/drawing/2014/main" id="{74352C68-7AB8-A4ED-7C77-1DD7ECDA6688}"/>
                </a:ext>
              </a:extLst>
            </p:cNvPr>
            <p:cNvSpPr/>
            <p:nvPr/>
          </p:nvSpPr>
          <p:spPr>
            <a:xfrm>
              <a:off x="1773515" y="2642891"/>
              <a:ext cx="3420000" cy="720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정의된 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위험에 대해 평가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방안을 마련하고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,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이에 대한 구축요건을 작성하여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, </a:t>
              </a:r>
              <a:r>
                <a:rPr lang="ko-KR" altLang="en-US" sz="1050" kern="0" spc="-50" err="1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미래에셋증권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 내 시스템화를 목적으로 함</a:t>
              </a:r>
            </a:p>
          </p:txBody>
        </p:sp>
        <p:sp>
          <p:nvSpPr>
            <p:cNvPr id="29" name="Rectangle: Rounded Corners 46">
              <a:extLst>
                <a:ext uri="{FF2B5EF4-FFF2-40B4-BE49-F238E27FC236}">
                  <a16:creationId xmlns:a16="http://schemas.microsoft.com/office/drawing/2014/main" id="{DEE7D038-5E29-81E9-A3EF-CD6BC2C7FA76}"/>
                </a:ext>
              </a:extLst>
            </p:cNvPr>
            <p:cNvSpPr/>
            <p:nvPr/>
          </p:nvSpPr>
          <p:spPr>
            <a:xfrm>
              <a:off x="1031033" y="2642891"/>
              <a:ext cx="582110" cy="720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목적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사각형: 둥근 모서리 56">
            <a:extLst>
              <a:ext uri="{FF2B5EF4-FFF2-40B4-BE49-F238E27FC236}">
                <a16:creationId xmlns:a16="http://schemas.microsoft.com/office/drawing/2014/main" id="{BC61DCF2-83EF-2F11-5FCD-E3722386088B}"/>
              </a:ext>
            </a:extLst>
          </p:cNvPr>
          <p:cNvSpPr/>
          <p:nvPr/>
        </p:nvSpPr>
        <p:spPr>
          <a:xfrm>
            <a:off x="5592764" y="1334969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산출물명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5" name="사각형: 둥근 모서리 56">
            <a:extLst>
              <a:ext uri="{FF2B5EF4-FFF2-40B4-BE49-F238E27FC236}">
                <a16:creationId xmlns:a16="http://schemas.microsoft.com/office/drawing/2014/main" id="{150F6B42-122F-8E11-F7D7-60B42F8CF644}"/>
              </a:ext>
            </a:extLst>
          </p:cNvPr>
          <p:cNvSpPr/>
          <p:nvPr/>
        </p:nvSpPr>
        <p:spPr>
          <a:xfrm>
            <a:off x="6779963" y="1334969"/>
            <a:ext cx="5112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 예시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6" name="사각형: 둥근 모서리 20">
            <a:extLst>
              <a:ext uri="{FF2B5EF4-FFF2-40B4-BE49-F238E27FC236}">
                <a16:creationId xmlns:a16="http://schemas.microsoft.com/office/drawing/2014/main" id="{4C1D0600-CFD2-4056-78D5-CC71485CDC2C}"/>
              </a:ext>
            </a:extLst>
          </p:cNvPr>
          <p:cNvSpPr/>
          <p:nvPr/>
        </p:nvSpPr>
        <p:spPr>
          <a:xfrm>
            <a:off x="5592764" y="1780422"/>
            <a:ext cx="1080000" cy="144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안정성 평가서</a:t>
            </a:r>
            <a:endParaRPr lang="en" altLang="ko-KR" sz="1200" b="1" spc="-3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사각형: 둥근 모서리 20">
            <a:extLst>
              <a:ext uri="{FF2B5EF4-FFF2-40B4-BE49-F238E27FC236}">
                <a16:creationId xmlns:a16="http://schemas.microsoft.com/office/drawing/2014/main" id="{6D38F54E-99BF-5C40-3854-245281CB18F2}"/>
              </a:ext>
            </a:extLst>
          </p:cNvPr>
          <p:cNvSpPr/>
          <p:nvPr/>
        </p:nvSpPr>
        <p:spPr>
          <a:xfrm>
            <a:off x="5592764" y="3342523"/>
            <a:ext cx="1080000" cy="162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안정성 평가 방안 정의서</a:t>
            </a:r>
            <a:endParaRPr lang="en" altLang="ko-KR" sz="1200" b="1" spc="-3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사각형: 둥근 모서리 20">
            <a:extLst>
              <a:ext uri="{FF2B5EF4-FFF2-40B4-BE49-F238E27FC236}">
                <a16:creationId xmlns:a16="http://schemas.microsoft.com/office/drawing/2014/main" id="{DB22412E-6FDD-693D-A837-18909E345098}"/>
              </a:ext>
            </a:extLst>
          </p:cNvPr>
          <p:cNvSpPr/>
          <p:nvPr/>
        </p:nvSpPr>
        <p:spPr>
          <a:xfrm>
            <a:off x="5592764" y="5084625"/>
            <a:ext cx="1080000" cy="144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안정성 평가 시스템 </a:t>
            </a:r>
            <a:b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구축 요건</a:t>
            </a:r>
            <a:endParaRPr lang="en" altLang="ko-KR" sz="1200" b="1" spc="-3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64311F-FDD1-3296-87CF-3F72194D5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965" y="3342523"/>
            <a:ext cx="1897870" cy="106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62D7F0F-7147-197F-2664-B4FF0A016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963" y="5084624"/>
            <a:ext cx="1040620" cy="14400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6" name="사각형: 둥근 모서리 20">
            <a:extLst>
              <a:ext uri="{FF2B5EF4-FFF2-40B4-BE49-F238E27FC236}">
                <a16:creationId xmlns:a16="http://schemas.microsoft.com/office/drawing/2014/main" id="{78DCBE8C-4629-F1DE-0B56-94E9B51C8AC0}"/>
              </a:ext>
            </a:extLst>
          </p:cNvPr>
          <p:cNvSpPr/>
          <p:nvPr/>
        </p:nvSpPr>
        <p:spPr>
          <a:xfrm>
            <a:off x="6986590" y="5388472"/>
            <a:ext cx="617536" cy="337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안정성 평가 시스템 구축 제안요청서</a:t>
            </a:r>
            <a:endParaRPr lang="en" altLang="ko-KR" sz="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0">
            <a:extLst>
              <a:ext uri="{FF2B5EF4-FFF2-40B4-BE49-F238E27FC236}">
                <a16:creationId xmlns:a16="http://schemas.microsoft.com/office/drawing/2014/main" id="{288D3DF4-07AF-0DF8-C83D-8861FBAF4009}"/>
              </a:ext>
            </a:extLst>
          </p:cNvPr>
          <p:cNvSpPr/>
          <p:nvPr/>
        </p:nvSpPr>
        <p:spPr>
          <a:xfrm>
            <a:off x="6986590" y="5890120"/>
            <a:ext cx="617536" cy="1397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2026.03</a:t>
            </a:r>
            <a:endParaRPr lang="en" altLang="ko-KR" sz="5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20">
            <a:extLst>
              <a:ext uri="{FF2B5EF4-FFF2-40B4-BE49-F238E27FC236}">
                <a16:creationId xmlns:a16="http://schemas.microsoft.com/office/drawing/2014/main" id="{101254AB-7D59-8220-F207-C95DBD80705C}"/>
              </a:ext>
            </a:extLst>
          </p:cNvPr>
          <p:cNvSpPr/>
          <p:nvPr/>
        </p:nvSpPr>
        <p:spPr>
          <a:xfrm>
            <a:off x="6854825" y="5146920"/>
            <a:ext cx="879475" cy="19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" altLang="ko-KR" sz="5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50A8DA0-63BE-760C-BA12-4CCF93A6ED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37988"/>
          <a:stretch>
            <a:fillRect/>
          </a:stretch>
        </p:blipFill>
        <p:spPr>
          <a:xfrm>
            <a:off x="7861038" y="5084625"/>
            <a:ext cx="2091429" cy="1440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0707395-6F9C-4517-11D9-A3A1F3E54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960" y="1780422"/>
            <a:ext cx="3149507" cy="1440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CF37B9A9-1ECD-495F-E90D-759838702EB3}"/>
              </a:ext>
            </a:extLst>
          </p:cNvPr>
          <p:cNvSpPr/>
          <p:nvPr/>
        </p:nvSpPr>
        <p:spPr>
          <a:xfrm rot="5400000">
            <a:off x="9977305" y="2446081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7CB62A40-95CD-17B0-6383-29AA1D462203}"/>
              </a:ext>
            </a:extLst>
          </p:cNvPr>
          <p:cNvSpPr/>
          <p:nvPr/>
        </p:nvSpPr>
        <p:spPr>
          <a:xfrm rot="5400000">
            <a:off x="9977305" y="4098182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AA7BB615-B3BB-42F1-D595-8DCB05C9DB25}"/>
              </a:ext>
            </a:extLst>
          </p:cNvPr>
          <p:cNvSpPr/>
          <p:nvPr/>
        </p:nvSpPr>
        <p:spPr>
          <a:xfrm rot="5400000">
            <a:off x="9977305" y="5750284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4D21F2-648F-A30C-0544-540FEE18B331}"/>
              </a:ext>
            </a:extLst>
          </p:cNvPr>
          <p:cNvSpPr txBox="1"/>
          <p:nvPr/>
        </p:nvSpPr>
        <p:spPr>
          <a:xfrm>
            <a:off x="10163963" y="2230422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위험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영향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안정성에 대한 분류 및 정의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4EC2B0-1CAA-BA17-5392-EA502253DA49}"/>
              </a:ext>
            </a:extLst>
          </p:cNvPr>
          <p:cNvSpPr txBox="1"/>
          <p:nvPr/>
        </p:nvSpPr>
        <p:spPr>
          <a:xfrm>
            <a:off x="10163963" y="3882523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시스템에서의 발생 위험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영향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안정성에 대해 가능성을 정의하고 평가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점검 방안을 수립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B34982-9BC3-EBDB-67B7-FC615A8692F6}"/>
              </a:ext>
            </a:extLst>
          </p:cNvPr>
          <p:cNvSpPr txBox="1"/>
          <p:nvPr/>
        </p:nvSpPr>
        <p:spPr>
          <a:xfrm>
            <a:off x="10163963" y="5534625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위험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영향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안정성 평가 시스템의 구축 요건 작성</a:t>
            </a: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5AB2B6D1-DDBF-612F-6B20-0C2000A5FDD0}"/>
              </a:ext>
            </a:extLst>
          </p:cNvPr>
          <p:cNvSpPr/>
          <p:nvPr/>
        </p:nvSpPr>
        <p:spPr>
          <a:xfrm rot="5400000">
            <a:off x="4530237" y="3989713"/>
            <a:ext cx="1800000" cy="17851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0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1C63052-1B3F-C8E3-E1FC-E111DD844A57}"/>
              </a:ext>
            </a:extLst>
          </p:cNvPr>
          <p:cNvGraphicFramePr>
            <a:graphicFrameLocks noGrp="1"/>
          </p:cNvGraphicFramePr>
          <p:nvPr/>
        </p:nvGraphicFramePr>
        <p:xfrm>
          <a:off x="2306441" y="1353666"/>
          <a:ext cx="9583020" cy="5170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85">
                  <a:extLst>
                    <a:ext uri="{9D8B030D-6E8A-4147-A177-3AD203B41FA5}">
                      <a16:colId xmlns:a16="http://schemas.microsoft.com/office/drawing/2014/main" val="2276407710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378130096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2056131262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613428727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684419653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26036018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465352186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3154535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746512402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391353424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415868201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2137667613"/>
                    </a:ext>
                  </a:extLst>
                </a:gridCol>
              </a:tblGrid>
              <a:tr h="6840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</a:t>
                      </a:r>
                    </a:p>
                    <a:p>
                      <a:pPr algn="ctr" latinLnBrk="1"/>
                      <a:r>
                        <a:rPr lang="en-US" altLang="ko-KR" sz="900" b="0" spc="-50" baseline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(11/10~14)</a:t>
                      </a:r>
                      <a:endParaRPr lang="ko-KR" altLang="en-US" sz="900" b="0" spc="-50" baseline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50" baseline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(11/17~21)</a:t>
                      </a:r>
                      <a:endParaRPr lang="ko-KR" altLang="en-US" sz="900" b="0" spc="-50" baseline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W3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(11/24~28)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W4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(12/1~5)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W5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(12/8~12)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W6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(12/15~19)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W7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(12/22~26)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W8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(12/29~1/2)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W9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(1/5~9)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W10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(1/12~16)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W11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(1/19~23)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W12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(1/26~30)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40539"/>
                  </a:ext>
                </a:extLst>
              </a:tr>
              <a:tr h="784139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74583"/>
                  </a:ext>
                </a:extLst>
              </a:tr>
              <a:tr h="7760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72362"/>
                  </a:ext>
                </a:extLst>
              </a:tr>
              <a:tr h="8056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09064"/>
                  </a:ext>
                </a:extLst>
              </a:tr>
              <a:tr h="21207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2617"/>
                  </a:ext>
                </a:extLst>
              </a:tr>
            </a:tbl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7DD2FA23-AF68-45B9-F408-C8FCE4B6930A}"/>
              </a:ext>
            </a:extLst>
          </p:cNvPr>
          <p:cNvSpPr/>
          <p:nvPr/>
        </p:nvSpPr>
        <p:spPr>
          <a:xfrm>
            <a:off x="2308941" y="3728122"/>
            <a:ext cx="9583022" cy="5530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A, B </a:t>
            </a:r>
            <a:r>
              <a:rPr lang="ko-KR" altLang="en-US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진행상황에 따라 </a:t>
            </a:r>
            <a:r>
              <a:rPr lang="en-US" altLang="ko-KR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Task </a:t>
            </a:r>
            <a:r>
              <a:rPr lang="ko-KR" altLang="en-US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조율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041D40-1E45-7E54-2693-A258A8F19C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데이터 활용 거버넌스 </a:t>
            </a:r>
            <a:r>
              <a:rPr lang="en-US" altLang="ko-KR"/>
              <a:t>Task</a:t>
            </a:r>
            <a:r>
              <a:rPr lang="ko-KR" altLang="en-US"/>
              <a:t>와 진행현황은 다음과 같음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1D2130-EB6C-28A0-6D89-9FD81F68AE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데이터 활용 거버넌스 </a:t>
            </a:r>
            <a:r>
              <a:rPr lang="en-US" altLang="ko-KR"/>
              <a:t>Target Scope (ASIS)</a:t>
            </a:r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E09A89-0B9D-E6A7-60AD-D2B7119E3EEA}"/>
              </a:ext>
            </a:extLst>
          </p:cNvPr>
          <p:cNvSpPr/>
          <p:nvPr/>
        </p:nvSpPr>
        <p:spPr>
          <a:xfrm>
            <a:off x="478454" y="2082801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퍼블릭</a:t>
            </a:r>
            <a:r>
              <a:rPr lang="en-US" altLang="ko-KR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ko-KR" altLang="en-US" sz="1200" b="1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프라이빗존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연계방안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24C249-7336-5F95-24EA-B66748669E16}"/>
              </a:ext>
            </a:extLst>
          </p:cNvPr>
          <p:cNvSpPr/>
          <p:nvPr/>
        </p:nvSpPr>
        <p:spPr>
          <a:xfrm>
            <a:off x="478454" y="2871470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퍼블릭 클라우드와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내부망</a:t>
            </a: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연계 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DB4096-FC05-A2F5-B1BE-D36665B2E8B9}"/>
              </a:ext>
            </a:extLst>
          </p:cNvPr>
          <p:cNvSpPr/>
          <p:nvPr/>
        </p:nvSpPr>
        <p:spPr>
          <a:xfrm>
            <a:off x="478454" y="3656351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하이브리드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클라우드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05C352-7CB4-47FC-F111-04A4CE590989}"/>
              </a:ext>
            </a:extLst>
          </p:cNvPr>
          <p:cNvSpPr/>
          <p:nvPr/>
        </p:nvSpPr>
        <p:spPr>
          <a:xfrm>
            <a:off x="478454" y="4517825"/>
            <a:ext cx="1726266" cy="1873704"/>
          </a:xfrm>
          <a:prstGeom prst="roundRect">
            <a:avLst>
              <a:gd name="adj" fmla="val 4244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클라우드 데이터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통합 활용 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08323C5-893D-94F6-19E7-E99F66ACD769}"/>
              </a:ext>
            </a:extLst>
          </p:cNvPr>
          <p:cNvSpPr/>
          <p:nvPr/>
        </p:nvSpPr>
        <p:spPr>
          <a:xfrm>
            <a:off x="351643" y="5335391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D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F20F1-E7D0-5921-C1BE-27D5FCFC16C7}"/>
              </a:ext>
            </a:extLst>
          </p:cNvPr>
          <p:cNvSpPr/>
          <p:nvPr/>
        </p:nvSpPr>
        <p:spPr>
          <a:xfrm>
            <a:off x="351643" y="2290435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A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95ABD95-556F-E461-B343-4D82961F35EB}"/>
              </a:ext>
            </a:extLst>
          </p:cNvPr>
          <p:cNvSpPr/>
          <p:nvPr/>
        </p:nvSpPr>
        <p:spPr>
          <a:xfrm>
            <a:off x="351643" y="3079104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B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1F95D90-475C-386E-EC6A-88CEF8588E72}"/>
              </a:ext>
            </a:extLst>
          </p:cNvPr>
          <p:cNvSpPr/>
          <p:nvPr/>
        </p:nvSpPr>
        <p:spPr>
          <a:xfrm>
            <a:off x="351643" y="3863985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C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5FA07CF-730A-D235-BC5E-3F77786BC7CE}"/>
              </a:ext>
            </a:extLst>
          </p:cNvPr>
          <p:cNvGrpSpPr/>
          <p:nvPr/>
        </p:nvGrpSpPr>
        <p:grpSpPr>
          <a:xfrm>
            <a:off x="2464777" y="5403407"/>
            <a:ext cx="2876844" cy="939065"/>
            <a:chOff x="2464777" y="5452111"/>
            <a:chExt cx="2876844" cy="939065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7A7D03-3E8A-4274-8A4A-2B175AC10800}"/>
                </a:ext>
              </a:extLst>
            </p:cNvPr>
            <p:cNvGrpSpPr/>
            <p:nvPr/>
          </p:nvGrpSpPr>
          <p:grpSpPr>
            <a:xfrm>
              <a:off x="2464777" y="5452111"/>
              <a:ext cx="2876844" cy="939065"/>
              <a:chOff x="2426676" y="5479940"/>
              <a:chExt cx="2936631" cy="865821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93C1C292-4E67-DEF5-BAC9-634D51AF9C95}"/>
                  </a:ext>
                </a:extLst>
              </p:cNvPr>
              <p:cNvSpPr/>
              <p:nvPr/>
            </p:nvSpPr>
            <p:spPr>
              <a:xfrm>
                <a:off x="2426676" y="5479940"/>
                <a:ext cx="2936631" cy="865821"/>
              </a:xfrm>
              <a:prstGeom prst="roundRect">
                <a:avLst>
                  <a:gd name="adj" fmla="val 11589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A6A6A6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데이터 현황검토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9B1A9F54-529A-49B2-CE67-CC46D43FA592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833675" cy="219075"/>
              </a:xfrm>
              <a:prstGeom prst="roundRect">
                <a:avLst>
                  <a:gd name="adj" fmla="val 40244"/>
                </a:avLst>
              </a:prstGeom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en-US" altLang="ko-KR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To-Be </a:t>
                </a:r>
                <a:r>
                  <a:rPr lang="ko-KR" altLang="en-US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참조모델 정의서</a:t>
                </a:r>
                <a:endParaRPr lang="en-US" altLang="ko-KR" sz="1000" b="1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B07FD40A-BDD1-50D9-45FB-F2785E243E6A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451735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BB62DB4-A65A-D8B7-5EB7-A184C40BB52E}"/>
                </a:ext>
              </a:extLst>
            </p:cNvPr>
            <p:cNvSpPr txBox="1"/>
            <p:nvPr/>
          </p:nvSpPr>
          <p:spPr>
            <a:xfrm>
              <a:off x="2515205" y="5712273"/>
              <a:ext cx="2775985" cy="394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타사 사례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(H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社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, T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社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) 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기반 참조모델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외부데이터 활용 니즈 식별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C19A409-8218-180D-CDED-FB5F8808D31B}"/>
              </a:ext>
            </a:extLst>
          </p:cNvPr>
          <p:cNvGrpSpPr/>
          <p:nvPr/>
        </p:nvGrpSpPr>
        <p:grpSpPr>
          <a:xfrm>
            <a:off x="5650739" y="5403407"/>
            <a:ext cx="2876844" cy="939065"/>
            <a:chOff x="2464777" y="5452111"/>
            <a:chExt cx="2876844" cy="939065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6A0EDFE-2EA2-F104-D35E-1E7DDB8F608C}"/>
                </a:ext>
              </a:extLst>
            </p:cNvPr>
            <p:cNvGrpSpPr/>
            <p:nvPr/>
          </p:nvGrpSpPr>
          <p:grpSpPr>
            <a:xfrm>
              <a:off x="2464777" y="5452111"/>
              <a:ext cx="2876844" cy="939065"/>
              <a:chOff x="2426676" y="5479940"/>
              <a:chExt cx="2936631" cy="865821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2799E423-6C99-0266-31FE-D85D4A4311EF}"/>
                  </a:ext>
                </a:extLst>
              </p:cNvPr>
              <p:cNvSpPr/>
              <p:nvPr/>
            </p:nvSpPr>
            <p:spPr>
              <a:xfrm>
                <a:off x="2426676" y="5479940"/>
                <a:ext cx="2936631" cy="865821"/>
              </a:xfrm>
              <a:prstGeom prst="roundRect">
                <a:avLst>
                  <a:gd name="adj" fmla="val 11589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클라우드 데이터 분류체계 수립</a:t>
                </a:r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BBBABC35-BD34-796C-E22B-0B3228D8D8F0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833675" cy="219075"/>
              </a:xfrm>
              <a:prstGeom prst="roundRect">
                <a:avLst>
                  <a:gd name="adj" fmla="val 40244"/>
                </a:avLst>
              </a:prstGeom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클라우드 데이터 분류체계 정의서</a:t>
                </a:r>
                <a:endParaRPr lang="en-US" altLang="ko-KR" sz="1000" b="1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E3428FE3-790D-3CFD-F244-47D53038BF70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451735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142E03-ED04-650C-B8E6-E154A38750A6}"/>
                </a:ext>
              </a:extLst>
            </p:cNvPr>
            <p:cNvSpPr txBox="1"/>
            <p:nvPr/>
          </p:nvSpPr>
          <p:spPr>
            <a:xfrm>
              <a:off x="2515205" y="5712273"/>
              <a:ext cx="2775985" cy="394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외부데이터 수집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/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유통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/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관리체계 방안 비교</a:t>
              </a: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클라우드 데이터 분류체계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D215B5-B997-2EAE-9287-2DFF6EE7B0B0}"/>
              </a:ext>
            </a:extLst>
          </p:cNvPr>
          <p:cNvCxnSpPr>
            <a:cxnSpLocks/>
            <a:stCxn id="24" idx="3"/>
            <a:endCxn id="34" idx="1"/>
          </p:cNvCxnSpPr>
          <p:nvPr/>
        </p:nvCxnSpPr>
        <p:spPr>
          <a:xfrm>
            <a:off x="5341621" y="5872940"/>
            <a:ext cx="30911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AAA16C9-3D0C-3DAC-CA76-B6F9BAC425DB}"/>
              </a:ext>
            </a:extLst>
          </p:cNvPr>
          <p:cNvCxnSpPr>
            <a:cxnSpLocks/>
            <a:stCxn id="34" idx="3"/>
            <a:endCxn id="10" idx="1"/>
          </p:cNvCxnSpPr>
          <p:nvPr/>
        </p:nvCxnSpPr>
        <p:spPr>
          <a:xfrm>
            <a:off x="8527583" y="5872940"/>
            <a:ext cx="25054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EAB505F-7AFB-FDDE-AE11-7486B756A29A}"/>
              </a:ext>
            </a:extLst>
          </p:cNvPr>
          <p:cNvGrpSpPr/>
          <p:nvPr/>
        </p:nvGrpSpPr>
        <p:grpSpPr>
          <a:xfrm>
            <a:off x="7111749" y="4476234"/>
            <a:ext cx="2326891" cy="793768"/>
            <a:chOff x="2464777" y="5597405"/>
            <a:chExt cx="2326891" cy="79376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8E717DFC-0179-729A-1C11-B20E81B77999}"/>
                </a:ext>
              </a:extLst>
            </p:cNvPr>
            <p:cNvGrpSpPr/>
            <p:nvPr/>
          </p:nvGrpSpPr>
          <p:grpSpPr>
            <a:xfrm>
              <a:off x="2464777" y="5597405"/>
              <a:ext cx="2326891" cy="793768"/>
              <a:chOff x="2426676" y="5613904"/>
              <a:chExt cx="2375249" cy="731857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845A7AD0-FF67-7A8A-AC78-528574080B3A}"/>
                  </a:ext>
                </a:extLst>
              </p:cNvPr>
              <p:cNvSpPr/>
              <p:nvPr/>
            </p:nvSpPr>
            <p:spPr>
              <a:xfrm>
                <a:off x="2426676" y="5613904"/>
                <a:ext cx="2375249" cy="731857"/>
              </a:xfrm>
              <a:prstGeom prst="roundRect">
                <a:avLst>
                  <a:gd name="adj" fmla="val 11589"/>
                </a:avLst>
              </a:prstGeom>
              <a:solidFill>
                <a:srgbClr val="FDF1E9"/>
              </a:solidFill>
              <a:ln w="19050">
                <a:solidFill>
                  <a:srgbClr val="F0AF6B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데이터 패브릭 </a:t>
                </a:r>
                <a:r>
                  <a:rPr lang="en-US" altLang="ko-KR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Case Study</a:t>
                </a:r>
                <a:endPara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632A5C42-656C-8396-6DE4-4A8C53DAD43B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277101" cy="219075"/>
              </a:xfrm>
              <a:prstGeom prst="roundRect">
                <a:avLst>
                  <a:gd name="adj" fmla="val 40244"/>
                </a:avLst>
              </a:prstGeom>
              <a:solidFill>
                <a:srgbClr val="F0AF6B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72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데이터 패브릭 적용사례 보고서</a:t>
                </a:r>
                <a:endParaRPr lang="en-US" altLang="ko-KR" sz="1000" b="1" spc="-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EABA8D9C-2A1B-B437-FEA5-169FCE101B22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367720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1708E4-39FF-57BE-838B-0EAF0EDCDFCC}"/>
                </a:ext>
              </a:extLst>
            </p:cNvPr>
            <p:cNvSpPr txBox="1"/>
            <p:nvPr/>
          </p:nvSpPr>
          <p:spPr>
            <a:xfrm>
              <a:off x="2562720" y="5869639"/>
              <a:ext cx="21425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데이터 패브릭 적용 사례 조사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A04A958-1A5A-8DAC-790C-D56EEE592991}"/>
              </a:ext>
            </a:extLst>
          </p:cNvPr>
          <p:cNvGrpSpPr/>
          <p:nvPr/>
        </p:nvGrpSpPr>
        <p:grpSpPr>
          <a:xfrm>
            <a:off x="6337091" y="2202855"/>
            <a:ext cx="3101549" cy="1217353"/>
            <a:chOff x="2464777" y="5597405"/>
            <a:chExt cx="2326891" cy="793768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5A004BF0-FC9E-7F20-6333-35FABEFF0859}"/>
                </a:ext>
              </a:extLst>
            </p:cNvPr>
            <p:cNvGrpSpPr/>
            <p:nvPr/>
          </p:nvGrpSpPr>
          <p:grpSpPr>
            <a:xfrm>
              <a:off x="2464777" y="5597405"/>
              <a:ext cx="2326891" cy="793768"/>
              <a:chOff x="2426676" y="5613904"/>
              <a:chExt cx="2375249" cy="731857"/>
            </a:xfrm>
          </p:grpSpPr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A1F8FC8B-49A5-A3B8-F7E3-42A07BB52D11}"/>
                  </a:ext>
                </a:extLst>
              </p:cNvPr>
              <p:cNvSpPr/>
              <p:nvPr/>
            </p:nvSpPr>
            <p:spPr>
              <a:xfrm>
                <a:off x="2426676" y="5613904"/>
                <a:ext cx="2375249" cy="731857"/>
              </a:xfrm>
              <a:prstGeom prst="roundRect">
                <a:avLst>
                  <a:gd name="adj" fmla="val 7191"/>
                </a:avLst>
              </a:prstGeom>
              <a:solidFill>
                <a:srgbClr val="FDF1E9"/>
              </a:solidFill>
              <a:ln w="19050">
                <a:solidFill>
                  <a:srgbClr val="F0AF6B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err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망분리</a:t>
                </a:r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 및 연계 방안 검토</a:t>
                </a:r>
              </a:p>
            </p:txBody>
          </p:sp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E7A71820-351F-CE41-A0B1-4BA35E3ED4CB}"/>
                  </a:ext>
                </a:extLst>
              </p:cNvPr>
              <p:cNvSpPr/>
              <p:nvPr/>
            </p:nvSpPr>
            <p:spPr>
              <a:xfrm>
                <a:off x="2478154" y="6145971"/>
                <a:ext cx="2277101" cy="164435"/>
              </a:xfrm>
              <a:prstGeom prst="roundRect">
                <a:avLst>
                  <a:gd name="adj" fmla="val 40244"/>
                </a:avLst>
              </a:prstGeom>
              <a:solidFill>
                <a:srgbClr val="F0AF6B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 spc="-50" err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망분리</a:t>
                </a:r>
                <a:r>
                  <a:rPr lang="en-US" altLang="ko-KR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 </a:t>
                </a:r>
                <a:r>
                  <a:rPr lang="ko-KR" altLang="en-US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및 연계 방안 검토 의견서</a:t>
                </a:r>
                <a:endParaRPr lang="en-US" altLang="ko-KR" sz="1000" b="1" spc="-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418E383F-EC1C-C3DC-22C5-134611433752}"/>
                  </a:ext>
                </a:extLst>
              </p:cNvPr>
              <p:cNvSpPr/>
              <p:nvPr/>
            </p:nvSpPr>
            <p:spPr>
              <a:xfrm>
                <a:off x="2550545" y="6168432"/>
                <a:ext cx="367720" cy="119514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3F3967F-C1AB-E137-0FFC-6B0410028B82}"/>
                </a:ext>
              </a:extLst>
            </p:cNvPr>
            <p:cNvSpPr txBox="1"/>
            <p:nvPr/>
          </p:nvSpPr>
          <p:spPr>
            <a:xfrm>
              <a:off x="2562720" y="5802730"/>
              <a:ext cx="2142588" cy="34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(EY) </a:t>
              </a:r>
              <a:r>
                <a:rPr lang="ko-KR" altLang="en-US" sz="900" err="1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망분리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 관련 규제요건 검토 및 금융감독원 대응 방안 검토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</a:t>
              </a:r>
              <a:r>
                <a:rPr lang="ko-KR" altLang="en-US" sz="900" err="1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메가존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) 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기술 구현 방안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78F5E2-8DA8-2A72-A2F9-15AB930AF205}"/>
              </a:ext>
            </a:extLst>
          </p:cNvPr>
          <p:cNvGrpSpPr/>
          <p:nvPr/>
        </p:nvGrpSpPr>
        <p:grpSpPr>
          <a:xfrm>
            <a:off x="8778132" y="5403407"/>
            <a:ext cx="1435072" cy="939065"/>
            <a:chOff x="4005608" y="2256073"/>
            <a:chExt cx="1435072" cy="939065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ACBE90F-0A16-4F73-68B5-37E94E60D512}"/>
                </a:ext>
              </a:extLst>
            </p:cNvPr>
            <p:cNvSpPr/>
            <p:nvPr/>
          </p:nvSpPr>
          <p:spPr>
            <a:xfrm>
              <a:off x="4005608" y="2256073"/>
              <a:ext cx="1435072" cy="939065"/>
            </a:xfrm>
            <a:prstGeom prst="roundRect">
              <a:avLst>
                <a:gd name="adj" fmla="val 1158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6A6A6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0" rtlCol="0" anchor="t"/>
            <a:lstStyle/>
            <a:p>
              <a:pPr algn="ctr"/>
              <a:r>
                <a: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클라우드 데이터</a:t>
              </a:r>
              <a:endParaRPr lang="en-US" altLang="ko-KR" sz="1100" b="1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활용</a:t>
              </a:r>
              <a:r>
                <a:rPr lang="en-US" altLang="ko-KR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체계 수립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6CD8D789-3DEB-F4DD-D5FC-3F95EFB4EEBC}"/>
                </a:ext>
              </a:extLst>
            </p:cNvPr>
            <p:cNvSpPr/>
            <p:nvPr/>
          </p:nvSpPr>
          <p:spPr>
            <a:xfrm>
              <a:off x="4030764" y="2849880"/>
              <a:ext cx="1384759" cy="303067"/>
            </a:xfrm>
            <a:prstGeom prst="roundRect">
              <a:avLst>
                <a:gd name="adj" fmla="val 36070"/>
              </a:avLst>
            </a:prstGeom>
            <a:solidFill>
              <a:schemeClr val="bg1">
                <a:lumMod val="6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tIns="0" rIns="0" bIns="0" rtlCol="0" anchor="ctr"/>
            <a:lstStyle/>
            <a:p>
              <a:pPr algn="ctr"/>
              <a:r>
                <a:rPr lang="ko-KR" altLang="en-US" sz="900" b="1" spc="-1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rPr>
                <a:t>클라우드 데이터</a:t>
              </a:r>
              <a:endParaRPr lang="en-US" altLang="ko-KR" sz="900" b="1" spc="-10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900" b="1" spc="-1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rPr>
                <a:t> 활용체계 정의서</a:t>
              </a:r>
              <a:endParaRPr lang="en-US" altLang="ko-KR" sz="900" b="1" spc="-10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E7F487-1835-3134-9D76-857FA0B79EEA}"/>
                </a:ext>
              </a:extLst>
            </p:cNvPr>
            <p:cNvSpPr txBox="1"/>
            <p:nvPr/>
          </p:nvSpPr>
          <p:spPr>
            <a:xfrm>
              <a:off x="4030763" y="2643235"/>
              <a:ext cx="13847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R&amp;R 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및 프로세스 설계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164FDB7-CC91-1351-B3D7-771F5045BDF6}"/>
                </a:ext>
              </a:extLst>
            </p:cNvPr>
            <p:cNvSpPr/>
            <p:nvPr/>
          </p:nvSpPr>
          <p:spPr>
            <a:xfrm>
              <a:off x="4082936" y="2876715"/>
              <a:ext cx="329043" cy="249396"/>
            </a:xfrm>
            <a:prstGeom prst="roundRect">
              <a:avLst>
                <a:gd name="adj" fmla="val 40244"/>
              </a:avLst>
            </a:prstGeom>
            <a:solidFill>
              <a:schemeClr val="bg1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ko-KR" altLang="en-US" sz="900" spc="-1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산출물</a:t>
              </a:r>
              <a:endParaRPr lang="en-US" altLang="ko-KR" sz="900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F544B57-59BE-7221-C621-F3C80F382598}"/>
              </a:ext>
            </a:extLst>
          </p:cNvPr>
          <p:cNvGrpSpPr/>
          <p:nvPr/>
        </p:nvGrpSpPr>
        <p:grpSpPr>
          <a:xfrm>
            <a:off x="10382425" y="5403407"/>
            <a:ext cx="1435072" cy="939065"/>
            <a:chOff x="4005608" y="2256073"/>
            <a:chExt cx="1435072" cy="939065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1B75CE1-AB49-0863-AA51-B61DD8142773}"/>
                </a:ext>
              </a:extLst>
            </p:cNvPr>
            <p:cNvSpPr/>
            <p:nvPr/>
          </p:nvSpPr>
          <p:spPr>
            <a:xfrm>
              <a:off x="4005608" y="2256073"/>
              <a:ext cx="1435072" cy="939065"/>
            </a:xfrm>
            <a:prstGeom prst="roundRect">
              <a:avLst>
                <a:gd name="adj" fmla="val 1158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A6A6A6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0" rtlCol="0" anchor="t"/>
            <a:lstStyle/>
            <a:p>
              <a:pPr algn="ctr"/>
              <a:r>
                <a: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클라우드 데이터</a:t>
              </a:r>
              <a:endParaRPr lang="en-US" altLang="ko-KR" sz="1100" b="1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 b="1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관리방안 수립</a:t>
              </a: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476C45B1-3242-802B-3D72-48AB6CA1FBC2}"/>
                </a:ext>
              </a:extLst>
            </p:cNvPr>
            <p:cNvSpPr/>
            <p:nvPr/>
          </p:nvSpPr>
          <p:spPr>
            <a:xfrm>
              <a:off x="4030764" y="2849880"/>
              <a:ext cx="1384759" cy="303067"/>
            </a:xfrm>
            <a:prstGeom prst="roundRect">
              <a:avLst>
                <a:gd name="adj" fmla="val 36070"/>
              </a:avLst>
            </a:prstGeom>
            <a:solidFill>
              <a:schemeClr val="bg1">
                <a:lumMod val="6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tIns="0" rIns="0" bIns="0" rtlCol="0" anchor="ctr"/>
            <a:lstStyle/>
            <a:p>
              <a:pPr algn="ctr"/>
              <a:r>
                <a:rPr lang="ko-KR" altLang="en-US" sz="900" b="1" spc="-1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rPr>
                <a:t>클라우드 데이터</a:t>
              </a:r>
              <a:endParaRPr lang="en-US" altLang="ko-KR" sz="900" b="1" spc="-10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900" b="1" spc="-1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rPr>
                <a:t> 관리방안 정의서</a:t>
              </a:r>
              <a:endParaRPr lang="en-US" altLang="ko-KR" sz="900" b="1" spc="-10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DDC5169-BA64-670C-6875-D38E206C2C42}"/>
                </a:ext>
              </a:extLst>
            </p:cNvPr>
            <p:cNvSpPr txBox="1"/>
            <p:nvPr/>
          </p:nvSpPr>
          <p:spPr>
            <a:xfrm>
              <a:off x="4030763" y="2643235"/>
              <a:ext cx="13847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운영관리 방안 정의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CC3CCEB-0266-71B2-794B-C2AFDD8AA319}"/>
                </a:ext>
              </a:extLst>
            </p:cNvPr>
            <p:cNvSpPr/>
            <p:nvPr/>
          </p:nvSpPr>
          <p:spPr>
            <a:xfrm>
              <a:off x="4082936" y="2876715"/>
              <a:ext cx="329043" cy="249396"/>
            </a:xfrm>
            <a:prstGeom prst="roundRect">
              <a:avLst>
                <a:gd name="adj" fmla="val 40244"/>
              </a:avLst>
            </a:prstGeom>
            <a:solidFill>
              <a:schemeClr val="bg1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spcAft>
                  <a:spcPts val="200"/>
                </a:spcAft>
              </a:pPr>
              <a:r>
                <a:rPr lang="ko-KR" altLang="en-US" sz="900" spc="-1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산출물</a:t>
              </a:r>
              <a:endParaRPr lang="en-US" altLang="ko-KR" sz="900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</a:endParaRP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78CEFCEB-9CA1-0391-BB37-9E00EE9E24CF}"/>
              </a:ext>
            </a:extLst>
          </p:cNvPr>
          <p:cNvCxnSpPr>
            <a:cxnSpLocks/>
            <a:stCxn id="10" idx="3"/>
            <a:endCxn id="60" idx="1"/>
          </p:cNvCxnSpPr>
          <p:nvPr/>
        </p:nvCxnSpPr>
        <p:spPr>
          <a:xfrm>
            <a:off x="10213204" y="5872940"/>
            <a:ext cx="1692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600CCD-CBA9-56F1-351F-319587DB75A5}"/>
              </a:ext>
            </a:extLst>
          </p:cNvPr>
          <p:cNvGrpSpPr/>
          <p:nvPr/>
        </p:nvGrpSpPr>
        <p:grpSpPr>
          <a:xfrm>
            <a:off x="6891317" y="1496847"/>
            <a:ext cx="216000" cy="4989944"/>
            <a:chOff x="2744115" y="1496847"/>
            <a:chExt cx="216000" cy="4989944"/>
          </a:xfrm>
        </p:grpSpPr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C2DA40B1-6299-788E-66C1-C17A2AF465B6}"/>
                </a:ext>
              </a:extLst>
            </p:cNvPr>
            <p:cNvSpPr/>
            <p:nvPr/>
          </p:nvSpPr>
          <p:spPr>
            <a:xfrm rot="10800000">
              <a:off x="2744115" y="1496847"/>
              <a:ext cx="216000" cy="1080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1B91FC9-0C14-A95B-7991-619C136D2014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>
              <a:off x="2852115" y="1604847"/>
              <a:ext cx="0" cy="4881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963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408EF-2028-F390-3040-A641EB6F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32E248E-B2B6-CF9E-7BE0-3D437C45B96F}"/>
              </a:ext>
            </a:extLst>
          </p:cNvPr>
          <p:cNvGraphicFramePr>
            <a:graphicFrameLocks noGrp="1"/>
          </p:cNvGraphicFramePr>
          <p:nvPr/>
        </p:nvGraphicFramePr>
        <p:xfrm>
          <a:off x="2306441" y="1353666"/>
          <a:ext cx="9583020" cy="5170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85">
                  <a:extLst>
                    <a:ext uri="{9D8B030D-6E8A-4147-A177-3AD203B41FA5}">
                      <a16:colId xmlns:a16="http://schemas.microsoft.com/office/drawing/2014/main" val="2276407710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378130096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2056131262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613428727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684419653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26036018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465352186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3154535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746512402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3913534244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1415868201"/>
                    </a:ext>
                  </a:extLst>
                </a:gridCol>
                <a:gridCol w="798585">
                  <a:extLst>
                    <a:ext uri="{9D8B030D-6E8A-4147-A177-3AD203B41FA5}">
                      <a16:colId xmlns:a16="http://schemas.microsoft.com/office/drawing/2014/main" val="2137667613"/>
                    </a:ext>
                  </a:extLst>
                </a:gridCol>
              </a:tblGrid>
              <a:tr h="6840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</a:t>
                      </a:r>
                    </a:p>
                    <a:p>
                      <a:pPr algn="ctr" latinLnBrk="1"/>
                      <a:r>
                        <a:rPr lang="en-US" altLang="ko-KR" sz="900" b="0" spc="-50" baseline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(11/10~14)</a:t>
                      </a:r>
                      <a:endParaRPr lang="ko-KR" altLang="en-US" sz="900" b="0" spc="-50" baseline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50" baseline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(11/17~21)</a:t>
                      </a:r>
                      <a:endParaRPr lang="ko-KR" altLang="en-US" sz="900" b="0" spc="-50" baseline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W3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(11/24~28)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W4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(12/1~5)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W5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(12/8~12)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W6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(12/15~19)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W7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(12/22~26)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W8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(12/29~1/2)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W9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(1/5~9)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W10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(1/12~16)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W11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(1/19~23)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W12</a:t>
                      </a:r>
                    </a:p>
                    <a:p>
                      <a:pPr algn="ctr" latinLnBrk="1"/>
                      <a:r>
                        <a:rPr lang="en-US" altLang="ko-KR" sz="900" b="0">
                          <a:ln>
                            <a:solidFill>
                              <a:schemeClr val="bg1">
                                <a:lumMod val="9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(1/26~30)</a:t>
                      </a:r>
                      <a:endParaRPr lang="ko-KR" altLang="en-US" sz="900" b="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40539"/>
                  </a:ext>
                </a:extLst>
              </a:tr>
              <a:tr h="784139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74583"/>
                  </a:ext>
                </a:extLst>
              </a:tr>
              <a:tr h="7760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72362"/>
                  </a:ext>
                </a:extLst>
              </a:tr>
              <a:tr h="8056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09064"/>
                  </a:ext>
                </a:extLst>
              </a:tr>
              <a:tr h="21207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n>
                          <a:solidFill>
                            <a:schemeClr val="bg1">
                              <a:lumMod val="95000"/>
                              <a:alpha val="0"/>
                            </a:schemeClr>
                          </a:solidFill>
                        </a:ln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2617"/>
                  </a:ext>
                </a:extLst>
              </a:tr>
            </a:tbl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06F3C092-49AE-337F-79FA-CCF53215900B}"/>
              </a:ext>
            </a:extLst>
          </p:cNvPr>
          <p:cNvSpPr/>
          <p:nvPr/>
        </p:nvSpPr>
        <p:spPr>
          <a:xfrm>
            <a:off x="2308941" y="3728122"/>
            <a:ext cx="9583022" cy="5530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A, B </a:t>
            </a:r>
            <a:r>
              <a:rPr lang="ko-KR" altLang="en-US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진행상황에 따라 </a:t>
            </a:r>
            <a:r>
              <a:rPr lang="en-US" altLang="ko-KR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Task </a:t>
            </a:r>
            <a:r>
              <a:rPr lang="ko-KR" altLang="en-US" sz="1400" b="1" i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</a:rPr>
              <a:t>조율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6218B-FE02-BD0B-09BA-11B62AFECF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TOBE(</a:t>
            </a:r>
            <a:r>
              <a:rPr lang="ko-KR" altLang="en-US"/>
              <a:t>案</a:t>
            </a:r>
            <a:r>
              <a:rPr lang="en-US" altLang="ko-KR"/>
              <a:t>) Task</a:t>
            </a:r>
            <a:r>
              <a:rPr lang="ko-KR" altLang="en-US"/>
              <a:t>는 고객사 </a:t>
            </a:r>
            <a:r>
              <a:rPr lang="en-US" altLang="ko-KR"/>
              <a:t>Needs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맞춰 일부 수정했으며</a:t>
            </a:r>
            <a:r>
              <a:rPr lang="en-US" altLang="ko-KR"/>
              <a:t>, </a:t>
            </a:r>
            <a:r>
              <a:rPr lang="ko-KR" altLang="en-US"/>
              <a:t>블룸버그 현황분석 인터뷰 집중을 위해 </a:t>
            </a:r>
            <a:r>
              <a:rPr lang="ko-KR" altLang="en-US" err="1"/>
              <a:t>데이터패브릭</a:t>
            </a:r>
            <a:r>
              <a:rPr lang="en-US" altLang="ko-KR"/>
              <a:t>Task</a:t>
            </a:r>
            <a:r>
              <a:rPr lang="ko-KR" altLang="en-US"/>
              <a:t>를 일정 변경하였음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437D1-40A6-913F-F0F1-4EF6779F10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데이터 활용 거버넌스 </a:t>
            </a:r>
            <a:r>
              <a:rPr lang="en-US" altLang="ko-KR"/>
              <a:t>Target Scope (TOBE </a:t>
            </a:r>
            <a:r>
              <a:rPr lang="ko-KR" altLang="en-US"/>
              <a:t>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767B12-ECF4-FDD2-D038-8B45C99D7AEB}"/>
              </a:ext>
            </a:extLst>
          </p:cNvPr>
          <p:cNvSpPr/>
          <p:nvPr/>
        </p:nvSpPr>
        <p:spPr>
          <a:xfrm>
            <a:off x="478454" y="2082801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퍼블릭</a:t>
            </a:r>
            <a:r>
              <a:rPr lang="en-US" altLang="ko-KR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ko-KR" altLang="en-US" sz="1200" b="1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프라이빗존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연계방안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D736FA3-4940-30A2-B0D6-D413858AFEFC}"/>
              </a:ext>
            </a:extLst>
          </p:cNvPr>
          <p:cNvSpPr/>
          <p:nvPr/>
        </p:nvSpPr>
        <p:spPr>
          <a:xfrm>
            <a:off x="478454" y="2871470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퍼블릭 클라우드와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내부망</a:t>
            </a: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연계 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122A0E4-8F23-1988-AAE0-3547BC45D81B}"/>
              </a:ext>
            </a:extLst>
          </p:cNvPr>
          <p:cNvSpPr/>
          <p:nvPr/>
        </p:nvSpPr>
        <p:spPr>
          <a:xfrm>
            <a:off x="478454" y="3656351"/>
            <a:ext cx="1726266" cy="653840"/>
          </a:xfrm>
          <a:prstGeom prst="roundRect">
            <a:avLst>
              <a:gd name="adj" fmla="val 8482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하이브리드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클라우드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369356B-7AB2-7998-FEA8-5C470ED4B03C}"/>
              </a:ext>
            </a:extLst>
          </p:cNvPr>
          <p:cNvSpPr/>
          <p:nvPr/>
        </p:nvSpPr>
        <p:spPr>
          <a:xfrm>
            <a:off x="478454" y="4517825"/>
            <a:ext cx="1726266" cy="1873704"/>
          </a:xfrm>
          <a:prstGeom prst="roundRect">
            <a:avLst>
              <a:gd name="adj" fmla="val 4244"/>
            </a:avLst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클라우드 데이터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ko-KR" altLang="en-US" sz="12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통합 활용 방안</a:t>
            </a:r>
            <a:endParaRPr lang="en-US" altLang="ko-KR" sz="1200" b="1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07228E7-2A72-4DFE-DDCB-E655564F0517}"/>
              </a:ext>
            </a:extLst>
          </p:cNvPr>
          <p:cNvSpPr/>
          <p:nvPr/>
        </p:nvSpPr>
        <p:spPr>
          <a:xfrm>
            <a:off x="351643" y="5335391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D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7D41C99-3F84-29B2-DD6A-7E0E9F1CD6CD}"/>
              </a:ext>
            </a:extLst>
          </p:cNvPr>
          <p:cNvSpPr/>
          <p:nvPr/>
        </p:nvSpPr>
        <p:spPr>
          <a:xfrm>
            <a:off x="351643" y="2290435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A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7857AF6-9B08-4637-9FC9-F636E46EB9E1}"/>
              </a:ext>
            </a:extLst>
          </p:cNvPr>
          <p:cNvSpPr/>
          <p:nvPr/>
        </p:nvSpPr>
        <p:spPr>
          <a:xfrm>
            <a:off x="351643" y="3079104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B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918FCA0-7091-8323-8A3E-62F5150F0218}"/>
              </a:ext>
            </a:extLst>
          </p:cNvPr>
          <p:cNvSpPr/>
          <p:nvPr/>
        </p:nvSpPr>
        <p:spPr>
          <a:xfrm>
            <a:off x="351643" y="3863985"/>
            <a:ext cx="238573" cy="238573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C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733324-11D2-67CF-A371-9002A48EAAEA}"/>
              </a:ext>
            </a:extLst>
          </p:cNvPr>
          <p:cNvGrpSpPr/>
          <p:nvPr/>
        </p:nvGrpSpPr>
        <p:grpSpPr>
          <a:xfrm>
            <a:off x="2464777" y="5404703"/>
            <a:ext cx="2876844" cy="939065"/>
            <a:chOff x="2464777" y="5452111"/>
            <a:chExt cx="2876844" cy="939065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7A9B441-8F2C-E540-B2C5-B74E9AFFB32F}"/>
                </a:ext>
              </a:extLst>
            </p:cNvPr>
            <p:cNvGrpSpPr/>
            <p:nvPr/>
          </p:nvGrpSpPr>
          <p:grpSpPr>
            <a:xfrm>
              <a:off x="2464777" y="5452111"/>
              <a:ext cx="2876844" cy="939065"/>
              <a:chOff x="2426676" y="5479940"/>
              <a:chExt cx="2936631" cy="865821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4FBEC4B2-5452-FE5A-C096-E8EAB16571E5}"/>
                  </a:ext>
                </a:extLst>
              </p:cNvPr>
              <p:cNvSpPr/>
              <p:nvPr/>
            </p:nvSpPr>
            <p:spPr>
              <a:xfrm>
                <a:off x="2426676" y="5479940"/>
                <a:ext cx="2936631" cy="865821"/>
              </a:xfrm>
              <a:prstGeom prst="roundRect">
                <a:avLst>
                  <a:gd name="adj" fmla="val 11589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A6A6A6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데이터 현황검토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729EA924-D23B-C491-97A3-0711AB25DDA7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833675" cy="219075"/>
              </a:xfrm>
              <a:prstGeom prst="roundRect">
                <a:avLst>
                  <a:gd name="adj" fmla="val 40244"/>
                </a:avLst>
              </a:prstGeom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en-US" altLang="ko-KR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To-Be </a:t>
                </a:r>
                <a:r>
                  <a:rPr lang="ko-KR" altLang="en-US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참조모델 정의서</a:t>
                </a:r>
                <a:endParaRPr lang="en-US" altLang="ko-KR" sz="1000" b="1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88B62D91-28BE-6F23-C88A-9ABD0E0747D3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451735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67B9E3-9E4E-9CE5-9F61-69F4E9297F47}"/>
                </a:ext>
              </a:extLst>
            </p:cNvPr>
            <p:cNvSpPr txBox="1"/>
            <p:nvPr/>
          </p:nvSpPr>
          <p:spPr>
            <a:xfrm>
              <a:off x="2515205" y="5712273"/>
              <a:ext cx="2775985" cy="394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타사 사례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(H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社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, T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社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) 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기반 참조모델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외부데이터 활용 니즈 식별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2ED19AE-4347-8A2C-CFF5-C82377AB43CC}"/>
              </a:ext>
            </a:extLst>
          </p:cNvPr>
          <p:cNvGrpSpPr/>
          <p:nvPr/>
        </p:nvGrpSpPr>
        <p:grpSpPr>
          <a:xfrm>
            <a:off x="5650739" y="5404703"/>
            <a:ext cx="2876844" cy="939065"/>
            <a:chOff x="2464777" y="5452111"/>
            <a:chExt cx="2876844" cy="939065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EC67D75-5AE2-C18D-2654-72A4D4F6E8E0}"/>
                </a:ext>
              </a:extLst>
            </p:cNvPr>
            <p:cNvGrpSpPr/>
            <p:nvPr/>
          </p:nvGrpSpPr>
          <p:grpSpPr>
            <a:xfrm>
              <a:off x="2464777" y="5452111"/>
              <a:ext cx="2876844" cy="939065"/>
              <a:chOff x="2426676" y="5479940"/>
              <a:chExt cx="2936631" cy="865821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010907C7-A05F-F803-5875-5DA5A93418D1}"/>
                  </a:ext>
                </a:extLst>
              </p:cNvPr>
              <p:cNvSpPr/>
              <p:nvPr/>
            </p:nvSpPr>
            <p:spPr>
              <a:xfrm>
                <a:off x="2426676" y="5479940"/>
                <a:ext cx="2936631" cy="865821"/>
              </a:xfrm>
              <a:prstGeom prst="roundRect">
                <a:avLst>
                  <a:gd name="adj" fmla="val 11589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클라우드 데이터 분류체계 수립</a:t>
                </a:r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5DE51444-C9CE-B203-DAA1-47C615A2CF06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833675" cy="219075"/>
              </a:xfrm>
              <a:prstGeom prst="roundRect">
                <a:avLst>
                  <a:gd name="adj" fmla="val 40244"/>
                </a:avLst>
              </a:prstGeom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클라우드 데이터 분류체계 정의서</a:t>
                </a:r>
                <a:endParaRPr lang="en-US" altLang="ko-KR" sz="1000" b="1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8541DAB9-EE4E-EB80-8D9E-10E93E46D84E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451735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9CDA35-1631-F308-C117-98143A2B97EF}"/>
                </a:ext>
              </a:extLst>
            </p:cNvPr>
            <p:cNvSpPr txBox="1"/>
            <p:nvPr/>
          </p:nvSpPr>
          <p:spPr>
            <a:xfrm>
              <a:off x="2515205" y="5712273"/>
              <a:ext cx="2775985" cy="394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외부데이터 수집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/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유통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/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관리체계 방안 비교</a:t>
              </a: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클라우드 데이터 분류체계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69A609E-31E6-D23A-C4D5-36096F88D526}"/>
              </a:ext>
            </a:extLst>
          </p:cNvPr>
          <p:cNvCxnSpPr>
            <a:cxnSpLocks/>
            <a:stCxn id="24" idx="3"/>
            <a:endCxn id="34" idx="1"/>
          </p:cNvCxnSpPr>
          <p:nvPr/>
        </p:nvCxnSpPr>
        <p:spPr>
          <a:xfrm>
            <a:off x="5341621" y="5874236"/>
            <a:ext cx="30911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09510C3-D89B-2E57-484B-A4F9C504F97C}"/>
              </a:ext>
            </a:extLst>
          </p:cNvPr>
          <p:cNvGrpSpPr/>
          <p:nvPr/>
        </p:nvGrpSpPr>
        <p:grpSpPr>
          <a:xfrm>
            <a:off x="9542416" y="4476234"/>
            <a:ext cx="2326891" cy="793768"/>
            <a:chOff x="2464777" y="5597405"/>
            <a:chExt cx="2326891" cy="79376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0E748BA-E6B6-51E9-1FFB-08E6BA442128}"/>
                </a:ext>
              </a:extLst>
            </p:cNvPr>
            <p:cNvGrpSpPr/>
            <p:nvPr/>
          </p:nvGrpSpPr>
          <p:grpSpPr>
            <a:xfrm>
              <a:off x="2464777" y="5597405"/>
              <a:ext cx="2326891" cy="793768"/>
              <a:chOff x="2426676" y="5613904"/>
              <a:chExt cx="2375249" cy="731857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FED03D09-66FD-F6BD-3529-CA4AE780883B}"/>
                  </a:ext>
                </a:extLst>
              </p:cNvPr>
              <p:cNvSpPr/>
              <p:nvPr/>
            </p:nvSpPr>
            <p:spPr>
              <a:xfrm>
                <a:off x="2426676" y="5613904"/>
                <a:ext cx="2375249" cy="731857"/>
              </a:xfrm>
              <a:prstGeom prst="roundRect">
                <a:avLst>
                  <a:gd name="adj" fmla="val 11589"/>
                </a:avLst>
              </a:prstGeom>
              <a:solidFill>
                <a:srgbClr val="FDF1E9"/>
              </a:solidFill>
              <a:ln w="19050">
                <a:solidFill>
                  <a:srgbClr val="F0AF6B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dirty="0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데이터 패브릭 </a:t>
                </a:r>
                <a:r>
                  <a:rPr lang="en-US" altLang="ko-KR" sz="1100" b="1" dirty="0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Case Study </a:t>
                </a:r>
                <a:r>
                  <a:rPr lang="en-US" altLang="ko-KR" sz="1100" b="1" baseline="30000" dirty="0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1)</a:t>
                </a:r>
                <a:endParaRPr lang="ko-KR" altLang="en-US" sz="1100" b="1" baseline="30000" dirty="0">
                  <a:ln>
                    <a:solidFill>
                      <a:srgbClr val="F0AF6B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868E974F-6CC6-FA59-F3E8-26975096451A}"/>
                  </a:ext>
                </a:extLst>
              </p:cNvPr>
              <p:cNvSpPr/>
              <p:nvPr/>
            </p:nvSpPr>
            <p:spPr>
              <a:xfrm>
                <a:off x="2478154" y="6080760"/>
                <a:ext cx="2277101" cy="219075"/>
              </a:xfrm>
              <a:prstGeom prst="roundRect">
                <a:avLst>
                  <a:gd name="adj" fmla="val 40244"/>
                </a:avLst>
              </a:prstGeom>
              <a:solidFill>
                <a:srgbClr val="F0AF6B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72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데이터 패브릭 적용사례 보고서</a:t>
                </a:r>
                <a:endParaRPr lang="en-US" altLang="ko-KR" sz="1000" b="1" spc="-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498B22CE-DD68-4C99-1529-37E39BC05BAC}"/>
                  </a:ext>
                </a:extLst>
              </p:cNvPr>
              <p:cNvSpPr/>
              <p:nvPr/>
            </p:nvSpPr>
            <p:spPr>
              <a:xfrm>
                <a:off x="2550545" y="6110684"/>
                <a:ext cx="367720" cy="159227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3CAF5DB-37A8-E46D-1CB0-9339B4A38F7A}"/>
                </a:ext>
              </a:extLst>
            </p:cNvPr>
            <p:cNvSpPr txBox="1"/>
            <p:nvPr/>
          </p:nvSpPr>
          <p:spPr>
            <a:xfrm>
              <a:off x="2562720" y="5869639"/>
              <a:ext cx="21425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데이터 패브릭 적용 사례 조사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7E78DF2-3606-1541-A0BA-780949D56C7A}"/>
              </a:ext>
            </a:extLst>
          </p:cNvPr>
          <p:cNvGrpSpPr/>
          <p:nvPr/>
        </p:nvGrpSpPr>
        <p:grpSpPr>
          <a:xfrm>
            <a:off x="6337091" y="2202855"/>
            <a:ext cx="3101549" cy="1217353"/>
            <a:chOff x="2464777" y="5597405"/>
            <a:chExt cx="2326891" cy="793768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F0AA15D-91AA-5E20-2B23-C0275576FDB8}"/>
                </a:ext>
              </a:extLst>
            </p:cNvPr>
            <p:cNvGrpSpPr/>
            <p:nvPr/>
          </p:nvGrpSpPr>
          <p:grpSpPr>
            <a:xfrm>
              <a:off x="2464777" y="5597405"/>
              <a:ext cx="2326891" cy="793768"/>
              <a:chOff x="2426676" y="5613904"/>
              <a:chExt cx="2375249" cy="731857"/>
            </a:xfrm>
          </p:grpSpPr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D42B1451-AFDA-A2F9-8FA1-0CC2EBD58B3D}"/>
                  </a:ext>
                </a:extLst>
              </p:cNvPr>
              <p:cNvSpPr/>
              <p:nvPr/>
            </p:nvSpPr>
            <p:spPr>
              <a:xfrm>
                <a:off x="2426676" y="5613904"/>
                <a:ext cx="2375249" cy="731857"/>
              </a:xfrm>
              <a:prstGeom prst="roundRect">
                <a:avLst>
                  <a:gd name="adj" fmla="val 7191"/>
                </a:avLst>
              </a:prstGeom>
              <a:solidFill>
                <a:srgbClr val="FDF1E9"/>
              </a:solidFill>
              <a:ln w="19050">
                <a:solidFill>
                  <a:srgbClr val="F0AF6B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100" b="1" err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망분리</a:t>
                </a:r>
                <a:r>
                  <a:rPr lang="ko-KR" altLang="en-US" sz="1100" b="1">
                    <a:ln>
                      <a:solidFill>
                        <a:srgbClr val="F0AF6B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 및 연계 방안 검토</a:t>
                </a:r>
              </a:p>
            </p:txBody>
          </p:sp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EF4C6852-23D3-890A-5BEA-10D15F295F67}"/>
                  </a:ext>
                </a:extLst>
              </p:cNvPr>
              <p:cNvSpPr/>
              <p:nvPr/>
            </p:nvSpPr>
            <p:spPr>
              <a:xfrm>
                <a:off x="2478154" y="6145971"/>
                <a:ext cx="2277101" cy="164435"/>
              </a:xfrm>
              <a:prstGeom prst="roundRect">
                <a:avLst>
                  <a:gd name="adj" fmla="val 40244"/>
                </a:avLst>
              </a:prstGeom>
              <a:solidFill>
                <a:srgbClr val="F0AF6B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0" bIns="0" rtlCol="0" anchor="ctr"/>
              <a:lstStyle/>
              <a:p>
                <a:pPr algn="r">
                  <a:spcAft>
                    <a:spcPts val="200"/>
                  </a:spcAft>
                </a:pPr>
                <a:r>
                  <a:rPr lang="ko-KR" altLang="en-US" sz="1000" b="1" spc="-50" err="1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망분리</a:t>
                </a:r>
                <a:r>
                  <a:rPr lang="en-US" altLang="ko-KR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 </a:t>
                </a:r>
                <a:r>
                  <a:rPr lang="ko-KR" altLang="en-US" sz="1000" b="1" spc="-5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</a:rPr>
                  <a:t>및 연계 방안 검토 의견서</a:t>
                </a:r>
                <a:endParaRPr lang="en-US" altLang="ko-KR" sz="1000" b="1" spc="-5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69F6C068-5600-7B04-EC0E-D85BB07F78CE}"/>
                  </a:ext>
                </a:extLst>
              </p:cNvPr>
              <p:cNvSpPr/>
              <p:nvPr/>
            </p:nvSpPr>
            <p:spPr>
              <a:xfrm>
                <a:off x="2550545" y="6168432"/>
                <a:ext cx="367720" cy="119514"/>
              </a:xfrm>
              <a:prstGeom prst="roundRect">
                <a:avLst>
                  <a:gd name="adj" fmla="val 40244"/>
                </a:avLst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Aft>
                    <a:spcPts val="200"/>
                  </a:spcAft>
                </a:pPr>
                <a:r>
                  <a:rPr lang="ko-KR" altLang="en-US" sz="900">
                    <a:ln>
                      <a:solidFill>
                        <a:srgbClr val="F58220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</a:rPr>
                  <a:t>산출물</a:t>
                </a:r>
                <a:endPara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1E9AE7-EE13-EEC7-B932-623BFBA1FC6E}"/>
                </a:ext>
              </a:extLst>
            </p:cNvPr>
            <p:cNvSpPr txBox="1"/>
            <p:nvPr/>
          </p:nvSpPr>
          <p:spPr>
            <a:xfrm>
              <a:off x="2562720" y="5802730"/>
              <a:ext cx="2142588" cy="34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(EY) </a:t>
              </a:r>
              <a:r>
                <a:rPr lang="ko-KR" altLang="en-US" sz="900" err="1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망분리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 관련 규제요건 검토 및 금융감독원 대응 방안 검토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  <a:p>
              <a:pPr marL="108000" indent="-1080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(</a:t>
              </a:r>
              <a:r>
                <a:rPr lang="ko-KR" altLang="en-US" sz="900" err="1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메가존</a:t>
              </a:r>
              <a:r>
                <a:rPr lang="en-US" altLang="ko-KR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) </a:t>
              </a:r>
              <a:r>
                <a:rPr lang="ko-KR" altLang="en-US" sz="900">
                  <a:ln>
                    <a:solidFill>
                      <a:srgbClr val="F58220">
                        <a:alpha val="0"/>
                      </a:srgbClr>
                    </a:solidFill>
                  </a:ln>
                </a:rPr>
                <a:t>기술 구현 방안 수립</a:t>
              </a:r>
              <a:endPara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endParaRPr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57D8A52-6223-71C6-511E-94F2BA125B87}"/>
              </a:ext>
            </a:extLst>
          </p:cNvPr>
          <p:cNvSpPr/>
          <p:nvPr/>
        </p:nvSpPr>
        <p:spPr>
          <a:xfrm>
            <a:off x="8785901" y="5385823"/>
            <a:ext cx="1425272" cy="976825"/>
          </a:xfrm>
          <a:prstGeom prst="roundRect">
            <a:avLst>
              <a:gd name="adj" fmla="val 925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ko-KR" altLang="en-US" sz="1100" b="1" spc="-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rPr>
              <a:t>블룸버그 활용 현황분석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2A17F9B-F3F7-1F57-A6B4-A5D4C3197E13}"/>
              </a:ext>
            </a:extLst>
          </p:cNvPr>
          <p:cNvSpPr/>
          <p:nvPr/>
        </p:nvSpPr>
        <p:spPr>
          <a:xfrm>
            <a:off x="8829900" y="6035185"/>
            <a:ext cx="1337275" cy="275216"/>
          </a:xfrm>
          <a:prstGeom prst="roundRect">
            <a:avLst>
              <a:gd name="adj" fmla="val 25253"/>
            </a:avLst>
          </a:prstGeom>
          <a:solidFill>
            <a:schemeClr val="accent4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블룸버그 데이터 현황분석서</a:t>
            </a:r>
            <a:endParaRPr lang="en-US" altLang="ko-KR" sz="1000" b="1" spc="-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92F03-0CBA-FDFF-6AA8-A77E4D6E8379}"/>
              </a:ext>
            </a:extLst>
          </p:cNvPr>
          <p:cNvSpPr txBox="1"/>
          <p:nvPr/>
        </p:nvSpPr>
        <p:spPr>
          <a:xfrm>
            <a:off x="8845894" y="5796377"/>
            <a:ext cx="1312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현황 조사 및 인터뷰</a:t>
            </a:r>
            <a:endParaRPr lang="en-US" altLang="ko-KR" sz="900">
              <a:ln>
                <a:solidFill>
                  <a:srgbClr val="F58220">
                    <a:alpha val="0"/>
                  </a:srgbClr>
                </a:solidFill>
              </a:ln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9D0A6A3-D3D4-48FF-0E46-02A288625605}"/>
              </a:ext>
            </a:extLst>
          </p:cNvPr>
          <p:cNvSpPr/>
          <p:nvPr/>
        </p:nvSpPr>
        <p:spPr>
          <a:xfrm>
            <a:off x="10444035" y="5385823"/>
            <a:ext cx="1425272" cy="976825"/>
          </a:xfrm>
          <a:prstGeom prst="roundRect">
            <a:avLst>
              <a:gd name="adj" fmla="val 925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ko-KR" altLang="en-US" sz="1100" b="1" spc="-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rPr>
              <a:t>블룸버그 </a:t>
            </a:r>
            <a:r>
              <a:rPr lang="en-US" altLang="ko-KR" sz="1100" b="1" spc="-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rPr>
              <a:t>To-Be</a:t>
            </a:r>
            <a:r>
              <a:rPr lang="ko-KR" altLang="en-US" sz="1100" b="1" spc="-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</a:rPr>
              <a:t> 활용체계 수립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3723397-83CE-48BF-9973-CB64517714BB}"/>
              </a:ext>
            </a:extLst>
          </p:cNvPr>
          <p:cNvSpPr/>
          <p:nvPr/>
        </p:nvSpPr>
        <p:spPr>
          <a:xfrm>
            <a:off x="10488034" y="6035185"/>
            <a:ext cx="1337275" cy="275216"/>
          </a:xfrm>
          <a:prstGeom prst="roundRect">
            <a:avLst>
              <a:gd name="adj" fmla="val 25253"/>
            </a:avLst>
          </a:prstGeom>
          <a:solidFill>
            <a:schemeClr val="accent4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블룸버그 데이터 활용체계 정의서</a:t>
            </a:r>
            <a:endParaRPr lang="en-US" altLang="ko-KR" sz="1000" b="1" spc="-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334E6F-C9F4-04AF-BAE6-4FB4BEAD16C5}"/>
              </a:ext>
            </a:extLst>
          </p:cNvPr>
          <p:cNvSpPr txBox="1"/>
          <p:nvPr/>
        </p:nvSpPr>
        <p:spPr>
          <a:xfrm>
            <a:off x="10504028" y="5791296"/>
            <a:ext cx="1312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To-Be 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활용 방안 수립</a:t>
            </a:r>
            <a:endParaRPr lang="en-US" altLang="ko-KR" sz="900">
              <a:ln>
                <a:solidFill>
                  <a:srgbClr val="F58220">
                    <a:alpha val="0"/>
                  </a:srgbClr>
                </a:solidFill>
              </a:ln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93E895B-6460-7A0D-60A5-D3E6833BA727}"/>
              </a:ext>
            </a:extLst>
          </p:cNvPr>
          <p:cNvCxnSpPr>
            <a:cxnSpLocks/>
            <a:stCxn id="34" idx="3"/>
            <a:endCxn id="14" idx="1"/>
          </p:cNvCxnSpPr>
          <p:nvPr/>
        </p:nvCxnSpPr>
        <p:spPr>
          <a:xfrm>
            <a:off x="8527583" y="5874236"/>
            <a:ext cx="25831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FDA18AC-34C7-3DDF-4860-9CB5A70D834B}"/>
              </a:ext>
            </a:extLst>
          </p:cNvPr>
          <p:cNvCxnSpPr>
            <a:cxnSpLocks/>
            <a:stCxn id="14" idx="3"/>
            <a:endCxn id="40" idx="1"/>
          </p:cNvCxnSpPr>
          <p:nvPr/>
        </p:nvCxnSpPr>
        <p:spPr>
          <a:xfrm>
            <a:off x="10211173" y="5874236"/>
            <a:ext cx="23286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46">
            <a:extLst>
              <a:ext uri="{FF2B5EF4-FFF2-40B4-BE49-F238E27FC236}">
                <a16:creationId xmlns:a16="http://schemas.microsoft.com/office/drawing/2014/main" id="{11DAFF19-927D-5716-A2F9-1BE806E1FB3D}"/>
              </a:ext>
            </a:extLst>
          </p:cNvPr>
          <p:cNvSpPr/>
          <p:nvPr/>
        </p:nvSpPr>
        <p:spPr>
          <a:xfrm>
            <a:off x="8783400" y="6335622"/>
            <a:ext cx="3085908" cy="180000"/>
          </a:xfrm>
          <a:prstGeom prst="roundRect">
            <a:avLst>
              <a:gd name="adj" fmla="val 11418"/>
            </a:avLst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범위</a:t>
            </a:r>
            <a:r>
              <a:rPr lang="en-US" altLang="ko-KR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&amp;</a:t>
            </a:r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일정에 대한 의사결정 必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4F3522-5257-D527-4150-984A52DA2F0A}"/>
              </a:ext>
            </a:extLst>
          </p:cNvPr>
          <p:cNvSpPr txBox="1"/>
          <p:nvPr/>
        </p:nvSpPr>
        <p:spPr>
          <a:xfrm>
            <a:off x="2303066" y="6537963"/>
            <a:ext cx="23608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1) </a:t>
            </a:r>
            <a:r>
              <a:rPr lang="ko-KR" altLang="en-US" sz="800"/>
              <a:t>블룸버그 </a:t>
            </a:r>
            <a:r>
              <a:rPr lang="en-US" altLang="ko-KR" sz="800"/>
              <a:t>Task </a:t>
            </a:r>
            <a:r>
              <a:rPr lang="ko-KR" altLang="en-US" sz="800"/>
              <a:t>초기 인터뷰 집중으로 일정 변경</a:t>
            </a:r>
          </a:p>
        </p:txBody>
      </p:sp>
    </p:spTree>
    <p:extLst>
      <p:ext uri="{BB962C8B-B14F-4D97-AF65-F5344CB8AC3E}">
        <p14:creationId xmlns:p14="http://schemas.microsoft.com/office/powerpoint/2010/main" val="294504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42A5-FA85-3A05-860D-E197B4AD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577DBD-7639-7138-4CE6-B10749DC9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415926"/>
              </p:ext>
            </p:extLst>
          </p:nvPr>
        </p:nvGraphicFramePr>
        <p:xfrm>
          <a:off x="334962" y="1580451"/>
          <a:ext cx="7349088" cy="49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424">
                  <a:extLst>
                    <a:ext uri="{9D8B030D-6E8A-4147-A177-3AD203B41FA5}">
                      <a16:colId xmlns:a16="http://schemas.microsoft.com/office/drawing/2014/main" val="2366509227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918158083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975619612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1824964541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1120364045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2076228313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3139136858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3342355119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3546014477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3199499476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3518048641"/>
                    </a:ext>
                  </a:extLst>
                </a:gridCol>
                <a:gridCol w="612424">
                  <a:extLst>
                    <a:ext uri="{9D8B030D-6E8A-4147-A177-3AD203B41FA5}">
                      <a16:colId xmlns:a16="http://schemas.microsoft.com/office/drawing/2014/main" val="60385813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W7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W8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W9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W10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670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~11/14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~11/21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~11/28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~12/05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~12/12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~12/19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~12/26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~01/02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~01/09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~01/16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~01/23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/>
                        <a:t>~01/30</a:t>
                      </a:r>
                      <a:endParaRPr lang="ko-KR" altLang="en-US" sz="900"/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892424"/>
                  </a:ext>
                </a:extLst>
              </a:tr>
              <a:tr h="4464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09780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30798A-7686-582B-ED4A-40892592F9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3AEB5D-EEE3-7481-B535-AFA891CA68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데이터 활용 거버넌스는 기존 </a:t>
            </a:r>
            <a:r>
              <a:rPr lang="en-US" altLang="ko-KR"/>
              <a:t>RFP</a:t>
            </a:r>
            <a:r>
              <a:rPr lang="ko-KR" altLang="en-US"/>
              <a:t>상의 요건과 함께 블룸버그 데이터의 통합 활용체계를 수립하는 신규 요건을 추가하여 다음과 같이 수행할 예정임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DC0BAA-01F9-FE5D-293A-FAE6041669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데이터 활용 거버넌스 수립 계획 변경</a:t>
            </a:r>
            <a:r>
              <a:rPr lang="en-US" altLang="ko-KR"/>
              <a:t>(</a:t>
            </a:r>
            <a:r>
              <a:rPr lang="ko-KR" altLang="en-US"/>
              <a:t>案</a:t>
            </a:r>
            <a:r>
              <a:rPr lang="en-US" altLang="ko-KR"/>
              <a:t>) </a:t>
            </a:r>
            <a:r>
              <a:rPr lang="ko-KR" altLang="en-US"/>
              <a:t>및 진행 경과</a:t>
            </a:r>
            <a:endParaRPr lang="en-US" altLang="ko-KR"/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009B6A24-8BEF-01B3-56DA-AE58713FA89C}"/>
              </a:ext>
            </a:extLst>
          </p:cNvPr>
          <p:cNvSpPr/>
          <p:nvPr/>
        </p:nvSpPr>
        <p:spPr>
          <a:xfrm>
            <a:off x="334963" y="1233648"/>
            <a:ext cx="7488000" cy="288000"/>
          </a:xfrm>
          <a:prstGeom prst="homePlate">
            <a:avLst>
              <a:gd name="adj" fmla="val 24901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本 프로젝트 內 데이터 활용 거버넌스 진행 계획</a:t>
            </a:r>
            <a:endParaRPr lang="ko-KR" altLang="en-US" sz="1400" b="1" baseline="3000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B6D02AAF-9347-3E0C-DFD6-167D7F85E78D}"/>
              </a:ext>
            </a:extLst>
          </p:cNvPr>
          <p:cNvSpPr/>
          <p:nvPr/>
        </p:nvSpPr>
        <p:spPr>
          <a:xfrm>
            <a:off x="7931963" y="1251111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 err="1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망분리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및 연계방안 검토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7C5F8E3-7A38-EB97-56C7-FC278EE9B3B1}"/>
              </a:ext>
            </a:extLst>
          </p:cNvPr>
          <p:cNvSpPr/>
          <p:nvPr/>
        </p:nvSpPr>
        <p:spPr>
          <a:xfrm>
            <a:off x="8001509" y="180016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 err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망분리</a:t>
            </a: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및 연계방안 검토 의견서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2E9F202-16E2-28A0-6B8E-9DD4B6F3AF17}"/>
              </a:ext>
            </a:extLst>
          </p:cNvPr>
          <p:cNvSpPr/>
          <p:nvPr/>
        </p:nvSpPr>
        <p:spPr>
          <a:xfrm>
            <a:off x="8052687" y="183616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1A6A4A-FA11-C8C6-5A9B-E13E1ACE2471}"/>
              </a:ext>
            </a:extLst>
          </p:cNvPr>
          <p:cNvSpPr txBox="1"/>
          <p:nvPr/>
        </p:nvSpPr>
        <p:spPr>
          <a:xfrm>
            <a:off x="8001509" y="1526509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(EY) 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규제검토 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 (</a:t>
            </a:r>
            <a:r>
              <a:rPr lang="ko-KR" altLang="en-US" sz="900" err="1">
                <a:ln>
                  <a:solidFill>
                    <a:srgbClr val="F58220">
                      <a:alpha val="0"/>
                    </a:srgbClr>
                  </a:solidFill>
                </a:ln>
              </a:rPr>
              <a:t>메가존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) </a:t>
            </a:r>
            <a:r>
              <a:rPr lang="ko-KR" altLang="en-US" sz="900" err="1">
                <a:ln>
                  <a:solidFill>
                    <a:srgbClr val="F58220">
                      <a:alpha val="0"/>
                    </a:srgbClr>
                  </a:solidFill>
                </a:ln>
              </a:rPr>
              <a:t>기술구현방안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 수립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D60725F2-1DA7-29C1-6514-36A4264E8BEF}"/>
              </a:ext>
            </a:extLst>
          </p:cNvPr>
          <p:cNvSpPr/>
          <p:nvPr/>
        </p:nvSpPr>
        <p:spPr>
          <a:xfrm>
            <a:off x="7931963" y="1251111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1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7F4A40F-5F2C-93BC-7205-6895B9333679}"/>
              </a:ext>
            </a:extLst>
          </p:cNvPr>
          <p:cNvSpPr/>
          <p:nvPr/>
        </p:nvSpPr>
        <p:spPr>
          <a:xfrm>
            <a:off x="7931963" y="2331308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데이터 패브릭 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Case Study</a:t>
            </a:r>
            <a:endParaRPr lang="ko-KR" altLang="en-US" sz="1100" b="1" spc="-150">
              <a:ln>
                <a:solidFill>
                  <a:srgbClr val="F0AF6B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3F94924D-7A78-B01B-44AF-5775120C32C1}"/>
              </a:ext>
            </a:extLst>
          </p:cNvPr>
          <p:cNvSpPr/>
          <p:nvPr/>
        </p:nvSpPr>
        <p:spPr>
          <a:xfrm>
            <a:off x="8001509" y="2880364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데이터 패브릭 적용사례 보고서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B0E1648-DE9B-5DAF-05BE-476270031F52}"/>
              </a:ext>
            </a:extLst>
          </p:cNvPr>
          <p:cNvSpPr/>
          <p:nvPr/>
        </p:nvSpPr>
        <p:spPr>
          <a:xfrm>
            <a:off x="8052687" y="2916364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3FCDF0-852E-5B4C-7FF2-F3FE552BB836}"/>
              </a:ext>
            </a:extLst>
          </p:cNvPr>
          <p:cNvSpPr txBox="1"/>
          <p:nvPr/>
        </p:nvSpPr>
        <p:spPr>
          <a:xfrm>
            <a:off x="8001509" y="2606706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데이터 패브릭 적용 사례 조사</a:t>
            </a: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C1B2DE45-E6D3-CA20-22C5-DD7834EBCEF9}"/>
              </a:ext>
            </a:extLst>
          </p:cNvPr>
          <p:cNvSpPr/>
          <p:nvPr/>
        </p:nvSpPr>
        <p:spPr>
          <a:xfrm>
            <a:off x="7931963" y="2331308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2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8AF8BEF7-B81C-346F-B5B5-92ED08114F9F}"/>
              </a:ext>
            </a:extLst>
          </p:cNvPr>
          <p:cNvSpPr/>
          <p:nvPr/>
        </p:nvSpPr>
        <p:spPr>
          <a:xfrm>
            <a:off x="7931963" y="3411505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외부데이터 분류체계 수립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570D9C0E-CAC8-ADCF-DD03-CE413EDC2983}"/>
              </a:ext>
            </a:extLst>
          </p:cNvPr>
          <p:cNvSpPr/>
          <p:nvPr/>
        </p:nvSpPr>
        <p:spPr>
          <a:xfrm>
            <a:off x="8001509" y="3960560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외부데이터 분류체계 정의서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0529FFDE-0335-0496-E790-6A0D161CFBB1}"/>
              </a:ext>
            </a:extLst>
          </p:cNvPr>
          <p:cNvSpPr/>
          <p:nvPr/>
        </p:nvSpPr>
        <p:spPr>
          <a:xfrm>
            <a:off x="8052687" y="3996560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8E6BBF-6A2B-C423-5C24-A37078550754}"/>
              </a:ext>
            </a:extLst>
          </p:cNvPr>
          <p:cNvSpPr txBox="1"/>
          <p:nvPr/>
        </p:nvSpPr>
        <p:spPr>
          <a:xfrm>
            <a:off x="8001509" y="3686903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외부데이터 유형 분류 및 활용 모델 수립</a:t>
            </a:r>
            <a:endParaRPr lang="en-US" altLang="ko-KR" sz="900">
              <a:ln>
                <a:solidFill>
                  <a:srgbClr val="F58220">
                    <a:alpha val="0"/>
                  </a:srgbClr>
                </a:solidFill>
              </a:ln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AFCA18A0-4EAA-531B-68D8-2A83B0D817D9}"/>
              </a:ext>
            </a:extLst>
          </p:cNvPr>
          <p:cNvSpPr/>
          <p:nvPr/>
        </p:nvSpPr>
        <p:spPr>
          <a:xfrm>
            <a:off x="7931963" y="3411505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3ADFE6E4-2B66-4A2D-B969-CD50D5A1C907}"/>
              </a:ext>
            </a:extLst>
          </p:cNvPr>
          <p:cNvSpPr/>
          <p:nvPr/>
        </p:nvSpPr>
        <p:spPr>
          <a:xfrm>
            <a:off x="7931963" y="4491702"/>
            <a:ext cx="3060029" cy="955482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블룸버그 활용 현황 분석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7754BC5-49F3-3148-86BE-B26B0092D8E7}"/>
              </a:ext>
            </a:extLst>
          </p:cNvPr>
          <p:cNvSpPr/>
          <p:nvPr/>
        </p:nvSpPr>
        <p:spPr>
          <a:xfrm>
            <a:off x="8001509" y="504075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블룸버그 데이터 현황 분석서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F972C0D-5996-9624-FEE4-0152F54000EA}"/>
              </a:ext>
            </a:extLst>
          </p:cNvPr>
          <p:cNvSpPr/>
          <p:nvPr/>
        </p:nvSpPr>
        <p:spPr>
          <a:xfrm>
            <a:off x="8052687" y="507675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D7A49F5-D0F4-EAB0-EA2E-BEBD347BED46}"/>
              </a:ext>
            </a:extLst>
          </p:cNvPr>
          <p:cNvSpPr txBox="1"/>
          <p:nvPr/>
        </p:nvSpPr>
        <p:spPr>
          <a:xfrm>
            <a:off x="8001509" y="4767100"/>
            <a:ext cx="2920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블룸버그 활용 니즈 및 라이선스 조사</a:t>
            </a: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C47C0D4C-C215-FA49-133D-8881BBD27FBF}"/>
              </a:ext>
            </a:extLst>
          </p:cNvPr>
          <p:cNvSpPr/>
          <p:nvPr/>
        </p:nvSpPr>
        <p:spPr>
          <a:xfrm>
            <a:off x="7931963" y="4491702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4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083A58E-91EB-9E2C-D416-FA22862F2E42}"/>
              </a:ext>
            </a:extLst>
          </p:cNvPr>
          <p:cNvSpPr txBox="1"/>
          <p:nvPr/>
        </p:nvSpPr>
        <p:spPr>
          <a:xfrm>
            <a:off x="6727735" y="2081356"/>
            <a:ext cx="956321" cy="252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lIns="0" rtlCol="0" anchor="ctr">
            <a:noAutofit/>
          </a:bodyPr>
          <a:lstStyle/>
          <a:p>
            <a:pPr algn="r"/>
            <a:r>
              <a:rPr lang="en-US" altLang="ko-KR" sz="800">
                <a:latin typeface="+mn-ea"/>
              </a:rPr>
              <a:t> : </a:t>
            </a:r>
            <a:r>
              <a:rPr lang="ko-KR" altLang="en-US" sz="800">
                <a:latin typeface="+mn-ea"/>
              </a:rPr>
              <a:t>신규 </a:t>
            </a:r>
            <a:r>
              <a:rPr lang="en-US" altLang="ko-KR" sz="800">
                <a:latin typeface="+mn-ea"/>
              </a:rPr>
              <a:t>Task</a:t>
            </a:r>
            <a:endParaRPr lang="ko-KR" altLang="en-US" sz="800">
              <a:latin typeface="+mn-ea"/>
            </a:endParaRPr>
          </a:p>
        </p:txBody>
      </p:sp>
      <p:sp>
        <p:nvSpPr>
          <p:cNvPr id="145" name="Freeform 1754">
            <a:extLst>
              <a:ext uri="{FF2B5EF4-FFF2-40B4-BE49-F238E27FC236}">
                <a16:creationId xmlns:a16="http://schemas.microsoft.com/office/drawing/2014/main" id="{EF0A5CA2-BB04-323F-5185-FC6E0CE23628}"/>
              </a:ext>
            </a:extLst>
          </p:cNvPr>
          <p:cNvSpPr>
            <a:spLocks noChangeAspect="1"/>
          </p:cNvSpPr>
          <p:nvPr/>
        </p:nvSpPr>
        <p:spPr bwMode="gray">
          <a:xfrm>
            <a:off x="6891543" y="2114582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85BFB8F-04D2-3E5D-5526-7798596B42D4}"/>
              </a:ext>
            </a:extLst>
          </p:cNvPr>
          <p:cNvSpPr txBox="1"/>
          <p:nvPr/>
        </p:nvSpPr>
        <p:spPr>
          <a:xfrm>
            <a:off x="6560584" y="2117356"/>
            <a:ext cx="324000" cy="180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800">
                <a:latin typeface="+mn-ea"/>
              </a:rPr>
              <a:t>범례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3DFA726-F952-1EA0-0ABC-7A9D14969572}"/>
              </a:ext>
            </a:extLst>
          </p:cNvPr>
          <p:cNvSpPr/>
          <p:nvPr/>
        </p:nvSpPr>
        <p:spPr>
          <a:xfrm>
            <a:off x="7931963" y="5516625"/>
            <a:ext cx="3060029" cy="1008000"/>
          </a:xfrm>
          <a:prstGeom prst="roundRect">
            <a:avLst>
              <a:gd name="adj" fmla="val 1158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A6A6A6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t"/>
          <a:lstStyle/>
          <a:p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블룸버그 </a:t>
            </a:r>
            <a:r>
              <a:rPr lang="en-US" altLang="ko-KR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To-Be </a:t>
            </a:r>
            <a:r>
              <a:rPr lang="ko-KR" altLang="en-US" sz="1100" b="1" spc="-150">
                <a:ln>
                  <a:solidFill>
                    <a:srgbClr val="F0AF6B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활용 체계 수립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64871EB-B226-ED61-6F08-C78AAF342EE3}"/>
              </a:ext>
            </a:extLst>
          </p:cNvPr>
          <p:cNvSpPr/>
          <p:nvPr/>
        </p:nvSpPr>
        <p:spPr>
          <a:xfrm>
            <a:off x="8001509" y="6095497"/>
            <a:ext cx="2920937" cy="360000"/>
          </a:xfrm>
          <a:prstGeom prst="roundRect">
            <a:avLst>
              <a:gd name="adj" fmla="val 40244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블룸버그 데이터 활용체계 정의서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08F816-867B-FFB9-B24C-109206D600F3}"/>
              </a:ext>
            </a:extLst>
          </p:cNvPr>
          <p:cNvSpPr/>
          <p:nvPr/>
        </p:nvSpPr>
        <p:spPr>
          <a:xfrm>
            <a:off x="8052687" y="6131497"/>
            <a:ext cx="396000" cy="288000"/>
          </a:xfrm>
          <a:prstGeom prst="roundRect">
            <a:avLst>
              <a:gd name="adj" fmla="val 40244"/>
            </a:avLst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1000" b="1" spc="-150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chemeClr val="bg1"/>
                </a:solidFill>
              </a:rPr>
              <a:t>산출물</a:t>
            </a:r>
            <a:endParaRPr lang="en-US" altLang="ko-KR" sz="1000" b="1" spc="-150">
              <a:ln>
                <a:solidFill>
                  <a:srgbClr val="F58220">
                    <a:alpha val="0"/>
                  </a:srgb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75F48-4FA7-F9D3-36E8-1D3E9FB5302C}"/>
              </a:ext>
            </a:extLst>
          </p:cNvPr>
          <p:cNvSpPr txBox="1"/>
          <p:nvPr/>
        </p:nvSpPr>
        <p:spPr>
          <a:xfrm>
            <a:off x="8001509" y="5762206"/>
            <a:ext cx="292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err="1">
                <a:ln>
                  <a:solidFill>
                    <a:srgbClr val="F58220">
                      <a:alpha val="0"/>
                    </a:srgbClr>
                  </a:solidFill>
                </a:ln>
              </a:rPr>
              <a:t>블름버그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 데이터 활용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/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관리 조직별 </a:t>
            </a:r>
            <a:r>
              <a:rPr lang="en-US" altLang="ko-KR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R&amp;R </a:t>
            </a:r>
            <a:r>
              <a:rPr lang="ko-KR" altLang="en-US" sz="900">
                <a:ln>
                  <a:solidFill>
                    <a:srgbClr val="F58220">
                      <a:alpha val="0"/>
                    </a:srgbClr>
                  </a:solidFill>
                </a:ln>
              </a:rPr>
              <a:t>및 프로세스 설계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490F2FF-9314-5D6B-FE99-DFB042DCF97D}"/>
              </a:ext>
            </a:extLst>
          </p:cNvPr>
          <p:cNvSpPr/>
          <p:nvPr/>
        </p:nvSpPr>
        <p:spPr>
          <a:xfrm>
            <a:off x="7931963" y="5516625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5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93A94F9-6D2A-0124-2C34-655E6CE3541C}"/>
              </a:ext>
            </a:extLst>
          </p:cNvPr>
          <p:cNvSpPr/>
          <p:nvPr/>
        </p:nvSpPr>
        <p:spPr>
          <a:xfrm>
            <a:off x="11061538" y="181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작성 완료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E143F6F-F950-1278-3B49-D5AC468F711F}"/>
              </a:ext>
            </a:extLst>
          </p:cNvPr>
          <p:cNvSpPr/>
          <p:nvPr/>
        </p:nvSpPr>
        <p:spPr>
          <a:xfrm>
            <a:off x="11061538" y="1278852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8EA48F-97A7-E3AD-A014-9EC8C8C2BDB4}"/>
              </a:ext>
            </a:extLst>
          </p:cNvPr>
          <p:cNvSpPr/>
          <p:nvPr/>
        </p:nvSpPr>
        <p:spPr>
          <a:xfrm>
            <a:off x="11061538" y="1638852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 리뷰 완료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A72AC04-8A0E-C875-3981-846A59E7ED0C}"/>
              </a:ext>
            </a:extLst>
          </p:cNvPr>
          <p:cNvSpPr/>
          <p:nvPr/>
        </p:nvSpPr>
        <p:spPr>
          <a:xfrm>
            <a:off x="11061538" y="1458852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리뷰 보완 중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41284288-A198-1D24-85EF-D22DDA926A07}"/>
              </a:ext>
            </a:extLst>
          </p:cNvPr>
          <p:cNvSpPr/>
          <p:nvPr/>
        </p:nvSpPr>
        <p:spPr>
          <a:xfrm>
            <a:off x="11061538" y="1998852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8BEC36D-C6E9-7BB1-3712-5E1E3034A60E}"/>
              </a:ext>
            </a:extLst>
          </p:cNvPr>
          <p:cNvSpPr/>
          <p:nvPr/>
        </p:nvSpPr>
        <p:spPr>
          <a:xfrm>
            <a:off x="11061538" y="397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초안 작성 완료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E4FB49-A764-8208-61CD-4C34C0C7B220}"/>
              </a:ext>
            </a:extLst>
          </p:cNvPr>
          <p:cNvSpPr/>
          <p:nvPr/>
        </p:nvSpPr>
        <p:spPr>
          <a:xfrm>
            <a:off x="11061538" y="3439246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5266BE-4EC2-419B-6B62-9CBB271DEDC9}"/>
              </a:ext>
            </a:extLst>
          </p:cNvPr>
          <p:cNvSpPr/>
          <p:nvPr/>
        </p:nvSpPr>
        <p:spPr>
          <a:xfrm>
            <a:off x="11061538" y="3799246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 리뷰 완료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9B8DF47-F025-A9E0-4B3D-18FF8C68EEFE}"/>
              </a:ext>
            </a:extLst>
          </p:cNvPr>
          <p:cNvSpPr/>
          <p:nvPr/>
        </p:nvSpPr>
        <p:spPr>
          <a:xfrm>
            <a:off x="11061538" y="3619246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리뷰 보완 중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86D70E4C-8563-DD41-35D9-FB310B940246}"/>
              </a:ext>
            </a:extLst>
          </p:cNvPr>
          <p:cNvSpPr/>
          <p:nvPr/>
        </p:nvSpPr>
        <p:spPr>
          <a:xfrm>
            <a:off x="11061538" y="4159246"/>
            <a:ext cx="801757" cy="180000"/>
          </a:xfrm>
          <a:prstGeom prst="rect">
            <a:avLst/>
          </a:prstGeom>
          <a:solidFill>
            <a:srgbClr val="043B72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solidFill>
                  <a:schemeClr val="bg1"/>
                </a:solidFill>
              </a:rPr>
              <a:t>요건 수립 완료</a:t>
            </a:r>
          </a:p>
        </p:txBody>
      </p:sp>
      <p:sp>
        <p:nvSpPr>
          <p:cNvPr id="9" name="Rectangle: Rounded Corners 54">
            <a:extLst>
              <a:ext uri="{FF2B5EF4-FFF2-40B4-BE49-F238E27FC236}">
                <a16:creationId xmlns:a16="http://schemas.microsoft.com/office/drawing/2014/main" id="{55311199-F505-4D46-8D35-8DA092124B35}"/>
              </a:ext>
            </a:extLst>
          </p:cNvPr>
          <p:cNvSpPr/>
          <p:nvPr/>
        </p:nvSpPr>
        <p:spPr>
          <a:xfrm>
            <a:off x="2845883" y="4634791"/>
            <a:ext cx="2291068" cy="5651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외부데이터 분류체계 수립</a:t>
            </a:r>
          </a:p>
        </p:txBody>
      </p:sp>
      <p:sp>
        <p:nvSpPr>
          <p:cNvPr id="14" name="Rectangle: Rounded Corners 54">
            <a:extLst>
              <a:ext uri="{FF2B5EF4-FFF2-40B4-BE49-F238E27FC236}">
                <a16:creationId xmlns:a16="http://schemas.microsoft.com/office/drawing/2014/main" id="{B87FAE80-6BC1-8B03-A63A-38ADBA4FCD55}"/>
              </a:ext>
            </a:extLst>
          </p:cNvPr>
          <p:cNvSpPr/>
          <p:nvPr/>
        </p:nvSpPr>
        <p:spPr>
          <a:xfrm>
            <a:off x="5338982" y="5200260"/>
            <a:ext cx="973895" cy="5651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블룸버그 활용 현황 분석</a:t>
            </a:r>
          </a:p>
        </p:txBody>
      </p:sp>
      <p:sp>
        <p:nvSpPr>
          <p:cNvPr id="17" name="Rectangle: Rounded Corners 54">
            <a:extLst>
              <a:ext uri="{FF2B5EF4-FFF2-40B4-BE49-F238E27FC236}">
                <a16:creationId xmlns:a16="http://schemas.microsoft.com/office/drawing/2014/main" id="{8351B8FF-2E79-CF8E-B0BC-5099C68E0CCD}"/>
              </a:ext>
            </a:extLst>
          </p:cNvPr>
          <p:cNvSpPr/>
          <p:nvPr/>
        </p:nvSpPr>
        <p:spPr>
          <a:xfrm>
            <a:off x="6540264" y="5765729"/>
            <a:ext cx="1051791" cy="5651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블룸버그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To-Be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활용체계 수립</a:t>
            </a:r>
          </a:p>
        </p:txBody>
      </p:sp>
      <p:sp>
        <p:nvSpPr>
          <p:cNvPr id="18" name="Rectangle: Rounded Corners 54">
            <a:extLst>
              <a:ext uri="{FF2B5EF4-FFF2-40B4-BE49-F238E27FC236}">
                <a16:creationId xmlns:a16="http://schemas.microsoft.com/office/drawing/2014/main" id="{A720AE7A-EC57-D736-0386-1B74054C5D36}"/>
              </a:ext>
            </a:extLst>
          </p:cNvPr>
          <p:cNvSpPr/>
          <p:nvPr/>
        </p:nvSpPr>
        <p:spPr>
          <a:xfrm>
            <a:off x="3473901" y="2266876"/>
            <a:ext cx="2291068" cy="632173"/>
          </a:xfrm>
          <a:prstGeom prst="roundRect">
            <a:avLst>
              <a:gd name="adj" fmla="val 1328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36000" rIns="0" bIns="0" rtlCol="0" anchor="t">
            <a:noAutofit/>
          </a:bodyPr>
          <a:lstStyle/>
          <a:p>
            <a:pPr algn="ctr"/>
            <a:r>
              <a:rPr lang="ko-KR" altLang="en-US" sz="12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망분리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및 연계방안 검토</a:t>
            </a:r>
          </a:p>
        </p:txBody>
      </p:sp>
      <p:sp>
        <p:nvSpPr>
          <p:cNvPr id="19" name="Rectangle: Rounded Corners 54">
            <a:extLst>
              <a:ext uri="{FF2B5EF4-FFF2-40B4-BE49-F238E27FC236}">
                <a16:creationId xmlns:a16="http://schemas.microsoft.com/office/drawing/2014/main" id="{822A505A-8F86-15D5-CCFB-9CB6CAA1DEF6}"/>
              </a:ext>
            </a:extLst>
          </p:cNvPr>
          <p:cNvSpPr/>
          <p:nvPr/>
        </p:nvSpPr>
        <p:spPr>
          <a:xfrm>
            <a:off x="5963920" y="2992319"/>
            <a:ext cx="1628136" cy="5651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데이터 패브릭</a:t>
            </a:r>
            <a:endParaRPr lang="en-US" altLang="ko-KR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Case Study</a:t>
            </a:r>
            <a:endParaRPr lang="ko-KR" altLang="en-US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Freeform 1754">
            <a:extLst>
              <a:ext uri="{FF2B5EF4-FFF2-40B4-BE49-F238E27FC236}">
                <a16:creationId xmlns:a16="http://schemas.microsoft.com/office/drawing/2014/main" id="{9D388FB1-E7E4-6D1F-B023-5059B1A44B6E}"/>
              </a:ext>
            </a:extLst>
          </p:cNvPr>
          <p:cNvSpPr>
            <a:spLocks noChangeAspect="1"/>
          </p:cNvSpPr>
          <p:nvPr/>
        </p:nvSpPr>
        <p:spPr bwMode="gray">
          <a:xfrm>
            <a:off x="6069031" y="5068962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32" name="Freeform 1754">
            <a:extLst>
              <a:ext uri="{FF2B5EF4-FFF2-40B4-BE49-F238E27FC236}">
                <a16:creationId xmlns:a16="http://schemas.microsoft.com/office/drawing/2014/main" id="{875BF93B-6655-3DA4-BC1C-0CC95FD9BFFF}"/>
              </a:ext>
            </a:extLst>
          </p:cNvPr>
          <p:cNvSpPr>
            <a:spLocks noChangeAspect="1"/>
          </p:cNvSpPr>
          <p:nvPr/>
        </p:nvSpPr>
        <p:spPr bwMode="gray">
          <a:xfrm>
            <a:off x="7349191" y="5642806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33" name="Rectangle: Rounded Corners 54">
            <a:extLst>
              <a:ext uri="{FF2B5EF4-FFF2-40B4-BE49-F238E27FC236}">
                <a16:creationId xmlns:a16="http://schemas.microsoft.com/office/drawing/2014/main" id="{FB027EE7-2512-C9E3-1B6E-D2470C268D4D}"/>
              </a:ext>
            </a:extLst>
          </p:cNvPr>
          <p:cNvSpPr/>
          <p:nvPr/>
        </p:nvSpPr>
        <p:spPr>
          <a:xfrm>
            <a:off x="3594716" y="2570098"/>
            <a:ext cx="793401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규제 검토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Rectangle: Rounded Corners 54">
            <a:extLst>
              <a:ext uri="{FF2B5EF4-FFF2-40B4-BE49-F238E27FC236}">
                <a16:creationId xmlns:a16="http://schemas.microsoft.com/office/drawing/2014/main" id="{F2EDB4DD-6959-97B5-8011-BD53E6B64F43}"/>
              </a:ext>
            </a:extLst>
          </p:cNvPr>
          <p:cNvSpPr/>
          <p:nvPr/>
        </p:nvSpPr>
        <p:spPr>
          <a:xfrm>
            <a:off x="4496117" y="2569413"/>
            <a:ext cx="1167067" cy="23963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구현방안 수립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EE1ED7A2-9830-6528-036B-FB778D4E60CA}"/>
              </a:ext>
            </a:extLst>
          </p:cNvPr>
          <p:cNvGrpSpPr/>
          <p:nvPr/>
        </p:nvGrpSpPr>
        <p:grpSpPr>
          <a:xfrm>
            <a:off x="3902523" y="1496847"/>
            <a:ext cx="216000" cy="4989944"/>
            <a:chOff x="2744115" y="1496847"/>
            <a:chExt cx="216000" cy="4989944"/>
          </a:xfrm>
        </p:grpSpPr>
        <p:sp>
          <p:nvSpPr>
            <p:cNvPr id="135" name="이등변 삼각형 134">
              <a:extLst>
                <a:ext uri="{FF2B5EF4-FFF2-40B4-BE49-F238E27FC236}">
                  <a16:creationId xmlns:a16="http://schemas.microsoft.com/office/drawing/2014/main" id="{E8A4340E-6590-6490-5261-52685F14E66D}"/>
                </a:ext>
              </a:extLst>
            </p:cNvPr>
            <p:cNvSpPr/>
            <p:nvPr/>
          </p:nvSpPr>
          <p:spPr>
            <a:xfrm rot="10800000">
              <a:off x="2744115" y="1496847"/>
              <a:ext cx="216000" cy="1080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6303E439-8E68-D42A-C2BD-324621A9489C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>
              <a:off x="2852115" y="1604847"/>
              <a:ext cx="0" cy="4881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BD378C2B-B457-B2CE-6F4A-B3D2466DD885}"/>
              </a:ext>
            </a:extLst>
          </p:cNvPr>
          <p:cNvSpPr/>
          <p:nvPr/>
        </p:nvSpPr>
        <p:spPr>
          <a:xfrm>
            <a:off x="3421140" y="2189356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1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CCBD3E62-C522-652A-09FA-5734B15D6B94}"/>
              </a:ext>
            </a:extLst>
          </p:cNvPr>
          <p:cNvSpPr/>
          <p:nvPr/>
        </p:nvSpPr>
        <p:spPr>
          <a:xfrm>
            <a:off x="5915963" y="2929951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2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AC9C05-CFDB-386D-6EDA-C1DC11ED2BA9}"/>
              </a:ext>
            </a:extLst>
          </p:cNvPr>
          <p:cNvSpPr/>
          <p:nvPr/>
        </p:nvSpPr>
        <p:spPr>
          <a:xfrm>
            <a:off x="11061538" y="2899148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작성 완료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D965D8-3789-2CA2-B971-F6D774516318}"/>
              </a:ext>
            </a:extLst>
          </p:cNvPr>
          <p:cNvSpPr/>
          <p:nvPr/>
        </p:nvSpPr>
        <p:spPr>
          <a:xfrm>
            <a:off x="11061538" y="2359148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고객사  리뷰 완료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9BB5CE-5BFE-46DA-B92D-CCD343389F92}"/>
              </a:ext>
            </a:extLst>
          </p:cNvPr>
          <p:cNvSpPr/>
          <p:nvPr/>
        </p:nvSpPr>
        <p:spPr>
          <a:xfrm>
            <a:off x="11061538" y="2719148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초안  리뷰 완료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2F6176-5A65-5EBB-2026-61B9536D5A6D}"/>
              </a:ext>
            </a:extLst>
          </p:cNvPr>
          <p:cNvSpPr/>
          <p:nvPr/>
        </p:nvSpPr>
        <p:spPr>
          <a:xfrm>
            <a:off x="11061538" y="2539148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리뷰 보완 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82959A6-FEFE-FB5F-1121-70E3777F03B9}"/>
              </a:ext>
            </a:extLst>
          </p:cNvPr>
          <p:cNvSpPr/>
          <p:nvPr/>
        </p:nvSpPr>
        <p:spPr>
          <a:xfrm>
            <a:off x="11061538" y="3079148"/>
            <a:ext cx="801757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150">
                <a:solidFill>
                  <a:schemeClr val="bg1">
                    <a:lumMod val="65000"/>
                  </a:schemeClr>
                </a:solidFill>
              </a:rPr>
              <a:t>요건 수립 완료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2896704-3B69-FB2B-6214-86674050A522}"/>
              </a:ext>
            </a:extLst>
          </p:cNvPr>
          <p:cNvGrpSpPr/>
          <p:nvPr/>
        </p:nvGrpSpPr>
        <p:grpSpPr>
          <a:xfrm>
            <a:off x="414797" y="3807069"/>
            <a:ext cx="2291068" cy="827379"/>
            <a:chOff x="414797" y="3490546"/>
            <a:chExt cx="2291068" cy="827379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614C9A0-E51E-3EE9-BA31-89167C9579FD}"/>
                </a:ext>
              </a:extLst>
            </p:cNvPr>
            <p:cNvSpPr/>
            <p:nvPr/>
          </p:nvSpPr>
          <p:spPr>
            <a:xfrm>
              <a:off x="414797" y="3490546"/>
              <a:ext cx="2291068" cy="827379"/>
            </a:xfrm>
            <a:prstGeom prst="roundRect">
              <a:avLst>
                <a:gd name="adj" fmla="val 1328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36000" rIns="0" bIns="0" rtlCol="0" anchor="t">
              <a:noAutofit/>
            </a:bodyPr>
            <a:lstStyle/>
            <a:p>
              <a:pPr algn="ctr"/>
              <a:r>
                <a:rPr lang="ko-KR" altLang="en-US" sz="1200" spc="-7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데이터 현황 검토</a:t>
              </a:r>
            </a:p>
          </p:txBody>
        </p:sp>
        <p:sp>
          <p:nvSpPr>
            <p:cNvPr id="56" name="Rectangle: Rounded Corners 54">
              <a:extLst>
                <a:ext uri="{FF2B5EF4-FFF2-40B4-BE49-F238E27FC236}">
                  <a16:creationId xmlns:a16="http://schemas.microsoft.com/office/drawing/2014/main" id="{6AD192E7-DDD8-3C6E-4BF7-B1C362370004}"/>
                </a:ext>
              </a:extLst>
            </p:cNvPr>
            <p:cNvSpPr/>
            <p:nvPr/>
          </p:nvSpPr>
          <p:spPr>
            <a:xfrm>
              <a:off x="535612" y="3860508"/>
              <a:ext cx="793401" cy="3681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defRPr/>
              </a:pPr>
              <a:r>
                <a:rPr kumimoji="0" lang="en-US" altLang="ko-KR" sz="1000" b="0" i="0" u="none" strike="noStrike" kern="1200" cap="none" spc="-7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effectLst/>
                  <a:uLnTx/>
                  <a:uFillTx/>
                  <a:latin typeface="+mn-ea"/>
                  <a:cs typeface="+mn-cs"/>
                </a:rPr>
                <a:t>Pain-Point</a:t>
              </a:r>
            </a:p>
            <a:p>
              <a:pPr lvl="0" algn="ctr">
                <a:defRPr/>
              </a:pPr>
              <a:r>
                <a:rPr kumimoji="0" lang="ko-KR" altLang="en-US" sz="1000" b="0" i="0" u="none" strike="noStrike" kern="1200" cap="none" spc="-7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effectLst/>
                  <a:uLnTx/>
                  <a:uFillTx/>
                  <a:latin typeface="+mn-ea"/>
                  <a:cs typeface="+mn-cs"/>
                </a:rPr>
                <a:t>검토</a:t>
              </a:r>
            </a:p>
          </p:txBody>
        </p:sp>
        <p:sp>
          <p:nvSpPr>
            <p:cNvPr id="57" name="Rectangle: Rounded Corners 54">
              <a:extLst>
                <a:ext uri="{FF2B5EF4-FFF2-40B4-BE49-F238E27FC236}">
                  <a16:creationId xmlns:a16="http://schemas.microsoft.com/office/drawing/2014/main" id="{C98F69A1-6148-588C-6A30-41893C25B7FE}"/>
                </a:ext>
              </a:extLst>
            </p:cNvPr>
            <p:cNvSpPr/>
            <p:nvPr/>
          </p:nvSpPr>
          <p:spPr>
            <a:xfrm>
              <a:off x="1437013" y="3859823"/>
              <a:ext cx="1167067" cy="3681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lvl="0" algn="ctr">
                <a:defRPr/>
              </a:pPr>
              <a:r>
                <a:rPr lang="ko-KR" altLang="en-US" sz="1000" spc="-70">
                  <a:ln>
                    <a:solidFill>
                      <a:prstClr val="white">
                        <a:alpha val="0"/>
                      </a:prstClr>
                    </a:solidFill>
                  </a:ln>
                  <a:latin typeface="+mn-ea"/>
                </a:rPr>
                <a:t>타사 사례 기반 참조모델 수립</a:t>
              </a:r>
              <a:endParaRPr kumimoji="0" lang="ko-KR" altLang="en-US" sz="10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65" name="Rectangle: Rounded Corners 46">
            <a:extLst>
              <a:ext uri="{FF2B5EF4-FFF2-40B4-BE49-F238E27FC236}">
                <a16:creationId xmlns:a16="http://schemas.microsoft.com/office/drawing/2014/main" id="{01CF615B-6E00-419C-E03A-E104CD2FC094}"/>
              </a:ext>
            </a:extLst>
          </p:cNvPr>
          <p:cNvSpPr/>
          <p:nvPr/>
        </p:nvSpPr>
        <p:spPr>
          <a:xfrm>
            <a:off x="11061538" y="4450080"/>
            <a:ext cx="807770" cy="2065542"/>
          </a:xfrm>
          <a:prstGeom prst="roundRect">
            <a:avLst>
              <a:gd name="adj" fmla="val 7645"/>
            </a:avLst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범위</a:t>
            </a:r>
            <a:r>
              <a:rPr lang="en-US" altLang="ko-KR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&amp;</a:t>
            </a:r>
          </a:p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일정에 대한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1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의사결정 必</a:t>
            </a:r>
            <a:endParaRPr lang="en-US" altLang="ko-KR" sz="11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6BB6811E-8265-F948-BE57-08B7E978DA0D}"/>
              </a:ext>
            </a:extLst>
          </p:cNvPr>
          <p:cNvSpPr/>
          <p:nvPr/>
        </p:nvSpPr>
        <p:spPr>
          <a:xfrm>
            <a:off x="2785700" y="4551100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39F4715-29E0-1994-CA69-8B908B047277}"/>
              </a:ext>
            </a:extLst>
          </p:cNvPr>
          <p:cNvSpPr/>
          <p:nvPr/>
        </p:nvSpPr>
        <p:spPr>
          <a:xfrm>
            <a:off x="5264488" y="5112757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4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E532FC6-5E59-6A1D-D2AC-275D0EACA2A1}"/>
              </a:ext>
            </a:extLst>
          </p:cNvPr>
          <p:cNvSpPr/>
          <p:nvPr/>
        </p:nvSpPr>
        <p:spPr>
          <a:xfrm>
            <a:off x="6480878" y="5664366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5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69" name="순서도: 대체 처리 68">
            <a:extLst>
              <a:ext uri="{FF2B5EF4-FFF2-40B4-BE49-F238E27FC236}">
                <a16:creationId xmlns:a16="http://schemas.microsoft.com/office/drawing/2014/main" id="{ADC44EDC-D11E-2ABB-E1A0-30BA0690FBBB}"/>
              </a:ext>
            </a:extLst>
          </p:cNvPr>
          <p:cNvSpPr/>
          <p:nvPr/>
        </p:nvSpPr>
        <p:spPr>
          <a:xfrm>
            <a:off x="10389046" y="1299357"/>
            <a:ext cx="533400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A, B, C</a:t>
            </a:r>
            <a:endParaRPr lang="ko-KR" altLang="en-US" sz="1000" b="1">
              <a:ln>
                <a:solidFill>
                  <a:schemeClr val="bg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0" name="순서도: 대체 처리 69">
            <a:extLst>
              <a:ext uri="{FF2B5EF4-FFF2-40B4-BE49-F238E27FC236}">
                <a16:creationId xmlns:a16="http://schemas.microsoft.com/office/drawing/2014/main" id="{1D5C8F73-D86E-60F1-E637-83092A442019}"/>
              </a:ext>
            </a:extLst>
          </p:cNvPr>
          <p:cNvSpPr/>
          <p:nvPr/>
        </p:nvSpPr>
        <p:spPr>
          <a:xfrm>
            <a:off x="10389046" y="2391842"/>
            <a:ext cx="533400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endParaRPr lang="ko-KR" altLang="en-US" sz="1000" b="1">
              <a:ln>
                <a:solidFill>
                  <a:schemeClr val="bg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1" name="순서도: 대체 처리 70">
            <a:extLst>
              <a:ext uri="{FF2B5EF4-FFF2-40B4-BE49-F238E27FC236}">
                <a16:creationId xmlns:a16="http://schemas.microsoft.com/office/drawing/2014/main" id="{E9ADAAEA-E3F3-7C01-59C1-192250A0EAC9}"/>
              </a:ext>
            </a:extLst>
          </p:cNvPr>
          <p:cNvSpPr/>
          <p:nvPr/>
        </p:nvSpPr>
        <p:spPr>
          <a:xfrm>
            <a:off x="10391446" y="3486561"/>
            <a:ext cx="533400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endParaRPr lang="ko-KR" altLang="en-US" sz="1000" b="1">
              <a:ln>
                <a:solidFill>
                  <a:schemeClr val="bg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2" name="순서도: 대체 처리 71">
            <a:extLst>
              <a:ext uri="{FF2B5EF4-FFF2-40B4-BE49-F238E27FC236}">
                <a16:creationId xmlns:a16="http://schemas.microsoft.com/office/drawing/2014/main" id="{F2C75399-8CA4-B54F-A1E2-88E4440090F9}"/>
              </a:ext>
            </a:extLst>
          </p:cNvPr>
          <p:cNvSpPr/>
          <p:nvPr/>
        </p:nvSpPr>
        <p:spPr>
          <a:xfrm>
            <a:off x="10390560" y="4572761"/>
            <a:ext cx="533400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endParaRPr lang="ko-KR" altLang="en-US" sz="1000" b="1">
              <a:ln>
                <a:solidFill>
                  <a:schemeClr val="bg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1" name="순서도: 대체 처리 80">
            <a:extLst>
              <a:ext uri="{FF2B5EF4-FFF2-40B4-BE49-F238E27FC236}">
                <a16:creationId xmlns:a16="http://schemas.microsoft.com/office/drawing/2014/main" id="{A4751D49-5C6D-C327-CBAC-8672BA127AA7}"/>
              </a:ext>
            </a:extLst>
          </p:cNvPr>
          <p:cNvSpPr/>
          <p:nvPr/>
        </p:nvSpPr>
        <p:spPr>
          <a:xfrm>
            <a:off x="10389046" y="5583277"/>
            <a:ext cx="533400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</a:t>
            </a:r>
            <a:endParaRPr lang="ko-KR" altLang="en-US" sz="1000" b="1">
              <a:ln>
                <a:solidFill>
                  <a:schemeClr val="bg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6" name="순서도: 대체 처리 85">
            <a:extLst>
              <a:ext uri="{FF2B5EF4-FFF2-40B4-BE49-F238E27FC236}">
                <a16:creationId xmlns:a16="http://schemas.microsoft.com/office/drawing/2014/main" id="{532B7026-C55F-48BB-3491-65F42DD1A153}"/>
              </a:ext>
            </a:extLst>
          </p:cNvPr>
          <p:cNvSpPr/>
          <p:nvPr/>
        </p:nvSpPr>
        <p:spPr>
          <a:xfrm>
            <a:off x="11213501" y="1038182"/>
            <a:ext cx="649794" cy="170137"/>
          </a:xfrm>
          <a:prstGeom prst="flowChartAlternateProcess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RFP</a:t>
            </a:r>
            <a:r>
              <a:rPr lang="ko-KR" altLang="en-US" sz="1000" b="1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요건</a:t>
            </a:r>
          </a:p>
        </p:txBody>
      </p:sp>
    </p:spTree>
    <p:extLst>
      <p:ext uri="{BB962C8B-B14F-4D97-AF65-F5344CB8AC3E}">
        <p14:creationId xmlns:p14="http://schemas.microsoft.com/office/powerpoint/2010/main" val="17734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EF2-D0C6-DBE5-327F-A4390C04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AA5B5-BC42-1F58-E37A-58D1DAFAF1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블룸버그 데이터 활용체계 정비 </a:t>
            </a:r>
            <a:r>
              <a:rPr lang="en-US" altLang="ko-KR"/>
              <a:t>Task</a:t>
            </a:r>
            <a:r>
              <a:rPr lang="ko-KR" altLang="en-US"/>
              <a:t> 정의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D0D55-FAEF-666C-1719-8A2E258FB1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변경 요건인 </a:t>
            </a:r>
            <a:r>
              <a:rPr lang="en-US" altLang="ko-KR"/>
              <a:t>“</a:t>
            </a:r>
            <a:r>
              <a:rPr lang="ko-KR" altLang="en-US"/>
              <a:t>블룸버그 데이터 활용체계 정비</a:t>
            </a:r>
            <a:r>
              <a:rPr lang="en-US" altLang="ko-KR"/>
              <a:t>”</a:t>
            </a:r>
            <a:r>
              <a:rPr lang="ko-KR" altLang="en-US"/>
              <a:t>에 대해 다음과 같이 수행 예정임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5AEA0C2E-4E03-AED7-D642-E489F1C975EF}"/>
              </a:ext>
            </a:extLst>
          </p:cNvPr>
          <p:cNvSpPr/>
          <p:nvPr/>
        </p:nvSpPr>
        <p:spPr>
          <a:xfrm>
            <a:off x="1773515" y="1780422"/>
            <a:ext cx="3420000" cy="612000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블룸버그 활용 현황분석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블룸버그 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To-Be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활용체계 수립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A5977BA6-E857-D63B-9DDC-E145052154B6}"/>
              </a:ext>
            </a:extLst>
          </p:cNvPr>
          <p:cNvSpPr/>
          <p:nvPr/>
        </p:nvSpPr>
        <p:spPr>
          <a:xfrm>
            <a:off x="1773515" y="5956917"/>
            <a:ext cx="3420000" cy="567708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블룸버그 활용 현황 분석서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블룸버그 데이터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활용체계 정의서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025CF48B-A240-1DD3-950E-924C06FDD6B2}"/>
              </a:ext>
            </a:extLst>
          </p:cNvPr>
          <p:cNvSpPr/>
          <p:nvPr/>
        </p:nvSpPr>
        <p:spPr>
          <a:xfrm>
            <a:off x="324596" y="1780422"/>
            <a:ext cx="1204912" cy="612000"/>
          </a:xfrm>
          <a:prstGeom prst="roundRect">
            <a:avLst>
              <a:gd name="adj" fmla="val 11418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Task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명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BF3450CF-6BF7-0721-E056-AD8850CB211D}"/>
              </a:ext>
            </a:extLst>
          </p:cNvPr>
          <p:cNvSpPr/>
          <p:nvPr/>
        </p:nvSpPr>
        <p:spPr>
          <a:xfrm>
            <a:off x="324596" y="2460522"/>
            <a:ext cx="1204912" cy="3389861"/>
          </a:xfrm>
          <a:prstGeom prst="roundRect">
            <a:avLst>
              <a:gd name="adj" fmla="val 667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주요 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내용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D5449B40-9A9D-C751-E943-9E24C98E5951}"/>
              </a:ext>
            </a:extLst>
          </p:cNvPr>
          <p:cNvSpPr/>
          <p:nvPr/>
        </p:nvSpPr>
        <p:spPr>
          <a:xfrm>
            <a:off x="324597" y="5956917"/>
            <a:ext cx="1204912" cy="567708"/>
          </a:xfrm>
          <a:prstGeom prst="roundRect">
            <a:avLst>
              <a:gd name="adj" fmla="val 11488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산출물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2447536C-5F2D-4243-4279-B959500D89FC}"/>
              </a:ext>
            </a:extLst>
          </p:cNvPr>
          <p:cNvSpPr/>
          <p:nvPr/>
        </p:nvSpPr>
        <p:spPr>
          <a:xfrm>
            <a:off x="324596" y="1334969"/>
            <a:ext cx="4868919" cy="360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변경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Task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FAE35114-79F8-F821-2303-1820B42DEB48}"/>
              </a:ext>
            </a:extLst>
          </p:cNvPr>
          <p:cNvSpPr/>
          <p:nvPr/>
        </p:nvSpPr>
        <p:spPr>
          <a:xfrm>
            <a:off x="1773515" y="3383821"/>
            <a:ext cx="3420000" cy="720000"/>
          </a:xfrm>
          <a:prstGeom prst="roundRect">
            <a:avLst>
              <a:gd name="adj" fmla="val 5596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블룸버그 데이터 구매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활용 중인 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8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개 현업 부서 인터뷰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블룸버그 계약 라이선스 현황 분석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블룸버그 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To-Be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활용 프로세스 정의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9D1B2055-9671-D3B7-0C95-F19F8F87563A}"/>
              </a:ext>
            </a:extLst>
          </p:cNvPr>
          <p:cNvSpPr/>
          <p:nvPr/>
        </p:nvSpPr>
        <p:spPr>
          <a:xfrm>
            <a:off x="1035472" y="3383821"/>
            <a:ext cx="582110" cy="720000"/>
          </a:xfrm>
          <a:prstGeom prst="roundRect">
            <a:avLst>
              <a:gd name="adj" fmla="val 11418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활동</a:t>
            </a:r>
            <a:endParaRPr lang="en-US" altLang="ko-KR" sz="105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Rectangle: Rounded Corners 46">
            <a:extLst>
              <a:ext uri="{FF2B5EF4-FFF2-40B4-BE49-F238E27FC236}">
                <a16:creationId xmlns:a16="http://schemas.microsoft.com/office/drawing/2014/main" id="{E725FFC0-4F4C-D2AE-CAF2-2B799AABB929}"/>
              </a:ext>
            </a:extLst>
          </p:cNvPr>
          <p:cNvSpPr/>
          <p:nvPr/>
        </p:nvSpPr>
        <p:spPr>
          <a:xfrm>
            <a:off x="1773515" y="2684125"/>
            <a:ext cx="3420000" cy="501068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도출된 클라우드 데이터 활용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관리체계 기반 특정 데이터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블룸버그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向 실제 적용 가능한 방안 수립</a:t>
            </a:r>
          </a:p>
        </p:txBody>
      </p: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619750C5-33B1-28EC-F42C-DEC48ED7ACE1}"/>
              </a:ext>
            </a:extLst>
          </p:cNvPr>
          <p:cNvSpPr/>
          <p:nvPr/>
        </p:nvSpPr>
        <p:spPr>
          <a:xfrm>
            <a:off x="1035472" y="2684125"/>
            <a:ext cx="582110" cy="501068"/>
          </a:xfrm>
          <a:prstGeom prst="roundRect">
            <a:avLst>
              <a:gd name="adj" fmla="val 11418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목적</a:t>
            </a:r>
            <a:endParaRPr lang="en-US" altLang="ko-KR" sz="105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사각형: 둥근 모서리 56">
            <a:extLst>
              <a:ext uri="{FF2B5EF4-FFF2-40B4-BE49-F238E27FC236}">
                <a16:creationId xmlns:a16="http://schemas.microsoft.com/office/drawing/2014/main" id="{26D645BE-FDB6-51E1-D549-4B883E1A29C2}"/>
              </a:ext>
            </a:extLst>
          </p:cNvPr>
          <p:cNvSpPr/>
          <p:nvPr/>
        </p:nvSpPr>
        <p:spPr>
          <a:xfrm>
            <a:off x="5592764" y="1334969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산출물명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5" name="사각형: 둥근 모서리 56">
            <a:extLst>
              <a:ext uri="{FF2B5EF4-FFF2-40B4-BE49-F238E27FC236}">
                <a16:creationId xmlns:a16="http://schemas.microsoft.com/office/drawing/2014/main" id="{5B231F6B-5382-C3F9-A333-6BC1C35BE087}"/>
              </a:ext>
            </a:extLst>
          </p:cNvPr>
          <p:cNvSpPr/>
          <p:nvPr/>
        </p:nvSpPr>
        <p:spPr>
          <a:xfrm>
            <a:off x="6779963" y="1334969"/>
            <a:ext cx="5112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 예시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782AFB85-A3E4-A7C2-BE59-D661BDD1FD9F}"/>
              </a:ext>
            </a:extLst>
          </p:cNvPr>
          <p:cNvSpPr/>
          <p:nvPr/>
        </p:nvSpPr>
        <p:spPr>
          <a:xfrm rot="5400000">
            <a:off x="9936315" y="2808408"/>
            <a:ext cx="24897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4597D787-93E1-3E64-AF28-C0E08A0F82D6}"/>
              </a:ext>
            </a:extLst>
          </p:cNvPr>
          <p:cNvSpPr/>
          <p:nvPr/>
        </p:nvSpPr>
        <p:spPr>
          <a:xfrm rot="5400000">
            <a:off x="9936315" y="5257111"/>
            <a:ext cx="24897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AC5163-5395-5286-97B1-05586DE3BD95}"/>
              </a:ext>
            </a:extLst>
          </p:cNvPr>
          <p:cNvSpPr txBox="1"/>
          <p:nvPr/>
        </p:nvSpPr>
        <p:spPr>
          <a:xfrm>
            <a:off x="10163963" y="2460206"/>
            <a:ext cx="1728000" cy="80508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1200" b="1" i="1" err="1">
                <a:latin typeface="+mn-ea"/>
              </a:rPr>
              <a:t>미래에셋증권에서</a:t>
            </a:r>
            <a:r>
              <a:rPr lang="ko-KR" altLang="en-US" sz="1200" b="1" i="1">
                <a:latin typeface="+mn-ea"/>
              </a:rPr>
              <a:t> 블룸버그 데이터 계약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활용 중인 현업부서 니즈 및 </a:t>
            </a:r>
            <a:r>
              <a:rPr lang="en-US" altLang="ko-KR" sz="1200" b="1" i="1">
                <a:latin typeface="+mn-ea"/>
              </a:rPr>
              <a:t>Pain Point </a:t>
            </a:r>
            <a:r>
              <a:rPr lang="ko-KR" altLang="en-US" sz="1200" b="1" i="1">
                <a:latin typeface="+mn-ea"/>
              </a:rPr>
              <a:t>파악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666D06-FF9A-409A-0D16-1CCD48058086}"/>
              </a:ext>
            </a:extLst>
          </p:cNvPr>
          <p:cNvSpPr txBox="1"/>
          <p:nvPr/>
        </p:nvSpPr>
        <p:spPr>
          <a:xfrm>
            <a:off x="10163963" y="4908909"/>
            <a:ext cx="1728000" cy="80508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1200" b="1" i="1">
                <a:latin typeface="+mn-ea"/>
              </a:rPr>
              <a:t>블룸버그 데이터에 대하여 통합 활용</a:t>
            </a:r>
            <a:r>
              <a:rPr lang="en-US" altLang="ko-KR" sz="1200" b="1" i="1">
                <a:latin typeface="+mn-ea"/>
              </a:rPr>
              <a:t>/</a:t>
            </a:r>
          </a:p>
          <a:p>
            <a:r>
              <a:rPr lang="ko-KR" altLang="en-US" sz="1200" b="1" i="1">
                <a:latin typeface="+mn-ea"/>
              </a:rPr>
              <a:t>관리할 수 있는 구체적 방안 설계</a:t>
            </a: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0446A856-4886-DEC0-F320-750BFDD9A3BF}"/>
              </a:ext>
            </a:extLst>
          </p:cNvPr>
          <p:cNvSpPr/>
          <p:nvPr/>
        </p:nvSpPr>
        <p:spPr>
          <a:xfrm rot="5400000">
            <a:off x="4530237" y="3989713"/>
            <a:ext cx="1800000" cy="17851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B40E6090-6C60-C75D-B7D3-3F5B06FE87F0}"/>
              </a:ext>
            </a:extLst>
          </p:cNvPr>
          <p:cNvSpPr/>
          <p:nvPr/>
        </p:nvSpPr>
        <p:spPr>
          <a:xfrm>
            <a:off x="1773515" y="4329102"/>
            <a:ext cx="3420000" cy="1296000"/>
          </a:xfrm>
          <a:prstGeom prst="roundRect">
            <a:avLst>
              <a:gd name="adj" fmla="val 4705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클라우드 데이터 활용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관리 체계의 추후 전사 확장을 위한 참조 모델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(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관리 모니터링 방안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)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수립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marL="17145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블룸버그 데이터 활용에 대한 조직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, R&amp;R,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프로세스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구매 이유 등 면밀한 현황 파악 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marL="17145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클라우드 데이터 활용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관리체계의 블룸버그向 적용을 위한 구체화 작업</a:t>
            </a:r>
          </a:p>
        </p:txBody>
      </p:sp>
      <p:sp>
        <p:nvSpPr>
          <p:cNvPr id="30" name="Rectangle: Rounded Corners 46">
            <a:extLst>
              <a:ext uri="{FF2B5EF4-FFF2-40B4-BE49-F238E27FC236}">
                <a16:creationId xmlns:a16="http://schemas.microsoft.com/office/drawing/2014/main" id="{8D472C49-C26F-364B-82E0-92024FA57E82}"/>
              </a:ext>
            </a:extLst>
          </p:cNvPr>
          <p:cNvSpPr/>
          <p:nvPr/>
        </p:nvSpPr>
        <p:spPr>
          <a:xfrm>
            <a:off x="1035472" y="4329102"/>
            <a:ext cx="582110" cy="1296000"/>
          </a:xfrm>
          <a:prstGeom prst="roundRect">
            <a:avLst>
              <a:gd name="adj" fmla="val 11418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필요</a:t>
            </a:r>
            <a:endParaRPr lang="en-US" altLang="ko-KR" sz="105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사유</a:t>
            </a:r>
            <a:endParaRPr lang="en-US" altLang="ko-KR" sz="105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AF00689-6D52-CC52-DC21-BAEF3BAA0535}"/>
              </a:ext>
            </a:extLst>
          </p:cNvPr>
          <p:cNvGrpSpPr/>
          <p:nvPr/>
        </p:nvGrpSpPr>
        <p:grpSpPr>
          <a:xfrm>
            <a:off x="6868058" y="2076501"/>
            <a:ext cx="2858899" cy="1572496"/>
            <a:chOff x="6868059" y="1875919"/>
            <a:chExt cx="2952241" cy="1623837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1E61FD5C-D598-80A9-A95A-964665AFF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rcRect l="2570" t="4295"/>
            <a:stretch>
              <a:fillRect/>
            </a:stretch>
          </p:blipFill>
          <p:spPr>
            <a:xfrm>
              <a:off x="6868059" y="1875919"/>
              <a:ext cx="2136929" cy="137860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3DA4987B-B41B-37C0-740B-A936DD48A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</a:blip>
            <a:stretch>
              <a:fillRect/>
            </a:stretch>
          </p:blipFill>
          <p:spPr>
            <a:xfrm>
              <a:off x="7683371" y="2121154"/>
              <a:ext cx="2136929" cy="137860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36" name="사각형: 둥근 모서리 20">
            <a:extLst>
              <a:ext uri="{FF2B5EF4-FFF2-40B4-BE49-F238E27FC236}">
                <a16:creationId xmlns:a16="http://schemas.microsoft.com/office/drawing/2014/main" id="{4A84A1F8-FCDB-36D2-0741-5ABA81F63656}"/>
              </a:ext>
            </a:extLst>
          </p:cNvPr>
          <p:cNvSpPr/>
          <p:nvPr/>
        </p:nvSpPr>
        <p:spPr>
          <a:xfrm>
            <a:off x="5592764" y="1789299"/>
            <a:ext cx="1080000" cy="21469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블룸버그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 현황분석서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사각형: 둥근 모서리 20">
            <a:extLst>
              <a:ext uri="{FF2B5EF4-FFF2-40B4-BE49-F238E27FC236}">
                <a16:creationId xmlns:a16="http://schemas.microsoft.com/office/drawing/2014/main" id="{9B4183B1-0BF0-F3FC-7B81-E4683239948D}"/>
              </a:ext>
            </a:extLst>
          </p:cNvPr>
          <p:cNvSpPr/>
          <p:nvPr/>
        </p:nvSpPr>
        <p:spPr>
          <a:xfrm>
            <a:off x="5592764" y="4103821"/>
            <a:ext cx="1080000" cy="2415262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블룸버그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활용체계 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정의서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F3692C9-0EBB-824F-7A6A-7E093A94D2FF}"/>
              </a:ext>
            </a:extLst>
          </p:cNvPr>
          <p:cNvGrpSpPr/>
          <p:nvPr/>
        </p:nvGrpSpPr>
        <p:grpSpPr>
          <a:xfrm>
            <a:off x="6868058" y="4386803"/>
            <a:ext cx="2862778" cy="1849298"/>
            <a:chOff x="6864890" y="3335261"/>
            <a:chExt cx="2338993" cy="1510943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4067A6DF-E2CF-F2A3-B4FC-ADC264EDC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6864890" y="3335261"/>
              <a:ext cx="1690746" cy="1149464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50D68611-3D46-93AB-97E7-D260A64B3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tretch>
              <a:fillRect/>
            </a:stretch>
          </p:blipFill>
          <p:spPr>
            <a:xfrm>
              <a:off x="7513137" y="3711677"/>
              <a:ext cx="1690746" cy="113452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0141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Thank you!</a:t>
            </a:r>
            <a:endParaRPr sz="1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B971F96850C604FA9DD4A6FAA1D7E94" ma:contentTypeVersion="11" ma:contentTypeDescription="새 문서를 만듭니다." ma:contentTypeScope="" ma:versionID="a185cea0baeaa08cace236fb6fd1ebef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46a0fe0a5856e7b3d34195bf7e8182f7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957270-F1C6-411B-9AAF-169B73288D71}"/>
</file>

<file path=customXml/itemProps2.xml><?xml version="1.0" encoding="utf-8"?>
<ds:datastoreItem xmlns:ds="http://schemas.openxmlformats.org/officeDocument/2006/customXml" ds:itemID="{31BAB7E2-13DC-4732-9DFB-383F58CEC96B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5192ee0d-e524-4888-b581-1910cadcd210"/>
    <ds:schemaRef ds:uri="http://schemas.openxmlformats.org/package/2006/metadata/core-properties"/>
    <ds:schemaRef ds:uri="525df02f-3aee-47af-b2f3-c2ea8bcae9a6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1480</Words>
  <Application>Microsoft Office PowerPoint</Application>
  <PresentationFormat>Widescreen</PresentationFormat>
  <Paragraphs>409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ji-eun</dc:creator>
  <cp:lastModifiedBy>Seunguk Kim</cp:lastModifiedBy>
  <cp:revision>1</cp:revision>
  <dcterms:created xsi:type="dcterms:W3CDTF">2025-09-15T04:25:44Z</dcterms:created>
  <dcterms:modified xsi:type="dcterms:W3CDTF">2026-01-20T04:12:28Z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