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37"/>
  </p:notesMasterIdLst>
  <p:handoutMasterIdLst>
    <p:handoutMasterId r:id="rId38"/>
  </p:handoutMasterIdLst>
  <p:sldIdLst>
    <p:sldId id="2147483593" r:id="rId5"/>
    <p:sldId id="257" r:id="rId6"/>
    <p:sldId id="273" r:id="rId7"/>
    <p:sldId id="2147483626" r:id="rId8"/>
    <p:sldId id="2147483623" r:id="rId9"/>
    <p:sldId id="2147483595" r:id="rId10"/>
    <p:sldId id="2147483629" r:id="rId11"/>
    <p:sldId id="2147483628" r:id="rId12"/>
    <p:sldId id="2147483596" r:id="rId13"/>
    <p:sldId id="2147483597" r:id="rId14"/>
    <p:sldId id="2147483598" r:id="rId15"/>
    <p:sldId id="2147483611" r:id="rId16"/>
    <p:sldId id="2147483612" r:id="rId17"/>
    <p:sldId id="2147483613" r:id="rId18"/>
    <p:sldId id="2147483614" r:id="rId19"/>
    <p:sldId id="2147483615" r:id="rId20"/>
    <p:sldId id="2147483622" r:id="rId21"/>
    <p:sldId id="2147483616" r:id="rId22"/>
    <p:sldId id="2147483617" r:id="rId23"/>
    <p:sldId id="2147483618" r:id="rId24"/>
    <p:sldId id="2147483599" r:id="rId25"/>
    <p:sldId id="2147483600" r:id="rId26"/>
    <p:sldId id="2147483601" r:id="rId27"/>
    <p:sldId id="2147483602" r:id="rId28"/>
    <p:sldId id="2147483630" r:id="rId29"/>
    <p:sldId id="2147483604" r:id="rId30"/>
    <p:sldId id="2147483631" r:id="rId31"/>
    <p:sldId id="2147483605" r:id="rId32"/>
    <p:sldId id="2147483606" r:id="rId33"/>
    <p:sldId id="2147483607" r:id="rId34"/>
    <p:sldId id="2147483608" r:id="rId35"/>
    <p:sldId id="274" r:id="rId36"/>
  </p:sldIdLst>
  <p:sldSz cx="12192000" cy="6858000"/>
  <p:notesSz cx="6858000" cy="9144000"/>
  <p:custDataLst>
    <p:tags r:id="rId39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C8C8C"/>
    <a:srgbClr val="F58220"/>
    <a:srgbClr val="043B72"/>
    <a:srgbClr val="595959"/>
    <a:srgbClr val="F2F2F2"/>
    <a:srgbClr val="F08200"/>
    <a:srgbClr val="E4E4E4"/>
    <a:srgbClr val="BABABA"/>
    <a:srgbClr val="F3F3F3"/>
    <a:srgbClr val="FBFB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3C1BD5-0AFF-41A9-B9E6-78FBB14BECCE}" v="2" dt="2026-02-23T07:55:25.55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6513" autoAdjust="0"/>
  </p:normalViewPr>
  <p:slideViewPr>
    <p:cSldViewPr snapToGrid="0" showGuides="1">
      <p:cViewPr varScale="1">
        <p:scale>
          <a:sx n="87" d="100"/>
          <a:sy n="87" d="100"/>
        </p:scale>
        <p:origin x="715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4184"/>
    </p:cViewPr>
  </p:sorterViewPr>
  <p:notesViewPr>
    <p:cSldViewPr snapToGrid="0" showGuides="1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gs" Target="tags/tag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handoutMaster" Target="handoutMasters/handoutMaster1.xml"/><Relationship Id="rId20" Type="http://schemas.openxmlformats.org/officeDocument/2006/relationships/slide" Target="slides/slide16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ng-Min La" userId="730696ea-53a3-4e95-97a6-548a6563044c" providerId="ADAL" clId="{77DB2BBC-17F4-40AB-99E9-3FF5839C5203}"/>
    <pc:docChg chg="modSld">
      <pc:chgData name="Jong-Min La" userId="730696ea-53a3-4e95-97a6-548a6563044c" providerId="ADAL" clId="{77DB2BBC-17F4-40AB-99E9-3FF5839C5203}" dt="2026-02-23T07:55:33.616" v="101" actId="20577"/>
      <pc:docMkLst>
        <pc:docMk/>
      </pc:docMkLst>
      <pc:sldChg chg="modSp mod">
        <pc:chgData name="Jong-Min La" userId="730696ea-53a3-4e95-97a6-548a6563044c" providerId="ADAL" clId="{77DB2BBC-17F4-40AB-99E9-3FF5839C5203}" dt="2026-02-23T07:55:33.616" v="101" actId="20577"/>
        <pc:sldMkLst>
          <pc:docMk/>
          <pc:sldMk cId="4242138939" sldId="257"/>
        </pc:sldMkLst>
        <pc:graphicFrameChg chg="mod modGraphic">
          <ac:chgData name="Jong-Min La" userId="730696ea-53a3-4e95-97a6-548a6563044c" providerId="ADAL" clId="{77DB2BBC-17F4-40AB-99E9-3FF5839C5203}" dt="2026-02-23T07:55:33.616" v="101" actId="20577"/>
          <ac:graphicFrameMkLst>
            <pc:docMk/>
            <pc:sldMk cId="4242138939" sldId="257"/>
            <ac:graphicFrameMk id="11" creationId="{A95B1409-C811-4322-BB8C-B38526BF46E8}"/>
          </ac:graphicFrameMkLst>
        </pc:graphicFrameChg>
        <pc:graphicFrameChg chg="mod modGraphic">
          <ac:chgData name="Jong-Min La" userId="730696ea-53a3-4e95-97a6-548a6563044c" providerId="ADAL" clId="{77DB2BBC-17F4-40AB-99E9-3FF5839C5203}" dt="2026-02-23T07:37:37.836" v="41" actId="20577"/>
          <ac:graphicFrameMkLst>
            <pc:docMk/>
            <pc:sldMk cId="4242138939" sldId="257"/>
            <ac:graphicFrameMk id="14" creationId="{F53135F2-9021-4813-81C2-55E738C05ADA}"/>
          </ac:graphicFrameMkLst>
        </pc:graphicFrameChg>
      </pc:sldChg>
      <pc:sldChg chg="modSp mod">
        <pc:chgData name="Jong-Min La" userId="730696ea-53a3-4e95-97a6-548a6563044c" providerId="ADAL" clId="{77DB2BBC-17F4-40AB-99E9-3FF5839C5203}" dt="2026-02-23T07:37:45.191" v="48" actId="20577"/>
        <pc:sldMkLst>
          <pc:docMk/>
          <pc:sldMk cId="1084257803" sldId="2147483593"/>
        </pc:sldMkLst>
        <pc:spChg chg="mod">
          <ac:chgData name="Jong-Min La" userId="730696ea-53a3-4e95-97a6-548a6563044c" providerId="ADAL" clId="{77DB2BBC-17F4-40AB-99E9-3FF5839C5203}" dt="2026-02-23T07:37:45.191" v="48" actId="20577"/>
          <ac:spMkLst>
            <pc:docMk/>
            <pc:sldMk cId="1084257803" sldId="2147483593"/>
            <ac:spMk id="9" creationId="{9681869B-15F4-43E5-A6AB-9D95C42A2531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8666024D-E06C-4587-8F9E-A8DBD365BCE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8118E92-D709-43F1-BED1-85F9CC36F0B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1C63BC-B9FD-4171-9A84-8F41AA64779F}" type="datetimeFigureOut">
              <a:rPr lang="ko-KR" altLang="en-US" smtClean="0"/>
              <a:t>2026-02-23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2987501-8DA3-4367-A249-2AA9064C648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987059D-DBEF-4A7F-9E46-2BA29BA223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3E6ECA-35AF-4EF6-9E0A-33C35721C6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493039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118373-4A83-4326-B966-907D19D2860B}" type="datetimeFigureOut">
              <a:rPr lang="ko-KR" altLang="en-US" smtClean="0"/>
              <a:t>2026-02-23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8E3303-2CD4-4F2B-8A39-595BB38D56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319642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5177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_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873DCFE6-8B2E-48FD-8313-F2F22D0A97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3776" y="6308401"/>
            <a:ext cx="1220341" cy="3240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B5BEE59A-EDB6-4989-A4F1-D7DB63A17EC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7025" y="226106"/>
            <a:ext cx="1775135" cy="61200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1A5B8807-B0BE-4696-943F-9270BD2D000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l="2710" t="12953" r="1544" b="19017"/>
          <a:stretch/>
        </p:blipFill>
        <p:spPr>
          <a:xfrm>
            <a:off x="982493" y="1461156"/>
            <a:ext cx="4293321" cy="486000"/>
          </a:xfrm>
          <a:prstGeom prst="rect">
            <a:avLst/>
          </a:prstGeom>
        </p:spPr>
      </p:pic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4A7B77C-1F00-4BA8-92A0-E298209695ED}"/>
              </a:ext>
            </a:extLst>
          </p:cNvPr>
          <p:cNvCxnSpPr>
            <a:cxnSpLocks/>
          </p:cNvCxnSpPr>
          <p:nvPr userDrawn="1"/>
        </p:nvCxnSpPr>
        <p:spPr>
          <a:xfrm>
            <a:off x="1092200" y="3681924"/>
            <a:ext cx="1174926" cy="0"/>
          </a:xfrm>
          <a:prstGeom prst="line">
            <a:avLst/>
          </a:prstGeom>
          <a:ln w="19050">
            <a:solidFill>
              <a:srgbClr val="F582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17529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_목차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873DCFE6-8B2E-48FD-8313-F2F22D0A97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3776" y="6308401"/>
            <a:ext cx="1220341" cy="3240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B5BEE59A-EDB6-4989-A4F1-D7DB63A17EC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7025" y="226106"/>
            <a:ext cx="1775135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4796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_목차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07C1949-9E60-4B08-B753-961037F1E9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2813" y="6484382"/>
            <a:ext cx="972000" cy="258065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E15948A1-C8CA-4079-9F9D-63192466011C}"/>
              </a:ext>
            </a:extLst>
          </p:cNvPr>
          <p:cNvSpPr/>
          <p:nvPr userDrawn="1"/>
        </p:nvSpPr>
        <p:spPr>
          <a:xfrm flipV="1">
            <a:off x="0" y="-68101"/>
            <a:ext cx="12192000" cy="195172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B4A74E2-8E37-4AB7-84AB-C851CCE9593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343" y="741502"/>
            <a:ext cx="2422865" cy="835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84458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N_목차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07C1949-9E60-4B08-B753-961037F1E9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2813" y="6484382"/>
            <a:ext cx="972000" cy="258065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E15948A1-C8CA-4079-9F9D-63192466011C}"/>
              </a:ext>
            </a:extLst>
          </p:cNvPr>
          <p:cNvSpPr/>
          <p:nvPr userDrawn="1"/>
        </p:nvSpPr>
        <p:spPr>
          <a:xfrm flipV="1">
            <a:off x="0" y="-68101"/>
            <a:ext cx="12192000" cy="195172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B4A74E2-8E37-4AB7-84AB-C851CCE9593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343" y="741502"/>
            <a:ext cx="2422865" cy="835313"/>
          </a:xfrm>
          <a:prstGeom prst="rect">
            <a:avLst/>
          </a:prstGeom>
        </p:spPr>
      </p:pic>
      <p:sp>
        <p:nvSpPr>
          <p:cNvPr id="6" name="텍스트 개체 틀 8">
            <a:extLst>
              <a:ext uri="{FF2B5EF4-FFF2-40B4-BE49-F238E27FC236}">
                <a16:creationId xmlns:a16="http://schemas.microsoft.com/office/drawing/2014/main" id="{562DAD1B-4EC6-4665-A103-39A2B4EDA37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78781" y="2739618"/>
            <a:ext cx="4441825" cy="377825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500">
                <a:solidFill>
                  <a:srgbClr val="8C8C8C"/>
                </a:solidFill>
              </a:defRPr>
            </a:lvl1pPr>
          </a:lstStyle>
          <a:p>
            <a:pPr lvl="0"/>
            <a:r>
              <a:rPr lang="ko-KR" altLang="en-US"/>
              <a:t>세부 타이틀 있을 시 작성</a:t>
            </a:r>
          </a:p>
        </p:txBody>
      </p:sp>
    </p:spTree>
    <p:extLst>
      <p:ext uri="{BB962C8B-B14F-4D97-AF65-F5344CB8AC3E}">
        <p14:creationId xmlns:p14="http://schemas.microsoft.com/office/powerpoint/2010/main" val="14250584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N_목차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07C1949-9E60-4B08-B753-961037F1E9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2813" y="6484382"/>
            <a:ext cx="972000" cy="25806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B4A74E2-8E37-4AB7-84AB-C851CCE9593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343" y="741502"/>
            <a:ext cx="2422865" cy="835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6058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거버닝+소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AD9BD257-8E77-4D19-9A75-D94233435A30}"/>
              </a:ext>
            </a:extLst>
          </p:cNvPr>
          <p:cNvCxnSpPr>
            <a:cxnSpLocks/>
          </p:cNvCxnSpPr>
          <p:nvPr userDrawn="1"/>
        </p:nvCxnSpPr>
        <p:spPr>
          <a:xfrm>
            <a:off x="79131" y="720475"/>
            <a:ext cx="12045461" cy="0"/>
          </a:xfrm>
          <a:prstGeom prst="line">
            <a:avLst/>
          </a:prstGeom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그룹 6">
            <a:extLst>
              <a:ext uri="{FF2B5EF4-FFF2-40B4-BE49-F238E27FC236}">
                <a16:creationId xmlns:a16="http://schemas.microsoft.com/office/drawing/2014/main" id="{672422D5-649D-332C-8500-2AD29DC9E8C8}"/>
              </a:ext>
            </a:extLst>
          </p:cNvPr>
          <p:cNvGrpSpPr/>
          <p:nvPr/>
        </p:nvGrpSpPr>
        <p:grpSpPr>
          <a:xfrm>
            <a:off x="332576" y="1414459"/>
            <a:ext cx="174672" cy="152885"/>
            <a:chOff x="-3359106" y="1473505"/>
            <a:chExt cx="174672" cy="152885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6CD14DCB-0F53-B220-FBAE-1879A9D799FB}"/>
                </a:ext>
              </a:extLst>
            </p:cNvPr>
            <p:cNvSpPr/>
            <p:nvPr/>
          </p:nvSpPr>
          <p:spPr bwMode="auto">
            <a:xfrm rot="5400000">
              <a:off x="-3359950" y="1474349"/>
              <a:ext cx="152885" cy="151198"/>
            </a:xfrm>
            <a:prstGeom prst="ellipse">
              <a:avLst/>
            </a:prstGeom>
            <a:solidFill>
              <a:srgbClr val="F37321"/>
            </a:solidFill>
            <a:ln w="28575">
              <a:solidFill>
                <a:schemeClr val="bg1"/>
              </a:solidFill>
            </a:ln>
            <a:effectLst/>
          </p:spPr>
          <p:txBody>
            <a:bodyPr lIns="72000" tIns="36000" rIns="72000" bIns="36000" rtlCol="0" anchor="ctr"/>
            <a:lstStyle/>
            <a:p>
              <a:pPr marL="88902" indent="-88902" defTabSz="936648" fontAlgn="base">
                <a:spcBef>
                  <a:spcPts val="300"/>
                </a:spcBef>
                <a:spcAft>
                  <a:spcPct val="0"/>
                </a:spcAft>
                <a:buClr>
                  <a:prstClr val="black">
                    <a:lumMod val="75000"/>
                    <a:lumOff val="25000"/>
                  </a:prstClr>
                </a:buClr>
                <a:buFont typeface="Wingdings" pitchFamily="2" charset="2"/>
                <a:buChar char="§"/>
                <a:defRPr/>
              </a:pPr>
              <a:endParaRPr kumimoji="1" lang="ko-KR" altLang="en-US" sz="1200" kern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95000"/>
                    <a:lumOff val="5000"/>
                  </a:prstClr>
                </a:solidFill>
                <a:latin typeface="+mn-ea"/>
                <a:cs typeface="Arial"/>
                <a:sym typeface="Arial"/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B08717B8-C278-FDDE-2783-3B75013CE59B}"/>
                </a:ext>
              </a:extLst>
            </p:cNvPr>
            <p:cNvSpPr/>
            <p:nvPr/>
          </p:nvSpPr>
          <p:spPr>
            <a:xfrm>
              <a:off x="-3271722" y="1506296"/>
              <a:ext cx="87288" cy="87289"/>
            </a:xfrm>
            <a:prstGeom prst="ellipse">
              <a:avLst/>
            </a:prstGeom>
            <a:solidFill>
              <a:srgbClr val="F9A5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23">
                <a:buClr>
                  <a:srgbClr val="000000"/>
                </a:buClr>
                <a:defRPr/>
              </a:pPr>
              <a:endParaRPr lang="ko-KR" altLang="en-US" sz="2800" kern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  <a:sym typeface="Arial"/>
              </a:endParaRPr>
            </a:p>
          </p:txBody>
        </p:sp>
      </p:grpSp>
      <p:sp>
        <p:nvSpPr>
          <p:cNvPr id="17" name="텍스트 개체 틀 15">
            <a:extLst>
              <a:ext uri="{FF2B5EF4-FFF2-40B4-BE49-F238E27FC236}">
                <a16:creationId xmlns:a16="http://schemas.microsoft.com/office/drawing/2014/main" id="{89AA95D4-D37D-5F52-1163-9EE1EE43B5D0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9899990" y="448978"/>
            <a:ext cx="1991973" cy="276999"/>
          </a:xfrm>
          <a:noFill/>
        </p:spPr>
        <p:txBody>
          <a:bodyPr wrap="none" rtlCol="0" anchor="ctr">
            <a:noAutofit/>
          </a:bodyPr>
          <a:lstStyle>
            <a:lvl1pPr marL="0" indent="0" algn="r">
              <a:buNone/>
              <a:defRPr lang="ko-KR" altLang="en-US" sz="1050" b="0" spc="-15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Pretendard SemiBold" panose="02000703000000020004" pitchFamily="50" charset="-127"/>
              </a:defRPr>
            </a:lvl1pPr>
          </a:lstStyle>
          <a:p>
            <a:pPr marL="0" lvl="0" algn="r" defTabSz="457200" latinLnBrk="0"/>
            <a:r>
              <a:rPr lang="ko-KR" altLang="en-US"/>
              <a:t>네비게이션</a:t>
            </a:r>
          </a:p>
        </p:txBody>
      </p:sp>
      <p:sp>
        <p:nvSpPr>
          <p:cNvPr id="20" name="텍스트 개체 틀 18">
            <a:extLst>
              <a:ext uri="{FF2B5EF4-FFF2-40B4-BE49-F238E27FC236}">
                <a16:creationId xmlns:a16="http://schemas.microsoft.com/office/drawing/2014/main" id="{8F8D21EA-D8AC-A6F8-D6C2-3E38ABD08B4C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371963" y="813435"/>
            <a:ext cx="11520000" cy="325410"/>
          </a:xfrm>
          <a:noFill/>
        </p:spPr>
        <p:txBody>
          <a:bodyPr wrap="square" rtlCol="0" anchor="ctr">
            <a:noAutofit/>
          </a:bodyPr>
          <a:lstStyle>
            <a:lvl1pPr marL="0" indent="0">
              <a:buNone/>
              <a:defRPr lang="ko-KR" altLang="en-US" sz="1400" spc="-15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Pretendard SemiBold" panose="02000703000000020004" pitchFamily="50" charset="-127"/>
              </a:defRPr>
            </a:lvl1pPr>
          </a:lstStyle>
          <a:p>
            <a:pPr marL="0" lvl="0" defTabSz="457200" latinLnBrk="0">
              <a:lnSpc>
                <a:spcPct val="120000"/>
              </a:lnSpc>
            </a:pPr>
            <a:r>
              <a:rPr lang="ko-KR" altLang="en-US" err="1"/>
              <a:t>거버닝</a:t>
            </a:r>
            <a:endParaRPr lang="ko-KR" altLang="en-US"/>
          </a:p>
        </p:txBody>
      </p:sp>
      <p:sp>
        <p:nvSpPr>
          <p:cNvPr id="25" name="텍스트 개체 틀 18">
            <a:extLst>
              <a:ext uri="{FF2B5EF4-FFF2-40B4-BE49-F238E27FC236}">
                <a16:creationId xmlns:a16="http://schemas.microsoft.com/office/drawing/2014/main" id="{93D26E56-1775-814E-18C1-5F0504962B31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371963" y="202784"/>
            <a:ext cx="9469437" cy="424732"/>
          </a:xfrm>
          <a:noFill/>
        </p:spPr>
        <p:txBody>
          <a:bodyPr wrap="none" rtlCol="0" anchor="ctr">
            <a:noAutofit/>
          </a:bodyPr>
          <a:lstStyle>
            <a:lvl1pPr marL="0" indent="0">
              <a:buNone/>
              <a:defRPr lang="ko-KR" altLang="en-US" sz="2400" b="0" spc="-20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rgbClr val="F58220"/>
                </a:solidFill>
                <a:latin typeface="+mn-ea"/>
                <a:cs typeface="Pretendard SemiBold" panose="02000703000000020004" pitchFamily="50" charset="-127"/>
              </a:defRPr>
            </a:lvl1pPr>
          </a:lstStyle>
          <a:p>
            <a:pPr marL="0" lvl="0" defTabSz="457200" latinLnBrk="0"/>
            <a:r>
              <a:rPr lang="ko-KR" altLang="en-US"/>
              <a:t>제목</a:t>
            </a:r>
          </a:p>
        </p:txBody>
      </p:sp>
      <p:sp>
        <p:nvSpPr>
          <p:cNvPr id="27" name="텍스트 개체 틀 18">
            <a:extLst>
              <a:ext uri="{FF2B5EF4-FFF2-40B4-BE49-F238E27FC236}">
                <a16:creationId xmlns:a16="http://schemas.microsoft.com/office/drawing/2014/main" id="{636F0F6E-8571-5027-5F97-593DD595ECB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1298" y="1364818"/>
            <a:ext cx="6232971" cy="258532"/>
          </a:xfrm>
          <a:noFill/>
        </p:spPr>
        <p:txBody>
          <a:bodyPr wrap="square" lIns="0" rtlCol="0" anchor="ctr" anchorCtr="0">
            <a:spAutoFit/>
          </a:bodyPr>
          <a:lstStyle>
            <a:lvl1pPr marL="0" indent="0">
              <a:buNone/>
              <a:defRPr lang="ko-KR" altLang="en-US" sz="1200" spc="-15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Pretendard SemiBold" panose="02000703000000020004" pitchFamily="50" charset="-127"/>
              </a:defRPr>
            </a:lvl1pPr>
          </a:lstStyle>
          <a:p>
            <a:pPr marL="0" lvl="0" defTabSz="914423" latinLnBrk="0">
              <a:buClr>
                <a:srgbClr val="000000"/>
              </a:buClr>
            </a:pPr>
            <a:r>
              <a:rPr lang="ko-KR" altLang="en-US"/>
              <a:t>소제목</a:t>
            </a: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21A66204-F651-48C4-ACBB-87D58CC1F229}"/>
              </a:ext>
            </a:extLst>
          </p:cNvPr>
          <p:cNvSpPr txBox="1">
            <a:spLocks/>
          </p:cNvSpPr>
          <p:nvPr userDrawn="1"/>
        </p:nvSpPr>
        <p:spPr>
          <a:xfrm>
            <a:off x="4724400" y="6584712"/>
            <a:ext cx="2743200" cy="2743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AC8061B-A5E9-4EDC-B014-78837A492BBB}" type="slidenum">
              <a:rPr lang="ko-KR" altLang="en-US" sz="900" smtClean="0">
                <a:solidFill>
                  <a:schemeClr val="bg1">
                    <a:lumMod val="65000"/>
                  </a:schemeClr>
                </a:solidFill>
              </a:rPr>
              <a:pPr algn="ctr"/>
              <a:t>‹#›</a:t>
            </a:fld>
            <a:endParaRPr lang="ko-KR" altLang="en-US" sz="90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029BDD12-8F10-49C5-A76D-FC24F5D7EB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6406" y="6655152"/>
            <a:ext cx="610170" cy="162000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DB80EDA8-41A9-4E92-9D6A-D7F724B025A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179" y="6600711"/>
            <a:ext cx="626518" cy="216000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88601E4C-9FEC-4149-9630-CBFFCFCEF02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47701" y="6629698"/>
            <a:ext cx="975416" cy="21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4859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11" userDrawn="1">
          <p15:clr>
            <a:srgbClr val="FBAE40"/>
          </p15:clr>
        </p15:guide>
        <p15:guide id="3" pos="7491" userDrawn="1">
          <p15:clr>
            <a:srgbClr val="FBAE40"/>
          </p15:clr>
        </p15:guide>
        <p15:guide id="4" orient="horz" pos="504" userDrawn="1">
          <p15:clr>
            <a:srgbClr val="FBAE40"/>
          </p15:clr>
        </p15:guide>
        <p15:guide id="5" orient="horz" pos="4110" userDrawn="1">
          <p15:clr>
            <a:srgbClr val="FBAE40"/>
          </p15:clr>
        </p15:guide>
        <p15:guide id="6" orient="horz" pos="1094" userDrawn="1">
          <p15:clr>
            <a:srgbClr val="FBAE40"/>
          </p15:clr>
        </p15:guide>
        <p15:guide id="7" orient="horz" pos="777" userDrawn="1">
          <p15:clr>
            <a:srgbClr val="FBAE40"/>
          </p15:clr>
        </p15:guide>
        <p15:guide id="8" orient="horz" pos="845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거버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AD9BD257-8E77-4D19-9A75-D94233435A30}"/>
              </a:ext>
            </a:extLst>
          </p:cNvPr>
          <p:cNvCxnSpPr>
            <a:cxnSpLocks/>
          </p:cNvCxnSpPr>
          <p:nvPr userDrawn="1"/>
        </p:nvCxnSpPr>
        <p:spPr>
          <a:xfrm>
            <a:off x="79131" y="720475"/>
            <a:ext cx="12045461" cy="0"/>
          </a:xfrm>
          <a:prstGeom prst="line">
            <a:avLst/>
          </a:prstGeom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텍스트 개체 틀 15">
            <a:extLst>
              <a:ext uri="{FF2B5EF4-FFF2-40B4-BE49-F238E27FC236}">
                <a16:creationId xmlns:a16="http://schemas.microsoft.com/office/drawing/2014/main" id="{7EE65606-8550-D0BB-6AEA-DD57671C963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99990" y="448978"/>
            <a:ext cx="1991973" cy="276999"/>
          </a:xfrm>
          <a:noFill/>
        </p:spPr>
        <p:txBody>
          <a:bodyPr wrap="none" rtlCol="0" anchor="ctr">
            <a:noAutofit/>
          </a:bodyPr>
          <a:lstStyle>
            <a:lvl1pPr marL="0" indent="0" algn="r">
              <a:buNone/>
              <a:defRPr lang="ko-KR" altLang="en-US" sz="1050" b="0" spc="-15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Pretendard SemiBold" panose="02000703000000020004" pitchFamily="50" charset="-127"/>
              </a:defRPr>
            </a:lvl1pPr>
          </a:lstStyle>
          <a:p>
            <a:pPr marL="0" lvl="0" algn="r" defTabSz="457200" latinLnBrk="0"/>
            <a:r>
              <a:rPr lang="ko-KR" altLang="en-US"/>
              <a:t>네비게이션</a:t>
            </a:r>
          </a:p>
        </p:txBody>
      </p:sp>
      <p:sp>
        <p:nvSpPr>
          <p:cNvPr id="4" name="텍스트 개체 틀 18">
            <a:extLst>
              <a:ext uri="{FF2B5EF4-FFF2-40B4-BE49-F238E27FC236}">
                <a16:creationId xmlns:a16="http://schemas.microsoft.com/office/drawing/2014/main" id="{669BE1C5-9F6B-E8AB-3EBC-A61FC68B52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1963" y="202784"/>
            <a:ext cx="9469437" cy="424732"/>
          </a:xfrm>
          <a:noFill/>
        </p:spPr>
        <p:txBody>
          <a:bodyPr wrap="none" rtlCol="0" anchor="ctr">
            <a:noAutofit/>
          </a:bodyPr>
          <a:lstStyle>
            <a:lvl1pPr marL="0" indent="0">
              <a:buNone/>
              <a:defRPr lang="ko-KR" altLang="en-US" sz="2400" b="0" spc="-20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rgbClr val="F58220"/>
                </a:solidFill>
                <a:latin typeface="+mn-ea"/>
                <a:cs typeface="Pretendard SemiBold" panose="02000703000000020004" pitchFamily="50" charset="-127"/>
              </a:defRPr>
            </a:lvl1pPr>
          </a:lstStyle>
          <a:p>
            <a:pPr marL="0" lvl="0" defTabSz="457200" latinLnBrk="0"/>
            <a:r>
              <a:rPr lang="ko-KR" altLang="en-US"/>
              <a:t>제목</a:t>
            </a:r>
          </a:p>
        </p:txBody>
      </p:sp>
      <p:sp>
        <p:nvSpPr>
          <p:cNvPr id="5" name="텍스트 개체 틀 18">
            <a:extLst>
              <a:ext uri="{FF2B5EF4-FFF2-40B4-BE49-F238E27FC236}">
                <a16:creationId xmlns:a16="http://schemas.microsoft.com/office/drawing/2014/main" id="{98CC108B-E784-5309-2693-94D964162F1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1963" y="813435"/>
            <a:ext cx="11520000" cy="325410"/>
          </a:xfrm>
          <a:noFill/>
        </p:spPr>
        <p:txBody>
          <a:bodyPr wrap="square" rtlCol="0" anchor="ctr">
            <a:noAutofit/>
          </a:bodyPr>
          <a:lstStyle>
            <a:lvl1pPr marL="0" indent="0">
              <a:buNone/>
              <a:defRPr lang="ko-KR" altLang="en-US" sz="1400" spc="-15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Pretendard SemiBold" panose="02000703000000020004" pitchFamily="50" charset="-127"/>
              </a:defRPr>
            </a:lvl1pPr>
          </a:lstStyle>
          <a:p>
            <a:pPr marL="0" lvl="0" defTabSz="457200" latinLnBrk="0">
              <a:lnSpc>
                <a:spcPct val="120000"/>
              </a:lnSpc>
            </a:pPr>
            <a:r>
              <a:rPr lang="ko-KR" altLang="en-US" err="1"/>
              <a:t>거버닝</a:t>
            </a:r>
            <a:endParaRPr lang="ko-KR" alt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6CFA76C4-269B-43FE-8F09-A9C44FD63DAD}"/>
              </a:ext>
            </a:extLst>
          </p:cNvPr>
          <p:cNvSpPr txBox="1">
            <a:spLocks/>
          </p:cNvSpPr>
          <p:nvPr userDrawn="1"/>
        </p:nvSpPr>
        <p:spPr>
          <a:xfrm>
            <a:off x="4724400" y="6584712"/>
            <a:ext cx="2743200" cy="2743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AC8061B-A5E9-4EDC-B014-78837A492BBB}" type="slidenum">
              <a:rPr lang="ko-KR" altLang="en-US" sz="900" smtClean="0">
                <a:solidFill>
                  <a:schemeClr val="bg1">
                    <a:lumMod val="65000"/>
                  </a:schemeClr>
                </a:solidFill>
              </a:rPr>
              <a:pPr algn="ctr"/>
              <a:t>‹#›</a:t>
            </a:fld>
            <a:endParaRPr lang="ko-KR" altLang="en-US" sz="90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97EFEECD-0DCA-4212-8B3B-C08D6F4BF36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6406" y="6655152"/>
            <a:ext cx="610170" cy="16200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31C8A9BA-272A-40C9-B64C-2702A515073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179" y="6600711"/>
            <a:ext cx="626518" cy="21600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4678CFBB-3FD8-452D-BF8F-1FC7D364AB5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47701" y="6629698"/>
            <a:ext cx="975416" cy="21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9311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11">
          <p15:clr>
            <a:srgbClr val="FBAE40"/>
          </p15:clr>
        </p15:guide>
        <p15:guide id="3" pos="7491">
          <p15:clr>
            <a:srgbClr val="FBAE40"/>
          </p15:clr>
        </p15:guide>
        <p15:guide id="4" orient="horz" pos="504">
          <p15:clr>
            <a:srgbClr val="FBAE40"/>
          </p15:clr>
        </p15:guide>
        <p15:guide id="5" orient="horz" pos="4110">
          <p15:clr>
            <a:srgbClr val="FBAE40"/>
          </p15:clr>
        </p15:guide>
        <p15:guide id="6" orient="horz" pos="1094">
          <p15:clr>
            <a:srgbClr val="FBAE40"/>
          </p15:clr>
        </p15:guide>
        <p15:guide id="7" orient="horz" pos="777">
          <p15:clr>
            <a:srgbClr val="FBAE40"/>
          </p15:clr>
        </p15:guide>
        <p15:guide id="8" orient="horz" pos="845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소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AD9BD257-8E77-4D19-9A75-D94233435A30}"/>
              </a:ext>
            </a:extLst>
          </p:cNvPr>
          <p:cNvCxnSpPr>
            <a:cxnSpLocks/>
          </p:cNvCxnSpPr>
          <p:nvPr userDrawn="1"/>
        </p:nvCxnSpPr>
        <p:spPr>
          <a:xfrm>
            <a:off x="79131" y="720475"/>
            <a:ext cx="12045461" cy="0"/>
          </a:xfrm>
          <a:prstGeom prst="line">
            <a:avLst/>
          </a:prstGeom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그룹 1">
            <a:extLst>
              <a:ext uri="{FF2B5EF4-FFF2-40B4-BE49-F238E27FC236}">
                <a16:creationId xmlns:a16="http://schemas.microsoft.com/office/drawing/2014/main" id="{672422D5-649D-332C-8500-2AD29DC9E8C8}"/>
              </a:ext>
            </a:extLst>
          </p:cNvPr>
          <p:cNvGrpSpPr/>
          <p:nvPr userDrawn="1"/>
        </p:nvGrpSpPr>
        <p:grpSpPr>
          <a:xfrm>
            <a:off x="332576" y="882445"/>
            <a:ext cx="174672" cy="152885"/>
            <a:chOff x="-3359106" y="1473505"/>
            <a:chExt cx="174672" cy="152885"/>
          </a:xfrm>
        </p:grpSpPr>
        <p:sp>
          <p:nvSpPr>
            <p:cNvPr id="3" name="타원 2">
              <a:extLst>
                <a:ext uri="{FF2B5EF4-FFF2-40B4-BE49-F238E27FC236}">
                  <a16:creationId xmlns:a16="http://schemas.microsoft.com/office/drawing/2014/main" id="{6CD14DCB-0F53-B220-FBAE-1879A9D799FB}"/>
                </a:ext>
              </a:extLst>
            </p:cNvPr>
            <p:cNvSpPr/>
            <p:nvPr/>
          </p:nvSpPr>
          <p:spPr bwMode="auto">
            <a:xfrm rot="5400000">
              <a:off x="-3359950" y="1474349"/>
              <a:ext cx="152885" cy="151198"/>
            </a:xfrm>
            <a:prstGeom prst="ellipse">
              <a:avLst/>
            </a:prstGeom>
            <a:solidFill>
              <a:srgbClr val="F37321"/>
            </a:solidFill>
            <a:ln w="28575">
              <a:solidFill>
                <a:schemeClr val="bg1"/>
              </a:solidFill>
            </a:ln>
            <a:effectLst/>
          </p:spPr>
          <p:txBody>
            <a:bodyPr lIns="72000" tIns="36000" rIns="72000" bIns="36000" rtlCol="0" anchor="ctr"/>
            <a:lstStyle/>
            <a:p>
              <a:pPr marL="88902" indent="-88902" defTabSz="936648" fontAlgn="base">
                <a:spcBef>
                  <a:spcPts val="300"/>
                </a:spcBef>
                <a:spcAft>
                  <a:spcPct val="0"/>
                </a:spcAft>
                <a:buClr>
                  <a:prstClr val="black">
                    <a:lumMod val="75000"/>
                    <a:lumOff val="25000"/>
                  </a:prstClr>
                </a:buClr>
                <a:buFont typeface="Wingdings" pitchFamily="2" charset="2"/>
                <a:buChar char="§"/>
                <a:defRPr/>
              </a:pPr>
              <a:endParaRPr kumimoji="1" lang="ko-KR" altLang="en-US" sz="1200" kern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95000"/>
                    <a:lumOff val="5000"/>
                  </a:prstClr>
                </a:solidFill>
                <a:latin typeface="+mn-ea"/>
                <a:cs typeface="Arial"/>
                <a:sym typeface="Arial"/>
              </a:endParaRPr>
            </a:p>
          </p:txBody>
        </p:sp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B08717B8-C278-FDDE-2783-3B75013CE59B}"/>
                </a:ext>
              </a:extLst>
            </p:cNvPr>
            <p:cNvSpPr/>
            <p:nvPr/>
          </p:nvSpPr>
          <p:spPr>
            <a:xfrm>
              <a:off x="-3271722" y="1506296"/>
              <a:ext cx="87288" cy="87289"/>
            </a:xfrm>
            <a:prstGeom prst="ellipse">
              <a:avLst/>
            </a:prstGeom>
            <a:solidFill>
              <a:srgbClr val="F9A5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23">
                <a:buClr>
                  <a:srgbClr val="000000"/>
                </a:buClr>
                <a:defRPr/>
              </a:pPr>
              <a:endParaRPr lang="ko-KR" altLang="en-US" sz="2800" kern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  <a:sym typeface="Arial"/>
              </a:endParaRPr>
            </a:p>
          </p:txBody>
        </p:sp>
      </p:grpSp>
      <p:sp>
        <p:nvSpPr>
          <p:cNvPr id="5" name="텍스트 개체 틀 18">
            <a:extLst>
              <a:ext uri="{FF2B5EF4-FFF2-40B4-BE49-F238E27FC236}">
                <a16:creationId xmlns:a16="http://schemas.microsoft.com/office/drawing/2014/main" id="{636F0F6E-8571-5027-5F97-593DD595ECB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1298" y="832804"/>
            <a:ext cx="6232971" cy="258532"/>
          </a:xfrm>
          <a:noFill/>
        </p:spPr>
        <p:txBody>
          <a:bodyPr wrap="square" lIns="0" rtlCol="0" anchor="ctr" anchorCtr="0">
            <a:spAutoFit/>
          </a:bodyPr>
          <a:lstStyle>
            <a:lvl1pPr marL="0" indent="0">
              <a:buNone/>
              <a:defRPr lang="ko-KR" altLang="en-US" sz="1200" spc="-15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Pretendard SemiBold" panose="02000703000000020004" pitchFamily="50" charset="-127"/>
              </a:defRPr>
            </a:lvl1pPr>
          </a:lstStyle>
          <a:p>
            <a:pPr marL="0" lvl="0" defTabSz="914423" latinLnBrk="0">
              <a:buClr>
                <a:srgbClr val="000000"/>
              </a:buClr>
            </a:pPr>
            <a:r>
              <a:rPr lang="ko-KR" altLang="en-US"/>
              <a:t>소제목</a:t>
            </a:r>
          </a:p>
        </p:txBody>
      </p:sp>
      <p:sp>
        <p:nvSpPr>
          <p:cNvPr id="6" name="텍스트 개체 틀 15">
            <a:extLst>
              <a:ext uri="{FF2B5EF4-FFF2-40B4-BE49-F238E27FC236}">
                <a16:creationId xmlns:a16="http://schemas.microsoft.com/office/drawing/2014/main" id="{C6CC0EC0-E23A-3244-A9CF-38C91CA4B9D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99990" y="448978"/>
            <a:ext cx="1991973" cy="276999"/>
          </a:xfrm>
          <a:noFill/>
        </p:spPr>
        <p:txBody>
          <a:bodyPr wrap="none" rtlCol="0" anchor="ctr">
            <a:noAutofit/>
          </a:bodyPr>
          <a:lstStyle>
            <a:lvl1pPr marL="0" indent="0" algn="r">
              <a:buNone/>
              <a:defRPr lang="ko-KR" altLang="en-US" sz="1050" b="0" spc="-15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Pretendard SemiBold" panose="02000703000000020004" pitchFamily="50" charset="-127"/>
              </a:defRPr>
            </a:lvl1pPr>
          </a:lstStyle>
          <a:p>
            <a:pPr marL="0" lvl="0" algn="r" defTabSz="457200" latinLnBrk="0"/>
            <a:r>
              <a:rPr lang="ko-KR" altLang="en-US"/>
              <a:t>네비게이션</a:t>
            </a:r>
          </a:p>
        </p:txBody>
      </p:sp>
      <p:sp>
        <p:nvSpPr>
          <p:cNvPr id="8" name="텍스트 개체 틀 18">
            <a:extLst>
              <a:ext uri="{FF2B5EF4-FFF2-40B4-BE49-F238E27FC236}">
                <a16:creationId xmlns:a16="http://schemas.microsoft.com/office/drawing/2014/main" id="{B4ACC28E-DA1B-B2F7-07B7-7327683DAD4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1963" y="202784"/>
            <a:ext cx="9469437" cy="424732"/>
          </a:xfrm>
          <a:noFill/>
        </p:spPr>
        <p:txBody>
          <a:bodyPr wrap="none" rtlCol="0" anchor="ctr">
            <a:noAutofit/>
          </a:bodyPr>
          <a:lstStyle>
            <a:lvl1pPr marL="0" indent="0">
              <a:buNone/>
              <a:defRPr lang="ko-KR" altLang="en-US" sz="2400" b="0" spc="-20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rgbClr val="F58220"/>
                </a:solidFill>
                <a:latin typeface="+mn-ea"/>
                <a:cs typeface="Pretendard SemiBold" panose="02000703000000020004" pitchFamily="50" charset="-127"/>
              </a:defRPr>
            </a:lvl1pPr>
          </a:lstStyle>
          <a:p>
            <a:pPr marL="0" lvl="0" defTabSz="457200" latinLnBrk="0"/>
            <a:r>
              <a:rPr lang="ko-KR" altLang="en-US"/>
              <a:t>제목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F611C160-ABD1-4953-A9D5-1E028F874F16}"/>
              </a:ext>
            </a:extLst>
          </p:cNvPr>
          <p:cNvSpPr txBox="1">
            <a:spLocks/>
          </p:cNvSpPr>
          <p:nvPr userDrawn="1"/>
        </p:nvSpPr>
        <p:spPr>
          <a:xfrm>
            <a:off x="4724400" y="6584712"/>
            <a:ext cx="2743200" cy="2743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AC8061B-A5E9-4EDC-B014-78837A492BBB}" type="slidenum">
              <a:rPr lang="ko-KR" altLang="en-US" sz="900" smtClean="0">
                <a:solidFill>
                  <a:schemeClr val="bg1">
                    <a:lumMod val="65000"/>
                  </a:schemeClr>
                </a:solidFill>
              </a:rPr>
              <a:pPr algn="ctr"/>
              <a:t>‹#›</a:t>
            </a:fld>
            <a:endParaRPr lang="ko-KR" altLang="en-US" sz="90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549A1FA3-0FD4-40A6-92B3-A0387FD21C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6406" y="6655152"/>
            <a:ext cx="610170" cy="16200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BAA574BC-BE51-4765-A338-6F4AB649FC9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179" y="6600711"/>
            <a:ext cx="626518" cy="216000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848DB6B6-8775-437F-AEE5-7BB68A98DBC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47701" y="6629698"/>
            <a:ext cx="975416" cy="21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3645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11">
          <p15:clr>
            <a:srgbClr val="FBAE40"/>
          </p15:clr>
        </p15:guide>
        <p15:guide id="3" pos="7491">
          <p15:clr>
            <a:srgbClr val="FBAE40"/>
          </p15:clr>
        </p15:guide>
        <p15:guide id="4" orient="horz" pos="504">
          <p15:clr>
            <a:srgbClr val="FBAE40"/>
          </p15:clr>
        </p15:guide>
        <p15:guide id="5" orient="horz" pos="4110">
          <p15:clr>
            <a:srgbClr val="FBAE40"/>
          </p15:clr>
        </p15:guide>
        <p15:guide id="6" orient="horz" pos="1094">
          <p15:clr>
            <a:srgbClr val="FBAE40"/>
          </p15:clr>
        </p15:guide>
        <p15:guide id="7" orient="horz" pos="777">
          <p15:clr>
            <a:srgbClr val="FBAE40"/>
          </p15:clr>
        </p15:guide>
        <p15:guide id="8" orient="horz" pos="845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대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AD9BD257-8E77-4D19-9A75-D94233435A30}"/>
              </a:ext>
            </a:extLst>
          </p:cNvPr>
          <p:cNvCxnSpPr>
            <a:cxnSpLocks/>
          </p:cNvCxnSpPr>
          <p:nvPr userDrawn="1"/>
        </p:nvCxnSpPr>
        <p:spPr>
          <a:xfrm>
            <a:off x="79131" y="720475"/>
            <a:ext cx="12045461" cy="0"/>
          </a:xfrm>
          <a:prstGeom prst="line">
            <a:avLst/>
          </a:prstGeom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텍스트 개체 틀 15">
            <a:extLst>
              <a:ext uri="{FF2B5EF4-FFF2-40B4-BE49-F238E27FC236}">
                <a16:creationId xmlns:a16="http://schemas.microsoft.com/office/drawing/2014/main" id="{A33763FF-6D4D-0D93-4CA6-601BF8B15E5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99990" y="448978"/>
            <a:ext cx="1991973" cy="276999"/>
          </a:xfrm>
          <a:noFill/>
        </p:spPr>
        <p:txBody>
          <a:bodyPr wrap="none" rtlCol="0" anchor="ctr">
            <a:noAutofit/>
          </a:bodyPr>
          <a:lstStyle>
            <a:lvl1pPr marL="0" indent="0" algn="r">
              <a:buNone/>
              <a:defRPr lang="ko-KR" altLang="en-US" sz="1050" b="0" spc="-15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Pretendard SemiBold" panose="02000703000000020004" pitchFamily="50" charset="-127"/>
              </a:defRPr>
            </a:lvl1pPr>
          </a:lstStyle>
          <a:p>
            <a:pPr marL="0" lvl="0" algn="r" defTabSz="457200" latinLnBrk="0"/>
            <a:r>
              <a:rPr lang="ko-KR" altLang="en-US"/>
              <a:t>네비게이션</a:t>
            </a:r>
          </a:p>
        </p:txBody>
      </p:sp>
      <p:sp>
        <p:nvSpPr>
          <p:cNvPr id="4" name="텍스트 개체 틀 18">
            <a:extLst>
              <a:ext uri="{FF2B5EF4-FFF2-40B4-BE49-F238E27FC236}">
                <a16:creationId xmlns:a16="http://schemas.microsoft.com/office/drawing/2014/main" id="{4B494319-F7B2-D802-8C49-3FCD1C8E344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1963" y="202784"/>
            <a:ext cx="9469437" cy="424732"/>
          </a:xfrm>
          <a:noFill/>
        </p:spPr>
        <p:txBody>
          <a:bodyPr wrap="none" rtlCol="0" anchor="ctr">
            <a:noAutofit/>
          </a:bodyPr>
          <a:lstStyle>
            <a:lvl1pPr marL="0" indent="0">
              <a:buNone/>
              <a:defRPr lang="ko-KR" altLang="en-US" sz="2400" b="0" spc="-20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rgbClr val="F58220"/>
                </a:solidFill>
                <a:latin typeface="+mn-ea"/>
                <a:cs typeface="Pretendard SemiBold" panose="02000703000000020004" pitchFamily="50" charset="-127"/>
              </a:defRPr>
            </a:lvl1pPr>
          </a:lstStyle>
          <a:p>
            <a:pPr marL="0" lvl="0" defTabSz="457200" latinLnBrk="0"/>
            <a:r>
              <a:rPr lang="ko-KR" altLang="en-US"/>
              <a:t>제목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773C5FDA-2F59-4D37-92A7-9902A221DB02}"/>
              </a:ext>
            </a:extLst>
          </p:cNvPr>
          <p:cNvSpPr txBox="1">
            <a:spLocks/>
          </p:cNvSpPr>
          <p:nvPr userDrawn="1"/>
        </p:nvSpPr>
        <p:spPr>
          <a:xfrm>
            <a:off x="4724400" y="6584712"/>
            <a:ext cx="2743200" cy="2743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AC8061B-A5E9-4EDC-B014-78837A492BBB}" type="slidenum">
              <a:rPr lang="ko-KR" altLang="en-US" sz="900" smtClean="0">
                <a:solidFill>
                  <a:schemeClr val="bg1">
                    <a:lumMod val="65000"/>
                  </a:schemeClr>
                </a:solidFill>
              </a:rPr>
              <a:pPr algn="ctr"/>
              <a:t>‹#›</a:t>
            </a:fld>
            <a:endParaRPr lang="ko-KR" altLang="en-US" sz="90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33B3E928-D526-42BB-9D32-C5AC9F29E8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6406" y="6655152"/>
            <a:ext cx="610170" cy="162000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7B0744FF-530E-48DE-90C4-8E3B78551A6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179" y="6600711"/>
            <a:ext cx="626518" cy="21600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5093D4A4-C85B-40E1-B338-BE83488A60A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47701" y="6629698"/>
            <a:ext cx="975416" cy="21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2838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11">
          <p15:clr>
            <a:srgbClr val="FBAE40"/>
          </p15:clr>
        </p15:guide>
        <p15:guide id="3" pos="7491">
          <p15:clr>
            <a:srgbClr val="FBAE40"/>
          </p15:clr>
        </p15:guide>
        <p15:guide id="4" orient="horz" pos="504">
          <p15:clr>
            <a:srgbClr val="FBAE40"/>
          </p15:clr>
        </p15:guide>
        <p15:guide id="5" orient="horz" pos="4110">
          <p15:clr>
            <a:srgbClr val="FBAE40"/>
          </p15:clr>
        </p15:guide>
        <p15:guide id="6" orient="horz" pos="1094">
          <p15:clr>
            <a:srgbClr val="FBAE40"/>
          </p15:clr>
        </p15:guide>
        <p15:guide id="7" orient="horz" pos="777">
          <p15:clr>
            <a:srgbClr val="FBAE40"/>
          </p15:clr>
        </p15:guide>
        <p15:guide id="8" orient="horz" pos="845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0822598-C7AA-44D8-AF0D-8DF14996FE9C}"/>
              </a:ext>
            </a:extLst>
          </p:cNvPr>
          <p:cNvSpPr/>
          <p:nvPr userDrawn="1"/>
        </p:nvSpPr>
        <p:spPr>
          <a:xfrm>
            <a:off x="-834210" y="1430625"/>
            <a:ext cx="356859" cy="568325"/>
          </a:xfrm>
          <a:prstGeom prst="rect">
            <a:avLst/>
          </a:prstGeom>
          <a:solidFill>
            <a:srgbClr val="F5822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ko-KR" altLang="en-US" sz="1000"/>
              <a:t>메인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253FC61-CFC2-4C6A-9021-CFEBE4C0FBF7}"/>
              </a:ext>
            </a:extLst>
          </p:cNvPr>
          <p:cNvSpPr/>
          <p:nvPr userDrawn="1"/>
        </p:nvSpPr>
        <p:spPr>
          <a:xfrm>
            <a:off x="-477351" y="1430624"/>
            <a:ext cx="356859" cy="568325"/>
          </a:xfrm>
          <a:prstGeom prst="rect">
            <a:avLst/>
          </a:prstGeom>
          <a:solidFill>
            <a:srgbClr val="043B7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ko-KR" altLang="en-US" sz="1000"/>
              <a:t>메인</a:t>
            </a:r>
            <a:endParaRPr lang="en-US" altLang="ko-KR" sz="100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B4CEA04-C89F-4899-86AD-251E782446AB}"/>
              </a:ext>
            </a:extLst>
          </p:cNvPr>
          <p:cNvSpPr/>
          <p:nvPr userDrawn="1"/>
        </p:nvSpPr>
        <p:spPr>
          <a:xfrm>
            <a:off x="-1191010" y="2091024"/>
            <a:ext cx="356400" cy="568325"/>
          </a:xfrm>
          <a:prstGeom prst="rect">
            <a:avLst/>
          </a:prstGeom>
          <a:solidFill>
            <a:srgbClr val="F0AF6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ko-KR" altLang="en-US" sz="1000"/>
              <a:t>보조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07299D3-B368-4BDB-94CF-EA766478E109}"/>
              </a:ext>
            </a:extLst>
          </p:cNvPr>
          <p:cNvSpPr/>
          <p:nvPr userDrawn="1"/>
        </p:nvSpPr>
        <p:spPr>
          <a:xfrm>
            <a:off x="-833321" y="2091024"/>
            <a:ext cx="356400" cy="568325"/>
          </a:xfrm>
          <a:prstGeom prst="rect">
            <a:avLst/>
          </a:prstGeom>
          <a:solidFill>
            <a:srgbClr val="7F7F7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00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DC4C610-266A-42B1-B9F0-3CB96D28097B}"/>
              </a:ext>
            </a:extLst>
          </p:cNvPr>
          <p:cNvSpPr/>
          <p:nvPr userDrawn="1"/>
        </p:nvSpPr>
        <p:spPr>
          <a:xfrm>
            <a:off x="-475633" y="2091024"/>
            <a:ext cx="356400" cy="568325"/>
          </a:xfrm>
          <a:prstGeom prst="rect">
            <a:avLst/>
          </a:prstGeom>
          <a:solidFill>
            <a:srgbClr val="595959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000"/>
          </a:p>
        </p:txBody>
      </p:sp>
    </p:spTree>
    <p:extLst>
      <p:ext uri="{BB962C8B-B14F-4D97-AF65-F5344CB8AC3E}">
        <p14:creationId xmlns:p14="http://schemas.microsoft.com/office/powerpoint/2010/main" val="1131419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9" r:id="rId2"/>
    <p:sldLayoutId id="2147483710" r:id="rId3"/>
    <p:sldLayoutId id="2147483713" r:id="rId4"/>
    <p:sldLayoutId id="2147483712" r:id="rId5"/>
    <p:sldLayoutId id="2147483686" r:id="rId6"/>
    <p:sldLayoutId id="2147483691" r:id="rId7"/>
    <p:sldLayoutId id="2147483692" r:id="rId8"/>
    <p:sldLayoutId id="2147483693" r:id="rId9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3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jpe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B43EC-A22E-14BC-160E-007EB36F1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B16903C-E722-417E-B46E-C345BECD148F}"/>
              </a:ext>
            </a:extLst>
          </p:cNvPr>
          <p:cNvSpPr txBox="1"/>
          <p:nvPr/>
        </p:nvSpPr>
        <p:spPr>
          <a:xfrm>
            <a:off x="982192" y="2360161"/>
            <a:ext cx="3596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pc="-200">
                <a:solidFill>
                  <a:schemeClr val="tx1">
                    <a:lumMod val="50000"/>
                    <a:lumOff val="50000"/>
                  </a:schemeClr>
                </a:solidFill>
              </a:rPr>
              <a:t>AI</a:t>
            </a:r>
            <a:r>
              <a:rPr lang="ko-KR" altLang="en-US" spc="-200">
                <a:solidFill>
                  <a:schemeClr val="tx1">
                    <a:lumMod val="50000"/>
                    <a:lumOff val="50000"/>
                  </a:schemeClr>
                </a:solidFill>
              </a:rPr>
              <a:t>거버넌스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81869B-15F4-43E5-A6AB-9D95C42A2531}"/>
              </a:ext>
            </a:extLst>
          </p:cNvPr>
          <p:cNvSpPr txBox="1"/>
          <p:nvPr/>
        </p:nvSpPr>
        <p:spPr>
          <a:xfrm>
            <a:off x="1014377" y="3820260"/>
            <a:ext cx="1719094" cy="6110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-5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50" charset="-127"/>
              </a:rPr>
              <a:t>Version 1.0</a:t>
            </a: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-5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50" charset="-127"/>
              </a:rPr>
              <a:t>2026-01-19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48E241-3DB2-4398-B83A-2C2555D5AAA5}"/>
              </a:ext>
            </a:extLst>
          </p:cNvPr>
          <p:cNvSpPr txBox="1"/>
          <p:nvPr/>
        </p:nvSpPr>
        <p:spPr>
          <a:xfrm>
            <a:off x="982192" y="2712014"/>
            <a:ext cx="107704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3200" b="1" spc="-10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pc="-20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Medium" panose="02000603000000020004" pitchFamily="50" charset="-127"/>
              </a:rPr>
              <a:t>To-Be </a:t>
            </a:r>
            <a:r>
              <a:rPr lang="ko-KR" altLang="en-US" spc="-20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Medium" panose="02000603000000020004" pitchFamily="50" charset="-127"/>
              </a:rPr>
              <a:t>참조모델 정의서</a:t>
            </a:r>
          </a:p>
        </p:txBody>
      </p:sp>
    </p:spTree>
    <p:extLst>
      <p:ext uri="{BB962C8B-B14F-4D97-AF65-F5344CB8AC3E}">
        <p14:creationId xmlns:p14="http://schemas.microsoft.com/office/powerpoint/2010/main" val="10842578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4">
            <a:extLst>
              <a:ext uri="{FF2B5EF4-FFF2-40B4-BE49-F238E27FC236}">
                <a16:creationId xmlns:a16="http://schemas.microsoft.com/office/drawing/2014/main" id="{F3F8A8A3-A08F-4144-8E22-9D44BBAFAB78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569980" y="1220368"/>
            <a:ext cx="5616575" cy="29238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91434" tIns="45718" rIns="91434" bIns="45718" anchor="ctr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1300">
                <a:ln>
                  <a:solidFill>
                    <a:schemeClr val="tx1">
                      <a:lumMod val="85000"/>
                      <a:lumOff val="15000"/>
                      <a:alpha val="20000"/>
                    </a:schemeClr>
                  </a:solidFill>
                </a:ln>
                <a:latin typeface="+mj-ea"/>
                <a:ea typeface="+mj-ea"/>
                <a:cs typeface="Times New Roman" pitchFamily="18" charset="0"/>
              </a:rPr>
              <a:t>작성</a:t>
            </a:r>
            <a:r>
              <a:rPr lang="en-US" altLang="ko-KR" sz="1300">
                <a:ln>
                  <a:solidFill>
                    <a:schemeClr val="tx1">
                      <a:lumMod val="85000"/>
                      <a:lumOff val="15000"/>
                      <a:alpha val="20000"/>
                    </a:schemeClr>
                  </a:solidFill>
                </a:ln>
                <a:latin typeface="+mj-ea"/>
                <a:ea typeface="+mj-ea"/>
                <a:cs typeface="Times New Roman" pitchFamily="18" charset="0"/>
              </a:rPr>
              <a:t>/</a:t>
            </a:r>
            <a:r>
              <a:rPr lang="ko-KR" altLang="en-US" sz="1300">
                <a:ln>
                  <a:solidFill>
                    <a:schemeClr val="tx1">
                      <a:lumMod val="85000"/>
                      <a:lumOff val="15000"/>
                      <a:alpha val="20000"/>
                    </a:schemeClr>
                  </a:solidFill>
                </a:ln>
                <a:latin typeface="+mj-ea"/>
                <a:ea typeface="+mj-ea"/>
                <a:cs typeface="Times New Roman" pitchFamily="18" charset="0"/>
              </a:rPr>
              <a:t>검토자</a:t>
            </a:r>
          </a:p>
        </p:txBody>
      </p:sp>
      <p:graphicFrame>
        <p:nvGraphicFramePr>
          <p:cNvPr id="11" name="Group 77">
            <a:extLst>
              <a:ext uri="{FF2B5EF4-FFF2-40B4-BE49-F238E27FC236}">
                <a16:creationId xmlns:a16="http://schemas.microsoft.com/office/drawing/2014/main" id="{A95B1409-C811-4322-BB8C-B38526BF46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1770561"/>
              </p:ext>
            </p:extLst>
          </p:nvPr>
        </p:nvGraphicFramePr>
        <p:xfrm>
          <a:off x="662265" y="1534019"/>
          <a:ext cx="10801348" cy="1119600"/>
        </p:xfrm>
        <a:graphic>
          <a:graphicData uri="http://schemas.openxmlformats.org/drawingml/2006/table">
            <a:tbl>
              <a:tblPr/>
              <a:tblGrid>
                <a:gridCol w="16822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97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97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797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797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80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>
                            <a:lumMod val="75000"/>
                            <a:lumOff val="25000"/>
                          </a:srgb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100" b="1" i="0" u="none" strike="noStrike" kern="1200" cap="none" spc="-50" normalizeH="0" baseline="0">
                          <a:ln>
                            <a:solidFill>
                              <a:srgbClr val="FFFFFF">
                                <a:lumMod val="75000"/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Pretendard" panose="02000503000000020004" pitchFamily="50" charset="-127"/>
                        </a:rPr>
                        <a:t>구분</a:t>
                      </a:r>
                    </a:p>
                  </a:txBody>
                  <a:tcPr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>
                            <a:lumMod val="75000"/>
                            <a:lumOff val="25000"/>
                          </a:srgb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100" b="1" i="0" u="none" strike="noStrike" kern="1200" cap="none" spc="-50" normalizeH="0" baseline="0">
                          <a:ln>
                            <a:solidFill>
                              <a:srgbClr val="FFFFFF">
                                <a:lumMod val="75000"/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Pretendard" panose="02000503000000020004" pitchFamily="50" charset="-127"/>
                        </a:rPr>
                        <a:t>소속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>
                            <a:lumMod val="75000"/>
                            <a:lumOff val="25000"/>
                          </a:srgb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100" b="1" i="0" u="none" strike="noStrike" kern="1200" cap="none" spc="-50" normalizeH="0" baseline="0">
                          <a:ln>
                            <a:solidFill>
                              <a:srgbClr val="FFFFFF">
                                <a:lumMod val="75000"/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Pretendard" panose="02000503000000020004" pitchFamily="50" charset="-127"/>
                        </a:rPr>
                        <a:t>직급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>
                            <a:lumMod val="75000"/>
                            <a:lumOff val="25000"/>
                          </a:srgb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100" b="1" i="0" u="none" strike="noStrike" kern="1200" cap="none" spc="-50" normalizeH="0" baseline="0">
                          <a:ln>
                            <a:solidFill>
                              <a:srgbClr val="FFFFFF">
                                <a:lumMod val="75000"/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Pretendard" panose="02000503000000020004" pitchFamily="50" charset="-127"/>
                        </a:rPr>
                        <a:t>성명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>
                            <a:lumMod val="75000"/>
                            <a:lumOff val="25000"/>
                          </a:srgb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100" b="1" i="0" u="none" strike="noStrike" kern="1200" cap="none" spc="-50" normalizeH="0" baseline="0">
                          <a:ln>
                            <a:solidFill>
                              <a:srgbClr val="FFFFFF">
                                <a:lumMod val="75000"/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Pretendard" panose="02000503000000020004" pitchFamily="50" charset="-127"/>
                        </a:rPr>
                        <a:t>일자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kern="1200" spc="-10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Pretendard Medium" panose="02000603000000020004" pitchFamily="50" charset="-127"/>
                        </a:rPr>
                        <a:t>작성자</a:t>
                      </a:r>
                    </a:p>
                  </a:txBody>
                  <a:tcPr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j-ea"/>
                          <a:ea typeface="+mj-ea"/>
                          <a:cs typeface="Arial" charset="0"/>
                        </a:rPr>
                        <a:t>EY</a:t>
                      </a:r>
                      <a:r>
                        <a:rPr kumimoji="0" lang="ko-KR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j-ea"/>
                          <a:ea typeface="+mj-ea"/>
                          <a:cs typeface="Arial" charset="0"/>
                        </a:rPr>
                        <a:t>컨설팅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j-ea"/>
                          <a:ea typeface="+mj-ea"/>
                          <a:cs typeface="Arial" charset="0"/>
                        </a:rPr>
                        <a:t>부장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j-ea"/>
                          <a:ea typeface="+mj-ea"/>
                          <a:cs typeface="Arial" charset="0"/>
                        </a:rPr>
                        <a:t>류근재</a:t>
                      </a:r>
                      <a:endParaRPr kumimoji="0" lang="ko-KR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j-ea"/>
                        <a:ea typeface="+mj-ea"/>
                        <a:cs typeface="Arial" charset="0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j-ea"/>
                          <a:ea typeface="+mj-ea"/>
                          <a:cs typeface="Arial" charset="0"/>
                        </a:rPr>
                        <a:t>2025-12-08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kern="1200" spc="-10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Pretendard Medium" panose="02000603000000020004" pitchFamily="50" charset="-127"/>
                        </a:rPr>
                        <a:t>검토자</a:t>
                      </a:r>
                    </a:p>
                  </a:txBody>
                  <a:tcPr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j-ea"/>
                          <a:ea typeface="+mj-ea"/>
                          <a:cs typeface="Arial" charset="0"/>
                        </a:rPr>
                        <a:t>EY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j-ea"/>
                          <a:ea typeface="+mj-ea"/>
                          <a:cs typeface="Arial" charset="0"/>
                        </a:rPr>
                        <a:t>컨설팅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j-ea"/>
                          <a:ea typeface="+mj-ea"/>
                          <a:cs typeface="Arial" charset="0"/>
                        </a:rPr>
                        <a:t>파트너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j-ea"/>
                          <a:ea typeface="+mj-ea"/>
                          <a:cs typeface="Arial" charset="0"/>
                        </a:rPr>
                        <a:t>김대하</a:t>
                      </a: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j-ea"/>
                        <a:ea typeface="+mj-ea"/>
                        <a:cs typeface="Arial" charset="0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j-ea"/>
                          <a:ea typeface="맑은 고딕"/>
                          <a:cs typeface="Arial" charset="0"/>
                        </a:rPr>
                        <a:t>2026-02-23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kern="1200" spc="-10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Pretendard Medium" panose="02000603000000020004" pitchFamily="50" charset="-127"/>
                        </a:rPr>
                        <a:t>승인자</a:t>
                      </a:r>
                    </a:p>
                  </a:txBody>
                  <a:tcPr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j-ea"/>
                        <a:ea typeface="+mj-ea"/>
                        <a:cs typeface="Arial" charset="0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j-ea"/>
                        <a:ea typeface="+mj-ea"/>
                        <a:cs typeface="Arial" charset="0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j-ea"/>
                        <a:ea typeface="+mj-ea"/>
                        <a:cs typeface="Arial" charset="0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j-ea"/>
                        <a:ea typeface="+mj-ea"/>
                        <a:cs typeface="Arial" charset="0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4" name="Group 78">
            <a:extLst>
              <a:ext uri="{FF2B5EF4-FFF2-40B4-BE49-F238E27FC236}">
                <a16:creationId xmlns:a16="http://schemas.microsoft.com/office/drawing/2014/main" id="{F53135F2-9021-4813-81C2-55E738C05A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7216278"/>
              </p:ext>
            </p:extLst>
          </p:nvPr>
        </p:nvGraphicFramePr>
        <p:xfrm>
          <a:off x="662265" y="3340389"/>
          <a:ext cx="10801350" cy="2522704"/>
        </p:xfrm>
        <a:graphic>
          <a:graphicData uri="http://schemas.openxmlformats.org/drawingml/2006/table">
            <a:tbl>
              <a:tblPr/>
              <a:tblGrid>
                <a:gridCol w="16697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51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87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592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80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>
                            <a:lumMod val="75000"/>
                            <a:lumOff val="25000"/>
                          </a:srgb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100" b="1" i="0" u="none" strike="noStrike" kern="1200" cap="none" spc="-50" normalizeH="0" baseline="0">
                          <a:ln>
                            <a:solidFill>
                              <a:srgbClr val="FFFFFF">
                                <a:lumMod val="75000"/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Pretendard" panose="02000503000000020004" pitchFamily="50" charset="-127"/>
                        </a:rPr>
                        <a:t>버전</a:t>
                      </a:r>
                    </a:p>
                  </a:txBody>
                  <a:tcPr marL="90000" marR="90000" marT="46800" marB="46800" anchor="ctr" anchorCtr="1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>
                            <a:lumMod val="75000"/>
                            <a:lumOff val="25000"/>
                          </a:srgb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100" b="1" i="0" u="none" strike="noStrike" kern="1200" cap="none" spc="-50" normalizeH="0" baseline="0">
                          <a:ln>
                            <a:solidFill>
                              <a:srgbClr val="FFFFFF">
                                <a:lumMod val="75000"/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Pretendard" panose="02000503000000020004" pitchFamily="50" charset="-127"/>
                        </a:rPr>
                        <a:t>제</a:t>
                      </a:r>
                      <a:r>
                        <a:rPr kumimoji="1" lang="en-US" altLang="ko-KR" sz="1100" b="1" i="0" u="none" strike="noStrike" kern="1200" cap="none" spc="-50" normalizeH="0" baseline="0">
                          <a:ln>
                            <a:solidFill>
                              <a:srgbClr val="FFFFFF">
                                <a:lumMod val="75000"/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Pretendard" panose="02000503000000020004" pitchFamily="50" charset="-127"/>
                        </a:rPr>
                        <a:t>/</a:t>
                      </a:r>
                      <a:r>
                        <a:rPr kumimoji="1" lang="ko-KR" altLang="en-US" sz="1100" b="1" i="0" u="none" strike="noStrike" kern="1200" cap="none" spc="-50" normalizeH="0" baseline="0">
                          <a:ln>
                            <a:solidFill>
                              <a:srgbClr val="FFFFFF">
                                <a:lumMod val="75000"/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Pretendard" panose="02000503000000020004" pitchFamily="50" charset="-127"/>
                        </a:rPr>
                        <a:t>개정 페이지 및 수정 내용</a:t>
                      </a:r>
                    </a:p>
                  </a:txBody>
                  <a:tcPr marL="90000" marR="90000" marT="46800" marB="46800" anchor="ctr" anchorCtr="1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>
                            <a:lumMod val="75000"/>
                            <a:lumOff val="25000"/>
                          </a:srgb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100" b="1" i="0" u="none" strike="noStrike" kern="1200" cap="none" spc="-50" normalizeH="0" baseline="0">
                          <a:ln>
                            <a:solidFill>
                              <a:srgbClr val="FFFFFF">
                                <a:lumMod val="75000"/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Pretendard" panose="02000503000000020004" pitchFamily="50" charset="-127"/>
                        </a:rPr>
                        <a:t>제</a:t>
                      </a:r>
                      <a:r>
                        <a:rPr kumimoji="1" lang="en-US" altLang="ko-KR" sz="1100" b="1" i="0" u="none" strike="noStrike" kern="1200" cap="none" spc="-50" normalizeH="0" baseline="0">
                          <a:ln>
                            <a:solidFill>
                              <a:srgbClr val="FFFFFF">
                                <a:lumMod val="75000"/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Pretendard" panose="02000503000000020004" pitchFamily="50" charset="-127"/>
                        </a:rPr>
                        <a:t>/</a:t>
                      </a:r>
                      <a:r>
                        <a:rPr kumimoji="1" lang="ko-KR" altLang="en-US" sz="1100" b="1" i="0" u="none" strike="noStrike" kern="1200" cap="none" spc="-50" normalizeH="0" baseline="0">
                          <a:ln>
                            <a:solidFill>
                              <a:srgbClr val="FFFFFF">
                                <a:lumMod val="75000"/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Pretendard" panose="02000503000000020004" pitchFamily="50" charset="-127"/>
                        </a:rPr>
                        <a:t>개정 일자</a:t>
                      </a:r>
                    </a:p>
                  </a:txBody>
                  <a:tcPr marL="90000" marR="90000" marT="46800" marB="46800" anchor="ctr" anchorCtr="1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>
                            <a:lumMod val="75000"/>
                            <a:lumOff val="25000"/>
                          </a:srgb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100" b="1" i="0" u="none" strike="noStrike" kern="1200" cap="none" spc="-50" normalizeH="0" baseline="0">
                          <a:ln>
                            <a:solidFill>
                              <a:srgbClr val="FFFFFF">
                                <a:lumMod val="75000"/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Pretendard" panose="02000503000000020004" pitchFamily="50" charset="-127"/>
                        </a:rPr>
                        <a:t>제</a:t>
                      </a:r>
                      <a:r>
                        <a:rPr kumimoji="1" lang="en-US" altLang="ko-KR" sz="1100" b="1" i="0" u="none" strike="noStrike" kern="1200" cap="none" spc="-50" normalizeH="0" baseline="0">
                          <a:ln>
                            <a:solidFill>
                              <a:srgbClr val="FFFFFF">
                                <a:lumMod val="75000"/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Pretendard" panose="02000503000000020004" pitchFamily="50" charset="-127"/>
                        </a:rPr>
                        <a:t>/</a:t>
                      </a:r>
                      <a:r>
                        <a:rPr kumimoji="1" lang="ko-KR" altLang="en-US" sz="1100" b="1" i="0" u="none" strike="noStrike" kern="1200" cap="none" spc="-50" normalizeH="0" baseline="0">
                          <a:ln>
                            <a:solidFill>
                              <a:srgbClr val="FFFFFF">
                                <a:lumMod val="75000"/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Pretendard" panose="02000503000000020004" pitchFamily="50" charset="-127"/>
                        </a:rPr>
                        <a:t>개정자</a:t>
                      </a:r>
                    </a:p>
                  </a:txBody>
                  <a:tcPr marL="90000" marR="90000" marT="46800" marB="46800" anchor="ctr" anchorCtr="1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959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33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0.1</a:t>
                      </a:r>
                      <a:endParaRPr kumimoji="0" lang="ko-KR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l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초안 작성</a:t>
                      </a: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j-ea"/>
                          <a:ea typeface="맑은 고딕"/>
                          <a:cs typeface="Arial" charset="0"/>
                        </a:rPr>
                        <a:t>2025-11-10</a:t>
                      </a: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류근재</a:t>
                      </a:r>
                      <a:endParaRPr kumimoji="0" lang="ko-KR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33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0.5</a:t>
                      </a:r>
                      <a:endParaRPr kumimoji="0" lang="ko-KR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l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초안 작성 완료</a:t>
                      </a: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2025-11-26</a:t>
                      </a:r>
                      <a:endParaRPr kumimoji="0" lang="ko-KR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류근재</a:t>
                      </a:r>
                      <a:endParaRPr kumimoji="0" lang="ko-KR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33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0.7</a:t>
                      </a:r>
                      <a:endParaRPr kumimoji="0" lang="ko-KR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l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고객사 </a:t>
                      </a:r>
                      <a:r>
                        <a:rPr kumimoji="0" lang="en-US" altLang="ko-K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1</a:t>
                      </a:r>
                      <a:r>
                        <a:rPr kumimoji="0" lang="ko-KR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차 리뷰</a:t>
                      </a:r>
                      <a:r>
                        <a:rPr kumimoji="0" lang="en-US" altLang="ko-K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(</a:t>
                      </a:r>
                      <a:r>
                        <a:rPr kumimoji="0" lang="ko-KR" altLang="en-US" sz="1200" b="0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진정혁</a:t>
                      </a:r>
                      <a:r>
                        <a:rPr kumimoji="0" lang="ko-KR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 본부장</a:t>
                      </a:r>
                      <a:r>
                        <a:rPr kumimoji="0" lang="en-US" altLang="ko-K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)</a:t>
                      </a:r>
                      <a:r>
                        <a:rPr kumimoji="0" lang="ko-KR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 완료</a:t>
                      </a: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2025-12-03</a:t>
                      </a:r>
                      <a:endParaRPr kumimoji="0" lang="ko-KR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normalizeH="0" baseline="0" err="1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맑은 고딕"/>
                          <a:cs typeface="Arial" charset="0"/>
                        </a:rPr>
                        <a:t>류근재</a:t>
                      </a:r>
                      <a:endParaRPr kumimoji="0" lang="ko-KR" altLang="en-US" sz="12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맑은 고딕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33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0.8</a:t>
                      </a:r>
                      <a:endParaRPr kumimoji="0" lang="ko-KR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l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P. 20(AI</a:t>
                      </a:r>
                      <a:r>
                        <a:rPr kumimoji="0" lang="ko-KR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거버넌스 유관 부서별 </a:t>
                      </a:r>
                      <a:r>
                        <a:rPr kumimoji="0" lang="en-US" altLang="ko-K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R&amp;R </a:t>
                      </a:r>
                      <a:r>
                        <a:rPr kumimoji="0" lang="ko-KR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및 업무 프로세스</a:t>
                      </a:r>
                      <a:r>
                        <a:rPr kumimoji="0" lang="en-US" altLang="ko-K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)</a:t>
                      </a:r>
                      <a:r>
                        <a:rPr kumimoji="0" lang="ko-KR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 일부 수정</a:t>
                      </a: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2025-12-08</a:t>
                      </a:r>
                      <a:endParaRPr kumimoji="0" lang="ko-KR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normalizeH="0" baseline="0" err="1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맑은 고딕"/>
                          <a:cs typeface="Arial" charset="0"/>
                        </a:rPr>
                        <a:t>류근재</a:t>
                      </a:r>
                      <a:endParaRPr kumimoji="0" lang="ko-KR" altLang="en-US" sz="12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맑은 고딕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933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0.81</a:t>
                      </a:r>
                      <a:endParaRPr kumimoji="0" lang="ko-KR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l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추가 요건에 따른 </a:t>
                      </a: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WBS 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변경</a:t>
                      </a: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맑은 고딕"/>
                          <a:cs typeface="Arial" charset="0"/>
                        </a:rPr>
                        <a:t>2026-01-07</a:t>
                      </a:r>
                      <a:endParaRPr kumimoji="0" lang="ko-KR" altLang="en-US" sz="12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맑은 고딕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나종민</a:t>
                      </a: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933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0.82</a:t>
                      </a:r>
                      <a:endParaRPr kumimoji="0" lang="ko-KR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l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맑은 고딕"/>
                          <a:cs typeface="Arial" charset="0"/>
                        </a:rPr>
                        <a:t>금융분야 </a:t>
                      </a:r>
                      <a:r>
                        <a:rPr kumimoji="0" lang="en-US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맑은 고딕"/>
                          <a:cs typeface="Arial" charset="0"/>
                        </a:rPr>
                        <a:t>AI </a:t>
                      </a:r>
                      <a:r>
                        <a:rPr kumimoji="0" lang="ko-KR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맑은 고딕"/>
                          <a:cs typeface="Arial" charset="0"/>
                        </a:rPr>
                        <a:t>가이드라인</a:t>
                      </a:r>
                      <a:r>
                        <a:rPr kumimoji="0" lang="en-US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맑은 고딕"/>
                          <a:cs typeface="Arial" charset="0"/>
                        </a:rPr>
                        <a:t>(</a:t>
                      </a:r>
                      <a:r>
                        <a:rPr kumimoji="0" lang="ko-KR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맑은 고딕"/>
                          <a:cs typeface="Arial" charset="0"/>
                        </a:rPr>
                        <a:t>안</a:t>
                      </a:r>
                      <a:r>
                        <a:rPr kumimoji="0" lang="en-US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맑은 고딕"/>
                          <a:cs typeface="Arial" charset="0"/>
                        </a:rPr>
                        <a:t>) </a:t>
                      </a:r>
                      <a:r>
                        <a:rPr kumimoji="0" lang="ko-KR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맑은 고딕"/>
                          <a:cs typeface="Arial" charset="0"/>
                        </a:rPr>
                        <a:t>신규문서에 따른 </a:t>
                      </a:r>
                      <a:r>
                        <a:rPr kumimoji="0" lang="en-US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맑은 고딕"/>
                          <a:cs typeface="Arial" charset="0"/>
                        </a:rPr>
                        <a:t>WBS </a:t>
                      </a:r>
                      <a:r>
                        <a:rPr kumimoji="0" lang="ko-KR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맑은 고딕"/>
                          <a:cs typeface="Arial" charset="0"/>
                        </a:rPr>
                        <a:t>변경</a:t>
                      </a: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맑은 고딕"/>
                          <a:cs typeface="Arial" charset="0"/>
                        </a:rPr>
                        <a:t>2026-01-14</a:t>
                      </a:r>
                      <a:endParaRPr kumimoji="0" lang="ko-KR" altLang="en-US" sz="12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맑은 고딕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나종민</a:t>
                      </a: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933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0.83</a:t>
                      </a:r>
                      <a:endParaRPr kumimoji="0" lang="ko-KR" altLang="en-US" sz="1200" b="0" i="0" u="none" strike="noStrike" cap="none" normalizeH="0" baseline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l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조직 구성안 변경</a:t>
                      </a: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2026-01-19</a:t>
                      </a: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나종민</a:t>
                      </a: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9338"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1.0</a:t>
                      </a: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버전 업데이트</a:t>
                      </a: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2026-02-23</a:t>
                      </a: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나종민</a:t>
                      </a: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0605128"/>
                  </a:ext>
                </a:extLst>
              </a:tr>
            </a:tbl>
          </a:graphicData>
        </a:graphic>
      </p:graphicFrame>
      <p:sp>
        <p:nvSpPr>
          <p:cNvPr id="16" name="Text Box 4">
            <a:extLst>
              <a:ext uri="{FF2B5EF4-FFF2-40B4-BE49-F238E27FC236}">
                <a16:creationId xmlns:a16="http://schemas.microsoft.com/office/drawing/2014/main" id="{330EB9C2-3D8A-4E4D-8237-AC2BAE0E7CD2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569980" y="3024035"/>
            <a:ext cx="5616575" cy="29238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91434" tIns="45718" rIns="91434" bIns="45718" anchor="ctr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1300">
                <a:ln>
                  <a:solidFill>
                    <a:schemeClr val="tx1">
                      <a:lumMod val="85000"/>
                      <a:lumOff val="15000"/>
                      <a:alpha val="20000"/>
                    </a:schemeClr>
                  </a:solidFill>
                </a:ln>
                <a:latin typeface="+mj-ea"/>
                <a:ea typeface="+mj-ea"/>
                <a:cs typeface="Times New Roman" pitchFamily="18" charset="0"/>
              </a:rPr>
              <a:t>제</a:t>
            </a:r>
            <a:r>
              <a:rPr lang="en-US" altLang="ko-KR" sz="1300">
                <a:ln>
                  <a:solidFill>
                    <a:schemeClr val="tx1">
                      <a:lumMod val="85000"/>
                      <a:lumOff val="15000"/>
                      <a:alpha val="20000"/>
                    </a:schemeClr>
                  </a:solidFill>
                </a:ln>
                <a:latin typeface="+mj-ea"/>
                <a:ea typeface="+mj-ea"/>
                <a:cs typeface="Times New Roman" pitchFamily="18" charset="0"/>
              </a:rPr>
              <a:t>/</a:t>
            </a:r>
            <a:r>
              <a:rPr lang="ko-KR" altLang="en-US" sz="1300">
                <a:ln>
                  <a:solidFill>
                    <a:schemeClr val="tx1">
                      <a:lumMod val="85000"/>
                      <a:lumOff val="15000"/>
                      <a:alpha val="20000"/>
                    </a:schemeClr>
                  </a:solidFill>
                </a:ln>
                <a:latin typeface="+mj-ea"/>
                <a:ea typeface="+mj-ea"/>
                <a:cs typeface="Times New Roman" pitchFamily="18" charset="0"/>
              </a:rPr>
              <a:t>개정 이력</a:t>
            </a:r>
          </a:p>
        </p:txBody>
      </p:sp>
    </p:spTree>
    <p:extLst>
      <p:ext uri="{BB962C8B-B14F-4D97-AF65-F5344CB8AC3E}">
        <p14:creationId xmlns:p14="http://schemas.microsoft.com/office/powerpoint/2010/main" val="42421389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E5EE81F0-CD3E-4FC5-B80A-D1B1413B9FE7}"/>
              </a:ext>
            </a:extLst>
          </p:cNvPr>
          <p:cNvSpPr txBox="1"/>
          <p:nvPr/>
        </p:nvSpPr>
        <p:spPr>
          <a:xfrm>
            <a:off x="3287997" y="2990565"/>
            <a:ext cx="5167846" cy="3159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30000"/>
              </a:lnSpc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80000"/>
              <a:buFont typeface="+mj-lt"/>
              <a:buAutoNum type="arabicPeriod"/>
            </a:pP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AI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거버넌스 수립 계획 변경 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(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案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)</a:t>
            </a:r>
          </a:p>
          <a:p>
            <a:pPr marL="514350" indent="-514350">
              <a:lnSpc>
                <a:spcPct val="130000"/>
              </a:lnSpc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80000"/>
              <a:buFont typeface="+mj-lt"/>
              <a:buAutoNum type="arabicPeriod"/>
            </a:pP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AI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거버넌스 수행 업무별 주요 내용</a:t>
            </a:r>
          </a:p>
          <a:p>
            <a:pPr marL="514350" indent="-514350">
              <a:lnSpc>
                <a:spcPct val="130000"/>
              </a:lnSpc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80000"/>
              <a:buFont typeface="+mj-lt"/>
              <a:buAutoNum type="arabicPeriod"/>
            </a:pP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AI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거버넌스 분석 대상 및 요건</a:t>
            </a:r>
          </a:p>
          <a:p>
            <a:pPr marL="514350" indent="-514350">
              <a:lnSpc>
                <a:spcPct val="130000"/>
              </a:lnSpc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80000"/>
              <a:buFont typeface="+mj-lt"/>
              <a:buAutoNum type="arabicPeriod"/>
            </a:pP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AI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거버넌스 초기 가설적 산출물 목차</a:t>
            </a:r>
          </a:p>
          <a:p>
            <a:pPr marL="514350" indent="-514350">
              <a:lnSpc>
                <a:spcPct val="130000"/>
              </a:lnSpc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80000"/>
              <a:buFont typeface="+mj-lt"/>
              <a:buAutoNum type="arabicPeriod"/>
            </a:pP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AI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거버넌스 요건 매트릭스 대상 및 예시</a:t>
            </a:r>
          </a:p>
          <a:p>
            <a:pPr marL="514350" indent="-514350">
              <a:lnSpc>
                <a:spcPct val="130000"/>
              </a:lnSpc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80000"/>
              <a:buFont typeface="+mj-lt"/>
              <a:buAutoNum type="arabicPeriod"/>
            </a:pP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개발 라이프 사이클별 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AI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거버넌스 대응방안</a:t>
            </a:r>
          </a:p>
          <a:p>
            <a:pPr marL="514350" indent="-514350">
              <a:lnSpc>
                <a:spcPct val="130000"/>
              </a:lnSpc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80000"/>
              <a:buFont typeface="+mj-lt"/>
              <a:buAutoNum type="arabicPeriod"/>
            </a:pP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AI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거버넌스 초기 가설적 유관 부서별 </a:t>
            </a: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R&amp;R 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및 업무 프로세스</a:t>
            </a:r>
          </a:p>
          <a:p>
            <a:pPr marL="514350" indent="-514350">
              <a:lnSpc>
                <a:spcPct val="130000"/>
              </a:lnSpc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80000"/>
              <a:buFont typeface="+mj-lt"/>
              <a:buAutoNum type="arabicPeriod"/>
            </a:pP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AI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거버넌스 초기 가설적 유관 부서별 수행 상세 업무</a:t>
            </a:r>
          </a:p>
          <a:p>
            <a:pPr marL="514350" indent="-514350">
              <a:lnSpc>
                <a:spcPct val="130000"/>
              </a:lnSpc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80000"/>
              <a:buFont typeface="+mj-lt"/>
              <a:buAutoNum type="arabicPeriod"/>
            </a:pP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AI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거버넌스 전담부서 구성 방안</a:t>
            </a:r>
          </a:p>
          <a:p>
            <a:pPr marL="514350" indent="-514350">
              <a:lnSpc>
                <a:spcPct val="130000"/>
              </a:lnSpc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80000"/>
              <a:buFont typeface="+mj-lt"/>
              <a:buAutoNum type="arabicPeriod"/>
            </a:pPr>
            <a:r>
              <a:rPr lang="en-US" altLang="ko-KR" sz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AI</a:t>
            </a:r>
            <a:r>
              <a:rPr lang="ko-KR" altLang="en-US" sz="1200" err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거버넌스협의체</a:t>
            </a:r>
            <a:r>
              <a:rPr lang="ko-KR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구성 방안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3C55793-210A-44F1-A322-65ADFCAD94DF}"/>
              </a:ext>
            </a:extLst>
          </p:cNvPr>
          <p:cNvSpPr txBox="1"/>
          <p:nvPr/>
        </p:nvSpPr>
        <p:spPr>
          <a:xfrm>
            <a:off x="2890529" y="2217802"/>
            <a:ext cx="2534912" cy="515175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>
            <a:defPPr>
              <a:defRPr lang="ko-KR"/>
            </a:defPPr>
            <a:lvl1pPr>
              <a:defRPr b="1" spc="-20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rgbClr val="F58220"/>
                </a:solidFill>
                <a:latin typeface="+mj-ea"/>
                <a:ea typeface="+mj-ea"/>
                <a:cs typeface="Pretendard SemiBold" panose="02000703000000020004" pitchFamily="50" charset="-127"/>
              </a:defRPr>
            </a:lvl1pPr>
          </a:lstStyle>
          <a:p>
            <a:r>
              <a:rPr lang="en-US" altLang="ko-KR" sz="3600" b="0">
                <a:ln>
                  <a:solidFill>
                    <a:srgbClr val="F58220"/>
                  </a:solidFill>
                </a:ln>
                <a:latin typeface="+mn-ea"/>
                <a:ea typeface="+mn-ea"/>
              </a:rPr>
              <a:t>CONTENTS</a:t>
            </a: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E6E0572F-279F-4A49-9BB4-2869F6A5A2C1}"/>
              </a:ext>
            </a:extLst>
          </p:cNvPr>
          <p:cNvCxnSpPr>
            <a:cxnSpLocks/>
          </p:cNvCxnSpPr>
          <p:nvPr/>
        </p:nvCxnSpPr>
        <p:spPr>
          <a:xfrm>
            <a:off x="5425440" y="2475390"/>
            <a:ext cx="6471920" cy="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68854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277DE-29BA-A8A7-127E-D550A5522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A70CD3C0-FC8E-A07F-5F42-3F7F63B4496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876E2DD7-E523-527D-BBDC-413BA25F4F6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AI</a:t>
            </a:r>
            <a:r>
              <a:rPr lang="ko-KR" altLang="en-US" dirty="0"/>
              <a:t>거버넌스 프레임워크</a:t>
            </a:r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21DC877E-CBB2-E760-80D9-D95421233A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/>
              <a:t>4</a:t>
            </a:r>
            <a:r>
              <a:rPr lang="ko-KR" altLang="en-US"/>
              <a:t>가지 관점</a:t>
            </a:r>
            <a:r>
              <a:rPr lang="ko-KR" altLang="en-US" baseline="30000"/>
              <a:t>조직</a:t>
            </a:r>
            <a:r>
              <a:rPr lang="en-US" altLang="ko-KR" baseline="30000"/>
              <a:t>, </a:t>
            </a:r>
            <a:r>
              <a:rPr lang="ko-KR" altLang="en-US" baseline="30000"/>
              <a:t>협의체</a:t>
            </a:r>
            <a:r>
              <a:rPr lang="en-US" altLang="ko-KR" baseline="30000"/>
              <a:t>, </a:t>
            </a:r>
            <a:r>
              <a:rPr lang="ko-KR" altLang="en-US" baseline="30000"/>
              <a:t>활용 도구</a:t>
            </a:r>
            <a:r>
              <a:rPr lang="en-US" altLang="ko-KR" baseline="30000"/>
              <a:t>&amp;</a:t>
            </a:r>
            <a:r>
              <a:rPr lang="ko-KR" altLang="en-US" baseline="30000"/>
              <a:t>문서</a:t>
            </a:r>
            <a:r>
              <a:rPr lang="en-US" altLang="ko-KR" baseline="30000"/>
              <a:t>, </a:t>
            </a:r>
            <a:r>
              <a:rPr lang="ko-KR" altLang="en-US" baseline="30000"/>
              <a:t>기능</a:t>
            </a:r>
            <a:r>
              <a:rPr lang="en-US" altLang="ko-KR" baseline="30000"/>
              <a:t>&amp;</a:t>
            </a:r>
            <a:r>
              <a:rPr lang="ko-KR" altLang="en-US" baseline="30000" err="1"/>
              <a:t>프로세스</a:t>
            </a:r>
            <a:r>
              <a:rPr lang="ko-KR" altLang="en-US" err="1"/>
              <a:t>을</a:t>
            </a:r>
            <a:r>
              <a:rPr lang="ko-KR" altLang="en-US"/>
              <a:t> 기반으로 </a:t>
            </a:r>
            <a:r>
              <a:rPr lang="en-US" altLang="ko-KR"/>
              <a:t>AI</a:t>
            </a:r>
            <a:r>
              <a:rPr lang="ko-KR" altLang="en-US"/>
              <a:t>서비스 개발 全 라이프사이클에서 발생하는 </a:t>
            </a:r>
            <a:r>
              <a:rPr lang="en-US" altLang="ko-KR"/>
              <a:t>AI</a:t>
            </a:r>
            <a:r>
              <a:rPr lang="ko-KR" altLang="en-US"/>
              <a:t>위험</a:t>
            </a:r>
            <a:r>
              <a:rPr lang="en-US" altLang="ko-KR"/>
              <a:t>/</a:t>
            </a:r>
            <a:r>
              <a:rPr lang="ko-KR" altLang="en-US"/>
              <a:t>영향</a:t>
            </a:r>
            <a:r>
              <a:rPr lang="en-US" altLang="ko-KR"/>
              <a:t>/</a:t>
            </a:r>
            <a:r>
              <a:rPr lang="ko-KR" altLang="en-US"/>
              <a:t>안전성에 대해 식별 및 평가함</a:t>
            </a:r>
          </a:p>
        </p:txBody>
      </p:sp>
      <p:sp>
        <p:nvSpPr>
          <p:cNvPr id="84" name="자유형: 도형 83">
            <a:extLst>
              <a:ext uri="{FF2B5EF4-FFF2-40B4-BE49-F238E27FC236}">
                <a16:creationId xmlns:a16="http://schemas.microsoft.com/office/drawing/2014/main" id="{B77D1236-4393-69F3-354B-0AFF666CDF56}"/>
              </a:ext>
            </a:extLst>
          </p:cNvPr>
          <p:cNvSpPr/>
          <p:nvPr/>
        </p:nvSpPr>
        <p:spPr>
          <a:xfrm>
            <a:off x="334963" y="1341438"/>
            <a:ext cx="5040000" cy="698400"/>
          </a:xfrm>
          <a:custGeom>
            <a:avLst/>
            <a:gdLst>
              <a:gd name="connsiteX0" fmla="*/ 2520000 w 5040000"/>
              <a:gd name="connsiteY0" fmla="*/ 0 h 698400"/>
              <a:gd name="connsiteX1" fmla="*/ 5040000 w 5040000"/>
              <a:gd name="connsiteY1" fmla="*/ 424732 h 698400"/>
              <a:gd name="connsiteX2" fmla="*/ 5040000 w 5040000"/>
              <a:gd name="connsiteY2" fmla="*/ 698400 h 698400"/>
              <a:gd name="connsiteX3" fmla="*/ 0 w 5040000"/>
              <a:gd name="connsiteY3" fmla="*/ 698400 h 698400"/>
              <a:gd name="connsiteX4" fmla="*/ 0 w 5040000"/>
              <a:gd name="connsiteY4" fmla="*/ 424732 h 6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40000" h="698400">
                <a:moveTo>
                  <a:pt x="2520000" y="0"/>
                </a:moveTo>
                <a:lnTo>
                  <a:pt x="5040000" y="424732"/>
                </a:lnTo>
                <a:lnTo>
                  <a:pt x="5040000" y="698400"/>
                </a:lnTo>
                <a:lnTo>
                  <a:pt x="0" y="698400"/>
                </a:lnTo>
                <a:lnTo>
                  <a:pt x="0" y="424732"/>
                </a:lnTo>
                <a:close/>
              </a:path>
            </a:pathLst>
          </a:custGeom>
          <a:solidFill>
            <a:srgbClr val="C55A11"/>
          </a:solidFill>
          <a:ln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72000" rtlCol="0" anchor="b" anchorCtr="0">
            <a:noAutofit/>
          </a:bodyPr>
          <a:lstStyle/>
          <a:p>
            <a:pPr algn="ctr"/>
            <a:r>
              <a:rPr lang="en-US" altLang="ko-KR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“</a:t>
            </a:r>
            <a:r>
              <a:rPr lang="ko-KR" altLang="en-US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안전하고 투명한</a:t>
            </a:r>
            <a:r>
              <a:rPr lang="en-US" altLang="ko-KR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 AI</a:t>
            </a:r>
            <a:r>
              <a:rPr lang="ko-KR" altLang="en-US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서비스 제공</a:t>
            </a:r>
            <a:r>
              <a:rPr lang="en-US" altLang="ko-KR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”</a:t>
            </a:r>
            <a:endParaRPr lang="ko-KR" altLang="en-US" b="1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473E36D-622A-9CDF-D932-0ED17903E704}"/>
              </a:ext>
            </a:extLst>
          </p:cNvPr>
          <p:cNvSpPr/>
          <p:nvPr/>
        </p:nvSpPr>
        <p:spPr>
          <a:xfrm>
            <a:off x="514963" y="2150551"/>
            <a:ext cx="4680000" cy="1404000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tlCol="0" anchor="t"/>
          <a:lstStyle/>
          <a:p>
            <a:pPr algn="ctr"/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전사적 </a:t>
            </a:r>
            <a:r>
              <a:rPr lang="en-US" altLang="ko-KR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AI</a:t>
            </a:r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위험관리 체계 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D5281D2-32F2-A9BC-555B-FBF5E681CAE9}"/>
              </a:ext>
            </a:extLst>
          </p:cNvPr>
          <p:cNvSpPr/>
          <p:nvPr/>
        </p:nvSpPr>
        <p:spPr>
          <a:xfrm>
            <a:off x="694963" y="2533991"/>
            <a:ext cx="4320000" cy="9244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AI</a:t>
            </a:r>
            <a:r>
              <a:rPr lang="ko-KR" altLang="en-US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서비스 개발 전 생애주기에 걸친 위험관리 방안 및 환경 구축</a:t>
            </a:r>
            <a:endParaRPr lang="en-US" altLang="ko-KR" sz="1200" b="1" spc="-15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AI</a:t>
            </a:r>
            <a:r>
              <a:rPr lang="ko-KR" altLang="en-US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거버넌스 기반 안전성</a:t>
            </a:r>
            <a:r>
              <a:rPr lang="en-US" altLang="ko-KR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투명성</a:t>
            </a:r>
            <a:r>
              <a:rPr lang="en-US" altLang="ko-KR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강건성</a:t>
            </a:r>
            <a:r>
              <a:rPr lang="en-US" altLang="ko-KR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등 확보</a:t>
            </a:r>
            <a:endParaRPr lang="en-US" altLang="ko-KR" sz="1200" b="1" spc="-15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전사차원의 </a:t>
            </a:r>
            <a:r>
              <a:rPr lang="en-US" altLang="ko-KR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AI </a:t>
            </a:r>
            <a:r>
              <a:rPr lang="ko-KR" altLang="en-US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위험</a:t>
            </a:r>
            <a:r>
              <a:rPr lang="en-US" altLang="ko-KR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영향</a:t>
            </a:r>
            <a:r>
              <a:rPr lang="en-US" altLang="ko-KR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안전성에 대해 식별</a:t>
            </a:r>
            <a:r>
              <a:rPr lang="en-US" altLang="ko-KR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평가</a:t>
            </a:r>
            <a:endParaRPr lang="en-US" altLang="ko-KR" sz="1200" b="1" spc="-15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43610EB-DEB3-63BC-36B9-D86133B4D81F}"/>
              </a:ext>
            </a:extLst>
          </p:cNvPr>
          <p:cNvSpPr/>
          <p:nvPr/>
        </p:nvSpPr>
        <p:spPr>
          <a:xfrm>
            <a:off x="514963" y="4920777"/>
            <a:ext cx="4680000" cy="360000"/>
          </a:xfrm>
          <a:prstGeom prst="rect">
            <a:avLst/>
          </a:prstGeom>
          <a:solidFill>
            <a:srgbClr val="043B7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생성형 </a:t>
            </a:r>
            <a:r>
              <a:rPr lang="en-US" altLang="ko-KR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AI </a:t>
            </a:r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특화 보안 대책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B90283D-F4E4-6DD6-F1EB-2A3F3D99DE4B}"/>
              </a:ext>
            </a:extLst>
          </p:cNvPr>
          <p:cNvSpPr/>
          <p:nvPr/>
        </p:nvSpPr>
        <p:spPr>
          <a:xfrm>
            <a:off x="334963" y="5369889"/>
            <a:ext cx="5040000" cy="115200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 algn="ctr"/>
            <a:r>
              <a:rPr lang="en-US" altLang="ko-KR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AI</a:t>
            </a:r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거버넌스 외부현황 분석 대상</a:t>
            </a:r>
          </a:p>
        </p:txBody>
      </p:sp>
      <p:sp>
        <p:nvSpPr>
          <p:cNvPr id="20" name="사각형: 둥근 위쪽 모서리 19">
            <a:extLst>
              <a:ext uri="{FF2B5EF4-FFF2-40B4-BE49-F238E27FC236}">
                <a16:creationId xmlns:a16="http://schemas.microsoft.com/office/drawing/2014/main" id="{97914251-85C0-C3AA-571A-D5A8F9079B45}"/>
              </a:ext>
            </a:extLst>
          </p:cNvPr>
          <p:cNvSpPr/>
          <p:nvPr/>
        </p:nvSpPr>
        <p:spPr>
          <a:xfrm>
            <a:off x="5860330" y="1341438"/>
            <a:ext cx="720000" cy="720000"/>
          </a:xfrm>
          <a:prstGeom prst="round2SameRect">
            <a:avLst/>
          </a:prstGeom>
          <a:solidFill>
            <a:schemeClr val="accent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조직</a:t>
            </a:r>
          </a:p>
        </p:txBody>
      </p:sp>
      <p:sp>
        <p:nvSpPr>
          <p:cNvPr id="23" name="사각형: 둥근 위쪽 모서리 22">
            <a:extLst>
              <a:ext uri="{FF2B5EF4-FFF2-40B4-BE49-F238E27FC236}">
                <a16:creationId xmlns:a16="http://schemas.microsoft.com/office/drawing/2014/main" id="{C8B215CA-B9EE-C66A-E89C-0D9D36DF422A}"/>
              </a:ext>
            </a:extLst>
          </p:cNvPr>
          <p:cNvSpPr/>
          <p:nvPr/>
        </p:nvSpPr>
        <p:spPr>
          <a:xfrm>
            <a:off x="9372247" y="1341438"/>
            <a:ext cx="2519715" cy="288000"/>
          </a:xfrm>
          <a:prstGeom prst="round2SameRect">
            <a:avLst/>
          </a:prstGeom>
          <a:solidFill>
            <a:schemeClr val="accent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기능 및 프로세스</a:t>
            </a:r>
          </a:p>
        </p:txBody>
      </p:sp>
      <p:sp>
        <p:nvSpPr>
          <p:cNvPr id="24" name="사각형: 둥근 위쪽 모서리 23">
            <a:extLst>
              <a:ext uri="{FF2B5EF4-FFF2-40B4-BE49-F238E27FC236}">
                <a16:creationId xmlns:a16="http://schemas.microsoft.com/office/drawing/2014/main" id="{32674745-41A3-6006-1EC1-18A8773C0ECF}"/>
              </a:ext>
            </a:extLst>
          </p:cNvPr>
          <p:cNvSpPr/>
          <p:nvPr/>
        </p:nvSpPr>
        <p:spPr>
          <a:xfrm>
            <a:off x="8201608" y="1341438"/>
            <a:ext cx="1080000" cy="720000"/>
          </a:xfrm>
          <a:prstGeom prst="round2SameRect">
            <a:avLst/>
          </a:prstGeom>
          <a:solidFill>
            <a:schemeClr val="accent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활용 도구 및 문서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DAE88E7B-79B2-E946-B4B1-FE30BDA81DF6}"/>
              </a:ext>
            </a:extLst>
          </p:cNvPr>
          <p:cNvSpPr/>
          <p:nvPr/>
        </p:nvSpPr>
        <p:spPr>
          <a:xfrm>
            <a:off x="9372246" y="1665438"/>
            <a:ext cx="540000" cy="396000"/>
          </a:xfrm>
          <a:prstGeom prst="rect">
            <a:avLst/>
          </a:prstGeom>
          <a:solidFill>
            <a:srgbClr val="F4B183"/>
          </a:solidFill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기획</a:t>
            </a:r>
            <a:r>
              <a:rPr lang="en-US" altLang="ko-KR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· </a:t>
            </a:r>
            <a:r>
              <a:rPr lang="ko-KR" altLang="en-US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설계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B5F2CE7-DDFF-105F-19DB-BCBF96746248}"/>
              </a:ext>
            </a:extLst>
          </p:cNvPr>
          <p:cNvSpPr/>
          <p:nvPr/>
        </p:nvSpPr>
        <p:spPr>
          <a:xfrm>
            <a:off x="10032152" y="1665438"/>
            <a:ext cx="540000" cy="396000"/>
          </a:xfrm>
          <a:prstGeom prst="rect">
            <a:avLst/>
          </a:prstGeom>
          <a:solidFill>
            <a:srgbClr val="F4B183"/>
          </a:solidFill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개발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5232860-9D9D-F498-9255-6014FFCAE823}"/>
              </a:ext>
            </a:extLst>
          </p:cNvPr>
          <p:cNvSpPr/>
          <p:nvPr/>
        </p:nvSpPr>
        <p:spPr>
          <a:xfrm>
            <a:off x="10692058" y="1665438"/>
            <a:ext cx="540000" cy="396000"/>
          </a:xfrm>
          <a:prstGeom prst="rect">
            <a:avLst/>
          </a:prstGeom>
          <a:solidFill>
            <a:srgbClr val="F4B183"/>
          </a:solidFill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평가</a:t>
            </a:r>
            <a:r>
              <a:rPr lang="en-US" altLang="ko-KR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· </a:t>
            </a:r>
            <a:r>
              <a:rPr lang="ko-KR" altLang="en-US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검증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2C92A0AF-1815-3F94-4525-EF681670CC09}"/>
              </a:ext>
            </a:extLst>
          </p:cNvPr>
          <p:cNvSpPr/>
          <p:nvPr/>
        </p:nvSpPr>
        <p:spPr>
          <a:xfrm>
            <a:off x="11351963" y="1665438"/>
            <a:ext cx="540000" cy="396000"/>
          </a:xfrm>
          <a:prstGeom prst="rect">
            <a:avLst/>
          </a:prstGeom>
          <a:solidFill>
            <a:srgbClr val="F4B183"/>
          </a:solidFill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운영</a:t>
            </a:r>
            <a:r>
              <a:rPr lang="en-US" altLang="ko-KR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· </a:t>
            </a:r>
            <a:r>
              <a:rPr lang="ko-KR" altLang="en-US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모니터링</a:t>
            </a:r>
          </a:p>
        </p:txBody>
      </p:sp>
      <p:sp>
        <p:nvSpPr>
          <p:cNvPr id="34" name="Google Shape;134;p5">
            <a:extLst>
              <a:ext uri="{FF2B5EF4-FFF2-40B4-BE49-F238E27FC236}">
                <a16:creationId xmlns:a16="http://schemas.microsoft.com/office/drawing/2014/main" id="{8F7E2908-793B-DF74-D52B-631732731103}"/>
              </a:ext>
            </a:extLst>
          </p:cNvPr>
          <p:cNvSpPr/>
          <p:nvPr/>
        </p:nvSpPr>
        <p:spPr>
          <a:xfrm>
            <a:off x="5860331" y="2164144"/>
            <a:ext cx="720000" cy="720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AI</a:t>
            </a:r>
            <a:r>
              <a:rPr lang="ko-KR" altLang="en-US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서비스 기획</a:t>
            </a:r>
          </a:p>
        </p:txBody>
      </p:sp>
      <p:sp>
        <p:nvSpPr>
          <p:cNvPr id="35" name="Google Shape;134;p5">
            <a:extLst>
              <a:ext uri="{FF2B5EF4-FFF2-40B4-BE49-F238E27FC236}">
                <a16:creationId xmlns:a16="http://schemas.microsoft.com/office/drawing/2014/main" id="{68033947-DA21-215E-3DEC-356539C3BC08}"/>
              </a:ext>
            </a:extLst>
          </p:cNvPr>
          <p:cNvSpPr/>
          <p:nvPr/>
        </p:nvSpPr>
        <p:spPr>
          <a:xfrm>
            <a:off x="5860331" y="5022202"/>
            <a:ext cx="720000" cy="720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AI</a:t>
            </a:r>
            <a:r>
              <a:rPr lang="ko-KR" altLang="en-US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거버넌스</a:t>
            </a:r>
          </a:p>
        </p:txBody>
      </p:sp>
      <p:sp>
        <p:nvSpPr>
          <p:cNvPr id="36" name="Google Shape;134;p5">
            <a:extLst>
              <a:ext uri="{FF2B5EF4-FFF2-40B4-BE49-F238E27FC236}">
                <a16:creationId xmlns:a16="http://schemas.microsoft.com/office/drawing/2014/main" id="{491B1794-793E-BDAE-F4FB-67C8F3D1436C}"/>
              </a:ext>
            </a:extLst>
          </p:cNvPr>
          <p:cNvSpPr/>
          <p:nvPr/>
        </p:nvSpPr>
        <p:spPr>
          <a:xfrm>
            <a:off x="5860331" y="4069518"/>
            <a:ext cx="720000" cy="720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AI</a:t>
            </a:r>
            <a:r>
              <a:rPr lang="ko-KR" altLang="en-US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운영</a:t>
            </a:r>
          </a:p>
        </p:txBody>
      </p:sp>
      <p:sp>
        <p:nvSpPr>
          <p:cNvPr id="37" name="Google Shape;134;p5">
            <a:extLst>
              <a:ext uri="{FF2B5EF4-FFF2-40B4-BE49-F238E27FC236}">
                <a16:creationId xmlns:a16="http://schemas.microsoft.com/office/drawing/2014/main" id="{E9EDE1D8-B212-0C0C-02A1-B4352DAE5065}"/>
              </a:ext>
            </a:extLst>
          </p:cNvPr>
          <p:cNvSpPr/>
          <p:nvPr/>
        </p:nvSpPr>
        <p:spPr>
          <a:xfrm>
            <a:off x="5860331" y="3116831"/>
            <a:ext cx="720000" cy="720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AI</a:t>
            </a:r>
            <a:r>
              <a:rPr lang="ko-KR" altLang="en-US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개발</a:t>
            </a:r>
          </a:p>
        </p:txBody>
      </p:sp>
      <p:sp>
        <p:nvSpPr>
          <p:cNvPr id="46" name="Google Shape;134;p5">
            <a:extLst>
              <a:ext uri="{FF2B5EF4-FFF2-40B4-BE49-F238E27FC236}">
                <a16:creationId xmlns:a16="http://schemas.microsoft.com/office/drawing/2014/main" id="{6A125B93-4053-B67D-250C-FBE22902FCAA}"/>
              </a:ext>
            </a:extLst>
          </p:cNvPr>
          <p:cNvSpPr/>
          <p:nvPr/>
        </p:nvSpPr>
        <p:spPr>
          <a:xfrm>
            <a:off x="8201608" y="2164144"/>
            <a:ext cx="1080000" cy="468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AI</a:t>
            </a:r>
            <a:r>
              <a:rPr lang="ko-KR" altLang="en-US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거버넌스 규정서</a:t>
            </a:r>
          </a:p>
        </p:txBody>
      </p:sp>
      <p:sp>
        <p:nvSpPr>
          <p:cNvPr id="48" name="Google Shape;134;p5">
            <a:extLst>
              <a:ext uri="{FF2B5EF4-FFF2-40B4-BE49-F238E27FC236}">
                <a16:creationId xmlns:a16="http://schemas.microsoft.com/office/drawing/2014/main" id="{C4345778-47B8-A67E-6F83-7856AA4A29A7}"/>
              </a:ext>
            </a:extLst>
          </p:cNvPr>
          <p:cNvSpPr/>
          <p:nvPr/>
        </p:nvSpPr>
        <p:spPr>
          <a:xfrm>
            <a:off x="8201608" y="4652192"/>
            <a:ext cx="1080000" cy="468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체크리스트</a:t>
            </a:r>
          </a:p>
        </p:txBody>
      </p:sp>
      <p:sp>
        <p:nvSpPr>
          <p:cNvPr id="49" name="Google Shape;134;p5">
            <a:extLst>
              <a:ext uri="{FF2B5EF4-FFF2-40B4-BE49-F238E27FC236}">
                <a16:creationId xmlns:a16="http://schemas.microsoft.com/office/drawing/2014/main" id="{5BC3B6CB-3A4C-87F5-A126-01D4CE0F384C}"/>
              </a:ext>
            </a:extLst>
          </p:cNvPr>
          <p:cNvSpPr/>
          <p:nvPr/>
        </p:nvSpPr>
        <p:spPr>
          <a:xfrm>
            <a:off x="8201608" y="3408168"/>
            <a:ext cx="1080000" cy="468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AI</a:t>
            </a:r>
            <a:r>
              <a:rPr lang="ko-KR" altLang="en-US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개발 운영 지침서</a:t>
            </a:r>
          </a:p>
        </p:txBody>
      </p:sp>
      <p:sp>
        <p:nvSpPr>
          <p:cNvPr id="50" name="Google Shape;134;p5">
            <a:extLst>
              <a:ext uri="{FF2B5EF4-FFF2-40B4-BE49-F238E27FC236}">
                <a16:creationId xmlns:a16="http://schemas.microsoft.com/office/drawing/2014/main" id="{43F07CFB-1F89-0E27-A7A2-D020F212311D}"/>
              </a:ext>
            </a:extLst>
          </p:cNvPr>
          <p:cNvSpPr/>
          <p:nvPr/>
        </p:nvSpPr>
        <p:spPr>
          <a:xfrm>
            <a:off x="8201608" y="2786156"/>
            <a:ext cx="1080000" cy="468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AI</a:t>
            </a:r>
            <a:r>
              <a:rPr lang="ko-KR" altLang="en-US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거버넌스 운영 지침서</a:t>
            </a:r>
          </a:p>
        </p:txBody>
      </p:sp>
      <p:sp>
        <p:nvSpPr>
          <p:cNvPr id="52" name="Google Shape;134;p5">
            <a:extLst>
              <a:ext uri="{FF2B5EF4-FFF2-40B4-BE49-F238E27FC236}">
                <a16:creationId xmlns:a16="http://schemas.microsoft.com/office/drawing/2014/main" id="{4DBEE3C6-30D0-A20E-FEDB-35EDF7B5E8C5}"/>
              </a:ext>
            </a:extLst>
          </p:cNvPr>
          <p:cNvSpPr/>
          <p:nvPr/>
        </p:nvSpPr>
        <p:spPr>
          <a:xfrm>
            <a:off x="8201608" y="5274202"/>
            <a:ext cx="1080000" cy="468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위험 등급 </a:t>
            </a:r>
            <a:endParaRPr lang="en-US" altLang="ko-KR" sz="1000" b="1" spc="-15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  <a:p>
            <a:pPr algn="ctr"/>
            <a:r>
              <a:rPr lang="ko-KR" altLang="en-US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식별 평가서</a:t>
            </a:r>
          </a:p>
        </p:txBody>
      </p:sp>
      <p:sp>
        <p:nvSpPr>
          <p:cNvPr id="53" name="Google Shape;134;p5">
            <a:extLst>
              <a:ext uri="{FF2B5EF4-FFF2-40B4-BE49-F238E27FC236}">
                <a16:creationId xmlns:a16="http://schemas.microsoft.com/office/drawing/2014/main" id="{BADF5C5C-86AA-B7C3-6B54-8A4D1D1656E0}"/>
              </a:ext>
            </a:extLst>
          </p:cNvPr>
          <p:cNvSpPr/>
          <p:nvPr/>
        </p:nvSpPr>
        <p:spPr>
          <a:xfrm>
            <a:off x="8201608" y="4030180"/>
            <a:ext cx="1080000" cy="468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템플릿</a:t>
            </a:r>
          </a:p>
        </p:txBody>
      </p:sp>
      <p:sp>
        <p:nvSpPr>
          <p:cNvPr id="60" name="Google Shape;134;p5">
            <a:extLst>
              <a:ext uri="{FF2B5EF4-FFF2-40B4-BE49-F238E27FC236}">
                <a16:creationId xmlns:a16="http://schemas.microsoft.com/office/drawing/2014/main" id="{232F3527-72BC-0733-2560-7964A05AAD3F}"/>
              </a:ext>
            </a:extLst>
          </p:cNvPr>
          <p:cNvSpPr/>
          <p:nvPr/>
        </p:nvSpPr>
        <p:spPr>
          <a:xfrm>
            <a:off x="9372247" y="2164144"/>
            <a:ext cx="2519714" cy="35780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000" b="1" spc="-15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</p:txBody>
      </p:sp>
      <p:sp>
        <p:nvSpPr>
          <p:cNvPr id="22" name="사각형: 둥근 위쪽 모서리 21">
            <a:extLst>
              <a:ext uri="{FF2B5EF4-FFF2-40B4-BE49-F238E27FC236}">
                <a16:creationId xmlns:a16="http://schemas.microsoft.com/office/drawing/2014/main" id="{67E2FD0C-D296-D1A9-045C-152B49FADF57}"/>
              </a:ext>
            </a:extLst>
          </p:cNvPr>
          <p:cNvSpPr/>
          <p:nvPr/>
        </p:nvSpPr>
        <p:spPr>
          <a:xfrm>
            <a:off x="6670969" y="1341438"/>
            <a:ext cx="1440000" cy="720000"/>
          </a:xfrm>
          <a:prstGeom prst="round2SameRect">
            <a:avLst/>
          </a:prstGeom>
          <a:solidFill>
            <a:schemeClr val="accent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AI</a:t>
            </a:r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거버넌스 협의체</a:t>
            </a:r>
          </a:p>
        </p:txBody>
      </p:sp>
      <p:sp>
        <p:nvSpPr>
          <p:cNvPr id="38" name="Google Shape;134;p5">
            <a:extLst>
              <a:ext uri="{FF2B5EF4-FFF2-40B4-BE49-F238E27FC236}">
                <a16:creationId xmlns:a16="http://schemas.microsoft.com/office/drawing/2014/main" id="{363EE1E8-9CF0-AFE1-C63F-7F19AC97C577}"/>
              </a:ext>
            </a:extLst>
          </p:cNvPr>
          <p:cNvSpPr/>
          <p:nvPr/>
        </p:nvSpPr>
        <p:spPr>
          <a:xfrm>
            <a:off x="6670969" y="2164144"/>
            <a:ext cx="1440000" cy="216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Tech &amp; AI</a:t>
            </a:r>
            <a:r>
              <a:rPr lang="ko-KR" altLang="en-US" sz="1000" b="1" spc="-15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부문장</a:t>
            </a:r>
            <a:endParaRPr lang="ko-KR" altLang="en-US" sz="1000" b="1" spc="-15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</p:txBody>
      </p:sp>
      <p:sp>
        <p:nvSpPr>
          <p:cNvPr id="39" name="Google Shape;134;p5">
            <a:extLst>
              <a:ext uri="{FF2B5EF4-FFF2-40B4-BE49-F238E27FC236}">
                <a16:creationId xmlns:a16="http://schemas.microsoft.com/office/drawing/2014/main" id="{84B97B3E-54D0-D521-9F70-A7CD641F36A6}"/>
              </a:ext>
            </a:extLst>
          </p:cNvPr>
          <p:cNvSpPr/>
          <p:nvPr/>
        </p:nvSpPr>
        <p:spPr>
          <a:xfrm>
            <a:off x="6670969" y="3997996"/>
            <a:ext cx="1440000" cy="216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WM</a:t>
            </a:r>
            <a:r>
              <a:rPr lang="ko-KR" altLang="en-US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혁신본부장</a:t>
            </a:r>
          </a:p>
        </p:txBody>
      </p:sp>
      <p:sp>
        <p:nvSpPr>
          <p:cNvPr id="40" name="Google Shape;134;p5">
            <a:extLst>
              <a:ext uri="{FF2B5EF4-FFF2-40B4-BE49-F238E27FC236}">
                <a16:creationId xmlns:a16="http://schemas.microsoft.com/office/drawing/2014/main" id="{780EBB0C-F370-6C9B-DCFD-F4438B3FFEC9}"/>
              </a:ext>
            </a:extLst>
          </p:cNvPr>
          <p:cNvSpPr/>
          <p:nvPr/>
        </p:nvSpPr>
        <p:spPr>
          <a:xfrm>
            <a:off x="6670969" y="3386712"/>
            <a:ext cx="1440000" cy="216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금융소비자보호본부장</a:t>
            </a:r>
          </a:p>
        </p:txBody>
      </p:sp>
      <p:sp>
        <p:nvSpPr>
          <p:cNvPr id="41" name="Google Shape;134;p5">
            <a:extLst>
              <a:ext uri="{FF2B5EF4-FFF2-40B4-BE49-F238E27FC236}">
                <a16:creationId xmlns:a16="http://schemas.microsoft.com/office/drawing/2014/main" id="{6C58ED1B-A2D3-6A53-79C2-51FBFF987AD5}"/>
              </a:ext>
            </a:extLst>
          </p:cNvPr>
          <p:cNvSpPr/>
          <p:nvPr/>
        </p:nvSpPr>
        <p:spPr>
          <a:xfrm>
            <a:off x="6670969" y="2775428"/>
            <a:ext cx="1440000" cy="216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정보보호본부장</a:t>
            </a:r>
          </a:p>
        </p:txBody>
      </p:sp>
      <p:sp>
        <p:nvSpPr>
          <p:cNvPr id="42" name="Google Shape;134;p5">
            <a:extLst>
              <a:ext uri="{FF2B5EF4-FFF2-40B4-BE49-F238E27FC236}">
                <a16:creationId xmlns:a16="http://schemas.microsoft.com/office/drawing/2014/main" id="{2B727EBE-5481-E63E-8F35-5BFD332BBF60}"/>
              </a:ext>
            </a:extLst>
          </p:cNvPr>
          <p:cNvSpPr/>
          <p:nvPr/>
        </p:nvSpPr>
        <p:spPr>
          <a:xfrm>
            <a:off x="6670969" y="2469786"/>
            <a:ext cx="1440000" cy="216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AI</a:t>
            </a:r>
            <a:r>
              <a:rPr lang="ko-KR" altLang="en-US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솔루션본부장</a:t>
            </a:r>
          </a:p>
        </p:txBody>
      </p:sp>
      <p:sp>
        <p:nvSpPr>
          <p:cNvPr id="43" name="Google Shape;134;p5">
            <a:extLst>
              <a:ext uri="{FF2B5EF4-FFF2-40B4-BE49-F238E27FC236}">
                <a16:creationId xmlns:a16="http://schemas.microsoft.com/office/drawing/2014/main" id="{9897B0FB-7621-D412-2B08-9D4E18E5B197}"/>
              </a:ext>
            </a:extLst>
          </p:cNvPr>
          <p:cNvSpPr/>
          <p:nvPr/>
        </p:nvSpPr>
        <p:spPr>
          <a:xfrm>
            <a:off x="6670969" y="4303638"/>
            <a:ext cx="1440000" cy="216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Trading</a:t>
            </a:r>
            <a:r>
              <a:rPr lang="ko-KR" altLang="en-US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사업추진본부장</a:t>
            </a:r>
          </a:p>
        </p:txBody>
      </p:sp>
      <p:sp>
        <p:nvSpPr>
          <p:cNvPr id="44" name="Google Shape;134;p5">
            <a:extLst>
              <a:ext uri="{FF2B5EF4-FFF2-40B4-BE49-F238E27FC236}">
                <a16:creationId xmlns:a16="http://schemas.microsoft.com/office/drawing/2014/main" id="{753DDFC5-29D0-59D6-0222-88F83E6AA758}"/>
              </a:ext>
            </a:extLst>
          </p:cNvPr>
          <p:cNvSpPr/>
          <p:nvPr/>
        </p:nvSpPr>
        <p:spPr>
          <a:xfrm>
            <a:off x="6670969" y="3692354"/>
            <a:ext cx="1440000" cy="216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경영혁신본부장</a:t>
            </a:r>
          </a:p>
        </p:txBody>
      </p:sp>
      <p:sp>
        <p:nvSpPr>
          <p:cNvPr id="45" name="Google Shape;134;p5">
            <a:extLst>
              <a:ext uri="{FF2B5EF4-FFF2-40B4-BE49-F238E27FC236}">
                <a16:creationId xmlns:a16="http://schemas.microsoft.com/office/drawing/2014/main" id="{01F651AD-F071-AFA6-B1B2-6F3B66A31B40}"/>
              </a:ext>
            </a:extLst>
          </p:cNvPr>
          <p:cNvSpPr/>
          <p:nvPr/>
        </p:nvSpPr>
        <p:spPr>
          <a:xfrm>
            <a:off x="6670969" y="3081070"/>
            <a:ext cx="1440000" cy="216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spc="-15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컴플라이언스본부장</a:t>
            </a:r>
            <a:endParaRPr lang="ko-KR" altLang="en-US" sz="1000" b="1" spc="-15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</p:txBody>
      </p:sp>
      <p:sp>
        <p:nvSpPr>
          <p:cNvPr id="61" name="Google Shape;134;p5">
            <a:extLst>
              <a:ext uri="{FF2B5EF4-FFF2-40B4-BE49-F238E27FC236}">
                <a16:creationId xmlns:a16="http://schemas.microsoft.com/office/drawing/2014/main" id="{6078C42A-49AB-0F4B-CB90-DE0A12A4D73E}"/>
              </a:ext>
            </a:extLst>
          </p:cNvPr>
          <p:cNvSpPr/>
          <p:nvPr/>
        </p:nvSpPr>
        <p:spPr>
          <a:xfrm>
            <a:off x="6670969" y="4609280"/>
            <a:ext cx="1440000" cy="216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IB1, 2</a:t>
            </a:r>
            <a:r>
              <a:rPr lang="ko-KR" altLang="en-US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부문 소속 본부장</a:t>
            </a:r>
          </a:p>
        </p:txBody>
      </p:sp>
      <p:sp>
        <p:nvSpPr>
          <p:cNvPr id="62" name="Google Shape;134;p5">
            <a:extLst>
              <a:ext uri="{FF2B5EF4-FFF2-40B4-BE49-F238E27FC236}">
                <a16:creationId xmlns:a16="http://schemas.microsoft.com/office/drawing/2014/main" id="{D909C63F-492B-767B-81ED-70CD6FB1D4D6}"/>
              </a:ext>
            </a:extLst>
          </p:cNvPr>
          <p:cNvSpPr/>
          <p:nvPr/>
        </p:nvSpPr>
        <p:spPr>
          <a:xfrm>
            <a:off x="6670969" y="4914922"/>
            <a:ext cx="1440000" cy="216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고객자산시스템본부장</a:t>
            </a:r>
          </a:p>
        </p:txBody>
      </p:sp>
      <p:sp>
        <p:nvSpPr>
          <p:cNvPr id="63" name="Google Shape;134;p5">
            <a:extLst>
              <a:ext uri="{FF2B5EF4-FFF2-40B4-BE49-F238E27FC236}">
                <a16:creationId xmlns:a16="http://schemas.microsoft.com/office/drawing/2014/main" id="{DF3FD66C-7394-341A-DC98-898D88DFE5FD}"/>
              </a:ext>
            </a:extLst>
          </p:cNvPr>
          <p:cNvSpPr/>
          <p:nvPr/>
        </p:nvSpPr>
        <p:spPr>
          <a:xfrm>
            <a:off x="6670969" y="5220564"/>
            <a:ext cx="1440000" cy="216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Wealth Tech</a:t>
            </a:r>
            <a:r>
              <a:rPr lang="ko-KR" altLang="en-US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본부장</a:t>
            </a:r>
          </a:p>
        </p:txBody>
      </p:sp>
      <p:sp>
        <p:nvSpPr>
          <p:cNvPr id="64" name="Google Shape;134;p5">
            <a:extLst>
              <a:ext uri="{FF2B5EF4-FFF2-40B4-BE49-F238E27FC236}">
                <a16:creationId xmlns:a16="http://schemas.microsoft.com/office/drawing/2014/main" id="{982F804C-C87A-A309-82B0-9C9DAA689535}"/>
              </a:ext>
            </a:extLst>
          </p:cNvPr>
          <p:cNvSpPr/>
          <p:nvPr/>
        </p:nvSpPr>
        <p:spPr>
          <a:xfrm>
            <a:off x="6670969" y="5526202"/>
            <a:ext cx="1440000" cy="216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spc="-15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디지털플랫폼본부장</a:t>
            </a:r>
            <a:endParaRPr lang="ko-KR" altLang="en-US" sz="1000" b="1" spc="-15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848F89F9-51D7-AB67-95BC-B0CF1313C4E8}"/>
              </a:ext>
            </a:extLst>
          </p:cNvPr>
          <p:cNvGrpSpPr/>
          <p:nvPr/>
        </p:nvGrpSpPr>
        <p:grpSpPr>
          <a:xfrm>
            <a:off x="514963" y="5695943"/>
            <a:ext cx="4680000" cy="753341"/>
            <a:chOff x="514963" y="5695943"/>
            <a:chExt cx="4680000" cy="753341"/>
          </a:xfrm>
        </p:grpSpPr>
        <p:sp>
          <p:nvSpPr>
            <p:cNvPr id="2" name="사각형: 둥근 모서리 20">
              <a:extLst>
                <a:ext uri="{FF2B5EF4-FFF2-40B4-BE49-F238E27FC236}">
                  <a16:creationId xmlns:a16="http://schemas.microsoft.com/office/drawing/2014/main" id="{B9858CF2-D12E-7BD1-DFEE-DDF4179ACBE2}"/>
                </a:ext>
              </a:extLst>
            </p:cNvPr>
            <p:cNvSpPr/>
            <p:nvPr/>
          </p:nvSpPr>
          <p:spPr>
            <a:xfrm>
              <a:off x="514963" y="5695943"/>
              <a:ext cx="540000" cy="36000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인공지능 </a:t>
              </a:r>
              <a:br>
                <a:rPr lang="en-US" altLang="ko-KR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</a:br>
              <a:r>
                <a:rPr lang="ko-KR" altLang="en-US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기본법</a:t>
              </a:r>
              <a:endParaRPr lang="en" altLang="ko-KR" sz="800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" name="사각형: 둥근 모서리 20">
              <a:extLst>
                <a:ext uri="{FF2B5EF4-FFF2-40B4-BE49-F238E27FC236}">
                  <a16:creationId xmlns:a16="http://schemas.microsoft.com/office/drawing/2014/main" id="{A1D36345-A7DC-4EF3-05C2-A8C1A7256E9F}"/>
                </a:ext>
              </a:extLst>
            </p:cNvPr>
            <p:cNvSpPr/>
            <p:nvPr/>
          </p:nvSpPr>
          <p:spPr>
            <a:xfrm>
              <a:off x="1762963" y="5695943"/>
              <a:ext cx="648000" cy="36000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금융분야 </a:t>
              </a:r>
              <a:br>
                <a:rPr lang="ko-KR" altLang="en-US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</a:br>
              <a:r>
                <a:rPr lang="en-US" altLang="ko-KR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AI</a:t>
              </a:r>
              <a:r>
                <a:rPr lang="ko-KR" altLang="en-US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개발</a:t>
              </a:r>
              <a:r>
                <a:rPr lang="en-US" altLang="ko-KR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·</a:t>
              </a:r>
              <a:r>
                <a:rPr lang="ko-KR" altLang="en-US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활용 안내서</a:t>
              </a:r>
            </a:p>
          </p:txBody>
        </p:sp>
        <p:sp>
          <p:nvSpPr>
            <p:cNvPr id="4" name="사각형: 둥근 모서리 20">
              <a:extLst>
                <a:ext uri="{FF2B5EF4-FFF2-40B4-BE49-F238E27FC236}">
                  <a16:creationId xmlns:a16="http://schemas.microsoft.com/office/drawing/2014/main" id="{C55D5BA0-F62C-8F15-F9CB-1B5E718697A0}"/>
                </a:ext>
              </a:extLst>
            </p:cNvPr>
            <p:cNvSpPr/>
            <p:nvPr/>
          </p:nvSpPr>
          <p:spPr>
            <a:xfrm>
              <a:off x="2494963" y="5695943"/>
              <a:ext cx="648000" cy="36000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금융분야 </a:t>
              </a:r>
              <a:br>
                <a:rPr lang="en-US" altLang="ko-KR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</a:br>
              <a:r>
                <a:rPr lang="en-US" altLang="ko-KR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AI</a:t>
              </a:r>
              <a:r>
                <a:rPr lang="ko-KR" altLang="en-US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운영 가이드라인</a:t>
              </a:r>
            </a:p>
          </p:txBody>
        </p:sp>
        <p:sp>
          <p:nvSpPr>
            <p:cNvPr id="5" name="사각형: 둥근 모서리 20">
              <a:extLst>
                <a:ext uri="{FF2B5EF4-FFF2-40B4-BE49-F238E27FC236}">
                  <a16:creationId xmlns:a16="http://schemas.microsoft.com/office/drawing/2014/main" id="{158B53E7-16F2-5B11-361D-D5C76861B665}"/>
                </a:ext>
              </a:extLst>
            </p:cNvPr>
            <p:cNvSpPr/>
            <p:nvPr/>
          </p:nvSpPr>
          <p:spPr>
            <a:xfrm>
              <a:off x="3226963" y="5695943"/>
              <a:ext cx="720000" cy="36000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금융분야 </a:t>
              </a:r>
              <a:br>
                <a:rPr lang="en-US" altLang="ko-KR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</a:br>
              <a:r>
                <a:rPr lang="en-US" altLang="ko-KR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AI</a:t>
              </a:r>
              <a:r>
                <a:rPr lang="ko-KR" altLang="en-US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기반 보안 가이드라인</a:t>
              </a:r>
            </a:p>
          </p:txBody>
        </p:sp>
        <p:sp>
          <p:nvSpPr>
            <p:cNvPr id="13" name="사각형: 둥근 모서리 20">
              <a:extLst>
                <a:ext uri="{FF2B5EF4-FFF2-40B4-BE49-F238E27FC236}">
                  <a16:creationId xmlns:a16="http://schemas.microsoft.com/office/drawing/2014/main" id="{46CF104F-AFA3-3546-E16F-869E890B3EF4}"/>
                </a:ext>
              </a:extLst>
            </p:cNvPr>
            <p:cNvSpPr/>
            <p:nvPr/>
          </p:nvSpPr>
          <p:spPr>
            <a:xfrm>
              <a:off x="1138963" y="5695943"/>
              <a:ext cx="540000" cy="36000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인공지능 기본법</a:t>
              </a:r>
              <a:br>
                <a:rPr lang="ko-KR" altLang="en-US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</a:br>
              <a:r>
                <a:rPr lang="ko-KR" altLang="en-US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 시행령</a:t>
              </a:r>
            </a:p>
          </p:txBody>
        </p:sp>
        <p:sp>
          <p:nvSpPr>
            <p:cNvPr id="18" name="사각형: 둥근 모서리 20">
              <a:extLst>
                <a:ext uri="{FF2B5EF4-FFF2-40B4-BE49-F238E27FC236}">
                  <a16:creationId xmlns:a16="http://schemas.microsoft.com/office/drawing/2014/main" id="{BEAABFE6-E871-9E28-AD59-C7A2637737B0}"/>
                </a:ext>
              </a:extLst>
            </p:cNvPr>
            <p:cNvSpPr/>
            <p:nvPr/>
          </p:nvSpPr>
          <p:spPr>
            <a:xfrm>
              <a:off x="514963" y="6089284"/>
              <a:ext cx="540000" cy="36000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사업자 책무 고시</a:t>
              </a:r>
              <a:r>
                <a:rPr lang="en-US" altLang="ko-KR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(</a:t>
              </a:r>
              <a:r>
                <a:rPr lang="ko-KR" altLang="en-US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안</a:t>
              </a:r>
              <a:r>
                <a:rPr lang="en-US" altLang="ko-KR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)</a:t>
              </a:r>
            </a:p>
          </p:txBody>
        </p: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60D54BB5-305E-6207-FC1C-1D38EA8F6F21}"/>
                </a:ext>
              </a:extLst>
            </p:cNvPr>
            <p:cNvSpPr/>
            <p:nvPr/>
          </p:nvSpPr>
          <p:spPr>
            <a:xfrm>
              <a:off x="1141363" y="6089284"/>
              <a:ext cx="792000" cy="36000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spc="-150" err="1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고영향</a:t>
              </a:r>
              <a:r>
                <a:rPr lang="ko-KR" altLang="en-US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 </a:t>
              </a:r>
              <a:r>
                <a:rPr lang="en-US" altLang="ko-KR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AI</a:t>
              </a:r>
              <a:r>
                <a:rPr lang="ko-KR" altLang="en-US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사업자 책무 가이드 라인 </a:t>
              </a:r>
              <a:r>
                <a:rPr lang="en-US" altLang="ko-KR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(</a:t>
              </a:r>
              <a:r>
                <a:rPr lang="ko-KR" altLang="en-US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안</a:t>
              </a:r>
              <a:r>
                <a:rPr lang="en-US" altLang="ko-KR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)</a:t>
              </a:r>
            </a:p>
          </p:txBody>
        </p:sp>
        <p:sp>
          <p:nvSpPr>
            <p:cNvPr id="29" name="사각형: 둥근 모서리 20">
              <a:extLst>
                <a:ext uri="{FF2B5EF4-FFF2-40B4-BE49-F238E27FC236}">
                  <a16:creationId xmlns:a16="http://schemas.microsoft.com/office/drawing/2014/main" id="{9500A20D-1BE1-837C-DE54-A3775FFAD26F}"/>
                </a:ext>
              </a:extLst>
            </p:cNvPr>
            <p:cNvSpPr/>
            <p:nvPr/>
          </p:nvSpPr>
          <p:spPr>
            <a:xfrm>
              <a:off x="2019763" y="6089284"/>
              <a:ext cx="792000" cy="36000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AI</a:t>
              </a:r>
              <a:r>
                <a:rPr lang="ko-KR" altLang="en-US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안전성 확보 가이드 라인 </a:t>
              </a:r>
              <a:r>
                <a:rPr lang="en-US" altLang="ko-KR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(</a:t>
              </a:r>
              <a:r>
                <a:rPr lang="ko-KR" altLang="en-US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안</a:t>
              </a:r>
              <a:r>
                <a:rPr lang="en-US" altLang="ko-KR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)</a:t>
              </a:r>
              <a:endParaRPr lang="ko-KR" altLang="en-US" sz="800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0" name="사각형: 둥근 모서리 20">
              <a:extLst>
                <a:ext uri="{FF2B5EF4-FFF2-40B4-BE49-F238E27FC236}">
                  <a16:creationId xmlns:a16="http://schemas.microsoft.com/office/drawing/2014/main" id="{24F0BFE9-1DC3-86E9-D1CC-457A8E837F80}"/>
                </a:ext>
              </a:extLst>
            </p:cNvPr>
            <p:cNvSpPr/>
            <p:nvPr/>
          </p:nvSpPr>
          <p:spPr>
            <a:xfrm>
              <a:off x="2898163" y="6089284"/>
              <a:ext cx="792000" cy="36000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spc="-150" err="1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고영향</a:t>
              </a:r>
              <a:r>
                <a:rPr lang="ko-KR" altLang="en-US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 </a:t>
              </a:r>
              <a:r>
                <a:rPr lang="en-US" altLang="ko-KR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AI</a:t>
              </a:r>
              <a:r>
                <a:rPr lang="ko-KR" altLang="en-US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판단 가이드 라인 </a:t>
              </a:r>
              <a:r>
                <a:rPr lang="en-US" altLang="ko-KR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(</a:t>
              </a:r>
              <a:r>
                <a:rPr lang="ko-KR" altLang="en-US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안</a:t>
              </a:r>
              <a:r>
                <a:rPr lang="en-US" altLang="ko-KR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)</a:t>
              </a:r>
              <a:endParaRPr lang="ko-KR" altLang="en-US" sz="800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1" name="사각형: 둥근 모서리 20">
              <a:extLst>
                <a:ext uri="{FF2B5EF4-FFF2-40B4-BE49-F238E27FC236}">
                  <a16:creationId xmlns:a16="http://schemas.microsoft.com/office/drawing/2014/main" id="{369F1FBC-230F-EA08-7FA5-7BFA1F8B13E4}"/>
                </a:ext>
              </a:extLst>
            </p:cNvPr>
            <p:cNvSpPr/>
            <p:nvPr/>
          </p:nvSpPr>
          <p:spPr>
            <a:xfrm>
              <a:off x="3776563" y="6089284"/>
              <a:ext cx="792000" cy="36000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AI</a:t>
              </a:r>
              <a:r>
                <a:rPr lang="ko-KR" altLang="en-US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영향평가 가이드 라인 </a:t>
              </a:r>
              <a:r>
                <a:rPr lang="en-US" altLang="ko-KR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(</a:t>
              </a:r>
              <a:r>
                <a:rPr lang="ko-KR" altLang="en-US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안</a:t>
              </a:r>
              <a:r>
                <a:rPr lang="en-US" altLang="ko-KR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)</a:t>
              </a:r>
              <a:endParaRPr lang="ko-KR" altLang="en-US" sz="800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2" name="사각형: 둥근 모서리 20">
              <a:extLst>
                <a:ext uri="{FF2B5EF4-FFF2-40B4-BE49-F238E27FC236}">
                  <a16:creationId xmlns:a16="http://schemas.microsoft.com/office/drawing/2014/main" id="{5DC04CC0-122E-AAD0-10D7-8D43BE320BBC}"/>
                </a:ext>
              </a:extLst>
            </p:cNvPr>
            <p:cNvSpPr/>
            <p:nvPr/>
          </p:nvSpPr>
          <p:spPr>
            <a:xfrm>
              <a:off x="4030963" y="5695943"/>
              <a:ext cx="540000" cy="36000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신용정보법</a:t>
              </a:r>
            </a:p>
          </p:txBody>
        </p:sp>
        <p:sp>
          <p:nvSpPr>
            <p:cNvPr id="47" name="사각형: 둥근 모서리 20">
              <a:extLst>
                <a:ext uri="{FF2B5EF4-FFF2-40B4-BE49-F238E27FC236}">
                  <a16:creationId xmlns:a16="http://schemas.microsoft.com/office/drawing/2014/main" id="{67A94D49-1053-DCFB-15C6-1C692D312769}"/>
                </a:ext>
              </a:extLst>
            </p:cNvPr>
            <p:cNvSpPr/>
            <p:nvPr/>
          </p:nvSpPr>
          <p:spPr>
            <a:xfrm>
              <a:off x="4654963" y="5695943"/>
              <a:ext cx="540000" cy="36000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개인정보 보호법</a:t>
              </a:r>
            </a:p>
          </p:txBody>
        </p:sp>
        <p:sp>
          <p:nvSpPr>
            <p:cNvPr id="51" name="사각형: 둥근 모서리 20">
              <a:extLst>
                <a:ext uri="{FF2B5EF4-FFF2-40B4-BE49-F238E27FC236}">
                  <a16:creationId xmlns:a16="http://schemas.microsoft.com/office/drawing/2014/main" id="{7922250D-320F-809C-1B1B-8F85909A03D4}"/>
                </a:ext>
              </a:extLst>
            </p:cNvPr>
            <p:cNvSpPr/>
            <p:nvPr/>
          </p:nvSpPr>
          <p:spPr>
            <a:xfrm>
              <a:off x="4654963" y="6089284"/>
              <a:ext cx="540000" cy="360000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안전성 확보 고시</a:t>
              </a:r>
              <a:r>
                <a:rPr lang="en-US" altLang="ko-KR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(</a:t>
              </a:r>
              <a:r>
                <a:rPr lang="ko-KR" altLang="en-US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안</a:t>
              </a:r>
              <a:r>
                <a:rPr lang="en-US" altLang="ko-KR" sz="800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)</a:t>
              </a:r>
            </a:p>
          </p:txBody>
        </p:sp>
      </p:grp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D0C950C8-9293-476F-9D9B-8C36C658A001}"/>
              </a:ext>
            </a:extLst>
          </p:cNvPr>
          <p:cNvSpPr/>
          <p:nvPr/>
        </p:nvSpPr>
        <p:spPr>
          <a:xfrm>
            <a:off x="514962" y="3643664"/>
            <a:ext cx="864000" cy="1188000"/>
          </a:xfrm>
          <a:prstGeom prst="roundRect">
            <a:avLst/>
          </a:prstGeom>
          <a:solidFill>
            <a:srgbClr val="F4B183"/>
          </a:solidFill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조직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D4A2B83E-6692-4466-4DC5-BAACB31929D9}"/>
              </a:ext>
            </a:extLst>
          </p:cNvPr>
          <p:cNvSpPr/>
          <p:nvPr/>
        </p:nvSpPr>
        <p:spPr>
          <a:xfrm>
            <a:off x="4330963" y="3643664"/>
            <a:ext cx="864000" cy="1188000"/>
          </a:xfrm>
          <a:prstGeom prst="roundRect">
            <a:avLst/>
          </a:prstGeom>
          <a:solidFill>
            <a:srgbClr val="F4B183"/>
          </a:solidFill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기능 및 프로세스</a:t>
            </a: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8BB55256-4F9D-6A20-0109-0FE5B6DEB0B2}"/>
              </a:ext>
            </a:extLst>
          </p:cNvPr>
          <p:cNvSpPr/>
          <p:nvPr/>
        </p:nvSpPr>
        <p:spPr>
          <a:xfrm>
            <a:off x="514962" y="3643664"/>
            <a:ext cx="232802" cy="273668"/>
          </a:xfrm>
          <a:prstGeom prst="roundRect">
            <a:avLst/>
          </a:prstGeom>
          <a:solidFill>
            <a:srgbClr val="043B7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1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41A6B8A3-266C-7C74-25EA-797023E69546}"/>
              </a:ext>
            </a:extLst>
          </p:cNvPr>
          <p:cNvSpPr/>
          <p:nvPr/>
        </p:nvSpPr>
        <p:spPr>
          <a:xfrm>
            <a:off x="1786962" y="3643664"/>
            <a:ext cx="864000" cy="1188000"/>
          </a:xfrm>
          <a:prstGeom prst="roundRect">
            <a:avLst/>
          </a:prstGeom>
          <a:solidFill>
            <a:srgbClr val="F4B183"/>
          </a:solidFill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AI</a:t>
            </a:r>
            <a:r>
              <a:rPr lang="ko-KR" altLang="en-US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거버넌스 협의체</a:t>
            </a:r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EE40C9F5-CFC3-0543-D63A-8EC608D63249}"/>
              </a:ext>
            </a:extLst>
          </p:cNvPr>
          <p:cNvSpPr/>
          <p:nvPr/>
        </p:nvSpPr>
        <p:spPr>
          <a:xfrm>
            <a:off x="1786962" y="3643664"/>
            <a:ext cx="232802" cy="273668"/>
          </a:xfrm>
          <a:prstGeom prst="roundRect">
            <a:avLst/>
          </a:prstGeom>
          <a:solidFill>
            <a:srgbClr val="043B7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2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2D4D64E3-9426-C0D8-980F-180647F76B84}"/>
              </a:ext>
            </a:extLst>
          </p:cNvPr>
          <p:cNvSpPr/>
          <p:nvPr/>
        </p:nvSpPr>
        <p:spPr>
          <a:xfrm>
            <a:off x="3058962" y="3643664"/>
            <a:ext cx="864000" cy="1188000"/>
          </a:xfrm>
          <a:prstGeom prst="roundRect">
            <a:avLst/>
          </a:prstGeom>
          <a:solidFill>
            <a:srgbClr val="F4B183"/>
          </a:solidFill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활용 도구 및 문서</a:t>
            </a: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AA1F201C-331E-A23D-990F-EF9073CB5318}"/>
              </a:ext>
            </a:extLst>
          </p:cNvPr>
          <p:cNvSpPr/>
          <p:nvPr/>
        </p:nvSpPr>
        <p:spPr>
          <a:xfrm>
            <a:off x="3058962" y="3643664"/>
            <a:ext cx="232802" cy="273668"/>
          </a:xfrm>
          <a:prstGeom prst="roundRect">
            <a:avLst/>
          </a:prstGeom>
          <a:solidFill>
            <a:srgbClr val="043B7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3</a:t>
            </a: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3E7830EC-D47C-EF4E-1A51-3FB8577434A4}"/>
              </a:ext>
            </a:extLst>
          </p:cNvPr>
          <p:cNvSpPr/>
          <p:nvPr/>
        </p:nvSpPr>
        <p:spPr>
          <a:xfrm>
            <a:off x="4330963" y="3643664"/>
            <a:ext cx="232802" cy="273668"/>
          </a:xfrm>
          <a:prstGeom prst="roundRect">
            <a:avLst/>
          </a:prstGeom>
          <a:solidFill>
            <a:srgbClr val="043B7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4</a:t>
            </a: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E94C0AB1-DF3E-85B2-E6B0-65B6BEBF0D29}"/>
              </a:ext>
            </a:extLst>
          </p:cNvPr>
          <p:cNvSpPr/>
          <p:nvPr/>
        </p:nvSpPr>
        <p:spPr>
          <a:xfrm>
            <a:off x="5860330" y="1341438"/>
            <a:ext cx="252334" cy="144000"/>
          </a:xfrm>
          <a:prstGeom prst="roundRect">
            <a:avLst/>
          </a:prstGeom>
          <a:solidFill>
            <a:srgbClr val="043B7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1</a:t>
            </a:r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C42C5CE4-C372-BAFD-224B-6FDD69EABC61}"/>
              </a:ext>
            </a:extLst>
          </p:cNvPr>
          <p:cNvSpPr/>
          <p:nvPr/>
        </p:nvSpPr>
        <p:spPr>
          <a:xfrm>
            <a:off x="6670969" y="1341438"/>
            <a:ext cx="252334" cy="144000"/>
          </a:xfrm>
          <a:prstGeom prst="roundRect">
            <a:avLst/>
          </a:prstGeom>
          <a:solidFill>
            <a:srgbClr val="043B7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2</a:t>
            </a:r>
          </a:p>
        </p:txBody>
      </p: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E80FF0C5-B17F-F526-0752-B2AADE7C241A}"/>
              </a:ext>
            </a:extLst>
          </p:cNvPr>
          <p:cNvSpPr/>
          <p:nvPr/>
        </p:nvSpPr>
        <p:spPr>
          <a:xfrm>
            <a:off x="8201608" y="1341438"/>
            <a:ext cx="252334" cy="144000"/>
          </a:xfrm>
          <a:prstGeom prst="roundRect">
            <a:avLst/>
          </a:prstGeom>
          <a:solidFill>
            <a:srgbClr val="043B7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3</a:t>
            </a:r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317544D0-7DB5-BA2E-EE99-A24C32FAF6BA}"/>
              </a:ext>
            </a:extLst>
          </p:cNvPr>
          <p:cNvSpPr/>
          <p:nvPr/>
        </p:nvSpPr>
        <p:spPr>
          <a:xfrm>
            <a:off x="9372247" y="1341438"/>
            <a:ext cx="252334" cy="144000"/>
          </a:xfrm>
          <a:prstGeom prst="roundRect">
            <a:avLst/>
          </a:prstGeom>
          <a:solidFill>
            <a:srgbClr val="043B7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4</a:t>
            </a: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BA7B78C6-A76A-4CBA-2053-BDA564871169}"/>
              </a:ext>
            </a:extLst>
          </p:cNvPr>
          <p:cNvSpPr/>
          <p:nvPr/>
        </p:nvSpPr>
        <p:spPr>
          <a:xfrm>
            <a:off x="5860329" y="5936100"/>
            <a:ext cx="6031633" cy="5885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marL="228600" indent="-228600">
              <a:lnSpc>
                <a:spcPct val="150000"/>
              </a:lnSpc>
              <a:buAutoNum type="arabicParenR"/>
            </a:pPr>
            <a:r>
              <a:rPr lang="ko-KR" altLang="en-US" sz="1200">
                <a:solidFill>
                  <a:schemeClr val="tx1"/>
                </a:solidFill>
                <a:latin typeface="+mn-ea"/>
              </a:rPr>
              <a:t>他 </a:t>
            </a:r>
            <a:r>
              <a:rPr lang="en-US" altLang="ko-KR" sz="1200">
                <a:solidFill>
                  <a:schemeClr val="tx1"/>
                </a:solidFill>
                <a:latin typeface="+mn-ea"/>
              </a:rPr>
              <a:t>Task</a:t>
            </a:r>
          </a:p>
          <a:p>
            <a:pPr>
              <a:lnSpc>
                <a:spcPct val="150000"/>
              </a:lnSpc>
            </a:pPr>
            <a:r>
              <a:rPr lang="en-US" altLang="ko-KR" sz="1200">
                <a:solidFill>
                  <a:schemeClr val="tx1"/>
                </a:solidFill>
                <a:latin typeface="+mn-ea"/>
              </a:rPr>
              <a:t>1. AI </a:t>
            </a:r>
            <a:r>
              <a:rPr lang="ko-KR" altLang="en-US" sz="1200">
                <a:solidFill>
                  <a:schemeClr val="tx1"/>
                </a:solidFill>
                <a:latin typeface="+mn-ea"/>
              </a:rPr>
              <a:t>위험</a:t>
            </a:r>
            <a:r>
              <a:rPr lang="en-US" altLang="ko-KR" sz="120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200">
                <a:solidFill>
                  <a:schemeClr val="tx1"/>
                </a:solidFill>
                <a:latin typeface="+mn-ea"/>
              </a:rPr>
              <a:t>평가 및 완화조치 방안 수립 </a:t>
            </a:r>
            <a:r>
              <a:rPr lang="en-US" altLang="ko-KR" sz="1200">
                <a:solidFill>
                  <a:schemeClr val="tx1"/>
                </a:solidFill>
                <a:latin typeface="+mn-ea"/>
              </a:rPr>
              <a:t>2. AI</a:t>
            </a:r>
            <a:r>
              <a:rPr lang="ko-KR" altLang="en-US" sz="1200">
                <a:solidFill>
                  <a:schemeClr val="tx1"/>
                </a:solidFill>
                <a:latin typeface="+mn-ea"/>
              </a:rPr>
              <a:t>거버넌스 지원도구 개발</a:t>
            </a:r>
          </a:p>
        </p:txBody>
      </p:sp>
      <p:sp>
        <p:nvSpPr>
          <p:cNvPr id="75" name="자유형: 도형 74">
            <a:extLst>
              <a:ext uri="{FF2B5EF4-FFF2-40B4-BE49-F238E27FC236}">
                <a16:creationId xmlns:a16="http://schemas.microsoft.com/office/drawing/2014/main" id="{4BF635FE-AF4E-868D-B696-72B11531C4A2}"/>
              </a:ext>
            </a:extLst>
          </p:cNvPr>
          <p:cNvSpPr/>
          <p:nvPr/>
        </p:nvSpPr>
        <p:spPr>
          <a:xfrm>
            <a:off x="6131075" y="4816605"/>
            <a:ext cx="178513" cy="178513"/>
          </a:xfrm>
          <a:custGeom>
            <a:avLst/>
            <a:gdLst>
              <a:gd name="connsiteX0" fmla="*/ 108000 w 216000"/>
              <a:gd name="connsiteY0" fmla="*/ 0 h 216000"/>
              <a:gd name="connsiteX1" fmla="*/ 144000 w 216000"/>
              <a:gd name="connsiteY1" fmla="*/ 36000 h 216000"/>
              <a:gd name="connsiteX2" fmla="*/ 144000 w 216000"/>
              <a:gd name="connsiteY2" fmla="*/ 72000 h 216000"/>
              <a:gd name="connsiteX3" fmla="*/ 180000 w 216000"/>
              <a:gd name="connsiteY3" fmla="*/ 72000 h 216000"/>
              <a:gd name="connsiteX4" fmla="*/ 216000 w 216000"/>
              <a:gd name="connsiteY4" fmla="*/ 108000 h 216000"/>
              <a:gd name="connsiteX5" fmla="*/ 180000 w 216000"/>
              <a:gd name="connsiteY5" fmla="*/ 144000 h 216000"/>
              <a:gd name="connsiteX6" fmla="*/ 144000 w 216000"/>
              <a:gd name="connsiteY6" fmla="*/ 144000 h 216000"/>
              <a:gd name="connsiteX7" fmla="*/ 144000 w 216000"/>
              <a:gd name="connsiteY7" fmla="*/ 180000 h 216000"/>
              <a:gd name="connsiteX8" fmla="*/ 108000 w 216000"/>
              <a:gd name="connsiteY8" fmla="*/ 216000 h 216000"/>
              <a:gd name="connsiteX9" fmla="*/ 72000 w 216000"/>
              <a:gd name="connsiteY9" fmla="*/ 180000 h 216000"/>
              <a:gd name="connsiteX10" fmla="*/ 72000 w 216000"/>
              <a:gd name="connsiteY10" fmla="*/ 144000 h 216000"/>
              <a:gd name="connsiteX11" fmla="*/ 36000 w 216000"/>
              <a:gd name="connsiteY11" fmla="*/ 144000 h 216000"/>
              <a:gd name="connsiteX12" fmla="*/ 0 w 216000"/>
              <a:gd name="connsiteY12" fmla="*/ 108000 h 216000"/>
              <a:gd name="connsiteX13" fmla="*/ 36000 w 216000"/>
              <a:gd name="connsiteY13" fmla="*/ 72000 h 216000"/>
              <a:gd name="connsiteX14" fmla="*/ 72000 w 216000"/>
              <a:gd name="connsiteY14" fmla="*/ 72000 h 216000"/>
              <a:gd name="connsiteX15" fmla="*/ 72000 w 216000"/>
              <a:gd name="connsiteY15" fmla="*/ 36000 h 216000"/>
              <a:gd name="connsiteX16" fmla="*/ 108000 w 216000"/>
              <a:gd name="connsiteY16" fmla="*/ 0 h 2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00" h="216000">
                <a:moveTo>
                  <a:pt x="108000" y="0"/>
                </a:moveTo>
                <a:cubicBezTo>
                  <a:pt x="127882" y="0"/>
                  <a:pt x="144000" y="16118"/>
                  <a:pt x="144000" y="36000"/>
                </a:cubicBezTo>
                <a:lnTo>
                  <a:pt x="144000" y="72000"/>
                </a:lnTo>
                <a:lnTo>
                  <a:pt x="180000" y="72000"/>
                </a:lnTo>
                <a:cubicBezTo>
                  <a:pt x="199882" y="72000"/>
                  <a:pt x="216000" y="88118"/>
                  <a:pt x="216000" y="108000"/>
                </a:cubicBezTo>
                <a:cubicBezTo>
                  <a:pt x="216000" y="127882"/>
                  <a:pt x="199882" y="144000"/>
                  <a:pt x="180000" y="144000"/>
                </a:cubicBezTo>
                <a:lnTo>
                  <a:pt x="144000" y="144000"/>
                </a:lnTo>
                <a:lnTo>
                  <a:pt x="144000" y="180000"/>
                </a:lnTo>
                <a:cubicBezTo>
                  <a:pt x="144000" y="199882"/>
                  <a:pt x="127882" y="216000"/>
                  <a:pt x="108000" y="216000"/>
                </a:cubicBezTo>
                <a:cubicBezTo>
                  <a:pt x="88118" y="216000"/>
                  <a:pt x="72000" y="199882"/>
                  <a:pt x="72000" y="180000"/>
                </a:cubicBezTo>
                <a:lnTo>
                  <a:pt x="72000" y="144000"/>
                </a:lnTo>
                <a:lnTo>
                  <a:pt x="36000" y="144000"/>
                </a:lnTo>
                <a:cubicBezTo>
                  <a:pt x="16118" y="144000"/>
                  <a:pt x="0" y="127882"/>
                  <a:pt x="0" y="108000"/>
                </a:cubicBezTo>
                <a:cubicBezTo>
                  <a:pt x="0" y="88118"/>
                  <a:pt x="16118" y="72000"/>
                  <a:pt x="36000" y="72000"/>
                </a:cubicBezTo>
                <a:lnTo>
                  <a:pt x="72000" y="72000"/>
                </a:lnTo>
                <a:lnTo>
                  <a:pt x="72000" y="36000"/>
                </a:lnTo>
                <a:cubicBezTo>
                  <a:pt x="72000" y="16118"/>
                  <a:pt x="88118" y="0"/>
                  <a:pt x="108000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76" name="자유형: 도형 75">
            <a:extLst>
              <a:ext uri="{FF2B5EF4-FFF2-40B4-BE49-F238E27FC236}">
                <a16:creationId xmlns:a16="http://schemas.microsoft.com/office/drawing/2014/main" id="{F0EC446C-B0FA-D1AF-0372-F02282F17E94}"/>
              </a:ext>
            </a:extLst>
          </p:cNvPr>
          <p:cNvSpPr/>
          <p:nvPr/>
        </p:nvSpPr>
        <p:spPr>
          <a:xfrm>
            <a:off x="6131075" y="3863918"/>
            <a:ext cx="178513" cy="178513"/>
          </a:xfrm>
          <a:custGeom>
            <a:avLst/>
            <a:gdLst>
              <a:gd name="connsiteX0" fmla="*/ 108000 w 216000"/>
              <a:gd name="connsiteY0" fmla="*/ 0 h 216000"/>
              <a:gd name="connsiteX1" fmla="*/ 144000 w 216000"/>
              <a:gd name="connsiteY1" fmla="*/ 36000 h 216000"/>
              <a:gd name="connsiteX2" fmla="*/ 144000 w 216000"/>
              <a:gd name="connsiteY2" fmla="*/ 72000 h 216000"/>
              <a:gd name="connsiteX3" fmla="*/ 180000 w 216000"/>
              <a:gd name="connsiteY3" fmla="*/ 72000 h 216000"/>
              <a:gd name="connsiteX4" fmla="*/ 216000 w 216000"/>
              <a:gd name="connsiteY4" fmla="*/ 108000 h 216000"/>
              <a:gd name="connsiteX5" fmla="*/ 180000 w 216000"/>
              <a:gd name="connsiteY5" fmla="*/ 144000 h 216000"/>
              <a:gd name="connsiteX6" fmla="*/ 144000 w 216000"/>
              <a:gd name="connsiteY6" fmla="*/ 144000 h 216000"/>
              <a:gd name="connsiteX7" fmla="*/ 144000 w 216000"/>
              <a:gd name="connsiteY7" fmla="*/ 180000 h 216000"/>
              <a:gd name="connsiteX8" fmla="*/ 108000 w 216000"/>
              <a:gd name="connsiteY8" fmla="*/ 216000 h 216000"/>
              <a:gd name="connsiteX9" fmla="*/ 72000 w 216000"/>
              <a:gd name="connsiteY9" fmla="*/ 180000 h 216000"/>
              <a:gd name="connsiteX10" fmla="*/ 72000 w 216000"/>
              <a:gd name="connsiteY10" fmla="*/ 144000 h 216000"/>
              <a:gd name="connsiteX11" fmla="*/ 36000 w 216000"/>
              <a:gd name="connsiteY11" fmla="*/ 144000 h 216000"/>
              <a:gd name="connsiteX12" fmla="*/ 0 w 216000"/>
              <a:gd name="connsiteY12" fmla="*/ 108000 h 216000"/>
              <a:gd name="connsiteX13" fmla="*/ 36000 w 216000"/>
              <a:gd name="connsiteY13" fmla="*/ 72000 h 216000"/>
              <a:gd name="connsiteX14" fmla="*/ 72000 w 216000"/>
              <a:gd name="connsiteY14" fmla="*/ 72000 h 216000"/>
              <a:gd name="connsiteX15" fmla="*/ 72000 w 216000"/>
              <a:gd name="connsiteY15" fmla="*/ 36000 h 216000"/>
              <a:gd name="connsiteX16" fmla="*/ 108000 w 216000"/>
              <a:gd name="connsiteY16" fmla="*/ 0 h 2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00" h="216000">
                <a:moveTo>
                  <a:pt x="108000" y="0"/>
                </a:moveTo>
                <a:cubicBezTo>
                  <a:pt x="127882" y="0"/>
                  <a:pt x="144000" y="16118"/>
                  <a:pt x="144000" y="36000"/>
                </a:cubicBezTo>
                <a:lnTo>
                  <a:pt x="144000" y="72000"/>
                </a:lnTo>
                <a:lnTo>
                  <a:pt x="180000" y="72000"/>
                </a:lnTo>
                <a:cubicBezTo>
                  <a:pt x="199882" y="72000"/>
                  <a:pt x="216000" y="88118"/>
                  <a:pt x="216000" y="108000"/>
                </a:cubicBezTo>
                <a:cubicBezTo>
                  <a:pt x="216000" y="127882"/>
                  <a:pt x="199882" y="144000"/>
                  <a:pt x="180000" y="144000"/>
                </a:cubicBezTo>
                <a:lnTo>
                  <a:pt x="144000" y="144000"/>
                </a:lnTo>
                <a:lnTo>
                  <a:pt x="144000" y="180000"/>
                </a:lnTo>
                <a:cubicBezTo>
                  <a:pt x="144000" y="199882"/>
                  <a:pt x="127882" y="216000"/>
                  <a:pt x="108000" y="216000"/>
                </a:cubicBezTo>
                <a:cubicBezTo>
                  <a:pt x="88118" y="216000"/>
                  <a:pt x="72000" y="199882"/>
                  <a:pt x="72000" y="180000"/>
                </a:cubicBezTo>
                <a:lnTo>
                  <a:pt x="72000" y="144000"/>
                </a:lnTo>
                <a:lnTo>
                  <a:pt x="36000" y="144000"/>
                </a:lnTo>
                <a:cubicBezTo>
                  <a:pt x="16118" y="144000"/>
                  <a:pt x="0" y="127882"/>
                  <a:pt x="0" y="108000"/>
                </a:cubicBezTo>
                <a:cubicBezTo>
                  <a:pt x="0" y="88118"/>
                  <a:pt x="16118" y="72000"/>
                  <a:pt x="36000" y="72000"/>
                </a:cubicBezTo>
                <a:lnTo>
                  <a:pt x="72000" y="72000"/>
                </a:lnTo>
                <a:lnTo>
                  <a:pt x="72000" y="36000"/>
                </a:lnTo>
                <a:cubicBezTo>
                  <a:pt x="72000" y="16118"/>
                  <a:pt x="88118" y="0"/>
                  <a:pt x="108000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77" name="자유형: 도형 76">
            <a:extLst>
              <a:ext uri="{FF2B5EF4-FFF2-40B4-BE49-F238E27FC236}">
                <a16:creationId xmlns:a16="http://schemas.microsoft.com/office/drawing/2014/main" id="{8BA7934D-8542-A89F-9B79-3BE9ADE53B1E}"/>
              </a:ext>
            </a:extLst>
          </p:cNvPr>
          <p:cNvSpPr/>
          <p:nvPr/>
        </p:nvSpPr>
        <p:spPr>
          <a:xfrm>
            <a:off x="6131075" y="2911231"/>
            <a:ext cx="178513" cy="178513"/>
          </a:xfrm>
          <a:custGeom>
            <a:avLst/>
            <a:gdLst>
              <a:gd name="connsiteX0" fmla="*/ 108000 w 216000"/>
              <a:gd name="connsiteY0" fmla="*/ 0 h 216000"/>
              <a:gd name="connsiteX1" fmla="*/ 144000 w 216000"/>
              <a:gd name="connsiteY1" fmla="*/ 36000 h 216000"/>
              <a:gd name="connsiteX2" fmla="*/ 144000 w 216000"/>
              <a:gd name="connsiteY2" fmla="*/ 72000 h 216000"/>
              <a:gd name="connsiteX3" fmla="*/ 180000 w 216000"/>
              <a:gd name="connsiteY3" fmla="*/ 72000 h 216000"/>
              <a:gd name="connsiteX4" fmla="*/ 216000 w 216000"/>
              <a:gd name="connsiteY4" fmla="*/ 108000 h 216000"/>
              <a:gd name="connsiteX5" fmla="*/ 180000 w 216000"/>
              <a:gd name="connsiteY5" fmla="*/ 144000 h 216000"/>
              <a:gd name="connsiteX6" fmla="*/ 144000 w 216000"/>
              <a:gd name="connsiteY6" fmla="*/ 144000 h 216000"/>
              <a:gd name="connsiteX7" fmla="*/ 144000 w 216000"/>
              <a:gd name="connsiteY7" fmla="*/ 180000 h 216000"/>
              <a:gd name="connsiteX8" fmla="*/ 108000 w 216000"/>
              <a:gd name="connsiteY8" fmla="*/ 216000 h 216000"/>
              <a:gd name="connsiteX9" fmla="*/ 72000 w 216000"/>
              <a:gd name="connsiteY9" fmla="*/ 180000 h 216000"/>
              <a:gd name="connsiteX10" fmla="*/ 72000 w 216000"/>
              <a:gd name="connsiteY10" fmla="*/ 144000 h 216000"/>
              <a:gd name="connsiteX11" fmla="*/ 36000 w 216000"/>
              <a:gd name="connsiteY11" fmla="*/ 144000 h 216000"/>
              <a:gd name="connsiteX12" fmla="*/ 0 w 216000"/>
              <a:gd name="connsiteY12" fmla="*/ 108000 h 216000"/>
              <a:gd name="connsiteX13" fmla="*/ 36000 w 216000"/>
              <a:gd name="connsiteY13" fmla="*/ 72000 h 216000"/>
              <a:gd name="connsiteX14" fmla="*/ 72000 w 216000"/>
              <a:gd name="connsiteY14" fmla="*/ 72000 h 216000"/>
              <a:gd name="connsiteX15" fmla="*/ 72000 w 216000"/>
              <a:gd name="connsiteY15" fmla="*/ 36000 h 216000"/>
              <a:gd name="connsiteX16" fmla="*/ 108000 w 216000"/>
              <a:gd name="connsiteY16" fmla="*/ 0 h 2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00" h="216000">
                <a:moveTo>
                  <a:pt x="108000" y="0"/>
                </a:moveTo>
                <a:cubicBezTo>
                  <a:pt x="127882" y="0"/>
                  <a:pt x="144000" y="16118"/>
                  <a:pt x="144000" y="36000"/>
                </a:cubicBezTo>
                <a:lnTo>
                  <a:pt x="144000" y="72000"/>
                </a:lnTo>
                <a:lnTo>
                  <a:pt x="180000" y="72000"/>
                </a:lnTo>
                <a:cubicBezTo>
                  <a:pt x="199882" y="72000"/>
                  <a:pt x="216000" y="88118"/>
                  <a:pt x="216000" y="108000"/>
                </a:cubicBezTo>
                <a:cubicBezTo>
                  <a:pt x="216000" y="127882"/>
                  <a:pt x="199882" y="144000"/>
                  <a:pt x="180000" y="144000"/>
                </a:cubicBezTo>
                <a:lnTo>
                  <a:pt x="144000" y="144000"/>
                </a:lnTo>
                <a:lnTo>
                  <a:pt x="144000" y="180000"/>
                </a:lnTo>
                <a:cubicBezTo>
                  <a:pt x="144000" y="199882"/>
                  <a:pt x="127882" y="216000"/>
                  <a:pt x="108000" y="216000"/>
                </a:cubicBezTo>
                <a:cubicBezTo>
                  <a:pt x="88118" y="216000"/>
                  <a:pt x="72000" y="199882"/>
                  <a:pt x="72000" y="180000"/>
                </a:cubicBezTo>
                <a:lnTo>
                  <a:pt x="72000" y="144000"/>
                </a:lnTo>
                <a:lnTo>
                  <a:pt x="36000" y="144000"/>
                </a:lnTo>
                <a:cubicBezTo>
                  <a:pt x="16118" y="144000"/>
                  <a:pt x="0" y="127882"/>
                  <a:pt x="0" y="108000"/>
                </a:cubicBezTo>
                <a:cubicBezTo>
                  <a:pt x="0" y="88118"/>
                  <a:pt x="16118" y="72000"/>
                  <a:pt x="36000" y="72000"/>
                </a:cubicBezTo>
                <a:lnTo>
                  <a:pt x="72000" y="72000"/>
                </a:lnTo>
                <a:lnTo>
                  <a:pt x="72000" y="36000"/>
                </a:lnTo>
                <a:cubicBezTo>
                  <a:pt x="72000" y="16118"/>
                  <a:pt x="88118" y="0"/>
                  <a:pt x="108000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78" name="자유형: 도형 77">
            <a:extLst>
              <a:ext uri="{FF2B5EF4-FFF2-40B4-BE49-F238E27FC236}">
                <a16:creationId xmlns:a16="http://schemas.microsoft.com/office/drawing/2014/main" id="{612C53D4-7D88-E087-5EA7-FA1678347F97}"/>
              </a:ext>
            </a:extLst>
          </p:cNvPr>
          <p:cNvSpPr/>
          <p:nvPr/>
        </p:nvSpPr>
        <p:spPr>
          <a:xfrm>
            <a:off x="8687608" y="3899174"/>
            <a:ext cx="108000" cy="108000"/>
          </a:xfrm>
          <a:custGeom>
            <a:avLst/>
            <a:gdLst>
              <a:gd name="connsiteX0" fmla="*/ 108000 w 216000"/>
              <a:gd name="connsiteY0" fmla="*/ 0 h 216000"/>
              <a:gd name="connsiteX1" fmla="*/ 144000 w 216000"/>
              <a:gd name="connsiteY1" fmla="*/ 36000 h 216000"/>
              <a:gd name="connsiteX2" fmla="*/ 144000 w 216000"/>
              <a:gd name="connsiteY2" fmla="*/ 72000 h 216000"/>
              <a:gd name="connsiteX3" fmla="*/ 180000 w 216000"/>
              <a:gd name="connsiteY3" fmla="*/ 72000 h 216000"/>
              <a:gd name="connsiteX4" fmla="*/ 216000 w 216000"/>
              <a:gd name="connsiteY4" fmla="*/ 108000 h 216000"/>
              <a:gd name="connsiteX5" fmla="*/ 180000 w 216000"/>
              <a:gd name="connsiteY5" fmla="*/ 144000 h 216000"/>
              <a:gd name="connsiteX6" fmla="*/ 144000 w 216000"/>
              <a:gd name="connsiteY6" fmla="*/ 144000 h 216000"/>
              <a:gd name="connsiteX7" fmla="*/ 144000 w 216000"/>
              <a:gd name="connsiteY7" fmla="*/ 180000 h 216000"/>
              <a:gd name="connsiteX8" fmla="*/ 108000 w 216000"/>
              <a:gd name="connsiteY8" fmla="*/ 216000 h 216000"/>
              <a:gd name="connsiteX9" fmla="*/ 72000 w 216000"/>
              <a:gd name="connsiteY9" fmla="*/ 180000 h 216000"/>
              <a:gd name="connsiteX10" fmla="*/ 72000 w 216000"/>
              <a:gd name="connsiteY10" fmla="*/ 144000 h 216000"/>
              <a:gd name="connsiteX11" fmla="*/ 36000 w 216000"/>
              <a:gd name="connsiteY11" fmla="*/ 144000 h 216000"/>
              <a:gd name="connsiteX12" fmla="*/ 0 w 216000"/>
              <a:gd name="connsiteY12" fmla="*/ 108000 h 216000"/>
              <a:gd name="connsiteX13" fmla="*/ 36000 w 216000"/>
              <a:gd name="connsiteY13" fmla="*/ 72000 h 216000"/>
              <a:gd name="connsiteX14" fmla="*/ 72000 w 216000"/>
              <a:gd name="connsiteY14" fmla="*/ 72000 h 216000"/>
              <a:gd name="connsiteX15" fmla="*/ 72000 w 216000"/>
              <a:gd name="connsiteY15" fmla="*/ 36000 h 216000"/>
              <a:gd name="connsiteX16" fmla="*/ 108000 w 216000"/>
              <a:gd name="connsiteY16" fmla="*/ 0 h 2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00" h="216000">
                <a:moveTo>
                  <a:pt x="108000" y="0"/>
                </a:moveTo>
                <a:cubicBezTo>
                  <a:pt x="127882" y="0"/>
                  <a:pt x="144000" y="16118"/>
                  <a:pt x="144000" y="36000"/>
                </a:cubicBezTo>
                <a:lnTo>
                  <a:pt x="144000" y="72000"/>
                </a:lnTo>
                <a:lnTo>
                  <a:pt x="180000" y="72000"/>
                </a:lnTo>
                <a:cubicBezTo>
                  <a:pt x="199882" y="72000"/>
                  <a:pt x="216000" y="88118"/>
                  <a:pt x="216000" y="108000"/>
                </a:cubicBezTo>
                <a:cubicBezTo>
                  <a:pt x="216000" y="127882"/>
                  <a:pt x="199882" y="144000"/>
                  <a:pt x="180000" y="144000"/>
                </a:cubicBezTo>
                <a:lnTo>
                  <a:pt x="144000" y="144000"/>
                </a:lnTo>
                <a:lnTo>
                  <a:pt x="144000" y="180000"/>
                </a:lnTo>
                <a:cubicBezTo>
                  <a:pt x="144000" y="199882"/>
                  <a:pt x="127882" y="216000"/>
                  <a:pt x="108000" y="216000"/>
                </a:cubicBezTo>
                <a:cubicBezTo>
                  <a:pt x="88118" y="216000"/>
                  <a:pt x="72000" y="199882"/>
                  <a:pt x="72000" y="180000"/>
                </a:cubicBezTo>
                <a:lnTo>
                  <a:pt x="72000" y="144000"/>
                </a:lnTo>
                <a:lnTo>
                  <a:pt x="36000" y="144000"/>
                </a:lnTo>
                <a:cubicBezTo>
                  <a:pt x="16118" y="144000"/>
                  <a:pt x="0" y="127882"/>
                  <a:pt x="0" y="108000"/>
                </a:cubicBezTo>
                <a:cubicBezTo>
                  <a:pt x="0" y="88118"/>
                  <a:pt x="16118" y="72000"/>
                  <a:pt x="36000" y="72000"/>
                </a:cubicBezTo>
                <a:lnTo>
                  <a:pt x="72000" y="72000"/>
                </a:lnTo>
                <a:lnTo>
                  <a:pt x="72000" y="36000"/>
                </a:lnTo>
                <a:cubicBezTo>
                  <a:pt x="72000" y="16118"/>
                  <a:pt x="88118" y="0"/>
                  <a:pt x="108000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79" name="자유형: 도형 78">
            <a:extLst>
              <a:ext uri="{FF2B5EF4-FFF2-40B4-BE49-F238E27FC236}">
                <a16:creationId xmlns:a16="http://schemas.microsoft.com/office/drawing/2014/main" id="{8B59CAA6-EB11-0CFF-DAE2-BC321F886DEF}"/>
              </a:ext>
            </a:extLst>
          </p:cNvPr>
          <p:cNvSpPr/>
          <p:nvPr/>
        </p:nvSpPr>
        <p:spPr>
          <a:xfrm>
            <a:off x="8687608" y="3277162"/>
            <a:ext cx="108000" cy="108000"/>
          </a:xfrm>
          <a:custGeom>
            <a:avLst/>
            <a:gdLst>
              <a:gd name="connsiteX0" fmla="*/ 108000 w 216000"/>
              <a:gd name="connsiteY0" fmla="*/ 0 h 216000"/>
              <a:gd name="connsiteX1" fmla="*/ 144000 w 216000"/>
              <a:gd name="connsiteY1" fmla="*/ 36000 h 216000"/>
              <a:gd name="connsiteX2" fmla="*/ 144000 w 216000"/>
              <a:gd name="connsiteY2" fmla="*/ 72000 h 216000"/>
              <a:gd name="connsiteX3" fmla="*/ 180000 w 216000"/>
              <a:gd name="connsiteY3" fmla="*/ 72000 h 216000"/>
              <a:gd name="connsiteX4" fmla="*/ 216000 w 216000"/>
              <a:gd name="connsiteY4" fmla="*/ 108000 h 216000"/>
              <a:gd name="connsiteX5" fmla="*/ 180000 w 216000"/>
              <a:gd name="connsiteY5" fmla="*/ 144000 h 216000"/>
              <a:gd name="connsiteX6" fmla="*/ 144000 w 216000"/>
              <a:gd name="connsiteY6" fmla="*/ 144000 h 216000"/>
              <a:gd name="connsiteX7" fmla="*/ 144000 w 216000"/>
              <a:gd name="connsiteY7" fmla="*/ 180000 h 216000"/>
              <a:gd name="connsiteX8" fmla="*/ 108000 w 216000"/>
              <a:gd name="connsiteY8" fmla="*/ 216000 h 216000"/>
              <a:gd name="connsiteX9" fmla="*/ 72000 w 216000"/>
              <a:gd name="connsiteY9" fmla="*/ 180000 h 216000"/>
              <a:gd name="connsiteX10" fmla="*/ 72000 w 216000"/>
              <a:gd name="connsiteY10" fmla="*/ 144000 h 216000"/>
              <a:gd name="connsiteX11" fmla="*/ 36000 w 216000"/>
              <a:gd name="connsiteY11" fmla="*/ 144000 h 216000"/>
              <a:gd name="connsiteX12" fmla="*/ 0 w 216000"/>
              <a:gd name="connsiteY12" fmla="*/ 108000 h 216000"/>
              <a:gd name="connsiteX13" fmla="*/ 36000 w 216000"/>
              <a:gd name="connsiteY13" fmla="*/ 72000 h 216000"/>
              <a:gd name="connsiteX14" fmla="*/ 72000 w 216000"/>
              <a:gd name="connsiteY14" fmla="*/ 72000 h 216000"/>
              <a:gd name="connsiteX15" fmla="*/ 72000 w 216000"/>
              <a:gd name="connsiteY15" fmla="*/ 36000 h 216000"/>
              <a:gd name="connsiteX16" fmla="*/ 108000 w 216000"/>
              <a:gd name="connsiteY16" fmla="*/ 0 h 2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00" h="216000">
                <a:moveTo>
                  <a:pt x="108000" y="0"/>
                </a:moveTo>
                <a:cubicBezTo>
                  <a:pt x="127882" y="0"/>
                  <a:pt x="144000" y="16118"/>
                  <a:pt x="144000" y="36000"/>
                </a:cubicBezTo>
                <a:lnTo>
                  <a:pt x="144000" y="72000"/>
                </a:lnTo>
                <a:lnTo>
                  <a:pt x="180000" y="72000"/>
                </a:lnTo>
                <a:cubicBezTo>
                  <a:pt x="199882" y="72000"/>
                  <a:pt x="216000" y="88118"/>
                  <a:pt x="216000" y="108000"/>
                </a:cubicBezTo>
                <a:cubicBezTo>
                  <a:pt x="216000" y="127882"/>
                  <a:pt x="199882" y="144000"/>
                  <a:pt x="180000" y="144000"/>
                </a:cubicBezTo>
                <a:lnTo>
                  <a:pt x="144000" y="144000"/>
                </a:lnTo>
                <a:lnTo>
                  <a:pt x="144000" y="180000"/>
                </a:lnTo>
                <a:cubicBezTo>
                  <a:pt x="144000" y="199882"/>
                  <a:pt x="127882" y="216000"/>
                  <a:pt x="108000" y="216000"/>
                </a:cubicBezTo>
                <a:cubicBezTo>
                  <a:pt x="88118" y="216000"/>
                  <a:pt x="72000" y="199882"/>
                  <a:pt x="72000" y="180000"/>
                </a:cubicBezTo>
                <a:lnTo>
                  <a:pt x="72000" y="144000"/>
                </a:lnTo>
                <a:lnTo>
                  <a:pt x="36000" y="144000"/>
                </a:lnTo>
                <a:cubicBezTo>
                  <a:pt x="16118" y="144000"/>
                  <a:pt x="0" y="127882"/>
                  <a:pt x="0" y="108000"/>
                </a:cubicBezTo>
                <a:cubicBezTo>
                  <a:pt x="0" y="88118"/>
                  <a:pt x="16118" y="72000"/>
                  <a:pt x="36000" y="72000"/>
                </a:cubicBezTo>
                <a:lnTo>
                  <a:pt x="72000" y="72000"/>
                </a:lnTo>
                <a:lnTo>
                  <a:pt x="72000" y="36000"/>
                </a:lnTo>
                <a:cubicBezTo>
                  <a:pt x="72000" y="16118"/>
                  <a:pt x="88118" y="0"/>
                  <a:pt x="108000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80" name="자유형: 도형 79">
            <a:extLst>
              <a:ext uri="{FF2B5EF4-FFF2-40B4-BE49-F238E27FC236}">
                <a16:creationId xmlns:a16="http://schemas.microsoft.com/office/drawing/2014/main" id="{18F765DC-8805-C9B7-FAE4-2326ADD73E80}"/>
              </a:ext>
            </a:extLst>
          </p:cNvPr>
          <p:cNvSpPr/>
          <p:nvPr/>
        </p:nvSpPr>
        <p:spPr>
          <a:xfrm>
            <a:off x="8687608" y="2655150"/>
            <a:ext cx="108000" cy="108000"/>
          </a:xfrm>
          <a:custGeom>
            <a:avLst/>
            <a:gdLst>
              <a:gd name="connsiteX0" fmla="*/ 108000 w 216000"/>
              <a:gd name="connsiteY0" fmla="*/ 0 h 216000"/>
              <a:gd name="connsiteX1" fmla="*/ 144000 w 216000"/>
              <a:gd name="connsiteY1" fmla="*/ 36000 h 216000"/>
              <a:gd name="connsiteX2" fmla="*/ 144000 w 216000"/>
              <a:gd name="connsiteY2" fmla="*/ 72000 h 216000"/>
              <a:gd name="connsiteX3" fmla="*/ 180000 w 216000"/>
              <a:gd name="connsiteY3" fmla="*/ 72000 h 216000"/>
              <a:gd name="connsiteX4" fmla="*/ 216000 w 216000"/>
              <a:gd name="connsiteY4" fmla="*/ 108000 h 216000"/>
              <a:gd name="connsiteX5" fmla="*/ 180000 w 216000"/>
              <a:gd name="connsiteY5" fmla="*/ 144000 h 216000"/>
              <a:gd name="connsiteX6" fmla="*/ 144000 w 216000"/>
              <a:gd name="connsiteY6" fmla="*/ 144000 h 216000"/>
              <a:gd name="connsiteX7" fmla="*/ 144000 w 216000"/>
              <a:gd name="connsiteY7" fmla="*/ 180000 h 216000"/>
              <a:gd name="connsiteX8" fmla="*/ 108000 w 216000"/>
              <a:gd name="connsiteY8" fmla="*/ 216000 h 216000"/>
              <a:gd name="connsiteX9" fmla="*/ 72000 w 216000"/>
              <a:gd name="connsiteY9" fmla="*/ 180000 h 216000"/>
              <a:gd name="connsiteX10" fmla="*/ 72000 w 216000"/>
              <a:gd name="connsiteY10" fmla="*/ 144000 h 216000"/>
              <a:gd name="connsiteX11" fmla="*/ 36000 w 216000"/>
              <a:gd name="connsiteY11" fmla="*/ 144000 h 216000"/>
              <a:gd name="connsiteX12" fmla="*/ 0 w 216000"/>
              <a:gd name="connsiteY12" fmla="*/ 108000 h 216000"/>
              <a:gd name="connsiteX13" fmla="*/ 36000 w 216000"/>
              <a:gd name="connsiteY13" fmla="*/ 72000 h 216000"/>
              <a:gd name="connsiteX14" fmla="*/ 72000 w 216000"/>
              <a:gd name="connsiteY14" fmla="*/ 72000 h 216000"/>
              <a:gd name="connsiteX15" fmla="*/ 72000 w 216000"/>
              <a:gd name="connsiteY15" fmla="*/ 36000 h 216000"/>
              <a:gd name="connsiteX16" fmla="*/ 108000 w 216000"/>
              <a:gd name="connsiteY16" fmla="*/ 0 h 2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00" h="216000">
                <a:moveTo>
                  <a:pt x="108000" y="0"/>
                </a:moveTo>
                <a:cubicBezTo>
                  <a:pt x="127882" y="0"/>
                  <a:pt x="144000" y="16118"/>
                  <a:pt x="144000" y="36000"/>
                </a:cubicBezTo>
                <a:lnTo>
                  <a:pt x="144000" y="72000"/>
                </a:lnTo>
                <a:lnTo>
                  <a:pt x="180000" y="72000"/>
                </a:lnTo>
                <a:cubicBezTo>
                  <a:pt x="199882" y="72000"/>
                  <a:pt x="216000" y="88118"/>
                  <a:pt x="216000" y="108000"/>
                </a:cubicBezTo>
                <a:cubicBezTo>
                  <a:pt x="216000" y="127882"/>
                  <a:pt x="199882" y="144000"/>
                  <a:pt x="180000" y="144000"/>
                </a:cubicBezTo>
                <a:lnTo>
                  <a:pt x="144000" y="144000"/>
                </a:lnTo>
                <a:lnTo>
                  <a:pt x="144000" y="180000"/>
                </a:lnTo>
                <a:cubicBezTo>
                  <a:pt x="144000" y="199882"/>
                  <a:pt x="127882" y="216000"/>
                  <a:pt x="108000" y="216000"/>
                </a:cubicBezTo>
                <a:cubicBezTo>
                  <a:pt x="88118" y="216000"/>
                  <a:pt x="72000" y="199882"/>
                  <a:pt x="72000" y="180000"/>
                </a:cubicBezTo>
                <a:lnTo>
                  <a:pt x="72000" y="144000"/>
                </a:lnTo>
                <a:lnTo>
                  <a:pt x="36000" y="144000"/>
                </a:lnTo>
                <a:cubicBezTo>
                  <a:pt x="16118" y="144000"/>
                  <a:pt x="0" y="127882"/>
                  <a:pt x="0" y="108000"/>
                </a:cubicBezTo>
                <a:cubicBezTo>
                  <a:pt x="0" y="88118"/>
                  <a:pt x="16118" y="72000"/>
                  <a:pt x="36000" y="72000"/>
                </a:cubicBezTo>
                <a:lnTo>
                  <a:pt x="72000" y="72000"/>
                </a:lnTo>
                <a:lnTo>
                  <a:pt x="72000" y="36000"/>
                </a:lnTo>
                <a:cubicBezTo>
                  <a:pt x="72000" y="16118"/>
                  <a:pt x="88118" y="0"/>
                  <a:pt x="108000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81" name="자유형: 도형 80">
            <a:extLst>
              <a:ext uri="{FF2B5EF4-FFF2-40B4-BE49-F238E27FC236}">
                <a16:creationId xmlns:a16="http://schemas.microsoft.com/office/drawing/2014/main" id="{332015F5-5F7C-037A-0387-255910840FFD}"/>
              </a:ext>
            </a:extLst>
          </p:cNvPr>
          <p:cNvSpPr/>
          <p:nvPr/>
        </p:nvSpPr>
        <p:spPr>
          <a:xfrm>
            <a:off x="8687608" y="4521186"/>
            <a:ext cx="108000" cy="108000"/>
          </a:xfrm>
          <a:custGeom>
            <a:avLst/>
            <a:gdLst>
              <a:gd name="connsiteX0" fmla="*/ 108000 w 216000"/>
              <a:gd name="connsiteY0" fmla="*/ 0 h 216000"/>
              <a:gd name="connsiteX1" fmla="*/ 144000 w 216000"/>
              <a:gd name="connsiteY1" fmla="*/ 36000 h 216000"/>
              <a:gd name="connsiteX2" fmla="*/ 144000 w 216000"/>
              <a:gd name="connsiteY2" fmla="*/ 72000 h 216000"/>
              <a:gd name="connsiteX3" fmla="*/ 180000 w 216000"/>
              <a:gd name="connsiteY3" fmla="*/ 72000 h 216000"/>
              <a:gd name="connsiteX4" fmla="*/ 216000 w 216000"/>
              <a:gd name="connsiteY4" fmla="*/ 108000 h 216000"/>
              <a:gd name="connsiteX5" fmla="*/ 180000 w 216000"/>
              <a:gd name="connsiteY5" fmla="*/ 144000 h 216000"/>
              <a:gd name="connsiteX6" fmla="*/ 144000 w 216000"/>
              <a:gd name="connsiteY6" fmla="*/ 144000 h 216000"/>
              <a:gd name="connsiteX7" fmla="*/ 144000 w 216000"/>
              <a:gd name="connsiteY7" fmla="*/ 180000 h 216000"/>
              <a:gd name="connsiteX8" fmla="*/ 108000 w 216000"/>
              <a:gd name="connsiteY8" fmla="*/ 216000 h 216000"/>
              <a:gd name="connsiteX9" fmla="*/ 72000 w 216000"/>
              <a:gd name="connsiteY9" fmla="*/ 180000 h 216000"/>
              <a:gd name="connsiteX10" fmla="*/ 72000 w 216000"/>
              <a:gd name="connsiteY10" fmla="*/ 144000 h 216000"/>
              <a:gd name="connsiteX11" fmla="*/ 36000 w 216000"/>
              <a:gd name="connsiteY11" fmla="*/ 144000 h 216000"/>
              <a:gd name="connsiteX12" fmla="*/ 0 w 216000"/>
              <a:gd name="connsiteY12" fmla="*/ 108000 h 216000"/>
              <a:gd name="connsiteX13" fmla="*/ 36000 w 216000"/>
              <a:gd name="connsiteY13" fmla="*/ 72000 h 216000"/>
              <a:gd name="connsiteX14" fmla="*/ 72000 w 216000"/>
              <a:gd name="connsiteY14" fmla="*/ 72000 h 216000"/>
              <a:gd name="connsiteX15" fmla="*/ 72000 w 216000"/>
              <a:gd name="connsiteY15" fmla="*/ 36000 h 216000"/>
              <a:gd name="connsiteX16" fmla="*/ 108000 w 216000"/>
              <a:gd name="connsiteY16" fmla="*/ 0 h 2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00" h="216000">
                <a:moveTo>
                  <a:pt x="108000" y="0"/>
                </a:moveTo>
                <a:cubicBezTo>
                  <a:pt x="127882" y="0"/>
                  <a:pt x="144000" y="16118"/>
                  <a:pt x="144000" y="36000"/>
                </a:cubicBezTo>
                <a:lnTo>
                  <a:pt x="144000" y="72000"/>
                </a:lnTo>
                <a:lnTo>
                  <a:pt x="180000" y="72000"/>
                </a:lnTo>
                <a:cubicBezTo>
                  <a:pt x="199882" y="72000"/>
                  <a:pt x="216000" y="88118"/>
                  <a:pt x="216000" y="108000"/>
                </a:cubicBezTo>
                <a:cubicBezTo>
                  <a:pt x="216000" y="127882"/>
                  <a:pt x="199882" y="144000"/>
                  <a:pt x="180000" y="144000"/>
                </a:cubicBezTo>
                <a:lnTo>
                  <a:pt x="144000" y="144000"/>
                </a:lnTo>
                <a:lnTo>
                  <a:pt x="144000" y="180000"/>
                </a:lnTo>
                <a:cubicBezTo>
                  <a:pt x="144000" y="199882"/>
                  <a:pt x="127882" y="216000"/>
                  <a:pt x="108000" y="216000"/>
                </a:cubicBezTo>
                <a:cubicBezTo>
                  <a:pt x="88118" y="216000"/>
                  <a:pt x="72000" y="199882"/>
                  <a:pt x="72000" y="180000"/>
                </a:cubicBezTo>
                <a:lnTo>
                  <a:pt x="72000" y="144000"/>
                </a:lnTo>
                <a:lnTo>
                  <a:pt x="36000" y="144000"/>
                </a:lnTo>
                <a:cubicBezTo>
                  <a:pt x="16118" y="144000"/>
                  <a:pt x="0" y="127882"/>
                  <a:pt x="0" y="108000"/>
                </a:cubicBezTo>
                <a:cubicBezTo>
                  <a:pt x="0" y="88118"/>
                  <a:pt x="16118" y="72000"/>
                  <a:pt x="36000" y="72000"/>
                </a:cubicBezTo>
                <a:lnTo>
                  <a:pt x="72000" y="72000"/>
                </a:lnTo>
                <a:lnTo>
                  <a:pt x="72000" y="36000"/>
                </a:lnTo>
                <a:cubicBezTo>
                  <a:pt x="72000" y="16118"/>
                  <a:pt x="88118" y="0"/>
                  <a:pt x="108000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82" name="자유형: 도형 81">
            <a:extLst>
              <a:ext uri="{FF2B5EF4-FFF2-40B4-BE49-F238E27FC236}">
                <a16:creationId xmlns:a16="http://schemas.microsoft.com/office/drawing/2014/main" id="{4085B33A-5687-6FBC-8ECA-9476B1B4B774}"/>
              </a:ext>
            </a:extLst>
          </p:cNvPr>
          <p:cNvSpPr/>
          <p:nvPr/>
        </p:nvSpPr>
        <p:spPr>
          <a:xfrm>
            <a:off x="8687608" y="5143198"/>
            <a:ext cx="108000" cy="108000"/>
          </a:xfrm>
          <a:custGeom>
            <a:avLst/>
            <a:gdLst>
              <a:gd name="connsiteX0" fmla="*/ 108000 w 216000"/>
              <a:gd name="connsiteY0" fmla="*/ 0 h 216000"/>
              <a:gd name="connsiteX1" fmla="*/ 144000 w 216000"/>
              <a:gd name="connsiteY1" fmla="*/ 36000 h 216000"/>
              <a:gd name="connsiteX2" fmla="*/ 144000 w 216000"/>
              <a:gd name="connsiteY2" fmla="*/ 72000 h 216000"/>
              <a:gd name="connsiteX3" fmla="*/ 180000 w 216000"/>
              <a:gd name="connsiteY3" fmla="*/ 72000 h 216000"/>
              <a:gd name="connsiteX4" fmla="*/ 216000 w 216000"/>
              <a:gd name="connsiteY4" fmla="*/ 108000 h 216000"/>
              <a:gd name="connsiteX5" fmla="*/ 180000 w 216000"/>
              <a:gd name="connsiteY5" fmla="*/ 144000 h 216000"/>
              <a:gd name="connsiteX6" fmla="*/ 144000 w 216000"/>
              <a:gd name="connsiteY6" fmla="*/ 144000 h 216000"/>
              <a:gd name="connsiteX7" fmla="*/ 144000 w 216000"/>
              <a:gd name="connsiteY7" fmla="*/ 180000 h 216000"/>
              <a:gd name="connsiteX8" fmla="*/ 108000 w 216000"/>
              <a:gd name="connsiteY8" fmla="*/ 216000 h 216000"/>
              <a:gd name="connsiteX9" fmla="*/ 72000 w 216000"/>
              <a:gd name="connsiteY9" fmla="*/ 180000 h 216000"/>
              <a:gd name="connsiteX10" fmla="*/ 72000 w 216000"/>
              <a:gd name="connsiteY10" fmla="*/ 144000 h 216000"/>
              <a:gd name="connsiteX11" fmla="*/ 36000 w 216000"/>
              <a:gd name="connsiteY11" fmla="*/ 144000 h 216000"/>
              <a:gd name="connsiteX12" fmla="*/ 0 w 216000"/>
              <a:gd name="connsiteY12" fmla="*/ 108000 h 216000"/>
              <a:gd name="connsiteX13" fmla="*/ 36000 w 216000"/>
              <a:gd name="connsiteY13" fmla="*/ 72000 h 216000"/>
              <a:gd name="connsiteX14" fmla="*/ 72000 w 216000"/>
              <a:gd name="connsiteY14" fmla="*/ 72000 h 216000"/>
              <a:gd name="connsiteX15" fmla="*/ 72000 w 216000"/>
              <a:gd name="connsiteY15" fmla="*/ 36000 h 216000"/>
              <a:gd name="connsiteX16" fmla="*/ 108000 w 216000"/>
              <a:gd name="connsiteY16" fmla="*/ 0 h 2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00" h="216000">
                <a:moveTo>
                  <a:pt x="108000" y="0"/>
                </a:moveTo>
                <a:cubicBezTo>
                  <a:pt x="127882" y="0"/>
                  <a:pt x="144000" y="16118"/>
                  <a:pt x="144000" y="36000"/>
                </a:cubicBezTo>
                <a:lnTo>
                  <a:pt x="144000" y="72000"/>
                </a:lnTo>
                <a:lnTo>
                  <a:pt x="180000" y="72000"/>
                </a:lnTo>
                <a:cubicBezTo>
                  <a:pt x="199882" y="72000"/>
                  <a:pt x="216000" y="88118"/>
                  <a:pt x="216000" y="108000"/>
                </a:cubicBezTo>
                <a:cubicBezTo>
                  <a:pt x="216000" y="127882"/>
                  <a:pt x="199882" y="144000"/>
                  <a:pt x="180000" y="144000"/>
                </a:cubicBezTo>
                <a:lnTo>
                  <a:pt x="144000" y="144000"/>
                </a:lnTo>
                <a:lnTo>
                  <a:pt x="144000" y="180000"/>
                </a:lnTo>
                <a:cubicBezTo>
                  <a:pt x="144000" y="199882"/>
                  <a:pt x="127882" y="216000"/>
                  <a:pt x="108000" y="216000"/>
                </a:cubicBezTo>
                <a:cubicBezTo>
                  <a:pt x="88118" y="216000"/>
                  <a:pt x="72000" y="199882"/>
                  <a:pt x="72000" y="180000"/>
                </a:cubicBezTo>
                <a:lnTo>
                  <a:pt x="72000" y="144000"/>
                </a:lnTo>
                <a:lnTo>
                  <a:pt x="36000" y="144000"/>
                </a:lnTo>
                <a:cubicBezTo>
                  <a:pt x="16118" y="144000"/>
                  <a:pt x="0" y="127882"/>
                  <a:pt x="0" y="108000"/>
                </a:cubicBezTo>
                <a:cubicBezTo>
                  <a:pt x="0" y="88118"/>
                  <a:pt x="16118" y="72000"/>
                  <a:pt x="36000" y="72000"/>
                </a:cubicBezTo>
                <a:lnTo>
                  <a:pt x="72000" y="72000"/>
                </a:lnTo>
                <a:lnTo>
                  <a:pt x="72000" y="36000"/>
                </a:lnTo>
                <a:cubicBezTo>
                  <a:pt x="72000" y="16118"/>
                  <a:pt x="88118" y="0"/>
                  <a:pt x="108000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>
              <a:latin typeface="+mn-ea"/>
            </a:endParaRPr>
          </a:p>
        </p:txBody>
      </p:sp>
      <p:cxnSp>
        <p:nvCxnSpPr>
          <p:cNvPr id="86" name="직선 연결선 85">
            <a:extLst>
              <a:ext uri="{FF2B5EF4-FFF2-40B4-BE49-F238E27FC236}">
                <a16:creationId xmlns:a16="http://schemas.microsoft.com/office/drawing/2014/main" id="{491DC1A1-8A98-B065-989C-1A12068A468E}"/>
              </a:ext>
            </a:extLst>
          </p:cNvPr>
          <p:cNvCxnSpPr>
            <a:cxnSpLocks/>
          </p:cNvCxnSpPr>
          <p:nvPr/>
        </p:nvCxnSpPr>
        <p:spPr>
          <a:xfrm>
            <a:off x="9972199" y="2164144"/>
            <a:ext cx="0" cy="35784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D14241EA-03CF-0880-7795-B05158112E19}"/>
              </a:ext>
            </a:extLst>
          </p:cNvPr>
          <p:cNvCxnSpPr>
            <a:cxnSpLocks/>
          </p:cNvCxnSpPr>
          <p:nvPr/>
        </p:nvCxnSpPr>
        <p:spPr>
          <a:xfrm>
            <a:off x="10632105" y="2164144"/>
            <a:ext cx="0" cy="35784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21D90ADF-C298-2048-4C76-F007835F8C53}"/>
              </a:ext>
            </a:extLst>
          </p:cNvPr>
          <p:cNvCxnSpPr>
            <a:cxnSpLocks/>
          </p:cNvCxnSpPr>
          <p:nvPr/>
        </p:nvCxnSpPr>
        <p:spPr>
          <a:xfrm>
            <a:off x="11292011" y="2164144"/>
            <a:ext cx="0" cy="35784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486EABAC-7061-DBDC-FA83-73EB058D0BDF}"/>
              </a:ext>
            </a:extLst>
          </p:cNvPr>
          <p:cNvSpPr/>
          <p:nvPr/>
        </p:nvSpPr>
        <p:spPr>
          <a:xfrm>
            <a:off x="9498104" y="2279173"/>
            <a:ext cx="2268000" cy="334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200">
                <a:solidFill>
                  <a:schemeClr val="tx1"/>
                </a:solidFill>
                <a:latin typeface="+mn-ea"/>
              </a:rPr>
              <a:t>AI </a:t>
            </a:r>
            <a:r>
              <a:rPr lang="ko-KR" altLang="en-US" sz="1200">
                <a:solidFill>
                  <a:schemeClr val="tx1"/>
                </a:solidFill>
                <a:latin typeface="+mn-ea"/>
              </a:rPr>
              <a:t>위험</a:t>
            </a:r>
            <a:r>
              <a:rPr lang="en-US" altLang="ko-KR" sz="120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1200">
                <a:solidFill>
                  <a:schemeClr val="tx1"/>
                </a:solidFill>
                <a:latin typeface="+mn-ea"/>
              </a:rPr>
              <a:t>영향</a:t>
            </a:r>
            <a:r>
              <a:rPr lang="en-US" altLang="ko-KR" sz="120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1200">
                <a:solidFill>
                  <a:schemeClr val="tx1"/>
                </a:solidFill>
                <a:latin typeface="+mn-ea"/>
              </a:rPr>
              <a:t>안전성 식별 및 평가 관점에서 신규로 도출된 조직</a:t>
            </a:r>
            <a:r>
              <a:rPr lang="en-US" altLang="ko-KR" sz="1200">
                <a:solidFill>
                  <a:schemeClr val="tx1"/>
                </a:solidFill>
                <a:latin typeface="+mn-ea"/>
              </a:rPr>
              <a:t>&amp;</a:t>
            </a:r>
            <a:r>
              <a:rPr lang="ko-KR" altLang="en-US" sz="1200">
                <a:solidFill>
                  <a:schemeClr val="tx1"/>
                </a:solidFill>
                <a:latin typeface="+mn-ea"/>
              </a:rPr>
              <a:t>협의체 중심으로 역할과 프로세스 정의</a:t>
            </a:r>
            <a:endParaRPr lang="en-US" altLang="ko-KR" sz="1200">
              <a:solidFill>
                <a:schemeClr val="tx1"/>
              </a:solidFill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sz="1200">
                <a:solidFill>
                  <a:schemeClr val="tx1"/>
                </a:solidFill>
                <a:latin typeface="+mn-ea"/>
              </a:rPr>
              <a:t>+</a:t>
            </a:r>
          </a:p>
          <a:p>
            <a:pPr algn="ctr">
              <a:lnSpc>
                <a:spcPct val="150000"/>
              </a:lnSpc>
            </a:pPr>
            <a:r>
              <a:rPr lang="ko-KR" altLang="en-US" sz="1200">
                <a:solidFill>
                  <a:schemeClr val="tx1"/>
                </a:solidFill>
                <a:latin typeface="+mn-ea"/>
              </a:rPr>
              <a:t>他</a:t>
            </a:r>
            <a:r>
              <a:rPr lang="en-US" altLang="ko-KR" sz="1200">
                <a:solidFill>
                  <a:schemeClr val="tx1"/>
                </a:solidFill>
                <a:latin typeface="+mn-ea"/>
              </a:rPr>
              <a:t>Task </a:t>
            </a:r>
            <a:r>
              <a:rPr lang="ko-KR" altLang="en-US" sz="1200">
                <a:solidFill>
                  <a:schemeClr val="tx1"/>
                </a:solidFill>
                <a:latin typeface="+mn-ea"/>
              </a:rPr>
              <a:t>內 상세 정의 </a:t>
            </a:r>
            <a:r>
              <a:rPr lang="en-US" altLang="ko-KR" sz="1200" baseline="30000">
                <a:solidFill>
                  <a:schemeClr val="tx1"/>
                </a:solidFill>
                <a:latin typeface="+mn-ea"/>
              </a:rPr>
              <a:t>1)</a:t>
            </a:r>
            <a:endParaRPr lang="ko-KR" altLang="en-US" sz="1200" baseline="3000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" name="이등변 삼각형 6">
            <a:extLst>
              <a:ext uri="{FF2B5EF4-FFF2-40B4-BE49-F238E27FC236}">
                <a16:creationId xmlns:a16="http://schemas.microsoft.com/office/drawing/2014/main" id="{170CCBD1-BBAA-CBA0-C52C-FCE7818A7D43}"/>
              </a:ext>
            </a:extLst>
          </p:cNvPr>
          <p:cNvSpPr/>
          <p:nvPr/>
        </p:nvSpPr>
        <p:spPr>
          <a:xfrm rot="5400000">
            <a:off x="4717331" y="3615608"/>
            <a:ext cx="1800000" cy="178512"/>
          </a:xfrm>
          <a:prstGeom prst="triangle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02603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26B5A-5C68-C542-B998-651379FAC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D927E067-F414-8793-01A7-D3520F9BBF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3460684"/>
              </p:ext>
            </p:extLst>
          </p:nvPr>
        </p:nvGraphicFramePr>
        <p:xfrm>
          <a:off x="331786" y="1793271"/>
          <a:ext cx="11413632" cy="47408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6676">
                  <a:extLst>
                    <a:ext uri="{9D8B030D-6E8A-4147-A177-3AD203B41FA5}">
                      <a16:colId xmlns:a16="http://schemas.microsoft.com/office/drawing/2014/main" val="2366509227"/>
                    </a:ext>
                  </a:extLst>
                </a:gridCol>
                <a:gridCol w="356676">
                  <a:extLst>
                    <a:ext uri="{9D8B030D-6E8A-4147-A177-3AD203B41FA5}">
                      <a16:colId xmlns:a16="http://schemas.microsoft.com/office/drawing/2014/main" val="165388766"/>
                    </a:ext>
                  </a:extLst>
                </a:gridCol>
                <a:gridCol w="356676">
                  <a:extLst>
                    <a:ext uri="{9D8B030D-6E8A-4147-A177-3AD203B41FA5}">
                      <a16:colId xmlns:a16="http://schemas.microsoft.com/office/drawing/2014/main" val="918158083"/>
                    </a:ext>
                  </a:extLst>
                </a:gridCol>
                <a:gridCol w="356676">
                  <a:extLst>
                    <a:ext uri="{9D8B030D-6E8A-4147-A177-3AD203B41FA5}">
                      <a16:colId xmlns:a16="http://schemas.microsoft.com/office/drawing/2014/main" val="3066988298"/>
                    </a:ext>
                  </a:extLst>
                </a:gridCol>
                <a:gridCol w="356676">
                  <a:extLst>
                    <a:ext uri="{9D8B030D-6E8A-4147-A177-3AD203B41FA5}">
                      <a16:colId xmlns:a16="http://schemas.microsoft.com/office/drawing/2014/main" val="975619612"/>
                    </a:ext>
                  </a:extLst>
                </a:gridCol>
                <a:gridCol w="356676">
                  <a:extLst>
                    <a:ext uri="{9D8B030D-6E8A-4147-A177-3AD203B41FA5}">
                      <a16:colId xmlns:a16="http://schemas.microsoft.com/office/drawing/2014/main" val="89330654"/>
                    </a:ext>
                  </a:extLst>
                </a:gridCol>
                <a:gridCol w="356676">
                  <a:extLst>
                    <a:ext uri="{9D8B030D-6E8A-4147-A177-3AD203B41FA5}">
                      <a16:colId xmlns:a16="http://schemas.microsoft.com/office/drawing/2014/main" val="1824964541"/>
                    </a:ext>
                  </a:extLst>
                </a:gridCol>
                <a:gridCol w="356676">
                  <a:extLst>
                    <a:ext uri="{9D8B030D-6E8A-4147-A177-3AD203B41FA5}">
                      <a16:colId xmlns:a16="http://schemas.microsoft.com/office/drawing/2014/main" val="2032732816"/>
                    </a:ext>
                  </a:extLst>
                </a:gridCol>
                <a:gridCol w="356676">
                  <a:extLst>
                    <a:ext uri="{9D8B030D-6E8A-4147-A177-3AD203B41FA5}">
                      <a16:colId xmlns:a16="http://schemas.microsoft.com/office/drawing/2014/main" val="1120364045"/>
                    </a:ext>
                  </a:extLst>
                </a:gridCol>
                <a:gridCol w="356676">
                  <a:extLst>
                    <a:ext uri="{9D8B030D-6E8A-4147-A177-3AD203B41FA5}">
                      <a16:colId xmlns:a16="http://schemas.microsoft.com/office/drawing/2014/main" val="1938384464"/>
                    </a:ext>
                  </a:extLst>
                </a:gridCol>
                <a:gridCol w="356676">
                  <a:extLst>
                    <a:ext uri="{9D8B030D-6E8A-4147-A177-3AD203B41FA5}">
                      <a16:colId xmlns:a16="http://schemas.microsoft.com/office/drawing/2014/main" val="2076228313"/>
                    </a:ext>
                  </a:extLst>
                </a:gridCol>
                <a:gridCol w="356676">
                  <a:extLst>
                    <a:ext uri="{9D8B030D-6E8A-4147-A177-3AD203B41FA5}">
                      <a16:colId xmlns:a16="http://schemas.microsoft.com/office/drawing/2014/main" val="4001827883"/>
                    </a:ext>
                  </a:extLst>
                </a:gridCol>
                <a:gridCol w="356676">
                  <a:extLst>
                    <a:ext uri="{9D8B030D-6E8A-4147-A177-3AD203B41FA5}">
                      <a16:colId xmlns:a16="http://schemas.microsoft.com/office/drawing/2014/main" val="3139136858"/>
                    </a:ext>
                  </a:extLst>
                </a:gridCol>
                <a:gridCol w="356676">
                  <a:extLst>
                    <a:ext uri="{9D8B030D-6E8A-4147-A177-3AD203B41FA5}">
                      <a16:colId xmlns:a16="http://schemas.microsoft.com/office/drawing/2014/main" val="3989962111"/>
                    </a:ext>
                  </a:extLst>
                </a:gridCol>
                <a:gridCol w="356676">
                  <a:extLst>
                    <a:ext uri="{9D8B030D-6E8A-4147-A177-3AD203B41FA5}">
                      <a16:colId xmlns:a16="http://schemas.microsoft.com/office/drawing/2014/main" val="3342355119"/>
                    </a:ext>
                  </a:extLst>
                </a:gridCol>
                <a:gridCol w="356676">
                  <a:extLst>
                    <a:ext uri="{9D8B030D-6E8A-4147-A177-3AD203B41FA5}">
                      <a16:colId xmlns:a16="http://schemas.microsoft.com/office/drawing/2014/main" val="1123019490"/>
                    </a:ext>
                  </a:extLst>
                </a:gridCol>
                <a:gridCol w="356676">
                  <a:extLst>
                    <a:ext uri="{9D8B030D-6E8A-4147-A177-3AD203B41FA5}">
                      <a16:colId xmlns:a16="http://schemas.microsoft.com/office/drawing/2014/main" val="3546014477"/>
                    </a:ext>
                  </a:extLst>
                </a:gridCol>
                <a:gridCol w="356676">
                  <a:extLst>
                    <a:ext uri="{9D8B030D-6E8A-4147-A177-3AD203B41FA5}">
                      <a16:colId xmlns:a16="http://schemas.microsoft.com/office/drawing/2014/main" val="2342523195"/>
                    </a:ext>
                  </a:extLst>
                </a:gridCol>
                <a:gridCol w="356676">
                  <a:extLst>
                    <a:ext uri="{9D8B030D-6E8A-4147-A177-3AD203B41FA5}">
                      <a16:colId xmlns:a16="http://schemas.microsoft.com/office/drawing/2014/main" val="3199499476"/>
                    </a:ext>
                  </a:extLst>
                </a:gridCol>
                <a:gridCol w="356676">
                  <a:extLst>
                    <a:ext uri="{9D8B030D-6E8A-4147-A177-3AD203B41FA5}">
                      <a16:colId xmlns:a16="http://schemas.microsoft.com/office/drawing/2014/main" val="2039738406"/>
                    </a:ext>
                  </a:extLst>
                </a:gridCol>
                <a:gridCol w="356676">
                  <a:extLst>
                    <a:ext uri="{9D8B030D-6E8A-4147-A177-3AD203B41FA5}">
                      <a16:colId xmlns:a16="http://schemas.microsoft.com/office/drawing/2014/main" val="3518048641"/>
                    </a:ext>
                  </a:extLst>
                </a:gridCol>
                <a:gridCol w="356676">
                  <a:extLst>
                    <a:ext uri="{9D8B030D-6E8A-4147-A177-3AD203B41FA5}">
                      <a16:colId xmlns:a16="http://schemas.microsoft.com/office/drawing/2014/main" val="2125355477"/>
                    </a:ext>
                  </a:extLst>
                </a:gridCol>
                <a:gridCol w="356676">
                  <a:extLst>
                    <a:ext uri="{9D8B030D-6E8A-4147-A177-3AD203B41FA5}">
                      <a16:colId xmlns:a16="http://schemas.microsoft.com/office/drawing/2014/main" val="603858138"/>
                    </a:ext>
                  </a:extLst>
                </a:gridCol>
                <a:gridCol w="356676">
                  <a:extLst>
                    <a:ext uri="{9D8B030D-6E8A-4147-A177-3AD203B41FA5}">
                      <a16:colId xmlns:a16="http://schemas.microsoft.com/office/drawing/2014/main" val="3508026462"/>
                    </a:ext>
                  </a:extLst>
                </a:gridCol>
                <a:gridCol w="356676">
                  <a:extLst>
                    <a:ext uri="{9D8B030D-6E8A-4147-A177-3AD203B41FA5}">
                      <a16:colId xmlns:a16="http://schemas.microsoft.com/office/drawing/2014/main" val="2000079781"/>
                    </a:ext>
                  </a:extLst>
                </a:gridCol>
                <a:gridCol w="356676">
                  <a:extLst>
                    <a:ext uri="{9D8B030D-6E8A-4147-A177-3AD203B41FA5}">
                      <a16:colId xmlns:a16="http://schemas.microsoft.com/office/drawing/2014/main" val="2820498335"/>
                    </a:ext>
                  </a:extLst>
                </a:gridCol>
                <a:gridCol w="356676">
                  <a:extLst>
                    <a:ext uri="{9D8B030D-6E8A-4147-A177-3AD203B41FA5}">
                      <a16:colId xmlns:a16="http://schemas.microsoft.com/office/drawing/2014/main" val="1594943328"/>
                    </a:ext>
                  </a:extLst>
                </a:gridCol>
                <a:gridCol w="356676">
                  <a:extLst>
                    <a:ext uri="{9D8B030D-6E8A-4147-A177-3AD203B41FA5}">
                      <a16:colId xmlns:a16="http://schemas.microsoft.com/office/drawing/2014/main" val="2770475843"/>
                    </a:ext>
                  </a:extLst>
                </a:gridCol>
                <a:gridCol w="356676">
                  <a:extLst>
                    <a:ext uri="{9D8B030D-6E8A-4147-A177-3AD203B41FA5}">
                      <a16:colId xmlns:a16="http://schemas.microsoft.com/office/drawing/2014/main" val="3132381172"/>
                    </a:ext>
                  </a:extLst>
                </a:gridCol>
                <a:gridCol w="356676">
                  <a:extLst>
                    <a:ext uri="{9D8B030D-6E8A-4147-A177-3AD203B41FA5}">
                      <a16:colId xmlns:a16="http://schemas.microsoft.com/office/drawing/2014/main" val="2275608522"/>
                    </a:ext>
                  </a:extLst>
                </a:gridCol>
                <a:gridCol w="356676">
                  <a:extLst>
                    <a:ext uri="{9D8B030D-6E8A-4147-A177-3AD203B41FA5}">
                      <a16:colId xmlns:a16="http://schemas.microsoft.com/office/drawing/2014/main" val="416333113"/>
                    </a:ext>
                  </a:extLst>
                </a:gridCol>
                <a:gridCol w="356676">
                  <a:extLst>
                    <a:ext uri="{9D8B030D-6E8A-4147-A177-3AD203B41FA5}">
                      <a16:colId xmlns:a16="http://schemas.microsoft.com/office/drawing/2014/main" val="3178270231"/>
                    </a:ext>
                  </a:extLst>
                </a:gridCol>
              </a:tblGrid>
              <a:tr h="25200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W1</a:t>
                      </a:r>
                      <a:endParaRPr lang="ko-KR" altLang="en-US" sz="140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W2</a:t>
                      </a:r>
                      <a:endParaRPr lang="ko-KR" altLang="en-US" sz="140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W3</a:t>
                      </a:r>
                      <a:endParaRPr lang="ko-KR" altLang="en-US" sz="140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W4</a:t>
                      </a:r>
                      <a:endParaRPr lang="ko-KR" altLang="en-US" sz="140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W5</a:t>
                      </a:r>
                      <a:endParaRPr lang="ko-KR" altLang="en-US" sz="140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W6</a:t>
                      </a:r>
                      <a:endParaRPr lang="ko-KR" altLang="en-US" sz="140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W7</a:t>
                      </a:r>
                      <a:endParaRPr lang="ko-KR" altLang="en-US" sz="140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W8</a:t>
                      </a:r>
                      <a:endParaRPr lang="ko-KR" altLang="en-US" sz="140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W9</a:t>
                      </a:r>
                      <a:endParaRPr lang="ko-KR" altLang="en-US" sz="140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W10</a:t>
                      </a:r>
                      <a:endParaRPr lang="ko-KR" altLang="en-US" sz="140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W11</a:t>
                      </a:r>
                      <a:endParaRPr lang="ko-KR" altLang="en-US" sz="140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W12</a:t>
                      </a:r>
                      <a:endParaRPr lang="ko-KR" altLang="en-US" sz="140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W13</a:t>
                      </a:r>
                      <a:endParaRPr lang="ko-KR" altLang="en-US" sz="140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W14</a:t>
                      </a:r>
                      <a:endParaRPr lang="ko-KR" altLang="en-US" sz="140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W15</a:t>
                      </a:r>
                      <a:endParaRPr lang="ko-KR" altLang="en-US" sz="140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/>
                        <a:t>W16</a:t>
                      </a:r>
                      <a:endParaRPr lang="ko-KR" altLang="en-US" sz="140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367094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11/10</a:t>
                      </a:r>
                      <a:endParaRPr lang="ko-KR" altLang="en-US" sz="100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11/14</a:t>
                      </a:r>
                      <a:endParaRPr lang="ko-KR" altLang="en-US" sz="100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11/17</a:t>
                      </a:r>
                      <a:endParaRPr lang="ko-KR" altLang="en-US" sz="100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11/21</a:t>
                      </a:r>
                      <a:endParaRPr lang="ko-KR" altLang="en-US" sz="100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11/24</a:t>
                      </a:r>
                      <a:endParaRPr lang="ko-KR" altLang="en-US" sz="100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11/28</a:t>
                      </a:r>
                      <a:endParaRPr lang="ko-KR" altLang="en-US" sz="100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12/01</a:t>
                      </a:r>
                      <a:endParaRPr lang="ko-KR" altLang="en-US" sz="100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12/05</a:t>
                      </a:r>
                      <a:endParaRPr lang="ko-KR" altLang="en-US" sz="100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12/08</a:t>
                      </a:r>
                      <a:endParaRPr lang="ko-KR" altLang="en-US" sz="100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12/12</a:t>
                      </a:r>
                      <a:endParaRPr lang="ko-KR" altLang="en-US" sz="100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12/15</a:t>
                      </a:r>
                      <a:endParaRPr lang="ko-KR" altLang="en-US" sz="100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12/19</a:t>
                      </a:r>
                      <a:endParaRPr lang="ko-KR" altLang="en-US" sz="100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12/22</a:t>
                      </a:r>
                      <a:endParaRPr lang="ko-KR" altLang="en-US" sz="100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12/26</a:t>
                      </a:r>
                      <a:endParaRPr lang="ko-KR" altLang="en-US" sz="100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12/29</a:t>
                      </a:r>
                      <a:endParaRPr lang="ko-KR" altLang="en-US" sz="100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01/02</a:t>
                      </a:r>
                      <a:endParaRPr lang="ko-KR" altLang="en-US" sz="100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01/05</a:t>
                      </a:r>
                      <a:endParaRPr lang="ko-KR" altLang="en-US" sz="100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01/09</a:t>
                      </a:r>
                      <a:endParaRPr lang="ko-KR" altLang="en-US" sz="100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01/12</a:t>
                      </a:r>
                      <a:endParaRPr lang="ko-KR" altLang="en-US" sz="100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01/16</a:t>
                      </a:r>
                      <a:endParaRPr lang="ko-KR" altLang="en-US" sz="100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01/19</a:t>
                      </a:r>
                      <a:endParaRPr lang="ko-KR" altLang="en-US" sz="100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01/23</a:t>
                      </a:r>
                      <a:endParaRPr lang="ko-KR" altLang="en-US" sz="100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01/26</a:t>
                      </a:r>
                      <a:endParaRPr lang="ko-KR" altLang="en-US" sz="100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01/30</a:t>
                      </a:r>
                      <a:endParaRPr lang="ko-KR" altLang="en-US" sz="100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02/02</a:t>
                      </a:r>
                      <a:endParaRPr lang="ko-KR" altLang="en-US" sz="100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02/06</a:t>
                      </a:r>
                      <a:endParaRPr lang="ko-KR" altLang="en-US" sz="100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02/09</a:t>
                      </a:r>
                      <a:endParaRPr lang="ko-KR" altLang="en-US" sz="100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02/13</a:t>
                      </a:r>
                      <a:endParaRPr lang="ko-KR" altLang="en-US" sz="100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02/16</a:t>
                      </a:r>
                      <a:endParaRPr lang="ko-KR" altLang="en-US" sz="100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02/20</a:t>
                      </a:r>
                      <a:endParaRPr lang="ko-KR" altLang="en-US" sz="100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02/23</a:t>
                      </a:r>
                      <a:endParaRPr lang="ko-KR" altLang="en-US" sz="100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02/27</a:t>
                      </a:r>
                      <a:endParaRPr lang="ko-KR" altLang="en-US" sz="1000"/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6892424"/>
                  </a:ext>
                </a:extLst>
              </a:tr>
              <a:tr h="4236879">
                <a:tc gridSpan="2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8097807"/>
                  </a:ext>
                </a:extLst>
              </a:tr>
            </a:tbl>
          </a:graphicData>
        </a:graphic>
      </p:graphicFrame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558D5931-3C38-9216-9B34-457C92A11A5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7ADCA31-F1EE-311A-2B28-C09E466571F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/>
              <a:t>본 프로젝트를 위해 금융권 </a:t>
            </a:r>
            <a:r>
              <a:rPr lang="en-US" altLang="ko-KR"/>
              <a:t>AI </a:t>
            </a:r>
            <a:r>
              <a:rPr lang="ko-KR" altLang="en-US"/>
              <a:t>확정 요건 충족을 위한 </a:t>
            </a:r>
            <a:r>
              <a:rPr lang="en-US" altLang="ko-KR"/>
              <a:t>AI</a:t>
            </a:r>
            <a:r>
              <a:rPr lang="ko-KR" altLang="en-US"/>
              <a:t>거버넌스 수립 예정이며</a:t>
            </a:r>
            <a:r>
              <a:rPr lang="en-US" altLang="ko-KR"/>
              <a:t>, </a:t>
            </a:r>
            <a:r>
              <a:rPr lang="ko-KR" altLang="en-US"/>
              <a:t>당사 요청에 의해 </a:t>
            </a:r>
            <a:r>
              <a:rPr lang="en-US" altLang="ko-KR"/>
              <a:t>Task</a:t>
            </a:r>
            <a:r>
              <a:rPr lang="ko-KR" altLang="en-US"/>
              <a:t>를 일부 변경함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F194CAA-C471-0662-7A44-7423151EE34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AI</a:t>
            </a:r>
            <a:r>
              <a:rPr lang="ko-KR" altLang="en-US"/>
              <a:t>거버넌스 수립 계획 변경 </a:t>
            </a:r>
            <a:r>
              <a:rPr lang="en-US" altLang="ko-KR"/>
              <a:t>(</a:t>
            </a:r>
            <a:r>
              <a:rPr lang="ko-KR" altLang="en-US"/>
              <a:t>案 </a:t>
            </a:r>
            <a:r>
              <a:rPr lang="en-US" altLang="ko-KR"/>
              <a:t>/ 2026-01-14) </a:t>
            </a:r>
          </a:p>
        </p:txBody>
      </p:sp>
      <p:sp>
        <p:nvSpPr>
          <p:cNvPr id="6" name="화살표: 오각형 5">
            <a:extLst>
              <a:ext uri="{FF2B5EF4-FFF2-40B4-BE49-F238E27FC236}">
                <a16:creationId xmlns:a16="http://schemas.microsoft.com/office/drawing/2014/main" id="{E2A62ED8-E51F-8973-9C76-FFDB0A1F9D06}"/>
              </a:ext>
            </a:extLst>
          </p:cNvPr>
          <p:cNvSpPr/>
          <p:nvPr/>
        </p:nvSpPr>
        <p:spPr>
          <a:xfrm>
            <a:off x="331786" y="1324764"/>
            <a:ext cx="11519999" cy="396000"/>
          </a:xfrm>
          <a:prstGeom prst="homePlate">
            <a:avLst>
              <a:gd name="adj" fmla="val 24901"/>
            </a:avLst>
          </a:prstGeom>
          <a:solidFill>
            <a:schemeClr val="accent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本 프로젝트 內 </a:t>
            </a:r>
            <a:r>
              <a:rPr lang="en-US" altLang="ko-KR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AI</a:t>
            </a:r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거버넌스 진행 계획</a:t>
            </a:r>
            <a:endParaRPr lang="ko-KR" altLang="en-US" sz="1400" b="1" baseline="30000">
              <a:ln>
                <a:solidFill>
                  <a:schemeClr val="bg1">
                    <a:alpha val="0"/>
                  </a:schemeClr>
                </a:solidFill>
              </a:ln>
              <a:latin typeface="+mn-ea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54BCC15F-0135-A725-6DF5-B23D76DE7472}"/>
              </a:ext>
            </a:extLst>
          </p:cNvPr>
          <p:cNvGrpSpPr/>
          <p:nvPr/>
        </p:nvGrpSpPr>
        <p:grpSpPr>
          <a:xfrm>
            <a:off x="9278131" y="1050448"/>
            <a:ext cx="2573654" cy="252000"/>
            <a:chOff x="7687725" y="1051677"/>
            <a:chExt cx="2573654" cy="25200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E0CDFBF-102E-BD55-B92C-05338D7F3F91}"/>
                </a:ext>
              </a:extLst>
            </p:cNvPr>
            <p:cNvSpPr txBox="1"/>
            <p:nvPr/>
          </p:nvSpPr>
          <p:spPr>
            <a:xfrm>
              <a:off x="7867725" y="1051677"/>
              <a:ext cx="2393654" cy="252000"/>
            </a:xfrm>
            <a:prstGeom prst="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txBody>
            <a:bodyPr wrap="square" lIns="0" rtlCol="0" anchor="ctr">
              <a:noAutofit/>
            </a:bodyPr>
            <a:lstStyle/>
            <a:p>
              <a:pPr algn="r"/>
              <a:r>
                <a:rPr lang="en-US" altLang="ko-KR" sz="800">
                  <a:latin typeface="+mn-ea"/>
                </a:rPr>
                <a:t> : </a:t>
              </a:r>
              <a:r>
                <a:rPr lang="ko-KR" altLang="en-US" sz="800">
                  <a:latin typeface="+mn-ea"/>
                </a:rPr>
                <a:t>신규 </a:t>
              </a:r>
              <a:r>
                <a:rPr lang="en-US" altLang="ko-KR" sz="800">
                  <a:latin typeface="+mn-ea"/>
                </a:rPr>
                <a:t>Task</a:t>
              </a:r>
              <a:endParaRPr lang="ko-KR" altLang="en-US" sz="800">
                <a:latin typeface="+mn-ea"/>
              </a:endParaRPr>
            </a:p>
          </p:txBody>
        </p:sp>
        <p:sp>
          <p:nvSpPr>
            <p:cNvPr id="9" name="Rectangle: Rounded Corners 54">
              <a:extLst>
                <a:ext uri="{FF2B5EF4-FFF2-40B4-BE49-F238E27FC236}">
                  <a16:creationId xmlns:a16="http://schemas.microsoft.com/office/drawing/2014/main" id="{194ECFD5-51E3-0C38-7AC0-6660B53A3067}"/>
                </a:ext>
              </a:extLst>
            </p:cNvPr>
            <p:cNvSpPr/>
            <p:nvPr/>
          </p:nvSpPr>
          <p:spPr>
            <a:xfrm>
              <a:off x="8779465" y="1105677"/>
              <a:ext cx="648000" cy="144000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bg1"/>
              </a:solidFill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en-US" altLang="ko-KR" sz="700" spc="-7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+mn-ea"/>
                </a:rPr>
                <a:t>To-Be WBS (</a:t>
              </a:r>
              <a:r>
                <a:rPr lang="ko-KR" altLang="en-US" sz="700" spc="-7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+mn-ea"/>
                </a:rPr>
                <a:t>안</a:t>
              </a:r>
              <a:r>
                <a:rPr lang="en-US" altLang="ko-KR" sz="700" spc="-7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latin typeface="+mn-ea"/>
                </a:rPr>
                <a:t>)</a:t>
              </a:r>
              <a:endParaRPr lang="ko-KR" altLang="en-US" sz="700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endParaRPr>
            </a:p>
          </p:txBody>
        </p:sp>
        <p:sp>
          <p:nvSpPr>
            <p:cNvPr id="10" name="Freeform 1754">
              <a:extLst>
                <a:ext uri="{FF2B5EF4-FFF2-40B4-BE49-F238E27FC236}">
                  <a16:creationId xmlns:a16="http://schemas.microsoft.com/office/drawing/2014/main" id="{A402E5AE-EB1E-7A60-1064-E1E444605090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9515379" y="1084903"/>
              <a:ext cx="216000" cy="185549"/>
            </a:xfrm>
            <a:custGeom>
              <a:avLst/>
              <a:gdLst>
                <a:gd name="T0" fmla="*/ 2147483646 w 4916"/>
                <a:gd name="T1" fmla="*/ 2147483646 h 3388"/>
                <a:gd name="T2" fmla="*/ 2147483646 w 4916"/>
                <a:gd name="T3" fmla="*/ 2147483646 h 3388"/>
                <a:gd name="T4" fmla="*/ 2147483646 w 4916"/>
                <a:gd name="T5" fmla="*/ 2147483646 h 3388"/>
                <a:gd name="T6" fmla="*/ 2147483646 w 4916"/>
                <a:gd name="T7" fmla="*/ 2147483646 h 3388"/>
                <a:gd name="T8" fmla="*/ 2147483646 w 4916"/>
                <a:gd name="T9" fmla="*/ 2147483646 h 3388"/>
                <a:gd name="T10" fmla="*/ 2147483646 w 4916"/>
                <a:gd name="T11" fmla="*/ 2147483646 h 3388"/>
                <a:gd name="T12" fmla="*/ 2147483646 w 4916"/>
                <a:gd name="T13" fmla="*/ 2147483646 h 3388"/>
                <a:gd name="T14" fmla="*/ 2147483646 w 4916"/>
                <a:gd name="T15" fmla="*/ 2147483646 h 3388"/>
                <a:gd name="T16" fmla="*/ 2147483646 w 4916"/>
                <a:gd name="T17" fmla="*/ 2147483646 h 3388"/>
                <a:gd name="T18" fmla="*/ 2147483646 w 4916"/>
                <a:gd name="T19" fmla="*/ 2147483646 h 3388"/>
                <a:gd name="T20" fmla="*/ 2147483646 w 4916"/>
                <a:gd name="T21" fmla="*/ 2147483646 h 3388"/>
                <a:gd name="T22" fmla="*/ 2147483646 w 4916"/>
                <a:gd name="T23" fmla="*/ 2147483646 h 3388"/>
                <a:gd name="T24" fmla="*/ 2147483646 w 4916"/>
                <a:gd name="T25" fmla="*/ 2147483646 h 3388"/>
                <a:gd name="T26" fmla="*/ 2147483646 w 4916"/>
                <a:gd name="T27" fmla="*/ 2147483646 h 3388"/>
                <a:gd name="T28" fmla="*/ 2147483646 w 4916"/>
                <a:gd name="T29" fmla="*/ 2147483646 h 3388"/>
                <a:gd name="T30" fmla="*/ 2147483646 w 4916"/>
                <a:gd name="T31" fmla="*/ 2147483646 h 3388"/>
                <a:gd name="T32" fmla="*/ 2147483646 w 4916"/>
                <a:gd name="T33" fmla="*/ 2147483646 h 3388"/>
                <a:gd name="T34" fmla="*/ 2147483646 w 4916"/>
                <a:gd name="T35" fmla="*/ 2147483646 h 3388"/>
                <a:gd name="T36" fmla="*/ 2147483646 w 4916"/>
                <a:gd name="T37" fmla="*/ 2147483646 h 3388"/>
                <a:gd name="T38" fmla="*/ 2147483646 w 4916"/>
                <a:gd name="T39" fmla="*/ 2147483646 h 3388"/>
                <a:gd name="T40" fmla="*/ 2147483646 w 4916"/>
                <a:gd name="T41" fmla="*/ 2147483646 h 3388"/>
                <a:gd name="T42" fmla="*/ 2147483646 w 4916"/>
                <a:gd name="T43" fmla="*/ 2147483646 h 3388"/>
                <a:gd name="T44" fmla="*/ 2147483646 w 4916"/>
                <a:gd name="T45" fmla="*/ 2147483646 h 3388"/>
                <a:gd name="T46" fmla="*/ 2147483646 w 4916"/>
                <a:gd name="T47" fmla="*/ 2147483646 h 3388"/>
                <a:gd name="T48" fmla="*/ 2147483646 w 4916"/>
                <a:gd name="T49" fmla="*/ 2147483646 h 3388"/>
                <a:gd name="T50" fmla="*/ 2147483646 w 4916"/>
                <a:gd name="T51" fmla="*/ 2147483646 h 3388"/>
                <a:gd name="T52" fmla="*/ 2147483646 w 4916"/>
                <a:gd name="T53" fmla="*/ 2147483646 h 3388"/>
                <a:gd name="T54" fmla="*/ 2147483646 w 4916"/>
                <a:gd name="T55" fmla="*/ 2147483646 h 3388"/>
                <a:gd name="T56" fmla="*/ 2147483646 w 4916"/>
                <a:gd name="T57" fmla="*/ 2147483646 h 3388"/>
                <a:gd name="T58" fmla="*/ 2147483646 w 4916"/>
                <a:gd name="T59" fmla="*/ 2147483646 h 3388"/>
                <a:gd name="T60" fmla="*/ 2147483646 w 4916"/>
                <a:gd name="T61" fmla="*/ 2147483646 h 3388"/>
                <a:gd name="T62" fmla="*/ 2147483646 w 4916"/>
                <a:gd name="T63" fmla="*/ 2147483646 h 3388"/>
                <a:gd name="T64" fmla="*/ 2147483646 w 4916"/>
                <a:gd name="T65" fmla="*/ 2147483646 h 3388"/>
                <a:gd name="T66" fmla="*/ 2147483646 w 4916"/>
                <a:gd name="T67" fmla="*/ 2147483646 h 3388"/>
                <a:gd name="T68" fmla="*/ 2147483646 w 4916"/>
                <a:gd name="T69" fmla="*/ 2147483646 h 3388"/>
                <a:gd name="T70" fmla="*/ 2147483646 w 4916"/>
                <a:gd name="T71" fmla="*/ 2147483646 h 3388"/>
                <a:gd name="T72" fmla="*/ 2147483646 w 4916"/>
                <a:gd name="T73" fmla="*/ 2147483646 h 3388"/>
                <a:gd name="T74" fmla="*/ 2147483646 w 4916"/>
                <a:gd name="T75" fmla="*/ 2147483646 h 3388"/>
                <a:gd name="T76" fmla="*/ 2147483646 w 4916"/>
                <a:gd name="T77" fmla="*/ 2147483646 h 3388"/>
                <a:gd name="T78" fmla="*/ 2147483646 w 4916"/>
                <a:gd name="T79" fmla="*/ 2147483646 h 3388"/>
                <a:gd name="T80" fmla="*/ 2147483646 w 4916"/>
                <a:gd name="T81" fmla="*/ 2147483646 h 3388"/>
                <a:gd name="T82" fmla="*/ 2147483646 w 4916"/>
                <a:gd name="T83" fmla="*/ 2147483646 h 3388"/>
                <a:gd name="T84" fmla="*/ 2147483646 w 4916"/>
                <a:gd name="T85" fmla="*/ 2147483646 h 3388"/>
                <a:gd name="T86" fmla="*/ 2147483646 w 4916"/>
                <a:gd name="T87" fmla="*/ 2147483646 h 3388"/>
                <a:gd name="T88" fmla="*/ 2147483646 w 4916"/>
                <a:gd name="T89" fmla="*/ 2147483646 h 3388"/>
                <a:gd name="T90" fmla="*/ 2147483646 w 4916"/>
                <a:gd name="T91" fmla="*/ 2147483646 h 3388"/>
                <a:gd name="T92" fmla="*/ 2147483646 w 4916"/>
                <a:gd name="T93" fmla="*/ 2147483646 h 3388"/>
                <a:gd name="T94" fmla="*/ 2147483646 w 4916"/>
                <a:gd name="T95" fmla="*/ 2147483646 h 3388"/>
                <a:gd name="T96" fmla="*/ 2147483646 w 4916"/>
                <a:gd name="T97" fmla="*/ 2147483646 h 3388"/>
                <a:gd name="T98" fmla="*/ 2147483646 w 4916"/>
                <a:gd name="T99" fmla="*/ 2147483646 h 3388"/>
                <a:gd name="T100" fmla="*/ 2147483646 w 4916"/>
                <a:gd name="T101" fmla="*/ 2147483646 h 3388"/>
                <a:gd name="T102" fmla="*/ 2147483646 w 4916"/>
                <a:gd name="T103" fmla="*/ 2147483646 h 3388"/>
                <a:gd name="T104" fmla="*/ 2147483646 w 4916"/>
                <a:gd name="T105" fmla="*/ 2147483646 h 3388"/>
                <a:gd name="T106" fmla="*/ 2147483646 w 4916"/>
                <a:gd name="T107" fmla="*/ 2147483646 h 3388"/>
                <a:gd name="T108" fmla="*/ 2147483646 w 4916"/>
                <a:gd name="T109" fmla="*/ 2147483646 h 3388"/>
                <a:gd name="T110" fmla="*/ 2147483646 w 4916"/>
                <a:gd name="T111" fmla="*/ 2147483646 h 3388"/>
                <a:gd name="T112" fmla="*/ 2147483646 w 4916"/>
                <a:gd name="T113" fmla="*/ 2147483646 h 3388"/>
                <a:gd name="T114" fmla="*/ 2147483646 w 4916"/>
                <a:gd name="T115" fmla="*/ 2147483646 h 3388"/>
                <a:gd name="T116" fmla="*/ 2147483646 w 4916"/>
                <a:gd name="T117" fmla="*/ 2147483646 h 3388"/>
                <a:gd name="T118" fmla="*/ 2147483646 w 4916"/>
                <a:gd name="T119" fmla="*/ 2147483646 h 3388"/>
                <a:gd name="T120" fmla="*/ 2147483646 w 4916"/>
                <a:gd name="T121" fmla="*/ 2147483646 h 3388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4916"/>
                <a:gd name="T184" fmla="*/ 0 h 3388"/>
                <a:gd name="T185" fmla="*/ 4916 w 4916"/>
                <a:gd name="T186" fmla="*/ 3388 h 3388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4916" h="3388">
                  <a:moveTo>
                    <a:pt x="0" y="1792"/>
                  </a:moveTo>
                  <a:lnTo>
                    <a:pt x="12" y="1808"/>
                  </a:lnTo>
                  <a:lnTo>
                    <a:pt x="25" y="1823"/>
                  </a:lnTo>
                  <a:lnTo>
                    <a:pt x="38" y="1838"/>
                  </a:lnTo>
                  <a:lnTo>
                    <a:pt x="53" y="1853"/>
                  </a:lnTo>
                  <a:lnTo>
                    <a:pt x="68" y="1867"/>
                  </a:lnTo>
                  <a:lnTo>
                    <a:pt x="83" y="1883"/>
                  </a:lnTo>
                  <a:lnTo>
                    <a:pt x="100" y="1897"/>
                  </a:lnTo>
                  <a:lnTo>
                    <a:pt x="116" y="1911"/>
                  </a:lnTo>
                  <a:lnTo>
                    <a:pt x="131" y="1927"/>
                  </a:lnTo>
                  <a:lnTo>
                    <a:pt x="148" y="1941"/>
                  </a:lnTo>
                  <a:lnTo>
                    <a:pt x="162" y="1955"/>
                  </a:lnTo>
                  <a:lnTo>
                    <a:pt x="178" y="1971"/>
                  </a:lnTo>
                  <a:lnTo>
                    <a:pt x="193" y="1985"/>
                  </a:lnTo>
                  <a:lnTo>
                    <a:pt x="206" y="2000"/>
                  </a:lnTo>
                  <a:lnTo>
                    <a:pt x="219" y="2014"/>
                  </a:lnTo>
                  <a:lnTo>
                    <a:pt x="231" y="2030"/>
                  </a:lnTo>
                  <a:lnTo>
                    <a:pt x="244" y="2058"/>
                  </a:lnTo>
                  <a:lnTo>
                    <a:pt x="261" y="2080"/>
                  </a:lnTo>
                  <a:lnTo>
                    <a:pt x="281" y="2098"/>
                  </a:lnTo>
                  <a:lnTo>
                    <a:pt x="301" y="2114"/>
                  </a:lnTo>
                  <a:lnTo>
                    <a:pt x="322" y="2129"/>
                  </a:lnTo>
                  <a:lnTo>
                    <a:pt x="342" y="2148"/>
                  </a:lnTo>
                  <a:lnTo>
                    <a:pt x="359" y="2169"/>
                  </a:lnTo>
                  <a:lnTo>
                    <a:pt x="375" y="2195"/>
                  </a:lnTo>
                  <a:lnTo>
                    <a:pt x="391" y="2223"/>
                  </a:lnTo>
                  <a:lnTo>
                    <a:pt x="415" y="2256"/>
                  </a:lnTo>
                  <a:lnTo>
                    <a:pt x="441" y="2294"/>
                  </a:lnTo>
                  <a:lnTo>
                    <a:pt x="471" y="2333"/>
                  </a:lnTo>
                  <a:lnTo>
                    <a:pt x="501" y="2373"/>
                  </a:lnTo>
                  <a:lnTo>
                    <a:pt x="527" y="2409"/>
                  </a:lnTo>
                  <a:lnTo>
                    <a:pt x="551" y="2442"/>
                  </a:lnTo>
                  <a:lnTo>
                    <a:pt x="569" y="2469"/>
                  </a:lnTo>
                  <a:lnTo>
                    <a:pt x="580" y="2492"/>
                  </a:lnTo>
                  <a:lnTo>
                    <a:pt x="597" y="2519"/>
                  </a:lnTo>
                  <a:lnTo>
                    <a:pt x="616" y="2552"/>
                  </a:lnTo>
                  <a:lnTo>
                    <a:pt x="638" y="2586"/>
                  </a:lnTo>
                  <a:lnTo>
                    <a:pt x="663" y="2626"/>
                  </a:lnTo>
                  <a:lnTo>
                    <a:pt x="689" y="2666"/>
                  </a:lnTo>
                  <a:lnTo>
                    <a:pt x="717" y="2708"/>
                  </a:lnTo>
                  <a:lnTo>
                    <a:pt x="747" y="2752"/>
                  </a:lnTo>
                  <a:lnTo>
                    <a:pt x="775" y="2794"/>
                  </a:lnTo>
                  <a:lnTo>
                    <a:pt x="803" y="2838"/>
                  </a:lnTo>
                  <a:lnTo>
                    <a:pt x="830" y="2878"/>
                  </a:lnTo>
                  <a:lnTo>
                    <a:pt x="855" y="2916"/>
                  </a:lnTo>
                  <a:lnTo>
                    <a:pt x="878" y="2952"/>
                  </a:lnTo>
                  <a:lnTo>
                    <a:pt x="897" y="2983"/>
                  </a:lnTo>
                  <a:lnTo>
                    <a:pt x="914" y="3011"/>
                  </a:lnTo>
                  <a:lnTo>
                    <a:pt x="926" y="3032"/>
                  </a:lnTo>
                  <a:lnTo>
                    <a:pt x="937" y="3034"/>
                  </a:lnTo>
                  <a:lnTo>
                    <a:pt x="946" y="3035"/>
                  </a:lnTo>
                  <a:lnTo>
                    <a:pt x="957" y="3037"/>
                  </a:lnTo>
                  <a:lnTo>
                    <a:pt x="966" y="3039"/>
                  </a:lnTo>
                  <a:lnTo>
                    <a:pt x="977" y="3039"/>
                  </a:lnTo>
                  <a:lnTo>
                    <a:pt x="987" y="3042"/>
                  </a:lnTo>
                  <a:lnTo>
                    <a:pt x="997" y="3043"/>
                  </a:lnTo>
                  <a:lnTo>
                    <a:pt x="1007" y="3045"/>
                  </a:lnTo>
                  <a:lnTo>
                    <a:pt x="1009" y="3055"/>
                  </a:lnTo>
                  <a:lnTo>
                    <a:pt x="1012" y="3064"/>
                  </a:lnTo>
                  <a:lnTo>
                    <a:pt x="1014" y="3073"/>
                  </a:lnTo>
                  <a:lnTo>
                    <a:pt x="1016" y="3083"/>
                  </a:lnTo>
                  <a:lnTo>
                    <a:pt x="1025" y="3083"/>
                  </a:lnTo>
                  <a:lnTo>
                    <a:pt x="1033" y="3085"/>
                  </a:lnTo>
                  <a:lnTo>
                    <a:pt x="1043" y="3086"/>
                  </a:lnTo>
                  <a:lnTo>
                    <a:pt x="1052" y="3087"/>
                  </a:lnTo>
                  <a:lnTo>
                    <a:pt x="1060" y="3090"/>
                  </a:lnTo>
                  <a:lnTo>
                    <a:pt x="1069" y="3091"/>
                  </a:lnTo>
                  <a:lnTo>
                    <a:pt x="1079" y="3092"/>
                  </a:lnTo>
                  <a:lnTo>
                    <a:pt x="1088" y="3093"/>
                  </a:lnTo>
                  <a:lnTo>
                    <a:pt x="1104" y="3103"/>
                  </a:lnTo>
                  <a:lnTo>
                    <a:pt x="1121" y="3113"/>
                  </a:lnTo>
                  <a:lnTo>
                    <a:pt x="1137" y="3121"/>
                  </a:lnTo>
                  <a:lnTo>
                    <a:pt x="1152" y="3130"/>
                  </a:lnTo>
                  <a:lnTo>
                    <a:pt x="1168" y="3139"/>
                  </a:lnTo>
                  <a:lnTo>
                    <a:pt x="1185" y="3147"/>
                  </a:lnTo>
                  <a:lnTo>
                    <a:pt x="1202" y="3156"/>
                  </a:lnTo>
                  <a:lnTo>
                    <a:pt x="1217" y="3165"/>
                  </a:lnTo>
                  <a:lnTo>
                    <a:pt x="1229" y="3166"/>
                  </a:lnTo>
                  <a:lnTo>
                    <a:pt x="1240" y="3167"/>
                  </a:lnTo>
                  <a:lnTo>
                    <a:pt x="1251" y="3169"/>
                  </a:lnTo>
                  <a:lnTo>
                    <a:pt x="1262" y="3170"/>
                  </a:lnTo>
                  <a:lnTo>
                    <a:pt x="1274" y="3170"/>
                  </a:lnTo>
                  <a:lnTo>
                    <a:pt x="1285" y="3171"/>
                  </a:lnTo>
                  <a:lnTo>
                    <a:pt x="1297" y="3172"/>
                  </a:lnTo>
                  <a:lnTo>
                    <a:pt x="1308" y="3172"/>
                  </a:lnTo>
                  <a:lnTo>
                    <a:pt x="1317" y="3183"/>
                  </a:lnTo>
                  <a:lnTo>
                    <a:pt x="1326" y="3195"/>
                  </a:lnTo>
                  <a:lnTo>
                    <a:pt x="1335" y="3206"/>
                  </a:lnTo>
                  <a:lnTo>
                    <a:pt x="1343" y="3215"/>
                  </a:lnTo>
                  <a:lnTo>
                    <a:pt x="1363" y="3217"/>
                  </a:lnTo>
                  <a:lnTo>
                    <a:pt x="1383" y="3219"/>
                  </a:lnTo>
                  <a:lnTo>
                    <a:pt x="1403" y="3221"/>
                  </a:lnTo>
                  <a:lnTo>
                    <a:pt x="1422" y="3221"/>
                  </a:lnTo>
                  <a:lnTo>
                    <a:pt x="1443" y="3223"/>
                  </a:lnTo>
                  <a:lnTo>
                    <a:pt x="1462" y="3223"/>
                  </a:lnTo>
                  <a:lnTo>
                    <a:pt x="1482" y="3224"/>
                  </a:lnTo>
                  <a:lnTo>
                    <a:pt x="1502" y="3225"/>
                  </a:lnTo>
                  <a:lnTo>
                    <a:pt x="1525" y="3238"/>
                  </a:lnTo>
                  <a:lnTo>
                    <a:pt x="1547" y="3251"/>
                  </a:lnTo>
                  <a:lnTo>
                    <a:pt x="1571" y="3264"/>
                  </a:lnTo>
                  <a:lnTo>
                    <a:pt x="1595" y="3278"/>
                  </a:lnTo>
                  <a:lnTo>
                    <a:pt x="1619" y="3293"/>
                  </a:lnTo>
                  <a:lnTo>
                    <a:pt x="1643" y="3306"/>
                  </a:lnTo>
                  <a:lnTo>
                    <a:pt x="1667" y="3319"/>
                  </a:lnTo>
                  <a:lnTo>
                    <a:pt x="1692" y="3332"/>
                  </a:lnTo>
                  <a:lnTo>
                    <a:pt x="1701" y="3332"/>
                  </a:lnTo>
                  <a:lnTo>
                    <a:pt x="1711" y="3332"/>
                  </a:lnTo>
                  <a:lnTo>
                    <a:pt x="1721" y="3332"/>
                  </a:lnTo>
                  <a:lnTo>
                    <a:pt x="1732" y="3332"/>
                  </a:lnTo>
                  <a:lnTo>
                    <a:pt x="1742" y="3332"/>
                  </a:lnTo>
                  <a:lnTo>
                    <a:pt x="1751" y="3332"/>
                  </a:lnTo>
                  <a:lnTo>
                    <a:pt x="1762" y="3332"/>
                  </a:lnTo>
                  <a:lnTo>
                    <a:pt x="1772" y="3332"/>
                  </a:lnTo>
                  <a:lnTo>
                    <a:pt x="1780" y="3340"/>
                  </a:lnTo>
                  <a:lnTo>
                    <a:pt x="1790" y="3346"/>
                  </a:lnTo>
                  <a:lnTo>
                    <a:pt x="1799" y="3352"/>
                  </a:lnTo>
                  <a:lnTo>
                    <a:pt x="1809" y="3358"/>
                  </a:lnTo>
                  <a:lnTo>
                    <a:pt x="1817" y="3364"/>
                  </a:lnTo>
                  <a:lnTo>
                    <a:pt x="1826" y="3368"/>
                  </a:lnTo>
                  <a:lnTo>
                    <a:pt x="1835" y="3373"/>
                  </a:lnTo>
                  <a:lnTo>
                    <a:pt x="1843" y="3378"/>
                  </a:lnTo>
                  <a:lnTo>
                    <a:pt x="1871" y="3385"/>
                  </a:lnTo>
                  <a:lnTo>
                    <a:pt x="1889" y="3388"/>
                  </a:lnTo>
                  <a:lnTo>
                    <a:pt x="1901" y="3384"/>
                  </a:lnTo>
                  <a:lnTo>
                    <a:pt x="1905" y="3377"/>
                  </a:lnTo>
                  <a:lnTo>
                    <a:pt x="1905" y="3368"/>
                  </a:lnTo>
                  <a:lnTo>
                    <a:pt x="1899" y="3355"/>
                  </a:lnTo>
                  <a:lnTo>
                    <a:pt x="1891" y="3341"/>
                  </a:lnTo>
                  <a:lnTo>
                    <a:pt x="1883" y="3327"/>
                  </a:lnTo>
                  <a:lnTo>
                    <a:pt x="1876" y="3312"/>
                  </a:lnTo>
                  <a:lnTo>
                    <a:pt x="1868" y="3298"/>
                  </a:lnTo>
                  <a:lnTo>
                    <a:pt x="1864" y="3286"/>
                  </a:lnTo>
                  <a:lnTo>
                    <a:pt x="1863" y="3275"/>
                  </a:lnTo>
                  <a:lnTo>
                    <a:pt x="1867" y="3268"/>
                  </a:lnTo>
                  <a:lnTo>
                    <a:pt x="1877" y="3264"/>
                  </a:lnTo>
                  <a:lnTo>
                    <a:pt x="1896" y="3266"/>
                  </a:lnTo>
                  <a:lnTo>
                    <a:pt x="1922" y="3273"/>
                  </a:lnTo>
                  <a:lnTo>
                    <a:pt x="1935" y="3251"/>
                  </a:lnTo>
                  <a:lnTo>
                    <a:pt x="1947" y="3231"/>
                  </a:lnTo>
                  <a:lnTo>
                    <a:pt x="1957" y="3213"/>
                  </a:lnTo>
                  <a:lnTo>
                    <a:pt x="1965" y="3194"/>
                  </a:lnTo>
                  <a:lnTo>
                    <a:pt x="1975" y="3176"/>
                  </a:lnTo>
                  <a:lnTo>
                    <a:pt x="1984" y="3154"/>
                  </a:lnTo>
                  <a:lnTo>
                    <a:pt x="1995" y="3134"/>
                  </a:lnTo>
                  <a:lnTo>
                    <a:pt x="2007" y="3111"/>
                  </a:lnTo>
                  <a:lnTo>
                    <a:pt x="2008" y="3098"/>
                  </a:lnTo>
                  <a:lnTo>
                    <a:pt x="2013" y="3083"/>
                  </a:lnTo>
                  <a:lnTo>
                    <a:pt x="2019" y="3067"/>
                  </a:lnTo>
                  <a:lnTo>
                    <a:pt x="2026" y="3049"/>
                  </a:lnTo>
                  <a:lnTo>
                    <a:pt x="2035" y="3030"/>
                  </a:lnTo>
                  <a:lnTo>
                    <a:pt x="2041" y="3013"/>
                  </a:lnTo>
                  <a:lnTo>
                    <a:pt x="2045" y="2998"/>
                  </a:lnTo>
                  <a:lnTo>
                    <a:pt x="2046" y="2985"/>
                  </a:lnTo>
                  <a:lnTo>
                    <a:pt x="2059" y="2966"/>
                  </a:lnTo>
                  <a:lnTo>
                    <a:pt x="2071" y="2946"/>
                  </a:lnTo>
                  <a:lnTo>
                    <a:pt x="2085" y="2927"/>
                  </a:lnTo>
                  <a:lnTo>
                    <a:pt x="2096" y="2908"/>
                  </a:lnTo>
                  <a:lnTo>
                    <a:pt x="2107" y="2890"/>
                  </a:lnTo>
                  <a:lnTo>
                    <a:pt x="2118" y="2872"/>
                  </a:lnTo>
                  <a:lnTo>
                    <a:pt x="2130" y="2854"/>
                  </a:lnTo>
                  <a:lnTo>
                    <a:pt x="2142" y="2835"/>
                  </a:lnTo>
                  <a:lnTo>
                    <a:pt x="2148" y="2782"/>
                  </a:lnTo>
                  <a:lnTo>
                    <a:pt x="2159" y="2741"/>
                  </a:lnTo>
                  <a:lnTo>
                    <a:pt x="2171" y="2700"/>
                  </a:lnTo>
                  <a:lnTo>
                    <a:pt x="2174" y="2648"/>
                  </a:lnTo>
                  <a:lnTo>
                    <a:pt x="2187" y="2640"/>
                  </a:lnTo>
                  <a:lnTo>
                    <a:pt x="2201" y="2628"/>
                  </a:lnTo>
                  <a:lnTo>
                    <a:pt x="2217" y="2616"/>
                  </a:lnTo>
                  <a:lnTo>
                    <a:pt x="2232" y="2603"/>
                  </a:lnTo>
                  <a:lnTo>
                    <a:pt x="2247" y="2589"/>
                  </a:lnTo>
                  <a:lnTo>
                    <a:pt x="2263" y="2576"/>
                  </a:lnTo>
                  <a:lnTo>
                    <a:pt x="2276" y="2565"/>
                  </a:lnTo>
                  <a:lnTo>
                    <a:pt x="2289" y="2556"/>
                  </a:lnTo>
                  <a:lnTo>
                    <a:pt x="2298" y="2505"/>
                  </a:lnTo>
                  <a:lnTo>
                    <a:pt x="2304" y="2464"/>
                  </a:lnTo>
                  <a:lnTo>
                    <a:pt x="2309" y="2424"/>
                  </a:lnTo>
                  <a:lnTo>
                    <a:pt x="2320" y="2370"/>
                  </a:lnTo>
                  <a:lnTo>
                    <a:pt x="2330" y="2360"/>
                  </a:lnTo>
                  <a:lnTo>
                    <a:pt x="2347" y="2349"/>
                  </a:lnTo>
                  <a:lnTo>
                    <a:pt x="2366" y="2336"/>
                  </a:lnTo>
                  <a:lnTo>
                    <a:pt x="2388" y="2322"/>
                  </a:lnTo>
                  <a:lnTo>
                    <a:pt x="2412" y="2307"/>
                  </a:lnTo>
                  <a:lnTo>
                    <a:pt x="2431" y="2294"/>
                  </a:lnTo>
                  <a:lnTo>
                    <a:pt x="2448" y="2284"/>
                  </a:lnTo>
                  <a:lnTo>
                    <a:pt x="2457" y="2274"/>
                  </a:lnTo>
                  <a:lnTo>
                    <a:pt x="2455" y="2260"/>
                  </a:lnTo>
                  <a:lnTo>
                    <a:pt x="2455" y="2246"/>
                  </a:lnTo>
                  <a:lnTo>
                    <a:pt x="2459" y="2234"/>
                  </a:lnTo>
                  <a:lnTo>
                    <a:pt x="2462" y="2221"/>
                  </a:lnTo>
                  <a:lnTo>
                    <a:pt x="2467" y="2208"/>
                  </a:lnTo>
                  <a:lnTo>
                    <a:pt x="2470" y="2195"/>
                  </a:lnTo>
                  <a:lnTo>
                    <a:pt x="2472" y="2180"/>
                  </a:lnTo>
                  <a:lnTo>
                    <a:pt x="2470" y="2167"/>
                  </a:lnTo>
                  <a:lnTo>
                    <a:pt x="2482" y="2165"/>
                  </a:lnTo>
                  <a:lnTo>
                    <a:pt x="2493" y="2161"/>
                  </a:lnTo>
                  <a:lnTo>
                    <a:pt x="2504" y="2158"/>
                  </a:lnTo>
                  <a:lnTo>
                    <a:pt x="2516" y="2154"/>
                  </a:lnTo>
                  <a:lnTo>
                    <a:pt x="2528" y="2150"/>
                  </a:lnTo>
                  <a:lnTo>
                    <a:pt x="2538" y="2147"/>
                  </a:lnTo>
                  <a:lnTo>
                    <a:pt x="2549" y="2141"/>
                  </a:lnTo>
                  <a:lnTo>
                    <a:pt x="2560" y="2138"/>
                  </a:lnTo>
                  <a:lnTo>
                    <a:pt x="2565" y="2118"/>
                  </a:lnTo>
                  <a:lnTo>
                    <a:pt x="2573" y="2099"/>
                  </a:lnTo>
                  <a:lnTo>
                    <a:pt x="2580" y="2080"/>
                  </a:lnTo>
                  <a:lnTo>
                    <a:pt x="2589" y="2059"/>
                  </a:lnTo>
                  <a:lnTo>
                    <a:pt x="2597" y="2063"/>
                  </a:lnTo>
                  <a:lnTo>
                    <a:pt x="2603" y="2065"/>
                  </a:lnTo>
                  <a:lnTo>
                    <a:pt x="2610" y="2068"/>
                  </a:lnTo>
                  <a:lnTo>
                    <a:pt x="2618" y="2070"/>
                  </a:lnTo>
                  <a:lnTo>
                    <a:pt x="2625" y="2073"/>
                  </a:lnTo>
                  <a:lnTo>
                    <a:pt x="2634" y="2075"/>
                  </a:lnTo>
                  <a:lnTo>
                    <a:pt x="2642" y="2078"/>
                  </a:lnTo>
                  <a:lnTo>
                    <a:pt x="2650" y="2080"/>
                  </a:lnTo>
                  <a:lnTo>
                    <a:pt x="2657" y="2063"/>
                  </a:lnTo>
                  <a:lnTo>
                    <a:pt x="2664" y="2046"/>
                  </a:lnTo>
                  <a:lnTo>
                    <a:pt x="2668" y="2028"/>
                  </a:lnTo>
                  <a:lnTo>
                    <a:pt x="2673" y="2012"/>
                  </a:lnTo>
                  <a:lnTo>
                    <a:pt x="2678" y="2007"/>
                  </a:lnTo>
                  <a:lnTo>
                    <a:pt x="2683" y="2002"/>
                  </a:lnTo>
                  <a:lnTo>
                    <a:pt x="2689" y="1998"/>
                  </a:lnTo>
                  <a:lnTo>
                    <a:pt x="2694" y="1991"/>
                  </a:lnTo>
                  <a:lnTo>
                    <a:pt x="2700" y="1987"/>
                  </a:lnTo>
                  <a:lnTo>
                    <a:pt x="2705" y="1982"/>
                  </a:lnTo>
                  <a:lnTo>
                    <a:pt x="2712" y="1976"/>
                  </a:lnTo>
                  <a:lnTo>
                    <a:pt x="2716" y="1971"/>
                  </a:lnTo>
                  <a:lnTo>
                    <a:pt x="2726" y="1955"/>
                  </a:lnTo>
                  <a:lnTo>
                    <a:pt x="2736" y="1940"/>
                  </a:lnTo>
                  <a:lnTo>
                    <a:pt x="2747" y="1924"/>
                  </a:lnTo>
                  <a:lnTo>
                    <a:pt x="2760" y="1908"/>
                  </a:lnTo>
                  <a:lnTo>
                    <a:pt x="2771" y="1892"/>
                  </a:lnTo>
                  <a:lnTo>
                    <a:pt x="2783" y="1877"/>
                  </a:lnTo>
                  <a:lnTo>
                    <a:pt x="2798" y="1860"/>
                  </a:lnTo>
                  <a:lnTo>
                    <a:pt x="2811" y="1844"/>
                  </a:lnTo>
                  <a:lnTo>
                    <a:pt x="2834" y="1825"/>
                  </a:lnTo>
                  <a:lnTo>
                    <a:pt x="2859" y="1804"/>
                  </a:lnTo>
                  <a:lnTo>
                    <a:pt x="2882" y="1783"/>
                  </a:lnTo>
                  <a:lnTo>
                    <a:pt x="2906" y="1764"/>
                  </a:lnTo>
                  <a:lnTo>
                    <a:pt x="2929" y="1743"/>
                  </a:lnTo>
                  <a:lnTo>
                    <a:pt x="2953" y="1722"/>
                  </a:lnTo>
                  <a:lnTo>
                    <a:pt x="2974" y="1700"/>
                  </a:lnTo>
                  <a:lnTo>
                    <a:pt x="2998" y="1678"/>
                  </a:lnTo>
                  <a:lnTo>
                    <a:pt x="3019" y="1656"/>
                  </a:lnTo>
                  <a:lnTo>
                    <a:pt x="3043" y="1635"/>
                  </a:lnTo>
                  <a:lnTo>
                    <a:pt x="3067" y="1612"/>
                  </a:lnTo>
                  <a:lnTo>
                    <a:pt x="3089" y="1589"/>
                  </a:lnTo>
                  <a:lnTo>
                    <a:pt x="3112" y="1565"/>
                  </a:lnTo>
                  <a:lnTo>
                    <a:pt x="3135" y="1542"/>
                  </a:lnTo>
                  <a:lnTo>
                    <a:pt x="3160" y="1520"/>
                  </a:lnTo>
                  <a:lnTo>
                    <a:pt x="3183" y="1496"/>
                  </a:lnTo>
                  <a:lnTo>
                    <a:pt x="3208" y="1471"/>
                  </a:lnTo>
                  <a:lnTo>
                    <a:pt x="3233" y="1448"/>
                  </a:lnTo>
                  <a:lnTo>
                    <a:pt x="3259" y="1424"/>
                  </a:lnTo>
                  <a:lnTo>
                    <a:pt x="3284" y="1400"/>
                  </a:lnTo>
                  <a:lnTo>
                    <a:pt x="3311" y="1375"/>
                  </a:lnTo>
                  <a:lnTo>
                    <a:pt x="3339" y="1350"/>
                  </a:lnTo>
                  <a:lnTo>
                    <a:pt x="3368" y="1326"/>
                  </a:lnTo>
                  <a:lnTo>
                    <a:pt x="3397" y="1302"/>
                  </a:lnTo>
                  <a:lnTo>
                    <a:pt x="3428" y="1277"/>
                  </a:lnTo>
                  <a:lnTo>
                    <a:pt x="3458" y="1252"/>
                  </a:lnTo>
                  <a:lnTo>
                    <a:pt x="3489" y="1227"/>
                  </a:lnTo>
                  <a:lnTo>
                    <a:pt x="3523" y="1201"/>
                  </a:lnTo>
                  <a:lnTo>
                    <a:pt x="3556" y="1178"/>
                  </a:lnTo>
                  <a:lnTo>
                    <a:pt x="3591" y="1152"/>
                  </a:lnTo>
                  <a:lnTo>
                    <a:pt x="3628" y="1127"/>
                  </a:lnTo>
                  <a:lnTo>
                    <a:pt x="3666" y="1102"/>
                  </a:lnTo>
                  <a:lnTo>
                    <a:pt x="3682" y="1091"/>
                  </a:lnTo>
                  <a:lnTo>
                    <a:pt x="3700" y="1080"/>
                  </a:lnTo>
                  <a:lnTo>
                    <a:pt x="3717" y="1070"/>
                  </a:lnTo>
                  <a:lnTo>
                    <a:pt x="3733" y="1059"/>
                  </a:lnTo>
                  <a:lnTo>
                    <a:pt x="3751" y="1050"/>
                  </a:lnTo>
                  <a:lnTo>
                    <a:pt x="3768" y="1039"/>
                  </a:lnTo>
                  <a:lnTo>
                    <a:pt x="3785" y="1029"/>
                  </a:lnTo>
                  <a:lnTo>
                    <a:pt x="3805" y="1020"/>
                  </a:lnTo>
                  <a:lnTo>
                    <a:pt x="3814" y="1013"/>
                  </a:lnTo>
                  <a:lnTo>
                    <a:pt x="3825" y="1009"/>
                  </a:lnTo>
                  <a:lnTo>
                    <a:pt x="3836" y="1004"/>
                  </a:lnTo>
                  <a:lnTo>
                    <a:pt x="3846" y="1000"/>
                  </a:lnTo>
                  <a:lnTo>
                    <a:pt x="3856" y="994"/>
                  </a:lnTo>
                  <a:lnTo>
                    <a:pt x="3866" y="990"/>
                  </a:lnTo>
                  <a:lnTo>
                    <a:pt x="3876" y="983"/>
                  </a:lnTo>
                  <a:lnTo>
                    <a:pt x="3888" y="978"/>
                  </a:lnTo>
                  <a:lnTo>
                    <a:pt x="3906" y="967"/>
                  </a:lnTo>
                  <a:lnTo>
                    <a:pt x="3925" y="956"/>
                  </a:lnTo>
                  <a:lnTo>
                    <a:pt x="3943" y="946"/>
                  </a:lnTo>
                  <a:lnTo>
                    <a:pt x="3961" y="933"/>
                  </a:lnTo>
                  <a:lnTo>
                    <a:pt x="3980" y="923"/>
                  </a:lnTo>
                  <a:lnTo>
                    <a:pt x="3998" y="910"/>
                  </a:lnTo>
                  <a:lnTo>
                    <a:pt x="4017" y="899"/>
                  </a:lnTo>
                  <a:lnTo>
                    <a:pt x="4035" y="887"/>
                  </a:lnTo>
                  <a:lnTo>
                    <a:pt x="4047" y="879"/>
                  </a:lnTo>
                  <a:lnTo>
                    <a:pt x="4060" y="869"/>
                  </a:lnTo>
                  <a:lnTo>
                    <a:pt x="4071" y="860"/>
                  </a:lnTo>
                  <a:lnTo>
                    <a:pt x="4085" y="851"/>
                  </a:lnTo>
                  <a:lnTo>
                    <a:pt x="4097" y="842"/>
                  </a:lnTo>
                  <a:lnTo>
                    <a:pt x="4111" y="833"/>
                  </a:lnTo>
                  <a:lnTo>
                    <a:pt x="4123" y="825"/>
                  </a:lnTo>
                  <a:lnTo>
                    <a:pt x="4136" y="815"/>
                  </a:lnTo>
                  <a:lnTo>
                    <a:pt x="4141" y="803"/>
                  </a:lnTo>
                  <a:lnTo>
                    <a:pt x="4146" y="792"/>
                  </a:lnTo>
                  <a:lnTo>
                    <a:pt x="4152" y="781"/>
                  </a:lnTo>
                  <a:lnTo>
                    <a:pt x="4156" y="772"/>
                  </a:lnTo>
                  <a:lnTo>
                    <a:pt x="4165" y="764"/>
                  </a:lnTo>
                  <a:lnTo>
                    <a:pt x="4172" y="759"/>
                  </a:lnTo>
                  <a:lnTo>
                    <a:pt x="4180" y="751"/>
                  </a:lnTo>
                  <a:lnTo>
                    <a:pt x="4189" y="745"/>
                  </a:lnTo>
                  <a:lnTo>
                    <a:pt x="4198" y="738"/>
                  </a:lnTo>
                  <a:lnTo>
                    <a:pt x="4207" y="732"/>
                  </a:lnTo>
                  <a:lnTo>
                    <a:pt x="4215" y="725"/>
                  </a:lnTo>
                  <a:lnTo>
                    <a:pt x="4224" y="719"/>
                  </a:lnTo>
                  <a:lnTo>
                    <a:pt x="4227" y="725"/>
                  </a:lnTo>
                  <a:lnTo>
                    <a:pt x="4230" y="731"/>
                  </a:lnTo>
                  <a:lnTo>
                    <a:pt x="4233" y="737"/>
                  </a:lnTo>
                  <a:lnTo>
                    <a:pt x="4235" y="743"/>
                  </a:lnTo>
                  <a:lnTo>
                    <a:pt x="4249" y="734"/>
                  </a:lnTo>
                  <a:lnTo>
                    <a:pt x="4261" y="728"/>
                  </a:lnTo>
                  <a:lnTo>
                    <a:pt x="4275" y="719"/>
                  </a:lnTo>
                  <a:lnTo>
                    <a:pt x="4289" y="711"/>
                  </a:lnTo>
                  <a:lnTo>
                    <a:pt x="4302" y="704"/>
                  </a:lnTo>
                  <a:lnTo>
                    <a:pt x="4316" y="695"/>
                  </a:lnTo>
                  <a:lnTo>
                    <a:pt x="4330" y="688"/>
                  </a:lnTo>
                  <a:lnTo>
                    <a:pt x="4341" y="681"/>
                  </a:lnTo>
                  <a:lnTo>
                    <a:pt x="4351" y="666"/>
                  </a:lnTo>
                  <a:lnTo>
                    <a:pt x="4360" y="649"/>
                  </a:lnTo>
                  <a:lnTo>
                    <a:pt x="4369" y="633"/>
                  </a:lnTo>
                  <a:lnTo>
                    <a:pt x="4378" y="619"/>
                  </a:lnTo>
                  <a:lnTo>
                    <a:pt x="4389" y="609"/>
                  </a:lnTo>
                  <a:lnTo>
                    <a:pt x="4401" y="600"/>
                  </a:lnTo>
                  <a:lnTo>
                    <a:pt x="4413" y="592"/>
                  </a:lnTo>
                  <a:lnTo>
                    <a:pt x="4426" y="584"/>
                  </a:lnTo>
                  <a:lnTo>
                    <a:pt x="4437" y="576"/>
                  </a:lnTo>
                  <a:lnTo>
                    <a:pt x="4449" y="567"/>
                  </a:lnTo>
                  <a:lnTo>
                    <a:pt x="4459" y="556"/>
                  </a:lnTo>
                  <a:lnTo>
                    <a:pt x="4470" y="548"/>
                  </a:lnTo>
                  <a:lnTo>
                    <a:pt x="4475" y="534"/>
                  </a:lnTo>
                  <a:lnTo>
                    <a:pt x="4479" y="519"/>
                  </a:lnTo>
                  <a:lnTo>
                    <a:pt x="4483" y="505"/>
                  </a:lnTo>
                  <a:lnTo>
                    <a:pt x="4490" y="489"/>
                  </a:lnTo>
                  <a:lnTo>
                    <a:pt x="4500" y="481"/>
                  </a:lnTo>
                  <a:lnTo>
                    <a:pt x="4514" y="473"/>
                  </a:lnTo>
                  <a:lnTo>
                    <a:pt x="4525" y="466"/>
                  </a:lnTo>
                  <a:lnTo>
                    <a:pt x="4537" y="457"/>
                  </a:lnTo>
                  <a:lnTo>
                    <a:pt x="4548" y="448"/>
                  </a:lnTo>
                  <a:lnTo>
                    <a:pt x="4561" y="439"/>
                  </a:lnTo>
                  <a:lnTo>
                    <a:pt x="4571" y="432"/>
                  </a:lnTo>
                  <a:lnTo>
                    <a:pt x="4581" y="424"/>
                  </a:lnTo>
                  <a:lnTo>
                    <a:pt x="4595" y="420"/>
                  </a:lnTo>
                  <a:lnTo>
                    <a:pt x="4609" y="416"/>
                  </a:lnTo>
                  <a:lnTo>
                    <a:pt x="4622" y="412"/>
                  </a:lnTo>
                  <a:lnTo>
                    <a:pt x="4634" y="408"/>
                  </a:lnTo>
                  <a:lnTo>
                    <a:pt x="4648" y="403"/>
                  </a:lnTo>
                  <a:lnTo>
                    <a:pt x="4660" y="400"/>
                  </a:lnTo>
                  <a:lnTo>
                    <a:pt x="4672" y="395"/>
                  </a:lnTo>
                  <a:lnTo>
                    <a:pt x="4685" y="392"/>
                  </a:lnTo>
                  <a:lnTo>
                    <a:pt x="4692" y="384"/>
                  </a:lnTo>
                  <a:lnTo>
                    <a:pt x="4698" y="375"/>
                  </a:lnTo>
                  <a:lnTo>
                    <a:pt x="4704" y="368"/>
                  </a:lnTo>
                  <a:lnTo>
                    <a:pt x="4710" y="359"/>
                  </a:lnTo>
                  <a:lnTo>
                    <a:pt x="4716" y="351"/>
                  </a:lnTo>
                  <a:lnTo>
                    <a:pt x="4722" y="342"/>
                  </a:lnTo>
                  <a:lnTo>
                    <a:pt x="4728" y="333"/>
                  </a:lnTo>
                  <a:lnTo>
                    <a:pt x="4735" y="324"/>
                  </a:lnTo>
                  <a:lnTo>
                    <a:pt x="4745" y="318"/>
                  </a:lnTo>
                  <a:lnTo>
                    <a:pt x="4755" y="311"/>
                  </a:lnTo>
                  <a:lnTo>
                    <a:pt x="4764" y="305"/>
                  </a:lnTo>
                  <a:lnTo>
                    <a:pt x="4773" y="298"/>
                  </a:lnTo>
                  <a:lnTo>
                    <a:pt x="4784" y="291"/>
                  </a:lnTo>
                  <a:lnTo>
                    <a:pt x="4793" y="284"/>
                  </a:lnTo>
                  <a:lnTo>
                    <a:pt x="4802" y="277"/>
                  </a:lnTo>
                  <a:lnTo>
                    <a:pt x="4810" y="269"/>
                  </a:lnTo>
                  <a:lnTo>
                    <a:pt x="4816" y="274"/>
                  </a:lnTo>
                  <a:lnTo>
                    <a:pt x="4824" y="279"/>
                  </a:lnTo>
                  <a:lnTo>
                    <a:pt x="4831" y="285"/>
                  </a:lnTo>
                  <a:lnTo>
                    <a:pt x="4835" y="290"/>
                  </a:lnTo>
                  <a:lnTo>
                    <a:pt x="4845" y="282"/>
                  </a:lnTo>
                  <a:lnTo>
                    <a:pt x="4856" y="274"/>
                  </a:lnTo>
                  <a:lnTo>
                    <a:pt x="4865" y="266"/>
                  </a:lnTo>
                  <a:lnTo>
                    <a:pt x="4876" y="258"/>
                  </a:lnTo>
                  <a:lnTo>
                    <a:pt x="4885" y="248"/>
                  </a:lnTo>
                  <a:lnTo>
                    <a:pt x="4895" y="239"/>
                  </a:lnTo>
                  <a:lnTo>
                    <a:pt x="4906" y="231"/>
                  </a:lnTo>
                  <a:lnTo>
                    <a:pt x="4916" y="222"/>
                  </a:lnTo>
                  <a:lnTo>
                    <a:pt x="4904" y="228"/>
                  </a:lnTo>
                  <a:lnTo>
                    <a:pt x="4893" y="234"/>
                  </a:lnTo>
                  <a:lnTo>
                    <a:pt x="4881" y="241"/>
                  </a:lnTo>
                  <a:lnTo>
                    <a:pt x="4867" y="245"/>
                  </a:lnTo>
                  <a:lnTo>
                    <a:pt x="4856" y="251"/>
                  </a:lnTo>
                  <a:lnTo>
                    <a:pt x="4845" y="256"/>
                  </a:lnTo>
                  <a:lnTo>
                    <a:pt x="4833" y="261"/>
                  </a:lnTo>
                  <a:lnTo>
                    <a:pt x="4821" y="266"/>
                  </a:lnTo>
                  <a:lnTo>
                    <a:pt x="4832" y="241"/>
                  </a:lnTo>
                  <a:lnTo>
                    <a:pt x="4841" y="218"/>
                  </a:lnTo>
                  <a:lnTo>
                    <a:pt x="4847" y="194"/>
                  </a:lnTo>
                  <a:lnTo>
                    <a:pt x="4852" y="171"/>
                  </a:lnTo>
                  <a:lnTo>
                    <a:pt x="4844" y="178"/>
                  </a:lnTo>
                  <a:lnTo>
                    <a:pt x="4835" y="187"/>
                  </a:lnTo>
                  <a:lnTo>
                    <a:pt x="4826" y="195"/>
                  </a:lnTo>
                  <a:lnTo>
                    <a:pt x="4815" y="203"/>
                  </a:lnTo>
                  <a:lnTo>
                    <a:pt x="4806" y="211"/>
                  </a:lnTo>
                  <a:lnTo>
                    <a:pt x="4796" y="219"/>
                  </a:lnTo>
                  <a:lnTo>
                    <a:pt x="4785" y="228"/>
                  </a:lnTo>
                  <a:lnTo>
                    <a:pt x="4775" y="237"/>
                  </a:lnTo>
                  <a:lnTo>
                    <a:pt x="4768" y="247"/>
                  </a:lnTo>
                  <a:lnTo>
                    <a:pt x="4759" y="256"/>
                  </a:lnTo>
                  <a:lnTo>
                    <a:pt x="4752" y="266"/>
                  </a:lnTo>
                  <a:lnTo>
                    <a:pt x="4745" y="277"/>
                  </a:lnTo>
                  <a:lnTo>
                    <a:pt x="4738" y="288"/>
                  </a:lnTo>
                  <a:lnTo>
                    <a:pt x="4729" y="298"/>
                  </a:lnTo>
                  <a:lnTo>
                    <a:pt x="4722" y="309"/>
                  </a:lnTo>
                  <a:lnTo>
                    <a:pt x="4715" y="320"/>
                  </a:lnTo>
                  <a:lnTo>
                    <a:pt x="4708" y="324"/>
                  </a:lnTo>
                  <a:lnTo>
                    <a:pt x="4701" y="329"/>
                  </a:lnTo>
                  <a:lnTo>
                    <a:pt x="4694" y="335"/>
                  </a:lnTo>
                  <a:lnTo>
                    <a:pt x="4687" y="341"/>
                  </a:lnTo>
                  <a:lnTo>
                    <a:pt x="4679" y="346"/>
                  </a:lnTo>
                  <a:lnTo>
                    <a:pt x="4673" y="351"/>
                  </a:lnTo>
                  <a:lnTo>
                    <a:pt x="4667" y="355"/>
                  </a:lnTo>
                  <a:lnTo>
                    <a:pt x="4660" y="360"/>
                  </a:lnTo>
                  <a:lnTo>
                    <a:pt x="4655" y="359"/>
                  </a:lnTo>
                  <a:lnTo>
                    <a:pt x="4650" y="358"/>
                  </a:lnTo>
                  <a:lnTo>
                    <a:pt x="4646" y="355"/>
                  </a:lnTo>
                  <a:lnTo>
                    <a:pt x="4641" y="354"/>
                  </a:lnTo>
                  <a:lnTo>
                    <a:pt x="4636" y="353"/>
                  </a:lnTo>
                  <a:lnTo>
                    <a:pt x="4632" y="351"/>
                  </a:lnTo>
                  <a:lnTo>
                    <a:pt x="4626" y="349"/>
                  </a:lnTo>
                  <a:lnTo>
                    <a:pt x="4622" y="349"/>
                  </a:lnTo>
                  <a:lnTo>
                    <a:pt x="4600" y="366"/>
                  </a:lnTo>
                  <a:lnTo>
                    <a:pt x="4579" y="384"/>
                  </a:lnTo>
                  <a:lnTo>
                    <a:pt x="4558" y="402"/>
                  </a:lnTo>
                  <a:lnTo>
                    <a:pt x="4536" y="420"/>
                  </a:lnTo>
                  <a:lnTo>
                    <a:pt x="4514" y="438"/>
                  </a:lnTo>
                  <a:lnTo>
                    <a:pt x="4490" y="457"/>
                  </a:lnTo>
                  <a:lnTo>
                    <a:pt x="4469" y="476"/>
                  </a:lnTo>
                  <a:lnTo>
                    <a:pt x="4445" y="494"/>
                  </a:lnTo>
                  <a:lnTo>
                    <a:pt x="4435" y="499"/>
                  </a:lnTo>
                  <a:lnTo>
                    <a:pt x="4426" y="505"/>
                  </a:lnTo>
                  <a:lnTo>
                    <a:pt x="4415" y="509"/>
                  </a:lnTo>
                  <a:lnTo>
                    <a:pt x="4406" y="515"/>
                  </a:lnTo>
                  <a:lnTo>
                    <a:pt x="4396" y="519"/>
                  </a:lnTo>
                  <a:lnTo>
                    <a:pt x="4388" y="524"/>
                  </a:lnTo>
                  <a:lnTo>
                    <a:pt x="4378" y="530"/>
                  </a:lnTo>
                  <a:lnTo>
                    <a:pt x="4369" y="535"/>
                  </a:lnTo>
                  <a:lnTo>
                    <a:pt x="4363" y="533"/>
                  </a:lnTo>
                  <a:lnTo>
                    <a:pt x="4357" y="530"/>
                  </a:lnTo>
                  <a:lnTo>
                    <a:pt x="4351" y="528"/>
                  </a:lnTo>
                  <a:lnTo>
                    <a:pt x="4347" y="524"/>
                  </a:lnTo>
                  <a:lnTo>
                    <a:pt x="4340" y="522"/>
                  </a:lnTo>
                  <a:lnTo>
                    <a:pt x="4336" y="519"/>
                  </a:lnTo>
                  <a:lnTo>
                    <a:pt x="4330" y="517"/>
                  </a:lnTo>
                  <a:lnTo>
                    <a:pt x="4324" y="515"/>
                  </a:lnTo>
                  <a:lnTo>
                    <a:pt x="4299" y="533"/>
                  </a:lnTo>
                  <a:lnTo>
                    <a:pt x="4274" y="549"/>
                  </a:lnTo>
                  <a:lnTo>
                    <a:pt x="4249" y="568"/>
                  </a:lnTo>
                  <a:lnTo>
                    <a:pt x="4224" y="585"/>
                  </a:lnTo>
                  <a:lnTo>
                    <a:pt x="4201" y="602"/>
                  </a:lnTo>
                  <a:lnTo>
                    <a:pt x="4174" y="620"/>
                  </a:lnTo>
                  <a:lnTo>
                    <a:pt x="4150" y="637"/>
                  </a:lnTo>
                  <a:lnTo>
                    <a:pt x="4125" y="654"/>
                  </a:lnTo>
                  <a:lnTo>
                    <a:pt x="4099" y="671"/>
                  </a:lnTo>
                  <a:lnTo>
                    <a:pt x="4075" y="691"/>
                  </a:lnTo>
                  <a:lnTo>
                    <a:pt x="4050" y="707"/>
                  </a:lnTo>
                  <a:lnTo>
                    <a:pt x="4025" y="725"/>
                  </a:lnTo>
                  <a:lnTo>
                    <a:pt x="4000" y="742"/>
                  </a:lnTo>
                  <a:lnTo>
                    <a:pt x="3975" y="760"/>
                  </a:lnTo>
                  <a:lnTo>
                    <a:pt x="3950" y="778"/>
                  </a:lnTo>
                  <a:lnTo>
                    <a:pt x="3925" y="797"/>
                  </a:lnTo>
                  <a:lnTo>
                    <a:pt x="3918" y="788"/>
                  </a:lnTo>
                  <a:lnTo>
                    <a:pt x="3912" y="781"/>
                  </a:lnTo>
                  <a:lnTo>
                    <a:pt x="3906" y="771"/>
                  </a:lnTo>
                  <a:lnTo>
                    <a:pt x="3902" y="761"/>
                  </a:lnTo>
                  <a:lnTo>
                    <a:pt x="3912" y="754"/>
                  </a:lnTo>
                  <a:lnTo>
                    <a:pt x="3920" y="747"/>
                  </a:lnTo>
                  <a:lnTo>
                    <a:pt x="3931" y="738"/>
                  </a:lnTo>
                  <a:lnTo>
                    <a:pt x="3939" y="730"/>
                  </a:lnTo>
                  <a:lnTo>
                    <a:pt x="3949" y="721"/>
                  </a:lnTo>
                  <a:lnTo>
                    <a:pt x="3958" y="713"/>
                  </a:lnTo>
                  <a:lnTo>
                    <a:pt x="3969" y="704"/>
                  </a:lnTo>
                  <a:lnTo>
                    <a:pt x="3979" y="696"/>
                  </a:lnTo>
                  <a:lnTo>
                    <a:pt x="3986" y="694"/>
                  </a:lnTo>
                  <a:lnTo>
                    <a:pt x="3993" y="691"/>
                  </a:lnTo>
                  <a:lnTo>
                    <a:pt x="4000" y="691"/>
                  </a:lnTo>
                  <a:lnTo>
                    <a:pt x="4009" y="688"/>
                  </a:lnTo>
                  <a:lnTo>
                    <a:pt x="4017" y="685"/>
                  </a:lnTo>
                  <a:lnTo>
                    <a:pt x="4024" y="683"/>
                  </a:lnTo>
                  <a:lnTo>
                    <a:pt x="4033" y="680"/>
                  </a:lnTo>
                  <a:lnTo>
                    <a:pt x="4040" y="677"/>
                  </a:lnTo>
                  <a:lnTo>
                    <a:pt x="4044" y="670"/>
                  </a:lnTo>
                  <a:lnTo>
                    <a:pt x="4049" y="663"/>
                  </a:lnTo>
                  <a:lnTo>
                    <a:pt x="4054" y="657"/>
                  </a:lnTo>
                  <a:lnTo>
                    <a:pt x="4060" y="650"/>
                  </a:lnTo>
                  <a:lnTo>
                    <a:pt x="4064" y="643"/>
                  </a:lnTo>
                  <a:lnTo>
                    <a:pt x="4069" y="636"/>
                  </a:lnTo>
                  <a:lnTo>
                    <a:pt x="4075" y="628"/>
                  </a:lnTo>
                  <a:lnTo>
                    <a:pt x="4080" y="621"/>
                  </a:lnTo>
                  <a:lnTo>
                    <a:pt x="4090" y="617"/>
                  </a:lnTo>
                  <a:lnTo>
                    <a:pt x="4098" y="611"/>
                  </a:lnTo>
                  <a:lnTo>
                    <a:pt x="4109" y="606"/>
                  </a:lnTo>
                  <a:lnTo>
                    <a:pt x="4119" y="600"/>
                  </a:lnTo>
                  <a:lnTo>
                    <a:pt x="4127" y="595"/>
                  </a:lnTo>
                  <a:lnTo>
                    <a:pt x="4136" y="590"/>
                  </a:lnTo>
                  <a:lnTo>
                    <a:pt x="4146" y="584"/>
                  </a:lnTo>
                  <a:lnTo>
                    <a:pt x="4156" y="579"/>
                  </a:lnTo>
                  <a:lnTo>
                    <a:pt x="4163" y="565"/>
                  </a:lnTo>
                  <a:lnTo>
                    <a:pt x="4170" y="552"/>
                  </a:lnTo>
                  <a:lnTo>
                    <a:pt x="4176" y="539"/>
                  </a:lnTo>
                  <a:lnTo>
                    <a:pt x="4184" y="524"/>
                  </a:lnTo>
                  <a:lnTo>
                    <a:pt x="4190" y="517"/>
                  </a:lnTo>
                  <a:lnTo>
                    <a:pt x="4198" y="511"/>
                  </a:lnTo>
                  <a:lnTo>
                    <a:pt x="4205" y="505"/>
                  </a:lnTo>
                  <a:lnTo>
                    <a:pt x="4211" y="499"/>
                  </a:lnTo>
                  <a:lnTo>
                    <a:pt x="4218" y="493"/>
                  </a:lnTo>
                  <a:lnTo>
                    <a:pt x="4226" y="487"/>
                  </a:lnTo>
                  <a:lnTo>
                    <a:pt x="4234" y="481"/>
                  </a:lnTo>
                  <a:lnTo>
                    <a:pt x="4242" y="475"/>
                  </a:lnTo>
                  <a:lnTo>
                    <a:pt x="4235" y="473"/>
                  </a:lnTo>
                  <a:lnTo>
                    <a:pt x="4230" y="470"/>
                  </a:lnTo>
                  <a:lnTo>
                    <a:pt x="4224" y="468"/>
                  </a:lnTo>
                  <a:lnTo>
                    <a:pt x="4218" y="464"/>
                  </a:lnTo>
                  <a:lnTo>
                    <a:pt x="4213" y="462"/>
                  </a:lnTo>
                  <a:lnTo>
                    <a:pt x="4207" y="458"/>
                  </a:lnTo>
                  <a:lnTo>
                    <a:pt x="4202" y="455"/>
                  </a:lnTo>
                  <a:lnTo>
                    <a:pt x="4196" y="450"/>
                  </a:lnTo>
                  <a:lnTo>
                    <a:pt x="4207" y="442"/>
                  </a:lnTo>
                  <a:lnTo>
                    <a:pt x="4217" y="433"/>
                  </a:lnTo>
                  <a:lnTo>
                    <a:pt x="4228" y="425"/>
                  </a:lnTo>
                  <a:lnTo>
                    <a:pt x="4241" y="416"/>
                  </a:lnTo>
                  <a:lnTo>
                    <a:pt x="4252" y="408"/>
                  </a:lnTo>
                  <a:lnTo>
                    <a:pt x="4263" y="400"/>
                  </a:lnTo>
                  <a:lnTo>
                    <a:pt x="4274" y="392"/>
                  </a:lnTo>
                  <a:lnTo>
                    <a:pt x="4286" y="383"/>
                  </a:lnTo>
                  <a:lnTo>
                    <a:pt x="4291" y="377"/>
                  </a:lnTo>
                  <a:lnTo>
                    <a:pt x="4299" y="372"/>
                  </a:lnTo>
                  <a:lnTo>
                    <a:pt x="4307" y="366"/>
                  </a:lnTo>
                  <a:lnTo>
                    <a:pt x="4312" y="359"/>
                  </a:lnTo>
                  <a:lnTo>
                    <a:pt x="4321" y="349"/>
                  </a:lnTo>
                  <a:lnTo>
                    <a:pt x="4332" y="337"/>
                  </a:lnTo>
                  <a:lnTo>
                    <a:pt x="4339" y="326"/>
                  </a:lnTo>
                  <a:lnTo>
                    <a:pt x="4347" y="315"/>
                  </a:lnTo>
                  <a:lnTo>
                    <a:pt x="4356" y="304"/>
                  </a:lnTo>
                  <a:lnTo>
                    <a:pt x="4364" y="293"/>
                  </a:lnTo>
                  <a:lnTo>
                    <a:pt x="4374" y="282"/>
                  </a:lnTo>
                  <a:lnTo>
                    <a:pt x="4382" y="271"/>
                  </a:lnTo>
                  <a:lnTo>
                    <a:pt x="4360" y="281"/>
                  </a:lnTo>
                  <a:lnTo>
                    <a:pt x="4341" y="290"/>
                  </a:lnTo>
                  <a:lnTo>
                    <a:pt x="4320" y="299"/>
                  </a:lnTo>
                  <a:lnTo>
                    <a:pt x="4301" y="308"/>
                  </a:lnTo>
                  <a:lnTo>
                    <a:pt x="4279" y="318"/>
                  </a:lnTo>
                  <a:lnTo>
                    <a:pt x="4259" y="327"/>
                  </a:lnTo>
                  <a:lnTo>
                    <a:pt x="4238" y="338"/>
                  </a:lnTo>
                  <a:lnTo>
                    <a:pt x="4217" y="349"/>
                  </a:lnTo>
                  <a:lnTo>
                    <a:pt x="4213" y="346"/>
                  </a:lnTo>
                  <a:lnTo>
                    <a:pt x="4209" y="343"/>
                  </a:lnTo>
                  <a:lnTo>
                    <a:pt x="4204" y="342"/>
                  </a:lnTo>
                  <a:lnTo>
                    <a:pt x="4200" y="339"/>
                  </a:lnTo>
                  <a:lnTo>
                    <a:pt x="4194" y="338"/>
                  </a:lnTo>
                  <a:lnTo>
                    <a:pt x="4189" y="335"/>
                  </a:lnTo>
                  <a:lnTo>
                    <a:pt x="4185" y="335"/>
                  </a:lnTo>
                  <a:lnTo>
                    <a:pt x="4180" y="334"/>
                  </a:lnTo>
                  <a:lnTo>
                    <a:pt x="4186" y="328"/>
                  </a:lnTo>
                  <a:lnTo>
                    <a:pt x="4194" y="322"/>
                  </a:lnTo>
                  <a:lnTo>
                    <a:pt x="4200" y="316"/>
                  </a:lnTo>
                  <a:lnTo>
                    <a:pt x="4205" y="309"/>
                  </a:lnTo>
                  <a:lnTo>
                    <a:pt x="4211" y="303"/>
                  </a:lnTo>
                  <a:lnTo>
                    <a:pt x="4217" y="297"/>
                  </a:lnTo>
                  <a:lnTo>
                    <a:pt x="4224" y="291"/>
                  </a:lnTo>
                  <a:lnTo>
                    <a:pt x="4232" y="285"/>
                  </a:lnTo>
                  <a:lnTo>
                    <a:pt x="4251" y="271"/>
                  </a:lnTo>
                  <a:lnTo>
                    <a:pt x="4272" y="253"/>
                  </a:lnTo>
                  <a:lnTo>
                    <a:pt x="4297" y="234"/>
                  </a:lnTo>
                  <a:lnTo>
                    <a:pt x="4324" y="214"/>
                  </a:lnTo>
                  <a:lnTo>
                    <a:pt x="4351" y="195"/>
                  </a:lnTo>
                  <a:lnTo>
                    <a:pt x="4376" y="177"/>
                  </a:lnTo>
                  <a:lnTo>
                    <a:pt x="4398" y="162"/>
                  </a:lnTo>
                  <a:lnTo>
                    <a:pt x="4414" y="147"/>
                  </a:lnTo>
                  <a:lnTo>
                    <a:pt x="4419" y="124"/>
                  </a:lnTo>
                  <a:lnTo>
                    <a:pt x="4415" y="112"/>
                  </a:lnTo>
                  <a:lnTo>
                    <a:pt x="4408" y="112"/>
                  </a:lnTo>
                  <a:lnTo>
                    <a:pt x="4399" y="119"/>
                  </a:lnTo>
                  <a:lnTo>
                    <a:pt x="4387" y="127"/>
                  </a:lnTo>
                  <a:lnTo>
                    <a:pt x="4376" y="135"/>
                  </a:lnTo>
                  <a:lnTo>
                    <a:pt x="4367" y="140"/>
                  </a:lnTo>
                  <a:lnTo>
                    <a:pt x="4360" y="139"/>
                  </a:lnTo>
                  <a:lnTo>
                    <a:pt x="4351" y="146"/>
                  </a:lnTo>
                  <a:lnTo>
                    <a:pt x="4338" y="152"/>
                  </a:lnTo>
                  <a:lnTo>
                    <a:pt x="4322" y="160"/>
                  </a:lnTo>
                  <a:lnTo>
                    <a:pt x="4307" y="165"/>
                  </a:lnTo>
                  <a:lnTo>
                    <a:pt x="4291" y="173"/>
                  </a:lnTo>
                  <a:lnTo>
                    <a:pt x="4275" y="178"/>
                  </a:lnTo>
                  <a:lnTo>
                    <a:pt x="4261" y="187"/>
                  </a:lnTo>
                  <a:lnTo>
                    <a:pt x="4251" y="194"/>
                  </a:lnTo>
                  <a:lnTo>
                    <a:pt x="4247" y="203"/>
                  </a:lnTo>
                  <a:lnTo>
                    <a:pt x="4244" y="213"/>
                  </a:lnTo>
                  <a:lnTo>
                    <a:pt x="4241" y="223"/>
                  </a:lnTo>
                  <a:lnTo>
                    <a:pt x="4238" y="234"/>
                  </a:lnTo>
                  <a:lnTo>
                    <a:pt x="4232" y="239"/>
                  </a:lnTo>
                  <a:lnTo>
                    <a:pt x="4227" y="245"/>
                  </a:lnTo>
                  <a:lnTo>
                    <a:pt x="4221" y="251"/>
                  </a:lnTo>
                  <a:lnTo>
                    <a:pt x="4215" y="256"/>
                  </a:lnTo>
                  <a:lnTo>
                    <a:pt x="4207" y="262"/>
                  </a:lnTo>
                  <a:lnTo>
                    <a:pt x="4202" y="267"/>
                  </a:lnTo>
                  <a:lnTo>
                    <a:pt x="4194" y="273"/>
                  </a:lnTo>
                  <a:lnTo>
                    <a:pt x="4186" y="278"/>
                  </a:lnTo>
                  <a:lnTo>
                    <a:pt x="4180" y="271"/>
                  </a:lnTo>
                  <a:lnTo>
                    <a:pt x="4176" y="264"/>
                  </a:lnTo>
                  <a:lnTo>
                    <a:pt x="4170" y="258"/>
                  </a:lnTo>
                  <a:lnTo>
                    <a:pt x="4163" y="251"/>
                  </a:lnTo>
                  <a:lnTo>
                    <a:pt x="4158" y="244"/>
                  </a:lnTo>
                  <a:lnTo>
                    <a:pt x="4150" y="238"/>
                  </a:lnTo>
                  <a:lnTo>
                    <a:pt x="4143" y="232"/>
                  </a:lnTo>
                  <a:lnTo>
                    <a:pt x="4138" y="225"/>
                  </a:lnTo>
                  <a:lnTo>
                    <a:pt x="4146" y="212"/>
                  </a:lnTo>
                  <a:lnTo>
                    <a:pt x="4154" y="200"/>
                  </a:lnTo>
                  <a:lnTo>
                    <a:pt x="4161" y="187"/>
                  </a:lnTo>
                  <a:lnTo>
                    <a:pt x="4170" y="173"/>
                  </a:lnTo>
                  <a:lnTo>
                    <a:pt x="4180" y="167"/>
                  </a:lnTo>
                  <a:lnTo>
                    <a:pt x="4188" y="160"/>
                  </a:lnTo>
                  <a:lnTo>
                    <a:pt x="4197" y="152"/>
                  </a:lnTo>
                  <a:lnTo>
                    <a:pt x="4205" y="145"/>
                  </a:lnTo>
                  <a:lnTo>
                    <a:pt x="4214" y="137"/>
                  </a:lnTo>
                  <a:lnTo>
                    <a:pt x="4222" y="130"/>
                  </a:lnTo>
                  <a:lnTo>
                    <a:pt x="4230" y="123"/>
                  </a:lnTo>
                  <a:lnTo>
                    <a:pt x="4238" y="116"/>
                  </a:lnTo>
                  <a:lnTo>
                    <a:pt x="4245" y="106"/>
                  </a:lnTo>
                  <a:lnTo>
                    <a:pt x="4249" y="99"/>
                  </a:lnTo>
                  <a:lnTo>
                    <a:pt x="4255" y="90"/>
                  </a:lnTo>
                  <a:lnTo>
                    <a:pt x="4260" y="82"/>
                  </a:lnTo>
                  <a:lnTo>
                    <a:pt x="4266" y="73"/>
                  </a:lnTo>
                  <a:lnTo>
                    <a:pt x="4271" y="65"/>
                  </a:lnTo>
                  <a:lnTo>
                    <a:pt x="4277" y="55"/>
                  </a:lnTo>
                  <a:lnTo>
                    <a:pt x="4284" y="47"/>
                  </a:lnTo>
                  <a:lnTo>
                    <a:pt x="4274" y="48"/>
                  </a:lnTo>
                  <a:lnTo>
                    <a:pt x="4264" y="50"/>
                  </a:lnTo>
                  <a:lnTo>
                    <a:pt x="4255" y="52"/>
                  </a:lnTo>
                  <a:lnTo>
                    <a:pt x="4245" y="52"/>
                  </a:lnTo>
                  <a:lnTo>
                    <a:pt x="4234" y="55"/>
                  </a:lnTo>
                  <a:lnTo>
                    <a:pt x="4224" y="56"/>
                  </a:lnTo>
                  <a:lnTo>
                    <a:pt x="4214" y="59"/>
                  </a:lnTo>
                  <a:lnTo>
                    <a:pt x="4204" y="60"/>
                  </a:lnTo>
                  <a:lnTo>
                    <a:pt x="4207" y="44"/>
                  </a:lnTo>
                  <a:lnTo>
                    <a:pt x="4211" y="30"/>
                  </a:lnTo>
                  <a:lnTo>
                    <a:pt x="4213" y="16"/>
                  </a:lnTo>
                  <a:lnTo>
                    <a:pt x="4215" y="0"/>
                  </a:lnTo>
                  <a:lnTo>
                    <a:pt x="4205" y="7"/>
                  </a:lnTo>
                  <a:lnTo>
                    <a:pt x="4196" y="13"/>
                  </a:lnTo>
                  <a:lnTo>
                    <a:pt x="4185" y="19"/>
                  </a:lnTo>
                  <a:lnTo>
                    <a:pt x="4176" y="26"/>
                  </a:lnTo>
                  <a:lnTo>
                    <a:pt x="4167" y="33"/>
                  </a:lnTo>
                  <a:lnTo>
                    <a:pt x="4158" y="41"/>
                  </a:lnTo>
                  <a:lnTo>
                    <a:pt x="4150" y="48"/>
                  </a:lnTo>
                  <a:lnTo>
                    <a:pt x="4139" y="55"/>
                  </a:lnTo>
                  <a:lnTo>
                    <a:pt x="4134" y="63"/>
                  </a:lnTo>
                  <a:lnTo>
                    <a:pt x="4129" y="73"/>
                  </a:lnTo>
                  <a:lnTo>
                    <a:pt x="4123" y="82"/>
                  </a:lnTo>
                  <a:lnTo>
                    <a:pt x="4119" y="92"/>
                  </a:lnTo>
                  <a:lnTo>
                    <a:pt x="4113" y="102"/>
                  </a:lnTo>
                  <a:lnTo>
                    <a:pt x="4108" y="112"/>
                  </a:lnTo>
                  <a:lnTo>
                    <a:pt x="4101" y="123"/>
                  </a:lnTo>
                  <a:lnTo>
                    <a:pt x="4097" y="134"/>
                  </a:lnTo>
                  <a:lnTo>
                    <a:pt x="4088" y="134"/>
                  </a:lnTo>
                  <a:lnTo>
                    <a:pt x="4080" y="134"/>
                  </a:lnTo>
                  <a:lnTo>
                    <a:pt x="4071" y="134"/>
                  </a:lnTo>
                  <a:lnTo>
                    <a:pt x="4064" y="134"/>
                  </a:lnTo>
                  <a:lnTo>
                    <a:pt x="4054" y="134"/>
                  </a:lnTo>
                  <a:lnTo>
                    <a:pt x="4047" y="134"/>
                  </a:lnTo>
                  <a:lnTo>
                    <a:pt x="4038" y="134"/>
                  </a:lnTo>
                  <a:lnTo>
                    <a:pt x="4030" y="133"/>
                  </a:lnTo>
                  <a:lnTo>
                    <a:pt x="4016" y="143"/>
                  </a:lnTo>
                  <a:lnTo>
                    <a:pt x="4000" y="154"/>
                  </a:lnTo>
                  <a:lnTo>
                    <a:pt x="3986" y="165"/>
                  </a:lnTo>
                  <a:lnTo>
                    <a:pt x="3972" y="175"/>
                  </a:lnTo>
                  <a:lnTo>
                    <a:pt x="3956" y="186"/>
                  </a:lnTo>
                  <a:lnTo>
                    <a:pt x="3941" y="197"/>
                  </a:lnTo>
                  <a:lnTo>
                    <a:pt x="3928" y="207"/>
                  </a:lnTo>
                  <a:lnTo>
                    <a:pt x="3910" y="218"/>
                  </a:lnTo>
                  <a:lnTo>
                    <a:pt x="3863" y="251"/>
                  </a:lnTo>
                  <a:lnTo>
                    <a:pt x="3815" y="280"/>
                  </a:lnTo>
                  <a:lnTo>
                    <a:pt x="3768" y="307"/>
                  </a:lnTo>
                  <a:lnTo>
                    <a:pt x="3720" y="331"/>
                  </a:lnTo>
                  <a:lnTo>
                    <a:pt x="3672" y="357"/>
                  </a:lnTo>
                  <a:lnTo>
                    <a:pt x="3625" y="381"/>
                  </a:lnTo>
                  <a:lnTo>
                    <a:pt x="3577" y="405"/>
                  </a:lnTo>
                  <a:lnTo>
                    <a:pt x="3530" y="428"/>
                  </a:lnTo>
                  <a:lnTo>
                    <a:pt x="3483" y="456"/>
                  </a:lnTo>
                  <a:lnTo>
                    <a:pt x="3436" y="485"/>
                  </a:lnTo>
                  <a:lnTo>
                    <a:pt x="3389" y="516"/>
                  </a:lnTo>
                  <a:lnTo>
                    <a:pt x="3342" y="549"/>
                  </a:lnTo>
                  <a:lnTo>
                    <a:pt x="3296" y="590"/>
                  </a:lnTo>
                  <a:lnTo>
                    <a:pt x="3250" y="633"/>
                  </a:lnTo>
                  <a:lnTo>
                    <a:pt x="3203" y="682"/>
                  </a:lnTo>
                  <a:lnTo>
                    <a:pt x="3155" y="736"/>
                  </a:lnTo>
                  <a:lnTo>
                    <a:pt x="3112" y="764"/>
                  </a:lnTo>
                  <a:lnTo>
                    <a:pt x="3078" y="786"/>
                  </a:lnTo>
                  <a:lnTo>
                    <a:pt x="3052" y="803"/>
                  </a:lnTo>
                  <a:lnTo>
                    <a:pt x="3036" y="812"/>
                  </a:lnTo>
                  <a:lnTo>
                    <a:pt x="3028" y="815"/>
                  </a:lnTo>
                  <a:lnTo>
                    <a:pt x="3026" y="814"/>
                  </a:lnTo>
                  <a:lnTo>
                    <a:pt x="3028" y="809"/>
                  </a:lnTo>
                  <a:lnTo>
                    <a:pt x="3035" y="800"/>
                  </a:lnTo>
                  <a:lnTo>
                    <a:pt x="3044" y="790"/>
                  </a:lnTo>
                  <a:lnTo>
                    <a:pt x="3055" y="778"/>
                  </a:lnTo>
                  <a:lnTo>
                    <a:pt x="3070" y="766"/>
                  </a:lnTo>
                  <a:lnTo>
                    <a:pt x="3083" y="754"/>
                  </a:lnTo>
                  <a:lnTo>
                    <a:pt x="3094" y="743"/>
                  </a:lnTo>
                  <a:lnTo>
                    <a:pt x="3104" y="732"/>
                  </a:lnTo>
                  <a:lnTo>
                    <a:pt x="3112" y="725"/>
                  </a:lnTo>
                  <a:lnTo>
                    <a:pt x="3114" y="721"/>
                  </a:lnTo>
                  <a:lnTo>
                    <a:pt x="3136" y="710"/>
                  </a:lnTo>
                  <a:lnTo>
                    <a:pt x="3154" y="700"/>
                  </a:lnTo>
                  <a:lnTo>
                    <a:pt x="3167" y="691"/>
                  </a:lnTo>
                  <a:lnTo>
                    <a:pt x="3175" y="685"/>
                  </a:lnTo>
                  <a:lnTo>
                    <a:pt x="3180" y="682"/>
                  </a:lnTo>
                  <a:lnTo>
                    <a:pt x="3183" y="677"/>
                  </a:lnTo>
                  <a:lnTo>
                    <a:pt x="3180" y="675"/>
                  </a:lnTo>
                  <a:lnTo>
                    <a:pt x="3177" y="674"/>
                  </a:lnTo>
                  <a:lnTo>
                    <a:pt x="3173" y="674"/>
                  </a:lnTo>
                  <a:lnTo>
                    <a:pt x="3169" y="674"/>
                  </a:lnTo>
                  <a:lnTo>
                    <a:pt x="3164" y="673"/>
                  </a:lnTo>
                  <a:lnTo>
                    <a:pt x="3160" y="671"/>
                  </a:lnTo>
                  <a:lnTo>
                    <a:pt x="3158" y="669"/>
                  </a:lnTo>
                  <a:lnTo>
                    <a:pt x="3158" y="666"/>
                  </a:lnTo>
                  <a:lnTo>
                    <a:pt x="3160" y="660"/>
                  </a:lnTo>
                  <a:lnTo>
                    <a:pt x="3165" y="654"/>
                  </a:lnTo>
                  <a:lnTo>
                    <a:pt x="3173" y="645"/>
                  </a:lnTo>
                  <a:lnTo>
                    <a:pt x="3185" y="633"/>
                  </a:lnTo>
                  <a:lnTo>
                    <a:pt x="3203" y="620"/>
                  </a:lnTo>
                  <a:lnTo>
                    <a:pt x="3225" y="603"/>
                  </a:lnTo>
                  <a:lnTo>
                    <a:pt x="3253" y="584"/>
                  </a:lnTo>
                  <a:lnTo>
                    <a:pt x="3287" y="560"/>
                  </a:lnTo>
                  <a:lnTo>
                    <a:pt x="3327" y="533"/>
                  </a:lnTo>
                  <a:lnTo>
                    <a:pt x="3375" y="503"/>
                  </a:lnTo>
                  <a:lnTo>
                    <a:pt x="3432" y="466"/>
                  </a:lnTo>
                  <a:lnTo>
                    <a:pt x="3495" y="426"/>
                  </a:lnTo>
                  <a:lnTo>
                    <a:pt x="3569" y="383"/>
                  </a:lnTo>
                  <a:lnTo>
                    <a:pt x="3651" y="331"/>
                  </a:lnTo>
                  <a:lnTo>
                    <a:pt x="3744" y="278"/>
                  </a:lnTo>
                  <a:lnTo>
                    <a:pt x="3849" y="216"/>
                  </a:lnTo>
                  <a:lnTo>
                    <a:pt x="3962" y="150"/>
                  </a:lnTo>
                  <a:lnTo>
                    <a:pt x="3989" y="133"/>
                  </a:lnTo>
                  <a:lnTo>
                    <a:pt x="4011" y="116"/>
                  </a:lnTo>
                  <a:lnTo>
                    <a:pt x="4029" y="99"/>
                  </a:lnTo>
                  <a:lnTo>
                    <a:pt x="4042" y="84"/>
                  </a:lnTo>
                  <a:lnTo>
                    <a:pt x="4050" y="71"/>
                  </a:lnTo>
                  <a:lnTo>
                    <a:pt x="4054" y="61"/>
                  </a:lnTo>
                  <a:lnTo>
                    <a:pt x="4054" y="54"/>
                  </a:lnTo>
                  <a:lnTo>
                    <a:pt x="4050" y="52"/>
                  </a:lnTo>
                  <a:lnTo>
                    <a:pt x="4025" y="56"/>
                  </a:lnTo>
                  <a:lnTo>
                    <a:pt x="3998" y="69"/>
                  </a:lnTo>
                  <a:lnTo>
                    <a:pt x="3972" y="88"/>
                  </a:lnTo>
                  <a:lnTo>
                    <a:pt x="3944" y="106"/>
                  </a:lnTo>
                  <a:lnTo>
                    <a:pt x="3920" y="126"/>
                  </a:lnTo>
                  <a:lnTo>
                    <a:pt x="3899" y="139"/>
                  </a:lnTo>
                  <a:lnTo>
                    <a:pt x="3883" y="143"/>
                  </a:lnTo>
                  <a:lnTo>
                    <a:pt x="3870" y="133"/>
                  </a:lnTo>
                  <a:lnTo>
                    <a:pt x="3857" y="154"/>
                  </a:lnTo>
                  <a:lnTo>
                    <a:pt x="3855" y="162"/>
                  </a:lnTo>
                  <a:lnTo>
                    <a:pt x="3857" y="160"/>
                  </a:lnTo>
                  <a:lnTo>
                    <a:pt x="3860" y="151"/>
                  </a:lnTo>
                  <a:lnTo>
                    <a:pt x="3858" y="143"/>
                  </a:lnTo>
                  <a:lnTo>
                    <a:pt x="3845" y="143"/>
                  </a:lnTo>
                  <a:lnTo>
                    <a:pt x="3813" y="152"/>
                  </a:lnTo>
                  <a:lnTo>
                    <a:pt x="3759" y="177"/>
                  </a:lnTo>
                  <a:lnTo>
                    <a:pt x="3741" y="187"/>
                  </a:lnTo>
                  <a:lnTo>
                    <a:pt x="3722" y="197"/>
                  </a:lnTo>
                  <a:lnTo>
                    <a:pt x="3702" y="208"/>
                  </a:lnTo>
                  <a:lnTo>
                    <a:pt x="3678" y="222"/>
                  </a:lnTo>
                  <a:lnTo>
                    <a:pt x="3656" y="237"/>
                  </a:lnTo>
                  <a:lnTo>
                    <a:pt x="3630" y="251"/>
                  </a:lnTo>
                  <a:lnTo>
                    <a:pt x="3603" y="267"/>
                  </a:lnTo>
                  <a:lnTo>
                    <a:pt x="3577" y="284"/>
                  </a:lnTo>
                  <a:lnTo>
                    <a:pt x="3548" y="301"/>
                  </a:lnTo>
                  <a:lnTo>
                    <a:pt x="3520" y="318"/>
                  </a:lnTo>
                  <a:lnTo>
                    <a:pt x="3491" y="337"/>
                  </a:lnTo>
                  <a:lnTo>
                    <a:pt x="3460" y="357"/>
                  </a:lnTo>
                  <a:lnTo>
                    <a:pt x="3431" y="375"/>
                  </a:lnTo>
                  <a:lnTo>
                    <a:pt x="3400" y="395"/>
                  </a:lnTo>
                  <a:lnTo>
                    <a:pt x="3368" y="415"/>
                  </a:lnTo>
                  <a:lnTo>
                    <a:pt x="3338" y="435"/>
                  </a:lnTo>
                  <a:lnTo>
                    <a:pt x="3307" y="456"/>
                  </a:lnTo>
                  <a:lnTo>
                    <a:pt x="3274" y="476"/>
                  </a:lnTo>
                  <a:lnTo>
                    <a:pt x="3244" y="496"/>
                  </a:lnTo>
                  <a:lnTo>
                    <a:pt x="3214" y="516"/>
                  </a:lnTo>
                  <a:lnTo>
                    <a:pt x="3184" y="535"/>
                  </a:lnTo>
                  <a:lnTo>
                    <a:pt x="3154" y="556"/>
                  </a:lnTo>
                  <a:lnTo>
                    <a:pt x="3127" y="574"/>
                  </a:lnTo>
                  <a:lnTo>
                    <a:pt x="3098" y="594"/>
                  </a:lnTo>
                  <a:lnTo>
                    <a:pt x="3072" y="611"/>
                  </a:lnTo>
                  <a:lnTo>
                    <a:pt x="3046" y="628"/>
                  </a:lnTo>
                  <a:lnTo>
                    <a:pt x="3022" y="645"/>
                  </a:lnTo>
                  <a:lnTo>
                    <a:pt x="2998" y="660"/>
                  </a:lnTo>
                  <a:lnTo>
                    <a:pt x="2974" y="677"/>
                  </a:lnTo>
                  <a:lnTo>
                    <a:pt x="2955" y="691"/>
                  </a:lnTo>
                  <a:lnTo>
                    <a:pt x="2936" y="704"/>
                  </a:lnTo>
                  <a:lnTo>
                    <a:pt x="2918" y="715"/>
                  </a:lnTo>
                  <a:lnTo>
                    <a:pt x="2869" y="749"/>
                  </a:lnTo>
                  <a:lnTo>
                    <a:pt x="2819" y="783"/>
                  </a:lnTo>
                  <a:lnTo>
                    <a:pt x="2771" y="816"/>
                  </a:lnTo>
                  <a:lnTo>
                    <a:pt x="2723" y="847"/>
                  </a:lnTo>
                  <a:lnTo>
                    <a:pt x="2675" y="879"/>
                  </a:lnTo>
                  <a:lnTo>
                    <a:pt x="2628" y="910"/>
                  </a:lnTo>
                  <a:lnTo>
                    <a:pt x="2581" y="940"/>
                  </a:lnTo>
                  <a:lnTo>
                    <a:pt x="2536" y="970"/>
                  </a:lnTo>
                  <a:lnTo>
                    <a:pt x="2491" y="1000"/>
                  </a:lnTo>
                  <a:lnTo>
                    <a:pt x="2447" y="1031"/>
                  </a:lnTo>
                  <a:lnTo>
                    <a:pt x="2402" y="1060"/>
                  </a:lnTo>
                  <a:lnTo>
                    <a:pt x="2359" y="1089"/>
                  </a:lnTo>
                  <a:lnTo>
                    <a:pt x="2316" y="1117"/>
                  </a:lnTo>
                  <a:lnTo>
                    <a:pt x="2273" y="1148"/>
                  </a:lnTo>
                  <a:lnTo>
                    <a:pt x="2232" y="1178"/>
                  </a:lnTo>
                  <a:lnTo>
                    <a:pt x="2191" y="1206"/>
                  </a:lnTo>
                  <a:lnTo>
                    <a:pt x="2168" y="1227"/>
                  </a:lnTo>
                  <a:lnTo>
                    <a:pt x="2146" y="1249"/>
                  </a:lnTo>
                  <a:lnTo>
                    <a:pt x="2125" y="1271"/>
                  </a:lnTo>
                  <a:lnTo>
                    <a:pt x="2104" y="1293"/>
                  </a:lnTo>
                  <a:lnTo>
                    <a:pt x="2085" y="1316"/>
                  </a:lnTo>
                  <a:lnTo>
                    <a:pt x="2065" y="1338"/>
                  </a:lnTo>
                  <a:lnTo>
                    <a:pt x="2048" y="1362"/>
                  </a:lnTo>
                  <a:lnTo>
                    <a:pt x="2029" y="1384"/>
                  </a:lnTo>
                  <a:lnTo>
                    <a:pt x="2010" y="1407"/>
                  </a:lnTo>
                  <a:lnTo>
                    <a:pt x="1994" y="1430"/>
                  </a:lnTo>
                  <a:lnTo>
                    <a:pt x="1975" y="1453"/>
                  </a:lnTo>
                  <a:lnTo>
                    <a:pt x="1957" y="1475"/>
                  </a:lnTo>
                  <a:lnTo>
                    <a:pt x="1938" y="1498"/>
                  </a:lnTo>
                  <a:lnTo>
                    <a:pt x="1920" y="1518"/>
                  </a:lnTo>
                  <a:lnTo>
                    <a:pt x="1901" y="1539"/>
                  </a:lnTo>
                  <a:lnTo>
                    <a:pt x="1881" y="1559"/>
                  </a:lnTo>
                  <a:lnTo>
                    <a:pt x="1859" y="1580"/>
                  </a:lnTo>
                  <a:lnTo>
                    <a:pt x="1835" y="1607"/>
                  </a:lnTo>
                  <a:lnTo>
                    <a:pt x="1811" y="1637"/>
                  </a:lnTo>
                  <a:lnTo>
                    <a:pt x="1786" y="1671"/>
                  </a:lnTo>
                  <a:lnTo>
                    <a:pt x="1762" y="1704"/>
                  </a:lnTo>
                  <a:lnTo>
                    <a:pt x="1738" y="1734"/>
                  </a:lnTo>
                  <a:lnTo>
                    <a:pt x="1717" y="1760"/>
                  </a:lnTo>
                  <a:lnTo>
                    <a:pt x="1697" y="1779"/>
                  </a:lnTo>
                  <a:lnTo>
                    <a:pt x="1669" y="1799"/>
                  </a:lnTo>
                  <a:lnTo>
                    <a:pt x="1651" y="1814"/>
                  </a:lnTo>
                  <a:lnTo>
                    <a:pt x="1638" y="1823"/>
                  </a:lnTo>
                  <a:lnTo>
                    <a:pt x="1629" y="1830"/>
                  </a:lnTo>
                  <a:lnTo>
                    <a:pt x="1618" y="1836"/>
                  </a:lnTo>
                  <a:lnTo>
                    <a:pt x="1607" y="1846"/>
                  </a:lnTo>
                  <a:lnTo>
                    <a:pt x="1593" y="1859"/>
                  </a:lnTo>
                  <a:lnTo>
                    <a:pt x="1571" y="1880"/>
                  </a:lnTo>
                  <a:lnTo>
                    <a:pt x="1550" y="1913"/>
                  </a:lnTo>
                  <a:lnTo>
                    <a:pt x="1531" y="1947"/>
                  </a:lnTo>
                  <a:lnTo>
                    <a:pt x="1514" y="1983"/>
                  </a:lnTo>
                  <a:lnTo>
                    <a:pt x="1499" y="2021"/>
                  </a:lnTo>
                  <a:lnTo>
                    <a:pt x="1482" y="2057"/>
                  </a:lnTo>
                  <a:lnTo>
                    <a:pt x="1466" y="2093"/>
                  </a:lnTo>
                  <a:lnTo>
                    <a:pt x="1452" y="2128"/>
                  </a:lnTo>
                  <a:lnTo>
                    <a:pt x="1435" y="2161"/>
                  </a:lnTo>
                  <a:lnTo>
                    <a:pt x="1420" y="2132"/>
                  </a:lnTo>
                  <a:lnTo>
                    <a:pt x="1402" y="2104"/>
                  </a:lnTo>
                  <a:lnTo>
                    <a:pt x="1383" y="2075"/>
                  </a:lnTo>
                  <a:lnTo>
                    <a:pt x="1363" y="2046"/>
                  </a:lnTo>
                  <a:lnTo>
                    <a:pt x="1340" y="2018"/>
                  </a:lnTo>
                  <a:lnTo>
                    <a:pt x="1319" y="1989"/>
                  </a:lnTo>
                  <a:lnTo>
                    <a:pt x="1296" y="1961"/>
                  </a:lnTo>
                  <a:lnTo>
                    <a:pt x="1274" y="1933"/>
                  </a:lnTo>
                  <a:lnTo>
                    <a:pt x="1251" y="1903"/>
                  </a:lnTo>
                  <a:lnTo>
                    <a:pt x="1230" y="1874"/>
                  </a:lnTo>
                  <a:lnTo>
                    <a:pt x="1210" y="1847"/>
                  </a:lnTo>
                  <a:lnTo>
                    <a:pt x="1192" y="1818"/>
                  </a:lnTo>
                  <a:lnTo>
                    <a:pt x="1175" y="1789"/>
                  </a:lnTo>
                  <a:lnTo>
                    <a:pt x="1159" y="1761"/>
                  </a:lnTo>
                  <a:lnTo>
                    <a:pt x="1146" y="1732"/>
                  </a:lnTo>
                  <a:lnTo>
                    <a:pt x="1137" y="1705"/>
                  </a:lnTo>
                  <a:lnTo>
                    <a:pt x="1121" y="1665"/>
                  </a:lnTo>
                  <a:lnTo>
                    <a:pt x="1105" y="1624"/>
                  </a:lnTo>
                  <a:lnTo>
                    <a:pt x="1087" y="1580"/>
                  </a:lnTo>
                  <a:lnTo>
                    <a:pt x="1068" y="1537"/>
                  </a:lnTo>
                  <a:lnTo>
                    <a:pt x="1050" y="1493"/>
                  </a:lnTo>
                  <a:lnTo>
                    <a:pt x="1032" y="1449"/>
                  </a:lnTo>
                  <a:lnTo>
                    <a:pt x="1016" y="1407"/>
                  </a:lnTo>
                  <a:lnTo>
                    <a:pt x="1003" y="1367"/>
                  </a:lnTo>
                  <a:lnTo>
                    <a:pt x="979" y="1376"/>
                  </a:lnTo>
                  <a:lnTo>
                    <a:pt x="958" y="1386"/>
                  </a:lnTo>
                  <a:lnTo>
                    <a:pt x="935" y="1394"/>
                  </a:lnTo>
                  <a:lnTo>
                    <a:pt x="914" y="1403"/>
                  </a:lnTo>
                  <a:lnTo>
                    <a:pt x="891" y="1411"/>
                  </a:lnTo>
                  <a:lnTo>
                    <a:pt x="870" y="1418"/>
                  </a:lnTo>
                  <a:lnTo>
                    <a:pt x="847" y="1426"/>
                  </a:lnTo>
                  <a:lnTo>
                    <a:pt x="825" y="1435"/>
                  </a:lnTo>
                  <a:lnTo>
                    <a:pt x="808" y="1443"/>
                  </a:lnTo>
                  <a:lnTo>
                    <a:pt x="790" y="1450"/>
                  </a:lnTo>
                  <a:lnTo>
                    <a:pt x="773" y="1459"/>
                  </a:lnTo>
                  <a:lnTo>
                    <a:pt x="755" y="1467"/>
                  </a:lnTo>
                  <a:lnTo>
                    <a:pt x="738" y="1475"/>
                  </a:lnTo>
                  <a:lnTo>
                    <a:pt x="721" y="1484"/>
                  </a:lnTo>
                  <a:lnTo>
                    <a:pt x="704" y="1491"/>
                  </a:lnTo>
                  <a:lnTo>
                    <a:pt x="687" y="1499"/>
                  </a:lnTo>
                  <a:lnTo>
                    <a:pt x="669" y="1507"/>
                  </a:lnTo>
                  <a:lnTo>
                    <a:pt x="652" y="1515"/>
                  </a:lnTo>
                  <a:lnTo>
                    <a:pt x="636" y="1522"/>
                  </a:lnTo>
                  <a:lnTo>
                    <a:pt x="619" y="1531"/>
                  </a:lnTo>
                  <a:lnTo>
                    <a:pt x="602" y="1537"/>
                  </a:lnTo>
                  <a:lnTo>
                    <a:pt x="586" y="1546"/>
                  </a:lnTo>
                  <a:lnTo>
                    <a:pt x="569" y="1553"/>
                  </a:lnTo>
                  <a:lnTo>
                    <a:pt x="553" y="1561"/>
                  </a:lnTo>
                  <a:lnTo>
                    <a:pt x="550" y="1561"/>
                  </a:lnTo>
                  <a:lnTo>
                    <a:pt x="541" y="1561"/>
                  </a:lnTo>
                  <a:lnTo>
                    <a:pt x="527" y="1563"/>
                  </a:lnTo>
                  <a:lnTo>
                    <a:pt x="511" y="1567"/>
                  </a:lnTo>
                  <a:lnTo>
                    <a:pt x="491" y="1571"/>
                  </a:lnTo>
                  <a:lnTo>
                    <a:pt x="469" y="1577"/>
                  </a:lnTo>
                  <a:lnTo>
                    <a:pt x="445" y="1585"/>
                  </a:lnTo>
                  <a:lnTo>
                    <a:pt x="421" y="1592"/>
                  </a:lnTo>
                  <a:lnTo>
                    <a:pt x="396" y="1598"/>
                  </a:lnTo>
                  <a:lnTo>
                    <a:pt x="373" y="1605"/>
                  </a:lnTo>
                  <a:lnTo>
                    <a:pt x="351" y="1612"/>
                  </a:lnTo>
                  <a:lnTo>
                    <a:pt x="333" y="1616"/>
                  </a:lnTo>
                  <a:lnTo>
                    <a:pt x="315" y="1620"/>
                  </a:lnTo>
                  <a:lnTo>
                    <a:pt x="304" y="1624"/>
                  </a:lnTo>
                  <a:lnTo>
                    <a:pt x="297" y="1624"/>
                  </a:lnTo>
                  <a:lnTo>
                    <a:pt x="294" y="1622"/>
                  </a:lnTo>
                  <a:lnTo>
                    <a:pt x="275" y="1633"/>
                  </a:lnTo>
                  <a:lnTo>
                    <a:pt x="256" y="1643"/>
                  </a:lnTo>
                  <a:lnTo>
                    <a:pt x="237" y="1654"/>
                  </a:lnTo>
                  <a:lnTo>
                    <a:pt x="219" y="1665"/>
                  </a:lnTo>
                  <a:lnTo>
                    <a:pt x="199" y="1675"/>
                  </a:lnTo>
                  <a:lnTo>
                    <a:pt x="180" y="1685"/>
                  </a:lnTo>
                  <a:lnTo>
                    <a:pt x="161" y="1696"/>
                  </a:lnTo>
                  <a:lnTo>
                    <a:pt x="143" y="1707"/>
                  </a:lnTo>
                  <a:lnTo>
                    <a:pt x="124" y="1718"/>
                  </a:lnTo>
                  <a:lnTo>
                    <a:pt x="106" y="1729"/>
                  </a:lnTo>
                  <a:lnTo>
                    <a:pt x="87" y="1739"/>
                  </a:lnTo>
                  <a:lnTo>
                    <a:pt x="70" y="1750"/>
                  </a:lnTo>
                  <a:lnTo>
                    <a:pt x="53" y="1760"/>
                  </a:lnTo>
                  <a:lnTo>
                    <a:pt x="35" y="1771"/>
                  </a:lnTo>
                  <a:lnTo>
                    <a:pt x="18" y="1781"/>
                  </a:lnTo>
                  <a:lnTo>
                    <a:pt x="0" y="1792"/>
                  </a:lnTo>
                  <a:close/>
                </a:path>
              </a:pathLst>
            </a:custGeom>
            <a:solidFill>
              <a:srgbClr val="043B72"/>
            </a:solidFill>
            <a:ln w="19050">
              <a:solidFill>
                <a:srgbClr val="FFFFFF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196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ea"/>
                <a:sym typeface="나눔고딕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21E47AF-A6E9-0C9D-ED1B-BA97FE59C125}"/>
                </a:ext>
              </a:extLst>
            </p:cNvPr>
            <p:cNvSpPr txBox="1"/>
            <p:nvPr/>
          </p:nvSpPr>
          <p:spPr>
            <a:xfrm>
              <a:off x="7687725" y="1087677"/>
              <a:ext cx="360000" cy="18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ko-KR" altLang="en-US" sz="800">
                  <a:latin typeface="+mn-ea"/>
                </a:rPr>
                <a:t>범례</a:t>
              </a:r>
            </a:p>
          </p:txBody>
        </p:sp>
        <p:sp>
          <p:nvSpPr>
            <p:cNvPr id="12" name="Rectangle: Rounded Corners 54">
              <a:extLst>
                <a:ext uri="{FF2B5EF4-FFF2-40B4-BE49-F238E27FC236}">
                  <a16:creationId xmlns:a16="http://schemas.microsoft.com/office/drawing/2014/main" id="{2904FB70-654B-9322-3167-2D1291BBA128}"/>
                </a:ext>
              </a:extLst>
            </p:cNvPr>
            <p:cNvSpPr/>
            <p:nvPr/>
          </p:nvSpPr>
          <p:spPr>
            <a:xfrm>
              <a:off x="8043552" y="1105677"/>
              <a:ext cx="648000" cy="144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lvl="0" algn="ctr">
                <a:defRPr/>
              </a:pPr>
              <a:r>
                <a:rPr kumimoji="0" lang="en-US" altLang="ko-KR" sz="700" b="0" i="0" u="none" strike="noStrike" kern="1200" cap="none" spc="-7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bg1">
                      <a:lumMod val="50000"/>
                    </a:schemeClr>
                  </a:solidFill>
                  <a:effectLst/>
                  <a:uLnTx/>
                  <a:uFillTx/>
                  <a:latin typeface="+mn-ea"/>
                  <a:cs typeface="+mn-cs"/>
                </a:rPr>
                <a:t>As-Is WBS</a:t>
              </a:r>
              <a:endParaRPr kumimoji="0" lang="ko-KR" altLang="en-US" sz="700" b="0" i="0" u="none" strike="noStrike" kern="1200" cap="none" spc="-7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</p:grpSp>
      <p:sp>
        <p:nvSpPr>
          <p:cNvPr id="15" name="Rectangle: Rounded Corners 54">
            <a:extLst>
              <a:ext uri="{FF2B5EF4-FFF2-40B4-BE49-F238E27FC236}">
                <a16:creationId xmlns:a16="http://schemas.microsoft.com/office/drawing/2014/main" id="{E4786104-936F-D5B8-3CEC-2A3146C0F0E7}"/>
              </a:ext>
            </a:extLst>
          </p:cNvPr>
          <p:cNvSpPr/>
          <p:nvPr/>
        </p:nvSpPr>
        <p:spPr>
          <a:xfrm>
            <a:off x="2529978" y="2354713"/>
            <a:ext cx="3458066" cy="1440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  <a:prstDash val="dash"/>
          </a:ln>
        </p:spPr>
        <p:txBody>
          <a:bodyPr wrap="square" lIns="0" tIns="0" rIns="0" bIns="0" rtlCol="0" anchor="ctr">
            <a:noAutofit/>
          </a:bodyPr>
          <a:lstStyle/>
          <a:p>
            <a:pPr lvl="0" algn="ctr">
              <a:defRPr/>
            </a:pPr>
            <a:r>
              <a:rPr lang="en-US" altLang="ko-KR" sz="1000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rPr>
              <a:t>AI</a:t>
            </a:r>
            <a:r>
              <a:rPr lang="ko-KR" altLang="en-US" sz="1000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rPr>
              <a:t>거버넌스 규정 수립</a:t>
            </a:r>
            <a:endParaRPr kumimoji="0" lang="ko-KR" altLang="en-US" sz="1000" b="0" i="0" u="none" strike="noStrike" kern="1200" cap="none" spc="-7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6" name="Rectangle: Rounded Corners 54">
            <a:extLst>
              <a:ext uri="{FF2B5EF4-FFF2-40B4-BE49-F238E27FC236}">
                <a16:creationId xmlns:a16="http://schemas.microsoft.com/office/drawing/2014/main" id="{A0D3763E-97F0-45FA-DF74-968F02A6F640}"/>
              </a:ext>
            </a:extLst>
          </p:cNvPr>
          <p:cNvSpPr/>
          <p:nvPr/>
        </p:nvSpPr>
        <p:spPr>
          <a:xfrm>
            <a:off x="6111073" y="2354713"/>
            <a:ext cx="5636979" cy="1440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  <a:prstDash val="dash"/>
          </a:ln>
        </p:spPr>
        <p:txBody>
          <a:bodyPr wrap="square" lIns="0" tIns="0" rIns="0" bIns="0" rtlCol="0" anchor="ctr">
            <a:noAutofit/>
          </a:bodyPr>
          <a:lstStyle/>
          <a:p>
            <a:pPr lvl="0" algn="ctr">
              <a:defRPr/>
            </a:pPr>
            <a:r>
              <a:rPr lang="en-US" altLang="ko-KR" sz="1000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rPr>
              <a:t>AI</a:t>
            </a:r>
            <a:r>
              <a:rPr lang="ko-KR" altLang="en-US" sz="1000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rPr>
              <a:t>거버넌스 운영 지침 수립</a:t>
            </a:r>
            <a:endParaRPr kumimoji="0" lang="ko-KR" altLang="en-US" sz="1000" b="0" i="0" u="none" strike="noStrike" kern="1200" cap="none" spc="-7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7" name="Rectangle: Rounded Corners 54">
            <a:extLst>
              <a:ext uri="{FF2B5EF4-FFF2-40B4-BE49-F238E27FC236}">
                <a16:creationId xmlns:a16="http://schemas.microsoft.com/office/drawing/2014/main" id="{A3E2C2CB-87CB-7DBA-111D-6EAB7C71641C}"/>
              </a:ext>
            </a:extLst>
          </p:cNvPr>
          <p:cNvSpPr/>
          <p:nvPr/>
        </p:nvSpPr>
        <p:spPr>
          <a:xfrm>
            <a:off x="3241542" y="2552614"/>
            <a:ext cx="2746503" cy="1440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  <a:prstDash val="dash"/>
          </a:ln>
        </p:spPr>
        <p:txBody>
          <a:bodyPr wrap="square" lIns="0" tIns="0" rIns="0" bIns="0" rtlCol="0" anchor="ctr">
            <a:noAutofit/>
          </a:bodyPr>
          <a:lstStyle/>
          <a:p>
            <a:pPr lvl="0" algn="ctr">
              <a:defRPr/>
            </a:pPr>
            <a:r>
              <a:rPr lang="en-US" altLang="ko-KR" sz="1000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rPr>
              <a:t>AI </a:t>
            </a:r>
            <a:r>
              <a:rPr lang="ko-KR" altLang="en-US" sz="1000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rPr>
              <a:t>개발운영 지침 수립</a:t>
            </a:r>
            <a:endParaRPr kumimoji="0" lang="ko-KR" altLang="en-US" sz="1000" b="0" i="0" u="none" strike="noStrike" kern="1200" cap="none" spc="-7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60" name="Rectangle: Rounded Corners 54">
            <a:extLst>
              <a:ext uri="{FF2B5EF4-FFF2-40B4-BE49-F238E27FC236}">
                <a16:creationId xmlns:a16="http://schemas.microsoft.com/office/drawing/2014/main" id="{CC7715DD-DA3C-BC28-19F0-008463FDE08D}"/>
              </a:ext>
            </a:extLst>
          </p:cNvPr>
          <p:cNvSpPr/>
          <p:nvPr/>
        </p:nvSpPr>
        <p:spPr>
          <a:xfrm>
            <a:off x="1935163" y="6583617"/>
            <a:ext cx="7262177" cy="216000"/>
          </a:xfrm>
          <a:prstGeom prst="round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lvl="0">
              <a:defRPr/>
            </a:pPr>
            <a:r>
              <a:rPr kumimoji="0" lang="en-US" altLang="ko-KR" sz="800" b="0" i="0" u="none" strike="noStrike" kern="1200" cap="none" spc="-7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ea"/>
                <a:cs typeface="+mn-cs"/>
              </a:rPr>
              <a:t>* 5</a:t>
            </a:r>
            <a:r>
              <a:rPr lang="en-US" altLang="ko-KR" sz="800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rPr>
              <a:t>.</a:t>
            </a:r>
            <a:r>
              <a:rPr lang="ko-KR" altLang="en-US" sz="800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rPr>
              <a:t> </a:t>
            </a:r>
            <a:r>
              <a:rPr lang="en-US" altLang="ko-KR" sz="800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rPr>
              <a:t>AI</a:t>
            </a:r>
            <a:r>
              <a:rPr lang="ko-KR" altLang="en-US" sz="800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rPr>
              <a:t> 위험 평가</a:t>
            </a:r>
            <a:r>
              <a:rPr lang="en-US" altLang="ko-KR" sz="800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rPr>
              <a:t>&amp;</a:t>
            </a:r>
            <a:r>
              <a:rPr lang="ko-KR" altLang="en-US" sz="800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rPr>
              <a:t>완화 방안 및 구축요건 작성 </a:t>
            </a:r>
            <a:r>
              <a:rPr lang="en-US" altLang="ko-KR" sz="800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rPr>
              <a:t>Task</a:t>
            </a:r>
            <a:r>
              <a:rPr lang="ko-KR" altLang="en-US" sz="800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rPr>
              <a:t>의 경우</a:t>
            </a:r>
            <a:r>
              <a:rPr lang="en-US" altLang="ko-KR" sz="800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rPr>
              <a:t>, AI</a:t>
            </a:r>
            <a:r>
              <a:rPr lang="ko-KR" altLang="en-US" sz="800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rPr>
              <a:t>전문업체 계약 시점에 따라  수행 시작</a:t>
            </a:r>
            <a:r>
              <a:rPr lang="en-US" altLang="ko-KR" sz="800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rPr>
              <a:t>·</a:t>
            </a:r>
            <a:r>
              <a:rPr lang="ko-KR" altLang="en-US" sz="800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rPr>
              <a:t>종료 시점 변동 가능성 有</a:t>
            </a:r>
            <a:r>
              <a:rPr kumimoji="0" lang="ko-KR" altLang="en-US" sz="800" b="0" i="0" u="none" strike="noStrike" kern="1200" cap="none" spc="-7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ea"/>
                <a:cs typeface="+mn-cs"/>
              </a:rPr>
              <a:t> </a:t>
            </a:r>
          </a:p>
        </p:txBody>
      </p:sp>
      <p:sp>
        <p:nvSpPr>
          <p:cNvPr id="45" name="Rectangle: Rounded Corners 54">
            <a:extLst>
              <a:ext uri="{FF2B5EF4-FFF2-40B4-BE49-F238E27FC236}">
                <a16:creationId xmlns:a16="http://schemas.microsoft.com/office/drawing/2014/main" id="{413448EB-0B84-2377-7FFE-F0956816A2C2}"/>
              </a:ext>
            </a:extLst>
          </p:cNvPr>
          <p:cNvSpPr/>
          <p:nvPr/>
        </p:nvSpPr>
        <p:spPr>
          <a:xfrm>
            <a:off x="7493345" y="5720185"/>
            <a:ext cx="4216053" cy="38145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1200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AI </a:t>
            </a:r>
            <a:r>
              <a:rPr lang="ko-KR" altLang="en-US" sz="1200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위험 평가</a:t>
            </a:r>
            <a:r>
              <a:rPr lang="en-US" altLang="ko-KR" sz="1200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&amp;</a:t>
            </a:r>
            <a:r>
              <a:rPr lang="ko-KR" altLang="en-US" sz="1200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완화 방안 및 구축요건 작성</a:t>
            </a:r>
            <a:r>
              <a:rPr lang="en-US" altLang="ko-KR" sz="1200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*</a:t>
            </a:r>
            <a:endParaRPr lang="ko-KR" altLang="en-US" sz="1200" spc="-7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+mn-ea"/>
            </a:endParaRPr>
          </a:p>
        </p:txBody>
      </p:sp>
      <p:sp>
        <p:nvSpPr>
          <p:cNvPr id="14" name="Rectangle: Rounded Corners 54">
            <a:extLst>
              <a:ext uri="{FF2B5EF4-FFF2-40B4-BE49-F238E27FC236}">
                <a16:creationId xmlns:a16="http://schemas.microsoft.com/office/drawing/2014/main" id="{A90F845D-4594-CC56-AEDF-61AB270D3276}"/>
              </a:ext>
            </a:extLst>
          </p:cNvPr>
          <p:cNvSpPr/>
          <p:nvPr/>
        </p:nvSpPr>
        <p:spPr>
          <a:xfrm>
            <a:off x="396832" y="2538147"/>
            <a:ext cx="2736000" cy="38234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bg1">
                <a:lumMod val="50000"/>
              </a:schemeClr>
            </a:solidFill>
            <a:prstDash val="dash"/>
          </a:ln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-7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AI</a:t>
            </a:r>
            <a:r>
              <a:rPr kumimoji="0" lang="ko-KR" altLang="en-US" sz="1200" b="0" i="0" u="none" strike="noStrike" kern="1200" cap="none" spc="-7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거버넌스 수립 요건검토 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246AF4CD-4C80-EB52-02C5-41D8E536FC8C}"/>
              </a:ext>
            </a:extLst>
          </p:cNvPr>
          <p:cNvSpPr/>
          <p:nvPr/>
        </p:nvSpPr>
        <p:spPr>
          <a:xfrm>
            <a:off x="396832" y="2538147"/>
            <a:ext cx="288000" cy="229404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C55A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600" b="1">
                <a:solidFill>
                  <a:schemeClr val="tx1"/>
                </a:solidFill>
                <a:latin typeface="+mn-ea"/>
              </a:rPr>
              <a:t>1</a:t>
            </a:r>
            <a:endParaRPr lang="ko-KR" altLang="en-US" sz="1600" b="1">
              <a:solidFill>
                <a:schemeClr val="tx1"/>
              </a:solidFill>
              <a:latin typeface="+mn-ea"/>
            </a:endParaRPr>
          </a:p>
        </p:txBody>
      </p:sp>
      <p:sp>
        <p:nvSpPr>
          <p:cNvPr id="33" name="Rectangle: Rounded Corners 54">
            <a:extLst>
              <a:ext uri="{FF2B5EF4-FFF2-40B4-BE49-F238E27FC236}">
                <a16:creationId xmlns:a16="http://schemas.microsoft.com/office/drawing/2014/main" id="{2E1F83C8-D0C6-1D97-68B2-45A48628B16F}"/>
              </a:ext>
            </a:extLst>
          </p:cNvPr>
          <p:cNvSpPr/>
          <p:nvPr/>
        </p:nvSpPr>
        <p:spPr>
          <a:xfrm>
            <a:off x="6111074" y="6142285"/>
            <a:ext cx="5611026" cy="38234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120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AI</a:t>
            </a:r>
            <a:r>
              <a:rPr lang="ko-KR" altLang="en-US" sz="120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거버넌스 지원도구 설계 </a:t>
            </a:r>
            <a:r>
              <a:rPr lang="en-US" altLang="ko-KR" sz="100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(</a:t>
            </a:r>
            <a:r>
              <a:rPr lang="ko-KR" altLang="en-US" sz="100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템플릿</a:t>
            </a:r>
            <a:r>
              <a:rPr lang="en-US" altLang="ko-KR" sz="100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sz="100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체크리스트</a:t>
            </a:r>
            <a:r>
              <a:rPr lang="en-US" altLang="ko-KR" sz="100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 </a:t>
            </a:r>
            <a:r>
              <a:rPr lang="ko-KR" altLang="en-US" sz="100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등</a:t>
            </a:r>
            <a:r>
              <a:rPr lang="en-US" altLang="ko-KR" sz="100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)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87E25D51-B32D-78E5-1C52-DAABC90DE634}"/>
              </a:ext>
            </a:extLst>
          </p:cNvPr>
          <p:cNvSpPr/>
          <p:nvPr/>
        </p:nvSpPr>
        <p:spPr>
          <a:xfrm>
            <a:off x="6111074" y="6156089"/>
            <a:ext cx="288000" cy="229404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C55A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600" b="1">
                <a:solidFill>
                  <a:schemeClr val="tx1"/>
                </a:solidFill>
                <a:latin typeface="+mn-ea"/>
              </a:rPr>
              <a:t>7</a:t>
            </a:r>
            <a:endParaRPr lang="ko-KR" altLang="en-US" sz="1600" b="1">
              <a:solidFill>
                <a:schemeClr val="tx1"/>
              </a:solidFill>
              <a:latin typeface="+mn-ea"/>
            </a:endParaRPr>
          </a:p>
        </p:txBody>
      </p:sp>
      <p:sp>
        <p:nvSpPr>
          <p:cNvPr id="38" name="Rectangle: Rounded Corners 54">
            <a:extLst>
              <a:ext uri="{FF2B5EF4-FFF2-40B4-BE49-F238E27FC236}">
                <a16:creationId xmlns:a16="http://schemas.microsoft.com/office/drawing/2014/main" id="{DD9D23C8-0D94-0868-F38D-6D23CE23B84D}"/>
              </a:ext>
            </a:extLst>
          </p:cNvPr>
          <p:cNvSpPr/>
          <p:nvPr/>
        </p:nvSpPr>
        <p:spPr>
          <a:xfrm>
            <a:off x="1811005" y="5289982"/>
            <a:ext cx="6332870" cy="38234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bg1">
                <a:lumMod val="50000"/>
              </a:schemeClr>
            </a:solidFill>
            <a:prstDash val="dash"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1200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생성형 </a:t>
            </a:r>
            <a:r>
              <a:rPr lang="en-US" altLang="ko-KR" sz="1200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AI </a:t>
            </a:r>
            <a:r>
              <a:rPr lang="ko-KR" altLang="en-US" sz="1200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특화 보안 대책 수립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7A9AE86F-8412-CCB5-3F53-49EFC4D8511C}"/>
              </a:ext>
            </a:extLst>
          </p:cNvPr>
          <p:cNvSpPr/>
          <p:nvPr/>
        </p:nvSpPr>
        <p:spPr>
          <a:xfrm>
            <a:off x="1811005" y="5289982"/>
            <a:ext cx="288000" cy="229404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C55A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600" b="1">
                <a:solidFill>
                  <a:schemeClr val="tx1"/>
                </a:solidFill>
                <a:latin typeface="+mn-ea"/>
              </a:rPr>
              <a:t>4</a:t>
            </a:r>
            <a:endParaRPr lang="ko-KR" altLang="en-US" sz="1600" b="1">
              <a:solidFill>
                <a:schemeClr val="tx1"/>
              </a:solidFill>
              <a:latin typeface="+mn-ea"/>
            </a:endParaRPr>
          </a:p>
        </p:txBody>
      </p:sp>
      <p:sp>
        <p:nvSpPr>
          <p:cNvPr id="44" name="Rectangle: Rounded Corners 54">
            <a:extLst>
              <a:ext uri="{FF2B5EF4-FFF2-40B4-BE49-F238E27FC236}">
                <a16:creationId xmlns:a16="http://schemas.microsoft.com/office/drawing/2014/main" id="{E1C88AB0-2707-CC61-983F-E0D16E78D44E}"/>
              </a:ext>
            </a:extLst>
          </p:cNvPr>
          <p:cNvSpPr/>
          <p:nvPr/>
        </p:nvSpPr>
        <p:spPr>
          <a:xfrm>
            <a:off x="1122465" y="2973811"/>
            <a:ext cx="2010367" cy="38234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1200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To-Be </a:t>
            </a:r>
            <a:r>
              <a:rPr lang="ko-KR" altLang="en-US" sz="1200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참조 모델 작성</a:t>
            </a:r>
          </a:p>
        </p:txBody>
      </p:sp>
      <p:sp>
        <p:nvSpPr>
          <p:cNvPr id="18" name="Rectangle: Rounded Corners 54">
            <a:extLst>
              <a:ext uri="{FF2B5EF4-FFF2-40B4-BE49-F238E27FC236}">
                <a16:creationId xmlns:a16="http://schemas.microsoft.com/office/drawing/2014/main" id="{978183E6-64DD-11B8-A18B-392AD395D950}"/>
              </a:ext>
            </a:extLst>
          </p:cNvPr>
          <p:cNvSpPr/>
          <p:nvPr/>
        </p:nvSpPr>
        <p:spPr>
          <a:xfrm>
            <a:off x="8224255" y="5289982"/>
            <a:ext cx="2719970" cy="38234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1200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AI</a:t>
            </a:r>
            <a:r>
              <a:rPr lang="ko-KR" altLang="en-US" sz="1200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성능 평가 및 고도화 방안 수립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9AA606EB-9DD2-EA21-4BBD-3B4BA843AE35}"/>
              </a:ext>
            </a:extLst>
          </p:cNvPr>
          <p:cNvSpPr/>
          <p:nvPr/>
        </p:nvSpPr>
        <p:spPr>
          <a:xfrm>
            <a:off x="8209967" y="5289982"/>
            <a:ext cx="288000" cy="229404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C55A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600" b="1">
                <a:solidFill>
                  <a:schemeClr val="tx1"/>
                </a:solidFill>
                <a:latin typeface="+mn-ea"/>
              </a:rPr>
              <a:t>6</a:t>
            </a:r>
            <a:endParaRPr lang="ko-KR" altLang="en-US" sz="1600" b="1">
              <a:solidFill>
                <a:schemeClr val="tx1"/>
              </a:solidFill>
              <a:latin typeface="+mn-ea"/>
            </a:endParaRP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8FF4A4C2-7BBF-8A4E-1A95-D2327EC2948E}"/>
              </a:ext>
            </a:extLst>
          </p:cNvPr>
          <p:cNvSpPr/>
          <p:nvPr/>
        </p:nvSpPr>
        <p:spPr>
          <a:xfrm>
            <a:off x="1122465" y="2973811"/>
            <a:ext cx="270212" cy="229404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C55A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600" b="1">
                <a:solidFill>
                  <a:schemeClr val="tx1"/>
                </a:solidFill>
                <a:latin typeface="+mn-ea"/>
              </a:rPr>
              <a:t>2</a:t>
            </a:r>
            <a:endParaRPr lang="ko-KR" altLang="en-US" sz="1600" b="1">
              <a:solidFill>
                <a:schemeClr val="tx1"/>
              </a:solidFill>
              <a:latin typeface="+mn-ea"/>
            </a:endParaRPr>
          </a:p>
        </p:txBody>
      </p:sp>
      <p:sp>
        <p:nvSpPr>
          <p:cNvPr id="36" name="Rectangle: Rounded Corners 54">
            <a:extLst>
              <a:ext uri="{FF2B5EF4-FFF2-40B4-BE49-F238E27FC236}">
                <a16:creationId xmlns:a16="http://schemas.microsoft.com/office/drawing/2014/main" id="{BE6E58E7-DA75-2905-358C-B98B586C3B1D}"/>
              </a:ext>
            </a:extLst>
          </p:cNvPr>
          <p:cNvSpPr/>
          <p:nvPr/>
        </p:nvSpPr>
        <p:spPr>
          <a:xfrm>
            <a:off x="8910278" y="3409478"/>
            <a:ext cx="1383071" cy="57350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1200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75000"/>
                  </a:schemeClr>
                </a:solidFill>
                <a:latin typeface="+mn-ea"/>
              </a:rPr>
              <a:t>AI</a:t>
            </a:r>
            <a:r>
              <a:rPr lang="ko-KR" altLang="en-US" sz="1200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75000"/>
                  </a:schemeClr>
                </a:solidFill>
                <a:latin typeface="+mn-ea"/>
              </a:rPr>
              <a:t>거버넌스 규정 협의 </a:t>
            </a:r>
            <a:r>
              <a:rPr lang="en-US" altLang="ko-KR" sz="1200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75000"/>
                  </a:schemeClr>
                </a:solidFill>
                <a:latin typeface="+mn-ea"/>
              </a:rPr>
              <a:t>(w/ </a:t>
            </a:r>
            <a:r>
              <a:rPr lang="ko-KR" altLang="en-US" sz="1200" spc="-7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75000"/>
                  </a:schemeClr>
                </a:solidFill>
                <a:latin typeface="+mn-ea"/>
              </a:rPr>
              <a:t>타팀</a:t>
            </a:r>
            <a:r>
              <a:rPr lang="en-US" altLang="ko-KR" sz="1200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75000"/>
                  </a:schemeClr>
                </a:solidFill>
                <a:latin typeface="+mn-ea"/>
              </a:rPr>
              <a:t>)</a:t>
            </a:r>
            <a:endParaRPr lang="ko-KR" altLang="en-US" sz="1200" spc="-7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bg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43" name="Rectangle: Rounded Corners 54">
            <a:extLst>
              <a:ext uri="{FF2B5EF4-FFF2-40B4-BE49-F238E27FC236}">
                <a16:creationId xmlns:a16="http://schemas.microsoft.com/office/drawing/2014/main" id="{74EE4B4C-EBC7-5961-80B6-6BBE5DDC030C}"/>
              </a:ext>
            </a:extLst>
          </p:cNvPr>
          <p:cNvSpPr/>
          <p:nvPr/>
        </p:nvSpPr>
        <p:spPr>
          <a:xfrm>
            <a:off x="8910278" y="4036312"/>
            <a:ext cx="1383071" cy="57350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1200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75000"/>
                  </a:schemeClr>
                </a:solidFill>
                <a:latin typeface="+mn-ea"/>
              </a:rPr>
              <a:t>AI</a:t>
            </a:r>
            <a:r>
              <a:rPr lang="ko-KR" altLang="en-US" sz="1200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75000"/>
                  </a:schemeClr>
                </a:solidFill>
                <a:latin typeface="+mn-ea"/>
              </a:rPr>
              <a:t>거버넌스 운영 지침 협의 </a:t>
            </a:r>
            <a:r>
              <a:rPr lang="en-US" altLang="ko-KR" sz="1200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75000"/>
                  </a:schemeClr>
                </a:solidFill>
                <a:latin typeface="+mn-ea"/>
              </a:rPr>
              <a:t>(w/ </a:t>
            </a:r>
            <a:r>
              <a:rPr lang="ko-KR" altLang="en-US" sz="1200" spc="-7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75000"/>
                  </a:schemeClr>
                </a:solidFill>
                <a:latin typeface="+mn-ea"/>
              </a:rPr>
              <a:t>타팀</a:t>
            </a:r>
            <a:r>
              <a:rPr lang="en-US" altLang="ko-KR" sz="1200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75000"/>
                  </a:schemeClr>
                </a:solidFill>
                <a:latin typeface="+mn-ea"/>
              </a:rPr>
              <a:t>)</a:t>
            </a:r>
            <a:endParaRPr lang="ko-KR" altLang="en-US" sz="1200" spc="-7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bg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46" name="Rectangle: Rounded Corners 54">
            <a:extLst>
              <a:ext uri="{FF2B5EF4-FFF2-40B4-BE49-F238E27FC236}">
                <a16:creationId xmlns:a16="http://schemas.microsoft.com/office/drawing/2014/main" id="{64E3C661-216C-7932-791A-4B1B6FF5DA91}"/>
              </a:ext>
            </a:extLst>
          </p:cNvPr>
          <p:cNvSpPr/>
          <p:nvPr/>
        </p:nvSpPr>
        <p:spPr>
          <a:xfrm>
            <a:off x="8910278" y="4663148"/>
            <a:ext cx="1383071" cy="57350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1200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75000"/>
                  </a:schemeClr>
                </a:solidFill>
                <a:latin typeface="+mn-ea"/>
              </a:rPr>
              <a:t>AI </a:t>
            </a:r>
            <a:r>
              <a:rPr lang="ko-KR" altLang="en-US" sz="1200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75000"/>
                  </a:schemeClr>
                </a:solidFill>
                <a:latin typeface="+mn-ea"/>
              </a:rPr>
              <a:t>개발운영 지침 협의 </a:t>
            </a:r>
            <a:r>
              <a:rPr lang="en-US" altLang="ko-KR" sz="1200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75000"/>
                  </a:schemeClr>
                </a:solidFill>
                <a:latin typeface="+mn-ea"/>
              </a:rPr>
              <a:t>(w/ </a:t>
            </a:r>
            <a:r>
              <a:rPr lang="ko-KR" altLang="en-US" sz="1200" spc="-7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75000"/>
                  </a:schemeClr>
                </a:solidFill>
                <a:latin typeface="+mn-ea"/>
              </a:rPr>
              <a:t>타팀</a:t>
            </a:r>
            <a:r>
              <a:rPr lang="en-US" altLang="ko-KR" sz="1200" spc="-7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75000"/>
                  </a:schemeClr>
                </a:solidFill>
                <a:latin typeface="+mn-ea"/>
              </a:rPr>
              <a:t>)</a:t>
            </a:r>
            <a:endParaRPr lang="ko-KR" altLang="en-US" sz="1200" spc="-7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bg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19" name="Rectangle: Rounded Corners 54">
            <a:extLst>
              <a:ext uri="{FF2B5EF4-FFF2-40B4-BE49-F238E27FC236}">
                <a16:creationId xmlns:a16="http://schemas.microsoft.com/office/drawing/2014/main" id="{356FB6FA-262D-093B-8267-4B8A35F340A9}"/>
              </a:ext>
            </a:extLst>
          </p:cNvPr>
          <p:cNvSpPr/>
          <p:nvPr/>
        </p:nvSpPr>
        <p:spPr>
          <a:xfrm>
            <a:off x="1811006" y="3409478"/>
            <a:ext cx="7040894" cy="573509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pPr lvl="0" algn="ctr">
              <a:defRPr/>
            </a:pPr>
            <a:r>
              <a:rPr lang="en-US" altLang="ko-KR" sz="120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AI</a:t>
            </a:r>
            <a:r>
              <a:rPr lang="ko-KR" altLang="en-US" sz="120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거버넌스 규정 수립</a:t>
            </a:r>
            <a:endParaRPr kumimoji="0" lang="ko-KR" altLang="en-US" sz="1200" b="0" i="0" u="none" strike="noStrike" kern="1200" cap="none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0" name="Rectangle: Rounded Corners 54">
            <a:extLst>
              <a:ext uri="{FF2B5EF4-FFF2-40B4-BE49-F238E27FC236}">
                <a16:creationId xmlns:a16="http://schemas.microsoft.com/office/drawing/2014/main" id="{860C33DC-741A-991B-5AF9-E608DA1945F7}"/>
              </a:ext>
            </a:extLst>
          </p:cNvPr>
          <p:cNvSpPr/>
          <p:nvPr/>
        </p:nvSpPr>
        <p:spPr>
          <a:xfrm>
            <a:off x="1899159" y="3676510"/>
            <a:ext cx="1230901" cy="229403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txBody>
          <a:bodyPr wrap="none" lIns="0" tIns="0" rIns="0" bIns="0" rtlCol="0" anchor="ctr">
            <a:noAutofit/>
          </a:bodyPr>
          <a:lstStyle/>
          <a:p>
            <a:pPr lvl="0" algn="ctr">
              <a:defRPr/>
            </a:pPr>
            <a:r>
              <a:rPr lang="ko-KR" altLang="en-US" sz="1000" spc="-7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초안 작성</a:t>
            </a:r>
            <a:r>
              <a:rPr lang="en-US" altLang="ko-KR" sz="1000" spc="-7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&amp;</a:t>
            </a:r>
            <a:r>
              <a:rPr lang="ko-KR" altLang="en-US" sz="1000" spc="-7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전달</a:t>
            </a:r>
            <a:endParaRPr kumimoji="0" lang="ko-KR" altLang="en-US" sz="1000" b="0" i="0" u="none" strike="noStrike" kern="1200" cap="none" spc="-70" normalizeH="0" baseline="0" noProof="0">
              <a:ln>
                <a:solidFill>
                  <a:prstClr val="white">
                    <a:alpha val="0"/>
                  </a:prstClr>
                </a:solidFill>
              </a:ln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1" name="Rectangle: Rounded Corners 54">
            <a:extLst>
              <a:ext uri="{FF2B5EF4-FFF2-40B4-BE49-F238E27FC236}">
                <a16:creationId xmlns:a16="http://schemas.microsoft.com/office/drawing/2014/main" id="{CC9B5640-EF3A-1A2C-3556-ED151C5D72B2}"/>
              </a:ext>
            </a:extLst>
          </p:cNvPr>
          <p:cNvSpPr/>
          <p:nvPr/>
        </p:nvSpPr>
        <p:spPr>
          <a:xfrm>
            <a:off x="3206895" y="3676510"/>
            <a:ext cx="2782425" cy="229403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lvl="0" algn="ctr">
              <a:defRPr/>
            </a:pPr>
            <a:r>
              <a:rPr lang="ko-KR" altLang="en-US" sz="1000" spc="-7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리뷰</a:t>
            </a:r>
            <a:r>
              <a:rPr lang="en-US" altLang="ko-KR" sz="1000" spc="-7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/</a:t>
            </a:r>
            <a:r>
              <a:rPr lang="ko-KR" altLang="en-US" sz="1000" spc="-7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보완</a:t>
            </a:r>
            <a:endParaRPr kumimoji="0" lang="ko-KR" altLang="en-US" sz="1000" b="0" i="0" u="none" strike="noStrike" kern="1200" cap="none" spc="-70" normalizeH="0" baseline="0" noProof="0">
              <a:ln>
                <a:solidFill>
                  <a:prstClr val="white">
                    <a:alpha val="0"/>
                  </a:prstClr>
                </a:solidFill>
              </a:ln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12F50A1F-347A-FC3D-BF03-82711735B5B7}"/>
              </a:ext>
            </a:extLst>
          </p:cNvPr>
          <p:cNvSpPr/>
          <p:nvPr/>
        </p:nvSpPr>
        <p:spPr>
          <a:xfrm>
            <a:off x="1811006" y="3409478"/>
            <a:ext cx="270212" cy="229403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C55A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600" b="1">
                <a:solidFill>
                  <a:schemeClr val="tx1"/>
                </a:solidFill>
                <a:latin typeface="+mn-ea"/>
              </a:rPr>
              <a:t>3</a:t>
            </a:r>
            <a:endParaRPr lang="ko-KR" altLang="en-US" sz="1600" b="1">
              <a:solidFill>
                <a:schemeClr val="tx1"/>
              </a:solidFill>
              <a:latin typeface="+mn-ea"/>
            </a:endParaRPr>
          </a:p>
        </p:txBody>
      </p:sp>
      <p:sp>
        <p:nvSpPr>
          <p:cNvPr id="22" name="Rectangle: Rounded Corners 54">
            <a:extLst>
              <a:ext uri="{FF2B5EF4-FFF2-40B4-BE49-F238E27FC236}">
                <a16:creationId xmlns:a16="http://schemas.microsoft.com/office/drawing/2014/main" id="{34C1EC97-1D99-6A13-6529-A1A50A66709C}"/>
              </a:ext>
            </a:extLst>
          </p:cNvPr>
          <p:cNvSpPr/>
          <p:nvPr/>
        </p:nvSpPr>
        <p:spPr>
          <a:xfrm>
            <a:off x="1811006" y="4036313"/>
            <a:ext cx="7040894" cy="573509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pPr lvl="0" algn="ctr">
              <a:defRPr/>
            </a:pPr>
            <a:r>
              <a:rPr lang="en-US" altLang="ko-KR" sz="120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AI</a:t>
            </a:r>
            <a:r>
              <a:rPr lang="ko-KR" altLang="en-US" sz="120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거버넌스 운영 지침 수립</a:t>
            </a:r>
            <a:endParaRPr kumimoji="0" lang="ko-KR" altLang="en-US" sz="1200" b="0" i="0" u="none" strike="noStrike" kern="1200" cap="none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3" name="Rectangle: Rounded Corners 54">
            <a:extLst>
              <a:ext uri="{FF2B5EF4-FFF2-40B4-BE49-F238E27FC236}">
                <a16:creationId xmlns:a16="http://schemas.microsoft.com/office/drawing/2014/main" id="{BC5B999E-89B2-967B-237A-71089A9CADCF}"/>
              </a:ext>
            </a:extLst>
          </p:cNvPr>
          <p:cNvSpPr/>
          <p:nvPr/>
        </p:nvSpPr>
        <p:spPr>
          <a:xfrm>
            <a:off x="1899159" y="4303345"/>
            <a:ext cx="1230901" cy="229403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txBody>
          <a:bodyPr wrap="none" lIns="0" tIns="0" rIns="0" bIns="0" rtlCol="0" anchor="ctr">
            <a:noAutofit/>
          </a:bodyPr>
          <a:lstStyle/>
          <a:p>
            <a:pPr lvl="0" algn="ctr">
              <a:defRPr/>
            </a:pPr>
            <a:r>
              <a:rPr lang="ko-KR" altLang="en-US" sz="1000" spc="-7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초안 작성</a:t>
            </a:r>
            <a:r>
              <a:rPr lang="en-US" altLang="ko-KR" sz="1000" spc="-7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&amp;</a:t>
            </a:r>
            <a:r>
              <a:rPr lang="ko-KR" altLang="en-US" sz="1000" spc="-7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전달</a:t>
            </a:r>
          </a:p>
        </p:txBody>
      </p:sp>
      <p:sp>
        <p:nvSpPr>
          <p:cNvPr id="24" name="Rectangle: Rounded Corners 54">
            <a:extLst>
              <a:ext uri="{FF2B5EF4-FFF2-40B4-BE49-F238E27FC236}">
                <a16:creationId xmlns:a16="http://schemas.microsoft.com/office/drawing/2014/main" id="{D48FF98D-88DB-C1AC-A1DA-C4F568FA71E6}"/>
              </a:ext>
            </a:extLst>
          </p:cNvPr>
          <p:cNvSpPr/>
          <p:nvPr/>
        </p:nvSpPr>
        <p:spPr>
          <a:xfrm>
            <a:off x="3206895" y="4303345"/>
            <a:ext cx="2782425" cy="229403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lvl="0" algn="ctr">
              <a:defRPr/>
            </a:pPr>
            <a:r>
              <a:rPr lang="ko-KR" altLang="en-US" sz="1000" spc="-7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리뷰</a:t>
            </a:r>
            <a:r>
              <a:rPr lang="en-US" altLang="ko-KR" sz="1000" spc="-7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/</a:t>
            </a:r>
            <a:r>
              <a:rPr lang="ko-KR" altLang="en-US" sz="1000" spc="-7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보완</a:t>
            </a:r>
            <a:endParaRPr kumimoji="0" lang="ko-KR" altLang="en-US" sz="1000" b="0" i="0" u="none" strike="noStrike" kern="1200" cap="none" spc="-70" normalizeH="0" baseline="0" noProof="0">
              <a:ln>
                <a:solidFill>
                  <a:prstClr val="white">
                    <a:alpha val="0"/>
                  </a:prstClr>
                </a:solidFill>
              </a:ln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50CC8055-A3EC-AA09-800E-8DB3CDCDD91E}"/>
              </a:ext>
            </a:extLst>
          </p:cNvPr>
          <p:cNvSpPr/>
          <p:nvPr/>
        </p:nvSpPr>
        <p:spPr>
          <a:xfrm>
            <a:off x="1811006" y="4036313"/>
            <a:ext cx="270212" cy="229403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C55A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600" b="1">
                <a:solidFill>
                  <a:schemeClr val="tx1"/>
                </a:solidFill>
                <a:latin typeface="+mn-ea"/>
              </a:rPr>
              <a:t>3</a:t>
            </a:r>
            <a:endParaRPr lang="ko-KR" altLang="en-US" sz="1600" b="1">
              <a:solidFill>
                <a:schemeClr val="tx1"/>
              </a:solidFill>
              <a:latin typeface="+mn-ea"/>
            </a:endParaRPr>
          </a:p>
        </p:txBody>
      </p:sp>
      <p:sp>
        <p:nvSpPr>
          <p:cNvPr id="25" name="Rectangle: Rounded Corners 54">
            <a:extLst>
              <a:ext uri="{FF2B5EF4-FFF2-40B4-BE49-F238E27FC236}">
                <a16:creationId xmlns:a16="http://schemas.microsoft.com/office/drawing/2014/main" id="{0001093C-40B7-83C6-4989-0445B4D6E081}"/>
              </a:ext>
            </a:extLst>
          </p:cNvPr>
          <p:cNvSpPr/>
          <p:nvPr/>
        </p:nvSpPr>
        <p:spPr>
          <a:xfrm>
            <a:off x="1811006" y="4663147"/>
            <a:ext cx="7040894" cy="573509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pPr lvl="0" algn="ctr">
              <a:defRPr/>
            </a:pPr>
            <a:r>
              <a:rPr lang="en-US" altLang="ko-KR" sz="120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AI </a:t>
            </a:r>
            <a:r>
              <a:rPr lang="ko-KR" altLang="en-US" sz="120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개발운영 지침 수립</a:t>
            </a:r>
            <a:endParaRPr kumimoji="0" lang="ko-KR" altLang="en-US" sz="1200" b="0" i="0" u="none" strike="noStrike" kern="1200" cap="none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6" name="Rectangle: Rounded Corners 54">
            <a:extLst>
              <a:ext uri="{FF2B5EF4-FFF2-40B4-BE49-F238E27FC236}">
                <a16:creationId xmlns:a16="http://schemas.microsoft.com/office/drawing/2014/main" id="{5BCFD235-F756-7FFC-A0DE-2D67310A0EB7}"/>
              </a:ext>
            </a:extLst>
          </p:cNvPr>
          <p:cNvSpPr/>
          <p:nvPr/>
        </p:nvSpPr>
        <p:spPr>
          <a:xfrm>
            <a:off x="1899160" y="4930179"/>
            <a:ext cx="1230901" cy="229403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txBody>
          <a:bodyPr wrap="none" lIns="0" tIns="0" rIns="0" bIns="0" rtlCol="0" anchor="ctr">
            <a:noAutofit/>
          </a:bodyPr>
          <a:lstStyle/>
          <a:p>
            <a:pPr lvl="0" algn="ctr">
              <a:defRPr/>
            </a:pPr>
            <a:r>
              <a:rPr lang="ko-KR" altLang="en-US" sz="1000" spc="-7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초안 작성</a:t>
            </a:r>
            <a:r>
              <a:rPr lang="en-US" altLang="ko-KR" sz="1000" spc="-7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&amp;</a:t>
            </a:r>
            <a:r>
              <a:rPr lang="ko-KR" altLang="en-US" sz="1000" spc="-7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전달</a:t>
            </a:r>
          </a:p>
        </p:txBody>
      </p:sp>
      <p:sp>
        <p:nvSpPr>
          <p:cNvPr id="27" name="Rectangle: Rounded Corners 54">
            <a:extLst>
              <a:ext uri="{FF2B5EF4-FFF2-40B4-BE49-F238E27FC236}">
                <a16:creationId xmlns:a16="http://schemas.microsoft.com/office/drawing/2014/main" id="{EA7EE545-23F2-5565-8801-62F7D82DFA3E}"/>
              </a:ext>
            </a:extLst>
          </p:cNvPr>
          <p:cNvSpPr/>
          <p:nvPr/>
        </p:nvSpPr>
        <p:spPr>
          <a:xfrm>
            <a:off x="3206896" y="4930179"/>
            <a:ext cx="2782425" cy="229403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lvl="0" algn="ctr">
              <a:defRPr/>
            </a:pPr>
            <a:r>
              <a:rPr lang="ko-KR" altLang="en-US" sz="1000" spc="-7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리뷰</a:t>
            </a:r>
            <a:r>
              <a:rPr lang="en-US" altLang="ko-KR" sz="1000" spc="-7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/</a:t>
            </a:r>
            <a:r>
              <a:rPr lang="ko-KR" altLang="en-US" sz="1000" spc="-7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보완</a:t>
            </a:r>
            <a:endParaRPr kumimoji="0" lang="ko-KR" altLang="en-US" sz="1000" b="0" i="0" u="none" strike="noStrike" kern="1200" cap="none" spc="-70" normalizeH="0" baseline="0" noProof="0">
              <a:ln>
                <a:solidFill>
                  <a:prstClr val="white">
                    <a:alpha val="0"/>
                  </a:prstClr>
                </a:solidFill>
              </a:ln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B3AFA978-15FA-6275-4C79-2C001972A70C}"/>
              </a:ext>
            </a:extLst>
          </p:cNvPr>
          <p:cNvSpPr/>
          <p:nvPr/>
        </p:nvSpPr>
        <p:spPr>
          <a:xfrm>
            <a:off x="1811006" y="4663147"/>
            <a:ext cx="270212" cy="229403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C55A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600" b="1">
                <a:solidFill>
                  <a:schemeClr val="tx1"/>
                </a:solidFill>
                <a:latin typeface="+mn-ea"/>
              </a:rPr>
              <a:t>3</a:t>
            </a:r>
            <a:endParaRPr lang="ko-KR" altLang="en-US" sz="1600" b="1">
              <a:solidFill>
                <a:schemeClr val="tx1"/>
              </a:solidFill>
              <a:latin typeface="+mn-ea"/>
            </a:endParaRPr>
          </a:p>
        </p:txBody>
      </p:sp>
      <p:sp>
        <p:nvSpPr>
          <p:cNvPr id="67" name="사각형: 둥근 모서리 38">
            <a:extLst>
              <a:ext uri="{FF2B5EF4-FFF2-40B4-BE49-F238E27FC236}">
                <a16:creationId xmlns:a16="http://schemas.microsoft.com/office/drawing/2014/main" id="{AE5A0A9E-9E5D-CF6E-8AD2-CB3222EF2910}"/>
              </a:ext>
            </a:extLst>
          </p:cNvPr>
          <p:cNvSpPr/>
          <p:nvPr/>
        </p:nvSpPr>
        <p:spPr>
          <a:xfrm>
            <a:off x="7494005" y="5733772"/>
            <a:ext cx="288000" cy="229404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C55A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600" b="1">
                <a:solidFill>
                  <a:schemeClr val="tx1"/>
                </a:solidFill>
                <a:latin typeface="+mn-ea"/>
              </a:rPr>
              <a:t>5</a:t>
            </a:r>
            <a:endParaRPr lang="ko-KR" altLang="en-US" sz="1600" b="1">
              <a:solidFill>
                <a:schemeClr val="tx1"/>
              </a:solidFill>
              <a:latin typeface="+mn-ea"/>
            </a:endParaRPr>
          </a:p>
        </p:txBody>
      </p:sp>
      <p:sp>
        <p:nvSpPr>
          <p:cNvPr id="68" name="Rectangle: Rounded Corners 54">
            <a:extLst>
              <a:ext uri="{FF2B5EF4-FFF2-40B4-BE49-F238E27FC236}">
                <a16:creationId xmlns:a16="http://schemas.microsoft.com/office/drawing/2014/main" id="{D9B2AE48-A6DA-AF5A-A364-12A1115D6144}"/>
              </a:ext>
            </a:extLst>
          </p:cNvPr>
          <p:cNvSpPr/>
          <p:nvPr/>
        </p:nvSpPr>
        <p:spPr>
          <a:xfrm>
            <a:off x="6248400" y="3676510"/>
            <a:ext cx="2533650" cy="229403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lvl="0" algn="ctr">
              <a:defRPr/>
            </a:pPr>
            <a:r>
              <a:rPr lang="ko-KR" altLang="en-US" sz="1000" spc="-7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금융분야 </a:t>
            </a:r>
            <a:r>
              <a:rPr lang="en-US" altLang="ko-KR" sz="1000" spc="-7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AI </a:t>
            </a:r>
            <a:r>
              <a:rPr lang="ko-KR" altLang="en-US" sz="1000" spc="-7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가이드라인</a:t>
            </a:r>
            <a:r>
              <a:rPr lang="en-US" altLang="ko-KR" sz="1000" spc="-7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(</a:t>
            </a:r>
            <a:r>
              <a:rPr lang="ko-KR" altLang="en-US" sz="1000" spc="-7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안</a:t>
            </a:r>
            <a:r>
              <a:rPr lang="en-US" altLang="ko-KR" sz="1000" spc="-7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)* </a:t>
            </a:r>
            <a:r>
              <a:rPr lang="ko-KR" altLang="en-US" sz="1000" spc="-7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반영 </a:t>
            </a:r>
            <a:r>
              <a:rPr lang="en-US" altLang="ko-KR" sz="1000" spc="-7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&amp; </a:t>
            </a:r>
            <a:r>
              <a:rPr lang="ko-KR" altLang="en-US" sz="1000" spc="-7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리뷰</a:t>
            </a:r>
            <a:r>
              <a:rPr lang="en-US" altLang="ko-KR" sz="1000" spc="-7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/</a:t>
            </a:r>
            <a:r>
              <a:rPr lang="ko-KR" altLang="en-US" sz="1000" spc="-7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보완</a:t>
            </a:r>
            <a:endParaRPr kumimoji="0" lang="ko-KR" altLang="en-US" sz="1000" b="0" i="0" u="none" strike="noStrike" kern="1200" cap="none" spc="-70" normalizeH="0" baseline="0" noProof="0">
              <a:ln>
                <a:solidFill>
                  <a:prstClr val="white">
                    <a:alpha val="0"/>
                  </a:prstClr>
                </a:solidFill>
              </a:ln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69" name="Rectangle: Rounded Corners 54">
            <a:extLst>
              <a:ext uri="{FF2B5EF4-FFF2-40B4-BE49-F238E27FC236}">
                <a16:creationId xmlns:a16="http://schemas.microsoft.com/office/drawing/2014/main" id="{65EEAC57-6EB7-AA45-7F13-553C8F6DA335}"/>
              </a:ext>
            </a:extLst>
          </p:cNvPr>
          <p:cNvSpPr/>
          <p:nvPr/>
        </p:nvSpPr>
        <p:spPr>
          <a:xfrm>
            <a:off x="6248400" y="4303345"/>
            <a:ext cx="2533650" cy="229403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lvl="0" algn="ctr">
              <a:defRPr/>
            </a:pPr>
            <a:r>
              <a:rPr lang="ko-KR" altLang="en-US" sz="1000" spc="-7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금융분야 </a:t>
            </a:r>
            <a:r>
              <a:rPr lang="en-US" altLang="ko-KR" sz="1000" spc="-7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AI </a:t>
            </a:r>
            <a:r>
              <a:rPr lang="ko-KR" altLang="en-US" sz="1000" spc="-7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가이드라인</a:t>
            </a:r>
            <a:r>
              <a:rPr lang="en-US" altLang="ko-KR" sz="1000" spc="-7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(</a:t>
            </a:r>
            <a:r>
              <a:rPr lang="ko-KR" altLang="en-US" sz="1000" spc="-7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안</a:t>
            </a:r>
            <a:r>
              <a:rPr lang="en-US" altLang="ko-KR" sz="1000" spc="-7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)* </a:t>
            </a:r>
            <a:r>
              <a:rPr lang="ko-KR" altLang="en-US" sz="1000" spc="-7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반영 </a:t>
            </a:r>
            <a:r>
              <a:rPr lang="en-US" altLang="ko-KR" sz="1000" spc="-7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&amp; </a:t>
            </a:r>
            <a:r>
              <a:rPr lang="ko-KR" altLang="en-US" sz="1000" spc="-7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리뷰</a:t>
            </a:r>
            <a:r>
              <a:rPr lang="en-US" altLang="ko-KR" sz="1000" spc="-7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/</a:t>
            </a:r>
            <a:r>
              <a:rPr lang="ko-KR" altLang="en-US" sz="1000" spc="-7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보완</a:t>
            </a:r>
          </a:p>
        </p:txBody>
      </p:sp>
      <p:sp>
        <p:nvSpPr>
          <p:cNvPr id="70" name="Rectangle: Rounded Corners 54">
            <a:extLst>
              <a:ext uri="{FF2B5EF4-FFF2-40B4-BE49-F238E27FC236}">
                <a16:creationId xmlns:a16="http://schemas.microsoft.com/office/drawing/2014/main" id="{33F2B050-0CFC-0096-9BD4-BFC76FE06BBA}"/>
              </a:ext>
            </a:extLst>
          </p:cNvPr>
          <p:cNvSpPr/>
          <p:nvPr/>
        </p:nvSpPr>
        <p:spPr>
          <a:xfrm>
            <a:off x="6248401" y="4930179"/>
            <a:ext cx="2533650" cy="229403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lvl="0" algn="ctr">
              <a:defRPr/>
            </a:pPr>
            <a:r>
              <a:rPr lang="ko-KR" altLang="en-US" sz="1000" spc="-7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금융분야 </a:t>
            </a:r>
            <a:r>
              <a:rPr lang="en-US" altLang="ko-KR" sz="1000" spc="-7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AI </a:t>
            </a:r>
            <a:r>
              <a:rPr lang="ko-KR" altLang="en-US" sz="1000" spc="-7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가이드라인</a:t>
            </a:r>
            <a:r>
              <a:rPr lang="en-US" altLang="ko-KR" sz="1000" spc="-7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(</a:t>
            </a:r>
            <a:r>
              <a:rPr lang="ko-KR" altLang="en-US" sz="1000" spc="-7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안</a:t>
            </a:r>
            <a:r>
              <a:rPr lang="en-US" altLang="ko-KR" sz="1000" spc="-7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)* </a:t>
            </a:r>
            <a:r>
              <a:rPr lang="ko-KR" altLang="en-US" sz="1000" spc="-7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반영 </a:t>
            </a:r>
            <a:r>
              <a:rPr lang="en-US" altLang="ko-KR" sz="1000" spc="-7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&amp; </a:t>
            </a:r>
            <a:r>
              <a:rPr lang="ko-KR" altLang="en-US" sz="1000" spc="-7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리뷰</a:t>
            </a:r>
            <a:r>
              <a:rPr lang="en-US" altLang="ko-KR" sz="1000" spc="-7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/</a:t>
            </a:r>
            <a:r>
              <a:rPr lang="ko-KR" altLang="en-US" sz="1000" spc="-7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보완</a:t>
            </a:r>
          </a:p>
        </p:txBody>
      </p:sp>
      <p:sp>
        <p:nvSpPr>
          <p:cNvPr id="49" name="Freeform 1754">
            <a:extLst>
              <a:ext uri="{FF2B5EF4-FFF2-40B4-BE49-F238E27FC236}">
                <a16:creationId xmlns:a16="http://schemas.microsoft.com/office/drawing/2014/main" id="{91EBF9D5-D73B-6CEE-4953-C6F0619DB185}"/>
              </a:ext>
            </a:extLst>
          </p:cNvPr>
          <p:cNvSpPr>
            <a:spLocks noChangeAspect="1"/>
          </p:cNvSpPr>
          <p:nvPr/>
        </p:nvSpPr>
        <p:spPr bwMode="gray">
          <a:xfrm>
            <a:off x="10736163" y="5236604"/>
            <a:ext cx="216000" cy="185549"/>
          </a:xfrm>
          <a:custGeom>
            <a:avLst/>
            <a:gdLst>
              <a:gd name="T0" fmla="*/ 2147483646 w 4916"/>
              <a:gd name="T1" fmla="*/ 2147483646 h 3388"/>
              <a:gd name="T2" fmla="*/ 2147483646 w 4916"/>
              <a:gd name="T3" fmla="*/ 2147483646 h 3388"/>
              <a:gd name="T4" fmla="*/ 2147483646 w 4916"/>
              <a:gd name="T5" fmla="*/ 2147483646 h 3388"/>
              <a:gd name="T6" fmla="*/ 2147483646 w 4916"/>
              <a:gd name="T7" fmla="*/ 2147483646 h 3388"/>
              <a:gd name="T8" fmla="*/ 2147483646 w 4916"/>
              <a:gd name="T9" fmla="*/ 2147483646 h 3388"/>
              <a:gd name="T10" fmla="*/ 2147483646 w 4916"/>
              <a:gd name="T11" fmla="*/ 2147483646 h 3388"/>
              <a:gd name="T12" fmla="*/ 2147483646 w 4916"/>
              <a:gd name="T13" fmla="*/ 2147483646 h 3388"/>
              <a:gd name="T14" fmla="*/ 2147483646 w 4916"/>
              <a:gd name="T15" fmla="*/ 2147483646 h 3388"/>
              <a:gd name="T16" fmla="*/ 2147483646 w 4916"/>
              <a:gd name="T17" fmla="*/ 2147483646 h 3388"/>
              <a:gd name="T18" fmla="*/ 2147483646 w 4916"/>
              <a:gd name="T19" fmla="*/ 2147483646 h 3388"/>
              <a:gd name="T20" fmla="*/ 2147483646 w 4916"/>
              <a:gd name="T21" fmla="*/ 2147483646 h 3388"/>
              <a:gd name="T22" fmla="*/ 2147483646 w 4916"/>
              <a:gd name="T23" fmla="*/ 2147483646 h 3388"/>
              <a:gd name="T24" fmla="*/ 2147483646 w 4916"/>
              <a:gd name="T25" fmla="*/ 2147483646 h 3388"/>
              <a:gd name="T26" fmla="*/ 2147483646 w 4916"/>
              <a:gd name="T27" fmla="*/ 2147483646 h 3388"/>
              <a:gd name="T28" fmla="*/ 2147483646 w 4916"/>
              <a:gd name="T29" fmla="*/ 2147483646 h 3388"/>
              <a:gd name="T30" fmla="*/ 2147483646 w 4916"/>
              <a:gd name="T31" fmla="*/ 2147483646 h 3388"/>
              <a:gd name="T32" fmla="*/ 2147483646 w 4916"/>
              <a:gd name="T33" fmla="*/ 2147483646 h 3388"/>
              <a:gd name="T34" fmla="*/ 2147483646 w 4916"/>
              <a:gd name="T35" fmla="*/ 2147483646 h 3388"/>
              <a:gd name="T36" fmla="*/ 2147483646 w 4916"/>
              <a:gd name="T37" fmla="*/ 2147483646 h 3388"/>
              <a:gd name="T38" fmla="*/ 2147483646 w 4916"/>
              <a:gd name="T39" fmla="*/ 2147483646 h 3388"/>
              <a:gd name="T40" fmla="*/ 2147483646 w 4916"/>
              <a:gd name="T41" fmla="*/ 2147483646 h 3388"/>
              <a:gd name="T42" fmla="*/ 2147483646 w 4916"/>
              <a:gd name="T43" fmla="*/ 2147483646 h 3388"/>
              <a:gd name="T44" fmla="*/ 2147483646 w 4916"/>
              <a:gd name="T45" fmla="*/ 2147483646 h 3388"/>
              <a:gd name="T46" fmla="*/ 2147483646 w 4916"/>
              <a:gd name="T47" fmla="*/ 2147483646 h 3388"/>
              <a:gd name="T48" fmla="*/ 2147483646 w 4916"/>
              <a:gd name="T49" fmla="*/ 2147483646 h 3388"/>
              <a:gd name="T50" fmla="*/ 2147483646 w 4916"/>
              <a:gd name="T51" fmla="*/ 2147483646 h 3388"/>
              <a:gd name="T52" fmla="*/ 2147483646 w 4916"/>
              <a:gd name="T53" fmla="*/ 2147483646 h 3388"/>
              <a:gd name="T54" fmla="*/ 2147483646 w 4916"/>
              <a:gd name="T55" fmla="*/ 2147483646 h 3388"/>
              <a:gd name="T56" fmla="*/ 2147483646 w 4916"/>
              <a:gd name="T57" fmla="*/ 2147483646 h 3388"/>
              <a:gd name="T58" fmla="*/ 2147483646 w 4916"/>
              <a:gd name="T59" fmla="*/ 2147483646 h 3388"/>
              <a:gd name="T60" fmla="*/ 2147483646 w 4916"/>
              <a:gd name="T61" fmla="*/ 2147483646 h 3388"/>
              <a:gd name="T62" fmla="*/ 2147483646 w 4916"/>
              <a:gd name="T63" fmla="*/ 2147483646 h 3388"/>
              <a:gd name="T64" fmla="*/ 2147483646 w 4916"/>
              <a:gd name="T65" fmla="*/ 2147483646 h 3388"/>
              <a:gd name="T66" fmla="*/ 2147483646 w 4916"/>
              <a:gd name="T67" fmla="*/ 2147483646 h 3388"/>
              <a:gd name="T68" fmla="*/ 2147483646 w 4916"/>
              <a:gd name="T69" fmla="*/ 2147483646 h 3388"/>
              <a:gd name="T70" fmla="*/ 2147483646 w 4916"/>
              <a:gd name="T71" fmla="*/ 2147483646 h 3388"/>
              <a:gd name="T72" fmla="*/ 2147483646 w 4916"/>
              <a:gd name="T73" fmla="*/ 2147483646 h 3388"/>
              <a:gd name="T74" fmla="*/ 2147483646 w 4916"/>
              <a:gd name="T75" fmla="*/ 2147483646 h 3388"/>
              <a:gd name="T76" fmla="*/ 2147483646 w 4916"/>
              <a:gd name="T77" fmla="*/ 2147483646 h 3388"/>
              <a:gd name="T78" fmla="*/ 2147483646 w 4916"/>
              <a:gd name="T79" fmla="*/ 2147483646 h 3388"/>
              <a:gd name="T80" fmla="*/ 2147483646 w 4916"/>
              <a:gd name="T81" fmla="*/ 2147483646 h 3388"/>
              <a:gd name="T82" fmla="*/ 2147483646 w 4916"/>
              <a:gd name="T83" fmla="*/ 2147483646 h 3388"/>
              <a:gd name="T84" fmla="*/ 2147483646 w 4916"/>
              <a:gd name="T85" fmla="*/ 2147483646 h 3388"/>
              <a:gd name="T86" fmla="*/ 2147483646 w 4916"/>
              <a:gd name="T87" fmla="*/ 2147483646 h 3388"/>
              <a:gd name="T88" fmla="*/ 2147483646 w 4916"/>
              <a:gd name="T89" fmla="*/ 2147483646 h 3388"/>
              <a:gd name="T90" fmla="*/ 2147483646 w 4916"/>
              <a:gd name="T91" fmla="*/ 2147483646 h 3388"/>
              <a:gd name="T92" fmla="*/ 2147483646 w 4916"/>
              <a:gd name="T93" fmla="*/ 2147483646 h 3388"/>
              <a:gd name="T94" fmla="*/ 2147483646 w 4916"/>
              <a:gd name="T95" fmla="*/ 2147483646 h 3388"/>
              <a:gd name="T96" fmla="*/ 2147483646 w 4916"/>
              <a:gd name="T97" fmla="*/ 2147483646 h 3388"/>
              <a:gd name="T98" fmla="*/ 2147483646 w 4916"/>
              <a:gd name="T99" fmla="*/ 2147483646 h 3388"/>
              <a:gd name="T100" fmla="*/ 2147483646 w 4916"/>
              <a:gd name="T101" fmla="*/ 2147483646 h 3388"/>
              <a:gd name="T102" fmla="*/ 2147483646 w 4916"/>
              <a:gd name="T103" fmla="*/ 2147483646 h 3388"/>
              <a:gd name="T104" fmla="*/ 2147483646 w 4916"/>
              <a:gd name="T105" fmla="*/ 2147483646 h 3388"/>
              <a:gd name="T106" fmla="*/ 2147483646 w 4916"/>
              <a:gd name="T107" fmla="*/ 2147483646 h 3388"/>
              <a:gd name="T108" fmla="*/ 2147483646 w 4916"/>
              <a:gd name="T109" fmla="*/ 2147483646 h 3388"/>
              <a:gd name="T110" fmla="*/ 2147483646 w 4916"/>
              <a:gd name="T111" fmla="*/ 2147483646 h 3388"/>
              <a:gd name="T112" fmla="*/ 2147483646 w 4916"/>
              <a:gd name="T113" fmla="*/ 2147483646 h 3388"/>
              <a:gd name="T114" fmla="*/ 2147483646 w 4916"/>
              <a:gd name="T115" fmla="*/ 2147483646 h 3388"/>
              <a:gd name="T116" fmla="*/ 2147483646 w 4916"/>
              <a:gd name="T117" fmla="*/ 2147483646 h 3388"/>
              <a:gd name="T118" fmla="*/ 2147483646 w 4916"/>
              <a:gd name="T119" fmla="*/ 2147483646 h 3388"/>
              <a:gd name="T120" fmla="*/ 2147483646 w 4916"/>
              <a:gd name="T121" fmla="*/ 2147483646 h 3388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w 4916"/>
              <a:gd name="T184" fmla="*/ 0 h 3388"/>
              <a:gd name="T185" fmla="*/ 4916 w 4916"/>
              <a:gd name="T186" fmla="*/ 3388 h 3388"/>
            </a:gdLst>
            <a:ahLst/>
            <a:cxnLst>
              <a:cxn ang="T122">
                <a:pos x="T0" y="T1"/>
              </a:cxn>
              <a:cxn ang="T123">
                <a:pos x="T2" y="T3"/>
              </a:cxn>
              <a:cxn ang="T124">
                <a:pos x="T4" y="T5"/>
              </a:cxn>
              <a:cxn ang="T125">
                <a:pos x="T6" y="T7"/>
              </a:cxn>
              <a:cxn ang="T126">
                <a:pos x="T8" y="T9"/>
              </a:cxn>
              <a:cxn ang="T127">
                <a:pos x="T10" y="T11"/>
              </a:cxn>
              <a:cxn ang="T128">
                <a:pos x="T12" y="T13"/>
              </a:cxn>
              <a:cxn ang="T129">
                <a:pos x="T14" y="T15"/>
              </a:cxn>
              <a:cxn ang="T130">
                <a:pos x="T16" y="T17"/>
              </a:cxn>
              <a:cxn ang="T131">
                <a:pos x="T18" y="T19"/>
              </a:cxn>
              <a:cxn ang="T132">
                <a:pos x="T20" y="T21"/>
              </a:cxn>
              <a:cxn ang="T133">
                <a:pos x="T22" y="T23"/>
              </a:cxn>
              <a:cxn ang="T134">
                <a:pos x="T24" y="T25"/>
              </a:cxn>
              <a:cxn ang="T135">
                <a:pos x="T26" y="T27"/>
              </a:cxn>
              <a:cxn ang="T136">
                <a:pos x="T28" y="T29"/>
              </a:cxn>
              <a:cxn ang="T137">
                <a:pos x="T30" y="T31"/>
              </a:cxn>
              <a:cxn ang="T138">
                <a:pos x="T32" y="T33"/>
              </a:cxn>
              <a:cxn ang="T139">
                <a:pos x="T34" y="T35"/>
              </a:cxn>
              <a:cxn ang="T140">
                <a:pos x="T36" y="T37"/>
              </a:cxn>
              <a:cxn ang="T141">
                <a:pos x="T38" y="T39"/>
              </a:cxn>
              <a:cxn ang="T142">
                <a:pos x="T40" y="T41"/>
              </a:cxn>
              <a:cxn ang="T143">
                <a:pos x="T42" y="T43"/>
              </a:cxn>
              <a:cxn ang="T144">
                <a:pos x="T44" y="T45"/>
              </a:cxn>
              <a:cxn ang="T145">
                <a:pos x="T46" y="T47"/>
              </a:cxn>
              <a:cxn ang="T146">
                <a:pos x="T48" y="T49"/>
              </a:cxn>
              <a:cxn ang="T147">
                <a:pos x="T50" y="T51"/>
              </a:cxn>
              <a:cxn ang="T148">
                <a:pos x="T52" y="T53"/>
              </a:cxn>
              <a:cxn ang="T149">
                <a:pos x="T54" y="T55"/>
              </a:cxn>
              <a:cxn ang="T150">
                <a:pos x="T56" y="T57"/>
              </a:cxn>
              <a:cxn ang="T151">
                <a:pos x="T58" y="T59"/>
              </a:cxn>
              <a:cxn ang="T152">
                <a:pos x="T60" y="T61"/>
              </a:cxn>
              <a:cxn ang="T153">
                <a:pos x="T62" y="T63"/>
              </a:cxn>
              <a:cxn ang="T154">
                <a:pos x="T64" y="T65"/>
              </a:cxn>
              <a:cxn ang="T155">
                <a:pos x="T66" y="T67"/>
              </a:cxn>
              <a:cxn ang="T156">
                <a:pos x="T68" y="T69"/>
              </a:cxn>
              <a:cxn ang="T157">
                <a:pos x="T70" y="T71"/>
              </a:cxn>
              <a:cxn ang="T158">
                <a:pos x="T72" y="T73"/>
              </a:cxn>
              <a:cxn ang="T159">
                <a:pos x="T74" y="T75"/>
              </a:cxn>
              <a:cxn ang="T160">
                <a:pos x="T76" y="T77"/>
              </a:cxn>
              <a:cxn ang="T161">
                <a:pos x="T78" y="T79"/>
              </a:cxn>
              <a:cxn ang="T162">
                <a:pos x="T80" y="T81"/>
              </a:cxn>
              <a:cxn ang="T163">
                <a:pos x="T82" y="T83"/>
              </a:cxn>
              <a:cxn ang="T164">
                <a:pos x="T84" y="T85"/>
              </a:cxn>
              <a:cxn ang="T165">
                <a:pos x="T86" y="T87"/>
              </a:cxn>
              <a:cxn ang="T166">
                <a:pos x="T88" y="T89"/>
              </a:cxn>
              <a:cxn ang="T167">
                <a:pos x="T90" y="T91"/>
              </a:cxn>
              <a:cxn ang="T168">
                <a:pos x="T92" y="T93"/>
              </a:cxn>
              <a:cxn ang="T169">
                <a:pos x="T94" y="T95"/>
              </a:cxn>
              <a:cxn ang="T170">
                <a:pos x="T96" y="T97"/>
              </a:cxn>
              <a:cxn ang="T171">
                <a:pos x="T98" y="T99"/>
              </a:cxn>
              <a:cxn ang="T172">
                <a:pos x="T100" y="T101"/>
              </a:cxn>
              <a:cxn ang="T173">
                <a:pos x="T102" y="T103"/>
              </a:cxn>
              <a:cxn ang="T174">
                <a:pos x="T104" y="T105"/>
              </a:cxn>
              <a:cxn ang="T175">
                <a:pos x="T106" y="T107"/>
              </a:cxn>
              <a:cxn ang="T176">
                <a:pos x="T108" y="T109"/>
              </a:cxn>
              <a:cxn ang="T177">
                <a:pos x="T110" y="T111"/>
              </a:cxn>
              <a:cxn ang="T178">
                <a:pos x="T112" y="T113"/>
              </a:cxn>
              <a:cxn ang="T179">
                <a:pos x="T114" y="T115"/>
              </a:cxn>
              <a:cxn ang="T180">
                <a:pos x="T116" y="T117"/>
              </a:cxn>
              <a:cxn ang="T181">
                <a:pos x="T118" y="T119"/>
              </a:cxn>
              <a:cxn ang="T182">
                <a:pos x="T120" y="T121"/>
              </a:cxn>
            </a:cxnLst>
            <a:rect l="T183" t="T184" r="T185" b="T186"/>
            <a:pathLst>
              <a:path w="4916" h="3388">
                <a:moveTo>
                  <a:pt x="0" y="1792"/>
                </a:moveTo>
                <a:lnTo>
                  <a:pt x="12" y="1808"/>
                </a:lnTo>
                <a:lnTo>
                  <a:pt x="25" y="1823"/>
                </a:lnTo>
                <a:lnTo>
                  <a:pt x="38" y="1838"/>
                </a:lnTo>
                <a:lnTo>
                  <a:pt x="53" y="1853"/>
                </a:lnTo>
                <a:lnTo>
                  <a:pt x="68" y="1867"/>
                </a:lnTo>
                <a:lnTo>
                  <a:pt x="83" y="1883"/>
                </a:lnTo>
                <a:lnTo>
                  <a:pt x="100" y="1897"/>
                </a:lnTo>
                <a:lnTo>
                  <a:pt x="116" y="1911"/>
                </a:lnTo>
                <a:lnTo>
                  <a:pt x="131" y="1927"/>
                </a:lnTo>
                <a:lnTo>
                  <a:pt x="148" y="1941"/>
                </a:lnTo>
                <a:lnTo>
                  <a:pt x="162" y="1955"/>
                </a:lnTo>
                <a:lnTo>
                  <a:pt x="178" y="1971"/>
                </a:lnTo>
                <a:lnTo>
                  <a:pt x="193" y="1985"/>
                </a:lnTo>
                <a:lnTo>
                  <a:pt x="206" y="2000"/>
                </a:lnTo>
                <a:lnTo>
                  <a:pt x="219" y="2014"/>
                </a:lnTo>
                <a:lnTo>
                  <a:pt x="231" y="2030"/>
                </a:lnTo>
                <a:lnTo>
                  <a:pt x="244" y="2058"/>
                </a:lnTo>
                <a:lnTo>
                  <a:pt x="261" y="2080"/>
                </a:lnTo>
                <a:lnTo>
                  <a:pt x="281" y="2098"/>
                </a:lnTo>
                <a:lnTo>
                  <a:pt x="301" y="2114"/>
                </a:lnTo>
                <a:lnTo>
                  <a:pt x="322" y="2129"/>
                </a:lnTo>
                <a:lnTo>
                  <a:pt x="342" y="2148"/>
                </a:lnTo>
                <a:lnTo>
                  <a:pt x="359" y="2169"/>
                </a:lnTo>
                <a:lnTo>
                  <a:pt x="375" y="2195"/>
                </a:lnTo>
                <a:lnTo>
                  <a:pt x="391" y="2223"/>
                </a:lnTo>
                <a:lnTo>
                  <a:pt x="415" y="2256"/>
                </a:lnTo>
                <a:lnTo>
                  <a:pt x="441" y="2294"/>
                </a:lnTo>
                <a:lnTo>
                  <a:pt x="471" y="2333"/>
                </a:lnTo>
                <a:lnTo>
                  <a:pt x="501" y="2373"/>
                </a:lnTo>
                <a:lnTo>
                  <a:pt x="527" y="2409"/>
                </a:lnTo>
                <a:lnTo>
                  <a:pt x="551" y="2442"/>
                </a:lnTo>
                <a:lnTo>
                  <a:pt x="569" y="2469"/>
                </a:lnTo>
                <a:lnTo>
                  <a:pt x="580" y="2492"/>
                </a:lnTo>
                <a:lnTo>
                  <a:pt x="597" y="2519"/>
                </a:lnTo>
                <a:lnTo>
                  <a:pt x="616" y="2552"/>
                </a:lnTo>
                <a:lnTo>
                  <a:pt x="638" y="2586"/>
                </a:lnTo>
                <a:lnTo>
                  <a:pt x="663" y="2626"/>
                </a:lnTo>
                <a:lnTo>
                  <a:pt x="689" y="2666"/>
                </a:lnTo>
                <a:lnTo>
                  <a:pt x="717" y="2708"/>
                </a:lnTo>
                <a:lnTo>
                  <a:pt x="747" y="2752"/>
                </a:lnTo>
                <a:lnTo>
                  <a:pt x="775" y="2794"/>
                </a:lnTo>
                <a:lnTo>
                  <a:pt x="803" y="2838"/>
                </a:lnTo>
                <a:lnTo>
                  <a:pt x="830" y="2878"/>
                </a:lnTo>
                <a:lnTo>
                  <a:pt x="855" y="2916"/>
                </a:lnTo>
                <a:lnTo>
                  <a:pt x="878" y="2952"/>
                </a:lnTo>
                <a:lnTo>
                  <a:pt x="897" y="2983"/>
                </a:lnTo>
                <a:lnTo>
                  <a:pt x="914" y="3011"/>
                </a:lnTo>
                <a:lnTo>
                  <a:pt x="926" y="3032"/>
                </a:lnTo>
                <a:lnTo>
                  <a:pt x="937" y="3034"/>
                </a:lnTo>
                <a:lnTo>
                  <a:pt x="946" y="3035"/>
                </a:lnTo>
                <a:lnTo>
                  <a:pt x="957" y="3037"/>
                </a:lnTo>
                <a:lnTo>
                  <a:pt x="966" y="3039"/>
                </a:lnTo>
                <a:lnTo>
                  <a:pt x="977" y="3039"/>
                </a:lnTo>
                <a:lnTo>
                  <a:pt x="987" y="3042"/>
                </a:lnTo>
                <a:lnTo>
                  <a:pt x="997" y="3043"/>
                </a:lnTo>
                <a:lnTo>
                  <a:pt x="1007" y="3045"/>
                </a:lnTo>
                <a:lnTo>
                  <a:pt x="1009" y="3055"/>
                </a:lnTo>
                <a:lnTo>
                  <a:pt x="1012" y="3064"/>
                </a:lnTo>
                <a:lnTo>
                  <a:pt x="1014" y="3073"/>
                </a:lnTo>
                <a:lnTo>
                  <a:pt x="1016" y="3083"/>
                </a:lnTo>
                <a:lnTo>
                  <a:pt x="1025" y="3083"/>
                </a:lnTo>
                <a:lnTo>
                  <a:pt x="1033" y="3085"/>
                </a:lnTo>
                <a:lnTo>
                  <a:pt x="1043" y="3086"/>
                </a:lnTo>
                <a:lnTo>
                  <a:pt x="1052" y="3087"/>
                </a:lnTo>
                <a:lnTo>
                  <a:pt x="1060" y="3090"/>
                </a:lnTo>
                <a:lnTo>
                  <a:pt x="1069" y="3091"/>
                </a:lnTo>
                <a:lnTo>
                  <a:pt x="1079" y="3092"/>
                </a:lnTo>
                <a:lnTo>
                  <a:pt x="1088" y="3093"/>
                </a:lnTo>
                <a:lnTo>
                  <a:pt x="1104" y="3103"/>
                </a:lnTo>
                <a:lnTo>
                  <a:pt x="1121" y="3113"/>
                </a:lnTo>
                <a:lnTo>
                  <a:pt x="1137" y="3121"/>
                </a:lnTo>
                <a:lnTo>
                  <a:pt x="1152" y="3130"/>
                </a:lnTo>
                <a:lnTo>
                  <a:pt x="1168" y="3139"/>
                </a:lnTo>
                <a:lnTo>
                  <a:pt x="1185" y="3147"/>
                </a:lnTo>
                <a:lnTo>
                  <a:pt x="1202" y="3156"/>
                </a:lnTo>
                <a:lnTo>
                  <a:pt x="1217" y="3165"/>
                </a:lnTo>
                <a:lnTo>
                  <a:pt x="1229" y="3166"/>
                </a:lnTo>
                <a:lnTo>
                  <a:pt x="1240" y="3167"/>
                </a:lnTo>
                <a:lnTo>
                  <a:pt x="1251" y="3169"/>
                </a:lnTo>
                <a:lnTo>
                  <a:pt x="1262" y="3170"/>
                </a:lnTo>
                <a:lnTo>
                  <a:pt x="1274" y="3170"/>
                </a:lnTo>
                <a:lnTo>
                  <a:pt x="1285" y="3171"/>
                </a:lnTo>
                <a:lnTo>
                  <a:pt x="1297" y="3172"/>
                </a:lnTo>
                <a:lnTo>
                  <a:pt x="1308" y="3172"/>
                </a:lnTo>
                <a:lnTo>
                  <a:pt x="1317" y="3183"/>
                </a:lnTo>
                <a:lnTo>
                  <a:pt x="1326" y="3195"/>
                </a:lnTo>
                <a:lnTo>
                  <a:pt x="1335" y="3206"/>
                </a:lnTo>
                <a:lnTo>
                  <a:pt x="1343" y="3215"/>
                </a:lnTo>
                <a:lnTo>
                  <a:pt x="1363" y="3217"/>
                </a:lnTo>
                <a:lnTo>
                  <a:pt x="1383" y="3219"/>
                </a:lnTo>
                <a:lnTo>
                  <a:pt x="1403" y="3221"/>
                </a:lnTo>
                <a:lnTo>
                  <a:pt x="1422" y="3221"/>
                </a:lnTo>
                <a:lnTo>
                  <a:pt x="1443" y="3223"/>
                </a:lnTo>
                <a:lnTo>
                  <a:pt x="1462" y="3223"/>
                </a:lnTo>
                <a:lnTo>
                  <a:pt x="1482" y="3224"/>
                </a:lnTo>
                <a:lnTo>
                  <a:pt x="1502" y="3225"/>
                </a:lnTo>
                <a:lnTo>
                  <a:pt x="1525" y="3238"/>
                </a:lnTo>
                <a:lnTo>
                  <a:pt x="1547" y="3251"/>
                </a:lnTo>
                <a:lnTo>
                  <a:pt x="1571" y="3264"/>
                </a:lnTo>
                <a:lnTo>
                  <a:pt x="1595" y="3278"/>
                </a:lnTo>
                <a:lnTo>
                  <a:pt x="1619" y="3293"/>
                </a:lnTo>
                <a:lnTo>
                  <a:pt x="1643" y="3306"/>
                </a:lnTo>
                <a:lnTo>
                  <a:pt x="1667" y="3319"/>
                </a:lnTo>
                <a:lnTo>
                  <a:pt x="1692" y="3332"/>
                </a:lnTo>
                <a:lnTo>
                  <a:pt x="1701" y="3332"/>
                </a:lnTo>
                <a:lnTo>
                  <a:pt x="1711" y="3332"/>
                </a:lnTo>
                <a:lnTo>
                  <a:pt x="1721" y="3332"/>
                </a:lnTo>
                <a:lnTo>
                  <a:pt x="1732" y="3332"/>
                </a:lnTo>
                <a:lnTo>
                  <a:pt x="1742" y="3332"/>
                </a:lnTo>
                <a:lnTo>
                  <a:pt x="1751" y="3332"/>
                </a:lnTo>
                <a:lnTo>
                  <a:pt x="1762" y="3332"/>
                </a:lnTo>
                <a:lnTo>
                  <a:pt x="1772" y="3332"/>
                </a:lnTo>
                <a:lnTo>
                  <a:pt x="1780" y="3340"/>
                </a:lnTo>
                <a:lnTo>
                  <a:pt x="1790" y="3346"/>
                </a:lnTo>
                <a:lnTo>
                  <a:pt x="1799" y="3352"/>
                </a:lnTo>
                <a:lnTo>
                  <a:pt x="1809" y="3358"/>
                </a:lnTo>
                <a:lnTo>
                  <a:pt x="1817" y="3364"/>
                </a:lnTo>
                <a:lnTo>
                  <a:pt x="1826" y="3368"/>
                </a:lnTo>
                <a:lnTo>
                  <a:pt x="1835" y="3373"/>
                </a:lnTo>
                <a:lnTo>
                  <a:pt x="1843" y="3378"/>
                </a:lnTo>
                <a:lnTo>
                  <a:pt x="1871" y="3385"/>
                </a:lnTo>
                <a:lnTo>
                  <a:pt x="1889" y="3388"/>
                </a:lnTo>
                <a:lnTo>
                  <a:pt x="1901" y="3384"/>
                </a:lnTo>
                <a:lnTo>
                  <a:pt x="1905" y="3377"/>
                </a:lnTo>
                <a:lnTo>
                  <a:pt x="1905" y="3368"/>
                </a:lnTo>
                <a:lnTo>
                  <a:pt x="1899" y="3355"/>
                </a:lnTo>
                <a:lnTo>
                  <a:pt x="1891" y="3341"/>
                </a:lnTo>
                <a:lnTo>
                  <a:pt x="1883" y="3327"/>
                </a:lnTo>
                <a:lnTo>
                  <a:pt x="1876" y="3312"/>
                </a:lnTo>
                <a:lnTo>
                  <a:pt x="1868" y="3298"/>
                </a:lnTo>
                <a:lnTo>
                  <a:pt x="1864" y="3286"/>
                </a:lnTo>
                <a:lnTo>
                  <a:pt x="1863" y="3275"/>
                </a:lnTo>
                <a:lnTo>
                  <a:pt x="1867" y="3268"/>
                </a:lnTo>
                <a:lnTo>
                  <a:pt x="1877" y="3264"/>
                </a:lnTo>
                <a:lnTo>
                  <a:pt x="1896" y="3266"/>
                </a:lnTo>
                <a:lnTo>
                  <a:pt x="1922" y="3273"/>
                </a:lnTo>
                <a:lnTo>
                  <a:pt x="1935" y="3251"/>
                </a:lnTo>
                <a:lnTo>
                  <a:pt x="1947" y="3231"/>
                </a:lnTo>
                <a:lnTo>
                  <a:pt x="1957" y="3213"/>
                </a:lnTo>
                <a:lnTo>
                  <a:pt x="1965" y="3194"/>
                </a:lnTo>
                <a:lnTo>
                  <a:pt x="1975" y="3176"/>
                </a:lnTo>
                <a:lnTo>
                  <a:pt x="1984" y="3154"/>
                </a:lnTo>
                <a:lnTo>
                  <a:pt x="1995" y="3134"/>
                </a:lnTo>
                <a:lnTo>
                  <a:pt x="2007" y="3111"/>
                </a:lnTo>
                <a:lnTo>
                  <a:pt x="2008" y="3098"/>
                </a:lnTo>
                <a:lnTo>
                  <a:pt x="2013" y="3083"/>
                </a:lnTo>
                <a:lnTo>
                  <a:pt x="2019" y="3067"/>
                </a:lnTo>
                <a:lnTo>
                  <a:pt x="2026" y="3049"/>
                </a:lnTo>
                <a:lnTo>
                  <a:pt x="2035" y="3030"/>
                </a:lnTo>
                <a:lnTo>
                  <a:pt x="2041" y="3013"/>
                </a:lnTo>
                <a:lnTo>
                  <a:pt x="2045" y="2998"/>
                </a:lnTo>
                <a:lnTo>
                  <a:pt x="2046" y="2985"/>
                </a:lnTo>
                <a:lnTo>
                  <a:pt x="2059" y="2966"/>
                </a:lnTo>
                <a:lnTo>
                  <a:pt x="2071" y="2946"/>
                </a:lnTo>
                <a:lnTo>
                  <a:pt x="2085" y="2927"/>
                </a:lnTo>
                <a:lnTo>
                  <a:pt x="2096" y="2908"/>
                </a:lnTo>
                <a:lnTo>
                  <a:pt x="2107" y="2890"/>
                </a:lnTo>
                <a:lnTo>
                  <a:pt x="2118" y="2872"/>
                </a:lnTo>
                <a:lnTo>
                  <a:pt x="2130" y="2854"/>
                </a:lnTo>
                <a:lnTo>
                  <a:pt x="2142" y="2835"/>
                </a:lnTo>
                <a:lnTo>
                  <a:pt x="2148" y="2782"/>
                </a:lnTo>
                <a:lnTo>
                  <a:pt x="2159" y="2741"/>
                </a:lnTo>
                <a:lnTo>
                  <a:pt x="2171" y="2700"/>
                </a:lnTo>
                <a:lnTo>
                  <a:pt x="2174" y="2648"/>
                </a:lnTo>
                <a:lnTo>
                  <a:pt x="2187" y="2640"/>
                </a:lnTo>
                <a:lnTo>
                  <a:pt x="2201" y="2628"/>
                </a:lnTo>
                <a:lnTo>
                  <a:pt x="2217" y="2616"/>
                </a:lnTo>
                <a:lnTo>
                  <a:pt x="2232" y="2603"/>
                </a:lnTo>
                <a:lnTo>
                  <a:pt x="2247" y="2589"/>
                </a:lnTo>
                <a:lnTo>
                  <a:pt x="2263" y="2576"/>
                </a:lnTo>
                <a:lnTo>
                  <a:pt x="2276" y="2565"/>
                </a:lnTo>
                <a:lnTo>
                  <a:pt x="2289" y="2556"/>
                </a:lnTo>
                <a:lnTo>
                  <a:pt x="2298" y="2505"/>
                </a:lnTo>
                <a:lnTo>
                  <a:pt x="2304" y="2464"/>
                </a:lnTo>
                <a:lnTo>
                  <a:pt x="2309" y="2424"/>
                </a:lnTo>
                <a:lnTo>
                  <a:pt x="2320" y="2370"/>
                </a:lnTo>
                <a:lnTo>
                  <a:pt x="2330" y="2360"/>
                </a:lnTo>
                <a:lnTo>
                  <a:pt x="2347" y="2349"/>
                </a:lnTo>
                <a:lnTo>
                  <a:pt x="2366" y="2336"/>
                </a:lnTo>
                <a:lnTo>
                  <a:pt x="2388" y="2322"/>
                </a:lnTo>
                <a:lnTo>
                  <a:pt x="2412" y="2307"/>
                </a:lnTo>
                <a:lnTo>
                  <a:pt x="2431" y="2294"/>
                </a:lnTo>
                <a:lnTo>
                  <a:pt x="2448" y="2284"/>
                </a:lnTo>
                <a:lnTo>
                  <a:pt x="2457" y="2274"/>
                </a:lnTo>
                <a:lnTo>
                  <a:pt x="2455" y="2260"/>
                </a:lnTo>
                <a:lnTo>
                  <a:pt x="2455" y="2246"/>
                </a:lnTo>
                <a:lnTo>
                  <a:pt x="2459" y="2234"/>
                </a:lnTo>
                <a:lnTo>
                  <a:pt x="2462" y="2221"/>
                </a:lnTo>
                <a:lnTo>
                  <a:pt x="2467" y="2208"/>
                </a:lnTo>
                <a:lnTo>
                  <a:pt x="2470" y="2195"/>
                </a:lnTo>
                <a:lnTo>
                  <a:pt x="2472" y="2180"/>
                </a:lnTo>
                <a:lnTo>
                  <a:pt x="2470" y="2167"/>
                </a:lnTo>
                <a:lnTo>
                  <a:pt x="2482" y="2165"/>
                </a:lnTo>
                <a:lnTo>
                  <a:pt x="2493" y="2161"/>
                </a:lnTo>
                <a:lnTo>
                  <a:pt x="2504" y="2158"/>
                </a:lnTo>
                <a:lnTo>
                  <a:pt x="2516" y="2154"/>
                </a:lnTo>
                <a:lnTo>
                  <a:pt x="2528" y="2150"/>
                </a:lnTo>
                <a:lnTo>
                  <a:pt x="2538" y="2147"/>
                </a:lnTo>
                <a:lnTo>
                  <a:pt x="2549" y="2141"/>
                </a:lnTo>
                <a:lnTo>
                  <a:pt x="2560" y="2138"/>
                </a:lnTo>
                <a:lnTo>
                  <a:pt x="2565" y="2118"/>
                </a:lnTo>
                <a:lnTo>
                  <a:pt x="2573" y="2099"/>
                </a:lnTo>
                <a:lnTo>
                  <a:pt x="2580" y="2080"/>
                </a:lnTo>
                <a:lnTo>
                  <a:pt x="2589" y="2059"/>
                </a:lnTo>
                <a:lnTo>
                  <a:pt x="2597" y="2063"/>
                </a:lnTo>
                <a:lnTo>
                  <a:pt x="2603" y="2065"/>
                </a:lnTo>
                <a:lnTo>
                  <a:pt x="2610" y="2068"/>
                </a:lnTo>
                <a:lnTo>
                  <a:pt x="2618" y="2070"/>
                </a:lnTo>
                <a:lnTo>
                  <a:pt x="2625" y="2073"/>
                </a:lnTo>
                <a:lnTo>
                  <a:pt x="2634" y="2075"/>
                </a:lnTo>
                <a:lnTo>
                  <a:pt x="2642" y="2078"/>
                </a:lnTo>
                <a:lnTo>
                  <a:pt x="2650" y="2080"/>
                </a:lnTo>
                <a:lnTo>
                  <a:pt x="2657" y="2063"/>
                </a:lnTo>
                <a:lnTo>
                  <a:pt x="2664" y="2046"/>
                </a:lnTo>
                <a:lnTo>
                  <a:pt x="2668" y="2028"/>
                </a:lnTo>
                <a:lnTo>
                  <a:pt x="2673" y="2012"/>
                </a:lnTo>
                <a:lnTo>
                  <a:pt x="2678" y="2007"/>
                </a:lnTo>
                <a:lnTo>
                  <a:pt x="2683" y="2002"/>
                </a:lnTo>
                <a:lnTo>
                  <a:pt x="2689" y="1998"/>
                </a:lnTo>
                <a:lnTo>
                  <a:pt x="2694" y="1991"/>
                </a:lnTo>
                <a:lnTo>
                  <a:pt x="2700" y="1987"/>
                </a:lnTo>
                <a:lnTo>
                  <a:pt x="2705" y="1982"/>
                </a:lnTo>
                <a:lnTo>
                  <a:pt x="2712" y="1976"/>
                </a:lnTo>
                <a:lnTo>
                  <a:pt x="2716" y="1971"/>
                </a:lnTo>
                <a:lnTo>
                  <a:pt x="2726" y="1955"/>
                </a:lnTo>
                <a:lnTo>
                  <a:pt x="2736" y="1940"/>
                </a:lnTo>
                <a:lnTo>
                  <a:pt x="2747" y="1924"/>
                </a:lnTo>
                <a:lnTo>
                  <a:pt x="2760" y="1908"/>
                </a:lnTo>
                <a:lnTo>
                  <a:pt x="2771" y="1892"/>
                </a:lnTo>
                <a:lnTo>
                  <a:pt x="2783" y="1877"/>
                </a:lnTo>
                <a:lnTo>
                  <a:pt x="2798" y="1860"/>
                </a:lnTo>
                <a:lnTo>
                  <a:pt x="2811" y="1844"/>
                </a:lnTo>
                <a:lnTo>
                  <a:pt x="2834" y="1825"/>
                </a:lnTo>
                <a:lnTo>
                  <a:pt x="2859" y="1804"/>
                </a:lnTo>
                <a:lnTo>
                  <a:pt x="2882" y="1783"/>
                </a:lnTo>
                <a:lnTo>
                  <a:pt x="2906" y="1764"/>
                </a:lnTo>
                <a:lnTo>
                  <a:pt x="2929" y="1743"/>
                </a:lnTo>
                <a:lnTo>
                  <a:pt x="2953" y="1722"/>
                </a:lnTo>
                <a:lnTo>
                  <a:pt x="2974" y="1700"/>
                </a:lnTo>
                <a:lnTo>
                  <a:pt x="2998" y="1678"/>
                </a:lnTo>
                <a:lnTo>
                  <a:pt x="3019" y="1656"/>
                </a:lnTo>
                <a:lnTo>
                  <a:pt x="3043" y="1635"/>
                </a:lnTo>
                <a:lnTo>
                  <a:pt x="3067" y="1612"/>
                </a:lnTo>
                <a:lnTo>
                  <a:pt x="3089" y="1589"/>
                </a:lnTo>
                <a:lnTo>
                  <a:pt x="3112" y="1565"/>
                </a:lnTo>
                <a:lnTo>
                  <a:pt x="3135" y="1542"/>
                </a:lnTo>
                <a:lnTo>
                  <a:pt x="3160" y="1520"/>
                </a:lnTo>
                <a:lnTo>
                  <a:pt x="3183" y="1496"/>
                </a:lnTo>
                <a:lnTo>
                  <a:pt x="3208" y="1471"/>
                </a:lnTo>
                <a:lnTo>
                  <a:pt x="3233" y="1448"/>
                </a:lnTo>
                <a:lnTo>
                  <a:pt x="3259" y="1424"/>
                </a:lnTo>
                <a:lnTo>
                  <a:pt x="3284" y="1400"/>
                </a:lnTo>
                <a:lnTo>
                  <a:pt x="3311" y="1375"/>
                </a:lnTo>
                <a:lnTo>
                  <a:pt x="3339" y="1350"/>
                </a:lnTo>
                <a:lnTo>
                  <a:pt x="3368" y="1326"/>
                </a:lnTo>
                <a:lnTo>
                  <a:pt x="3397" y="1302"/>
                </a:lnTo>
                <a:lnTo>
                  <a:pt x="3428" y="1277"/>
                </a:lnTo>
                <a:lnTo>
                  <a:pt x="3458" y="1252"/>
                </a:lnTo>
                <a:lnTo>
                  <a:pt x="3489" y="1227"/>
                </a:lnTo>
                <a:lnTo>
                  <a:pt x="3523" y="1201"/>
                </a:lnTo>
                <a:lnTo>
                  <a:pt x="3556" y="1178"/>
                </a:lnTo>
                <a:lnTo>
                  <a:pt x="3591" y="1152"/>
                </a:lnTo>
                <a:lnTo>
                  <a:pt x="3628" y="1127"/>
                </a:lnTo>
                <a:lnTo>
                  <a:pt x="3666" y="1102"/>
                </a:lnTo>
                <a:lnTo>
                  <a:pt x="3682" y="1091"/>
                </a:lnTo>
                <a:lnTo>
                  <a:pt x="3700" y="1080"/>
                </a:lnTo>
                <a:lnTo>
                  <a:pt x="3717" y="1070"/>
                </a:lnTo>
                <a:lnTo>
                  <a:pt x="3733" y="1059"/>
                </a:lnTo>
                <a:lnTo>
                  <a:pt x="3751" y="1050"/>
                </a:lnTo>
                <a:lnTo>
                  <a:pt x="3768" y="1039"/>
                </a:lnTo>
                <a:lnTo>
                  <a:pt x="3785" y="1029"/>
                </a:lnTo>
                <a:lnTo>
                  <a:pt x="3805" y="1020"/>
                </a:lnTo>
                <a:lnTo>
                  <a:pt x="3814" y="1013"/>
                </a:lnTo>
                <a:lnTo>
                  <a:pt x="3825" y="1009"/>
                </a:lnTo>
                <a:lnTo>
                  <a:pt x="3836" y="1004"/>
                </a:lnTo>
                <a:lnTo>
                  <a:pt x="3846" y="1000"/>
                </a:lnTo>
                <a:lnTo>
                  <a:pt x="3856" y="994"/>
                </a:lnTo>
                <a:lnTo>
                  <a:pt x="3866" y="990"/>
                </a:lnTo>
                <a:lnTo>
                  <a:pt x="3876" y="983"/>
                </a:lnTo>
                <a:lnTo>
                  <a:pt x="3888" y="978"/>
                </a:lnTo>
                <a:lnTo>
                  <a:pt x="3906" y="967"/>
                </a:lnTo>
                <a:lnTo>
                  <a:pt x="3925" y="956"/>
                </a:lnTo>
                <a:lnTo>
                  <a:pt x="3943" y="946"/>
                </a:lnTo>
                <a:lnTo>
                  <a:pt x="3961" y="933"/>
                </a:lnTo>
                <a:lnTo>
                  <a:pt x="3980" y="923"/>
                </a:lnTo>
                <a:lnTo>
                  <a:pt x="3998" y="910"/>
                </a:lnTo>
                <a:lnTo>
                  <a:pt x="4017" y="899"/>
                </a:lnTo>
                <a:lnTo>
                  <a:pt x="4035" y="887"/>
                </a:lnTo>
                <a:lnTo>
                  <a:pt x="4047" y="879"/>
                </a:lnTo>
                <a:lnTo>
                  <a:pt x="4060" y="869"/>
                </a:lnTo>
                <a:lnTo>
                  <a:pt x="4071" y="860"/>
                </a:lnTo>
                <a:lnTo>
                  <a:pt x="4085" y="851"/>
                </a:lnTo>
                <a:lnTo>
                  <a:pt x="4097" y="842"/>
                </a:lnTo>
                <a:lnTo>
                  <a:pt x="4111" y="833"/>
                </a:lnTo>
                <a:lnTo>
                  <a:pt x="4123" y="825"/>
                </a:lnTo>
                <a:lnTo>
                  <a:pt x="4136" y="815"/>
                </a:lnTo>
                <a:lnTo>
                  <a:pt x="4141" y="803"/>
                </a:lnTo>
                <a:lnTo>
                  <a:pt x="4146" y="792"/>
                </a:lnTo>
                <a:lnTo>
                  <a:pt x="4152" y="781"/>
                </a:lnTo>
                <a:lnTo>
                  <a:pt x="4156" y="772"/>
                </a:lnTo>
                <a:lnTo>
                  <a:pt x="4165" y="764"/>
                </a:lnTo>
                <a:lnTo>
                  <a:pt x="4172" y="759"/>
                </a:lnTo>
                <a:lnTo>
                  <a:pt x="4180" y="751"/>
                </a:lnTo>
                <a:lnTo>
                  <a:pt x="4189" y="745"/>
                </a:lnTo>
                <a:lnTo>
                  <a:pt x="4198" y="738"/>
                </a:lnTo>
                <a:lnTo>
                  <a:pt x="4207" y="732"/>
                </a:lnTo>
                <a:lnTo>
                  <a:pt x="4215" y="725"/>
                </a:lnTo>
                <a:lnTo>
                  <a:pt x="4224" y="719"/>
                </a:lnTo>
                <a:lnTo>
                  <a:pt x="4227" y="725"/>
                </a:lnTo>
                <a:lnTo>
                  <a:pt x="4230" y="731"/>
                </a:lnTo>
                <a:lnTo>
                  <a:pt x="4233" y="737"/>
                </a:lnTo>
                <a:lnTo>
                  <a:pt x="4235" y="743"/>
                </a:lnTo>
                <a:lnTo>
                  <a:pt x="4249" y="734"/>
                </a:lnTo>
                <a:lnTo>
                  <a:pt x="4261" y="728"/>
                </a:lnTo>
                <a:lnTo>
                  <a:pt x="4275" y="719"/>
                </a:lnTo>
                <a:lnTo>
                  <a:pt x="4289" y="711"/>
                </a:lnTo>
                <a:lnTo>
                  <a:pt x="4302" y="704"/>
                </a:lnTo>
                <a:lnTo>
                  <a:pt x="4316" y="695"/>
                </a:lnTo>
                <a:lnTo>
                  <a:pt x="4330" y="688"/>
                </a:lnTo>
                <a:lnTo>
                  <a:pt x="4341" y="681"/>
                </a:lnTo>
                <a:lnTo>
                  <a:pt x="4351" y="666"/>
                </a:lnTo>
                <a:lnTo>
                  <a:pt x="4360" y="649"/>
                </a:lnTo>
                <a:lnTo>
                  <a:pt x="4369" y="633"/>
                </a:lnTo>
                <a:lnTo>
                  <a:pt x="4378" y="619"/>
                </a:lnTo>
                <a:lnTo>
                  <a:pt x="4389" y="609"/>
                </a:lnTo>
                <a:lnTo>
                  <a:pt x="4401" y="600"/>
                </a:lnTo>
                <a:lnTo>
                  <a:pt x="4413" y="592"/>
                </a:lnTo>
                <a:lnTo>
                  <a:pt x="4426" y="584"/>
                </a:lnTo>
                <a:lnTo>
                  <a:pt x="4437" y="576"/>
                </a:lnTo>
                <a:lnTo>
                  <a:pt x="4449" y="567"/>
                </a:lnTo>
                <a:lnTo>
                  <a:pt x="4459" y="556"/>
                </a:lnTo>
                <a:lnTo>
                  <a:pt x="4470" y="548"/>
                </a:lnTo>
                <a:lnTo>
                  <a:pt x="4475" y="534"/>
                </a:lnTo>
                <a:lnTo>
                  <a:pt x="4479" y="519"/>
                </a:lnTo>
                <a:lnTo>
                  <a:pt x="4483" y="505"/>
                </a:lnTo>
                <a:lnTo>
                  <a:pt x="4490" y="489"/>
                </a:lnTo>
                <a:lnTo>
                  <a:pt x="4500" y="481"/>
                </a:lnTo>
                <a:lnTo>
                  <a:pt x="4514" y="473"/>
                </a:lnTo>
                <a:lnTo>
                  <a:pt x="4525" y="466"/>
                </a:lnTo>
                <a:lnTo>
                  <a:pt x="4537" y="457"/>
                </a:lnTo>
                <a:lnTo>
                  <a:pt x="4548" y="448"/>
                </a:lnTo>
                <a:lnTo>
                  <a:pt x="4561" y="439"/>
                </a:lnTo>
                <a:lnTo>
                  <a:pt x="4571" y="432"/>
                </a:lnTo>
                <a:lnTo>
                  <a:pt x="4581" y="424"/>
                </a:lnTo>
                <a:lnTo>
                  <a:pt x="4595" y="420"/>
                </a:lnTo>
                <a:lnTo>
                  <a:pt x="4609" y="416"/>
                </a:lnTo>
                <a:lnTo>
                  <a:pt x="4622" y="412"/>
                </a:lnTo>
                <a:lnTo>
                  <a:pt x="4634" y="408"/>
                </a:lnTo>
                <a:lnTo>
                  <a:pt x="4648" y="403"/>
                </a:lnTo>
                <a:lnTo>
                  <a:pt x="4660" y="400"/>
                </a:lnTo>
                <a:lnTo>
                  <a:pt x="4672" y="395"/>
                </a:lnTo>
                <a:lnTo>
                  <a:pt x="4685" y="392"/>
                </a:lnTo>
                <a:lnTo>
                  <a:pt x="4692" y="384"/>
                </a:lnTo>
                <a:lnTo>
                  <a:pt x="4698" y="375"/>
                </a:lnTo>
                <a:lnTo>
                  <a:pt x="4704" y="368"/>
                </a:lnTo>
                <a:lnTo>
                  <a:pt x="4710" y="359"/>
                </a:lnTo>
                <a:lnTo>
                  <a:pt x="4716" y="351"/>
                </a:lnTo>
                <a:lnTo>
                  <a:pt x="4722" y="342"/>
                </a:lnTo>
                <a:lnTo>
                  <a:pt x="4728" y="333"/>
                </a:lnTo>
                <a:lnTo>
                  <a:pt x="4735" y="324"/>
                </a:lnTo>
                <a:lnTo>
                  <a:pt x="4745" y="318"/>
                </a:lnTo>
                <a:lnTo>
                  <a:pt x="4755" y="311"/>
                </a:lnTo>
                <a:lnTo>
                  <a:pt x="4764" y="305"/>
                </a:lnTo>
                <a:lnTo>
                  <a:pt x="4773" y="298"/>
                </a:lnTo>
                <a:lnTo>
                  <a:pt x="4784" y="291"/>
                </a:lnTo>
                <a:lnTo>
                  <a:pt x="4793" y="284"/>
                </a:lnTo>
                <a:lnTo>
                  <a:pt x="4802" y="277"/>
                </a:lnTo>
                <a:lnTo>
                  <a:pt x="4810" y="269"/>
                </a:lnTo>
                <a:lnTo>
                  <a:pt x="4816" y="274"/>
                </a:lnTo>
                <a:lnTo>
                  <a:pt x="4824" y="279"/>
                </a:lnTo>
                <a:lnTo>
                  <a:pt x="4831" y="285"/>
                </a:lnTo>
                <a:lnTo>
                  <a:pt x="4835" y="290"/>
                </a:lnTo>
                <a:lnTo>
                  <a:pt x="4845" y="282"/>
                </a:lnTo>
                <a:lnTo>
                  <a:pt x="4856" y="274"/>
                </a:lnTo>
                <a:lnTo>
                  <a:pt x="4865" y="266"/>
                </a:lnTo>
                <a:lnTo>
                  <a:pt x="4876" y="258"/>
                </a:lnTo>
                <a:lnTo>
                  <a:pt x="4885" y="248"/>
                </a:lnTo>
                <a:lnTo>
                  <a:pt x="4895" y="239"/>
                </a:lnTo>
                <a:lnTo>
                  <a:pt x="4906" y="231"/>
                </a:lnTo>
                <a:lnTo>
                  <a:pt x="4916" y="222"/>
                </a:lnTo>
                <a:lnTo>
                  <a:pt x="4904" y="228"/>
                </a:lnTo>
                <a:lnTo>
                  <a:pt x="4893" y="234"/>
                </a:lnTo>
                <a:lnTo>
                  <a:pt x="4881" y="241"/>
                </a:lnTo>
                <a:lnTo>
                  <a:pt x="4867" y="245"/>
                </a:lnTo>
                <a:lnTo>
                  <a:pt x="4856" y="251"/>
                </a:lnTo>
                <a:lnTo>
                  <a:pt x="4845" y="256"/>
                </a:lnTo>
                <a:lnTo>
                  <a:pt x="4833" y="261"/>
                </a:lnTo>
                <a:lnTo>
                  <a:pt x="4821" y="266"/>
                </a:lnTo>
                <a:lnTo>
                  <a:pt x="4832" y="241"/>
                </a:lnTo>
                <a:lnTo>
                  <a:pt x="4841" y="218"/>
                </a:lnTo>
                <a:lnTo>
                  <a:pt x="4847" y="194"/>
                </a:lnTo>
                <a:lnTo>
                  <a:pt x="4852" y="171"/>
                </a:lnTo>
                <a:lnTo>
                  <a:pt x="4844" y="178"/>
                </a:lnTo>
                <a:lnTo>
                  <a:pt x="4835" y="187"/>
                </a:lnTo>
                <a:lnTo>
                  <a:pt x="4826" y="195"/>
                </a:lnTo>
                <a:lnTo>
                  <a:pt x="4815" y="203"/>
                </a:lnTo>
                <a:lnTo>
                  <a:pt x="4806" y="211"/>
                </a:lnTo>
                <a:lnTo>
                  <a:pt x="4796" y="219"/>
                </a:lnTo>
                <a:lnTo>
                  <a:pt x="4785" y="228"/>
                </a:lnTo>
                <a:lnTo>
                  <a:pt x="4775" y="237"/>
                </a:lnTo>
                <a:lnTo>
                  <a:pt x="4768" y="247"/>
                </a:lnTo>
                <a:lnTo>
                  <a:pt x="4759" y="256"/>
                </a:lnTo>
                <a:lnTo>
                  <a:pt x="4752" y="266"/>
                </a:lnTo>
                <a:lnTo>
                  <a:pt x="4745" y="277"/>
                </a:lnTo>
                <a:lnTo>
                  <a:pt x="4738" y="288"/>
                </a:lnTo>
                <a:lnTo>
                  <a:pt x="4729" y="298"/>
                </a:lnTo>
                <a:lnTo>
                  <a:pt x="4722" y="309"/>
                </a:lnTo>
                <a:lnTo>
                  <a:pt x="4715" y="320"/>
                </a:lnTo>
                <a:lnTo>
                  <a:pt x="4708" y="324"/>
                </a:lnTo>
                <a:lnTo>
                  <a:pt x="4701" y="329"/>
                </a:lnTo>
                <a:lnTo>
                  <a:pt x="4694" y="335"/>
                </a:lnTo>
                <a:lnTo>
                  <a:pt x="4687" y="341"/>
                </a:lnTo>
                <a:lnTo>
                  <a:pt x="4679" y="346"/>
                </a:lnTo>
                <a:lnTo>
                  <a:pt x="4673" y="351"/>
                </a:lnTo>
                <a:lnTo>
                  <a:pt x="4667" y="355"/>
                </a:lnTo>
                <a:lnTo>
                  <a:pt x="4660" y="360"/>
                </a:lnTo>
                <a:lnTo>
                  <a:pt x="4655" y="359"/>
                </a:lnTo>
                <a:lnTo>
                  <a:pt x="4650" y="358"/>
                </a:lnTo>
                <a:lnTo>
                  <a:pt x="4646" y="355"/>
                </a:lnTo>
                <a:lnTo>
                  <a:pt x="4641" y="354"/>
                </a:lnTo>
                <a:lnTo>
                  <a:pt x="4636" y="353"/>
                </a:lnTo>
                <a:lnTo>
                  <a:pt x="4632" y="351"/>
                </a:lnTo>
                <a:lnTo>
                  <a:pt x="4626" y="349"/>
                </a:lnTo>
                <a:lnTo>
                  <a:pt x="4622" y="349"/>
                </a:lnTo>
                <a:lnTo>
                  <a:pt x="4600" y="366"/>
                </a:lnTo>
                <a:lnTo>
                  <a:pt x="4579" y="384"/>
                </a:lnTo>
                <a:lnTo>
                  <a:pt x="4558" y="402"/>
                </a:lnTo>
                <a:lnTo>
                  <a:pt x="4536" y="420"/>
                </a:lnTo>
                <a:lnTo>
                  <a:pt x="4514" y="438"/>
                </a:lnTo>
                <a:lnTo>
                  <a:pt x="4490" y="457"/>
                </a:lnTo>
                <a:lnTo>
                  <a:pt x="4469" y="476"/>
                </a:lnTo>
                <a:lnTo>
                  <a:pt x="4445" y="494"/>
                </a:lnTo>
                <a:lnTo>
                  <a:pt x="4435" y="499"/>
                </a:lnTo>
                <a:lnTo>
                  <a:pt x="4426" y="505"/>
                </a:lnTo>
                <a:lnTo>
                  <a:pt x="4415" y="509"/>
                </a:lnTo>
                <a:lnTo>
                  <a:pt x="4406" y="515"/>
                </a:lnTo>
                <a:lnTo>
                  <a:pt x="4396" y="519"/>
                </a:lnTo>
                <a:lnTo>
                  <a:pt x="4388" y="524"/>
                </a:lnTo>
                <a:lnTo>
                  <a:pt x="4378" y="530"/>
                </a:lnTo>
                <a:lnTo>
                  <a:pt x="4369" y="535"/>
                </a:lnTo>
                <a:lnTo>
                  <a:pt x="4363" y="533"/>
                </a:lnTo>
                <a:lnTo>
                  <a:pt x="4357" y="530"/>
                </a:lnTo>
                <a:lnTo>
                  <a:pt x="4351" y="528"/>
                </a:lnTo>
                <a:lnTo>
                  <a:pt x="4347" y="524"/>
                </a:lnTo>
                <a:lnTo>
                  <a:pt x="4340" y="522"/>
                </a:lnTo>
                <a:lnTo>
                  <a:pt x="4336" y="519"/>
                </a:lnTo>
                <a:lnTo>
                  <a:pt x="4330" y="517"/>
                </a:lnTo>
                <a:lnTo>
                  <a:pt x="4324" y="515"/>
                </a:lnTo>
                <a:lnTo>
                  <a:pt x="4299" y="533"/>
                </a:lnTo>
                <a:lnTo>
                  <a:pt x="4274" y="549"/>
                </a:lnTo>
                <a:lnTo>
                  <a:pt x="4249" y="568"/>
                </a:lnTo>
                <a:lnTo>
                  <a:pt x="4224" y="585"/>
                </a:lnTo>
                <a:lnTo>
                  <a:pt x="4201" y="602"/>
                </a:lnTo>
                <a:lnTo>
                  <a:pt x="4174" y="620"/>
                </a:lnTo>
                <a:lnTo>
                  <a:pt x="4150" y="637"/>
                </a:lnTo>
                <a:lnTo>
                  <a:pt x="4125" y="654"/>
                </a:lnTo>
                <a:lnTo>
                  <a:pt x="4099" y="671"/>
                </a:lnTo>
                <a:lnTo>
                  <a:pt x="4075" y="691"/>
                </a:lnTo>
                <a:lnTo>
                  <a:pt x="4050" y="707"/>
                </a:lnTo>
                <a:lnTo>
                  <a:pt x="4025" y="725"/>
                </a:lnTo>
                <a:lnTo>
                  <a:pt x="4000" y="742"/>
                </a:lnTo>
                <a:lnTo>
                  <a:pt x="3975" y="760"/>
                </a:lnTo>
                <a:lnTo>
                  <a:pt x="3950" y="778"/>
                </a:lnTo>
                <a:lnTo>
                  <a:pt x="3925" y="797"/>
                </a:lnTo>
                <a:lnTo>
                  <a:pt x="3918" y="788"/>
                </a:lnTo>
                <a:lnTo>
                  <a:pt x="3912" y="781"/>
                </a:lnTo>
                <a:lnTo>
                  <a:pt x="3906" y="771"/>
                </a:lnTo>
                <a:lnTo>
                  <a:pt x="3902" y="761"/>
                </a:lnTo>
                <a:lnTo>
                  <a:pt x="3912" y="754"/>
                </a:lnTo>
                <a:lnTo>
                  <a:pt x="3920" y="747"/>
                </a:lnTo>
                <a:lnTo>
                  <a:pt x="3931" y="738"/>
                </a:lnTo>
                <a:lnTo>
                  <a:pt x="3939" y="730"/>
                </a:lnTo>
                <a:lnTo>
                  <a:pt x="3949" y="721"/>
                </a:lnTo>
                <a:lnTo>
                  <a:pt x="3958" y="713"/>
                </a:lnTo>
                <a:lnTo>
                  <a:pt x="3969" y="704"/>
                </a:lnTo>
                <a:lnTo>
                  <a:pt x="3979" y="696"/>
                </a:lnTo>
                <a:lnTo>
                  <a:pt x="3986" y="694"/>
                </a:lnTo>
                <a:lnTo>
                  <a:pt x="3993" y="691"/>
                </a:lnTo>
                <a:lnTo>
                  <a:pt x="4000" y="691"/>
                </a:lnTo>
                <a:lnTo>
                  <a:pt x="4009" y="688"/>
                </a:lnTo>
                <a:lnTo>
                  <a:pt x="4017" y="685"/>
                </a:lnTo>
                <a:lnTo>
                  <a:pt x="4024" y="683"/>
                </a:lnTo>
                <a:lnTo>
                  <a:pt x="4033" y="680"/>
                </a:lnTo>
                <a:lnTo>
                  <a:pt x="4040" y="677"/>
                </a:lnTo>
                <a:lnTo>
                  <a:pt x="4044" y="670"/>
                </a:lnTo>
                <a:lnTo>
                  <a:pt x="4049" y="663"/>
                </a:lnTo>
                <a:lnTo>
                  <a:pt x="4054" y="657"/>
                </a:lnTo>
                <a:lnTo>
                  <a:pt x="4060" y="650"/>
                </a:lnTo>
                <a:lnTo>
                  <a:pt x="4064" y="643"/>
                </a:lnTo>
                <a:lnTo>
                  <a:pt x="4069" y="636"/>
                </a:lnTo>
                <a:lnTo>
                  <a:pt x="4075" y="628"/>
                </a:lnTo>
                <a:lnTo>
                  <a:pt x="4080" y="621"/>
                </a:lnTo>
                <a:lnTo>
                  <a:pt x="4090" y="617"/>
                </a:lnTo>
                <a:lnTo>
                  <a:pt x="4098" y="611"/>
                </a:lnTo>
                <a:lnTo>
                  <a:pt x="4109" y="606"/>
                </a:lnTo>
                <a:lnTo>
                  <a:pt x="4119" y="600"/>
                </a:lnTo>
                <a:lnTo>
                  <a:pt x="4127" y="595"/>
                </a:lnTo>
                <a:lnTo>
                  <a:pt x="4136" y="590"/>
                </a:lnTo>
                <a:lnTo>
                  <a:pt x="4146" y="584"/>
                </a:lnTo>
                <a:lnTo>
                  <a:pt x="4156" y="579"/>
                </a:lnTo>
                <a:lnTo>
                  <a:pt x="4163" y="565"/>
                </a:lnTo>
                <a:lnTo>
                  <a:pt x="4170" y="552"/>
                </a:lnTo>
                <a:lnTo>
                  <a:pt x="4176" y="539"/>
                </a:lnTo>
                <a:lnTo>
                  <a:pt x="4184" y="524"/>
                </a:lnTo>
                <a:lnTo>
                  <a:pt x="4190" y="517"/>
                </a:lnTo>
                <a:lnTo>
                  <a:pt x="4198" y="511"/>
                </a:lnTo>
                <a:lnTo>
                  <a:pt x="4205" y="505"/>
                </a:lnTo>
                <a:lnTo>
                  <a:pt x="4211" y="499"/>
                </a:lnTo>
                <a:lnTo>
                  <a:pt x="4218" y="493"/>
                </a:lnTo>
                <a:lnTo>
                  <a:pt x="4226" y="487"/>
                </a:lnTo>
                <a:lnTo>
                  <a:pt x="4234" y="481"/>
                </a:lnTo>
                <a:lnTo>
                  <a:pt x="4242" y="475"/>
                </a:lnTo>
                <a:lnTo>
                  <a:pt x="4235" y="473"/>
                </a:lnTo>
                <a:lnTo>
                  <a:pt x="4230" y="470"/>
                </a:lnTo>
                <a:lnTo>
                  <a:pt x="4224" y="468"/>
                </a:lnTo>
                <a:lnTo>
                  <a:pt x="4218" y="464"/>
                </a:lnTo>
                <a:lnTo>
                  <a:pt x="4213" y="462"/>
                </a:lnTo>
                <a:lnTo>
                  <a:pt x="4207" y="458"/>
                </a:lnTo>
                <a:lnTo>
                  <a:pt x="4202" y="455"/>
                </a:lnTo>
                <a:lnTo>
                  <a:pt x="4196" y="450"/>
                </a:lnTo>
                <a:lnTo>
                  <a:pt x="4207" y="442"/>
                </a:lnTo>
                <a:lnTo>
                  <a:pt x="4217" y="433"/>
                </a:lnTo>
                <a:lnTo>
                  <a:pt x="4228" y="425"/>
                </a:lnTo>
                <a:lnTo>
                  <a:pt x="4241" y="416"/>
                </a:lnTo>
                <a:lnTo>
                  <a:pt x="4252" y="408"/>
                </a:lnTo>
                <a:lnTo>
                  <a:pt x="4263" y="400"/>
                </a:lnTo>
                <a:lnTo>
                  <a:pt x="4274" y="392"/>
                </a:lnTo>
                <a:lnTo>
                  <a:pt x="4286" y="383"/>
                </a:lnTo>
                <a:lnTo>
                  <a:pt x="4291" y="377"/>
                </a:lnTo>
                <a:lnTo>
                  <a:pt x="4299" y="372"/>
                </a:lnTo>
                <a:lnTo>
                  <a:pt x="4307" y="366"/>
                </a:lnTo>
                <a:lnTo>
                  <a:pt x="4312" y="359"/>
                </a:lnTo>
                <a:lnTo>
                  <a:pt x="4321" y="349"/>
                </a:lnTo>
                <a:lnTo>
                  <a:pt x="4332" y="337"/>
                </a:lnTo>
                <a:lnTo>
                  <a:pt x="4339" y="326"/>
                </a:lnTo>
                <a:lnTo>
                  <a:pt x="4347" y="315"/>
                </a:lnTo>
                <a:lnTo>
                  <a:pt x="4356" y="304"/>
                </a:lnTo>
                <a:lnTo>
                  <a:pt x="4364" y="293"/>
                </a:lnTo>
                <a:lnTo>
                  <a:pt x="4374" y="282"/>
                </a:lnTo>
                <a:lnTo>
                  <a:pt x="4382" y="271"/>
                </a:lnTo>
                <a:lnTo>
                  <a:pt x="4360" y="281"/>
                </a:lnTo>
                <a:lnTo>
                  <a:pt x="4341" y="290"/>
                </a:lnTo>
                <a:lnTo>
                  <a:pt x="4320" y="299"/>
                </a:lnTo>
                <a:lnTo>
                  <a:pt x="4301" y="308"/>
                </a:lnTo>
                <a:lnTo>
                  <a:pt x="4279" y="318"/>
                </a:lnTo>
                <a:lnTo>
                  <a:pt x="4259" y="327"/>
                </a:lnTo>
                <a:lnTo>
                  <a:pt x="4238" y="338"/>
                </a:lnTo>
                <a:lnTo>
                  <a:pt x="4217" y="349"/>
                </a:lnTo>
                <a:lnTo>
                  <a:pt x="4213" y="346"/>
                </a:lnTo>
                <a:lnTo>
                  <a:pt x="4209" y="343"/>
                </a:lnTo>
                <a:lnTo>
                  <a:pt x="4204" y="342"/>
                </a:lnTo>
                <a:lnTo>
                  <a:pt x="4200" y="339"/>
                </a:lnTo>
                <a:lnTo>
                  <a:pt x="4194" y="338"/>
                </a:lnTo>
                <a:lnTo>
                  <a:pt x="4189" y="335"/>
                </a:lnTo>
                <a:lnTo>
                  <a:pt x="4185" y="335"/>
                </a:lnTo>
                <a:lnTo>
                  <a:pt x="4180" y="334"/>
                </a:lnTo>
                <a:lnTo>
                  <a:pt x="4186" y="328"/>
                </a:lnTo>
                <a:lnTo>
                  <a:pt x="4194" y="322"/>
                </a:lnTo>
                <a:lnTo>
                  <a:pt x="4200" y="316"/>
                </a:lnTo>
                <a:lnTo>
                  <a:pt x="4205" y="309"/>
                </a:lnTo>
                <a:lnTo>
                  <a:pt x="4211" y="303"/>
                </a:lnTo>
                <a:lnTo>
                  <a:pt x="4217" y="297"/>
                </a:lnTo>
                <a:lnTo>
                  <a:pt x="4224" y="291"/>
                </a:lnTo>
                <a:lnTo>
                  <a:pt x="4232" y="285"/>
                </a:lnTo>
                <a:lnTo>
                  <a:pt x="4251" y="271"/>
                </a:lnTo>
                <a:lnTo>
                  <a:pt x="4272" y="253"/>
                </a:lnTo>
                <a:lnTo>
                  <a:pt x="4297" y="234"/>
                </a:lnTo>
                <a:lnTo>
                  <a:pt x="4324" y="214"/>
                </a:lnTo>
                <a:lnTo>
                  <a:pt x="4351" y="195"/>
                </a:lnTo>
                <a:lnTo>
                  <a:pt x="4376" y="177"/>
                </a:lnTo>
                <a:lnTo>
                  <a:pt x="4398" y="162"/>
                </a:lnTo>
                <a:lnTo>
                  <a:pt x="4414" y="147"/>
                </a:lnTo>
                <a:lnTo>
                  <a:pt x="4419" y="124"/>
                </a:lnTo>
                <a:lnTo>
                  <a:pt x="4415" y="112"/>
                </a:lnTo>
                <a:lnTo>
                  <a:pt x="4408" y="112"/>
                </a:lnTo>
                <a:lnTo>
                  <a:pt x="4399" y="119"/>
                </a:lnTo>
                <a:lnTo>
                  <a:pt x="4387" y="127"/>
                </a:lnTo>
                <a:lnTo>
                  <a:pt x="4376" y="135"/>
                </a:lnTo>
                <a:lnTo>
                  <a:pt x="4367" y="140"/>
                </a:lnTo>
                <a:lnTo>
                  <a:pt x="4360" y="139"/>
                </a:lnTo>
                <a:lnTo>
                  <a:pt x="4351" y="146"/>
                </a:lnTo>
                <a:lnTo>
                  <a:pt x="4338" y="152"/>
                </a:lnTo>
                <a:lnTo>
                  <a:pt x="4322" y="160"/>
                </a:lnTo>
                <a:lnTo>
                  <a:pt x="4307" y="165"/>
                </a:lnTo>
                <a:lnTo>
                  <a:pt x="4291" y="173"/>
                </a:lnTo>
                <a:lnTo>
                  <a:pt x="4275" y="178"/>
                </a:lnTo>
                <a:lnTo>
                  <a:pt x="4261" y="187"/>
                </a:lnTo>
                <a:lnTo>
                  <a:pt x="4251" y="194"/>
                </a:lnTo>
                <a:lnTo>
                  <a:pt x="4247" y="203"/>
                </a:lnTo>
                <a:lnTo>
                  <a:pt x="4244" y="213"/>
                </a:lnTo>
                <a:lnTo>
                  <a:pt x="4241" y="223"/>
                </a:lnTo>
                <a:lnTo>
                  <a:pt x="4238" y="234"/>
                </a:lnTo>
                <a:lnTo>
                  <a:pt x="4232" y="239"/>
                </a:lnTo>
                <a:lnTo>
                  <a:pt x="4227" y="245"/>
                </a:lnTo>
                <a:lnTo>
                  <a:pt x="4221" y="251"/>
                </a:lnTo>
                <a:lnTo>
                  <a:pt x="4215" y="256"/>
                </a:lnTo>
                <a:lnTo>
                  <a:pt x="4207" y="262"/>
                </a:lnTo>
                <a:lnTo>
                  <a:pt x="4202" y="267"/>
                </a:lnTo>
                <a:lnTo>
                  <a:pt x="4194" y="273"/>
                </a:lnTo>
                <a:lnTo>
                  <a:pt x="4186" y="278"/>
                </a:lnTo>
                <a:lnTo>
                  <a:pt x="4180" y="271"/>
                </a:lnTo>
                <a:lnTo>
                  <a:pt x="4176" y="264"/>
                </a:lnTo>
                <a:lnTo>
                  <a:pt x="4170" y="258"/>
                </a:lnTo>
                <a:lnTo>
                  <a:pt x="4163" y="251"/>
                </a:lnTo>
                <a:lnTo>
                  <a:pt x="4158" y="244"/>
                </a:lnTo>
                <a:lnTo>
                  <a:pt x="4150" y="238"/>
                </a:lnTo>
                <a:lnTo>
                  <a:pt x="4143" y="232"/>
                </a:lnTo>
                <a:lnTo>
                  <a:pt x="4138" y="225"/>
                </a:lnTo>
                <a:lnTo>
                  <a:pt x="4146" y="212"/>
                </a:lnTo>
                <a:lnTo>
                  <a:pt x="4154" y="200"/>
                </a:lnTo>
                <a:lnTo>
                  <a:pt x="4161" y="187"/>
                </a:lnTo>
                <a:lnTo>
                  <a:pt x="4170" y="173"/>
                </a:lnTo>
                <a:lnTo>
                  <a:pt x="4180" y="167"/>
                </a:lnTo>
                <a:lnTo>
                  <a:pt x="4188" y="160"/>
                </a:lnTo>
                <a:lnTo>
                  <a:pt x="4197" y="152"/>
                </a:lnTo>
                <a:lnTo>
                  <a:pt x="4205" y="145"/>
                </a:lnTo>
                <a:lnTo>
                  <a:pt x="4214" y="137"/>
                </a:lnTo>
                <a:lnTo>
                  <a:pt x="4222" y="130"/>
                </a:lnTo>
                <a:lnTo>
                  <a:pt x="4230" y="123"/>
                </a:lnTo>
                <a:lnTo>
                  <a:pt x="4238" y="116"/>
                </a:lnTo>
                <a:lnTo>
                  <a:pt x="4245" y="106"/>
                </a:lnTo>
                <a:lnTo>
                  <a:pt x="4249" y="99"/>
                </a:lnTo>
                <a:lnTo>
                  <a:pt x="4255" y="90"/>
                </a:lnTo>
                <a:lnTo>
                  <a:pt x="4260" y="82"/>
                </a:lnTo>
                <a:lnTo>
                  <a:pt x="4266" y="73"/>
                </a:lnTo>
                <a:lnTo>
                  <a:pt x="4271" y="65"/>
                </a:lnTo>
                <a:lnTo>
                  <a:pt x="4277" y="55"/>
                </a:lnTo>
                <a:lnTo>
                  <a:pt x="4284" y="47"/>
                </a:lnTo>
                <a:lnTo>
                  <a:pt x="4274" y="48"/>
                </a:lnTo>
                <a:lnTo>
                  <a:pt x="4264" y="50"/>
                </a:lnTo>
                <a:lnTo>
                  <a:pt x="4255" y="52"/>
                </a:lnTo>
                <a:lnTo>
                  <a:pt x="4245" y="52"/>
                </a:lnTo>
                <a:lnTo>
                  <a:pt x="4234" y="55"/>
                </a:lnTo>
                <a:lnTo>
                  <a:pt x="4224" y="56"/>
                </a:lnTo>
                <a:lnTo>
                  <a:pt x="4214" y="59"/>
                </a:lnTo>
                <a:lnTo>
                  <a:pt x="4204" y="60"/>
                </a:lnTo>
                <a:lnTo>
                  <a:pt x="4207" y="44"/>
                </a:lnTo>
                <a:lnTo>
                  <a:pt x="4211" y="30"/>
                </a:lnTo>
                <a:lnTo>
                  <a:pt x="4213" y="16"/>
                </a:lnTo>
                <a:lnTo>
                  <a:pt x="4215" y="0"/>
                </a:lnTo>
                <a:lnTo>
                  <a:pt x="4205" y="7"/>
                </a:lnTo>
                <a:lnTo>
                  <a:pt x="4196" y="13"/>
                </a:lnTo>
                <a:lnTo>
                  <a:pt x="4185" y="19"/>
                </a:lnTo>
                <a:lnTo>
                  <a:pt x="4176" y="26"/>
                </a:lnTo>
                <a:lnTo>
                  <a:pt x="4167" y="33"/>
                </a:lnTo>
                <a:lnTo>
                  <a:pt x="4158" y="41"/>
                </a:lnTo>
                <a:lnTo>
                  <a:pt x="4150" y="48"/>
                </a:lnTo>
                <a:lnTo>
                  <a:pt x="4139" y="55"/>
                </a:lnTo>
                <a:lnTo>
                  <a:pt x="4134" y="63"/>
                </a:lnTo>
                <a:lnTo>
                  <a:pt x="4129" y="73"/>
                </a:lnTo>
                <a:lnTo>
                  <a:pt x="4123" y="82"/>
                </a:lnTo>
                <a:lnTo>
                  <a:pt x="4119" y="92"/>
                </a:lnTo>
                <a:lnTo>
                  <a:pt x="4113" y="102"/>
                </a:lnTo>
                <a:lnTo>
                  <a:pt x="4108" y="112"/>
                </a:lnTo>
                <a:lnTo>
                  <a:pt x="4101" y="123"/>
                </a:lnTo>
                <a:lnTo>
                  <a:pt x="4097" y="134"/>
                </a:lnTo>
                <a:lnTo>
                  <a:pt x="4088" y="134"/>
                </a:lnTo>
                <a:lnTo>
                  <a:pt x="4080" y="134"/>
                </a:lnTo>
                <a:lnTo>
                  <a:pt x="4071" y="134"/>
                </a:lnTo>
                <a:lnTo>
                  <a:pt x="4064" y="134"/>
                </a:lnTo>
                <a:lnTo>
                  <a:pt x="4054" y="134"/>
                </a:lnTo>
                <a:lnTo>
                  <a:pt x="4047" y="134"/>
                </a:lnTo>
                <a:lnTo>
                  <a:pt x="4038" y="134"/>
                </a:lnTo>
                <a:lnTo>
                  <a:pt x="4030" y="133"/>
                </a:lnTo>
                <a:lnTo>
                  <a:pt x="4016" y="143"/>
                </a:lnTo>
                <a:lnTo>
                  <a:pt x="4000" y="154"/>
                </a:lnTo>
                <a:lnTo>
                  <a:pt x="3986" y="165"/>
                </a:lnTo>
                <a:lnTo>
                  <a:pt x="3972" y="175"/>
                </a:lnTo>
                <a:lnTo>
                  <a:pt x="3956" y="186"/>
                </a:lnTo>
                <a:lnTo>
                  <a:pt x="3941" y="197"/>
                </a:lnTo>
                <a:lnTo>
                  <a:pt x="3928" y="207"/>
                </a:lnTo>
                <a:lnTo>
                  <a:pt x="3910" y="218"/>
                </a:lnTo>
                <a:lnTo>
                  <a:pt x="3863" y="251"/>
                </a:lnTo>
                <a:lnTo>
                  <a:pt x="3815" y="280"/>
                </a:lnTo>
                <a:lnTo>
                  <a:pt x="3768" y="307"/>
                </a:lnTo>
                <a:lnTo>
                  <a:pt x="3720" y="331"/>
                </a:lnTo>
                <a:lnTo>
                  <a:pt x="3672" y="357"/>
                </a:lnTo>
                <a:lnTo>
                  <a:pt x="3625" y="381"/>
                </a:lnTo>
                <a:lnTo>
                  <a:pt x="3577" y="405"/>
                </a:lnTo>
                <a:lnTo>
                  <a:pt x="3530" y="428"/>
                </a:lnTo>
                <a:lnTo>
                  <a:pt x="3483" y="456"/>
                </a:lnTo>
                <a:lnTo>
                  <a:pt x="3436" y="485"/>
                </a:lnTo>
                <a:lnTo>
                  <a:pt x="3389" y="516"/>
                </a:lnTo>
                <a:lnTo>
                  <a:pt x="3342" y="549"/>
                </a:lnTo>
                <a:lnTo>
                  <a:pt x="3296" y="590"/>
                </a:lnTo>
                <a:lnTo>
                  <a:pt x="3250" y="633"/>
                </a:lnTo>
                <a:lnTo>
                  <a:pt x="3203" y="682"/>
                </a:lnTo>
                <a:lnTo>
                  <a:pt x="3155" y="736"/>
                </a:lnTo>
                <a:lnTo>
                  <a:pt x="3112" y="764"/>
                </a:lnTo>
                <a:lnTo>
                  <a:pt x="3078" y="786"/>
                </a:lnTo>
                <a:lnTo>
                  <a:pt x="3052" y="803"/>
                </a:lnTo>
                <a:lnTo>
                  <a:pt x="3036" y="812"/>
                </a:lnTo>
                <a:lnTo>
                  <a:pt x="3028" y="815"/>
                </a:lnTo>
                <a:lnTo>
                  <a:pt x="3026" y="814"/>
                </a:lnTo>
                <a:lnTo>
                  <a:pt x="3028" y="809"/>
                </a:lnTo>
                <a:lnTo>
                  <a:pt x="3035" y="800"/>
                </a:lnTo>
                <a:lnTo>
                  <a:pt x="3044" y="790"/>
                </a:lnTo>
                <a:lnTo>
                  <a:pt x="3055" y="778"/>
                </a:lnTo>
                <a:lnTo>
                  <a:pt x="3070" y="766"/>
                </a:lnTo>
                <a:lnTo>
                  <a:pt x="3083" y="754"/>
                </a:lnTo>
                <a:lnTo>
                  <a:pt x="3094" y="743"/>
                </a:lnTo>
                <a:lnTo>
                  <a:pt x="3104" y="732"/>
                </a:lnTo>
                <a:lnTo>
                  <a:pt x="3112" y="725"/>
                </a:lnTo>
                <a:lnTo>
                  <a:pt x="3114" y="721"/>
                </a:lnTo>
                <a:lnTo>
                  <a:pt x="3136" y="710"/>
                </a:lnTo>
                <a:lnTo>
                  <a:pt x="3154" y="700"/>
                </a:lnTo>
                <a:lnTo>
                  <a:pt x="3167" y="691"/>
                </a:lnTo>
                <a:lnTo>
                  <a:pt x="3175" y="685"/>
                </a:lnTo>
                <a:lnTo>
                  <a:pt x="3180" y="682"/>
                </a:lnTo>
                <a:lnTo>
                  <a:pt x="3183" y="677"/>
                </a:lnTo>
                <a:lnTo>
                  <a:pt x="3180" y="675"/>
                </a:lnTo>
                <a:lnTo>
                  <a:pt x="3177" y="674"/>
                </a:lnTo>
                <a:lnTo>
                  <a:pt x="3173" y="674"/>
                </a:lnTo>
                <a:lnTo>
                  <a:pt x="3169" y="674"/>
                </a:lnTo>
                <a:lnTo>
                  <a:pt x="3164" y="673"/>
                </a:lnTo>
                <a:lnTo>
                  <a:pt x="3160" y="671"/>
                </a:lnTo>
                <a:lnTo>
                  <a:pt x="3158" y="669"/>
                </a:lnTo>
                <a:lnTo>
                  <a:pt x="3158" y="666"/>
                </a:lnTo>
                <a:lnTo>
                  <a:pt x="3160" y="660"/>
                </a:lnTo>
                <a:lnTo>
                  <a:pt x="3165" y="654"/>
                </a:lnTo>
                <a:lnTo>
                  <a:pt x="3173" y="645"/>
                </a:lnTo>
                <a:lnTo>
                  <a:pt x="3185" y="633"/>
                </a:lnTo>
                <a:lnTo>
                  <a:pt x="3203" y="620"/>
                </a:lnTo>
                <a:lnTo>
                  <a:pt x="3225" y="603"/>
                </a:lnTo>
                <a:lnTo>
                  <a:pt x="3253" y="584"/>
                </a:lnTo>
                <a:lnTo>
                  <a:pt x="3287" y="560"/>
                </a:lnTo>
                <a:lnTo>
                  <a:pt x="3327" y="533"/>
                </a:lnTo>
                <a:lnTo>
                  <a:pt x="3375" y="503"/>
                </a:lnTo>
                <a:lnTo>
                  <a:pt x="3432" y="466"/>
                </a:lnTo>
                <a:lnTo>
                  <a:pt x="3495" y="426"/>
                </a:lnTo>
                <a:lnTo>
                  <a:pt x="3569" y="383"/>
                </a:lnTo>
                <a:lnTo>
                  <a:pt x="3651" y="331"/>
                </a:lnTo>
                <a:lnTo>
                  <a:pt x="3744" y="278"/>
                </a:lnTo>
                <a:lnTo>
                  <a:pt x="3849" y="216"/>
                </a:lnTo>
                <a:lnTo>
                  <a:pt x="3962" y="150"/>
                </a:lnTo>
                <a:lnTo>
                  <a:pt x="3989" y="133"/>
                </a:lnTo>
                <a:lnTo>
                  <a:pt x="4011" y="116"/>
                </a:lnTo>
                <a:lnTo>
                  <a:pt x="4029" y="99"/>
                </a:lnTo>
                <a:lnTo>
                  <a:pt x="4042" y="84"/>
                </a:lnTo>
                <a:lnTo>
                  <a:pt x="4050" y="71"/>
                </a:lnTo>
                <a:lnTo>
                  <a:pt x="4054" y="61"/>
                </a:lnTo>
                <a:lnTo>
                  <a:pt x="4054" y="54"/>
                </a:lnTo>
                <a:lnTo>
                  <a:pt x="4050" y="52"/>
                </a:lnTo>
                <a:lnTo>
                  <a:pt x="4025" y="56"/>
                </a:lnTo>
                <a:lnTo>
                  <a:pt x="3998" y="69"/>
                </a:lnTo>
                <a:lnTo>
                  <a:pt x="3972" y="88"/>
                </a:lnTo>
                <a:lnTo>
                  <a:pt x="3944" y="106"/>
                </a:lnTo>
                <a:lnTo>
                  <a:pt x="3920" y="126"/>
                </a:lnTo>
                <a:lnTo>
                  <a:pt x="3899" y="139"/>
                </a:lnTo>
                <a:lnTo>
                  <a:pt x="3883" y="143"/>
                </a:lnTo>
                <a:lnTo>
                  <a:pt x="3870" y="133"/>
                </a:lnTo>
                <a:lnTo>
                  <a:pt x="3857" y="154"/>
                </a:lnTo>
                <a:lnTo>
                  <a:pt x="3855" y="162"/>
                </a:lnTo>
                <a:lnTo>
                  <a:pt x="3857" y="160"/>
                </a:lnTo>
                <a:lnTo>
                  <a:pt x="3860" y="151"/>
                </a:lnTo>
                <a:lnTo>
                  <a:pt x="3858" y="143"/>
                </a:lnTo>
                <a:lnTo>
                  <a:pt x="3845" y="143"/>
                </a:lnTo>
                <a:lnTo>
                  <a:pt x="3813" y="152"/>
                </a:lnTo>
                <a:lnTo>
                  <a:pt x="3759" y="177"/>
                </a:lnTo>
                <a:lnTo>
                  <a:pt x="3741" y="187"/>
                </a:lnTo>
                <a:lnTo>
                  <a:pt x="3722" y="197"/>
                </a:lnTo>
                <a:lnTo>
                  <a:pt x="3702" y="208"/>
                </a:lnTo>
                <a:lnTo>
                  <a:pt x="3678" y="222"/>
                </a:lnTo>
                <a:lnTo>
                  <a:pt x="3656" y="237"/>
                </a:lnTo>
                <a:lnTo>
                  <a:pt x="3630" y="251"/>
                </a:lnTo>
                <a:lnTo>
                  <a:pt x="3603" y="267"/>
                </a:lnTo>
                <a:lnTo>
                  <a:pt x="3577" y="284"/>
                </a:lnTo>
                <a:lnTo>
                  <a:pt x="3548" y="301"/>
                </a:lnTo>
                <a:lnTo>
                  <a:pt x="3520" y="318"/>
                </a:lnTo>
                <a:lnTo>
                  <a:pt x="3491" y="337"/>
                </a:lnTo>
                <a:lnTo>
                  <a:pt x="3460" y="357"/>
                </a:lnTo>
                <a:lnTo>
                  <a:pt x="3431" y="375"/>
                </a:lnTo>
                <a:lnTo>
                  <a:pt x="3400" y="395"/>
                </a:lnTo>
                <a:lnTo>
                  <a:pt x="3368" y="415"/>
                </a:lnTo>
                <a:lnTo>
                  <a:pt x="3338" y="435"/>
                </a:lnTo>
                <a:lnTo>
                  <a:pt x="3307" y="456"/>
                </a:lnTo>
                <a:lnTo>
                  <a:pt x="3274" y="476"/>
                </a:lnTo>
                <a:lnTo>
                  <a:pt x="3244" y="496"/>
                </a:lnTo>
                <a:lnTo>
                  <a:pt x="3214" y="516"/>
                </a:lnTo>
                <a:lnTo>
                  <a:pt x="3184" y="535"/>
                </a:lnTo>
                <a:lnTo>
                  <a:pt x="3154" y="556"/>
                </a:lnTo>
                <a:lnTo>
                  <a:pt x="3127" y="574"/>
                </a:lnTo>
                <a:lnTo>
                  <a:pt x="3098" y="594"/>
                </a:lnTo>
                <a:lnTo>
                  <a:pt x="3072" y="611"/>
                </a:lnTo>
                <a:lnTo>
                  <a:pt x="3046" y="628"/>
                </a:lnTo>
                <a:lnTo>
                  <a:pt x="3022" y="645"/>
                </a:lnTo>
                <a:lnTo>
                  <a:pt x="2998" y="660"/>
                </a:lnTo>
                <a:lnTo>
                  <a:pt x="2974" y="677"/>
                </a:lnTo>
                <a:lnTo>
                  <a:pt x="2955" y="691"/>
                </a:lnTo>
                <a:lnTo>
                  <a:pt x="2936" y="704"/>
                </a:lnTo>
                <a:lnTo>
                  <a:pt x="2918" y="715"/>
                </a:lnTo>
                <a:lnTo>
                  <a:pt x="2869" y="749"/>
                </a:lnTo>
                <a:lnTo>
                  <a:pt x="2819" y="783"/>
                </a:lnTo>
                <a:lnTo>
                  <a:pt x="2771" y="816"/>
                </a:lnTo>
                <a:lnTo>
                  <a:pt x="2723" y="847"/>
                </a:lnTo>
                <a:lnTo>
                  <a:pt x="2675" y="879"/>
                </a:lnTo>
                <a:lnTo>
                  <a:pt x="2628" y="910"/>
                </a:lnTo>
                <a:lnTo>
                  <a:pt x="2581" y="940"/>
                </a:lnTo>
                <a:lnTo>
                  <a:pt x="2536" y="970"/>
                </a:lnTo>
                <a:lnTo>
                  <a:pt x="2491" y="1000"/>
                </a:lnTo>
                <a:lnTo>
                  <a:pt x="2447" y="1031"/>
                </a:lnTo>
                <a:lnTo>
                  <a:pt x="2402" y="1060"/>
                </a:lnTo>
                <a:lnTo>
                  <a:pt x="2359" y="1089"/>
                </a:lnTo>
                <a:lnTo>
                  <a:pt x="2316" y="1117"/>
                </a:lnTo>
                <a:lnTo>
                  <a:pt x="2273" y="1148"/>
                </a:lnTo>
                <a:lnTo>
                  <a:pt x="2232" y="1178"/>
                </a:lnTo>
                <a:lnTo>
                  <a:pt x="2191" y="1206"/>
                </a:lnTo>
                <a:lnTo>
                  <a:pt x="2168" y="1227"/>
                </a:lnTo>
                <a:lnTo>
                  <a:pt x="2146" y="1249"/>
                </a:lnTo>
                <a:lnTo>
                  <a:pt x="2125" y="1271"/>
                </a:lnTo>
                <a:lnTo>
                  <a:pt x="2104" y="1293"/>
                </a:lnTo>
                <a:lnTo>
                  <a:pt x="2085" y="1316"/>
                </a:lnTo>
                <a:lnTo>
                  <a:pt x="2065" y="1338"/>
                </a:lnTo>
                <a:lnTo>
                  <a:pt x="2048" y="1362"/>
                </a:lnTo>
                <a:lnTo>
                  <a:pt x="2029" y="1384"/>
                </a:lnTo>
                <a:lnTo>
                  <a:pt x="2010" y="1407"/>
                </a:lnTo>
                <a:lnTo>
                  <a:pt x="1994" y="1430"/>
                </a:lnTo>
                <a:lnTo>
                  <a:pt x="1975" y="1453"/>
                </a:lnTo>
                <a:lnTo>
                  <a:pt x="1957" y="1475"/>
                </a:lnTo>
                <a:lnTo>
                  <a:pt x="1938" y="1498"/>
                </a:lnTo>
                <a:lnTo>
                  <a:pt x="1920" y="1518"/>
                </a:lnTo>
                <a:lnTo>
                  <a:pt x="1901" y="1539"/>
                </a:lnTo>
                <a:lnTo>
                  <a:pt x="1881" y="1559"/>
                </a:lnTo>
                <a:lnTo>
                  <a:pt x="1859" y="1580"/>
                </a:lnTo>
                <a:lnTo>
                  <a:pt x="1835" y="1607"/>
                </a:lnTo>
                <a:lnTo>
                  <a:pt x="1811" y="1637"/>
                </a:lnTo>
                <a:lnTo>
                  <a:pt x="1786" y="1671"/>
                </a:lnTo>
                <a:lnTo>
                  <a:pt x="1762" y="1704"/>
                </a:lnTo>
                <a:lnTo>
                  <a:pt x="1738" y="1734"/>
                </a:lnTo>
                <a:lnTo>
                  <a:pt x="1717" y="1760"/>
                </a:lnTo>
                <a:lnTo>
                  <a:pt x="1697" y="1779"/>
                </a:lnTo>
                <a:lnTo>
                  <a:pt x="1669" y="1799"/>
                </a:lnTo>
                <a:lnTo>
                  <a:pt x="1651" y="1814"/>
                </a:lnTo>
                <a:lnTo>
                  <a:pt x="1638" y="1823"/>
                </a:lnTo>
                <a:lnTo>
                  <a:pt x="1629" y="1830"/>
                </a:lnTo>
                <a:lnTo>
                  <a:pt x="1618" y="1836"/>
                </a:lnTo>
                <a:lnTo>
                  <a:pt x="1607" y="1846"/>
                </a:lnTo>
                <a:lnTo>
                  <a:pt x="1593" y="1859"/>
                </a:lnTo>
                <a:lnTo>
                  <a:pt x="1571" y="1880"/>
                </a:lnTo>
                <a:lnTo>
                  <a:pt x="1550" y="1913"/>
                </a:lnTo>
                <a:lnTo>
                  <a:pt x="1531" y="1947"/>
                </a:lnTo>
                <a:lnTo>
                  <a:pt x="1514" y="1983"/>
                </a:lnTo>
                <a:lnTo>
                  <a:pt x="1499" y="2021"/>
                </a:lnTo>
                <a:lnTo>
                  <a:pt x="1482" y="2057"/>
                </a:lnTo>
                <a:lnTo>
                  <a:pt x="1466" y="2093"/>
                </a:lnTo>
                <a:lnTo>
                  <a:pt x="1452" y="2128"/>
                </a:lnTo>
                <a:lnTo>
                  <a:pt x="1435" y="2161"/>
                </a:lnTo>
                <a:lnTo>
                  <a:pt x="1420" y="2132"/>
                </a:lnTo>
                <a:lnTo>
                  <a:pt x="1402" y="2104"/>
                </a:lnTo>
                <a:lnTo>
                  <a:pt x="1383" y="2075"/>
                </a:lnTo>
                <a:lnTo>
                  <a:pt x="1363" y="2046"/>
                </a:lnTo>
                <a:lnTo>
                  <a:pt x="1340" y="2018"/>
                </a:lnTo>
                <a:lnTo>
                  <a:pt x="1319" y="1989"/>
                </a:lnTo>
                <a:lnTo>
                  <a:pt x="1296" y="1961"/>
                </a:lnTo>
                <a:lnTo>
                  <a:pt x="1274" y="1933"/>
                </a:lnTo>
                <a:lnTo>
                  <a:pt x="1251" y="1903"/>
                </a:lnTo>
                <a:lnTo>
                  <a:pt x="1230" y="1874"/>
                </a:lnTo>
                <a:lnTo>
                  <a:pt x="1210" y="1847"/>
                </a:lnTo>
                <a:lnTo>
                  <a:pt x="1192" y="1818"/>
                </a:lnTo>
                <a:lnTo>
                  <a:pt x="1175" y="1789"/>
                </a:lnTo>
                <a:lnTo>
                  <a:pt x="1159" y="1761"/>
                </a:lnTo>
                <a:lnTo>
                  <a:pt x="1146" y="1732"/>
                </a:lnTo>
                <a:lnTo>
                  <a:pt x="1137" y="1705"/>
                </a:lnTo>
                <a:lnTo>
                  <a:pt x="1121" y="1665"/>
                </a:lnTo>
                <a:lnTo>
                  <a:pt x="1105" y="1624"/>
                </a:lnTo>
                <a:lnTo>
                  <a:pt x="1087" y="1580"/>
                </a:lnTo>
                <a:lnTo>
                  <a:pt x="1068" y="1537"/>
                </a:lnTo>
                <a:lnTo>
                  <a:pt x="1050" y="1493"/>
                </a:lnTo>
                <a:lnTo>
                  <a:pt x="1032" y="1449"/>
                </a:lnTo>
                <a:lnTo>
                  <a:pt x="1016" y="1407"/>
                </a:lnTo>
                <a:lnTo>
                  <a:pt x="1003" y="1367"/>
                </a:lnTo>
                <a:lnTo>
                  <a:pt x="979" y="1376"/>
                </a:lnTo>
                <a:lnTo>
                  <a:pt x="958" y="1386"/>
                </a:lnTo>
                <a:lnTo>
                  <a:pt x="935" y="1394"/>
                </a:lnTo>
                <a:lnTo>
                  <a:pt x="914" y="1403"/>
                </a:lnTo>
                <a:lnTo>
                  <a:pt x="891" y="1411"/>
                </a:lnTo>
                <a:lnTo>
                  <a:pt x="870" y="1418"/>
                </a:lnTo>
                <a:lnTo>
                  <a:pt x="847" y="1426"/>
                </a:lnTo>
                <a:lnTo>
                  <a:pt x="825" y="1435"/>
                </a:lnTo>
                <a:lnTo>
                  <a:pt x="808" y="1443"/>
                </a:lnTo>
                <a:lnTo>
                  <a:pt x="790" y="1450"/>
                </a:lnTo>
                <a:lnTo>
                  <a:pt x="773" y="1459"/>
                </a:lnTo>
                <a:lnTo>
                  <a:pt x="755" y="1467"/>
                </a:lnTo>
                <a:lnTo>
                  <a:pt x="738" y="1475"/>
                </a:lnTo>
                <a:lnTo>
                  <a:pt x="721" y="1484"/>
                </a:lnTo>
                <a:lnTo>
                  <a:pt x="704" y="1491"/>
                </a:lnTo>
                <a:lnTo>
                  <a:pt x="687" y="1499"/>
                </a:lnTo>
                <a:lnTo>
                  <a:pt x="669" y="1507"/>
                </a:lnTo>
                <a:lnTo>
                  <a:pt x="652" y="1515"/>
                </a:lnTo>
                <a:lnTo>
                  <a:pt x="636" y="1522"/>
                </a:lnTo>
                <a:lnTo>
                  <a:pt x="619" y="1531"/>
                </a:lnTo>
                <a:lnTo>
                  <a:pt x="602" y="1537"/>
                </a:lnTo>
                <a:lnTo>
                  <a:pt x="586" y="1546"/>
                </a:lnTo>
                <a:lnTo>
                  <a:pt x="569" y="1553"/>
                </a:lnTo>
                <a:lnTo>
                  <a:pt x="553" y="1561"/>
                </a:lnTo>
                <a:lnTo>
                  <a:pt x="550" y="1561"/>
                </a:lnTo>
                <a:lnTo>
                  <a:pt x="541" y="1561"/>
                </a:lnTo>
                <a:lnTo>
                  <a:pt x="527" y="1563"/>
                </a:lnTo>
                <a:lnTo>
                  <a:pt x="511" y="1567"/>
                </a:lnTo>
                <a:lnTo>
                  <a:pt x="491" y="1571"/>
                </a:lnTo>
                <a:lnTo>
                  <a:pt x="469" y="1577"/>
                </a:lnTo>
                <a:lnTo>
                  <a:pt x="445" y="1585"/>
                </a:lnTo>
                <a:lnTo>
                  <a:pt x="421" y="1592"/>
                </a:lnTo>
                <a:lnTo>
                  <a:pt x="396" y="1598"/>
                </a:lnTo>
                <a:lnTo>
                  <a:pt x="373" y="1605"/>
                </a:lnTo>
                <a:lnTo>
                  <a:pt x="351" y="1612"/>
                </a:lnTo>
                <a:lnTo>
                  <a:pt x="333" y="1616"/>
                </a:lnTo>
                <a:lnTo>
                  <a:pt x="315" y="1620"/>
                </a:lnTo>
                <a:lnTo>
                  <a:pt x="304" y="1624"/>
                </a:lnTo>
                <a:lnTo>
                  <a:pt x="297" y="1624"/>
                </a:lnTo>
                <a:lnTo>
                  <a:pt x="294" y="1622"/>
                </a:lnTo>
                <a:lnTo>
                  <a:pt x="275" y="1633"/>
                </a:lnTo>
                <a:lnTo>
                  <a:pt x="256" y="1643"/>
                </a:lnTo>
                <a:lnTo>
                  <a:pt x="237" y="1654"/>
                </a:lnTo>
                <a:lnTo>
                  <a:pt x="219" y="1665"/>
                </a:lnTo>
                <a:lnTo>
                  <a:pt x="199" y="1675"/>
                </a:lnTo>
                <a:lnTo>
                  <a:pt x="180" y="1685"/>
                </a:lnTo>
                <a:lnTo>
                  <a:pt x="161" y="1696"/>
                </a:lnTo>
                <a:lnTo>
                  <a:pt x="143" y="1707"/>
                </a:lnTo>
                <a:lnTo>
                  <a:pt x="124" y="1718"/>
                </a:lnTo>
                <a:lnTo>
                  <a:pt x="106" y="1729"/>
                </a:lnTo>
                <a:lnTo>
                  <a:pt x="87" y="1739"/>
                </a:lnTo>
                <a:lnTo>
                  <a:pt x="70" y="1750"/>
                </a:lnTo>
                <a:lnTo>
                  <a:pt x="53" y="1760"/>
                </a:lnTo>
                <a:lnTo>
                  <a:pt x="35" y="1771"/>
                </a:lnTo>
                <a:lnTo>
                  <a:pt x="18" y="1781"/>
                </a:lnTo>
                <a:lnTo>
                  <a:pt x="0" y="1792"/>
                </a:lnTo>
                <a:close/>
              </a:path>
            </a:pathLst>
          </a:custGeom>
          <a:solidFill>
            <a:srgbClr val="043B72"/>
          </a:solidFill>
          <a:ln w="19050">
            <a:solidFill>
              <a:srgbClr val="FFFFFF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96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ea"/>
              <a:sym typeface="나눔고딕"/>
            </a:endParaRPr>
          </a:p>
        </p:txBody>
      </p:sp>
      <p:sp>
        <p:nvSpPr>
          <p:cNvPr id="65" name="Freeform 1754">
            <a:extLst>
              <a:ext uri="{FF2B5EF4-FFF2-40B4-BE49-F238E27FC236}">
                <a16:creationId xmlns:a16="http://schemas.microsoft.com/office/drawing/2014/main" id="{6AB60EF4-B1EE-4942-6064-C9D497D036E4}"/>
              </a:ext>
            </a:extLst>
          </p:cNvPr>
          <p:cNvSpPr>
            <a:spLocks noChangeAspect="1"/>
          </p:cNvSpPr>
          <p:nvPr/>
        </p:nvSpPr>
        <p:spPr bwMode="gray">
          <a:xfrm>
            <a:off x="11472763" y="5630304"/>
            <a:ext cx="216000" cy="185549"/>
          </a:xfrm>
          <a:custGeom>
            <a:avLst/>
            <a:gdLst>
              <a:gd name="T0" fmla="*/ 2147483646 w 4916"/>
              <a:gd name="T1" fmla="*/ 2147483646 h 3388"/>
              <a:gd name="T2" fmla="*/ 2147483646 w 4916"/>
              <a:gd name="T3" fmla="*/ 2147483646 h 3388"/>
              <a:gd name="T4" fmla="*/ 2147483646 w 4916"/>
              <a:gd name="T5" fmla="*/ 2147483646 h 3388"/>
              <a:gd name="T6" fmla="*/ 2147483646 w 4916"/>
              <a:gd name="T7" fmla="*/ 2147483646 h 3388"/>
              <a:gd name="T8" fmla="*/ 2147483646 w 4916"/>
              <a:gd name="T9" fmla="*/ 2147483646 h 3388"/>
              <a:gd name="T10" fmla="*/ 2147483646 w 4916"/>
              <a:gd name="T11" fmla="*/ 2147483646 h 3388"/>
              <a:gd name="T12" fmla="*/ 2147483646 w 4916"/>
              <a:gd name="T13" fmla="*/ 2147483646 h 3388"/>
              <a:gd name="T14" fmla="*/ 2147483646 w 4916"/>
              <a:gd name="T15" fmla="*/ 2147483646 h 3388"/>
              <a:gd name="T16" fmla="*/ 2147483646 w 4916"/>
              <a:gd name="T17" fmla="*/ 2147483646 h 3388"/>
              <a:gd name="T18" fmla="*/ 2147483646 w 4916"/>
              <a:gd name="T19" fmla="*/ 2147483646 h 3388"/>
              <a:gd name="T20" fmla="*/ 2147483646 w 4916"/>
              <a:gd name="T21" fmla="*/ 2147483646 h 3388"/>
              <a:gd name="T22" fmla="*/ 2147483646 w 4916"/>
              <a:gd name="T23" fmla="*/ 2147483646 h 3388"/>
              <a:gd name="T24" fmla="*/ 2147483646 w 4916"/>
              <a:gd name="T25" fmla="*/ 2147483646 h 3388"/>
              <a:gd name="T26" fmla="*/ 2147483646 w 4916"/>
              <a:gd name="T27" fmla="*/ 2147483646 h 3388"/>
              <a:gd name="T28" fmla="*/ 2147483646 w 4916"/>
              <a:gd name="T29" fmla="*/ 2147483646 h 3388"/>
              <a:gd name="T30" fmla="*/ 2147483646 w 4916"/>
              <a:gd name="T31" fmla="*/ 2147483646 h 3388"/>
              <a:gd name="T32" fmla="*/ 2147483646 w 4916"/>
              <a:gd name="T33" fmla="*/ 2147483646 h 3388"/>
              <a:gd name="T34" fmla="*/ 2147483646 w 4916"/>
              <a:gd name="T35" fmla="*/ 2147483646 h 3388"/>
              <a:gd name="T36" fmla="*/ 2147483646 w 4916"/>
              <a:gd name="T37" fmla="*/ 2147483646 h 3388"/>
              <a:gd name="T38" fmla="*/ 2147483646 w 4916"/>
              <a:gd name="T39" fmla="*/ 2147483646 h 3388"/>
              <a:gd name="T40" fmla="*/ 2147483646 w 4916"/>
              <a:gd name="T41" fmla="*/ 2147483646 h 3388"/>
              <a:gd name="T42" fmla="*/ 2147483646 w 4916"/>
              <a:gd name="T43" fmla="*/ 2147483646 h 3388"/>
              <a:gd name="T44" fmla="*/ 2147483646 w 4916"/>
              <a:gd name="T45" fmla="*/ 2147483646 h 3388"/>
              <a:gd name="T46" fmla="*/ 2147483646 w 4916"/>
              <a:gd name="T47" fmla="*/ 2147483646 h 3388"/>
              <a:gd name="T48" fmla="*/ 2147483646 w 4916"/>
              <a:gd name="T49" fmla="*/ 2147483646 h 3388"/>
              <a:gd name="T50" fmla="*/ 2147483646 w 4916"/>
              <a:gd name="T51" fmla="*/ 2147483646 h 3388"/>
              <a:gd name="T52" fmla="*/ 2147483646 w 4916"/>
              <a:gd name="T53" fmla="*/ 2147483646 h 3388"/>
              <a:gd name="T54" fmla="*/ 2147483646 w 4916"/>
              <a:gd name="T55" fmla="*/ 2147483646 h 3388"/>
              <a:gd name="T56" fmla="*/ 2147483646 w 4916"/>
              <a:gd name="T57" fmla="*/ 2147483646 h 3388"/>
              <a:gd name="T58" fmla="*/ 2147483646 w 4916"/>
              <a:gd name="T59" fmla="*/ 2147483646 h 3388"/>
              <a:gd name="T60" fmla="*/ 2147483646 w 4916"/>
              <a:gd name="T61" fmla="*/ 2147483646 h 3388"/>
              <a:gd name="T62" fmla="*/ 2147483646 w 4916"/>
              <a:gd name="T63" fmla="*/ 2147483646 h 3388"/>
              <a:gd name="T64" fmla="*/ 2147483646 w 4916"/>
              <a:gd name="T65" fmla="*/ 2147483646 h 3388"/>
              <a:gd name="T66" fmla="*/ 2147483646 w 4916"/>
              <a:gd name="T67" fmla="*/ 2147483646 h 3388"/>
              <a:gd name="T68" fmla="*/ 2147483646 w 4916"/>
              <a:gd name="T69" fmla="*/ 2147483646 h 3388"/>
              <a:gd name="T70" fmla="*/ 2147483646 w 4916"/>
              <a:gd name="T71" fmla="*/ 2147483646 h 3388"/>
              <a:gd name="T72" fmla="*/ 2147483646 w 4916"/>
              <a:gd name="T73" fmla="*/ 2147483646 h 3388"/>
              <a:gd name="T74" fmla="*/ 2147483646 w 4916"/>
              <a:gd name="T75" fmla="*/ 2147483646 h 3388"/>
              <a:gd name="T76" fmla="*/ 2147483646 w 4916"/>
              <a:gd name="T77" fmla="*/ 2147483646 h 3388"/>
              <a:gd name="T78" fmla="*/ 2147483646 w 4916"/>
              <a:gd name="T79" fmla="*/ 2147483646 h 3388"/>
              <a:gd name="T80" fmla="*/ 2147483646 w 4916"/>
              <a:gd name="T81" fmla="*/ 2147483646 h 3388"/>
              <a:gd name="T82" fmla="*/ 2147483646 w 4916"/>
              <a:gd name="T83" fmla="*/ 2147483646 h 3388"/>
              <a:gd name="T84" fmla="*/ 2147483646 w 4916"/>
              <a:gd name="T85" fmla="*/ 2147483646 h 3388"/>
              <a:gd name="T86" fmla="*/ 2147483646 w 4916"/>
              <a:gd name="T87" fmla="*/ 2147483646 h 3388"/>
              <a:gd name="T88" fmla="*/ 2147483646 w 4916"/>
              <a:gd name="T89" fmla="*/ 2147483646 h 3388"/>
              <a:gd name="T90" fmla="*/ 2147483646 w 4916"/>
              <a:gd name="T91" fmla="*/ 2147483646 h 3388"/>
              <a:gd name="T92" fmla="*/ 2147483646 w 4916"/>
              <a:gd name="T93" fmla="*/ 2147483646 h 3388"/>
              <a:gd name="T94" fmla="*/ 2147483646 w 4916"/>
              <a:gd name="T95" fmla="*/ 2147483646 h 3388"/>
              <a:gd name="T96" fmla="*/ 2147483646 w 4916"/>
              <a:gd name="T97" fmla="*/ 2147483646 h 3388"/>
              <a:gd name="T98" fmla="*/ 2147483646 w 4916"/>
              <a:gd name="T99" fmla="*/ 2147483646 h 3388"/>
              <a:gd name="T100" fmla="*/ 2147483646 w 4916"/>
              <a:gd name="T101" fmla="*/ 2147483646 h 3388"/>
              <a:gd name="T102" fmla="*/ 2147483646 w 4916"/>
              <a:gd name="T103" fmla="*/ 2147483646 h 3388"/>
              <a:gd name="T104" fmla="*/ 2147483646 w 4916"/>
              <a:gd name="T105" fmla="*/ 2147483646 h 3388"/>
              <a:gd name="T106" fmla="*/ 2147483646 w 4916"/>
              <a:gd name="T107" fmla="*/ 2147483646 h 3388"/>
              <a:gd name="T108" fmla="*/ 2147483646 w 4916"/>
              <a:gd name="T109" fmla="*/ 2147483646 h 3388"/>
              <a:gd name="T110" fmla="*/ 2147483646 w 4916"/>
              <a:gd name="T111" fmla="*/ 2147483646 h 3388"/>
              <a:gd name="T112" fmla="*/ 2147483646 w 4916"/>
              <a:gd name="T113" fmla="*/ 2147483646 h 3388"/>
              <a:gd name="T114" fmla="*/ 2147483646 w 4916"/>
              <a:gd name="T115" fmla="*/ 2147483646 h 3388"/>
              <a:gd name="T116" fmla="*/ 2147483646 w 4916"/>
              <a:gd name="T117" fmla="*/ 2147483646 h 3388"/>
              <a:gd name="T118" fmla="*/ 2147483646 w 4916"/>
              <a:gd name="T119" fmla="*/ 2147483646 h 3388"/>
              <a:gd name="T120" fmla="*/ 2147483646 w 4916"/>
              <a:gd name="T121" fmla="*/ 2147483646 h 3388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w 4916"/>
              <a:gd name="T184" fmla="*/ 0 h 3388"/>
              <a:gd name="T185" fmla="*/ 4916 w 4916"/>
              <a:gd name="T186" fmla="*/ 3388 h 3388"/>
            </a:gdLst>
            <a:ahLst/>
            <a:cxnLst>
              <a:cxn ang="T122">
                <a:pos x="T0" y="T1"/>
              </a:cxn>
              <a:cxn ang="T123">
                <a:pos x="T2" y="T3"/>
              </a:cxn>
              <a:cxn ang="T124">
                <a:pos x="T4" y="T5"/>
              </a:cxn>
              <a:cxn ang="T125">
                <a:pos x="T6" y="T7"/>
              </a:cxn>
              <a:cxn ang="T126">
                <a:pos x="T8" y="T9"/>
              </a:cxn>
              <a:cxn ang="T127">
                <a:pos x="T10" y="T11"/>
              </a:cxn>
              <a:cxn ang="T128">
                <a:pos x="T12" y="T13"/>
              </a:cxn>
              <a:cxn ang="T129">
                <a:pos x="T14" y="T15"/>
              </a:cxn>
              <a:cxn ang="T130">
                <a:pos x="T16" y="T17"/>
              </a:cxn>
              <a:cxn ang="T131">
                <a:pos x="T18" y="T19"/>
              </a:cxn>
              <a:cxn ang="T132">
                <a:pos x="T20" y="T21"/>
              </a:cxn>
              <a:cxn ang="T133">
                <a:pos x="T22" y="T23"/>
              </a:cxn>
              <a:cxn ang="T134">
                <a:pos x="T24" y="T25"/>
              </a:cxn>
              <a:cxn ang="T135">
                <a:pos x="T26" y="T27"/>
              </a:cxn>
              <a:cxn ang="T136">
                <a:pos x="T28" y="T29"/>
              </a:cxn>
              <a:cxn ang="T137">
                <a:pos x="T30" y="T31"/>
              </a:cxn>
              <a:cxn ang="T138">
                <a:pos x="T32" y="T33"/>
              </a:cxn>
              <a:cxn ang="T139">
                <a:pos x="T34" y="T35"/>
              </a:cxn>
              <a:cxn ang="T140">
                <a:pos x="T36" y="T37"/>
              </a:cxn>
              <a:cxn ang="T141">
                <a:pos x="T38" y="T39"/>
              </a:cxn>
              <a:cxn ang="T142">
                <a:pos x="T40" y="T41"/>
              </a:cxn>
              <a:cxn ang="T143">
                <a:pos x="T42" y="T43"/>
              </a:cxn>
              <a:cxn ang="T144">
                <a:pos x="T44" y="T45"/>
              </a:cxn>
              <a:cxn ang="T145">
                <a:pos x="T46" y="T47"/>
              </a:cxn>
              <a:cxn ang="T146">
                <a:pos x="T48" y="T49"/>
              </a:cxn>
              <a:cxn ang="T147">
                <a:pos x="T50" y="T51"/>
              </a:cxn>
              <a:cxn ang="T148">
                <a:pos x="T52" y="T53"/>
              </a:cxn>
              <a:cxn ang="T149">
                <a:pos x="T54" y="T55"/>
              </a:cxn>
              <a:cxn ang="T150">
                <a:pos x="T56" y="T57"/>
              </a:cxn>
              <a:cxn ang="T151">
                <a:pos x="T58" y="T59"/>
              </a:cxn>
              <a:cxn ang="T152">
                <a:pos x="T60" y="T61"/>
              </a:cxn>
              <a:cxn ang="T153">
                <a:pos x="T62" y="T63"/>
              </a:cxn>
              <a:cxn ang="T154">
                <a:pos x="T64" y="T65"/>
              </a:cxn>
              <a:cxn ang="T155">
                <a:pos x="T66" y="T67"/>
              </a:cxn>
              <a:cxn ang="T156">
                <a:pos x="T68" y="T69"/>
              </a:cxn>
              <a:cxn ang="T157">
                <a:pos x="T70" y="T71"/>
              </a:cxn>
              <a:cxn ang="T158">
                <a:pos x="T72" y="T73"/>
              </a:cxn>
              <a:cxn ang="T159">
                <a:pos x="T74" y="T75"/>
              </a:cxn>
              <a:cxn ang="T160">
                <a:pos x="T76" y="T77"/>
              </a:cxn>
              <a:cxn ang="T161">
                <a:pos x="T78" y="T79"/>
              </a:cxn>
              <a:cxn ang="T162">
                <a:pos x="T80" y="T81"/>
              </a:cxn>
              <a:cxn ang="T163">
                <a:pos x="T82" y="T83"/>
              </a:cxn>
              <a:cxn ang="T164">
                <a:pos x="T84" y="T85"/>
              </a:cxn>
              <a:cxn ang="T165">
                <a:pos x="T86" y="T87"/>
              </a:cxn>
              <a:cxn ang="T166">
                <a:pos x="T88" y="T89"/>
              </a:cxn>
              <a:cxn ang="T167">
                <a:pos x="T90" y="T91"/>
              </a:cxn>
              <a:cxn ang="T168">
                <a:pos x="T92" y="T93"/>
              </a:cxn>
              <a:cxn ang="T169">
                <a:pos x="T94" y="T95"/>
              </a:cxn>
              <a:cxn ang="T170">
                <a:pos x="T96" y="T97"/>
              </a:cxn>
              <a:cxn ang="T171">
                <a:pos x="T98" y="T99"/>
              </a:cxn>
              <a:cxn ang="T172">
                <a:pos x="T100" y="T101"/>
              </a:cxn>
              <a:cxn ang="T173">
                <a:pos x="T102" y="T103"/>
              </a:cxn>
              <a:cxn ang="T174">
                <a:pos x="T104" y="T105"/>
              </a:cxn>
              <a:cxn ang="T175">
                <a:pos x="T106" y="T107"/>
              </a:cxn>
              <a:cxn ang="T176">
                <a:pos x="T108" y="T109"/>
              </a:cxn>
              <a:cxn ang="T177">
                <a:pos x="T110" y="T111"/>
              </a:cxn>
              <a:cxn ang="T178">
                <a:pos x="T112" y="T113"/>
              </a:cxn>
              <a:cxn ang="T179">
                <a:pos x="T114" y="T115"/>
              </a:cxn>
              <a:cxn ang="T180">
                <a:pos x="T116" y="T117"/>
              </a:cxn>
              <a:cxn ang="T181">
                <a:pos x="T118" y="T119"/>
              </a:cxn>
              <a:cxn ang="T182">
                <a:pos x="T120" y="T121"/>
              </a:cxn>
            </a:cxnLst>
            <a:rect l="T183" t="T184" r="T185" b="T186"/>
            <a:pathLst>
              <a:path w="4916" h="3388">
                <a:moveTo>
                  <a:pt x="0" y="1792"/>
                </a:moveTo>
                <a:lnTo>
                  <a:pt x="12" y="1808"/>
                </a:lnTo>
                <a:lnTo>
                  <a:pt x="25" y="1823"/>
                </a:lnTo>
                <a:lnTo>
                  <a:pt x="38" y="1838"/>
                </a:lnTo>
                <a:lnTo>
                  <a:pt x="53" y="1853"/>
                </a:lnTo>
                <a:lnTo>
                  <a:pt x="68" y="1867"/>
                </a:lnTo>
                <a:lnTo>
                  <a:pt x="83" y="1883"/>
                </a:lnTo>
                <a:lnTo>
                  <a:pt x="100" y="1897"/>
                </a:lnTo>
                <a:lnTo>
                  <a:pt x="116" y="1911"/>
                </a:lnTo>
                <a:lnTo>
                  <a:pt x="131" y="1927"/>
                </a:lnTo>
                <a:lnTo>
                  <a:pt x="148" y="1941"/>
                </a:lnTo>
                <a:lnTo>
                  <a:pt x="162" y="1955"/>
                </a:lnTo>
                <a:lnTo>
                  <a:pt x="178" y="1971"/>
                </a:lnTo>
                <a:lnTo>
                  <a:pt x="193" y="1985"/>
                </a:lnTo>
                <a:lnTo>
                  <a:pt x="206" y="2000"/>
                </a:lnTo>
                <a:lnTo>
                  <a:pt x="219" y="2014"/>
                </a:lnTo>
                <a:lnTo>
                  <a:pt x="231" y="2030"/>
                </a:lnTo>
                <a:lnTo>
                  <a:pt x="244" y="2058"/>
                </a:lnTo>
                <a:lnTo>
                  <a:pt x="261" y="2080"/>
                </a:lnTo>
                <a:lnTo>
                  <a:pt x="281" y="2098"/>
                </a:lnTo>
                <a:lnTo>
                  <a:pt x="301" y="2114"/>
                </a:lnTo>
                <a:lnTo>
                  <a:pt x="322" y="2129"/>
                </a:lnTo>
                <a:lnTo>
                  <a:pt x="342" y="2148"/>
                </a:lnTo>
                <a:lnTo>
                  <a:pt x="359" y="2169"/>
                </a:lnTo>
                <a:lnTo>
                  <a:pt x="375" y="2195"/>
                </a:lnTo>
                <a:lnTo>
                  <a:pt x="391" y="2223"/>
                </a:lnTo>
                <a:lnTo>
                  <a:pt x="415" y="2256"/>
                </a:lnTo>
                <a:lnTo>
                  <a:pt x="441" y="2294"/>
                </a:lnTo>
                <a:lnTo>
                  <a:pt x="471" y="2333"/>
                </a:lnTo>
                <a:lnTo>
                  <a:pt x="501" y="2373"/>
                </a:lnTo>
                <a:lnTo>
                  <a:pt x="527" y="2409"/>
                </a:lnTo>
                <a:lnTo>
                  <a:pt x="551" y="2442"/>
                </a:lnTo>
                <a:lnTo>
                  <a:pt x="569" y="2469"/>
                </a:lnTo>
                <a:lnTo>
                  <a:pt x="580" y="2492"/>
                </a:lnTo>
                <a:lnTo>
                  <a:pt x="597" y="2519"/>
                </a:lnTo>
                <a:lnTo>
                  <a:pt x="616" y="2552"/>
                </a:lnTo>
                <a:lnTo>
                  <a:pt x="638" y="2586"/>
                </a:lnTo>
                <a:lnTo>
                  <a:pt x="663" y="2626"/>
                </a:lnTo>
                <a:lnTo>
                  <a:pt x="689" y="2666"/>
                </a:lnTo>
                <a:lnTo>
                  <a:pt x="717" y="2708"/>
                </a:lnTo>
                <a:lnTo>
                  <a:pt x="747" y="2752"/>
                </a:lnTo>
                <a:lnTo>
                  <a:pt x="775" y="2794"/>
                </a:lnTo>
                <a:lnTo>
                  <a:pt x="803" y="2838"/>
                </a:lnTo>
                <a:lnTo>
                  <a:pt x="830" y="2878"/>
                </a:lnTo>
                <a:lnTo>
                  <a:pt x="855" y="2916"/>
                </a:lnTo>
                <a:lnTo>
                  <a:pt x="878" y="2952"/>
                </a:lnTo>
                <a:lnTo>
                  <a:pt x="897" y="2983"/>
                </a:lnTo>
                <a:lnTo>
                  <a:pt x="914" y="3011"/>
                </a:lnTo>
                <a:lnTo>
                  <a:pt x="926" y="3032"/>
                </a:lnTo>
                <a:lnTo>
                  <a:pt x="937" y="3034"/>
                </a:lnTo>
                <a:lnTo>
                  <a:pt x="946" y="3035"/>
                </a:lnTo>
                <a:lnTo>
                  <a:pt x="957" y="3037"/>
                </a:lnTo>
                <a:lnTo>
                  <a:pt x="966" y="3039"/>
                </a:lnTo>
                <a:lnTo>
                  <a:pt x="977" y="3039"/>
                </a:lnTo>
                <a:lnTo>
                  <a:pt x="987" y="3042"/>
                </a:lnTo>
                <a:lnTo>
                  <a:pt x="997" y="3043"/>
                </a:lnTo>
                <a:lnTo>
                  <a:pt x="1007" y="3045"/>
                </a:lnTo>
                <a:lnTo>
                  <a:pt x="1009" y="3055"/>
                </a:lnTo>
                <a:lnTo>
                  <a:pt x="1012" y="3064"/>
                </a:lnTo>
                <a:lnTo>
                  <a:pt x="1014" y="3073"/>
                </a:lnTo>
                <a:lnTo>
                  <a:pt x="1016" y="3083"/>
                </a:lnTo>
                <a:lnTo>
                  <a:pt x="1025" y="3083"/>
                </a:lnTo>
                <a:lnTo>
                  <a:pt x="1033" y="3085"/>
                </a:lnTo>
                <a:lnTo>
                  <a:pt x="1043" y="3086"/>
                </a:lnTo>
                <a:lnTo>
                  <a:pt x="1052" y="3087"/>
                </a:lnTo>
                <a:lnTo>
                  <a:pt x="1060" y="3090"/>
                </a:lnTo>
                <a:lnTo>
                  <a:pt x="1069" y="3091"/>
                </a:lnTo>
                <a:lnTo>
                  <a:pt x="1079" y="3092"/>
                </a:lnTo>
                <a:lnTo>
                  <a:pt x="1088" y="3093"/>
                </a:lnTo>
                <a:lnTo>
                  <a:pt x="1104" y="3103"/>
                </a:lnTo>
                <a:lnTo>
                  <a:pt x="1121" y="3113"/>
                </a:lnTo>
                <a:lnTo>
                  <a:pt x="1137" y="3121"/>
                </a:lnTo>
                <a:lnTo>
                  <a:pt x="1152" y="3130"/>
                </a:lnTo>
                <a:lnTo>
                  <a:pt x="1168" y="3139"/>
                </a:lnTo>
                <a:lnTo>
                  <a:pt x="1185" y="3147"/>
                </a:lnTo>
                <a:lnTo>
                  <a:pt x="1202" y="3156"/>
                </a:lnTo>
                <a:lnTo>
                  <a:pt x="1217" y="3165"/>
                </a:lnTo>
                <a:lnTo>
                  <a:pt x="1229" y="3166"/>
                </a:lnTo>
                <a:lnTo>
                  <a:pt x="1240" y="3167"/>
                </a:lnTo>
                <a:lnTo>
                  <a:pt x="1251" y="3169"/>
                </a:lnTo>
                <a:lnTo>
                  <a:pt x="1262" y="3170"/>
                </a:lnTo>
                <a:lnTo>
                  <a:pt x="1274" y="3170"/>
                </a:lnTo>
                <a:lnTo>
                  <a:pt x="1285" y="3171"/>
                </a:lnTo>
                <a:lnTo>
                  <a:pt x="1297" y="3172"/>
                </a:lnTo>
                <a:lnTo>
                  <a:pt x="1308" y="3172"/>
                </a:lnTo>
                <a:lnTo>
                  <a:pt x="1317" y="3183"/>
                </a:lnTo>
                <a:lnTo>
                  <a:pt x="1326" y="3195"/>
                </a:lnTo>
                <a:lnTo>
                  <a:pt x="1335" y="3206"/>
                </a:lnTo>
                <a:lnTo>
                  <a:pt x="1343" y="3215"/>
                </a:lnTo>
                <a:lnTo>
                  <a:pt x="1363" y="3217"/>
                </a:lnTo>
                <a:lnTo>
                  <a:pt x="1383" y="3219"/>
                </a:lnTo>
                <a:lnTo>
                  <a:pt x="1403" y="3221"/>
                </a:lnTo>
                <a:lnTo>
                  <a:pt x="1422" y="3221"/>
                </a:lnTo>
                <a:lnTo>
                  <a:pt x="1443" y="3223"/>
                </a:lnTo>
                <a:lnTo>
                  <a:pt x="1462" y="3223"/>
                </a:lnTo>
                <a:lnTo>
                  <a:pt x="1482" y="3224"/>
                </a:lnTo>
                <a:lnTo>
                  <a:pt x="1502" y="3225"/>
                </a:lnTo>
                <a:lnTo>
                  <a:pt x="1525" y="3238"/>
                </a:lnTo>
                <a:lnTo>
                  <a:pt x="1547" y="3251"/>
                </a:lnTo>
                <a:lnTo>
                  <a:pt x="1571" y="3264"/>
                </a:lnTo>
                <a:lnTo>
                  <a:pt x="1595" y="3278"/>
                </a:lnTo>
                <a:lnTo>
                  <a:pt x="1619" y="3293"/>
                </a:lnTo>
                <a:lnTo>
                  <a:pt x="1643" y="3306"/>
                </a:lnTo>
                <a:lnTo>
                  <a:pt x="1667" y="3319"/>
                </a:lnTo>
                <a:lnTo>
                  <a:pt x="1692" y="3332"/>
                </a:lnTo>
                <a:lnTo>
                  <a:pt x="1701" y="3332"/>
                </a:lnTo>
                <a:lnTo>
                  <a:pt x="1711" y="3332"/>
                </a:lnTo>
                <a:lnTo>
                  <a:pt x="1721" y="3332"/>
                </a:lnTo>
                <a:lnTo>
                  <a:pt x="1732" y="3332"/>
                </a:lnTo>
                <a:lnTo>
                  <a:pt x="1742" y="3332"/>
                </a:lnTo>
                <a:lnTo>
                  <a:pt x="1751" y="3332"/>
                </a:lnTo>
                <a:lnTo>
                  <a:pt x="1762" y="3332"/>
                </a:lnTo>
                <a:lnTo>
                  <a:pt x="1772" y="3332"/>
                </a:lnTo>
                <a:lnTo>
                  <a:pt x="1780" y="3340"/>
                </a:lnTo>
                <a:lnTo>
                  <a:pt x="1790" y="3346"/>
                </a:lnTo>
                <a:lnTo>
                  <a:pt x="1799" y="3352"/>
                </a:lnTo>
                <a:lnTo>
                  <a:pt x="1809" y="3358"/>
                </a:lnTo>
                <a:lnTo>
                  <a:pt x="1817" y="3364"/>
                </a:lnTo>
                <a:lnTo>
                  <a:pt x="1826" y="3368"/>
                </a:lnTo>
                <a:lnTo>
                  <a:pt x="1835" y="3373"/>
                </a:lnTo>
                <a:lnTo>
                  <a:pt x="1843" y="3378"/>
                </a:lnTo>
                <a:lnTo>
                  <a:pt x="1871" y="3385"/>
                </a:lnTo>
                <a:lnTo>
                  <a:pt x="1889" y="3388"/>
                </a:lnTo>
                <a:lnTo>
                  <a:pt x="1901" y="3384"/>
                </a:lnTo>
                <a:lnTo>
                  <a:pt x="1905" y="3377"/>
                </a:lnTo>
                <a:lnTo>
                  <a:pt x="1905" y="3368"/>
                </a:lnTo>
                <a:lnTo>
                  <a:pt x="1899" y="3355"/>
                </a:lnTo>
                <a:lnTo>
                  <a:pt x="1891" y="3341"/>
                </a:lnTo>
                <a:lnTo>
                  <a:pt x="1883" y="3327"/>
                </a:lnTo>
                <a:lnTo>
                  <a:pt x="1876" y="3312"/>
                </a:lnTo>
                <a:lnTo>
                  <a:pt x="1868" y="3298"/>
                </a:lnTo>
                <a:lnTo>
                  <a:pt x="1864" y="3286"/>
                </a:lnTo>
                <a:lnTo>
                  <a:pt x="1863" y="3275"/>
                </a:lnTo>
                <a:lnTo>
                  <a:pt x="1867" y="3268"/>
                </a:lnTo>
                <a:lnTo>
                  <a:pt x="1877" y="3264"/>
                </a:lnTo>
                <a:lnTo>
                  <a:pt x="1896" y="3266"/>
                </a:lnTo>
                <a:lnTo>
                  <a:pt x="1922" y="3273"/>
                </a:lnTo>
                <a:lnTo>
                  <a:pt x="1935" y="3251"/>
                </a:lnTo>
                <a:lnTo>
                  <a:pt x="1947" y="3231"/>
                </a:lnTo>
                <a:lnTo>
                  <a:pt x="1957" y="3213"/>
                </a:lnTo>
                <a:lnTo>
                  <a:pt x="1965" y="3194"/>
                </a:lnTo>
                <a:lnTo>
                  <a:pt x="1975" y="3176"/>
                </a:lnTo>
                <a:lnTo>
                  <a:pt x="1984" y="3154"/>
                </a:lnTo>
                <a:lnTo>
                  <a:pt x="1995" y="3134"/>
                </a:lnTo>
                <a:lnTo>
                  <a:pt x="2007" y="3111"/>
                </a:lnTo>
                <a:lnTo>
                  <a:pt x="2008" y="3098"/>
                </a:lnTo>
                <a:lnTo>
                  <a:pt x="2013" y="3083"/>
                </a:lnTo>
                <a:lnTo>
                  <a:pt x="2019" y="3067"/>
                </a:lnTo>
                <a:lnTo>
                  <a:pt x="2026" y="3049"/>
                </a:lnTo>
                <a:lnTo>
                  <a:pt x="2035" y="3030"/>
                </a:lnTo>
                <a:lnTo>
                  <a:pt x="2041" y="3013"/>
                </a:lnTo>
                <a:lnTo>
                  <a:pt x="2045" y="2998"/>
                </a:lnTo>
                <a:lnTo>
                  <a:pt x="2046" y="2985"/>
                </a:lnTo>
                <a:lnTo>
                  <a:pt x="2059" y="2966"/>
                </a:lnTo>
                <a:lnTo>
                  <a:pt x="2071" y="2946"/>
                </a:lnTo>
                <a:lnTo>
                  <a:pt x="2085" y="2927"/>
                </a:lnTo>
                <a:lnTo>
                  <a:pt x="2096" y="2908"/>
                </a:lnTo>
                <a:lnTo>
                  <a:pt x="2107" y="2890"/>
                </a:lnTo>
                <a:lnTo>
                  <a:pt x="2118" y="2872"/>
                </a:lnTo>
                <a:lnTo>
                  <a:pt x="2130" y="2854"/>
                </a:lnTo>
                <a:lnTo>
                  <a:pt x="2142" y="2835"/>
                </a:lnTo>
                <a:lnTo>
                  <a:pt x="2148" y="2782"/>
                </a:lnTo>
                <a:lnTo>
                  <a:pt x="2159" y="2741"/>
                </a:lnTo>
                <a:lnTo>
                  <a:pt x="2171" y="2700"/>
                </a:lnTo>
                <a:lnTo>
                  <a:pt x="2174" y="2648"/>
                </a:lnTo>
                <a:lnTo>
                  <a:pt x="2187" y="2640"/>
                </a:lnTo>
                <a:lnTo>
                  <a:pt x="2201" y="2628"/>
                </a:lnTo>
                <a:lnTo>
                  <a:pt x="2217" y="2616"/>
                </a:lnTo>
                <a:lnTo>
                  <a:pt x="2232" y="2603"/>
                </a:lnTo>
                <a:lnTo>
                  <a:pt x="2247" y="2589"/>
                </a:lnTo>
                <a:lnTo>
                  <a:pt x="2263" y="2576"/>
                </a:lnTo>
                <a:lnTo>
                  <a:pt x="2276" y="2565"/>
                </a:lnTo>
                <a:lnTo>
                  <a:pt x="2289" y="2556"/>
                </a:lnTo>
                <a:lnTo>
                  <a:pt x="2298" y="2505"/>
                </a:lnTo>
                <a:lnTo>
                  <a:pt x="2304" y="2464"/>
                </a:lnTo>
                <a:lnTo>
                  <a:pt x="2309" y="2424"/>
                </a:lnTo>
                <a:lnTo>
                  <a:pt x="2320" y="2370"/>
                </a:lnTo>
                <a:lnTo>
                  <a:pt x="2330" y="2360"/>
                </a:lnTo>
                <a:lnTo>
                  <a:pt x="2347" y="2349"/>
                </a:lnTo>
                <a:lnTo>
                  <a:pt x="2366" y="2336"/>
                </a:lnTo>
                <a:lnTo>
                  <a:pt x="2388" y="2322"/>
                </a:lnTo>
                <a:lnTo>
                  <a:pt x="2412" y="2307"/>
                </a:lnTo>
                <a:lnTo>
                  <a:pt x="2431" y="2294"/>
                </a:lnTo>
                <a:lnTo>
                  <a:pt x="2448" y="2284"/>
                </a:lnTo>
                <a:lnTo>
                  <a:pt x="2457" y="2274"/>
                </a:lnTo>
                <a:lnTo>
                  <a:pt x="2455" y="2260"/>
                </a:lnTo>
                <a:lnTo>
                  <a:pt x="2455" y="2246"/>
                </a:lnTo>
                <a:lnTo>
                  <a:pt x="2459" y="2234"/>
                </a:lnTo>
                <a:lnTo>
                  <a:pt x="2462" y="2221"/>
                </a:lnTo>
                <a:lnTo>
                  <a:pt x="2467" y="2208"/>
                </a:lnTo>
                <a:lnTo>
                  <a:pt x="2470" y="2195"/>
                </a:lnTo>
                <a:lnTo>
                  <a:pt x="2472" y="2180"/>
                </a:lnTo>
                <a:lnTo>
                  <a:pt x="2470" y="2167"/>
                </a:lnTo>
                <a:lnTo>
                  <a:pt x="2482" y="2165"/>
                </a:lnTo>
                <a:lnTo>
                  <a:pt x="2493" y="2161"/>
                </a:lnTo>
                <a:lnTo>
                  <a:pt x="2504" y="2158"/>
                </a:lnTo>
                <a:lnTo>
                  <a:pt x="2516" y="2154"/>
                </a:lnTo>
                <a:lnTo>
                  <a:pt x="2528" y="2150"/>
                </a:lnTo>
                <a:lnTo>
                  <a:pt x="2538" y="2147"/>
                </a:lnTo>
                <a:lnTo>
                  <a:pt x="2549" y="2141"/>
                </a:lnTo>
                <a:lnTo>
                  <a:pt x="2560" y="2138"/>
                </a:lnTo>
                <a:lnTo>
                  <a:pt x="2565" y="2118"/>
                </a:lnTo>
                <a:lnTo>
                  <a:pt x="2573" y="2099"/>
                </a:lnTo>
                <a:lnTo>
                  <a:pt x="2580" y="2080"/>
                </a:lnTo>
                <a:lnTo>
                  <a:pt x="2589" y="2059"/>
                </a:lnTo>
                <a:lnTo>
                  <a:pt x="2597" y="2063"/>
                </a:lnTo>
                <a:lnTo>
                  <a:pt x="2603" y="2065"/>
                </a:lnTo>
                <a:lnTo>
                  <a:pt x="2610" y="2068"/>
                </a:lnTo>
                <a:lnTo>
                  <a:pt x="2618" y="2070"/>
                </a:lnTo>
                <a:lnTo>
                  <a:pt x="2625" y="2073"/>
                </a:lnTo>
                <a:lnTo>
                  <a:pt x="2634" y="2075"/>
                </a:lnTo>
                <a:lnTo>
                  <a:pt x="2642" y="2078"/>
                </a:lnTo>
                <a:lnTo>
                  <a:pt x="2650" y="2080"/>
                </a:lnTo>
                <a:lnTo>
                  <a:pt x="2657" y="2063"/>
                </a:lnTo>
                <a:lnTo>
                  <a:pt x="2664" y="2046"/>
                </a:lnTo>
                <a:lnTo>
                  <a:pt x="2668" y="2028"/>
                </a:lnTo>
                <a:lnTo>
                  <a:pt x="2673" y="2012"/>
                </a:lnTo>
                <a:lnTo>
                  <a:pt x="2678" y="2007"/>
                </a:lnTo>
                <a:lnTo>
                  <a:pt x="2683" y="2002"/>
                </a:lnTo>
                <a:lnTo>
                  <a:pt x="2689" y="1998"/>
                </a:lnTo>
                <a:lnTo>
                  <a:pt x="2694" y="1991"/>
                </a:lnTo>
                <a:lnTo>
                  <a:pt x="2700" y="1987"/>
                </a:lnTo>
                <a:lnTo>
                  <a:pt x="2705" y="1982"/>
                </a:lnTo>
                <a:lnTo>
                  <a:pt x="2712" y="1976"/>
                </a:lnTo>
                <a:lnTo>
                  <a:pt x="2716" y="1971"/>
                </a:lnTo>
                <a:lnTo>
                  <a:pt x="2726" y="1955"/>
                </a:lnTo>
                <a:lnTo>
                  <a:pt x="2736" y="1940"/>
                </a:lnTo>
                <a:lnTo>
                  <a:pt x="2747" y="1924"/>
                </a:lnTo>
                <a:lnTo>
                  <a:pt x="2760" y="1908"/>
                </a:lnTo>
                <a:lnTo>
                  <a:pt x="2771" y="1892"/>
                </a:lnTo>
                <a:lnTo>
                  <a:pt x="2783" y="1877"/>
                </a:lnTo>
                <a:lnTo>
                  <a:pt x="2798" y="1860"/>
                </a:lnTo>
                <a:lnTo>
                  <a:pt x="2811" y="1844"/>
                </a:lnTo>
                <a:lnTo>
                  <a:pt x="2834" y="1825"/>
                </a:lnTo>
                <a:lnTo>
                  <a:pt x="2859" y="1804"/>
                </a:lnTo>
                <a:lnTo>
                  <a:pt x="2882" y="1783"/>
                </a:lnTo>
                <a:lnTo>
                  <a:pt x="2906" y="1764"/>
                </a:lnTo>
                <a:lnTo>
                  <a:pt x="2929" y="1743"/>
                </a:lnTo>
                <a:lnTo>
                  <a:pt x="2953" y="1722"/>
                </a:lnTo>
                <a:lnTo>
                  <a:pt x="2974" y="1700"/>
                </a:lnTo>
                <a:lnTo>
                  <a:pt x="2998" y="1678"/>
                </a:lnTo>
                <a:lnTo>
                  <a:pt x="3019" y="1656"/>
                </a:lnTo>
                <a:lnTo>
                  <a:pt x="3043" y="1635"/>
                </a:lnTo>
                <a:lnTo>
                  <a:pt x="3067" y="1612"/>
                </a:lnTo>
                <a:lnTo>
                  <a:pt x="3089" y="1589"/>
                </a:lnTo>
                <a:lnTo>
                  <a:pt x="3112" y="1565"/>
                </a:lnTo>
                <a:lnTo>
                  <a:pt x="3135" y="1542"/>
                </a:lnTo>
                <a:lnTo>
                  <a:pt x="3160" y="1520"/>
                </a:lnTo>
                <a:lnTo>
                  <a:pt x="3183" y="1496"/>
                </a:lnTo>
                <a:lnTo>
                  <a:pt x="3208" y="1471"/>
                </a:lnTo>
                <a:lnTo>
                  <a:pt x="3233" y="1448"/>
                </a:lnTo>
                <a:lnTo>
                  <a:pt x="3259" y="1424"/>
                </a:lnTo>
                <a:lnTo>
                  <a:pt x="3284" y="1400"/>
                </a:lnTo>
                <a:lnTo>
                  <a:pt x="3311" y="1375"/>
                </a:lnTo>
                <a:lnTo>
                  <a:pt x="3339" y="1350"/>
                </a:lnTo>
                <a:lnTo>
                  <a:pt x="3368" y="1326"/>
                </a:lnTo>
                <a:lnTo>
                  <a:pt x="3397" y="1302"/>
                </a:lnTo>
                <a:lnTo>
                  <a:pt x="3428" y="1277"/>
                </a:lnTo>
                <a:lnTo>
                  <a:pt x="3458" y="1252"/>
                </a:lnTo>
                <a:lnTo>
                  <a:pt x="3489" y="1227"/>
                </a:lnTo>
                <a:lnTo>
                  <a:pt x="3523" y="1201"/>
                </a:lnTo>
                <a:lnTo>
                  <a:pt x="3556" y="1178"/>
                </a:lnTo>
                <a:lnTo>
                  <a:pt x="3591" y="1152"/>
                </a:lnTo>
                <a:lnTo>
                  <a:pt x="3628" y="1127"/>
                </a:lnTo>
                <a:lnTo>
                  <a:pt x="3666" y="1102"/>
                </a:lnTo>
                <a:lnTo>
                  <a:pt x="3682" y="1091"/>
                </a:lnTo>
                <a:lnTo>
                  <a:pt x="3700" y="1080"/>
                </a:lnTo>
                <a:lnTo>
                  <a:pt x="3717" y="1070"/>
                </a:lnTo>
                <a:lnTo>
                  <a:pt x="3733" y="1059"/>
                </a:lnTo>
                <a:lnTo>
                  <a:pt x="3751" y="1050"/>
                </a:lnTo>
                <a:lnTo>
                  <a:pt x="3768" y="1039"/>
                </a:lnTo>
                <a:lnTo>
                  <a:pt x="3785" y="1029"/>
                </a:lnTo>
                <a:lnTo>
                  <a:pt x="3805" y="1020"/>
                </a:lnTo>
                <a:lnTo>
                  <a:pt x="3814" y="1013"/>
                </a:lnTo>
                <a:lnTo>
                  <a:pt x="3825" y="1009"/>
                </a:lnTo>
                <a:lnTo>
                  <a:pt x="3836" y="1004"/>
                </a:lnTo>
                <a:lnTo>
                  <a:pt x="3846" y="1000"/>
                </a:lnTo>
                <a:lnTo>
                  <a:pt x="3856" y="994"/>
                </a:lnTo>
                <a:lnTo>
                  <a:pt x="3866" y="990"/>
                </a:lnTo>
                <a:lnTo>
                  <a:pt x="3876" y="983"/>
                </a:lnTo>
                <a:lnTo>
                  <a:pt x="3888" y="978"/>
                </a:lnTo>
                <a:lnTo>
                  <a:pt x="3906" y="967"/>
                </a:lnTo>
                <a:lnTo>
                  <a:pt x="3925" y="956"/>
                </a:lnTo>
                <a:lnTo>
                  <a:pt x="3943" y="946"/>
                </a:lnTo>
                <a:lnTo>
                  <a:pt x="3961" y="933"/>
                </a:lnTo>
                <a:lnTo>
                  <a:pt x="3980" y="923"/>
                </a:lnTo>
                <a:lnTo>
                  <a:pt x="3998" y="910"/>
                </a:lnTo>
                <a:lnTo>
                  <a:pt x="4017" y="899"/>
                </a:lnTo>
                <a:lnTo>
                  <a:pt x="4035" y="887"/>
                </a:lnTo>
                <a:lnTo>
                  <a:pt x="4047" y="879"/>
                </a:lnTo>
                <a:lnTo>
                  <a:pt x="4060" y="869"/>
                </a:lnTo>
                <a:lnTo>
                  <a:pt x="4071" y="860"/>
                </a:lnTo>
                <a:lnTo>
                  <a:pt x="4085" y="851"/>
                </a:lnTo>
                <a:lnTo>
                  <a:pt x="4097" y="842"/>
                </a:lnTo>
                <a:lnTo>
                  <a:pt x="4111" y="833"/>
                </a:lnTo>
                <a:lnTo>
                  <a:pt x="4123" y="825"/>
                </a:lnTo>
                <a:lnTo>
                  <a:pt x="4136" y="815"/>
                </a:lnTo>
                <a:lnTo>
                  <a:pt x="4141" y="803"/>
                </a:lnTo>
                <a:lnTo>
                  <a:pt x="4146" y="792"/>
                </a:lnTo>
                <a:lnTo>
                  <a:pt x="4152" y="781"/>
                </a:lnTo>
                <a:lnTo>
                  <a:pt x="4156" y="772"/>
                </a:lnTo>
                <a:lnTo>
                  <a:pt x="4165" y="764"/>
                </a:lnTo>
                <a:lnTo>
                  <a:pt x="4172" y="759"/>
                </a:lnTo>
                <a:lnTo>
                  <a:pt x="4180" y="751"/>
                </a:lnTo>
                <a:lnTo>
                  <a:pt x="4189" y="745"/>
                </a:lnTo>
                <a:lnTo>
                  <a:pt x="4198" y="738"/>
                </a:lnTo>
                <a:lnTo>
                  <a:pt x="4207" y="732"/>
                </a:lnTo>
                <a:lnTo>
                  <a:pt x="4215" y="725"/>
                </a:lnTo>
                <a:lnTo>
                  <a:pt x="4224" y="719"/>
                </a:lnTo>
                <a:lnTo>
                  <a:pt x="4227" y="725"/>
                </a:lnTo>
                <a:lnTo>
                  <a:pt x="4230" y="731"/>
                </a:lnTo>
                <a:lnTo>
                  <a:pt x="4233" y="737"/>
                </a:lnTo>
                <a:lnTo>
                  <a:pt x="4235" y="743"/>
                </a:lnTo>
                <a:lnTo>
                  <a:pt x="4249" y="734"/>
                </a:lnTo>
                <a:lnTo>
                  <a:pt x="4261" y="728"/>
                </a:lnTo>
                <a:lnTo>
                  <a:pt x="4275" y="719"/>
                </a:lnTo>
                <a:lnTo>
                  <a:pt x="4289" y="711"/>
                </a:lnTo>
                <a:lnTo>
                  <a:pt x="4302" y="704"/>
                </a:lnTo>
                <a:lnTo>
                  <a:pt x="4316" y="695"/>
                </a:lnTo>
                <a:lnTo>
                  <a:pt x="4330" y="688"/>
                </a:lnTo>
                <a:lnTo>
                  <a:pt x="4341" y="681"/>
                </a:lnTo>
                <a:lnTo>
                  <a:pt x="4351" y="666"/>
                </a:lnTo>
                <a:lnTo>
                  <a:pt x="4360" y="649"/>
                </a:lnTo>
                <a:lnTo>
                  <a:pt x="4369" y="633"/>
                </a:lnTo>
                <a:lnTo>
                  <a:pt x="4378" y="619"/>
                </a:lnTo>
                <a:lnTo>
                  <a:pt x="4389" y="609"/>
                </a:lnTo>
                <a:lnTo>
                  <a:pt x="4401" y="600"/>
                </a:lnTo>
                <a:lnTo>
                  <a:pt x="4413" y="592"/>
                </a:lnTo>
                <a:lnTo>
                  <a:pt x="4426" y="584"/>
                </a:lnTo>
                <a:lnTo>
                  <a:pt x="4437" y="576"/>
                </a:lnTo>
                <a:lnTo>
                  <a:pt x="4449" y="567"/>
                </a:lnTo>
                <a:lnTo>
                  <a:pt x="4459" y="556"/>
                </a:lnTo>
                <a:lnTo>
                  <a:pt x="4470" y="548"/>
                </a:lnTo>
                <a:lnTo>
                  <a:pt x="4475" y="534"/>
                </a:lnTo>
                <a:lnTo>
                  <a:pt x="4479" y="519"/>
                </a:lnTo>
                <a:lnTo>
                  <a:pt x="4483" y="505"/>
                </a:lnTo>
                <a:lnTo>
                  <a:pt x="4490" y="489"/>
                </a:lnTo>
                <a:lnTo>
                  <a:pt x="4500" y="481"/>
                </a:lnTo>
                <a:lnTo>
                  <a:pt x="4514" y="473"/>
                </a:lnTo>
                <a:lnTo>
                  <a:pt x="4525" y="466"/>
                </a:lnTo>
                <a:lnTo>
                  <a:pt x="4537" y="457"/>
                </a:lnTo>
                <a:lnTo>
                  <a:pt x="4548" y="448"/>
                </a:lnTo>
                <a:lnTo>
                  <a:pt x="4561" y="439"/>
                </a:lnTo>
                <a:lnTo>
                  <a:pt x="4571" y="432"/>
                </a:lnTo>
                <a:lnTo>
                  <a:pt x="4581" y="424"/>
                </a:lnTo>
                <a:lnTo>
                  <a:pt x="4595" y="420"/>
                </a:lnTo>
                <a:lnTo>
                  <a:pt x="4609" y="416"/>
                </a:lnTo>
                <a:lnTo>
                  <a:pt x="4622" y="412"/>
                </a:lnTo>
                <a:lnTo>
                  <a:pt x="4634" y="408"/>
                </a:lnTo>
                <a:lnTo>
                  <a:pt x="4648" y="403"/>
                </a:lnTo>
                <a:lnTo>
                  <a:pt x="4660" y="400"/>
                </a:lnTo>
                <a:lnTo>
                  <a:pt x="4672" y="395"/>
                </a:lnTo>
                <a:lnTo>
                  <a:pt x="4685" y="392"/>
                </a:lnTo>
                <a:lnTo>
                  <a:pt x="4692" y="384"/>
                </a:lnTo>
                <a:lnTo>
                  <a:pt x="4698" y="375"/>
                </a:lnTo>
                <a:lnTo>
                  <a:pt x="4704" y="368"/>
                </a:lnTo>
                <a:lnTo>
                  <a:pt x="4710" y="359"/>
                </a:lnTo>
                <a:lnTo>
                  <a:pt x="4716" y="351"/>
                </a:lnTo>
                <a:lnTo>
                  <a:pt x="4722" y="342"/>
                </a:lnTo>
                <a:lnTo>
                  <a:pt x="4728" y="333"/>
                </a:lnTo>
                <a:lnTo>
                  <a:pt x="4735" y="324"/>
                </a:lnTo>
                <a:lnTo>
                  <a:pt x="4745" y="318"/>
                </a:lnTo>
                <a:lnTo>
                  <a:pt x="4755" y="311"/>
                </a:lnTo>
                <a:lnTo>
                  <a:pt x="4764" y="305"/>
                </a:lnTo>
                <a:lnTo>
                  <a:pt x="4773" y="298"/>
                </a:lnTo>
                <a:lnTo>
                  <a:pt x="4784" y="291"/>
                </a:lnTo>
                <a:lnTo>
                  <a:pt x="4793" y="284"/>
                </a:lnTo>
                <a:lnTo>
                  <a:pt x="4802" y="277"/>
                </a:lnTo>
                <a:lnTo>
                  <a:pt x="4810" y="269"/>
                </a:lnTo>
                <a:lnTo>
                  <a:pt x="4816" y="274"/>
                </a:lnTo>
                <a:lnTo>
                  <a:pt x="4824" y="279"/>
                </a:lnTo>
                <a:lnTo>
                  <a:pt x="4831" y="285"/>
                </a:lnTo>
                <a:lnTo>
                  <a:pt x="4835" y="290"/>
                </a:lnTo>
                <a:lnTo>
                  <a:pt x="4845" y="282"/>
                </a:lnTo>
                <a:lnTo>
                  <a:pt x="4856" y="274"/>
                </a:lnTo>
                <a:lnTo>
                  <a:pt x="4865" y="266"/>
                </a:lnTo>
                <a:lnTo>
                  <a:pt x="4876" y="258"/>
                </a:lnTo>
                <a:lnTo>
                  <a:pt x="4885" y="248"/>
                </a:lnTo>
                <a:lnTo>
                  <a:pt x="4895" y="239"/>
                </a:lnTo>
                <a:lnTo>
                  <a:pt x="4906" y="231"/>
                </a:lnTo>
                <a:lnTo>
                  <a:pt x="4916" y="222"/>
                </a:lnTo>
                <a:lnTo>
                  <a:pt x="4904" y="228"/>
                </a:lnTo>
                <a:lnTo>
                  <a:pt x="4893" y="234"/>
                </a:lnTo>
                <a:lnTo>
                  <a:pt x="4881" y="241"/>
                </a:lnTo>
                <a:lnTo>
                  <a:pt x="4867" y="245"/>
                </a:lnTo>
                <a:lnTo>
                  <a:pt x="4856" y="251"/>
                </a:lnTo>
                <a:lnTo>
                  <a:pt x="4845" y="256"/>
                </a:lnTo>
                <a:lnTo>
                  <a:pt x="4833" y="261"/>
                </a:lnTo>
                <a:lnTo>
                  <a:pt x="4821" y="266"/>
                </a:lnTo>
                <a:lnTo>
                  <a:pt x="4832" y="241"/>
                </a:lnTo>
                <a:lnTo>
                  <a:pt x="4841" y="218"/>
                </a:lnTo>
                <a:lnTo>
                  <a:pt x="4847" y="194"/>
                </a:lnTo>
                <a:lnTo>
                  <a:pt x="4852" y="171"/>
                </a:lnTo>
                <a:lnTo>
                  <a:pt x="4844" y="178"/>
                </a:lnTo>
                <a:lnTo>
                  <a:pt x="4835" y="187"/>
                </a:lnTo>
                <a:lnTo>
                  <a:pt x="4826" y="195"/>
                </a:lnTo>
                <a:lnTo>
                  <a:pt x="4815" y="203"/>
                </a:lnTo>
                <a:lnTo>
                  <a:pt x="4806" y="211"/>
                </a:lnTo>
                <a:lnTo>
                  <a:pt x="4796" y="219"/>
                </a:lnTo>
                <a:lnTo>
                  <a:pt x="4785" y="228"/>
                </a:lnTo>
                <a:lnTo>
                  <a:pt x="4775" y="237"/>
                </a:lnTo>
                <a:lnTo>
                  <a:pt x="4768" y="247"/>
                </a:lnTo>
                <a:lnTo>
                  <a:pt x="4759" y="256"/>
                </a:lnTo>
                <a:lnTo>
                  <a:pt x="4752" y="266"/>
                </a:lnTo>
                <a:lnTo>
                  <a:pt x="4745" y="277"/>
                </a:lnTo>
                <a:lnTo>
                  <a:pt x="4738" y="288"/>
                </a:lnTo>
                <a:lnTo>
                  <a:pt x="4729" y="298"/>
                </a:lnTo>
                <a:lnTo>
                  <a:pt x="4722" y="309"/>
                </a:lnTo>
                <a:lnTo>
                  <a:pt x="4715" y="320"/>
                </a:lnTo>
                <a:lnTo>
                  <a:pt x="4708" y="324"/>
                </a:lnTo>
                <a:lnTo>
                  <a:pt x="4701" y="329"/>
                </a:lnTo>
                <a:lnTo>
                  <a:pt x="4694" y="335"/>
                </a:lnTo>
                <a:lnTo>
                  <a:pt x="4687" y="341"/>
                </a:lnTo>
                <a:lnTo>
                  <a:pt x="4679" y="346"/>
                </a:lnTo>
                <a:lnTo>
                  <a:pt x="4673" y="351"/>
                </a:lnTo>
                <a:lnTo>
                  <a:pt x="4667" y="355"/>
                </a:lnTo>
                <a:lnTo>
                  <a:pt x="4660" y="360"/>
                </a:lnTo>
                <a:lnTo>
                  <a:pt x="4655" y="359"/>
                </a:lnTo>
                <a:lnTo>
                  <a:pt x="4650" y="358"/>
                </a:lnTo>
                <a:lnTo>
                  <a:pt x="4646" y="355"/>
                </a:lnTo>
                <a:lnTo>
                  <a:pt x="4641" y="354"/>
                </a:lnTo>
                <a:lnTo>
                  <a:pt x="4636" y="353"/>
                </a:lnTo>
                <a:lnTo>
                  <a:pt x="4632" y="351"/>
                </a:lnTo>
                <a:lnTo>
                  <a:pt x="4626" y="349"/>
                </a:lnTo>
                <a:lnTo>
                  <a:pt x="4622" y="349"/>
                </a:lnTo>
                <a:lnTo>
                  <a:pt x="4600" y="366"/>
                </a:lnTo>
                <a:lnTo>
                  <a:pt x="4579" y="384"/>
                </a:lnTo>
                <a:lnTo>
                  <a:pt x="4558" y="402"/>
                </a:lnTo>
                <a:lnTo>
                  <a:pt x="4536" y="420"/>
                </a:lnTo>
                <a:lnTo>
                  <a:pt x="4514" y="438"/>
                </a:lnTo>
                <a:lnTo>
                  <a:pt x="4490" y="457"/>
                </a:lnTo>
                <a:lnTo>
                  <a:pt x="4469" y="476"/>
                </a:lnTo>
                <a:lnTo>
                  <a:pt x="4445" y="494"/>
                </a:lnTo>
                <a:lnTo>
                  <a:pt x="4435" y="499"/>
                </a:lnTo>
                <a:lnTo>
                  <a:pt x="4426" y="505"/>
                </a:lnTo>
                <a:lnTo>
                  <a:pt x="4415" y="509"/>
                </a:lnTo>
                <a:lnTo>
                  <a:pt x="4406" y="515"/>
                </a:lnTo>
                <a:lnTo>
                  <a:pt x="4396" y="519"/>
                </a:lnTo>
                <a:lnTo>
                  <a:pt x="4388" y="524"/>
                </a:lnTo>
                <a:lnTo>
                  <a:pt x="4378" y="530"/>
                </a:lnTo>
                <a:lnTo>
                  <a:pt x="4369" y="535"/>
                </a:lnTo>
                <a:lnTo>
                  <a:pt x="4363" y="533"/>
                </a:lnTo>
                <a:lnTo>
                  <a:pt x="4357" y="530"/>
                </a:lnTo>
                <a:lnTo>
                  <a:pt x="4351" y="528"/>
                </a:lnTo>
                <a:lnTo>
                  <a:pt x="4347" y="524"/>
                </a:lnTo>
                <a:lnTo>
                  <a:pt x="4340" y="522"/>
                </a:lnTo>
                <a:lnTo>
                  <a:pt x="4336" y="519"/>
                </a:lnTo>
                <a:lnTo>
                  <a:pt x="4330" y="517"/>
                </a:lnTo>
                <a:lnTo>
                  <a:pt x="4324" y="515"/>
                </a:lnTo>
                <a:lnTo>
                  <a:pt x="4299" y="533"/>
                </a:lnTo>
                <a:lnTo>
                  <a:pt x="4274" y="549"/>
                </a:lnTo>
                <a:lnTo>
                  <a:pt x="4249" y="568"/>
                </a:lnTo>
                <a:lnTo>
                  <a:pt x="4224" y="585"/>
                </a:lnTo>
                <a:lnTo>
                  <a:pt x="4201" y="602"/>
                </a:lnTo>
                <a:lnTo>
                  <a:pt x="4174" y="620"/>
                </a:lnTo>
                <a:lnTo>
                  <a:pt x="4150" y="637"/>
                </a:lnTo>
                <a:lnTo>
                  <a:pt x="4125" y="654"/>
                </a:lnTo>
                <a:lnTo>
                  <a:pt x="4099" y="671"/>
                </a:lnTo>
                <a:lnTo>
                  <a:pt x="4075" y="691"/>
                </a:lnTo>
                <a:lnTo>
                  <a:pt x="4050" y="707"/>
                </a:lnTo>
                <a:lnTo>
                  <a:pt x="4025" y="725"/>
                </a:lnTo>
                <a:lnTo>
                  <a:pt x="4000" y="742"/>
                </a:lnTo>
                <a:lnTo>
                  <a:pt x="3975" y="760"/>
                </a:lnTo>
                <a:lnTo>
                  <a:pt x="3950" y="778"/>
                </a:lnTo>
                <a:lnTo>
                  <a:pt x="3925" y="797"/>
                </a:lnTo>
                <a:lnTo>
                  <a:pt x="3918" y="788"/>
                </a:lnTo>
                <a:lnTo>
                  <a:pt x="3912" y="781"/>
                </a:lnTo>
                <a:lnTo>
                  <a:pt x="3906" y="771"/>
                </a:lnTo>
                <a:lnTo>
                  <a:pt x="3902" y="761"/>
                </a:lnTo>
                <a:lnTo>
                  <a:pt x="3912" y="754"/>
                </a:lnTo>
                <a:lnTo>
                  <a:pt x="3920" y="747"/>
                </a:lnTo>
                <a:lnTo>
                  <a:pt x="3931" y="738"/>
                </a:lnTo>
                <a:lnTo>
                  <a:pt x="3939" y="730"/>
                </a:lnTo>
                <a:lnTo>
                  <a:pt x="3949" y="721"/>
                </a:lnTo>
                <a:lnTo>
                  <a:pt x="3958" y="713"/>
                </a:lnTo>
                <a:lnTo>
                  <a:pt x="3969" y="704"/>
                </a:lnTo>
                <a:lnTo>
                  <a:pt x="3979" y="696"/>
                </a:lnTo>
                <a:lnTo>
                  <a:pt x="3986" y="694"/>
                </a:lnTo>
                <a:lnTo>
                  <a:pt x="3993" y="691"/>
                </a:lnTo>
                <a:lnTo>
                  <a:pt x="4000" y="691"/>
                </a:lnTo>
                <a:lnTo>
                  <a:pt x="4009" y="688"/>
                </a:lnTo>
                <a:lnTo>
                  <a:pt x="4017" y="685"/>
                </a:lnTo>
                <a:lnTo>
                  <a:pt x="4024" y="683"/>
                </a:lnTo>
                <a:lnTo>
                  <a:pt x="4033" y="680"/>
                </a:lnTo>
                <a:lnTo>
                  <a:pt x="4040" y="677"/>
                </a:lnTo>
                <a:lnTo>
                  <a:pt x="4044" y="670"/>
                </a:lnTo>
                <a:lnTo>
                  <a:pt x="4049" y="663"/>
                </a:lnTo>
                <a:lnTo>
                  <a:pt x="4054" y="657"/>
                </a:lnTo>
                <a:lnTo>
                  <a:pt x="4060" y="650"/>
                </a:lnTo>
                <a:lnTo>
                  <a:pt x="4064" y="643"/>
                </a:lnTo>
                <a:lnTo>
                  <a:pt x="4069" y="636"/>
                </a:lnTo>
                <a:lnTo>
                  <a:pt x="4075" y="628"/>
                </a:lnTo>
                <a:lnTo>
                  <a:pt x="4080" y="621"/>
                </a:lnTo>
                <a:lnTo>
                  <a:pt x="4090" y="617"/>
                </a:lnTo>
                <a:lnTo>
                  <a:pt x="4098" y="611"/>
                </a:lnTo>
                <a:lnTo>
                  <a:pt x="4109" y="606"/>
                </a:lnTo>
                <a:lnTo>
                  <a:pt x="4119" y="600"/>
                </a:lnTo>
                <a:lnTo>
                  <a:pt x="4127" y="595"/>
                </a:lnTo>
                <a:lnTo>
                  <a:pt x="4136" y="590"/>
                </a:lnTo>
                <a:lnTo>
                  <a:pt x="4146" y="584"/>
                </a:lnTo>
                <a:lnTo>
                  <a:pt x="4156" y="579"/>
                </a:lnTo>
                <a:lnTo>
                  <a:pt x="4163" y="565"/>
                </a:lnTo>
                <a:lnTo>
                  <a:pt x="4170" y="552"/>
                </a:lnTo>
                <a:lnTo>
                  <a:pt x="4176" y="539"/>
                </a:lnTo>
                <a:lnTo>
                  <a:pt x="4184" y="524"/>
                </a:lnTo>
                <a:lnTo>
                  <a:pt x="4190" y="517"/>
                </a:lnTo>
                <a:lnTo>
                  <a:pt x="4198" y="511"/>
                </a:lnTo>
                <a:lnTo>
                  <a:pt x="4205" y="505"/>
                </a:lnTo>
                <a:lnTo>
                  <a:pt x="4211" y="499"/>
                </a:lnTo>
                <a:lnTo>
                  <a:pt x="4218" y="493"/>
                </a:lnTo>
                <a:lnTo>
                  <a:pt x="4226" y="487"/>
                </a:lnTo>
                <a:lnTo>
                  <a:pt x="4234" y="481"/>
                </a:lnTo>
                <a:lnTo>
                  <a:pt x="4242" y="475"/>
                </a:lnTo>
                <a:lnTo>
                  <a:pt x="4235" y="473"/>
                </a:lnTo>
                <a:lnTo>
                  <a:pt x="4230" y="470"/>
                </a:lnTo>
                <a:lnTo>
                  <a:pt x="4224" y="468"/>
                </a:lnTo>
                <a:lnTo>
                  <a:pt x="4218" y="464"/>
                </a:lnTo>
                <a:lnTo>
                  <a:pt x="4213" y="462"/>
                </a:lnTo>
                <a:lnTo>
                  <a:pt x="4207" y="458"/>
                </a:lnTo>
                <a:lnTo>
                  <a:pt x="4202" y="455"/>
                </a:lnTo>
                <a:lnTo>
                  <a:pt x="4196" y="450"/>
                </a:lnTo>
                <a:lnTo>
                  <a:pt x="4207" y="442"/>
                </a:lnTo>
                <a:lnTo>
                  <a:pt x="4217" y="433"/>
                </a:lnTo>
                <a:lnTo>
                  <a:pt x="4228" y="425"/>
                </a:lnTo>
                <a:lnTo>
                  <a:pt x="4241" y="416"/>
                </a:lnTo>
                <a:lnTo>
                  <a:pt x="4252" y="408"/>
                </a:lnTo>
                <a:lnTo>
                  <a:pt x="4263" y="400"/>
                </a:lnTo>
                <a:lnTo>
                  <a:pt x="4274" y="392"/>
                </a:lnTo>
                <a:lnTo>
                  <a:pt x="4286" y="383"/>
                </a:lnTo>
                <a:lnTo>
                  <a:pt x="4291" y="377"/>
                </a:lnTo>
                <a:lnTo>
                  <a:pt x="4299" y="372"/>
                </a:lnTo>
                <a:lnTo>
                  <a:pt x="4307" y="366"/>
                </a:lnTo>
                <a:lnTo>
                  <a:pt x="4312" y="359"/>
                </a:lnTo>
                <a:lnTo>
                  <a:pt x="4321" y="349"/>
                </a:lnTo>
                <a:lnTo>
                  <a:pt x="4332" y="337"/>
                </a:lnTo>
                <a:lnTo>
                  <a:pt x="4339" y="326"/>
                </a:lnTo>
                <a:lnTo>
                  <a:pt x="4347" y="315"/>
                </a:lnTo>
                <a:lnTo>
                  <a:pt x="4356" y="304"/>
                </a:lnTo>
                <a:lnTo>
                  <a:pt x="4364" y="293"/>
                </a:lnTo>
                <a:lnTo>
                  <a:pt x="4374" y="282"/>
                </a:lnTo>
                <a:lnTo>
                  <a:pt x="4382" y="271"/>
                </a:lnTo>
                <a:lnTo>
                  <a:pt x="4360" y="281"/>
                </a:lnTo>
                <a:lnTo>
                  <a:pt x="4341" y="290"/>
                </a:lnTo>
                <a:lnTo>
                  <a:pt x="4320" y="299"/>
                </a:lnTo>
                <a:lnTo>
                  <a:pt x="4301" y="308"/>
                </a:lnTo>
                <a:lnTo>
                  <a:pt x="4279" y="318"/>
                </a:lnTo>
                <a:lnTo>
                  <a:pt x="4259" y="327"/>
                </a:lnTo>
                <a:lnTo>
                  <a:pt x="4238" y="338"/>
                </a:lnTo>
                <a:lnTo>
                  <a:pt x="4217" y="349"/>
                </a:lnTo>
                <a:lnTo>
                  <a:pt x="4213" y="346"/>
                </a:lnTo>
                <a:lnTo>
                  <a:pt x="4209" y="343"/>
                </a:lnTo>
                <a:lnTo>
                  <a:pt x="4204" y="342"/>
                </a:lnTo>
                <a:lnTo>
                  <a:pt x="4200" y="339"/>
                </a:lnTo>
                <a:lnTo>
                  <a:pt x="4194" y="338"/>
                </a:lnTo>
                <a:lnTo>
                  <a:pt x="4189" y="335"/>
                </a:lnTo>
                <a:lnTo>
                  <a:pt x="4185" y="335"/>
                </a:lnTo>
                <a:lnTo>
                  <a:pt x="4180" y="334"/>
                </a:lnTo>
                <a:lnTo>
                  <a:pt x="4186" y="328"/>
                </a:lnTo>
                <a:lnTo>
                  <a:pt x="4194" y="322"/>
                </a:lnTo>
                <a:lnTo>
                  <a:pt x="4200" y="316"/>
                </a:lnTo>
                <a:lnTo>
                  <a:pt x="4205" y="309"/>
                </a:lnTo>
                <a:lnTo>
                  <a:pt x="4211" y="303"/>
                </a:lnTo>
                <a:lnTo>
                  <a:pt x="4217" y="297"/>
                </a:lnTo>
                <a:lnTo>
                  <a:pt x="4224" y="291"/>
                </a:lnTo>
                <a:lnTo>
                  <a:pt x="4232" y="285"/>
                </a:lnTo>
                <a:lnTo>
                  <a:pt x="4251" y="271"/>
                </a:lnTo>
                <a:lnTo>
                  <a:pt x="4272" y="253"/>
                </a:lnTo>
                <a:lnTo>
                  <a:pt x="4297" y="234"/>
                </a:lnTo>
                <a:lnTo>
                  <a:pt x="4324" y="214"/>
                </a:lnTo>
                <a:lnTo>
                  <a:pt x="4351" y="195"/>
                </a:lnTo>
                <a:lnTo>
                  <a:pt x="4376" y="177"/>
                </a:lnTo>
                <a:lnTo>
                  <a:pt x="4398" y="162"/>
                </a:lnTo>
                <a:lnTo>
                  <a:pt x="4414" y="147"/>
                </a:lnTo>
                <a:lnTo>
                  <a:pt x="4419" y="124"/>
                </a:lnTo>
                <a:lnTo>
                  <a:pt x="4415" y="112"/>
                </a:lnTo>
                <a:lnTo>
                  <a:pt x="4408" y="112"/>
                </a:lnTo>
                <a:lnTo>
                  <a:pt x="4399" y="119"/>
                </a:lnTo>
                <a:lnTo>
                  <a:pt x="4387" y="127"/>
                </a:lnTo>
                <a:lnTo>
                  <a:pt x="4376" y="135"/>
                </a:lnTo>
                <a:lnTo>
                  <a:pt x="4367" y="140"/>
                </a:lnTo>
                <a:lnTo>
                  <a:pt x="4360" y="139"/>
                </a:lnTo>
                <a:lnTo>
                  <a:pt x="4351" y="146"/>
                </a:lnTo>
                <a:lnTo>
                  <a:pt x="4338" y="152"/>
                </a:lnTo>
                <a:lnTo>
                  <a:pt x="4322" y="160"/>
                </a:lnTo>
                <a:lnTo>
                  <a:pt x="4307" y="165"/>
                </a:lnTo>
                <a:lnTo>
                  <a:pt x="4291" y="173"/>
                </a:lnTo>
                <a:lnTo>
                  <a:pt x="4275" y="178"/>
                </a:lnTo>
                <a:lnTo>
                  <a:pt x="4261" y="187"/>
                </a:lnTo>
                <a:lnTo>
                  <a:pt x="4251" y="194"/>
                </a:lnTo>
                <a:lnTo>
                  <a:pt x="4247" y="203"/>
                </a:lnTo>
                <a:lnTo>
                  <a:pt x="4244" y="213"/>
                </a:lnTo>
                <a:lnTo>
                  <a:pt x="4241" y="223"/>
                </a:lnTo>
                <a:lnTo>
                  <a:pt x="4238" y="234"/>
                </a:lnTo>
                <a:lnTo>
                  <a:pt x="4232" y="239"/>
                </a:lnTo>
                <a:lnTo>
                  <a:pt x="4227" y="245"/>
                </a:lnTo>
                <a:lnTo>
                  <a:pt x="4221" y="251"/>
                </a:lnTo>
                <a:lnTo>
                  <a:pt x="4215" y="256"/>
                </a:lnTo>
                <a:lnTo>
                  <a:pt x="4207" y="262"/>
                </a:lnTo>
                <a:lnTo>
                  <a:pt x="4202" y="267"/>
                </a:lnTo>
                <a:lnTo>
                  <a:pt x="4194" y="273"/>
                </a:lnTo>
                <a:lnTo>
                  <a:pt x="4186" y="278"/>
                </a:lnTo>
                <a:lnTo>
                  <a:pt x="4180" y="271"/>
                </a:lnTo>
                <a:lnTo>
                  <a:pt x="4176" y="264"/>
                </a:lnTo>
                <a:lnTo>
                  <a:pt x="4170" y="258"/>
                </a:lnTo>
                <a:lnTo>
                  <a:pt x="4163" y="251"/>
                </a:lnTo>
                <a:lnTo>
                  <a:pt x="4158" y="244"/>
                </a:lnTo>
                <a:lnTo>
                  <a:pt x="4150" y="238"/>
                </a:lnTo>
                <a:lnTo>
                  <a:pt x="4143" y="232"/>
                </a:lnTo>
                <a:lnTo>
                  <a:pt x="4138" y="225"/>
                </a:lnTo>
                <a:lnTo>
                  <a:pt x="4146" y="212"/>
                </a:lnTo>
                <a:lnTo>
                  <a:pt x="4154" y="200"/>
                </a:lnTo>
                <a:lnTo>
                  <a:pt x="4161" y="187"/>
                </a:lnTo>
                <a:lnTo>
                  <a:pt x="4170" y="173"/>
                </a:lnTo>
                <a:lnTo>
                  <a:pt x="4180" y="167"/>
                </a:lnTo>
                <a:lnTo>
                  <a:pt x="4188" y="160"/>
                </a:lnTo>
                <a:lnTo>
                  <a:pt x="4197" y="152"/>
                </a:lnTo>
                <a:lnTo>
                  <a:pt x="4205" y="145"/>
                </a:lnTo>
                <a:lnTo>
                  <a:pt x="4214" y="137"/>
                </a:lnTo>
                <a:lnTo>
                  <a:pt x="4222" y="130"/>
                </a:lnTo>
                <a:lnTo>
                  <a:pt x="4230" y="123"/>
                </a:lnTo>
                <a:lnTo>
                  <a:pt x="4238" y="116"/>
                </a:lnTo>
                <a:lnTo>
                  <a:pt x="4245" y="106"/>
                </a:lnTo>
                <a:lnTo>
                  <a:pt x="4249" y="99"/>
                </a:lnTo>
                <a:lnTo>
                  <a:pt x="4255" y="90"/>
                </a:lnTo>
                <a:lnTo>
                  <a:pt x="4260" y="82"/>
                </a:lnTo>
                <a:lnTo>
                  <a:pt x="4266" y="73"/>
                </a:lnTo>
                <a:lnTo>
                  <a:pt x="4271" y="65"/>
                </a:lnTo>
                <a:lnTo>
                  <a:pt x="4277" y="55"/>
                </a:lnTo>
                <a:lnTo>
                  <a:pt x="4284" y="47"/>
                </a:lnTo>
                <a:lnTo>
                  <a:pt x="4274" y="48"/>
                </a:lnTo>
                <a:lnTo>
                  <a:pt x="4264" y="50"/>
                </a:lnTo>
                <a:lnTo>
                  <a:pt x="4255" y="52"/>
                </a:lnTo>
                <a:lnTo>
                  <a:pt x="4245" y="52"/>
                </a:lnTo>
                <a:lnTo>
                  <a:pt x="4234" y="55"/>
                </a:lnTo>
                <a:lnTo>
                  <a:pt x="4224" y="56"/>
                </a:lnTo>
                <a:lnTo>
                  <a:pt x="4214" y="59"/>
                </a:lnTo>
                <a:lnTo>
                  <a:pt x="4204" y="60"/>
                </a:lnTo>
                <a:lnTo>
                  <a:pt x="4207" y="44"/>
                </a:lnTo>
                <a:lnTo>
                  <a:pt x="4211" y="30"/>
                </a:lnTo>
                <a:lnTo>
                  <a:pt x="4213" y="16"/>
                </a:lnTo>
                <a:lnTo>
                  <a:pt x="4215" y="0"/>
                </a:lnTo>
                <a:lnTo>
                  <a:pt x="4205" y="7"/>
                </a:lnTo>
                <a:lnTo>
                  <a:pt x="4196" y="13"/>
                </a:lnTo>
                <a:lnTo>
                  <a:pt x="4185" y="19"/>
                </a:lnTo>
                <a:lnTo>
                  <a:pt x="4176" y="26"/>
                </a:lnTo>
                <a:lnTo>
                  <a:pt x="4167" y="33"/>
                </a:lnTo>
                <a:lnTo>
                  <a:pt x="4158" y="41"/>
                </a:lnTo>
                <a:lnTo>
                  <a:pt x="4150" y="48"/>
                </a:lnTo>
                <a:lnTo>
                  <a:pt x="4139" y="55"/>
                </a:lnTo>
                <a:lnTo>
                  <a:pt x="4134" y="63"/>
                </a:lnTo>
                <a:lnTo>
                  <a:pt x="4129" y="73"/>
                </a:lnTo>
                <a:lnTo>
                  <a:pt x="4123" y="82"/>
                </a:lnTo>
                <a:lnTo>
                  <a:pt x="4119" y="92"/>
                </a:lnTo>
                <a:lnTo>
                  <a:pt x="4113" y="102"/>
                </a:lnTo>
                <a:lnTo>
                  <a:pt x="4108" y="112"/>
                </a:lnTo>
                <a:lnTo>
                  <a:pt x="4101" y="123"/>
                </a:lnTo>
                <a:lnTo>
                  <a:pt x="4097" y="134"/>
                </a:lnTo>
                <a:lnTo>
                  <a:pt x="4088" y="134"/>
                </a:lnTo>
                <a:lnTo>
                  <a:pt x="4080" y="134"/>
                </a:lnTo>
                <a:lnTo>
                  <a:pt x="4071" y="134"/>
                </a:lnTo>
                <a:lnTo>
                  <a:pt x="4064" y="134"/>
                </a:lnTo>
                <a:lnTo>
                  <a:pt x="4054" y="134"/>
                </a:lnTo>
                <a:lnTo>
                  <a:pt x="4047" y="134"/>
                </a:lnTo>
                <a:lnTo>
                  <a:pt x="4038" y="134"/>
                </a:lnTo>
                <a:lnTo>
                  <a:pt x="4030" y="133"/>
                </a:lnTo>
                <a:lnTo>
                  <a:pt x="4016" y="143"/>
                </a:lnTo>
                <a:lnTo>
                  <a:pt x="4000" y="154"/>
                </a:lnTo>
                <a:lnTo>
                  <a:pt x="3986" y="165"/>
                </a:lnTo>
                <a:lnTo>
                  <a:pt x="3972" y="175"/>
                </a:lnTo>
                <a:lnTo>
                  <a:pt x="3956" y="186"/>
                </a:lnTo>
                <a:lnTo>
                  <a:pt x="3941" y="197"/>
                </a:lnTo>
                <a:lnTo>
                  <a:pt x="3928" y="207"/>
                </a:lnTo>
                <a:lnTo>
                  <a:pt x="3910" y="218"/>
                </a:lnTo>
                <a:lnTo>
                  <a:pt x="3863" y="251"/>
                </a:lnTo>
                <a:lnTo>
                  <a:pt x="3815" y="280"/>
                </a:lnTo>
                <a:lnTo>
                  <a:pt x="3768" y="307"/>
                </a:lnTo>
                <a:lnTo>
                  <a:pt x="3720" y="331"/>
                </a:lnTo>
                <a:lnTo>
                  <a:pt x="3672" y="357"/>
                </a:lnTo>
                <a:lnTo>
                  <a:pt x="3625" y="381"/>
                </a:lnTo>
                <a:lnTo>
                  <a:pt x="3577" y="405"/>
                </a:lnTo>
                <a:lnTo>
                  <a:pt x="3530" y="428"/>
                </a:lnTo>
                <a:lnTo>
                  <a:pt x="3483" y="456"/>
                </a:lnTo>
                <a:lnTo>
                  <a:pt x="3436" y="485"/>
                </a:lnTo>
                <a:lnTo>
                  <a:pt x="3389" y="516"/>
                </a:lnTo>
                <a:lnTo>
                  <a:pt x="3342" y="549"/>
                </a:lnTo>
                <a:lnTo>
                  <a:pt x="3296" y="590"/>
                </a:lnTo>
                <a:lnTo>
                  <a:pt x="3250" y="633"/>
                </a:lnTo>
                <a:lnTo>
                  <a:pt x="3203" y="682"/>
                </a:lnTo>
                <a:lnTo>
                  <a:pt x="3155" y="736"/>
                </a:lnTo>
                <a:lnTo>
                  <a:pt x="3112" y="764"/>
                </a:lnTo>
                <a:lnTo>
                  <a:pt x="3078" y="786"/>
                </a:lnTo>
                <a:lnTo>
                  <a:pt x="3052" y="803"/>
                </a:lnTo>
                <a:lnTo>
                  <a:pt x="3036" y="812"/>
                </a:lnTo>
                <a:lnTo>
                  <a:pt x="3028" y="815"/>
                </a:lnTo>
                <a:lnTo>
                  <a:pt x="3026" y="814"/>
                </a:lnTo>
                <a:lnTo>
                  <a:pt x="3028" y="809"/>
                </a:lnTo>
                <a:lnTo>
                  <a:pt x="3035" y="800"/>
                </a:lnTo>
                <a:lnTo>
                  <a:pt x="3044" y="790"/>
                </a:lnTo>
                <a:lnTo>
                  <a:pt x="3055" y="778"/>
                </a:lnTo>
                <a:lnTo>
                  <a:pt x="3070" y="766"/>
                </a:lnTo>
                <a:lnTo>
                  <a:pt x="3083" y="754"/>
                </a:lnTo>
                <a:lnTo>
                  <a:pt x="3094" y="743"/>
                </a:lnTo>
                <a:lnTo>
                  <a:pt x="3104" y="732"/>
                </a:lnTo>
                <a:lnTo>
                  <a:pt x="3112" y="725"/>
                </a:lnTo>
                <a:lnTo>
                  <a:pt x="3114" y="721"/>
                </a:lnTo>
                <a:lnTo>
                  <a:pt x="3136" y="710"/>
                </a:lnTo>
                <a:lnTo>
                  <a:pt x="3154" y="700"/>
                </a:lnTo>
                <a:lnTo>
                  <a:pt x="3167" y="691"/>
                </a:lnTo>
                <a:lnTo>
                  <a:pt x="3175" y="685"/>
                </a:lnTo>
                <a:lnTo>
                  <a:pt x="3180" y="682"/>
                </a:lnTo>
                <a:lnTo>
                  <a:pt x="3183" y="677"/>
                </a:lnTo>
                <a:lnTo>
                  <a:pt x="3180" y="675"/>
                </a:lnTo>
                <a:lnTo>
                  <a:pt x="3177" y="674"/>
                </a:lnTo>
                <a:lnTo>
                  <a:pt x="3173" y="674"/>
                </a:lnTo>
                <a:lnTo>
                  <a:pt x="3169" y="674"/>
                </a:lnTo>
                <a:lnTo>
                  <a:pt x="3164" y="673"/>
                </a:lnTo>
                <a:lnTo>
                  <a:pt x="3160" y="671"/>
                </a:lnTo>
                <a:lnTo>
                  <a:pt x="3158" y="669"/>
                </a:lnTo>
                <a:lnTo>
                  <a:pt x="3158" y="666"/>
                </a:lnTo>
                <a:lnTo>
                  <a:pt x="3160" y="660"/>
                </a:lnTo>
                <a:lnTo>
                  <a:pt x="3165" y="654"/>
                </a:lnTo>
                <a:lnTo>
                  <a:pt x="3173" y="645"/>
                </a:lnTo>
                <a:lnTo>
                  <a:pt x="3185" y="633"/>
                </a:lnTo>
                <a:lnTo>
                  <a:pt x="3203" y="620"/>
                </a:lnTo>
                <a:lnTo>
                  <a:pt x="3225" y="603"/>
                </a:lnTo>
                <a:lnTo>
                  <a:pt x="3253" y="584"/>
                </a:lnTo>
                <a:lnTo>
                  <a:pt x="3287" y="560"/>
                </a:lnTo>
                <a:lnTo>
                  <a:pt x="3327" y="533"/>
                </a:lnTo>
                <a:lnTo>
                  <a:pt x="3375" y="503"/>
                </a:lnTo>
                <a:lnTo>
                  <a:pt x="3432" y="466"/>
                </a:lnTo>
                <a:lnTo>
                  <a:pt x="3495" y="426"/>
                </a:lnTo>
                <a:lnTo>
                  <a:pt x="3569" y="383"/>
                </a:lnTo>
                <a:lnTo>
                  <a:pt x="3651" y="331"/>
                </a:lnTo>
                <a:lnTo>
                  <a:pt x="3744" y="278"/>
                </a:lnTo>
                <a:lnTo>
                  <a:pt x="3849" y="216"/>
                </a:lnTo>
                <a:lnTo>
                  <a:pt x="3962" y="150"/>
                </a:lnTo>
                <a:lnTo>
                  <a:pt x="3989" y="133"/>
                </a:lnTo>
                <a:lnTo>
                  <a:pt x="4011" y="116"/>
                </a:lnTo>
                <a:lnTo>
                  <a:pt x="4029" y="99"/>
                </a:lnTo>
                <a:lnTo>
                  <a:pt x="4042" y="84"/>
                </a:lnTo>
                <a:lnTo>
                  <a:pt x="4050" y="71"/>
                </a:lnTo>
                <a:lnTo>
                  <a:pt x="4054" y="61"/>
                </a:lnTo>
                <a:lnTo>
                  <a:pt x="4054" y="54"/>
                </a:lnTo>
                <a:lnTo>
                  <a:pt x="4050" y="52"/>
                </a:lnTo>
                <a:lnTo>
                  <a:pt x="4025" y="56"/>
                </a:lnTo>
                <a:lnTo>
                  <a:pt x="3998" y="69"/>
                </a:lnTo>
                <a:lnTo>
                  <a:pt x="3972" y="88"/>
                </a:lnTo>
                <a:lnTo>
                  <a:pt x="3944" y="106"/>
                </a:lnTo>
                <a:lnTo>
                  <a:pt x="3920" y="126"/>
                </a:lnTo>
                <a:lnTo>
                  <a:pt x="3899" y="139"/>
                </a:lnTo>
                <a:lnTo>
                  <a:pt x="3883" y="143"/>
                </a:lnTo>
                <a:lnTo>
                  <a:pt x="3870" y="133"/>
                </a:lnTo>
                <a:lnTo>
                  <a:pt x="3857" y="154"/>
                </a:lnTo>
                <a:lnTo>
                  <a:pt x="3855" y="162"/>
                </a:lnTo>
                <a:lnTo>
                  <a:pt x="3857" y="160"/>
                </a:lnTo>
                <a:lnTo>
                  <a:pt x="3860" y="151"/>
                </a:lnTo>
                <a:lnTo>
                  <a:pt x="3858" y="143"/>
                </a:lnTo>
                <a:lnTo>
                  <a:pt x="3845" y="143"/>
                </a:lnTo>
                <a:lnTo>
                  <a:pt x="3813" y="152"/>
                </a:lnTo>
                <a:lnTo>
                  <a:pt x="3759" y="177"/>
                </a:lnTo>
                <a:lnTo>
                  <a:pt x="3741" y="187"/>
                </a:lnTo>
                <a:lnTo>
                  <a:pt x="3722" y="197"/>
                </a:lnTo>
                <a:lnTo>
                  <a:pt x="3702" y="208"/>
                </a:lnTo>
                <a:lnTo>
                  <a:pt x="3678" y="222"/>
                </a:lnTo>
                <a:lnTo>
                  <a:pt x="3656" y="237"/>
                </a:lnTo>
                <a:lnTo>
                  <a:pt x="3630" y="251"/>
                </a:lnTo>
                <a:lnTo>
                  <a:pt x="3603" y="267"/>
                </a:lnTo>
                <a:lnTo>
                  <a:pt x="3577" y="284"/>
                </a:lnTo>
                <a:lnTo>
                  <a:pt x="3548" y="301"/>
                </a:lnTo>
                <a:lnTo>
                  <a:pt x="3520" y="318"/>
                </a:lnTo>
                <a:lnTo>
                  <a:pt x="3491" y="337"/>
                </a:lnTo>
                <a:lnTo>
                  <a:pt x="3460" y="357"/>
                </a:lnTo>
                <a:lnTo>
                  <a:pt x="3431" y="375"/>
                </a:lnTo>
                <a:lnTo>
                  <a:pt x="3400" y="395"/>
                </a:lnTo>
                <a:lnTo>
                  <a:pt x="3368" y="415"/>
                </a:lnTo>
                <a:lnTo>
                  <a:pt x="3338" y="435"/>
                </a:lnTo>
                <a:lnTo>
                  <a:pt x="3307" y="456"/>
                </a:lnTo>
                <a:lnTo>
                  <a:pt x="3274" y="476"/>
                </a:lnTo>
                <a:lnTo>
                  <a:pt x="3244" y="496"/>
                </a:lnTo>
                <a:lnTo>
                  <a:pt x="3214" y="516"/>
                </a:lnTo>
                <a:lnTo>
                  <a:pt x="3184" y="535"/>
                </a:lnTo>
                <a:lnTo>
                  <a:pt x="3154" y="556"/>
                </a:lnTo>
                <a:lnTo>
                  <a:pt x="3127" y="574"/>
                </a:lnTo>
                <a:lnTo>
                  <a:pt x="3098" y="594"/>
                </a:lnTo>
                <a:lnTo>
                  <a:pt x="3072" y="611"/>
                </a:lnTo>
                <a:lnTo>
                  <a:pt x="3046" y="628"/>
                </a:lnTo>
                <a:lnTo>
                  <a:pt x="3022" y="645"/>
                </a:lnTo>
                <a:lnTo>
                  <a:pt x="2998" y="660"/>
                </a:lnTo>
                <a:lnTo>
                  <a:pt x="2974" y="677"/>
                </a:lnTo>
                <a:lnTo>
                  <a:pt x="2955" y="691"/>
                </a:lnTo>
                <a:lnTo>
                  <a:pt x="2936" y="704"/>
                </a:lnTo>
                <a:lnTo>
                  <a:pt x="2918" y="715"/>
                </a:lnTo>
                <a:lnTo>
                  <a:pt x="2869" y="749"/>
                </a:lnTo>
                <a:lnTo>
                  <a:pt x="2819" y="783"/>
                </a:lnTo>
                <a:lnTo>
                  <a:pt x="2771" y="816"/>
                </a:lnTo>
                <a:lnTo>
                  <a:pt x="2723" y="847"/>
                </a:lnTo>
                <a:lnTo>
                  <a:pt x="2675" y="879"/>
                </a:lnTo>
                <a:lnTo>
                  <a:pt x="2628" y="910"/>
                </a:lnTo>
                <a:lnTo>
                  <a:pt x="2581" y="940"/>
                </a:lnTo>
                <a:lnTo>
                  <a:pt x="2536" y="970"/>
                </a:lnTo>
                <a:lnTo>
                  <a:pt x="2491" y="1000"/>
                </a:lnTo>
                <a:lnTo>
                  <a:pt x="2447" y="1031"/>
                </a:lnTo>
                <a:lnTo>
                  <a:pt x="2402" y="1060"/>
                </a:lnTo>
                <a:lnTo>
                  <a:pt x="2359" y="1089"/>
                </a:lnTo>
                <a:lnTo>
                  <a:pt x="2316" y="1117"/>
                </a:lnTo>
                <a:lnTo>
                  <a:pt x="2273" y="1148"/>
                </a:lnTo>
                <a:lnTo>
                  <a:pt x="2232" y="1178"/>
                </a:lnTo>
                <a:lnTo>
                  <a:pt x="2191" y="1206"/>
                </a:lnTo>
                <a:lnTo>
                  <a:pt x="2168" y="1227"/>
                </a:lnTo>
                <a:lnTo>
                  <a:pt x="2146" y="1249"/>
                </a:lnTo>
                <a:lnTo>
                  <a:pt x="2125" y="1271"/>
                </a:lnTo>
                <a:lnTo>
                  <a:pt x="2104" y="1293"/>
                </a:lnTo>
                <a:lnTo>
                  <a:pt x="2085" y="1316"/>
                </a:lnTo>
                <a:lnTo>
                  <a:pt x="2065" y="1338"/>
                </a:lnTo>
                <a:lnTo>
                  <a:pt x="2048" y="1362"/>
                </a:lnTo>
                <a:lnTo>
                  <a:pt x="2029" y="1384"/>
                </a:lnTo>
                <a:lnTo>
                  <a:pt x="2010" y="1407"/>
                </a:lnTo>
                <a:lnTo>
                  <a:pt x="1994" y="1430"/>
                </a:lnTo>
                <a:lnTo>
                  <a:pt x="1975" y="1453"/>
                </a:lnTo>
                <a:lnTo>
                  <a:pt x="1957" y="1475"/>
                </a:lnTo>
                <a:lnTo>
                  <a:pt x="1938" y="1498"/>
                </a:lnTo>
                <a:lnTo>
                  <a:pt x="1920" y="1518"/>
                </a:lnTo>
                <a:lnTo>
                  <a:pt x="1901" y="1539"/>
                </a:lnTo>
                <a:lnTo>
                  <a:pt x="1881" y="1559"/>
                </a:lnTo>
                <a:lnTo>
                  <a:pt x="1859" y="1580"/>
                </a:lnTo>
                <a:lnTo>
                  <a:pt x="1835" y="1607"/>
                </a:lnTo>
                <a:lnTo>
                  <a:pt x="1811" y="1637"/>
                </a:lnTo>
                <a:lnTo>
                  <a:pt x="1786" y="1671"/>
                </a:lnTo>
                <a:lnTo>
                  <a:pt x="1762" y="1704"/>
                </a:lnTo>
                <a:lnTo>
                  <a:pt x="1738" y="1734"/>
                </a:lnTo>
                <a:lnTo>
                  <a:pt x="1717" y="1760"/>
                </a:lnTo>
                <a:lnTo>
                  <a:pt x="1697" y="1779"/>
                </a:lnTo>
                <a:lnTo>
                  <a:pt x="1669" y="1799"/>
                </a:lnTo>
                <a:lnTo>
                  <a:pt x="1651" y="1814"/>
                </a:lnTo>
                <a:lnTo>
                  <a:pt x="1638" y="1823"/>
                </a:lnTo>
                <a:lnTo>
                  <a:pt x="1629" y="1830"/>
                </a:lnTo>
                <a:lnTo>
                  <a:pt x="1618" y="1836"/>
                </a:lnTo>
                <a:lnTo>
                  <a:pt x="1607" y="1846"/>
                </a:lnTo>
                <a:lnTo>
                  <a:pt x="1593" y="1859"/>
                </a:lnTo>
                <a:lnTo>
                  <a:pt x="1571" y="1880"/>
                </a:lnTo>
                <a:lnTo>
                  <a:pt x="1550" y="1913"/>
                </a:lnTo>
                <a:lnTo>
                  <a:pt x="1531" y="1947"/>
                </a:lnTo>
                <a:lnTo>
                  <a:pt x="1514" y="1983"/>
                </a:lnTo>
                <a:lnTo>
                  <a:pt x="1499" y="2021"/>
                </a:lnTo>
                <a:lnTo>
                  <a:pt x="1482" y="2057"/>
                </a:lnTo>
                <a:lnTo>
                  <a:pt x="1466" y="2093"/>
                </a:lnTo>
                <a:lnTo>
                  <a:pt x="1452" y="2128"/>
                </a:lnTo>
                <a:lnTo>
                  <a:pt x="1435" y="2161"/>
                </a:lnTo>
                <a:lnTo>
                  <a:pt x="1420" y="2132"/>
                </a:lnTo>
                <a:lnTo>
                  <a:pt x="1402" y="2104"/>
                </a:lnTo>
                <a:lnTo>
                  <a:pt x="1383" y="2075"/>
                </a:lnTo>
                <a:lnTo>
                  <a:pt x="1363" y="2046"/>
                </a:lnTo>
                <a:lnTo>
                  <a:pt x="1340" y="2018"/>
                </a:lnTo>
                <a:lnTo>
                  <a:pt x="1319" y="1989"/>
                </a:lnTo>
                <a:lnTo>
                  <a:pt x="1296" y="1961"/>
                </a:lnTo>
                <a:lnTo>
                  <a:pt x="1274" y="1933"/>
                </a:lnTo>
                <a:lnTo>
                  <a:pt x="1251" y="1903"/>
                </a:lnTo>
                <a:lnTo>
                  <a:pt x="1230" y="1874"/>
                </a:lnTo>
                <a:lnTo>
                  <a:pt x="1210" y="1847"/>
                </a:lnTo>
                <a:lnTo>
                  <a:pt x="1192" y="1818"/>
                </a:lnTo>
                <a:lnTo>
                  <a:pt x="1175" y="1789"/>
                </a:lnTo>
                <a:lnTo>
                  <a:pt x="1159" y="1761"/>
                </a:lnTo>
                <a:lnTo>
                  <a:pt x="1146" y="1732"/>
                </a:lnTo>
                <a:lnTo>
                  <a:pt x="1137" y="1705"/>
                </a:lnTo>
                <a:lnTo>
                  <a:pt x="1121" y="1665"/>
                </a:lnTo>
                <a:lnTo>
                  <a:pt x="1105" y="1624"/>
                </a:lnTo>
                <a:lnTo>
                  <a:pt x="1087" y="1580"/>
                </a:lnTo>
                <a:lnTo>
                  <a:pt x="1068" y="1537"/>
                </a:lnTo>
                <a:lnTo>
                  <a:pt x="1050" y="1493"/>
                </a:lnTo>
                <a:lnTo>
                  <a:pt x="1032" y="1449"/>
                </a:lnTo>
                <a:lnTo>
                  <a:pt x="1016" y="1407"/>
                </a:lnTo>
                <a:lnTo>
                  <a:pt x="1003" y="1367"/>
                </a:lnTo>
                <a:lnTo>
                  <a:pt x="979" y="1376"/>
                </a:lnTo>
                <a:lnTo>
                  <a:pt x="958" y="1386"/>
                </a:lnTo>
                <a:lnTo>
                  <a:pt x="935" y="1394"/>
                </a:lnTo>
                <a:lnTo>
                  <a:pt x="914" y="1403"/>
                </a:lnTo>
                <a:lnTo>
                  <a:pt x="891" y="1411"/>
                </a:lnTo>
                <a:lnTo>
                  <a:pt x="870" y="1418"/>
                </a:lnTo>
                <a:lnTo>
                  <a:pt x="847" y="1426"/>
                </a:lnTo>
                <a:lnTo>
                  <a:pt x="825" y="1435"/>
                </a:lnTo>
                <a:lnTo>
                  <a:pt x="808" y="1443"/>
                </a:lnTo>
                <a:lnTo>
                  <a:pt x="790" y="1450"/>
                </a:lnTo>
                <a:lnTo>
                  <a:pt x="773" y="1459"/>
                </a:lnTo>
                <a:lnTo>
                  <a:pt x="755" y="1467"/>
                </a:lnTo>
                <a:lnTo>
                  <a:pt x="738" y="1475"/>
                </a:lnTo>
                <a:lnTo>
                  <a:pt x="721" y="1484"/>
                </a:lnTo>
                <a:lnTo>
                  <a:pt x="704" y="1491"/>
                </a:lnTo>
                <a:lnTo>
                  <a:pt x="687" y="1499"/>
                </a:lnTo>
                <a:lnTo>
                  <a:pt x="669" y="1507"/>
                </a:lnTo>
                <a:lnTo>
                  <a:pt x="652" y="1515"/>
                </a:lnTo>
                <a:lnTo>
                  <a:pt x="636" y="1522"/>
                </a:lnTo>
                <a:lnTo>
                  <a:pt x="619" y="1531"/>
                </a:lnTo>
                <a:lnTo>
                  <a:pt x="602" y="1537"/>
                </a:lnTo>
                <a:lnTo>
                  <a:pt x="586" y="1546"/>
                </a:lnTo>
                <a:lnTo>
                  <a:pt x="569" y="1553"/>
                </a:lnTo>
                <a:lnTo>
                  <a:pt x="553" y="1561"/>
                </a:lnTo>
                <a:lnTo>
                  <a:pt x="550" y="1561"/>
                </a:lnTo>
                <a:lnTo>
                  <a:pt x="541" y="1561"/>
                </a:lnTo>
                <a:lnTo>
                  <a:pt x="527" y="1563"/>
                </a:lnTo>
                <a:lnTo>
                  <a:pt x="511" y="1567"/>
                </a:lnTo>
                <a:lnTo>
                  <a:pt x="491" y="1571"/>
                </a:lnTo>
                <a:lnTo>
                  <a:pt x="469" y="1577"/>
                </a:lnTo>
                <a:lnTo>
                  <a:pt x="445" y="1585"/>
                </a:lnTo>
                <a:lnTo>
                  <a:pt x="421" y="1592"/>
                </a:lnTo>
                <a:lnTo>
                  <a:pt x="396" y="1598"/>
                </a:lnTo>
                <a:lnTo>
                  <a:pt x="373" y="1605"/>
                </a:lnTo>
                <a:lnTo>
                  <a:pt x="351" y="1612"/>
                </a:lnTo>
                <a:lnTo>
                  <a:pt x="333" y="1616"/>
                </a:lnTo>
                <a:lnTo>
                  <a:pt x="315" y="1620"/>
                </a:lnTo>
                <a:lnTo>
                  <a:pt x="304" y="1624"/>
                </a:lnTo>
                <a:lnTo>
                  <a:pt x="297" y="1624"/>
                </a:lnTo>
                <a:lnTo>
                  <a:pt x="294" y="1622"/>
                </a:lnTo>
                <a:lnTo>
                  <a:pt x="275" y="1633"/>
                </a:lnTo>
                <a:lnTo>
                  <a:pt x="256" y="1643"/>
                </a:lnTo>
                <a:lnTo>
                  <a:pt x="237" y="1654"/>
                </a:lnTo>
                <a:lnTo>
                  <a:pt x="219" y="1665"/>
                </a:lnTo>
                <a:lnTo>
                  <a:pt x="199" y="1675"/>
                </a:lnTo>
                <a:lnTo>
                  <a:pt x="180" y="1685"/>
                </a:lnTo>
                <a:lnTo>
                  <a:pt x="161" y="1696"/>
                </a:lnTo>
                <a:lnTo>
                  <a:pt x="143" y="1707"/>
                </a:lnTo>
                <a:lnTo>
                  <a:pt x="124" y="1718"/>
                </a:lnTo>
                <a:lnTo>
                  <a:pt x="106" y="1729"/>
                </a:lnTo>
                <a:lnTo>
                  <a:pt x="87" y="1739"/>
                </a:lnTo>
                <a:lnTo>
                  <a:pt x="70" y="1750"/>
                </a:lnTo>
                <a:lnTo>
                  <a:pt x="53" y="1760"/>
                </a:lnTo>
                <a:lnTo>
                  <a:pt x="35" y="1771"/>
                </a:lnTo>
                <a:lnTo>
                  <a:pt x="18" y="1781"/>
                </a:lnTo>
                <a:lnTo>
                  <a:pt x="0" y="1792"/>
                </a:lnTo>
                <a:close/>
              </a:path>
            </a:pathLst>
          </a:custGeom>
          <a:solidFill>
            <a:srgbClr val="043B72"/>
          </a:solidFill>
          <a:ln w="19050">
            <a:solidFill>
              <a:srgbClr val="FFFFFF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96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ea"/>
              <a:sym typeface="나눔고딕"/>
            </a:endParaRPr>
          </a:p>
        </p:txBody>
      </p:sp>
      <p:sp>
        <p:nvSpPr>
          <p:cNvPr id="66" name="Freeform 1754">
            <a:extLst>
              <a:ext uri="{FF2B5EF4-FFF2-40B4-BE49-F238E27FC236}">
                <a16:creationId xmlns:a16="http://schemas.microsoft.com/office/drawing/2014/main" id="{194038F0-B2C4-8312-0C4D-800DC7134188}"/>
              </a:ext>
            </a:extLst>
          </p:cNvPr>
          <p:cNvSpPr>
            <a:spLocks noChangeAspect="1"/>
          </p:cNvSpPr>
          <p:nvPr/>
        </p:nvSpPr>
        <p:spPr bwMode="gray">
          <a:xfrm>
            <a:off x="11523563" y="5993161"/>
            <a:ext cx="216000" cy="185549"/>
          </a:xfrm>
          <a:custGeom>
            <a:avLst/>
            <a:gdLst>
              <a:gd name="T0" fmla="*/ 2147483646 w 4916"/>
              <a:gd name="T1" fmla="*/ 2147483646 h 3388"/>
              <a:gd name="T2" fmla="*/ 2147483646 w 4916"/>
              <a:gd name="T3" fmla="*/ 2147483646 h 3388"/>
              <a:gd name="T4" fmla="*/ 2147483646 w 4916"/>
              <a:gd name="T5" fmla="*/ 2147483646 h 3388"/>
              <a:gd name="T6" fmla="*/ 2147483646 w 4916"/>
              <a:gd name="T7" fmla="*/ 2147483646 h 3388"/>
              <a:gd name="T8" fmla="*/ 2147483646 w 4916"/>
              <a:gd name="T9" fmla="*/ 2147483646 h 3388"/>
              <a:gd name="T10" fmla="*/ 2147483646 w 4916"/>
              <a:gd name="T11" fmla="*/ 2147483646 h 3388"/>
              <a:gd name="T12" fmla="*/ 2147483646 w 4916"/>
              <a:gd name="T13" fmla="*/ 2147483646 h 3388"/>
              <a:gd name="T14" fmla="*/ 2147483646 w 4916"/>
              <a:gd name="T15" fmla="*/ 2147483646 h 3388"/>
              <a:gd name="T16" fmla="*/ 2147483646 w 4916"/>
              <a:gd name="T17" fmla="*/ 2147483646 h 3388"/>
              <a:gd name="T18" fmla="*/ 2147483646 w 4916"/>
              <a:gd name="T19" fmla="*/ 2147483646 h 3388"/>
              <a:gd name="T20" fmla="*/ 2147483646 w 4916"/>
              <a:gd name="T21" fmla="*/ 2147483646 h 3388"/>
              <a:gd name="T22" fmla="*/ 2147483646 w 4916"/>
              <a:gd name="T23" fmla="*/ 2147483646 h 3388"/>
              <a:gd name="T24" fmla="*/ 2147483646 w 4916"/>
              <a:gd name="T25" fmla="*/ 2147483646 h 3388"/>
              <a:gd name="T26" fmla="*/ 2147483646 w 4916"/>
              <a:gd name="T27" fmla="*/ 2147483646 h 3388"/>
              <a:gd name="T28" fmla="*/ 2147483646 w 4916"/>
              <a:gd name="T29" fmla="*/ 2147483646 h 3388"/>
              <a:gd name="T30" fmla="*/ 2147483646 w 4916"/>
              <a:gd name="T31" fmla="*/ 2147483646 h 3388"/>
              <a:gd name="T32" fmla="*/ 2147483646 w 4916"/>
              <a:gd name="T33" fmla="*/ 2147483646 h 3388"/>
              <a:gd name="T34" fmla="*/ 2147483646 w 4916"/>
              <a:gd name="T35" fmla="*/ 2147483646 h 3388"/>
              <a:gd name="T36" fmla="*/ 2147483646 w 4916"/>
              <a:gd name="T37" fmla="*/ 2147483646 h 3388"/>
              <a:gd name="T38" fmla="*/ 2147483646 w 4916"/>
              <a:gd name="T39" fmla="*/ 2147483646 h 3388"/>
              <a:gd name="T40" fmla="*/ 2147483646 w 4916"/>
              <a:gd name="T41" fmla="*/ 2147483646 h 3388"/>
              <a:gd name="T42" fmla="*/ 2147483646 w 4916"/>
              <a:gd name="T43" fmla="*/ 2147483646 h 3388"/>
              <a:gd name="T44" fmla="*/ 2147483646 w 4916"/>
              <a:gd name="T45" fmla="*/ 2147483646 h 3388"/>
              <a:gd name="T46" fmla="*/ 2147483646 w 4916"/>
              <a:gd name="T47" fmla="*/ 2147483646 h 3388"/>
              <a:gd name="T48" fmla="*/ 2147483646 w 4916"/>
              <a:gd name="T49" fmla="*/ 2147483646 h 3388"/>
              <a:gd name="T50" fmla="*/ 2147483646 w 4916"/>
              <a:gd name="T51" fmla="*/ 2147483646 h 3388"/>
              <a:gd name="T52" fmla="*/ 2147483646 w 4916"/>
              <a:gd name="T53" fmla="*/ 2147483646 h 3388"/>
              <a:gd name="T54" fmla="*/ 2147483646 w 4916"/>
              <a:gd name="T55" fmla="*/ 2147483646 h 3388"/>
              <a:gd name="T56" fmla="*/ 2147483646 w 4916"/>
              <a:gd name="T57" fmla="*/ 2147483646 h 3388"/>
              <a:gd name="T58" fmla="*/ 2147483646 w 4916"/>
              <a:gd name="T59" fmla="*/ 2147483646 h 3388"/>
              <a:gd name="T60" fmla="*/ 2147483646 w 4916"/>
              <a:gd name="T61" fmla="*/ 2147483646 h 3388"/>
              <a:gd name="T62" fmla="*/ 2147483646 w 4916"/>
              <a:gd name="T63" fmla="*/ 2147483646 h 3388"/>
              <a:gd name="T64" fmla="*/ 2147483646 w 4916"/>
              <a:gd name="T65" fmla="*/ 2147483646 h 3388"/>
              <a:gd name="T66" fmla="*/ 2147483646 w 4916"/>
              <a:gd name="T67" fmla="*/ 2147483646 h 3388"/>
              <a:gd name="T68" fmla="*/ 2147483646 w 4916"/>
              <a:gd name="T69" fmla="*/ 2147483646 h 3388"/>
              <a:gd name="T70" fmla="*/ 2147483646 w 4916"/>
              <a:gd name="T71" fmla="*/ 2147483646 h 3388"/>
              <a:gd name="T72" fmla="*/ 2147483646 w 4916"/>
              <a:gd name="T73" fmla="*/ 2147483646 h 3388"/>
              <a:gd name="T74" fmla="*/ 2147483646 w 4916"/>
              <a:gd name="T75" fmla="*/ 2147483646 h 3388"/>
              <a:gd name="T76" fmla="*/ 2147483646 w 4916"/>
              <a:gd name="T77" fmla="*/ 2147483646 h 3388"/>
              <a:gd name="T78" fmla="*/ 2147483646 w 4916"/>
              <a:gd name="T79" fmla="*/ 2147483646 h 3388"/>
              <a:gd name="T80" fmla="*/ 2147483646 w 4916"/>
              <a:gd name="T81" fmla="*/ 2147483646 h 3388"/>
              <a:gd name="T82" fmla="*/ 2147483646 w 4916"/>
              <a:gd name="T83" fmla="*/ 2147483646 h 3388"/>
              <a:gd name="T84" fmla="*/ 2147483646 w 4916"/>
              <a:gd name="T85" fmla="*/ 2147483646 h 3388"/>
              <a:gd name="T86" fmla="*/ 2147483646 w 4916"/>
              <a:gd name="T87" fmla="*/ 2147483646 h 3388"/>
              <a:gd name="T88" fmla="*/ 2147483646 w 4916"/>
              <a:gd name="T89" fmla="*/ 2147483646 h 3388"/>
              <a:gd name="T90" fmla="*/ 2147483646 w 4916"/>
              <a:gd name="T91" fmla="*/ 2147483646 h 3388"/>
              <a:gd name="T92" fmla="*/ 2147483646 w 4916"/>
              <a:gd name="T93" fmla="*/ 2147483646 h 3388"/>
              <a:gd name="T94" fmla="*/ 2147483646 w 4916"/>
              <a:gd name="T95" fmla="*/ 2147483646 h 3388"/>
              <a:gd name="T96" fmla="*/ 2147483646 w 4916"/>
              <a:gd name="T97" fmla="*/ 2147483646 h 3388"/>
              <a:gd name="T98" fmla="*/ 2147483646 w 4916"/>
              <a:gd name="T99" fmla="*/ 2147483646 h 3388"/>
              <a:gd name="T100" fmla="*/ 2147483646 w 4916"/>
              <a:gd name="T101" fmla="*/ 2147483646 h 3388"/>
              <a:gd name="T102" fmla="*/ 2147483646 w 4916"/>
              <a:gd name="T103" fmla="*/ 2147483646 h 3388"/>
              <a:gd name="T104" fmla="*/ 2147483646 w 4916"/>
              <a:gd name="T105" fmla="*/ 2147483646 h 3388"/>
              <a:gd name="T106" fmla="*/ 2147483646 w 4916"/>
              <a:gd name="T107" fmla="*/ 2147483646 h 3388"/>
              <a:gd name="T108" fmla="*/ 2147483646 w 4916"/>
              <a:gd name="T109" fmla="*/ 2147483646 h 3388"/>
              <a:gd name="T110" fmla="*/ 2147483646 w 4916"/>
              <a:gd name="T111" fmla="*/ 2147483646 h 3388"/>
              <a:gd name="T112" fmla="*/ 2147483646 w 4916"/>
              <a:gd name="T113" fmla="*/ 2147483646 h 3388"/>
              <a:gd name="T114" fmla="*/ 2147483646 w 4916"/>
              <a:gd name="T115" fmla="*/ 2147483646 h 3388"/>
              <a:gd name="T116" fmla="*/ 2147483646 w 4916"/>
              <a:gd name="T117" fmla="*/ 2147483646 h 3388"/>
              <a:gd name="T118" fmla="*/ 2147483646 w 4916"/>
              <a:gd name="T119" fmla="*/ 2147483646 h 3388"/>
              <a:gd name="T120" fmla="*/ 2147483646 w 4916"/>
              <a:gd name="T121" fmla="*/ 2147483646 h 3388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w 4916"/>
              <a:gd name="T184" fmla="*/ 0 h 3388"/>
              <a:gd name="T185" fmla="*/ 4916 w 4916"/>
              <a:gd name="T186" fmla="*/ 3388 h 3388"/>
            </a:gdLst>
            <a:ahLst/>
            <a:cxnLst>
              <a:cxn ang="T122">
                <a:pos x="T0" y="T1"/>
              </a:cxn>
              <a:cxn ang="T123">
                <a:pos x="T2" y="T3"/>
              </a:cxn>
              <a:cxn ang="T124">
                <a:pos x="T4" y="T5"/>
              </a:cxn>
              <a:cxn ang="T125">
                <a:pos x="T6" y="T7"/>
              </a:cxn>
              <a:cxn ang="T126">
                <a:pos x="T8" y="T9"/>
              </a:cxn>
              <a:cxn ang="T127">
                <a:pos x="T10" y="T11"/>
              </a:cxn>
              <a:cxn ang="T128">
                <a:pos x="T12" y="T13"/>
              </a:cxn>
              <a:cxn ang="T129">
                <a:pos x="T14" y="T15"/>
              </a:cxn>
              <a:cxn ang="T130">
                <a:pos x="T16" y="T17"/>
              </a:cxn>
              <a:cxn ang="T131">
                <a:pos x="T18" y="T19"/>
              </a:cxn>
              <a:cxn ang="T132">
                <a:pos x="T20" y="T21"/>
              </a:cxn>
              <a:cxn ang="T133">
                <a:pos x="T22" y="T23"/>
              </a:cxn>
              <a:cxn ang="T134">
                <a:pos x="T24" y="T25"/>
              </a:cxn>
              <a:cxn ang="T135">
                <a:pos x="T26" y="T27"/>
              </a:cxn>
              <a:cxn ang="T136">
                <a:pos x="T28" y="T29"/>
              </a:cxn>
              <a:cxn ang="T137">
                <a:pos x="T30" y="T31"/>
              </a:cxn>
              <a:cxn ang="T138">
                <a:pos x="T32" y="T33"/>
              </a:cxn>
              <a:cxn ang="T139">
                <a:pos x="T34" y="T35"/>
              </a:cxn>
              <a:cxn ang="T140">
                <a:pos x="T36" y="T37"/>
              </a:cxn>
              <a:cxn ang="T141">
                <a:pos x="T38" y="T39"/>
              </a:cxn>
              <a:cxn ang="T142">
                <a:pos x="T40" y="T41"/>
              </a:cxn>
              <a:cxn ang="T143">
                <a:pos x="T42" y="T43"/>
              </a:cxn>
              <a:cxn ang="T144">
                <a:pos x="T44" y="T45"/>
              </a:cxn>
              <a:cxn ang="T145">
                <a:pos x="T46" y="T47"/>
              </a:cxn>
              <a:cxn ang="T146">
                <a:pos x="T48" y="T49"/>
              </a:cxn>
              <a:cxn ang="T147">
                <a:pos x="T50" y="T51"/>
              </a:cxn>
              <a:cxn ang="T148">
                <a:pos x="T52" y="T53"/>
              </a:cxn>
              <a:cxn ang="T149">
                <a:pos x="T54" y="T55"/>
              </a:cxn>
              <a:cxn ang="T150">
                <a:pos x="T56" y="T57"/>
              </a:cxn>
              <a:cxn ang="T151">
                <a:pos x="T58" y="T59"/>
              </a:cxn>
              <a:cxn ang="T152">
                <a:pos x="T60" y="T61"/>
              </a:cxn>
              <a:cxn ang="T153">
                <a:pos x="T62" y="T63"/>
              </a:cxn>
              <a:cxn ang="T154">
                <a:pos x="T64" y="T65"/>
              </a:cxn>
              <a:cxn ang="T155">
                <a:pos x="T66" y="T67"/>
              </a:cxn>
              <a:cxn ang="T156">
                <a:pos x="T68" y="T69"/>
              </a:cxn>
              <a:cxn ang="T157">
                <a:pos x="T70" y="T71"/>
              </a:cxn>
              <a:cxn ang="T158">
                <a:pos x="T72" y="T73"/>
              </a:cxn>
              <a:cxn ang="T159">
                <a:pos x="T74" y="T75"/>
              </a:cxn>
              <a:cxn ang="T160">
                <a:pos x="T76" y="T77"/>
              </a:cxn>
              <a:cxn ang="T161">
                <a:pos x="T78" y="T79"/>
              </a:cxn>
              <a:cxn ang="T162">
                <a:pos x="T80" y="T81"/>
              </a:cxn>
              <a:cxn ang="T163">
                <a:pos x="T82" y="T83"/>
              </a:cxn>
              <a:cxn ang="T164">
                <a:pos x="T84" y="T85"/>
              </a:cxn>
              <a:cxn ang="T165">
                <a:pos x="T86" y="T87"/>
              </a:cxn>
              <a:cxn ang="T166">
                <a:pos x="T88" y="T89"/>
              </a:cxn>
              <a:cxn ang="T167">
                <a:pos x="T90" y="T91"/>
              </a:cxn>
              <a:cxn ang="T168">
                <a:pos x="T92" y="T93"/>
              </a:cxn>
              <a:cxn ang="T169">
                <a:pos x="T94" y="T95"/>
              </a:cxn>
              <a:cxn ang="T170">
                <a:pos x="T96" y="T97"/>
              </a:cxn>
              <a:cxn ang="T171">
                <a:pos x="T98" y="T99"/>
              </a:cxn>
              <a:cxn ang="T172">
                <a:pos x="T100" y="T101"/>
              </a:cxn>
              <a:cxn ang="T173">
                <a:pos x="T102" y="T103"/>
              </a:cxn>
              <a:cxn ang="T174">
                <a:pos x="T104" y="T105"/>
              </a:cxn>
              <a:cxn ang="T175">
                <a:pos x="T106" y="T107"/>
              </a:cxn>
              <a:cxn ang="T176">
                <a:pos x="T108" y="T109"/>
              </a:cxn>
              <a:cxn ang="T177">
                <a:pos x="T110" y="T111"/>
              </a:cxn>
              <a:cxn ang="T178">
                <a:pos x="T112" y="T113"/>
              </a:cxn>
              <a:cxn ang="T179">
                <a:pos x="T114" y="T115"/>
              </a:cxn>
              <a:cxn ang="T180">
                <a:pos x="T116" y="T117"/>
              </a:cxn>
              <a:cxn ang="T181">
                <a:pos x="T118" y="T119"/>
              </a:cxn>
              <a:cxn ang="T182">
                <a:pos x="T120" y="T121"/>
              </a:cxn>
            </a:cxnLst>
            <a:rect l="T183" t="T184" r="T185" b="T186"/>
            <a:pathLst>
              <a:path w="4916" h="3388">
                <a:moveTo>
                  <a:pt x="0" y="1792"/>
                </a:moveTo>
                <a:lnTo>
                  <a:pt x="12" y="1808"/>
                </a:lnTo>
                <a:lnTo>
                  <a:pt x="25" y="1823"/>
                </a:lnTo>
                <a:lnTo>
                  <a:pt x="38" y="1838"/>
                </a:lnTo>
                <a:lnTo>
                  <a:pt x="53" y="1853"/>
                </a:lnTo>
                <a:lnTo>
                  <a:pt x="68" y="1867"/>
                </a:lnTo>
                <a:lnTo>
                  <a:pt x="83" y="1883"/>
                </a:lnTo>
                <a:lnTo>
                  <a:pt x="100" y="1897"/>
                </a:lnTo>
                <a:lnTo>
                  <a:pt x="116" y="1911"/>
                </a:lnTo>
                <a:lnTo>
                  <a:pt x="131" y="1927"/>
                </a:lnTo>
                <a:lnTo>
                  <a:pt x="148" y="1941"/>
                </a:lnTo>
                <a:lnTo>
                  <a:pt x="162" y="1955"/>
                </a:lnTo>
                <a:lnTo>
                  <a:pt x="178" y="1971"/>
                </a:lnTo>
                <a:lnTo>
                  <a:pt x="193" y="1985"/>
                </a:lnTo>
                <a:lnTo>
                  <a:pt x="206" y="2000"/>
                </a:lnTo>
                <a:lnTo>
                  <a:pt x="219" y="2014"/>
                </a:lnTo>
                <a:lnTo>
                  <a:pt x="231" y="2030"/>
                </a:lnTo>
                <a:lnTo>
                  <a:pt x="244" y="2058"/>
                </a:lnTo>
                <a:lnTo>
                  <a:pt x="261" y="2080"/>
                </a:lnTo>
                <a:lnTo>
                  <a:pt x="281" y="2098"/>
                </a:lnTo>
                <a:lnTo>
                  <a:pt x="301" y="2114"/>
                </a:lnTo>
                <a:lnTo>
                  <a:pt x="322" y="2129"/>
                </a:lnTo>
                <a:lnTo>
                  <a:pt x="342" y="2148"/>
                </a:lnTo>
                <a:lnTo>
                  <a:pt x="359" y="2169"/>
                </a:lnTo>
                <a:lnTo>
                  <a:pt x="375" y="2195"/>
                </a:lnTo>
                <a:lnTo>
                  <a:pt x="391" y="2223"/>
                </a:lnTo>
                <a:lnTo>
                  <a:pt x="415" y="2256"/>
                </a:lnTo>
                <a:lnTo>
                  <a:pt x="441" y="2294"/>
                </a:lnTo>
                <a:lnTo>
                  <a:pt x="471" y="2333"/>
                </a:lnTo>
                <a:lnTo>
                  <a:pt x="501" y="2373"/>
                </a:lnTo>
                <a:lnTo>
                  <a:pt x="527" y="2409"/>
                </a:lnTo>
                <a:lnTo>
                  <a:pt x="551" y="2442"/>
                </a:lnTo>
                <a:lnTo>
                  <a:pt x="569" y="2469"/>
                </a:lnTo>
                <a:lnTo>
                  <a:pt x="580" y="2492"/>
                </a:lnTo>
                <a:lnTo>
                  <a:pt x="597" y="2519"/>
                </a:lnTo>
                <a:lnTo>
                  <a:pt x="616" y="2552"/>
                </a:lnTo>
                <a:lnTo>
                  <a:pt x="638" y="2586"/>
                </a:lnTo>
                <a:lnTo>
                  <a:pt x="663" y="2626"/>
                </a:lnTo>
                <a:lnTo>
                  <a:pt x="689" y="2666"/>
                </a:lnTo>
                <a:lnTo>
                  <a:pt x="717" y="2708"/>
                </a:lnTo>
                <a:lnTo>
                  <a:pt x="747" y="2752"/>
                </a:lnTo>
                <a:lnTo>
                  <a:pt x="775" y="2794"/>
                </a:lnTo>
                <a:lnTo>
                  <a:pt x="803" y="2838"/>
                </a:lnTo>
                <a:lnTo>
                  <a:pt x="830" y="2878"/>
                </a:lnTo>
                <a:lnTo>
                  <a:pt x="855" y="2916"/>
                </a:lnTo>
                <a:lnTo>
                  <a:pt x="878" y="2952"/>
                </a:lnTo>
                <a:lnTo>
                  <a:pt x="897" y="2983"/>
                </a:lnTo>
                <a:lnTo>
                  <a:pt x="914" y="3011"/>
                </a:lnTo>
                <a:lnTo>
                  <a:pt x="926" y="3032"/>
                </a:lnTo>
                <a:lnTo>
                  <a:pt x="937" y="3034"/>
                </a:lnTo>
                <a:lnTo>
                  <a:pt x="946" y="3035"/>
                </a:lnTo>
                <a:lnTo>
                  <a:pt x="957" y="3037"/>
                </a:lnTo>
                <a:lnTo>
                  <a:pt x="966" y="3039"/>
                </a:lnTo>
                <a:lnTo>
                  <a:pt x="977" y="3039"/>
                </a:lnTo>
                <a:lnTo>
                  <a:pt x="987" y="3042"/>
                </a:lnTo>
                <a:lnTo>
                  <a:pt x="997" y="3043"/>
                </a:lnTo>
                <a:lnTo>
                  <a:pt x="1007" y="3045"/>
                </a:lnTo>
                <a:lnTo>
                  <a:pt x="1009" y="3055"/>
                </a:lnTo>
                <a:lnTo>
                  <a:pt x="1012" y="3064"/>
                </a:lnTo>
                <a:lnTo>
                  <a:pt x="1014" y="3073"/>
                </a:lnTo>
                <a:lnTo>
                  <a:pt x="1016" y="3083"/>
                </a:lnTo>
                <a:lnTo>
                  <a:pt x="1025" y="3083"/>
                </a:lnTo>
                <a:lnTo>
                  <a:pt x="1033" y="3085"/>
                </a:lnTo>
                <a:lnTo>
                  <a:pt x="1043" y="3086"/>
                </a:lnTo>
                <a:lnTo>
                  <a:pt x="1052" y="3087"/>
                </a:lnTo>
                <a:lnTo>
                  <a:pt x="1060" y="3090"/>
                </a:lnTo>
                <a:lnTo>
                  <a:pt x="1069" y="3091"/>
                </a:lnTo>
                <a:lnTo>
                  <a:pt x="1079" y="3092"/>
                </a:lnTo>
                <a:lnTo>
                  <a:pt x="1088" y="3093"/>
                </a:lnTo>
                <a:lnTo>
                  <a:pt x="1104" y="3103"/>
                </a:lnTo>
                <a:lnTo>
                  <a:pt x="1121" y="3113"/>
                </a:lnTo>
                <a:lnTo>
                  <a:pt x="1137" y="3121"/>
                </a:lnTo>
                <a:lnTo>
                  <a:pt x="1152" y="3130"/>
                </a:lnTo>
                <a:lnTo>
                  <a:pt x="1168" y="3139"/>
                </a:lnTo>
                <a:lnTo>
                  <a:pt x="1185" y="3147"/>
                </a:lnTo>
                <a:lnTo>
                  <a:pt x="1202" y="3156"/>
                </a:lnTo>
                <a:lnTo>
                  <a:pt x="1217" y="3165"/>
                </a:lnTo>
                <a:lnTo>
                  <a:pt x="1229" y="3166"/>
                </a:lnTo>
                <a:lnTo>
                  <a:pt x="1240" y="3167"/>
                </a:lnTo>
                <a:lnTo>
                  <a:pt x="1251" y="3169"/>
                </a:lnTo>
                <a:lnTo>
                  <a:pt x="1262" y="3170"/>
                </a:lnTo>
                <a:lnTo>
                  <a:pt x="1274" y="3170"/>
                </a:lnTo>
                <a:lnTo>
                  <a:pt x="1285" y="3171"/>
                </a:lnTo>
                <a:lnTo>
                  <a:pt x="1297" y="3172"/>
                </a:lnTo>
                <a:lnTo>
                  <a:pt x="1308" y="3172"/>
                </a:lnTo>
                <a:lnTo>
                  <a:pt x="1317" y="3183"/>
                </a:lnTo>
                <a:lnTo>
                  <a:pt x="1326" y="3195"/>
                </a:lnTo>
                <a:lnTo>
                  <a:pt x="1335" y="3206"/>
                </a:lnTo>
                <a:lnTo>
                  <a:pt x="1343" y="3215"/>
                </a:lnTo>
                <a:lnTo>
                  <a:pt x="1363" y="3217"/>
                </a:lnTo>
                <a:lnTo>
                  <a:pt x="1383" y="3219"/>
                </a:lnTo>
                <a:lnTo>
                  <a:pt x="1403" y="3221"/>
                </a:lnTo>
                <a:lnTo>
                  <a:pt x="1422" y="3221"/>
                </a:lnTo>
                <a:lnTo>
                  <a:pt x="1443" y="3223"/>
                </a:lnTo>
                <a:lnTo>
                  <a:pt x="1462" y="3223"/>
                </a:lnTo>
                <a:lnTo>
                  <a:pt x="1482" y="3224"/>
                </a:lnTo>
                <a:lnTo>
                  <a:pt x="1502" y="3225"/>
                </a:lnTo>
                <a:lnTo>
                  <a:pt x="1525" y="3238"/>
                </a:lnTo>
                <a:lnTo>
                  <a:pt x="1547" y="3251"/>
                </a:lnTo>
                <a:lnTo>
                  <a:pt x="1571" y="3264"/>
                </a:lnTo>
                <a:lnTo>
                  <a:pt x="1595" y="3278"/>
                </a:lnTo>
                <a:lnTo>
                  <a:pt x="1619" y="3293"/>
                </a:lnTo>
                <a:lnTo>
                  <a:pt x="1643" y="3306"/>
                </a:lnTo>
                <a:lnTo>
                  <a:pt x="1667" y="3319"/>
                </a:lnTo>
                <a:lnTo>
                  <a:pt x="1692" y="3332"/>
                </a:lnTo>
                <a:lnTo>
                  <a:pt x="1701" y="3332"/>
                </a:lnTo>
                <a:lnTo>
                  <a:pt x="1711" y="3332"/>
                </a:lnTo>
                <a:lnTo>
                  <a:pt x="1721" y="3332"/>
                </a:lnTo>
                <a:lnTo>
                  <a:pt x="1732" y="3332"/>
                </a:lnTo>
                <a:lnTo>
                  <a:pt x="1742" y="3332"/>
                </a:lnTo>
                <a:lnTo>
                  <a:pt x="1751" y="3332"/>
                </a:lnTo>
                <a:lnTo>
                  <a:pt x="1762" y="3332"/>
                </a:lnTo>
                <a:lnTo>
                  <a:pt x="1772" y="3332"/>
                </a:lnTo>
                <a:lnTo>
                  <a:pt x="1780" y="3340"/>
                </a:lnTo>
                <a:lnTo>
                  <a:pt x="1790" y="3346"/>
                </a:lnTo>
                <a:lnTo>
                  <a:pt x="1799" y="3352"/>
                </a:lnTo>
                <a:lnTo>
                  <a:pt x="1809" y="3358"/>
                </a:lnTo>
                <a:lnTo>
                  <a:pt x="1817" y="3364"/>
                </a:lnTo>
                <a:lnTo>
                  <a:pt x="1826" y="3368"/>
                </a:lnTo>
                <a:lnTo>
                  <a:pt x="1835" y="3373"/>
                </a:lnTo>
                <a:lnTo>
                  <a:pt x="1843" y="3378"/>
                </a:lnTo>
                <a:lnTo>
                  <a:pt x="1871" y="3385"/>
                </a:lnTo>
                <a:lnTo>
                  <a:pt x="1889" y="3388"/>
                </a:lnTo>
                <a:lnTo>
                  <a:pt x="1901" y="3384"/>
                </a:lnTo>
                <a:lnTo>
                  <a:pt x="1905" y="3377"/>
                </a:lnTo>
                <a:lnTo>
                  <a:pt x="1905" y="3368"/>
                </a:lnTo>
                <a:lnTo>
                  <a:pt x="1899" y="3355"/>
                </a:lnTo>
                <a:lnTo>
                  <a:pt x="1891" y="3341"/>
                </a:lnTo>
                <a:lnTo>
                  <a:pt x="1883" y="3327"/>
                </a:lnTo>
                <a:lnTo>
                  <a:pt x="1876" y="3312"/>
                </a:lnTo>
                <a:lnTo>
                  <a:pt x="1868" y="3298"/>
                </a:lnTo>
                <a:lnTo>
                  <a:pt x="1864" y="3286"/>
                </a:lnTo>
                <a:lnTo>
                  <a:pt x="1863" y="3275"/>
                </a:lnTo>
                <a:lnTo>
                  <a:pt x="1867" y="3268"/>
                </a:lnTo>
                <a:lnTo>
                  <a:pt x="1877" y="3264"/>
                </a:lnTo>
                <a:lnTo>
                  <a:pt x="1896" y="3266"/>
                </a:lnTo>
                <a:lnTo>
                  <a:pt x="1922" y="3273"/>
                </a:lnTo>
                <a:lnTo>
                  <a:pt x="1935" y="3251"/>
                </a:lnTo>
                <a:lnTo>
                  <a:pt x="1947" y="3231"/>
                </a:lnTo>
                <a:lnTo>
                  <a:pt x="1957" y="3213"/>
                </a:lnTo>
                <a:lnTo>
                  <a:pt x="1965" y="3194"/>
                </a:lnTo>
                <a:lnTo>
                  <a:pt x="1975" y="3176"/>
                </a:lnTo>
                <a:lnTo>
                  <a:pt x="1984" y="3154"/>
                </a:lnTo>
                <a:lnTo>
                  <a:pt x="1995" y="3134"/>
                </a:lnTo>
                <a:lnTo>
                  <a:pt x="2007" y="3111"/>
                </a:lnTo>
                <a:lnTo>
                  <a:pt x="2008" y="3098"/>
                </a:lnTo>
                <a:lnTo>
                  <a:pt x="2013" y="3083"/>
                </a:lnTo>
                <a:lnTo>
                  <a:pt x="2019" y="3067"/>
                </a:lnTo>
                <a:lnTo>
                  <a:pt x="2026" y="3049"/>
                </a:lnTo>
                <a:lnTo>
                  <a:pt x="2035" y="3030"/>
                </a:lnTo>
                <a:lnTo>
                  <a:pt x="2041" y="3013"/>
                </a:lnTo>
                <a:lnTo>
                  <a:pt x="2045" y="2998"/>
                </a:lnTo>
                <a:lnTo>
                  <a:pt x="2046" y="2985"/>
                </a:lnTo>
                <a:lnTo>
                  <a:pt x="2059" y="2966"/>
                </a:lnTo>
                <a:lnTo>
                  <a:pt x="2071" y="2946"/>
                </a:lnTo>
                <a:lnTo>
                  <a:pt x="2085" y="2927"/>
                </a:lnTo>
                <a:lnTo>
                  <a:pt x="2096" y="2908"/>
                </a:lnTo>
                <a:lnTo>
                  <a:pt x="2107" y="2890"/>
                </a:lnTo>
                <a:lnTo>
                  <a:pt x="2118" y="2872"/>
                </a:lnTo>
                <a:lnTo>
                  <a:pt x="2130" y="2854"/>
                </a:lnTo>
                <a:lnTo>
                  <a:pt x="2142" y="2835"/>
                </a:lnTo>
                <a:lnTo>
                  <a:pt x="2148" y="2782"/>
                </a:lnTo>
                <a:lnTo>
                  <a:pt x="2159" y="2741"/>
                </a:lnTo>
                <a:lnTo>
                  <a:pt x="2171" y="2700"/>
                </a:lnTo>
                <a:lnTo>
                  <a:pt x="2174" y="2648"/>
                </a:lnTo>
                <a:lnTo>
                  <a:pt x="2187" y="2640"/>
                </a:lnTo>
                <a:lnTo>
                  <a:pt x="2201" y="2628"/>
                </a:lnTo>
                <a:lnTo>
                  <a:pt x="2217" y="2616"/>
                </a:lnTo>
                <a:lnTo>
                  <a:pt x="2232" y="2603"/>
                </a:lnTo>
                <a:lnTo>
                  <a:pt x="2247" y="2589"/>
                </a:lnTo>
                <a:lnTo>
                  <a:pt x="2263" y="2576"/>
                </a:lnTo>
                <a:lnTo>
                  <a:pt x="2276" y="2565"/>
                </a:lnTo>
                <a:lnTo>
                  <a:pt x="2289" y="2556"/>
                </a:lnTo>
                <a:lnTo>
                  <a:pt x="2298" y="2505"/>
                </a:lnTo>
                <a:lnTo>
                  <a:pt x="2304" y="2464"/>
                </a:lnTo>
                <a:lnTo>
                  <a:pt x="2309" y="2424"/>
                </a:lnTo>
                <a:lnTo>
                  <a:pt x="2320" y="2370"/>
                </a:lnTo>
                <a:lnTo>
                  <a:pt x="2330" y="2360"/>
                </a:lnTo>
                <a:lnTo>
                  <a:pt x="2347" y="2349"/>
                </a:lnTo>
                <a:lnTo>
                  <a:pt x="2366" y="2336"/>
                </a:lnTo>
                <a:lnTo>
                  <a:pt x="2388" y="2322"/>
                </a:lnTo>
                <a:lnTo>
                  <a:pt x="2412" y="2307"/>
                </a:lnTo>
                <a:lnTo>
                  <a:pt x="2431" y="2294"/>
                </a:lnTo>
                <a:lnTo>
                  <a:pt x="2448" y="2284"/>
                </a:lnTo>
                <a:lnTo>
                  <a:pt x="2457" y="2274"/>
                </a:lnTo>
                <a:lnTo>
                  <a:pt x="2455" y="2260"/>
                </a:lnTo>
                <a:lnTo>
                  <a:pt x="2455" y="2246"/>
                </a:lnTo>
                <a:lnTo>
                  <a:pt x="2459" y="2234"/>
                </a:lnTo>
                <a:lnTo>
                  <a:pt x="2462" y="2221"/>
                </a:lnTo>
                <a:lnTo>
                  <a:pt x="2467" y="2208"/>
                </a:lnTo>
                <a:lnTo>
                  <a:pt x="2470" y="2195"/>
                </a:lnTo>
                <a:lnTo>
                  <a:pt x="2472" y="2180"/>
                </a:lnTo>
                <a:lnTo>
                  <a:pt x="2470" y="2167"/>
                </a:lnTo>
                <a:lnTo>
                  <a:pt x="2482" y="2165"/>
                </a:lnTo>
                <a:lnTo>
                  <a:pt x="2493" y="2161"/>
                </a:lnTo>
                <a:lnTo>
                  <a:pt x="2504" y="2158"/>
                </a:lnTo>
                <a:lnTo>
                  <a:pt x="2516" y="2154"/>
                </a:lnTo>
                <a:lnTo>
                  <a:pt x="2528" y="2150"/>
                </a:lnTo>
                <a:lnTo>
                  <a:pt x="2538" y="2147"/>
                </a:lnTo>
                <a:lnTo>
                  <a:pt x="2549" y="2141"/>
                </a:lnTo>
                <a:lnTo>
                  <a:pt x="2560" y="2138"/>
                </a:lnTo>
                <a:lnTo>
                  <a:pt x="2565" y="2118"/>
                </a:lnTo>
                <a:lnTo>
                  <a:pt x="2573" y="2099"/>
                </a:lnTo>
                <a:lnTo>
                  <a:pt x="2580" y="2080"/>
                </a:lnTo>
                <a:lnTo>
                  <a:pt x="2589" y="2059"/>
                </a:lnTo>
                <a:lnTo>
                  <a:pt x="2597" y="2063"/>
                </a:lnTo>
                <a:lnTo>
                  <a:pt x="2603" y="2065"/>
                </a:lnTo>
                <a:lnTo>
                  <a:pt x="2610" y="2068"/>
                </a:lnTo>
                <a:lnTo>
                  <a:pt x="2618" y="2070"/>
                </a:lnTo>
                <a:lnTo>
                  <a:pt x="2625" y="2073"/>
                </a:lnTo>
                <a:lnTo>
                  <a:pt x="2634" y="2075"/>
                </a:lnTo>
                <a:lnTo>
                  <a:pt x="2642" y="2078"/>
                </a:lnTo>
                <a:lnTo>
                  <a:pt x="2650" y="2080"/>
                </a:lnTo>
                <a:lnTo>
                  <a:pt x="2657" y="2063"/>
                </a:lnTo>
                <a:lnTo>
                  <a:pt x="2664" y="2046"/>
                </a:lnTo>
                <a:lnTo>
                  <a:pt x="2668" y="2028"/>
                </a:lnTo>
                <a:lnTo>
                  <a:pt x="2673" y="2012"/>
                </a:lnTo>
                <a:lnTo>
                  <a:pt x="2678" y="2007"/>
                </a:lnTo>
                <a:lnTo>
                  <a:pt x="2683" y="2002"/>
                </a:lnTo>
                <a:lnTo>
                  <a:pt x="2689" y="1998"/>
                </a:lnTo>
                <a:lnTo>
                  <a:pt x="2694" y="1991"/>
                </a:lnTo>
                <a:lnTo>
                  <a:pt x="2700" y="1987"/>
                </a:lnTo>
                <a:lnTo>
                  <a:pt x="2705" y="1982"/>
                </a:lnTo>
                <a:lnTo>
                  <a:pt x="2712" y="1976"/>
                </a:lnTo>
                <a:lnTo>
                  <a:pt x="2716" y="1971"/>
                </a:lnTo>
                <a:lnTo>
                  <a:pt x="2726" y="1955"/>
                </a:lnTo>
                <a:lnTo>
                  <a:pt x="2736" y="1940"/>
                </a:lnTo>
                <a:lnTo>
                  <a:pt x="2747" y="1924"/>
                </a:lnTo>
                <a:lnTo>
                  <a:pt x="2760" y="1908"/>
                </a:lnTo>
                <a:lnTo>
                  <a:pt x="2771" y="1892"/>
                </a:lnTo>
                <a:lnTo>
                  <a:pt x="2783" y="1877"/>
                </a:lnTo>
                <a:lnTo>
                  <a:pt x="2798" y="1860"/>
                </a:lnTo>
                <a:lnTo>
                  <a:pt x="2811" y="1844"/>
                </a:lnTo>
                <a:lnTo>
                  <a:pt x="2834" y="1825"/>
                </a:lnTo>
                <a:lnTo>
                  <a:pt x="2859" y="1804"/>
                </a:lnTo>
                <a:lnTo>
                  <a:pt x="2882" y="1783"/>
                </a:lnTo>
                <a:lnTo>
                  <a:pt x="2906" y="1764"/>
                </a:lnTo>
                <a:lnTo>
                  <a:pt x="2929" y="1743"/>
                </a:lnTo>
                <a:lnTo>
                  <a:pt x="2953" y="1722"/>
                </a:lnTo>
                <a:lnTo>
                  <a:pt x="2974" y="1700"/>
                </a:lnTo>
                <a:lnTo>
                  <a:pt x="2998" y="1678"/>
                </a:lnTo>
                <a:lnTo>
                  <a:pt x="3019" y="1656"/>
                </a:lnTo>
                <a:lnTo>
                  <a:pt x="3043" y="1635"/>
                </a:lnTo>
                <a:lnTo>
                  <a:pt x="3067" y="1612"/>
                </a:lnTo>
                <a:lnTo>
                  <a:pt x="3089" y="1589"/>
                </a:lnTo>
                <a:lnTo>
                  <a:pt x="3112" y="1565"/>
                </a:lnTo>
                <a:lnTo>
                  <a:pt x="3135" y="1542"/>
                </a:lnTo>
                <a:lnTo>
                  <a:pt x="3160" y="1520"/>
                </a:lnTo>
                <a:lnTo>
                  <a:pt x="3183" y="1496"/>
                </a:lnTo>
                <a:lnTo>
                  <a:pt x="3208" y="1471"/>
                </a:lnTo>
                <a:lnTo>
                  <a:pt x="3233" y="1448"/>
                </a:lnTo>
                <a:lnTo>
                  <a:pt x="3259" y="1424"/>
                </a:lnTo>
                <a:lnTo>
                  <a:pt x="3284" y="1400"/>
                </a:lnTo>
                <a:lnTo>
                  <a:pt x="3311" y="1375"/>
                </a:lnTo>
                <a:lnTo>
                  <a:pt x="3339" y="1350"/>
                </a:lnTo>
                <a:lnTo>
                  <a:pt x="3368" y="1326"/>
                </a:lnTo>
                <a:lnTo>
                  <a:pt x="3397" y="1302"/>
                </a:lnTo>
                <a:lnTo>
                  <a:pt x="3428" y="1277"/>
                </a:lnTo>
                <a:lnTo>
                  <a:pt x="3458" y="1252"/>
                </a:lnTo>
                <a:lnTo>
                  <a:pt x="3489" y="1227"/>
                </a:lnTo>
                <a:lnTo>
                  <a:pt x="3523" y="1201"/>
                </a:lnTo>
                <a:lnTo>
                  <a:pt x="3556" y="1178"/>
                </a:lnTo>
                <a:lnTo>
                  <a:pt x="3591" y="1152"/>
                </a:lnTo>
                <a:lnTo>
                  <a:pt x="3628" y="1127"/>
                </a:lnTo>
                <a:lnTo>
                  <a:pt x="3666" y="1102"/>
                </a:lnTo>
                <a:lnTo>
                  <a:pt x="3682" y="1091"/>
                </a:lnTo>
                <a:lnTo>
                  <a:pt x="3700" y="1080"/>
                </a:lnTo>
                <a:lnTo>
                  <a:pt x="3717" y="1070"/>
                </a:lnTo>
                <a:lnTo>
                  <a:pt x="3733" y="1059"/>
                </a:lnTo>
                <a:lnTo>
                  <a:pt x="3751" y="1050"/>
                </a:lnTo>
                <a:lnTo>
                  <a:pt x="3768" y="1039"/>
                </a:lnTo>
                <a:lnTo>
                  <a:pt x="3785" y="1029"/>
                </a:lnTo>
                <a:lnTo>
                  <a:pt x="3805" y="1020"/>
                </a:lnTo>
                <a:lnTo>
                  <a:pt x="3814" y="1013"/>
                </a:lnTo>
                <a:lnTo>
                  <a:pt x="3825" y="1009"/>
                </a:lnTo>
                <a:lnTo>
                  <a:pt x="3836" y="1004"/>
                </a:lnTo>
                <a:lnTo>
                  <a:pt x="3846" y="1000"/>
                </a:lnTo>
                <a:lnTo>
                  <a:pt x="3856" y="994"/>
                </a:lnTo>
                <a:lnTo>
                  <a:pt x="3866" y="990"/>
                </a:lnTo>
                <a:lnTo>
                  <a:pt x="3876" y="983"/>
                </a:lnTo>
                <a:lnTo>
                  <a:pt x="3888" y="978"/>
                </a:lnTo>
                <a:lnTo>
                  <a:pt x="3906" y="967"/>
                </a:lnTo>
                <a:lnTo>
                  <a:pt x="3925" y="956"/>
                </a:lnTo>
                <a:lnTo>
                  <a:pt x="3943" y="946"/>
                </a:lnTo>
                <a:lnTo>
                  <a:pt x="3961" y="933"/>
                </a:lnTo>
                <a:lnTo>
                  <a:pt x="3980" y="923"/>
                </a:lnTo>
                <a:lnTo>
                  <a:pt x="3998" y="910"/>
                </a:lnTo>
                <a:lnTo>
                  <a:pt x="4017" y="899"/>
                </a:lnTo>
                <a:lnTo>
                  <a:pt x="4035" y="887"/>
                </a:lnTo>
                <a:lnTo>
                  <a:pt x="4047" y="879"/>
                </a:lnTo>
                <a:lnTo>
                  <a:pt x="4060" y="869"/>
                </a:lnTo>
                <a:lnTo>
                  <a:pt x="4071" y="860"/>
                </a:lnTo>
                <a:lnTo>
                  <a:pt x="4085" y="851"/>
                </a:lnTo>
                <a:lnTo>
                  <a:pt x="4097" y="842"/>
                </a:lnTo>
                <a:lnTo>
                  <a:pt x="4111" y="833"/>
                </a:lnTo>
                <a:lnTo>
                  <a:pt x="4123" y="825"/>
                </a:lnTo>
                <a:lnTo>
                  <a:pt x="4136" y="815"/>
                </a:lnTo>
                <a:lnTo>
                  <a:pt x="4141" y="803"/>
                </a:lnTo>
                <a:lnTo>
                  <a:pt x="4146" y="792"/>
                </a:lnTo>
                <a:lnTo>
                  <a:pt x="4152" y="781"/>
                </a:lnTo>
                <a:lnTo>
                  <a:pt x="4156" y="772"/>
                </a:lnTo>
                <a:lnTo>
                  <a:pt x="4165" y="764"/>
                </a:lnTo>
                <a:lnTo>
                  <a:pt x="4172" y="759"/>
                </a:lnTo>
                <a:lnTo>
                  <a:pt x="4180" y="751"/>
                </a:lnTo>
                <a:lnTo>
                  <a:pt x="4189" y="745"/>
                </a:lnTo>
                <a:lnTo>
                  <a:pt x="4198" y="738"/>
                </a:lnTo>
                <a:lnTo>
                  <a:pt x="4207" y="732"/>
                </a:lnTo>
                <a:lnTo>
                  <a:pt x="4215" y="725"/>
                </a:lnTo>
                <a:lnTo>
                  <a:pt x="4224" y="719"/>
                </a:lnTo>
                <a:lnTo>
                  <a:pt x="4227" y="725"/>
                </a:lnTo>
                <a:lnTo>
                  <a:pt x="4230" y="731"/>
                </a:lnTo>
                <a:lnTo>
                  <a:pt x="4233" y="737"/>
                </a:lnTo>
                <a:lnTo>
                  <a:pt x="4235" y="743"/>
                </a:lnTo>
                <a:lnTo>
                  <a:pt x="4249" y="734"/>
                </a:lnTo>
                <a:lnTo>
                  <a:pt x="4261" y="728"/>
                </a:lnTo>
                <a:lnTo>
                  <a:pt x="4275" y="719"/>
                </a:lnTo>
                <a:lnTo>
                  <a:pt x="4289" y="711"/>
                </a:lnTo>
                <a:lnTo>
                  <a:pt x="4302" y="704"/>
                </a:lnTo>
                <a:lnTo>
                  <a:pt x="4316" y="695"/>
                </a:lnTo>
                <a:lnTo>
                  <a:pt x="4330" y="688"/>
                </a:lnTo>
                <a:lnTo>
                  <a:pt x="4341" y="681"/>
                </a:lnTo>
                <a:lnTo>
                  <a:pt x="4351" y="666"/>
                </a:lnTo>
                <a:lnTo>
                  <a:pt x="4360" y="649"/>
                </a:lnTo>
                <a:lnTo>
                  <a:pt x="4369" y="633"/>
                </a:lnTo>
                <a:lnTo>
                  <a:pt x="4378" y="619"/>
                </a:lnTo>
                <a:lnTo>
                  <a:pt x="4389" y="609"/>
                </a:lnTo>
                <a:lnTo>
                  <a:pt x="4401" y="600"/>
                </a:lnTo>
                <a:lnTo>
                  <a:pt x="4413" y="592"/>
                </a:lnTo>
                <a:lnTo>
                  <a:pt x="4426" y="584"/>
                </a:lnTo>
                <a:lnTo>
                  <a:pt x="4437" y="576"/>
                </a:lnTo>
                <a:lnTo>
                  <a:pt x="4449" y="567"/>
                </a:lnTo>
                <a:lnTo>
                  <a:pt x="4459" y="556"/>
                </a:lnTo>
                <a:lnTo>
                  <a:pt x="4470" y="548"/>
                </a:lnTo>
                <a:lnTo>
                  <a:pt x="4475" y="534"/>
                </a:lnTo>
                <a:lnTo>
                  <a:pt x="4479" y="519"/>
                </a:lnTo>
                <a:lnTo>
                  <a:pt x="4483" y="505"/>
                </a:lnTo>
                <a:lnTo>
                  <a:pt x="4490" y="489"/>
                </a:lnTo>
                <a:lnTo>
                  <a:pt x="4500" y="481"/>
                </a:lnTo>
                <a:lnTo>
                  <a:pt x="4514" y="473"/>
                </a:lnTo>
                <a:lnTo>
                  <a:pt x="4525" y="466"/>
                </a:lnTo>
                <a:lnTo>
                  <a:pt x="4537" y="457"/>
                </a:lnTo>
                <a:lnTo>
                  <a:pt x="4548" y="448"/>
                </a:lnTo>
                <a:lnTo>
                  <a:pt x="4561" y="439"/>
                </a:lnTo>
                <a:lnTo>
                  <a:pt x="4571" y="432"/>
                </a:lnTo>
                <a:lnTo>
                  <a:pt x="4581" y="424"/>
                </a:lnTo>
                <a:lnTo>
                  <a:pt x="4595" y="420"/>
                </a:lnTo>
                <a:lnTo>
                  <a:pt x="4609" y="416"/>
                </a:lnTo>
                <a:lnTo>
                  <a:pt x="4622" y="412"/>
                </a:lnTo>
                <a:lnTo>
                  <a:pt x="4634" y="408"/>
                </a:lnTo>
                <a:lnTo>
                  <a:pt x="4648" y="403"/>
                </a:lnTo>
                <a:lnTo>
                  <a:pt x="4660" y="400"/>
                </a:lnTo>
                <a:lnTo>
                  <a:pt x="4672" y="395"/>
                </a:lnTo>
                <a:lnTo>
                  <a:pt x="4685" y="392"/>
                </a:lnTo>
                <a:lnTo>
                  <a:pt x="4692" y="384"/>
                </a:lnTo>
                <a:lnTo>
                  <a:pt x="4698" y="375"/>
                </a:lnTo>
                <a:lnTo>
                  <a:pt x="4704" y="368"/>
                </a:lnTo>
                <a:lnTo>
                  <a:pt x="4710" y="359"/>
                </a:lnTo>
                <a:lnTo>
                  <a:pt x="4716" y="351"/>
                </a:lnTo>
                <a:lnTo>
                  <a:pt x="4722" y="342"/>
                </a:lnTo>
                <a:lnTo>
                  <a:pt x="4728" y="333"/>
                </a:lnTo>
                <a:lnTo>
                  <a:pt x="4735" y="324"/>
                </a:lnTo>
                <a:lnTo>
                  <a:pt x="4745" y="318"/>
                </a:lnTo>
                <a:lnTo>
                  <a:pt x="4755" y="311"/>
                </a:lnTo>
                <a:lnTo>
                  <a:pt x="4764" y="305"/>
                </a:lnTo>
                <a:lnTo>
                  <a:pt x="4773" y="298"/>
                </a:lnTo>
                <a:lnTo>
                  <a:pt x="4784" y="291"/>
                </a:lnTo>
                <a:lnTo>
                  <a:pt x="4793" y="284"/>
                </a:lnTo>
                <a:lnTo>
                  <a:pt x="4802" y="277"/>
                </a:lnTo>
                <a:lnTo>
                  <a:pt x="4810" y="269"/>
                </a:lnTo>
                <a:lnTo>
                  <a:pt x="4816" y="274"/>
                </a:lnTo>
                <a:lnTo>
                  <a:pt x="4824" y="279"/>
                </a:lnTo>
                <a:lnTo>
                  <a:pt x="4831" y="285"/>
                </a:lnTo>
                <a:lnTo>
                  <a:pt x="4835" y="290"/>
                </a:lnTo>
                <a:lnTo>
                  <a:pt x="4845" y="282"/>
                </a:lnTo>
                <a:lnTo>
                  <a:pt x="4856" y="274"/>
                </a:lnTo>
                <a:lnTo>
                  <a:pt x="4865" y="266"/>
                </a:lnTo>
                <a:lnTo>
                  <a:pt x="4876" y="258"/>
                </a:lnTo>
                <a:lnTo>
                  <a:pt x="4885" y="248"/>
                </a:lnTo>
                <a:lnTo>
                  <a:pt x="4895" y="239"/>
                </a:lnTo>
                <a:lnTo>
                  <a:pt x="4906" y="231"/>
                </a:lnTo>
                <a:lnTo>
                  <a:pt x="4916" y="222"/>
                </a:lnTo>
                <a:lnTo>
                  <a:pt x="4904" y="228"/>
                </a:lnTo>
                <a:lnTo>
                  <a:pt x="4893" y="234"/>
                </a:lnTo>
                <a:lnTo>
                  <a:pt x="4881" y="241"/>
                </a:lnTo>
                <a:lnTo>
                  <a:pt x="4867" y="245"/>
                </a:lnTo>
                <a:lnTo>
                  <a:pt x="4856" y="251"/>
                </a:lnTo>
                <a:lnTo>
                  <a:pt x="4845" y="256"/>
                </a:lnTo>
                <a:lnTo>
                  <a:pt x="4833" y="261"/>
                </a:lnTo>
                <a:lnTo>
                  <a:pt x="4821" y="266"/>
                </a:lnTo>
                <a:lnTo>
                  <a:pt x="4832" y="241"/>
                </a:lnTo>
                <a:lnTo>
                  <a:pt x="4841" y="218"/>
                </a:lnTo>
                <a:lnTo>
                  <a:pt x="4847" y="194"/>
                </a:lnTo>
                <a:lnTo>
                  <a:pt x="4852" y="171"/>
                </a:lnTo>
                <a:lnTo>
                  <a:pt x="4844" y="178"/>
                </a:lnTo>
                <a:lnTo>
                  <a:pt x="4835" y="187"/>
                </a:lnTo>
                <a:lnTo>
                  <a:pt x="4826" y="195"/>
                </a:lnTo>
                <a:lnTo>
                  <a:pt x="4815" y="203"/>
                </a:lnTo>
                <a:lnTo>
                  <a:pt x="4806" y="211"/>
                </a:lnTo>
                <a:lnTo>
                  <a:pt x="4796" y="219"/>
                </a:lnTo>
                <a:lnTo>
                  <a:pt x="4785" y="228"/>
                </a:lnTo>
                <a:lnTo>
                  <a:pt x="4775" y="237"/>
                </a:lnTo>
                <a:lnTo>
                  <a:pt x="4768" y="247"/>
                </a:lnTo>
                <a:lnTo>
                  <a:pt x="4759" y="256"/>
                </a:lnTo>
                <a:lnTo>
                  <a:pt x="4752" y="266"/>
                </a:lnTo>
                <a:lnTo>
                  <a:pt x="4745" y="277"/>
                </a:lnTo>
                <a:lnTo>
                  <a:pt x="4738" y="288"/>
                </a:lnTo>
                <a:lnTo>
                  <a:pt x="4729" y="298"/>
                </a:lnTo>
                <a:lnTo>
                  <a:pt x="4722" y="309"/>
                </a:lnTo>
                <a:lnTo>
                  <a:pt x="4715" y="320"/>
                </a:lnTo>
                <a:lnTo>
                  <a:pt x="4708" y="324"/>
                </a:lnTo>
                <a:lnTo>
                  <a:pt x="4701" y="329"/>
                </a:lnTo>
                <a:lnTo>
                  <a:pt x="4694" y="335"/>
                </a:lnTo>
                <a:lnTo>
                  <a:pt x="4687" y="341"/>
                </a:lnTo>
                <a:lnTo>
                  <a:pt x="4679" y="346"/>
                </a:lnTo>
                <a:lnTo>
                  <a:pt x="4673" y="351"/>
                </a:lnTo>
                <a:lnTo>
                  <a:pt x="4667" y="355"/>
                </a:lnTo>
                <a:lnTo>
                  <a:pt x="4660" y="360"/>
                </a:lnTo>
                <a:lnTo>
                  <a:pt x="4655" y="359"/>
                </a:lnTo>
                <a:lnTo>
                  <a:pt x="4650" y="358"/>
                </a:lnTo>
                <a:lnTo>
                  <a:pt x="4646" y="355"/>
                </a:lnTo>
                <a:lnTo>
                  <a:pt x="4641" y="354"/>
                </a:lnTo>
                <a:lnTo>
                  <a:pt x="4636" y="353"/>
                </a:lnTo>
                <a:lnTo>
                  <a:pt x="4632" y="351"/>
                </a:lnTo>
                <a:lnTo>
                  <a:pt x="4626" y="349"/>
                </a:lnTo>
                <a:lnTo>
                  <a:pt x="4622" y="349"/>
                </a:lnTo>
                <a:lnTo>
                  <a:pt x="4600" y="366"/>
                </a:lnTo>
                <a:lnTo>
                  <a:pt x="4579" y="384"/>
                </a:lnTo>
                <a:lnTo>
                  <a:pt x="4558" y="402"/>
                </a:lnTo>
                <a:lnTo>
                  <a:pt x="4536" y="420"/>
                </a:lnTo>
                <a:lnTo>
                  <a:pt x="4514" y="438"/>
                </a:lnTo>
                <a:lnTo>
                  <a:pt x="4490" y="457"/>
                </a:lnTo>
                <a:lnTo>
                  <a:pt x="4469" y="476"/>
                </a:lnTo>
                <a:lnTo>
                  <a:pt x="4445" y="494"/>
                </a:lnTo>
                <a:lnTo>
                  <a:pt x="4435" y="499"/>
                </a:lnTo>
                <a:lnTo>
                  <a:pt x="4426" y="505"/>
                </a:lnTo>
                <a:lnTo>
                  <a:pt x="4415" y="509"/>
                </a:lnTo>
                <a:lnTo>
                  <a:pt x="4406" y="515"/>
                </a:lnTo>
                <a:lnTo>
                  <a:pt x="4396" y="519"/>
                </a:lnTo>
                <a:lnTo>
                  <a:pt x="4388" y="524"/>
                </a:lnTo>
                <a:lnTo>
                  <a:pt x="4378" y="530"/>
                </a:lnTo>
                <a:lnTo>
                  <a:pt x="4369" y="535"/>
                </a:lnTo>
                <a:lnTo>
                  <a:pt x="4363" y="533"/>
                </a:lnTo>
                <a:lnTo>
                  <a:pt x="4357" y="530"/>
                </a:lnTo>
                <a:lnTo>
                  <a:pt x="4351" y="528"/>
                </a:lnTo>
                <a:lnTo>
                  <a:pt x="4347" y="524"/>
                </a:lnTo>
                <a:lnTo>
                  <a:pt x="4340" y="522"/>
                </a:lnTo>
                <a:lnTo>
                  <a:pt x="4336" y="519"/>
                </a:lnTo>
                <a:lnTo>
                  <a:pt x="4330" y="517"/>
                </a:lnTo>
                <a:lnTo>
                  <a:pt x="4324" y="515"/>
                </a:lnTo>
                <a:lnTo>
                  <a:pt x="4299" y="533"/>
                </a:lnTo>
                <a:lnTo>
                  <a:pt x="4274" y="549"/>
                </a:lnTo>
                <a:lnTo>
                  <a:pt x="4249" y="568"/>
                </a:lnTo>
                <a:lnTo>
                  <a:pt x="4224" y="585"/>
                </a:lnTo>
                <a:lnTo>
                  <a:pt x="4201" y="602"/>
                </a:lnTo>
                <a:lnTo>
                  <a:pt x="4174" y="620"/>
                </a:lnTo>
                <a:lnTo>
                  <a:pt x="4150" y="637"/>
                </a:lnTo>
                <a:lnTo>
                  <a:pt x="4125" y="654"/>
                </a:lnTo>
                <a:lnTo>
                  <a:pt x="4099" y="671"/>
                </a:lnTo>
                <a:lnTo>
                  <a:pt x="4075" y="691"/>
                </a:lnTo>
                <a:lnTo>
                  <a:pt x="4050" y="707"/>
                </a:lnTo>
                <a:lnTo>
                  <a:pt x="4025" y="725"/>
                </a:lnTo>
                <a:lnTo>
                  <a:pt x="4000" y="742"/>
                </a:lnTo>
                <a:lnTo>
                  <a:pt x="3975" y="760"/>
                </a:lnTo>
                <a:lnTo>
                  <a:pt x="3950" y="778"/>
                </a:lnTo>
                <a:lnTo>
                  <a:pt x="3925" y="797"/>
                </a:lnTo>
                <a:lnTo>
                  <a:pt x="3918" y="788"/>
                </a:lnTo>
                <a:lnTo>
                  <a:pt x="3912" y="781"/>
                </a:lnTo>
                <a:lnTo>
                  <a:pt x="3906" y="771"/>
                </a:lnTo>
                <a:lnTo>
                  <a:pt x="3902" y="761"/>
                </a:lnTo>
                <a:lnTo>
                  <a:pt x="3912" y="754"/>
                </a:lnTo>
                <a:lnTo>
                  <a:pt x="3920" y="747"/>
                </a:lnTo>
                <a:lnTo>
                  <a:pt x="3931" y="738"/>
                </a:lnTo>
                <a:lnTo>
                  <a:pt x="3939" y="730"/>
                </a:lnTo>
                <a:lnTo>
                  <a:pt x="3949" y="721"/>
                </a:lnTo>
                <a:lnTo>
                  <a:pt x="3958" y="713"/>
                </a:lnTo>
                <a:lnTo>
                  <a:pt x="3969" y="704"/>
                </a:lnTo>
                <a:lnTo>
                  <a:pt x="3979" y="696"/>
                </a:lnTo>
                <a:lnTo>
                  <a:pt x="3986" y="694"/>
                </a:lnTo>
                <a:lnTo>
                  <a:pt x="3993" y="691"/>
                </a:lnTo>
                <a:lnTo>
                  <a:pt x="4000" y="691"/>
                </a:lnTo>
                <a:lnTo>
                  <a:pt x="4009" y="688"/>
                </a:lnTo>
                <a:lnTo>
                  <a:pt x="4017" y="685"/>
                </a:lnTo>
                <a:lnTo>
                  <a:pt x="4024" y="683"/>
                </a:lnTo>
                <a:lnTo>
                  <a:pt x="4033" y="680"/>
                </a:lnTo>
                <a:lnTo>
                  <a:pt x="4040" y="677"/>
                </a:lnTo>
                <a:lnTo>
                  <a:pt x="4044" y="670"/>
                </a:lnTo>
                <a:lnTo>
                  <a:pt x="4049" y="663"/>
                </a:lnTo>
                <a:lnTo>
                  <a:pt x="4054" y="657"/>
                </a:lnTo>
                <a:lnTo>
                  <a:pt x="4060" y="650"/>
                </a:lnTo>
                <a:lnTo>
                  <a:pt x="4064" y="643"/>
                </a:lnTo>
                <a:lnTo>
                  <a:pt x="4069" y="636"/>
                </a:lnTo>
                <a:lnTo>
                  <a:pt x="4075" y="628"/>
                </a:lnTo>
                <a:lnTo>
                  <a:pt x="4080" y="621"/>
                </a:lnTo>
                <a:lnTo>
                  <a:pt x="4090" y="617"/>
                </a:lnTo>
                <a:lnTo>
                  <a:pt x="4098" y="611"/>
                </a:lnTo>
                <a:lnTo>
                  <a:pt x="4109" y="606"/>
                </a:lnTo>
                <a:lnTo>
                  <a:pt x="4119" y="600"/>
                </a:lnTo>
                <a:lnTo>
                  <a:pt x="4127" y="595"/>
                </a:lnTo>
                <a:lnTo>
                  <a:pt x="4136" y="590"/>
                </a:lnTo>
                <a:lnTo>
                  <a:pt x="4146" y="584"/>
                </a:lnTo>
                <a:lnTo>
                  <a:pt x="4156" y="579"/>
                </a:lnTo>
                <a:lnTo>
                  <a:pt x="4163" y="565"/>
                </a:lnTo>
                <a:lnTo>
                  <a:pt x="4170" y="552"/>
                </a:lnTo>
                <a:lnTo>
                  <a:pt x="4176" y="539"/>
                </a:lnTo>
                <a:lnTo>
                  <a:pt x="4184" y="524"/>
                </a:lnTo>
                <a:lnTo>
                  <a:pt x="4190" y="517"/>
                </a:lnTo>
                <a:lnTo>
                  <a:pt x="4198" y="511"/>
                </a:lnTo>
                <a:lnTo>
                  <a:pt x="4205" y="505"/>
                </a:lnTo>
                <a:lnTo>
                  <a:pt x="4211" y="499"/>
                </a:lnTo>
                <a:lnTo>
                  <a:pt x="4218" y="493"/>
                </a:lnTo>
                <a:lnTo>
                  <a:pt x="4226" y="487"/>
                </a:lnTo>
                <a:lnTo>
                  <a:pt x="4234" y="481"/>
                </a:lnTo>
                <a:lnTo>
                  <a:pt x="4242" y="475"/>
                </a:lnTo>
                <a:lnTo>
                  <a:pt x="4235" y="473"/>
                </a:lnTo>
                <a:lnTo>
                  <a:pt x="4230" y="470"/>
                </a:lnTo>
                <a:lnTo>
                  <a:pt x="4224" y="468"/>
                </a:lnTo>
                <a:lnTo>
                  <a:pt x="4218" y="464"/>
                </a:lnTo>
                <a:lnTo>
                  <a:pt x="4213" y="462"/>
                </a:lnTo>
                <a:lnTo>
                  <a:pt x="4207" y="458"/>
                </a:lnTo>
                <a:lnTo>
                  <a:pt x="4202" y="455"/>
                </a:lnTo>
                <a:lnTo>
                  <a:pt x="4196" y="450"/>
                </a:lnTo>
                <a:lnTo>
                  <a:pt x="4207" y="442"/>
                </a:lnTo>
                <a:lnTo>
                  <a:pt x="4217" y="433"/>
                </a:lnTo>
                <a:lnTo>
                  <a:pt x="4228" y="425"/>
                </a:lnTo>
                <a:lnTo>
                  <a:pt x="4241" y="416"/>
                </a:lnTo>
                <a:lnTo>
                  <a:pt x="4252" y="408"/>
                </a:lnTo>
                <a:lnTo>
                  <a:pt x="4263" y="400"/>
                </a:lnTo>
                <a:lnTo>
                  <a:pt x="4274" y="392"/>
                </a:lnTo>
                <a:lnTo>
                  <a:pt x="4286" y="383"/>
                </a:lnTo>
                <a:lnTo>
                  <a:pt x="4291" y="377"/>
                </a:lnTo>
                <a:lnTo>
                  <a:pt x="4299" y="372"/>
                </a:lnTo>
                <a:lnTo>
                  <a:pt x="4307" y="366"/>
                </a:lnTo>
                <a:lnTo>
                  <a:pt x="4312" y="359"/>
                </a:lnTo>
                <a:lnTo>
                  <a:pt x="4321" y="349"/>
                </a:lnTo>
                <a:lnTo>
                  <a:pt x="4332" y="337"/>
                </a:lnTo>
                <a:lnTo>
                  <a:pt x="4339" y="326"/>
                </a:lnTo>
                <a:lnTo>
                  <a:pt x="4347" y="315"/>
                </a:lnTo>
                <a:lnTo>
                  <a:pt x="4356" y="304"/>
                </a:lnTo>
                <a:lnTo>
                  <a:pt x="4364" y="293"/>
                </a:lnTo>
                <a:lnTo>
                  <a:pt x="4374" y="282"/>
                </a:lnTo>
                <a:lnTo>
                  <a:pt x="4382" y="271"/>
                </a:lnTo>
                <a:lnTo>
                  <a:pt x="4360" y="281"/>
                </a:lnTo>
                <a:lnTo>
                  <a:pt x="4341" y="290"/>
                </a:lnTo>
                <a:lnTo>
                  <a:pt x="4320" y="299"/>
                </a:lnTo>
                <a:lnTo>
                  <a:pt x="4301" y="308"/>
                </a:lnTo>
                <a:lnTo>
                  <a:pt x="4279" y="318"/>
                </a:lnTo>
                <a:lnTo>
                  <a:pt x="4259" y="327"/>
                </a:lnTo>
                <a:lnTo>
                  <a:pt x="4238" y="338"/>
                </a:lnTo>
                <a:lnTo>
                  <a:pt x="4217" y="349"/>
                </a:lnTo>
                <a:lnTo>
                  <a:pt x="4213" y="346"/>
                </a:lnTo>
                <a:lnTo>
                  <a:pt x="4209" y="343"/>
                </a:lnTo>
                <a:lnTo>
                  <a:pt x="4204" y="342"/>
                </a:lnTo>
                <a:lnTo>
                  <a:pt x="4200" y="339"/>
                </a:lnTo>
                <a:lnTo>
                  <a:pt x="4194" y="338"/>
                </a:lnTo>
                <a:lnTo>
                  <a:pt x="4189" y="335"/>
                </a:lnTo>
                <a:lnTo>
                  <a:pt x="4185" y="335"/>
                </a:lnTo>
                <a:lnTo>
                  <a:pt x="4180" y="334"/>
                </a:lnTo>
                <a:lnTo>
                  <a:pt x="4186" y="328"/>
                </a:lnTo>
                <a:lnTo>
                  <a:pt x="4194" y="322"/>
                </a:lnTo>
                <a:lnTo>
                  <a:pt x="4200" y="316"/>
                </a:lnTo>
                <a:lnTo>
                  <a:pt x="4205" y="309"/>
                </a:lnTo>
                <a:lnTo>
                  <a:pt x="4211" y="303"/>
                </a:lnTo>
                <a:lnTo>
                  <a:pt x="4217" y="297"/>
                </a:lnTo>
                <a:lnTo>
                  <a:pt x="4224" y="291"/>
                </a:lnTo>
                <a:lnTo>
                  <a:pt x="4232" y="285"/>
                </a:lnTo>
                <a:lnTo>
                  <a:pt x="4251" y="271"/>
                </a:lnTo>
                <a:lnTo>
                  <a:pt x="4272" y="253"/>
                </a:lnTo>
                <a:lnTo>
                  <a:pt x="4297" y="234"/>
                </a:lnTo>
                <a:lnTo>
                  <a:pt x="4324" y="214"/>
                </a:lnTo>
                <a:lnTo>
                  <a:pt x="4351" y="195"/>
                </a:lnTo>
                <a:lnTo>
                  <a:pt x="4376" y="177"/>
                </a:lnTo>
                <a:lnTo>
                  <a:pt x="4398" y="162"/>
                </a:lnTo>
                <a:lnTo>
                  <a:pt x="4414" y="147"/>
                </a:lnTo>
                <a:lnTo>
                  <a:pt x="4419" y="124"/>
                </a:lnTo>
                <a:lnTo>
                  <a:pt x="4415" y="112"/>
                </a:lnTo>
                <a:lnTo>
                  <a:pt x="4408" y="112"/>
                </a:lnTo>
                <a:lnTo>
                  <a:pt x="4399" y="119"/>
                </a:lnTo>
                <a:lnTo>
                  <a:pt x="4387" y="127"/>
                </a:lnTo>
                <a:lnTo>
                  <a:pt x="4376" y="135"/>
                </a:lnTo>
                <a:lnTo>
                  <a:pt x="4367" y="140"/>
                </a:lnTo>
                <a:lnTo>
                  <a:pt x="4360" y="139"/>
                </a:lnTo>
                <a:lnTo>
                  <a:pt x="4351" y="146"/>
                </a:lnTo>
                <a:lnTo>
                  <a:pt x="4338" y="152"/>
                </a:lnTo>
                <a:lnTo>
                  <a:pt x="4322" y="160"/>
                </a:lnTo>
                <a:lnTo>
                  <a:pt x="4307" y="165"/>
                </a:lnTo>
                <a:lnTo>
                  <a:pt x="4291" y="173"/>
                </a:lnTo>
                <a:lnTo>
                  <a:pt x="4275" y="178"/>
                </a:lnTo>
                <a:lnTo>
                  <a:pt x="4261" y="187"/>
                </a:lnTo>
                <a:lnTo>
                  <a:pt x="4251" y="194"/>
                </a:lnTo>
                <a:lnTo>
                  <a:pt x="4247" y="203"/>
                </a:lnTo>
                <a:lnTo>
                  <a:pt x="4244" y="213"/>
                </a:lnTo>
                <a:lnTo>
                  <a:pt x="4241" y="223"/>
                </a:lnTo>
                <a:lnTo>
                  <a:pt x="4238" y="234"/>
                </a:lnTo>
                <a:lnTo>
                  <a:pt x="4232" y="239"/>
                </a:lnTo>
                <a:lnTo>
                  <a:pt x="4227" y="245"/>
                </a:lnTo>
                <a:lnTo>
                  <a:pt x="4221" y="251"/>
                </a:lnTo>
                <a:lnTo>
                  <a:pt x="4215" y="256"/>
                </a:lnTo>
                <a:lnTo>
                  <a:pt x="4207" y="262"/>
                </a:lnTo>
                <a:lnTo>
                  <a:pt x="4202" y="267"/>
                </a:lnTo>
                <a:lnTo>
                  <a:pt x="4194" y="273"/>
                </a:lnTo>
                <a:lnTo>
                  <a:pt x="4186" y="278"/>
                </a:lnTo>
                <a:lnTo>
                  <a:pt x="4180" y="271"/>
                </a:lnTo>
                <a:lnTo>
                  <a:pt x="4176" y="264"/>
                </a:lnTo>
                <a:lnTo>
                  <a:pt x="4170" y="258"/>
                </a:lnTo>
                <a:lnTo>
                  <a:pt x="4163" y="251"/>
                </a:lnTo>
                <a:lnTo>
                  <a:pt x="4158" y="244"/>
                </a:lnTo>
                <a:lnTo>
                  <a:pt x="4150" y="238"/>
                </a:lnTo>
                <a:lnTo>
                  <a:pt x="4143" y="232"/>
                </a:lnTo>
                <a:lnTo>
                  <a:pt x="4138" y="225"/>
                </a:lnTo>
                <a:lnTo>
                  <a:pt x="4146" y="212"/>
                </a:lnTo>
                <a:lnTo>
                  <a:pt x="4154" y="200"/>
                </a:lnTo>
                <a:lnTo>
                  <a:pt x="4161" y="187"/>
                </a:lnTo>
                <a:lnTo>
                  <a:pt x="4170" y="173"/>
                </a:lnTo>
                <a:lnTo>
                  <a:pt x="4180" y="167"/>
                </a:lnTo>
                <a:lnTo>
                  <a:pt x="4188" y="160"/>
                </a:lnTo>
                <a:lnTo>
                  <a:pt x="4197" y="152"/>
                </a:lnTo>
                <a:lnTo>
                  <a:pt x="4205" y="145"/>
                </a:lnTo>
                <a:lnTo>
                  <a:pt x="4214" y="137"/>
                </a:lnTo>
                <a:lnTo>
                  <a:pt x="4222" y="130"/>
                </a:lnTo>
                <a:lnTo>
                  <a:pt x="4230" y="123"/>
                </a:lnTo>
                <a:lnTo>
                  <a:pt x="4238" y="116"/>
                </a:lnTo>
                <a:lnTo>
                  <a:pt x="4245" y="106"/>
                </a:lnTo>
                <a:lnTo>
                  <a:pt x="4249" y="99"/>
                </a:lnTo>
                <a:lnTo>
                  <a:pt x="4255" y="90"/>
                </a:lnTo>
                <a:lnTo>
                  <a:pt x="4260" y="82"/>
                </a:lnTo>
                <a:lnTo>
                  <a:pt x="4266" y="73"/>
                </a:lnTo>
                <a:lnTo>
                  <a:pt x="4271" y="65"/>
                </a:lnTo>
                <a:lnTo>
                  <a:pt x="4277" y="55"/>
                </a:lnTo>
                <a:lnTo>
                  <a:pt x="4284" y="47"/>
                </a:lnTo>
                <a:lnTo>
                  <a:pt x="4274" y="48"/>
                </a:lnTo>
                <a:lnTo>
                  <a:pt x="4264" y="50"/>
                </a:lnTo>
                <a:lnTo>
                  <a:pt x="4255" y="52"/>
                </a:lnTo>
                <a:lnTo>
                  <a:pt x="4245" y="52"/>
                </a:lnTo>
                <a:lnTo>
                  <a:pt x="4234" y="55"/>
                </a:lnTo>
                <a:lnTo>
                  <a:pt x="4224" y="56"/>
                </a:lnTo>
                <a:lnTo>
                  <a:pt x="4214" y="59"/>
                </a:lnTo>
                <a:lnTo>
                  <a:pt x="4204" y="60"/>
                </a:lnTo>
                <a:lnTo>
                  <a:pt x="4207" y="44"/>
                </a:lnTo>
                <a:lnTo>
                  <a:pt x="4211" y="30"/>
                </a:lnTo>
                <a:lnTo>
                  <a:pt x="4213" y="16"/>
                </a:lnTo>
                <a:lnTo>
                  <a:pt x="4215" y="0"/>
                </a:lnTo>
                <a:lnTo>
                  <a:pt x="4205" y="7"/>
                </a:lnTo>
                <a:lnTo>
                  <a:pt x="4196" y="13"/>
                </a:lnTo>
                <a:lnTo>
                  <a:pt x="4185" y="19"/>
                </a:lnTo>
                <a:lnTo>
                  <a:pt x="4176" y="26"/>
                </a:lnTo>
                <a:lnTo>
                  <a:pt x="4167" y="33"/>
                </a:lnTo>
                <a:lnTo>
                  <a:pt x="4158" y="41"/>
                </a:lnTo>
                <a:lnTo>
                  <a:pt x="4150" y="48"/>
                </a:lnTo>
                <a:lnTo>
                  <a:pt x="4139" y="55"/>
                </a:lnTo>
                <a:lnTo>
                  <a:pt x="4134" y="63"/>
                </a:lnTo>
                <a:lnTo>
                  <a:pt x="4129" y="73"/>
                </a:lnTo>
                <a:lnTo>
                  <a:pt x="4123" y="82"/>
                </a:lnTo>
                <a:lnTo>
                  <a:pt x="4119" y="92"/>
                </a:lnTo>
                <a:lnTo>
                  <a:pt x="4113" y="102"/>
                </a:lnTo>
                <a:lnTo>
                  <a:pt x="4108" y="112"/>
                </a:lnTo>
                <a:lnTo>
                  <a:pt x="4101" y="123"/>
                </a:lnTo>
                <a:lnTo>
                  <a:pt x="4097" y="134"/>
                </a:lnTo>
                <a:lnTo>
                  <a:pt x="4088" y="134"/>
                </a:lnTo>
                <a:lnTo>
                  <a:pt x="4080" y="134"/>
                </a:lnTo>
                <a:lnTo>
                  <a:pt x="4071" y="134"/>
                </a:lnTo>
                <a:lnTo>
                  <a:pt x="4064" y="134"/>
                </a:lnTo>
                <a:lnTo>
                  <a:pt x="4054" y="134"/>
                </a:lnTo>
                <a:lnTo>
                  <a:pt x="4047" y="134"/>
                </a:lnTo>
                <a:lnTo>
                  <a:pt x="4038" y="134"/>
                </a:lnTo>
                <a:lnTo>
                  <a:pt x="4030" y="133"/>
                </a:lnTo>
                <a:lnTo>
                  <a:pt x="4016" y="143"/>
                </a:lnTo>
                <a:lnTo>
                  <a:pt x="4000" y="154"/>
                </a:lnTo>
                <a:lnTo>
                  <a:pt x="3986" y="165"/>
                </a:lnTo>
                <a:lnTo>
                  <a:pt x="3972" y="175"/>
                </a:lnTo>
                <a:lnTo>
                  <a:pt x="3956" y="186"/>
                </a:lnTo>
                <a:lnTo>
                  <a:pt x="3941" y="197"/>
                </a:lnTo>
                <a:lnTo>
                  <a:pt x="3928" y="207"/>
                </a:lnTo>
                <a:lnTo>
                  <a:pt x="3910" y="218"/>
                </a:lnTo>
                <a:lnTo>
                  <a:pt x="3863" y="251"/>
                </a:lnTo>
                <a:lnTo>
                  <a:pt x="3815" y="280"/>
                </a:lnTo>
                <a:lnTo>
                  <a:pt x="3768" y="307"/>
                </a:lnTo>
                <a:lnTo>
                  <a:pt x="3720" y="331"/>
                </a:lnTo>
                <a:lnTo>
                  <a:pt x="3672" y="357"/>
                </a:lnTo>
                <a:lnTo>
                  <a:pt x="3625" y="381"/>
                </a:lnTo>
                <a:lnTo>
                  <a:pt x="3577" y="405"/>
                </a:lnTo>
                <a:lnTo>
                  <a:pt x="3530" y="428"/>
                </a:lnTo>
                <a:lnTo>
                  <a:pt x="3483" y="456"/>
                </a:lnTo>
                <a:lnTo>
                  <a:pt x="3436" y="485"/>
                </a:lnTo>
                <a:lnTo>
                  <a:pt x="3389" y="516"/>
                </a:lnTo>
                <a:lnTo>
                  <a:pt x="3342" y="549"/>
                </a:lnTo>
                <a:lnTo>
                  <a:pt x="3296" y="590"/>
                </a:lnTo>
                <a:lnTo>
                  <a:pt x="3250" y="633"/>
                </a:lnTo>
                <a:lnTo>
                  <a:pt x="3203" y="682"/>
                </a:lnTo>
                <a:lnTo>
                  <a:pt x="3155" y="736"/>
                </a:lnTo>
                <a:lnTo>
                  <a:pt x="3112" y="764"/>
                </a:lnTo>
                <a:lnTo>
                  <a:pt x="3078" y="786"/>
                </a:lnTo>
                <a:lnTo>
                  <a:pt x="3052" y="803"/>
                </a:lnTo>
                <a:lnTo>
                  <a:pt x="3036" y="812"/>
                </a:lnTo>
                <a:lnTo>
                  <a:pt x="3028" y="815"/>
                </a:lnTo>
                <a:lnTo>
                  <a:pt x="3026" y="814"/>
                </a:lnTo>
                <a:lnTo>
                  <a:pt x="3028" y="809"/>
                </a:lnTo>
                <a:lnTo>
                  <a:pt x="3035" y="800"/>
                </a:lnTo>
                <a:lnTo>
                  <a:pt x="3044" y="790"/>
                </a:lnTo>
                <a:lnTo>
                  <a:pt x="3055" y="778"/>
                </a:lnTo>
                <a:lnTo>
                  <a:pt x="3070" y="766"/>
                </a:lnTo>
                <a:lnTo>
                  <a:pt x="3083" y="754"/>
                </a:lnTo>
                <a:lnTo>
                  <a:pt x="3094" y="743"/>
                </a:lnTo>
                <a:lnTo>
                  <a:pt x="3104" y="732"/>
                </a:lnTo>
                <a:lnTo>
                  <a:pt x="3112" y="725"/>
                </a:lnTo>
                <a:lnTo>
                  <a:pt x="3114" y="721"/>
                </a:lnTo>
                <a:lnTo>
                  <a:pt x="3136" y="710"/>
                </a:lnTo>
                <a:lnTo>
                  <a:pt x="3154" y="700"/>
                </a:lnTo>
                <a:lnTo>
                  <a:pt x="3167" y="691"/>
                </a:lnTo>
                <a:lnTo>
                  <a:pt x="3175" y="685"/>
                </a:lnTo>
                <a:lnTo>
                  <a:pt x="3180" y="682"/>
                </a:lnTo>
                <a:lnTo>
                  <a:pt x="3183" y="677"/>
                </a:lnTo>
                <a:lnTo>
                  <a:pt x="3180" y="675"/>
                </a:lnTo>
                <a:lnTo>
                  <a:pt x="3177" y="674"/>
                </a:lnTo>
                <a:lnTo>
                  <a:pt x="3173" y="674"/>
                </a:lnTo>
                <a:lnTo>
                  <a:pt x="3169" y="674"/>
                </a:lnTo>
                <a:lnTo>
                  <a:pt x="3164" y="673"/>
                </a:lnTo>
                <a:lnTo>
                  <a:pt x="3160" y="671"/>
                </a:lnTo>
                <a:lnTo>
                  <a:pt x="3158" y="669"/>
                </a:lnTo>
                <a:lnTo>
                  <a:pt x="3158" y="666"/>
                </a:lnTo>
                <a:lnTo>
                  <a:pt x="3160" y="660"/>
                </a:lnTo>
                <a:lnTo>
                  <a:pt x="3165" y="654"/>
                </a:lnTo>
                <a:lnTo>
                  <a:pt x="3173" y="645"/>
                </a:lnTo>
                <a:lnTo>
                  <a:pt x="3185" y="633"/>
                </a:lnTo>
                <a:lnTo>
                  <a:pt x="3203" y="620"/>
                </a:lnTo>
                <a:lnTo>
                  <a:pt x="3225" y="603"/>
                </a:lnTo>
                <a:lnTo>
                  <a:pt x="3253" y="584"/>
                </a:lnTo>
                <a:lnTo>
                  <a:pt x="3287" y="560"/>
                </a:lnTo>
                <a:lnTo>
                  <a:pt x="3327" y="533"/>
                </a:lnTo>
                <a:lnTo>
                  <a:pt x="3375" y="503"/>
                </a:lnTo>
                <a:lnTo>
                  <a:pt x="3432" y="466"/>
                </a:lnTo>
                <a:lnTo>
                  <a:pt x="3495" y="426"/>
                </a:lnTo>
                <a:lnTo>
                  <a:pt x="3569" y="383"/>
                </a:lnTo>
                <a:lnTo>
                  <a:pt x="3651" y="331"/>
                </a:lnTo>
                <a:lnTo>
                  <a:pt x="3744" y="278"/>
                </a:lnTo>
                <a:lnTo>
                  <a:pt x="3849" y="216"/>
                </a:lnTo>
                <a:lnTo>
                  <a:pt x="3962" y="150"/>
                </a:lnTo>
                <a:lnTo>
                  <a:pt x="3989" y="133"/>
                </a:lnTo>
                <a:lnTo>
                  <a:pt x="4011" y="116"/>
                </a:lnTo>
                <a:lnTo>
                  <a:pt x="4029" y="99"/>
                </a:lnTo>
                <a:lnTo>
                  <a:pt x="4042" y="84"/>
                </a:lnTo>
                <a:lnTo>
                  <a:pt x="4050" y="71"/>
                </a:lnTo>
                <a:lnTo>
                  <a:pt x="4054" y="61"/>
                </a:lnTo>
                <a:lnTo>
                  <a:pt x="4054" y="54"/>
                </a:lnTo>
                <a:lnTo>
                  <a:pt x="4050" y="52"/>
                </a:lnTo>
                <a:lnTo>
                  <a:pt x="4025" y="56"/>
                </a:lnTo>
                <a:lnTo>
                  <a:pt x="3998" y="69"/>
                </a:lnTo>
                <a:lnTo>
                  <a:pt x="3972" y="88"/>
                </a:lnTo>
                <a:lnTo>
                  <a:pt x="3944" y="106"/>
                </a:lnTo>
                <a:lnTo>
                  <a:pt x="3920" y="126"/>
                </a:lnTo>
                <a:lnTo>
                  <a:pt x="3899" y="139"/>
                </a:lnTo>
                <a:lnTo>
                  <a:pt x="3883" y="143"/>
                </a:lnTo>
                <a:lnTo>
                  <a:pt x="3870" y="133"/>
                </a:lnTo>
                <a:lnTo>
                  <a:pt x="3857" y="154"/>
                </a:lnTo>
                <a:lnTo>
                  <a:pt x="3855" y="162"/>
                </a:lnTo>
                <a:lnTo>
                  <a:pt x="3857" y="160"/>
                </a:lnTo>
                <a:lnTo>
                  <a:pt x="3860" y="151"/>
                </a:lnTo>
                <a:lnTo>
                  <a:pt x="3858" y="143"/>
                </a:lnTo>
                <a:lnTo>
                  <a:pt x="3845" y="143"/>
                </a:lnTo>
                <a:lnTo>
                  <a:pt x="3813" y="152"/>
                </a:lnTo>
                <a:lnTo>
                  <a:pt x="3759" y="177"/>
                </a:lnTo>
                <a:lnTo>
                  <a:pt x="3741" y="187"/>
                </a:lnTo>
                <a:lnTo>
                  <a:pt x="3722" y="197"/>
                </a:lnTo>
                <a:lnTo>
                  <a:pt x="3702" y="208"/>
                </a:lnTo>
                <a:lnTo>
                  <a:pt x="3678" y="222"/>
                </a:lnTo>
                <a:lnTo>
                  <a:pt x="3656" y="237"/>
                </a:lnTo>
                <a:lnTo>
                  <a:pt x="3630" y="251"/>
                </a:lnTo>
                <a:lnTo>
                  <a:pt x="3603" y="267"/>
                </a:lnTo>
                <a:lnTo>
                  <a:pt x="3577" y="284"/>
                </a:lnTo>
                <a:lnTo>
                  <a:pt x="3548" y="301"/>
                </a:lnTo>
                <a:lnTo>
                  <a:pt x="3520" y="318"/>
                </a:lnTo>
                <a:lnTo>
                  <a:pt x="3491" y="337"/>
                </a:lnTo>
                <a:lnTo>
                  <a:pt x="3460" y="357"/>
                </a:lnTo>
                <a:lnTo>
                  <a:pt x="3431" y="375"/>
                </a:lnTo>
                <a:lnTo>
                  <a:pt x="3400" y="395"/>
                </a:lnTo>
                <a:lnTo>
                  <a:pt x="3368" y="415"/>
                </a:lnTo>
                <a:lnTo>
                  <a:pt x="3338" y="435"/>
                </a:lnTo>
                <a:lnTo>
                  <a:pt x="3307" y="456"/>
                </a:lnTo>
                <a:lnTo>
                  <a:pt x="3274" y="476"/>
                </a:lnTo>
                <a:lnTo>
                  <a:pt x="3244" y="496"/>
                </a:lnTo>
                <a:lnTo>
                  <a:pt x="3214" y="516"/>
                </a:lnTo>
                <a:lnTo>
                  <a:pt x="3184" y="535"/>
                </a:lnTo>
                <a:lnTo>
                  <a:pt x="3154" y="556"/>
                </a:lnTo>
                <a:lnTo>
                  <a:pt x="3127" y="574"/>
                </a:lnTo>
                <a:lnTo>
                  <a:pt x="3098" y="594"/>
                </a:lnTo>
                <a:lnTo>
                  <a:pt x="3072" y="611"/>
                </a:lnTo>
                <a:lnTo>
                  <a:pt x="3046" y="628"/>
                </a:lnTo>
                <a:lnTo>
                  <a:pt x="3022" y="645"/>
                </a:lnTo>
                <a:lnTo>
                  <a:pt x="2998" y="660"/>
                </a:lnTo>
                <a:lnTo>
                  <a:pt x="2974" y="677"/>
                </a:lnTo>
                <a:lnTo>
                  <a:pt x="2955" y="691"/>
                </a:lnTo>
                <a:lnTo>
                  <a:pt x="2936" y="704"/>
                </a:lnTo>
                <a:lnTo>
                  <a:pt x="2918" y="715"/>
                </a:lnTo>
                <a:lnTo>
                  <a:pt x="2869" y="749"/>
                </a:lnTo>
                <a:lnTo>
                  <a:pt x="2819" y="783"/>
                </a:lnTo>
                <a:lnTo>
                  <a:pt x="2771" y="816"/>
                </a:lnTo>
                <a:lnTo>
                  <a:pt x="2723" y="847"/>
                </a:lnTo>
                <a:lnTo>
                  <a:pt x="2675" y="879"/>
                </a:lnTo>
                <a:lnTo>
                  <a:pt x="2628" y="910"/>
                </a:lnTo>
                <a:lnTo>
                  <a:pt x="2581" y="940"/>
                </a:lnTo>
                <a:lnTo>
                  <a:pt x="2536" y="970"/>
                </a:lnTo>
                <a:lnTo>
                  <a:pt x="2491" y="1000"/>
                </a:lnTo>
                <a:lnTo>
                  <a:pt x="2447" y="1031"/>
                </a:lnTo>
                <a:lnTo>
                  <a:pt x="2402" y="1060"/>
                </a:lnTo>
                <a:lnTo>
                  <a:pt x="2359" y="1089"/>
                </a:lnTo>
                <a:lnTo>
                  <a:pt x="2316" y="1117"/>
                </a:lnTo>
                <a:lnTo>
                  <a:pt x="2273" y="1148"/>
                </a:lnTo>
                <a:lnTo>
                  <a:pt x="2232" y="1178"/>
                </a:lnTo>
                <a:lnTo>
                  <a:pt x="2191" y="1206"/>
                </a:lnTo>
                <a:lnTo>
                  <a:pt x="2168" y="1227"/>
                </a:lnTo>
                <a:lnTo>
                  <a:pt x="2146" y="1249"/>
                </a:lnTo>
                <a:lnTo>
                  <a:pt x="2125" y="1271"/>
                </a:lnTo>
                <a:lnTo>
                  <a:pt x="2104" y="1293"/>
                </a:lnTo>
                <a:lnTo>
                  <a:pt x="2085" y="1316"/>
                </a:lnTo>
                <a:lnTo>
                  <a:pt x="2065" y="1338"/>
                </a:lnTo>
                <a:lnTo>
                  <a:pt x="2048" y="1362"/>
                </a:lnTo>
                <a:lnTo>
                  <a:pt x="2029" y="1384"/>
                </a:lnTo>
                <a:lnTo>
                  <a:pt x="2010" y="1407"/>
                </a:lnTo>
                <a:lnTo>
                  <a:pt x="1994" y="1430"/>
                </a:lnTo>
                <a:lnTo>
                  <a:pt x="1975" y="1453"/>
                </a:lnTo>
                <a:lnTo>
                  <a:pt x="1957" y="1475"/>
                </a:lnTo>
                <a:lnTo>
                  <a:pt x="1938" y="1498"/>
                </a:lnTo>
                <a:lnTo>
                  <a:pt x="1920" y="1518"/>
                </a:lnTo>
                <a:lnTo>
                  <a:pt x="1901" y="1539"/>
                </a:lnTo>
                <a:lnTo>
                  <a:pt x="1881" y="1559"/>
                </a:lnTo>
                <a:lnTo>
                  <a:pt x="1859" y="1580"/>
                </a:lnTo>
                <a:lnTo>
                  <a:pt x="1835" y="1607"/>
                </a:lnTo>
                <a:lnTo>
                  <a:pt x="1811" y="1637"/>
                </a:lnTo>
                <a:lnTo>
                  <a:pt x="1786" y="1671"/>
                </a:lnTo>
                <a:lnTo>
                  <a:pt x="1762" y="1704"/>
                </a:lnTo>
                <a:lnTo>
                  <a:pt x="1738" y="1734"/>
                </a:lnTo>
                <a:lnTo>
                  <a:pt x="1717" y="1760"/>
                </a:lnTo>
                <a:lnTo>
                  <a:pt x="1697" y="1779"/>
                </a:lnTo>
                <a:lnTo>
                  <a:pt x="1669" y="1799"/>
                </a:lnTo>
                <a:lnTo>
                  <a:pt x="1651" y="1814"/>
                </a:lnTo>
                <a:lnTo>
                  <a:pt x="1638" y="1823"/>
                </a:lnTo>
                <a:lnTo>
                  <a:pt x="1629" y="1830"/>
                </a:lnTo>
                <a:lnTo>
                  <a:pt x="1618" y="1836"/>
                </a:lnTo>
                <a:lnTo>
                  <a:pt x="1607" y="1846"/>
                </a:lnTo>
                <a:lnTo>
                  <a:pt x="1593" y="1859"/>
                </a:lnTo>
                <a:lnTo>
                  <a:pt x="1571" y="1880"/>
                </a:lnTo>
                <a:lnTo>
                  <a:pt x="1550" y="1913"/>
                </a:lnTo>
                <a:lnTo>
                  <a:pt x="1531" y="1947"/>
                </a:lnTo>
                <a:lnTo>
                  <a:pt x="1514" y="1983"/>
                </a:lnTo>
                <a:lnTo>
                  <a:pt x="1499" y="2021"/>
                </a:lnTo>
                <a:lnTo>
                  <a:pt x="1482" y="2057"/>
                </a:lnTo>
                <a:lnTo>
                  <a:pt x="1466" y="2093"/>
                </a:lnTo>
                <a:lnTo>
                  <a:pt x="1452" y="2128"/>
                </a:lnTo>
                <a:lnTo>
                  <a:pt x="1435" y="2161"/>
                </a:lnTo>
                <a:lnTo>
                  <a:pt x="1420" y="2132"/>
                </a:lnTo>
                <a:lnTo>
                  <a:pt x="1402" y="2104"/>
                </a:lnTo>
                <a:lnTo>
                  <a:pt x="1383" y="2075"/>
                </a:lnTo>
                <a:lnTo>
                  <a:pt x="1363" y="2046"/>
                </a:lnTo>
                <a:lnTo>
                  <a:pt x="1340" y="2018"/>
                </a:lnTo>
                <a:lnTo>
                  <a:pt x="1319" y="1989"/>
                </a:lnTo>
                <a:lnTo>
                  <a:pt x="1296" y="1961"/>
                </a:lnTo>
                <a:lnTo>
                  <a:pt x="1274" y="1933"/>
                </a:lnTo>
                <a:lnTo>
                  <a:pt x="1251" y="1903"/>
                </a:lnTo>
                <a:lnTo>
                  <a:pt x="1230" y="1874"/>
                </a:lnTo>
                <a:lnTo>
                  <a:pt x="1210" y="1847"/>
                </a:lnTo>
                <a:lnTo>
                  <a:pt x="1192" y="1818"/>
                </a:lnTo>
                <a:lnTo>
                  <a:pt x="1175" y="1789"/>
                </a:lnTo>
                <a:lnTo>
                  <a:pt x="1159" y="1761"/>
                </a:lnTo>
                <a:lnTo>
                  <a:pt x="1146" y="1732"/>
                </a:lnTo>
                <a:lnTo>
                  <a:pt x="1137" y="1705"/>
                </a:lnTo>
                <a:lnTo>
                  <a:pt x="1121" y="1665"/>
                </a:lnTo>
                <a:lnTo>
                  <a:pt x="1105" y="1624"/>
                </a:lnTo>
                <a:lnTo>
                  <a:pt x="1087" y="1580"/>
                </a:lnTo>
                <a:lnTo>
                  <a:pt x="1068" y="1537"/>
                </a:lnTo>
                <a:lnTo>
                  <a:pt x="1050" y="1493"/>
                </a:lnTo>
                <a:lnTo>
                  <a:pt x="1032" y="1449"/>
                </a:lnTo>
                <a:lnTo>
                  <a:pt x="1016" y="1407"/>
                </a:lnTo>
                <a:lnTo>
                  <a:pt x="1003" y="1367"/>
                </a:lnTo>
                <a:lnTo>
                  <a:pt x="979" y="1376"/>
                </a:lnTo>
                <a:lnTo>
                  <a:pt x="958" y="1386"/>
                </a:lnTo>
                <a:lnTo>
                  <a:pt x="935" y="1394"/>
                </a:lnTo>
                <a:lnTo>
                  <a:pt x="914" y="1403"/>
                </a:lnTo>
                <a:lnTo>
                  <a:pt x="891" y="1411"/>
                </a:lnTo>
                <a:lnTo>
                  <a:pt x="870" y="1418"/>
                </a:lnTo>
                <a:lnTo>
                  <a:pt x="847" y="1426"/>
                </a:lnTo>
                <a:lnTo>
                  <a:pt x="825" y="1435"/>
                </a:lnTo>
                <a:lnTo>
                  <a:pt x="808" y="1443"/>
                </a:lnTo>
                <a:lnTo>
                  <a:pt x="790" y="1450"/>
                </a:lnTo>
                <a:lnTo>
                  <a:pt x="773" y="1459"/>
                </a:lnTo>
                <a:lnTo>
                  <a:pt x="755" y="1467"/>
                </a:lnTo>
                <a:lnTo>
                  <a:pt x="738" y="1475"/>
                </a:lnTo>
                <a:lnTo>
                  <a:pt x="721" y="1484"/>
                </a:lnTo>
                <a:lnTo>
                  <a:pt x="704" y="1491"/>
                </a:lnTo>
                <a:lnTo>
                  <a:pt x="687" y="1499"/>
                </a:lnTo>
                <a:lnTo>
                  <a:pt x="669" y="1507"/>
                </a:lnTo>
                <a:lnTo>
                  <a:pt x="652" y="1515"/>
                </a:lnTo>
                <a:lnTo>
                  <a:pt x="636" y="1522"/>
                </a:lnTo>
                <a:lnTo>
                  <a:pt x="619" y="1531"/>
                </a:lnTo>
                <a:lnTo>
                  <a:pt x="602" y="1537"/>
                </a:lnTo>
                <a:lnTo>
                  <a:pt x="586" y="1546"/>
                </a:lnTo>
                <a:lnTo>
                  <a:pt x="569" y="1553"/>
                </a:lnTo>
                <a:lnTo>
                  <a:pt x="553" y="1561"/>
                </a:lnTo>
                <a:lnTo>
                  <a:pt x="550" y="1561"/>
                </a:lnTo>
                <a:lnTo>
                  <a:pt x="541" y="1561"/>
                </a:lnTo>
                <a:lnTo>
                  <a:pt x="527" y="1563"/>
                </a:lnTo>
                <a:lnTo>
                  <a:pt x="511" y="1567"/>
                </a:lnTo>
                <a:lnTo>
                  <a:pt x="491" y="1571"/>
                </a:lnTo>
                <a:lnTo>
                  <a:pt x="469" y="1577"/>
                </a:lnTo>
                <a:lnTo>
                  <a:pt x="445" y="1585"/>
                </a:lnTo>
                <a:lnTo>
                  <a:pt x="421" y="1592"/>
                </a:lnTo>
                <a:lnTo>
                  <a:pt x="396" y="1598"/>
                </a:lnTo>
                <a:lnTo>
                  <a:pt x="373" y="1605"/>
                </a:lnTo>
                <a:lnTo>
                  <a:pt x="351" y="1612"/>
                </a:lnTo>
                <a:lnTo>
                  <a:pt x="333" y="1616"/>
                </a:lnTo>
                <a:lnTo>
                  <a:pt x="315" y="1620"/>
                </a:lnTo>
                <a:lnTo>
                  <a:pt x="304" y="1624"/>
                </a:lnTo>
                <a:lnTo>
                  <a:pt x="297" y="1624"/>
                </a:lnTo>
                <a:lnTo>
                  <a:pt x="294" y="1622"/>
                </a:lnTo>
                <a:lnTo>
                  <a:pt x="275" y="1633"/>
                </a:lnTo>
                <a:lnTo>
                  <a:pt x="256" y="1643"/>
                </a:lnTo>
                <a:lnTo>
                  <a:pt x="237" y="1654"/>
                </a:lnTo>
                <a:lnTo>
                  <a:pt x="219" y="1665"/>
                </a:lnTo>
                <a:lnTo>
                  <a:pt x="199" y="1675"/>
                </a:lnTo>
                <a:lnTo>
                  <a:pt x="180" y="1685"/>
                </a:lnTo>
                <a:lnTo>
                  <a:pt x="161" y="1696"/>
                </a:lnTo>
                <a:lnTo>
                  <a:pt x="143" y="1707"/>
                </a:lnTo>
                <a:lnTo>
                  <a:pt x="124" y="1718"/>
                </a:lnTo>
                <a:lnTo>
                  <a:pt x="106" y="1729"/>
                </a:lnTo>
                <a:lnTo>
                  <a:pt x="87" y="1739"/>
                </a:lnTo>
                <a:lnTo>
                  <a:pt x="70" y="1750"/>
                </a:lnTo>
                <a:lnTo>
                  <a:pt x="53" y="1760"/>
                </a:lnTo>
                <a:lnTo>
                  <a:pt x="35" y="1771"/>
                </a:lnTo>
                <a:lnTo>
                  <a:pt x="18" y="1781"/>
                </a:lnTo>
                <a:lnTo>
                  <a:pt x="0" y="1792"/>
                </a:lnTo>
                <a:close/>
              </a:path>
            </a:pathLst>
          </a:custGeom>
          <a:solidFill>
            <a:srgbClr val="043B72"/>
          </a:solidFill>
          <a:ln w="19050">
            <a:solidFill>
              <a:srgbClr val="FFFFFF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96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ea"/>
              <a:sym typeface="나눔고딕"/>
            </a:endParaRPr>
          </a:p>
        </p:txBody>
      </p:sp>
    </p:spTree>
    <p:extLst>
      <p:ext uri="{BB962C8B-B14F-4D97-AF65-F5344CB8AC3E}">
        <p14:creationId xmlns:p14="http://schemas.microsoft.com/office/powerpoint/2010/main" val="40594728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텍스트 개체 틀 83">
            <a:extLst>
              <a:ext uri="{FF2B5EF4-FFF2-40B4-BE49-F238E27FC236}">
                <a16:creationId xmlns:a16="http://schemas.microsoft.com/office/drawing/2014/main" id="{A5AE968B-FBD7-C7D5-1191-191722BB127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5" name="텍스트 개체 틀 84">
            <a:extLst>
              <a:ext uri="{FF2B5EF4-FFF2-40B4-BE49-F238E27FC236}">
                <a16:creationId xmlns:a16="http://schemas.microsoft.com/office/drawing/2014/main" id="{B061D433-FB9E-9B28-2A28-A0C3EF62A89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AI</a:t>
            </a:r>
            <a:r>
              <a:rPr lang="ko-KR" altLang="en-US"/>
              <a:t>거버넌스 수행 업무별 주요 내용</a:t>
            </a:r>
          </a:p>
        </p:txBody>
      </p:sp>
      <p:sp>
        <p:nvSpPr>
          <p:cNvPr id="5" name="Google Shape;134;p5">
            <a:extLst>
              <a:ext uri="{FF2B5EF4-FFF2-40B4-BE49-F238E27FC236}">
                <a16:creationId xmlns:a16="http://schemas.microsoft.com/office/drawing/2014/main" id="{5B0C6A88-4582-AF0D-A1B7-878A4417DCFD}"/>
              </a:ext>
            </a:extLst>
          </p:cNvPr>
          <p:cNvSpPr/>
          <p:nvPr/>
        </p:nvSpPr>
        <p:spPr>
          <a:xfrm>
            <a:off x="495388" y="1637651"/>
            <a:ext cx="2880000" cy="432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180000" tIns="0" rIns="72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457200" latinLnBrk="0">
              <a:lnSpc>
                <a:spcPct val="90000"/>
              </a:lnSpc>
              <a:spcAft>
                <a:spcPts val="1000"/>
              </a:spcAft>
              <a:buClr>
                <a:srgbClr val="7D7D7D"/>
              </a:buClr>
            </a:pPr>
            <a:r>
              <a:rPr lang="en-US" altLang="ko-KR" sz="1200" b="1" kern="0">
                <a:latin typeface="+mn-ea"/>
                <a:sym typeface="Arial"/>
              </a:rPr>
              <a:t>AI</a:t>
            </a:r>
            <a:r>
              <a:rPr lang="ko-KR" altLang="en-US" sz="1200" b="1" kern="0">
                <a:latin typeface="+mn-ea"/>
                <a:sym typeface="Arial"/>
              </a:rPr>
              <a:t>거버넌스 수립 요건 검토</a:t>
            </a:r>
          </a:p>
        </p:txBody>
      </p:sp>
      <p:sp>
        <p:nvSpPr>
          <p:cNvPr id="6" name="Google Shape;134;p5">
            <a:extLst>
              <a:ext uri="{FF2B5EF4-FFF2-40B4-BE49-F238E27FC236}">
                <a16:creationId xmlns:a16="http://schemas.microsoft.com/office/drawing/2014/main" id="{89C6BC7B-C0F5-7074-6DD3-E7D9E0A3DD0F}"/>
              </a:ext>
            </a:extLst>
          </p:cNvPr>
          <p:cNvSpPr/>
          <p:nvPr/>
        </p:nvSpPr>
        <p:spPr>
          <a:xfrm>
            <a:off x="3524330" y="1637651"/>
            <a:ext cx="2880000" cy="432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7200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71450" indent="-171450" defTabSz="457200" latinLnBrk="0">
              <a:spcBef>
                <a:spcPts val="600"/>
              </a:spcBef>
              <a:spcAft>
                <a:spcPts val="1000"/>
              </a:spcAft>
              <a:buClr>
                <a:srgbClr val="7D7D7D"/>
              </a:buClr>
              <a:buFont typeface="Arial" panose="020B0604020202020204" pitchFamily="34" charset="0"/>
              <a:buChar char="•"/>
            </a:pPr>
            <a:r>
              <a:rPr lang="ko-KR" altLang="en-US" sz="1200" b="1" kern="0">
                <a:latin typeface="+mn-ea"/>
                <a:sym typeface="Arial"/>
              </a:rPr>
              <a:t>국내 </a:t>
            </a:r>
            <a:r>
              <a:rPr lang="en-US" altLang="ko-KR" sz="1200" b="1" kern="0">
                <a:latin typeface="+mn-ea"/>
                <a:sym typeface="Arial"/>
              </a:rPr>
              <a:t>AI</a:t>
            </a:r>
            <a:r>
              <a:rPr lang="ko-KR" altLang="en-US" sz="1200" b="1" kern="0">
                <a:latin typeface="+mn-ea"/>
                <a:sym typeface="Arial"/>
              </a:rPr>
              <a:t>법</a:t>
            </a:r>
            <a:r>
              <a:rPr lang="en-US" altLang="ko-KR" sz="1200" b="1" kern="0">
                <a:latin typeface="+mn-ea"/>
                <a:sym typeface="Arial"/>
              </a:rPr>
              <a:t>/</a:t>
            </a:r>
            <a:r>
              <a:rPr lang="ko-KR" altLang="en-US" sz="1200" b="1" kern="0">
                <a:latin typeface="+mn-ea"/>
                <a:sym typeface="Arial"/>
              </a:rPr>
              <a:t>시행령</a:t>
            </a:r>
            <a:r>
              <a:rPr lang="en-US" altLang="ko-KR" sz="1200" b="1" kern="0">
                <a:latin typeface="+mn-ea"/>
                <a:sym typeface="Arial"/>
              </a:rPr>
              <a:t>, AI</a:t>
            </a:r>
            <a:r>
              <a:rPr lang="ko-KR" altLang="en-US" sz="1200" b="1" kern="0">
                <a:latin typeface="+mn-ea"/>
                <a:sym typeface="Arial"/>
              </a:rPr>
              <a:t>거버넌스 유관 규제 및 현황 분석</a:t>
            </a:r>
            <a:endParaRPr lang="ko-KR" altLang="en-US" sz="1100" kern="0">
              <a:latin typeface="+mn-ea"/>
              <a:sym typeface="Arial"/>
            </a:endParaRPr>
          </a:p>
        </p:txBody>
      </p:sp>
      <p:sp>
        <p:nvSpPr>
          <p:cNvPr id="7" name="Google Shape;134;p5">
            <a:extLst>
              <a:ext uri="{FF2B5EF4-FFF2-40B4-BE49-F238E27FC236}">
                <a16:creationId xmlns:a16="http://schemas.microsoft.com/office/drawing/2014/main" id="{946DFD91-518D-4972-4071-8D1BBE5023F6}"/>
              </a:ext>
            </a:extLst>
          </p:cNvPr>
          <p:cNvSpPr/>
          <p:nvPr/>
        </p:nvSpPr>
        <p:spPr>
          <a:xfrm>
            <a:off x="495388" y="2751395"/>
            <a:ext cx="2880000" cy="432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180000" tIns="0" rIns="72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457200" latinLnBrk="0">
              <a:lnSpc>
                <a:spcPct val="90000"/>
              </a:lnSpc>
              <a:spcAft>
                <a:spcPts val="1000"/>
              </a:spcAft>
              <a:buClr>
                <a:srgbClr val="7D7D7D"/>
              </a:buClr>
            </a:pPr>
            <a:r>
              <a:rPr lang="en-US" altLang="ko-KR" sz="1200" b="1" kern="0">
                <a:latin typeface="+mn-ea"/>
                <a:sym typeface="Arial"/>
              </a:rPr>
              <a:t>AI</a:t>
            </a:r>
            <a:r>
              <a:rPr lang="ko-KR" altLang="en-US" sz="1200" b="1" kern="0">
                <a:latin typeface="+mn-ea"/>
                <a:sym typeface="Arial"/>
              </a:rPr>
              <a:t>거버넌스 규정 수립</a:t>
            </a:r>
          </a:p>
        </p:txBody>
      </p:sp>
      <p:sp>
        <p:nvSpPr>
          <p:cNvPr id="8" name="Google Shape;134;p5">
            <a:extLst>
              <a:ext uri="{FF2B5EF4-FFF2-40B4-BE49-F238E27FC236}">
                <a16:creationId xmlns:a16="http://schemas.microsoft.com/office/drawing/2014/main" id="{E041C1AE-8DB3-5DB7-457C-B4CAAC018BEF}"/>
              </a:ext>
            </a:extLst>
          </p:cNvPr>
          <p:cNvSpPr/>
          <p:nvPr/>
        </p:nvSpPr>
        <p:spPr>
          <a:xfrm>
            <a:off x="495388" y="3308267"/>
            <a:ext cx="2880000" cy="432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180000" tIns="0" rIns="72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457200" latinLnBrk="0">
              <a:lnSpc>
                <a:spcPct val="90000"/>
              </a:lnSpc>
              <a:spcAft>
                <a:spcPts val="1000"/>
              </a:spcAft>
              <a:buClr>
                <a:srgbClr val="7D7D7D"/>
              </a:buClr>
            </a:pPr>
            <a:r>
              <a:rPr lang="en-US" altLang="ko-KR" sz="1200" b="1" kern="0">
                <a:latin typeface="+mn-ea"/>
                <a:sym typeface="Arial"/>
              </a:rPr>
              <a:t>AI</a:t>
            </a:r>
            <a:r>
              <a:rPr lang="ko-KR" altLang="en-US" sz="1200" b="1" kern="0">
                <a:latin typeface="+mn-ea"/>
                <a:sym typeface="Arial"/>
              </a:rPr>
              <a:t>거버넌스 운영 지침 수립</a:t>
            </a:r>
          </a:p>
        </p:txBody>
      </p:sp>
      <p:sp>
        <p:nvSpPr>
          <p:cNvPr id="9" name="Google Shape;134;p5">
            <a:extLst>
              <a:ext uri="{FF2B5EF4-FFF2-40B4-BE49-F238E27FC236}">
                <a16:creationId xmlns:a16="http://schemas.microsoft.com/office/drawing/2014/main" id="{6B9D6966-1E2A-D5C5-A49A-574BDE4A8B9E}"/>
              </a:ext>
            </a:extLst>
          </p:cNvPr>
          <p:cNvSpPr/>
          <p:nvPr/>
        </p:nvSpPr>
        <p:spPr>
          <a:xfrm>
            <a:off x="495388" y="3865139"/>
            <a:ext cx="2880000" cy="432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180000" tIns="0" rIns="72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457200" latinLnBrk="0">
              <a:lnSpc>
                <a:spcPct val="90000"/>
              </a:lnSpc>
              <a:spcAft>
                <a:spcPts val="1000"/>
              </a:spcAft>
              <a:buClr>
                <a:srgbClr val="7D7D7D"/>
              </a:buClr>
            </a:pPr>
            <a:r>
              <a:rPr lang="en-US" altLang="ko-KR" sz="1200" b="1" kern="0">
                <a:latin typeface="+mn-ea"/>
                <a:sym typeface="Arial"/>
              </a:rPr>
              <a:t>AI</a:t>
            </a:r>
            <a:r>
              <a:rPr lang="ko-KR" altLang="en-US" sz="1200" b="1" kern="0">
                <a:latin typeface="+mn-ea"/>
                <a:sym typeface="Arial"/>
              </a:rPr>
              <a:t>개발운영 지침 수립</a:t>
            </a:r>
          </a:p>
        </p:txBody>
      </p:sp>
      <p:sp>
        <p:nvSpPr>
          <p:cNvPr id="10" name="Google Shape;134;p5">
            <a:extLst>
              <a:ext uri="{FF2B5EF4-FFF2-40B4-BE49-F238E27FC236}">
                <a16:creationId xmlns:a16="http://schemas.microsoft.com/office/drawing/2014/main" id="{14021B6F-D479-A4A6-B7BC-43E17A1D0CC4}"/>
              </a:ext>
            </a:extLst>
          </p:cNvPr>
          <p:cNvSpPr/>
          <p:nvPr/>
        </p:nvSpPr>
        <p:spPr>
          <a:xfrm>
            <a:off x="495388" y="4422011"/>
            <a:ext cx="2880000" cy="432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180000" tIns="0" rIns="72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457200" latinLnBrk="0">
              <a:lnSpc>
                <a:spcPct val="90000"/>
              </a:lnSpc>
              <a:spcAft>
                <a:spcPts val="1000"/>
              </a:spcAft>
              <a:buClr>
                <a:srgbClr val="7D7D7D"/>
              </a:buClr>
            </a:pPr>
            <a:r>
              <a:rPr lang="ko-KR" altLang="en-US" sz="1200" b="1" kern="0">
                <a:latin typeface="+mn-ea"/>
                <a:sym typeface="Arial"/>
              </a:rPr>
              <a:t>생성형 </a:t>
            </a:r>
            <a:r>
              <a:rPr lang="en-US" altLang="ko-KR" sz="1200" b="1" kern="0">
                <a:latin typeface="+mn-ea"/>
                <a:sym typeface="Arial"/>
              </a:rPr>
              <a:t>AI </a:t>
            </a:r>
            <a:r>
              <a:rPr lang="ko-KR" altLang="en-US" sz="1200" b="1" kern="0">
                <a:latin typeface="+mn-ea"/>
                <a:sym typeface="Arial"/>
              </a:rPr>
              <a:t>특화 보안 대책 수립</a:t>
            </a:r>
          </a:p>
        </p:txBody>
      </p:sp>
      <p:sp>
        <p:nvSpPr>
          <p:cNvPr id="11" name="Google Shape;134;p5">
            <a:extLst>
              <a:ext uri="{FF2B5EF4-FFF2-40B4-BE49-F238E27FC236}">
                <a16:creationId xmlns:a16="http://schemas.microsoft.com/office/drawing/2014/main" id="{1C643E69-96C8-4F81-9083-8095249567E8}"/>
              </a:ext>
            </a:extLst>
          </p:cNvPr>
          <p:cNvSpPr/>
          <p:nvPr/>
        </p:nvSpPr>
        <p:spPr>
          <a:xfrm>
            <a:off x="495388" y="5535755"/>
            <a:ext cx="2880000" cy="432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180000" tIns="0" rIns="72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  <a:buClr>
                <a:srgbClr val="7D7D7D"/>
              </a:buClr>
            </a:pPr>
            <a:r>
              <a:rPr lang="en-US" altLang="ko-KR" sz="1200" b="1" kern="0">
                <a:latin typeface="+mn-ea"/>
                <a:sym typeface="Arial"/>
              </a:rPr>
              <a:t>[</a:t>
            </a:r>
            <a:r>
              <a:rPr lang="ko-KR" altLang="en-US" sz="1200" b="1" kern="0">
                <a:latin typeface="+mn-ea"/>
                <a:sym typeface="Arial"/>
              </a:rPr>
              <a:t>신규</a:t>
            </a:r>
            <a:r>
              <a:rPr lang="en-US" altLang="ko-KR" sz="1200" b="1" kern="0">
                <a:latin typeface="+mn-ea"/>
                <a:sym typeface="Arial"/>
              </a:rPr>
              <a:t>Task] (</a:t>
            </a:r>
            <a:r>
              <a:rPr lang="ko-KR" altLang="en-US" sz="1200" b="1" kern="0">
                <a:latin typeface="+mn-ea"/>
                <a:sym typeface="Arial"/>
              </a:rPr>
              <a:t>평가</a:t>
            </a:r>
            <a:r>
              <a:rPr kumimoji="1" lang="en-US" altLang="ko-KR" sz="12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 · </a:t>
            </a:r>
            <a:r>
              <a:rPr lang="ko-KR" altLang="en-US" sz="1200" b="1" kern="0">
                <a:latin typeface="+mn-ea"/>
                <a:sym typeface="Arial"/>
              </a:rPr>
              <a:t>모니터링 단계</a:t>
            </a:r>
            <a:r>
              <a:rPr lang="en-US" altLang="ko-KR" sz="1200" b="1" kern="0">
                <a:latin typeface="+mn-ea"/>
                <a:sym typeface="Arial"/>
              </a:rPr>
              <a:t>) AI</a:t>
            </a:r>
            <a:r>
              <a:rPr lang="ko-KR" altLang="en-US" sz="1200" b="1" kern="0">
                <a:latin typeface="+mn-ea"/>
                <a:sym typeface="Arial"/>
              </a:rPr>
              <a:t>성능 평가 및 고도화 방안 수립</a:t>
            </a:r>
          </a:p>
        </p:txBody>
      </p:sp>
      <p:sp>
        <p:nvSpPr>
          <p:cNvPr id="12" name="Google Shape;134;p5">
            <a:extLst>
              <a:ext uri="{FF2B5EF4-FFF2-40B4-BE49-F238E27FC236}">
                <a16:creationId xmlns:a16="http://schemas.microsoft.com/office/drawing/2014/main" id="{B6B452E1-C93E-A45F-86AB-357BCCCC7EBD}"/>
              </a:ext>
            </a:extLst>
          </p:cNvPr>
          <p:cNvSpPr/>
          <p:nvPr/>
        </p:nvSpPr>
        <p:spPr>
          <a:xfrm>
            <a:off x="495388" y="6092625"/>
            <a:ext cx="2880000" cy="432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180000" tIns="0" rIns="72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  <a:buClr>
                <a:srgbClr val="7D7D7D"/>
              </a:buClr>
            </a:pPr>
            <a:r>
              <a:rPr lang="en-US" altLang="ko-KR" sz="1200" b="1" kern="0">
                <a:latin typeface="+mn-ea"/>
                <a:sym typeface="Arial"/>
              </a:rPr>
              <a:t>[</a:t>
            </a:r>
            <a:r>
              <a:rPr lang="ko-KR" altLang="en-US" sz="1200" b="1" kern="0">
                <a:latin typeface="+mn-ea"/>
                <a:sym typeface="Arial"/>
              </a:rPr>
              <a:t>신규</a:t>
            </a:r>
            <a:r>
              <a:rPr lang="en-US" altLang="ko-KR" sz="1200" b="1" kern="0">
                <a:latin typeface="+mn-ea"/>
                <a:sym typeface="Arial"/>
              </a:rPr>
              <a:t>Task] AI</a:t>
            </a:r>
            <a:r>
              <a:rPr lang="ko-KR" altLang="en-US" sz="1200" b="1" kern="0">
                <a:latin typeface="+mn-ea"/>
                <a:sym typeface="Arial"/>
              </a:rPr>
              <a:t>거버넌스 지원도구 설계</a:t>
            </a:r>
          </a:p>
        </p:txBody>
      </p:sp>
      <p:sp>
        <p:nvSpPr>
          <p:cNvPr id="13" name="Google Shape;134;p5">
            <a:extLst>
              <a:ext uri="{FF2B5EF4-FFF2-40B4-BE49-F238E27FC236}">
                <a16:creationId xmlns:a16="http://schemas.microsoft.com/office/drawing/2014/main" id="{B4C819F0-E397-CA69-B5BC-18E9D7678073}"/>
              </a:ext>
            </a:extLst>
          </p:cNvPr>
          <p:cNvSpPr/>
          <p:nvPr/>
        </p:nvSpPr>
        <p:spPr>
          <a:xfrm>
            <a:off x="6553268" y="1637651"/>
            <a:ext cx="1728000" cy="4320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9050" cap="flat" cmpd="sng" algn="ctr">
            <a:noFill/>
            <a:prstDash val="solid"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7200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  <a:spcAft>
                <a:spcPts val="1000"/>
              </a:spcAft>
              <a:buClr>
                <a:srgbClr val="7D7D7D"/>
              </a:buClr>
            </a:pPr>
            <a:r>
              <a:rPr lang="en-US" altLang="ko-KR" sz="1200" b="1" kern="0">
                <a:latin typeface="+mn-ea"/>
                <a:sym typeface="Arial"/>
              </a:rPr>
              <a:t>AI</a:t>
            </a:r>
            <a:r>
              <a:rPr lang="ko-KR" altLang="en-US" sz="1200" b="1" kern="0">
                <a:latin typeface="+mn-ea"/>
                <a:sym typeface="Arial"/>
              </a:rPr>
              <a:t>거버넌스 요건 매트릭스</a:t>
            </a:r>
          </a:p>
        </p:txBody>
      </p:sp>
      <p:sp>
        <p:nvSpPr>
          <p:cNvPr id="14" name="Google Shape;134;p5">
            <a:extLst>
              <a:ext uri="{FF2B5EF4-FFF2-40B4-BE49-F238E27FC236}">
                <a16:creationId xmlns:a16="http://schemas.microsoft.com/office/drawing/2014/main" id="{DB02DD31-0991-EBF1-07E3-438D90024F98}"/>
              </a:ext>
            </a:extLst>
          </p:cNvPr>
          <p:cNvSpPr/>
          <p:nvPr/>
        </p:nvSpPr>
        <p:spPr>
          <a:xfrm>
            <a:off x="6553268" y="2751395"/>
            <a:ext cx="1728000" cy="4320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9050" cap="flat" cmpd="sng" algn="ctr">
            <a:noFill/>
            <a:prstDash val="solid"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7200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  <a:spcAft>
                <a:spcPts val="1000"/>
              </a:spcAft>
              <a:buClr>
                <a:srgbClr val="7D7D7D"/>
              </a:buClr>
            </a:pPr>
            <a:r>
              <a:rPr lang="en-US" altLang="ko-KR" sz="1200" b="1" kern="0">
                <a:latin typeface="+mn-ea"/>
                <a:sym typeface="Arial"/>
              </a:rPr>
              <a:t>AI</a:t>
            </a:r>
            <a:r>
              <a:rPr lang="ko-KR" altLang="en-US" sz="1200" b="1" kern="0">
                <a:latin typeface="+mn-ea"/>
                <a:sym typeface="Arial"/>
              </a:rPr>
              <a:t>거버넌스 규정서</a:t>
            </a:r>
          </a:p>
        </p:txBody>
      </p:sp>
      <p:sp>
        <p:nvSpPr>
          <p:cNvPr id="15" name="Google Shape;134;p5">
            <a:extLst>
              <a:ext uri="{FF2B5EF4-FFF2-40B4-BE49-F238E27FC236}">
                <a16:creationId xmlns:a16="http://schemas.microsoft.com/office/drawing/2014/main" id="{F6824DCD-3694-D344-2F49-5E9FDF61D1B0}"/>
              </a:ext>
            </a:extLst>
          </p:cNvPr>
          <p:cNvSpPr/>
          <p:nvPr/>
        </p:nvSpPr>
        <p:spPr>
          <a:xfrm>
            <a:off x="6553268" y="3308267"/>
            <a:ext cx="1728000" cy="4320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9050" cap="flat" cmpd="sng" algn="ctr">
            <a:noFill/>
            <a:prstDash val="solid"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7200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  <a:spcAft>
                <a:spcPts val="1000"/>
              </a:spcAft>
              <a:buClr>
                <a:srgbClr val="7D7D7D"/>
              </a:buClr>
            </a:pPr>
            <a:r>
              <a:rPr lang="en-US" altLang="ko-KR" sz="1200" b="1" kern="0">
                <a:latin typeface="+mn-ea"/>
                <a:sym typeface="Arial"/>
              </a:rPr>
              <a:t>AI</a:t>
            </a:r>
            <a:r>
              <a:rPr lang="ko-KR" altLang="en-US" sz="1200" b="1" kern="0">
                <a:latin typeface="+mn-ea"/>
                <a:sym typeface="Arial"/>
              </a:rPr>
              <a:t>거버넌스 운영 지침서</a:t>
            </a:r>
          </a:p>
        </p:txBody>
      </p:sp>
      <p:sp>
        <p:nvSpPr>
          <p:cNvPr id="16" name="Google Shape;134;p5">
            <a:extLst>
              <a:ext uri="{FF2B5EF4-FFF2-40B4-BE49-F238E27FC236}">
                <a16:creationId xmlns:a16="http://schemas.microsoft.com/office/drawing/2014/main" id="{2CC409DF-825E-1395-3E1E-849AC9A69970}"/>
              </a:ext>
            </a:extLst>
          </p:cNvPr>
          <p:cNvSpPr/>
          <p:nvPr/>
        </p:nvSpPr>
        <p:spPr>
          <a:xfrm>
            <a:off x="6553268" y="3865139"/>
            <a:ext cx="1728000" cy="4320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9050" cap="flat" cmpd="sng" algn="ctr">
            <a:noFill/>
            <a:prstDash val="solid"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7200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  <a:spcAft>
                <a:spcPts val="1000"/>
              </a:spcAft>
              <a:buClr>
                <a:srgbClr val="7D7D7D"/>
              </a:buClr>
            </a:pPr>
            <a:r>
              <a:rPr lang="en-US" altLang="ko-KR" sz="1200" b="1" kern="0">
                <a:latin typeface="+mn-ea"/>
                <a:sym typeface="Arial"/>
              </a:rPr>
              <a:t>AI </a:t>
            </a:r>
            <a:r>
              <a:rPr lang="ko-KR" altLang="en-US" sz="1200" b="1" kern="0">
                <a:latin typeface="+mn-ea"/>
                <a:sym typeface="Arial"/>
              </a:rPr>
              <a:t>개발운영 지침서</a:t>
            </a:r>
          </a:p>
        </p:txBody>
      </p:sp>
      <p:sp>
        <p:nvSpPr>
          <p:cNvPr id="17" name="Google Shape;134;p5">
            <a:extLst>
              <a:ext uri="{FF2B5EF4-FFF2-40B4-BE49-F238E27FC236}">
                <a16:creationId xmlns:a16="http://schemas.microsoft.com/office/drawing/2014/main" id="{ECFBE74A-1B19-67D4-E2AE-B0980AF2A2A2}"/>
              </a:ext>
            </a:extLst>
          </p:cNvPr>
          <p:cNvSpPr/>
          <p:nvPr/>
        </p:nvSpPr>
        <p:spPr>
          <a:xfrm>
            <a:off x="6553268" y="4422011"/>
            <a:ext cx="1728000" cy="4320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9050" cap="flat" cmpd="sng" algn="ctr">
            <a:noFill/>
            <a:prstDash val="solid"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7200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  <a:spcAft>
                <a:spcPts val="1000"/>
              </a:spcAft>
              <a:buClr>
                <a:srgbClr val="7D7D7D"/>
              </a:buClr>
            </a:pPr>
            <a:r>
              <a:rPr lang="ko-KR" altLang="en-US" sz="1200" b="1" kern="0">
                <a:latin typeface="+mn-ea"/>
                <a:sym typeface="Arial"/>
              </a:rPr>
              <a:t>생성형 </a:t>
            </a:r>
            <a:r>
              <a:rPr lang="en-US" altLang="ko-KR" sz="1200" b="1" kern="0">
                <a:latin typeface="+mn-ea"/>
                <a:sym typeface="Arial"/>
              </a:rPr>
              <a:t>AI </a:t>
            </a:r>
            <a:r>
              <a:rPr lang="ko-KR" altLang="en-US" sz="1200" b="1" kern="0">
                <a:latin typeface="+mn-ea"/>
                <a:sym typeface="Arial"/>
              </a:rPr>
              <a:t>특화 보안 대책서</a:t>
            </a:r>
          </a:p>
        </p:txBody>
      </p:sp>
      <p:sp>
        <p:nvSpPr>
          <p:cNvPr id="18" name="Google Shape;134;p5">
            <a:extLst>
              <a:ext uri="{FF2B5EF4-FFF2-40B4-BE49-F238E27FC236}">
                <a16:creationId xmlns:a16="http://schemas.microsoft.com/office/drawing/2014/main" id="{A3562E5B-8097-7ACE-DCD0-3EDA081B751B}"/>
              </a:ext>
            </a:extLst>
          </p:cNvPr>
          <p:cNvSpPr/>
          <p:nvPr/>
        </p:nvSpPr>
        <p:spPr>
          <a:xfrm>
            <a:off x="6553268" y="5535755"/>
            <a:ext cx="1728000" cy="4320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9050" cap="flat" cmpd="sng" algn="ctr">
            <a:noFill/>
            <a:prstDash val="solid"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7200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  <a:spcAft>
                <a:spcPts val="1000"/>
              </a:spcAft>
              <a:buClr>
                <a:srgbClr val="7D7D7D"/>
              </a:buClr>
            </a:pPr>
            <a:r>
              <a:rPr lang="en-US" altLang="ko-KR" sz="1200" b="1" kern="0">
                <a:latin typeface="+mn-ea"/>
                <a:sym typeface="Arial"/>
              </a:rPr>
              <a:t>AI</a:t>
            </a:r>
            <a:r>
              <a:rPr lang="ko-KR" altLang="en-US" sz="1200" b="1" kern="0">
                <a:latin typeface="+mn-ea"/>
                <a:sym typeface="Arial"/>
              </a:rPr>
              <a:t>성능 평가 및 고도화 방안 정의서</a:t>
            </a:r>
          </a:p>
        </p:txBody>
      </p:sp>
      <p:sp>
        <p:nvSpPr>
          <p:cNvPr id="19" name="Google Shape;134;p5">
            <a:extLst>
              <a:ext uri="{FF2B5EF4-FFF2-40B4-BE49-F238E27FC236}">
                <a16:creationId xmlns:a16="http://schemas.microsoft.com/office/drawing/2014/main" id="{EAB15345-DF8D-B279-B9D2-DD904FC98769}"/>
              </a:ext>
            </a:extLst>
          </p:cNvPr>
          <p:cNvSpPr/>
          <p:nvPr/>
        </p:nvSpPr>
        <p:spPr>
          <a:xfrm>
            <a:off x="6553268" y="6092625"/>
            <a:ext cx="1728000" cy="4320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9050" cap="flat" cmpd="sng" algn="ctr">
            <a:noFill/>
            <a:prstDash val="solid"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7200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  <a:spcAft>
                <a:spcPts val="1000"/>
              </a:spcAft>
              <a:buClr>
                <a:srgbClr val="7D7D7D"/>
              </a:buClr>
            </a:pPr>
            <a:r>
              <a:rPr lang="en-US" altLang="ko-KR" sz="1000" b="1" kern="0" spc="-150">
                <a:latin typeface="+mn-ea"/>
                <a:sym typeface="Arial"/>
              </a:rPr>
              <a:t>AI </a:t>
            </a:r>
            <a:r>
              <a:rPr lang="ko-KR" altLang="en-US" sz="1000" b="1" kern="0" spc="-150" err="1">
                <a:latin typeface="+mn-ea"/>
                <a:sym typeface="Arial"/>
              </a:rPr>
              <a:t>위수탁</a:t>
            </a:r>
            <a:r>
              <a:rPr lang="ko-KR" altLang="en-US" sz="1000" b="1" kern="0" spc="-150">
                <a:latin typeface="+mn-ea"/>
                <a:sym typeface="Arial"/>
              </a:rPr>
              <a:t> 체크리스트</a:t>
            </a:r>
            <a:r>
              <a:rPr lang="en-US" altLang="ko-KR" sz="1000" b="1" kern="0" spc="-150">
                <a:latin typeface="+mn-ea"/>
                <a:sym typeface="Arial"/>
              </a:rPr>
              <a:t>, </a:t>
            </a:r>
            <a:r>
              <a:rPr lang="ko-KR" altLang="en-US" sz="1000" b="1" kern="0" spc="-150">
                <a:latin typeface="+mn-ea"/>
                <a:sym typeface="Arial"/>
              </a:rPr>
              <a:t>위험도평가서</a:t>
            </a:r>
            <a:r>
              <a:rPr lang="en-US" altLang="ko-KR" sz="1000" b="1" kern="0" spc="-150">
                <a:latin typeface="+mn-ea"/>
                <a:sym typeface="Arial"/>
              </a:rPr>
              <a:t>, </a:t>
            </a:r>
            <a:r>
              <a:rPr lang="ko-KR" altLang="en-US" sz="1000" b="1" kern="0" spc="-150" err="1">
                <a:latin typeface="+mn-ea"/>
                <a:sym typeface="Arial"/>
              </a:rPr>
              <a:t>영향도평가서</a:t>
            </a:r>
            <a:r>
              <a:rPr lang="en-US" altLang="ko-KR" sz="1000" b="1" kern="0" spc="-150">
                <a:latin typeface="+mn-ea"/>
                <a:sym typeface="Arial"/>
              </a:rPr>
              <a:t>, </a:t>
            </a:r>
            <a:r>
              <a:rPr lang="ko-KR" altLang="en-US" sz="1000" b="1" kern="0" spc="-150">
                <a:latin typeface="+mn-ea"/>
                <a:sym typeface="Arial"/>
              </a:rPr>
              <a:t>안전성평가서</a:t>
            </a:r>
          </a:p>
        </p:txBody>
      </p:sp>
      <p:sp>
        <p:nvSpPr>
          <p:cNvPr id="20" name="Google Shape;134;p5">
            <a:extLst>
              <a:ext uri="{FF2B5EF4-FFF2-40B4-BE49-F238E27FC236}">
                <a16:creationId xmlns:a16="http://schemas.microsoft.com/office/drawing/2014/main" id="{BC6AD514-F66A-69D0-4115-E6CF4FBE5E09}"/>
              </a:ext>
            </a:extLst>
          </p:cNvPr>
          <p:cNvSpPr/>
          <p:nvPr/>
        </p:nvSpPr>
        <p:spPr>
          <a:xfrm>
            <a:off x="3524330" y="2751395"/>
            <a:ext cx="2880000" cy="432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7200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71450" indent="-171450" defTabSz="457200" latinLnBrk="0">
              <a:spcBef>
                <a:spcPts val="600"/>
              </a:spcBef>
              <a:spcAft>
                <a:spcPts val="1000"/>
              </a:spcAft>
              <a:buClr>
                <a:srgbClr val="7D7D7D"/>
              </a:buClr>
              <a:buFont typeface="Arial" panose="020B0604020202020204" pitchFamily="34" charset="0"/>
              <a:buChar char="•"/>
            </a:pPr>
            <a:r>
              <a:rPr lang="en-US" altLang="ko-KR" sz="1200" b="1" kern="0">
                <a:latin typeface="+mn-ea"/>
                <a:sym typeface="Arial"/>
              </a:rPr>
              <a:t>AI</a:t>
            </a:r>
            <a:r>
              <a:rPr lang="ko-KR" altLang="en-US" sz="1200" b="1" kern="0">
                <a:latin typeface="+mn-ea"/>
                <a:sym typeface="Arial"/>
              </a:rPr>
              <a:t>거버넌스 규정 설계</a:t>
            </a:r>
            <a:br>
              <a:rPr lang="en-US" altLang="ko-KR" sz="1200" b="1" kern="0">
                <a:latin typeface="+mn-ea"/>
                <a:sym typeface="Arial"/>
              </a:rPr>
            </a:br>
            <a:r>
              <a:rPr lang="en-US" altLang="ko-KR" sz="1000" kern="0">
                <a:latin typeface="+mn-ea"/>
                <a:sym typeface="Arial"/>
              </a:rPr>
              <a:t>(</a:t>
            </a:r>
            <a:r>
              <a:rPr lang="ko-KR" altLang="en-US" sz="1000" kern="0">
                <a:latin typeface="+mn-ea"/>
                <a:sym typeface="Arial"/>
              </a:rPr>
              <a:t>대상</a:t>
            </a:r>
            <a:r>
              <a:rPr lang="en-US" altLang="ko-KR" sz="1000" kern="0">
                <a:latin typeface="+mn-ea"/>
                <a:sym typeface="Arial"/>
              </a:rPr>
              <a:t>, </a:t>
            </a:r>
            <a:r>
              <a:rPr lang="ko-KR" altLang="en-US" sz="1000" kern="0">
                <a:latin typeface="+mn-ea"/>
                <a:sym typeface="Arial"/>
              </a:rPr>
              <a:t>범위</a:t>
            </a:r>
            <a:r>
              <a:rPr lang="en-US" altLang="ko-KR" sz="1000" kern="0">
                <a:latin typeface="+mn-ea"/>
                <a:sym typeface="Arial"/>
              </a:rPr>
              <a:t>, </a:t>
            </a:r>
            <a:r>
              <a:rPr lang="ko-KR" altLang="en-US" sz="1000" kern="0">
                <a:latin typeface="+mn-ea"/>
                <a:sym typeface="Arial"/>
              </a:rPr>
              <a:t>원칙</a:t>
            </a:r>
            <a:r>
              <a:rPr lang="en-US" altLang="ko-KR" sz="1000" kern="0">
                <a:latin typeface="+mn-ea"/>
                <a:sym typeface="Arial"/>
              </a:rPr>
              <a:t>, </a:t>
            </a:r>
            <a:r>
              <a:rPr lang="ko-KR" altLang="en-US" sz="1000" kern="0">
                <a:latin typeface="+mn-ea"/>
                <a:sym typeface="Arial"/>
              </a:rPr>
              <a:t>기준</a:t>
            </a:r>
            <a:r>
              <a:rPr lang="en-US" altLang="ko-KR" sz="1000" kern="0">
                <a:latin typeface="+mn-ea"/>
                <a:sym typeface="Arial"/>
              </a:rPr>
              <a:t>, AI</a:t>
            </a:r>
            <a:r>
              <a:rPr lang="ko-KR" altLang="en-US" sz="1000" kern="0" err="1">
                <a:latin typeface="+mn-ea"/>
                <a:sym typeface="Arial"/>
              </a:rPr>
              <a:t>거버넌스협의체</a:t>
            </a:r>
            <a:r>
              <a:rPr lang="en-US" altLang="ko-KR" sz="1000" kern="0">
                <a:latin typeface="+mn-ea"/>
                <a:sym typeface="Arial"/>
              </a:rPr>
              <a:t> </a:t>
            </a:r>
            <a:r>
              <a:rPr lang="ko-KR" altLang="en-US" sz="1000" kern="0">
                <a:latin typeface="+mn-ea"/>
                <a:sym typeface="Arial"/>
              </a:rPr>
              <a:t>등</a:t>
            </a:r>
            <a:r>
              <a:rPr lang="en-US" altLang="ko-KR" sz="1000" kern="0">
                <a:latin typeface="+mn-ea"/>
                <a:sym typeface="Arial"/>
              </a:rPr>
              <a:t>)</a:t>
            </a:r>
            <a:endParaRPr lang="ko-KR" altLang="en-US" sz="1050" kern="0">
              <a:latin typeface="+mn-ea"/>
              <a:sym typeface="Arial"/>
            </a:endParaRPr>
          </a:p>
        </p:txBody>
      </p:sp>
      <p:sp>
        <p:nvSpPr>
          <p:cNvPr id="21" name="Google Shape;134;p5">
            <a:extLst>
              <a:ext uri="{FF2B5EF4-FFF2-40B4-BE49-F238E27FC236}">
                <a16:creationId xmlns:a16="http://schemas.microsoft.com/office/drawing/2014/main" id="{B1747486-8DE8-711B-C3F2-EAAC3AD77D3B}"/>
              </a:ext>
            </a:extLst>
          </p:cNvPr>
          <p:cNvSpPr/>
          <p:nvPr/>
        </p:nvSpPr>
        <p:spPr>
          <a:xfrm>
            <a:off x="3524330" y="3308267"/>
            <a:ext cx="2880000" cy="432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7200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71450" indent="-171450" defTabSz="457200" latinLnBrk="0">
              <a:spcBef>
                <a:spcPts val="600"/>
              </a:spcBef>
              <a:spcAft>
                <a:spcPts val="1000"/>
              </a:spcAft>
              <a:buClr>
                <a:srgbClr val="7D7D7D"/>
              </a:buClr>
              <a:buFont typeface="Arial" panose="020B0604020202020204" pitchFamily="34" charset="0"/>
              <a:buChar char="•"/>
            </a:pPr>
            <a:r>
              <a:rPr lang="en-US" altLang="ko-KR" sz="1200" b="1" kern="0">
                <a:latin typeface="+mn-ea"/>
                <a:sym typeface="Arial"/>
              </a:rPr>
              <a:t>AI</a:t>
            </a:r>
            <a:r>
              <a:rPr lang="ko-KR" altLang="en-US" sz="1200" b="1" kern="0">
                <a:latin typeface="+mn-ea"/>
                <a:sym typeface="Arial"/>
              </a:rPr>
              <a:t>거버넌스 운영 지침 설계 </a:t>
            </a:r>
            <a:br>
              <a:rPr lang="en-US" altLang="ko-KR" sz="1200" b="1" kern="0">
                <a:latin typeface="+mn-ea"/>
                <a:sym typeface="Arial"/>
              </a:rPr>
            </a:br>
            <a:r>
              <a:rPr lang="en-US" altLang="ko-KR" sz="1000" kern="0">
                <a:latin typeface="+mn-ea"/>
                <a:sym typeface="Arial"/>
              </a:rPr>
              <a:t>(</a:t>
            </a:r>
            <a:r>
              <a:rPr lang="ko-KR" altLang="en-US" sz="1000" kern="0">
                <a:latin typeface="+mn-ea"/>
                <a:sym typeface="Arial"/>
              </a:rPr>
              <a:t>거버넌스 조직</a:t>
            </a:r>
            <a:r>
              <a:rPr lang="en-US" altLang="ko-KR" sz="1000" kern="0">
                <a:latin typeface="+mn-ea"/>
                <a:sym typeface="Arial"/>
              </a:rPr>
              <a:t>, R&amp;R, </a:t>
            </a:r>
            <a:r>
              <a:rPr lang="ko-KR" altLang="en-US" sz="1000" kern="0">
                <a:latin typeface="+mn-ea"/>
                <a:sym typeface="Arial"/>
              </a:rPr>
              <a:t>통제</a:t>
            </a:r>
            <a:r>
              <a:rPr lang="en-US" altLang="ko-KR" sz="1000" kern="0">
                <a:latin typeface="+mn-ea"/>
                <a:sym typeface="Arial"/>
              </a:rPr>
              <a:t>/</a:t>
            </a:r>
            <a:r>
              <a:rPr lang="ko-KR" altLang="en-US" sz="1000" kern="0">
                <a:latin typeface="+mn-ea"/>
                <a:sym typeface="Arial"/>
              </a:rPr>
              <a:t>승인 등</a:t>
            </a:r>
            <a:r>
              <a:rPr lang="en-US" altLang="ko-KR" sz="1000" kern="0">
                <a:latin typeface="+mn-ea"/>
                <a:sym typeface="Arial"/>
              </a:rPr>
              <a:t>)</a:t>
            </a:r>
            <a:endParaRPr lang="ko-KR" altLang="en-US" sz="1050" kern="0">
              <a:latin typeface="+mn-ea"/>
              <a:sym typeface="Arial"/>
            </a:endParaRPr>
          </a:p>
        </p:txBody>
      </p:sp>
      <p:sp>
        <p:nvSpPr>
          <p:cNvPr id="22" name="Google Shape;134;p5">
            <a:extLst>
              <a:ext uri="{FF2B5EF4-FFF2-40B4-BE49-F238E27FC236}">
                <a16:creationId xmlns:a16="http://schemas.microsoft.com/office/drawing/2014/main" id="{3CA7DE23-D4E3-E1DA-1E5E-0E566AB5B3B2}"/>
              </a:ext>
            </a:extLst>
          </p:cNvPr>
          <p:cNvSpPr/>
          <p:nvPr/>
        </p:nvSpPr>
        <p:spPr>
          <a:xfrm>
            <a:off x="3524330" y="3865139"/>
            <a:ext cx="2880000" cy="432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7200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71450" indent="-171450" defTabSz="457200" latinLnBrk="0">
              <a:spcBef>
                <a:spcPts val="600"/>
              </a:spcBef>
              <a:spcAft>
                <a:spcPts val="1000"/>
              </a:spcAft>
              <a:buClr>
                <a:srgbClr val="7D7D7D"/>
              </a:buClr>
              <a:buFont typeface="Arial" panose="020B0604020202020204" pitchFamily="34" charset="0"/>
              <a:buChar char="•"/>
            </a:pPr>
            <a:r>
              <a:rPr lang="en-US" altLang="ko-KR" sz="1200" b="1" kern="0">
                <a:latin typeface="+mn-ea"/>
                <a:sym typeface="Arial"/>
              </a:rPr>
              <a:t>AI </a:t>
            </a:r>
            <a:r>
              <a:rPr lang="ko-KR" altLang="en-US" sz="1200" b="1" kern="0">
                <a:latin typeface="+mn-ea"/>
                <a:sym typeface="Arial"/>
              </a:rPr>
              <a:t>개발운영 지침 설계 </a:t>
            </a:r>
            <a:br>
              <a:rPr lang="en-US" altLang="ko-KR" sz="1200" b="1" kern="0">
                <a:latin typeface="+mn-ea"/>
                <a:sym typeface="Arial"/>
              </a:rPr>
            </a:br>
            <a:r>
              <a:rPr lang="en-US" altLang="ko-KR" sz="1000" kern="0">
                <a:latin typeface="+mn-ea"/>
                <a:sym typeface="Arial"/>
              </a:rPr>
              <a:t>(</a:t>
            </a:r>
            <a:r>
              <a:rPr lang="ko-KR" altLang="en-US" sz="1000" kern="0">
                <a:latin typeface="+mn-ea"/>
                <a:sym typeface="Arial"/>
              </a:rPr>
              <a:t>기획</a:t>
            </a:r>
            <a:r>
              <a:rPr lang="en-US" altLang="ko-KR" sz="1000" kern="0">
                <a:latin typeface="+mn-ea"/>
                <a:sym typeface="Arial"/>
              </a:rPr>
              <a:t>~</a:t>
            </a:r>
            <a:r>
              <a:rPr lang="ko-KR" altLang="en-US" sz="1000" kern="0">
                <a:latin typeface="+mn-ea"/>
                <a:sym typeface="Arial"/>
              </a:rPr>
              <a:t>운영 각 단계별 수행 절차 및 </a:t>
            </a:r>
            <a:r>
              <a:rPr lang="en-US" altLang="ko-KR" sz="1000" kern="0">
                <a:latin typeface="+mn-ea"/>
                <a:sym typeface="Arial"/>
              </a:rPr>
              <a:t>R&amp;R)</a:t>
            </a:r>
            <a:endParaRPr lang="ko-KR" altLang="en-US" sz="1100" kern="0">
              <a:latin typeface="+mn-ea"/>
              <a:sym typeface="Arial"/>
            </a:endParaRPr>
          </a:p>
        </p:txBody>
      </p:sp>
      <p:sp>
        <p:nvSpPr>
          <p:cNvPr id="23" name="Google Shape;134;p5">
            <a:extLst>
              <a:ext uri="{FF2B5EF4-FFF2-40B4-BE49-F238E27FC236}">
                <a16:creationId xmlns:a16="http://schemas.microsoft.com/office/drawing/2014/main" id="{6C75A0D6-C5EA-3528-6183-4D390F662C66}"/>
              </a:ext>
            </a:extLst>
          </p:cNvPr>
          <p:cNvSpPr/>
          <p:nvPr/>
        </p:nvSpPr>
        <p:spPr>
          <a:xfrm>
            <a:off x="3524330" y="4422011"/>
            <a:ext cx="2880000" cy="432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7200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71450" indent="-171450" defTabSz="457200" latinLnBrk="0">
              <a:spcBef>
                <a:spcPts val="600"/>
              </a:spcBef>
              <a:spcAft>
                <a:spcPts val="1000"/>
              </a:spcAft>
              <a:buClr>
                <a:srgbClr val="7D7D7D"/>
              </a:buClr>
              <a:buFont typeface="Arial" panose="020B0604020202020204" pitchFamily="34" charset="0"/>
              <a:buChar char="•"/>
            </a:pPr>
            <a:r>
              <a:rPr lang="ko-KR" altLang="en-US" sz="1200" b="1" kern="0">
                <a:latin typeface="+mn-ea"/>
                <a:sym typeface="Arial"/>
              </a:rPr>
              <a:t>생성형 </a:t>
            </a:r>
            <a:r>
              <a:rPr lang="en-US" altLang="ko-KR" sz="1200" b="1" kern="0">
                <a:latin typeface="+mn-ea"/>
                <a:sym typeface="Arial"/>
              </a:rPr>
              <a:t>AI </a:t>
            </a:r>
            <a:r>
              <a:rPr lang="ko-KR" altLang="en-US" sz="1200" b="1" kern="0">
                <a:latin typeface="+mn-ea"/>
                <a:sym typeface="Arial"/>
              </a:rPr>
              <a:t>특화 운영관리 보안대책 요건 정의 및 수립</a:t>
            </a:r>
            <a:endParaRPr lang="ko-KR" altLang="en-US" sz="1100" kern="0">
              <a:latin typeface="+mn-ea"/>
              <a:sym typeface="Arial"/>
            </a:endParaRPr>
          </a:p>
        </p:txBody>
      </p:sp>
      <p:sp>
        <p:nvSpPr>
          <p:cNvPr id="24" name="Google Shape;134;p5">
            <a:extLst>
              <a:ext uri="{FF2B5EF4-FFF2-40B4-BE49-F238E27FC236}">
                <a16:creationId xmlns:a16="http://schemas.microsoft.com/office/drawing/2014/main" id="{D3BDFA8F-2569-61B1-295C-64FD022A2699}"/>
              </a:ext>
            </a:extLst>
          </p:cNvPr>
          <p:cNvSpPr/>
          <p:nvPr/>
        </p:nvSpPr>
        <p:spPr>
          <a:xfrm>
            <a:off x="3524330" y="5535755"/>
            <a:ext cx="2880000" cy="432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7200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71450" indent="-171450">
              <a:spcBef>
                <a:spcPts val="600"/>
              </a:spcBef>
              <a:spcAft>
                <a:spcPts val="1000"/>
              </a:spcAft>
              <a:buClr>
                <a:srgbClr val="7D7D7D"/>
              </a:buClr>
              <a:buFont typeface="Arial" panose="020B0604020202020204" pitchFamily="34" charset="0"/>
              <a:buChar char="•"/>
            </a:pPr>
            <a:r>
              <a:rPr lang="ko-KR" altLang="en-US" sz="1200" b="1" kern="0">
                <a:latin typeface="+mn-ea"/>
                <a:sym typeface="Arial"/>
              </a:rPr>
              <a:t>업무</a:t>
            </a:r>
            <a:r>
              <a:rPr lang="en-US" altLang="ko-KR" sz="1200" b="1" kern="0">
                <a:latin typeface="+mn-ea"/>
                <a:sym typeface="Arial"/>
              </a:rPr>
              <a:t>/</a:t>
            </a:r>
            <a:r>
              <a:rPr lang="ko-KR" altLang="en-US" sz="1200" b="1" kern="0">
                <a:latin typeface="+mn-ea"/>
                <a:sym typeface="Arial"/>
              </a:rPr>
              <a:t>기술</a:t>
            </a:r>
            <a:r>
              <a:rPr lang="en-US" altLang="ko-KR" sz="1200" b="1" kern="0">
                <a:latin typeface="+mn-ea"/>
                <a:sym typeface="Arial"/>
              </a:rPr>
              <a:t>/</a:t>
            </a:r>
            <a:r>
              <a:rPr lang="ko-KR" altLang="en-US" sz="1200" b="1" kern="0">
                <a:latin typeface="+mn-ea"/>
                <a:sym typeface="Arial"/>
              </a:rPr>
              <a:t>데이터 관점에서 모니터링을 통한 </a:t>
            </a:r>
            <a:r>
              <a:rPr lang="en-US" altLang="ko-KR" sz="1200" b="1" kern="0">
                <a:latin typeface="+mn-ea"/>
                <a:sym typeface="Arial"/>
              </a:rPr>
              <a:t>AI </a:t>
            </a:r>
            <a:r>
              <a:rPr lang="ko-KR" altLang="en-US" sz="1200" b="1" kern="0">
                <a:latin typeface="+mn-ea"/>
                <a:sym typeface="Arial"/>
              </a:rPr>
              <a:t>성능 고도화 방안</a:t>
            </a:r>
            <a:endParaRPr lang="ko-KR" altLang="en-US" sz="1200" kern="0">
              <a:latin typeface="+mn-ea"/>
              <a:sym typeface="Arial"/>
            </a:endParaRPr>
          </a:p>
        </p:txBody>
      </p:sp>
      <p:sp>
        <p:nvSpPr>
          <p:cNvPr id="25" name="Google Shape;134;p5">
            <a:extLst>
              <a:ext uri="{FF2B5EF4-FFF2-40B4-BE49-F238E27FC236}">
                <a16:creationId xmlns:a16="http://schemas.microsoft.com/office/drawing/2014/main" id="{31F63725-7D00-DB59-1103-0CE45994A467}"/>
              </a:ext>
            </a:extLst>
          </p:cNvPr>
          <p:cNvSpPr/>
          <p:nvPr/>
        </p:nvSpPr>
        <p:spPr>
          <a:xfrm>
            <a:off x="3524330" y="6092625"/>
            <a:ext cx="2880000" cy="432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7200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71450" indent="-171450">
              <a:spcBef>
                <a:spcPts val="600"/>
              </a:spcBef>
              <a:spcAft>
                <a:spcPts val="1000"/>
              </a:spcAft>
              <a:buClr>
                <a:srgbClr val="7D7D7D"/>
              </a:buClr>
              <a:buFont typeface="Arial" panose="020B0604020202020204" pitchFamily="34" charset="0"/>
              <a:buChar char="•"/>
            </a:pPr>
            <a:r>
              <a:rPr lang="en-US" altLang="ko-KR" sz="1200" b="1" kern="0">
                <a:latin typeface="+mn-ea"/>
                <a:sym typeface="Arial"/>
              </a:rPr>
              <a:t>AI</a:t>
            </a:r>
            <a:r>
              <a:rPr lang="ko-KR" altLang="en-US" sz="1200" b="1" kern="0">
                <a:latin typeface="+mn-ea"/>
                <a:sym typeface="Arial"/>
              </a:rPr>
              <a:t>서비스 각 영역을 평가할 수 있는 체크리스트 설계</a:t>
            </a:r>
            <a:endParaRPr lang="ko-KR" altLang="en-US" sz="1100" kern="0">
              <a:latin typeface="+mn-ea"/>
              <a:sym typeface="Arial"/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00FF02D7-4A6C-EE2B-D666-688577772427}"/>
              </a:ext>
            </a:extLst>
          </p:cNvPr>
          <p:cNvGrpSpPr/>
          <p:nvPr/>
        </p:nvGrpSpPr>
        <p:grpSpPr>
          <a:xfrm>
            <a:off x="6477309" y="800100"/>
            <a:ext cx="1770204" cy="271234"/>
            <a:chOff x="6539862" y="6278352"/>
            <a:chExt cx="1770204" cy="252000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9E5027D-4B27-9BB9-419F-18A8C0C2797E}"/>
                </a:ext>
              </a:extLst>
            </p:cNvPr>
            <p:cNvSpPr txBox="1"/>
            <p:nvPr/>
          </p:nvSpPr>
          <p:spPr>
            <a:xfrm>
              <a:off x="6719862" y="6278352"/>
              <a:ext cx="1590204" cy="2520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txBody>
            <a:bodyPr wrap="square" lIns="0" rtlCol="0" anchor="ctr">
              <a:noAutofit/>
            </a:bodyPr>
            <a:lstStyle/>
            <a:p>
              <a:pPr algn="r"/>
              <a:endParaRPr lang="ko-KR" altLang="en-US" sz="800">
                <a:latin typeface="+mn-ea"/>
              </a:endParaRPr>
            </a:p>
          </p:txBody>
        </p:sp>
        <p:sp>
          <p:nvSpPr>
            <p:cNvPr id="28" name="Rectangle: Rounded Corners 54">
              <a:extLst>
                <a:ext uri="{FF2B5EF4-FFF2-40B4-BE49-F238E27FC236}">
                  <a16:creationId xmlns:a16="http://schemas.microsoft.com/office/drawing/2014/main" id="{502D85D0-1296-40FB-71FA-69022626C91F}"/>
                </a:ext>
              </a:extLst>
            </p:cNvPr>
            <p:cNvSpPr/>
            <p:nvPr/>
          </p:nvSpPr>
          <p:spPr>
            <a:xfrm>
              <a:off x="7350919" y="6332352"/>
              <a:ext cx="928683" cy="14400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9050" cap="flat" cmpd="sng" algn="ctr">
              <a:noFill/>
              <a:prstDash val="solid"/>
              <a:miter lim="800000"/>
              <a:headEnd/>
              <a:tailEnd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1000"/>
                </a:spcAft>
                <a:buClr>
                  <a:srgbClr val="7D7D7D"/>
                </a:buClr>
              </a:pPr>
              <a:r>
                <a:rPr lang="en-US" altLang="ko-KR" sz="800" b="1" kern="0">
                  <a:latin typeface="+mn-ea"/>
                </a:rPr>
                <a:t>Working Doc.</a:t>
              </a:r>
              <a:endParaRPr lang="ko-KR" altLang="en-US" sz="800" b="1" kern="0">
                <a:latin typeface="+mn-ea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03300A7-9B86-AE3B-C51D-9A06B77C3750}"/>
                </a:ext>
              </a:extLst>
            </p:cNvPr>
            <p:cNvSpPr txBox="1"/>
            <p:nvPr/>
          </p:nvSpPr>
          <p:spPr>
            <a:xfrm>
              <a:off x="6539862" y="6314352"/>
              <a:ext cx="360000" cy="18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ko-KR" altLang="en-US" sz="800">
                  <a:latin typeface="+mn-ea"/>
                </a:rPr>
                <a:t>범례</a:t>
              </a:r>
            </a:p>
          </p:txBody>
        </p:sp>
        <p:sp>
          <p:nvSpPr>
            <p:cNvPr id="30" name="Rectangle: Rounded Corners 54">
              <a:extLst>
                <a:ext uri="{FF2B5EF4-FFF2-40B4-BE49-F238E27FC236}">
                  <a16:creationId xmlns:a16="http://schemas.microsoft.com/office/drawing/2014/main" id="{9565AFD5-090C-BAA0-0C5F-EB91A41555AE}"/>
                </a:ext>
              </a:extLst>
            </p:cNvPr>
            <p:cNvSpPr/>
            <p:nvPr/>
          </p:nvSpPr>
          <p:spPr>
            <a:xfrm>
              <a:off x="6895689" y="6332352"/>
              <a:ext cx="400461" cy="1440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 cap="flat" cmpd="sng" algn="ctr">
              <a:noFill/>
              <a:prstDash val="solid"/>
              <a:miter lim="800000"/>
              <a:headEnd/>
              <a:tailEnd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1000"/>
                </a:spcAft>
                <a:buClr>
                  <a:srgbClr val="7D7D7D"/>
                </a:buClr>
              </a:pPr>
              <a:r>
                <a:rPr lang="ko-KR" altLang="en-US" sz="800" b="1" kern="0">
                  <a:latin typeface="+mn-ea"/>
                </a:rPr>
                <a:t>공식</a:t>
              </a:r>
            </a:p>
          </p:txBody>
        </p:sp>
      </p:grpSp>
      <p:sp>
        <p:nvSpPr>
          <p:cNvPr id="31" name="사각형: 둥근 모서리 56">
            <a:extLst>
              <a:ext uri="{FF2B5EF4-FFF2-40B4-BE49-F238E27FC236}">
                <a16:creationId xmlns:a16="http://schemas.microsoft.com/office/drawing/2014/main" id="{6988F6CF-3B4E-48AE-1679-55D010839969}"/>
              </a:ext>
            </a:extLst>
          </p:cNvPr>
          <p:cNvSpPr/>
          <p:nvPr/>
        </p:nvSpPr>
        <p:spPr>
          <a:xfrm>
            <a:off x="334965" y="1121824"/>
            <a:ext cx="3040423" cy="390955"/>
          </a:xfrm>
          <a:prstGeom prst="roundRect">
            <a:avLst>
              <a:gd name="adj" fmla="val 12920"/>
            </a:avLst>
          </a:prstGeom>
          <a:solidFill>
            <a:schemeClr val="accent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수행</a:t>
            </a:r>
            <a:r>
              <a:rPr lang="en-US" altLang="ko-KR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 </a:t>
            </a:r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업무</a:t>
            </a:r>
          </a:p>
        </p:txBody>
      </p:sp>
      <p:sp>
        <p:nvSpPr>
          <p:cNvPr id="32" name="사각형: 둥근 모서리 56">
            <a:extLst>
              <a:ext uri="{FF2B5EF4-FFF2-40B4-BE49-F238E27FC236}">
                <a16:creationId xmlns:a16="http://schemas.microsoft.com/office/drawing/2014/main" id="{27954FD4-C051-5C0C-60C1-B0B58AE247E9}"/>
              </a:ext>
            </a:extLst>
          </p:cNvPr>
          <p:cNvSpPr/>
          <p:nvPr/>
        </p:nvSpPr>
        <p:spPr>
          <a:xfrm>
            <a:off x="3524330" y="1121823"/>
            <a:ext cx="2880000" cy="432000"/>
          </a:xfrm>
          <a:prstGeom prst="roundRect">
            <a:avLst>
              <a:gd name="adj" fmla="val 12920"/>
            </a:avLst>
          </a:prstGeom>
          <a:solidFill>
            <a:schemeClr val="accent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상세 내용</a:t>
            </a:r>
          </a:p>
        </p:txBody>
      </p:sp>
      <p:sp>
        <p:nvSpPr>
          <p:cNvPr id="33" name="사각형: 둥근 모서리 56">
            <a:extLst>
              <a:ext uri="{FF2B5EF4-FFF2-40B4-BE49-F238E27FC236}">
                <a16:creationId xmlns:a16="http://schemas.microsoft.com/office/drawing/2014/main" id="{45F6CA51-8F61-1F22-0386-5F519A995CEA}"/>
              </a:ext>
            </a:extLst>
          </p:cNvPr>
          <p:cNvSpPr/>
          <p:nvPr/>
        </p:nvSpPr>
        <p:spPr>
          <a:xfrm>
            <a:off x="8754275" y="1121824"/>
            <a:ext cx="3137688" cy="390955"/>
          </a:xfrm>
          <a:prstGeom prst="roundRect">
            <a:avLst>
              <a:gd name="adj" fmla="val 12920"/>
            </a:avLst>
          </a:prstGeom>
          <a:solidFill>
            <a:srgbClr val="043B7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관련 요청사항 </a:t>
            </a:r>
            <a:r>
              <a:rPr lang="en-US" altLang="ko-KR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(</a:t>
            </a:r>
            <a:r>
              <a:rPr lang="ko-KR" altLang="en-US" sz="1400" b="1" err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미래에셋증권</a:t>
            </a:r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 </a:t>
            </a:r>
            <a:r>
              <a:rPr lang="en-US" altLang="ko-KR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TODO)</a:t>
            </a:r>
            <a:endParaRPr lang="ko-KR" altLang="en-US" sz="1400" b="1">
              <a:ln>
                <a:solidFill>
                  <a:schemeClr val="bg1"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41" name="사각형: 둥근 모서리 56">
            <a:extLst>
              <a:ext uri="{FF2B5EF4-FFF2-40B4-BE49-F238E27FC236}">
                <a16:creationId xmlns:a16="http://schemas.microsoft.com/office/drawing/2014/main" id="{69E17192-AAB8-3AEF-34A2-195FA3ED8FC8}"/>
              </a:ext>
            </a:extLst>
          </p:cNvPr>
          <p:cNvSpPr/>
          <p:nvPr/>
        </p:nvSpPr>
        <p:spPr>
          <a:xfrm>
            <a:off x="6553268" y="1121824"/>
            <a:ext cx="1728000" cy="390955"/>
          </a:xfrm>
          <a:prstGeom prst="roundRect">
            <a:avLst>
              <a:gd name="adj" fmla="val 12920"/>
            </a:avLst>
          </a:prstGeom>
          <a:solidFill>
            <a:schemeClr val="accent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산출물 명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95138ED3-A4EB-9AFB-BEC0-2BCB2340FAD5}"/>
              </a:ext>
            </a:extLst>
          </p:cNvPr>
          <p:cNvSpPr/>
          <p:nvPr/>
        </p:nvSpPr>
        <p:spPr>
          <a:xfrm>
            <a:off x="8754275" y="2167447"/>
            <a:ext cx="3137689" cy="390955"/>
          </a:xfrm>
          <a:prstGeom prst="roundRect">
            <a:avLst/>
          </a:prstGeom>
          <a:pattFill prst="dkUp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96000" tIns="0" rIns="0" bIns="0" rtlCol="0" anchor="ctr"/>
          <a:lstStyle/>
          <a:p>
            <a:r>
              <a:rPr lang="en-US" altLang="ko-KR" sz="11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AI</a:t>
            </a:r>
            <a:r>
              <a:rPr lang="ko-KR" altLang="en-US" sz="11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거버넌스 유관 조직 지정 및 내부 협의</a:t>
            </a:r>
            <a:endParaRPr lang="en-US" altLang="ko-KR" sz="1100">
              <a:ln>
                <a:solidFill>
                  <a:schemeClr val="accent2">
                    <a:lumMod val="60000"/>
                    <a:lumOff val="40000"/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8CF3292F-397C-E2BA-1672-A560236EEE08}"/>
              </a:ext>
            </a:extLst>
          </p:cNvPr>
          <p:cNvSpPr/>
          <p:nvPr/>
        </p:nvSpPr>
        <p:spPr>
          <a:xfrm>
            <a:off x="8754274" y="3300653"/>
            <a:ext cx="3137690" cy="390955"/>
          </a:xfrm>
          <a:prstGeom prst="roundRect">
            <a:avLst/>
          </a:prstGeom>
          <a:pattFill prst="dkUp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96000" tIns="0" rIns="0" bIns="0" rtlCol="0" anchor="ctr"/>
          <a:lstStyle/>
          <a:p>
            <a:r>
              <a:rPr lang="en-US" altLang="ko-KR" sz="11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AI</a:t>
            </a:r>
            <a:r>
              <a:rPr lang="ko-KR" altLang="en-US" sz="11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거버넌스 </a:t>
            </a:r>
            <a:r>
              <a:rPr lang="en-US" altLang="ko-KR" sz="11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1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전담</a:t>
            </a:r>
            <a:r>
              <a:rPr lang="en-US" altLang="ko-KR" sz="11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)</a:t>
            </a:r>
            <a:r>
              <a:rPr lang="ko-KR" altLang="en-US" sz="11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조직 구성 방안 확정</a:t>
            </a:r>
            <a:endParaRPr lang="en-US" altLang="ko-KR" sz="1100">
              <a:ln>
                <a:solidFill>
                  <a:schemeClr val="accent2">
                    <a:lumMod val="60000"/>
                    <a:lumOff val="40000"/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15A98FE0-B47D-8CF6-97DA-120020FAFD86}"/>
              </a:ext>
            </a:extLst>
          </p:cNvPr>
          <p:cNvSpPr/>
          <p:nvPr/>
        </p:nvSpPr>
        <p:spPr>
          <a:xfrm>
            <a:off x="8754274" y="1600844"/>
            <a:ext cx="3137690" cy="390955"/>
          </a:xfrm>
          <a:prstGeom prst="roundRect">
            <a:avLst/>
          </a:prstGeom>
          <a:pattFill prst="dkUp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96000" tIns="0" rIns="0" bIns="0" rtlCol="0" anchor="ctr"/>
          <a:lstStyle/>
          <a:p>
            <a:r>
              <a:rPr lang="en-US" altLang="ko-KR" sz="11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AI</a:t>
            </a:r>
            <a:r>
              <a:rPr lang="ko-KR" altLang="en-US" sz="11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거버넌스 프로세스 내부 협의</a:t>
            </a:r>
            <a:endParaRPr lang="en-US" altLang="ko-KR" sz="1100">
              <a:ln>
                <a:solidFill>
                  <a:schemeClr val="accent2">
                    <a:lumMod val="60000"/>
                    <a:lumOff val="40000"/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3876B03A-0D1B-0394-AC55-C511DEFC1A27}"/>
              </a:ext>
            </a:extLst>
          </p:cNvPr>
          <p:cNvSpPr/>
          <p:nvPr/>
        </p:nvSpPr>
        <p:spPr>
          <a:xfrm>
            <a:off x="8754274" y="2734050"/>
            <a:ext cx="3137690" cy="390955"/>
          </a:xfrm>
          <a:prstGeom prst="roundRect">
            <a:avLst/>
          </a:prstGeom>
          <a:pattFill prst="dkUp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96000" tIns="0" rIns="0" bIns="0" rtlCol="0" anchor="ctr"/>
          <a:lstStyle/>
          <a:p>
            <a:r>
              <a:rPr lang="en-US" altLang="ko-KR" sz="11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AI</a:t>
            </a:r>
            <a:r>
              <a:rPr lang="ko-KR" altLang="en-US" sz="11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거버넌스 유관 조직의 </a:t>
            </a:r>
            <a:r>
              <a:rPr lang="en-US" altLang="ko-KR" sz="11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R&amp;R </a:t>
            </a:r>
            <a:r>
              <a:rPr lang="ko-KR" altLang="en-US" sz="11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내부</a:t>
            </a:r>
            <a:r>
              <a:rPr lang="en-US" altLang="ko-KR" sz="11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1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협의</a:t>
            </a:r>
            <a:endParaRPr lang="en-US" altLang="ko-KR" sz="1100">
              <a:ln>
                <a:solidFill>
                  <a:schemeClr val="accent2">
                    <a:lumMod val="60000"/>
                    <a:lumOff val="40000"/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BCAC8AA3-1937-E095-1806-374292DC5513}"/>
              </a:ext>
            </a:extLst>
          </p:cNvPr>
          <p:cNvSpPr/>
          <p:nvPr/>
        </p:nvSpPr>
        <p:spPr>
          <a:xfrm>
            <a:off x="8754274" y="3867256"/>
            <a:ext cx="3137690" cy="390955"/>
          </a:xfrm>
          <a:prstGeom prst="roundRect">
            <a:avLst/>
          </a:prstGeom>
          <a:pattFill prst="dkUp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96000" tIns="0" rIns="0" bIns="0" rtlCol="0" anchor="ctr"/>
          <a:lstStyle/>
          <a:p>
            <a:r>
              <a:rPr lang="en-US" altLang="ko-KR" sz="11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AI</a:t>
            </a:r>
            <a:r>
              <a:rPr lang="ko-KR" altLang="en-US" sz="11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거버넌스 협의체 구성방안 확정</a:t>
            </a:r>
            <a:endParaRPr lang="en-US" altLang="ko-KR" sz="1100">
              <a:ln>
                <a:solidFill>
                  <a:schemeClr val="accent2">
                    <a:lumMod val="60000"/>
                    <a:lumOff val="40000"/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BF1F4DF7-748A-7119-2577-230E1969A5D9}"/>
              </a:ext>
            </a:extLst>
          </p:cNvPr>
          <p:cNvSpPr/>
          <p:nvPr/>
        </p:nvSpPr>
        <p:spPr>
          <a:xfrm>
            <a:off x="8754275" y="4433859"/>
            <a:ext cx="3137689" cy="390955"/>
          </a:xfrm>
          <a:prstGeom prst="roundRect">
            <a:avLst/>
          </a:prstGeom>
          <a:pattFill prst="dkUp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en-US" altLang="ko-KR" sz="11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AI</a:t>
            </a:r>
            <a:r>
              <a:rPr lang="ko-KR" altLang="en-US" sz="11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서비스 현황</a:t>
            </a:r>
            <a:r>
              <a:rPr lang="en-US" altLang="ko-KR" sz="11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1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시나리오</a:t>
            </a:r>
            <a:r>
              <a:rPr lang="en-US" altLang="ko-KR" sz="11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1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데이터</a:t>
            </a:r>
            <a:r>
              <a:rPr lang="en-US" altLang="ko-KR" sz="11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1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대상 등</a:t>
            </a:r>
            <a:r>
              <a:rPr lang="en-US" altLang="ko-KR" sz="11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)</a:t>
            </a:r>
            <a:r>
              <a:rPr lang="ko-KR" altLang="en-US" sz="11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 제공</a:t>
            </a:r>
            <a:endParaRPr lang="en-US" altLang="ko-KR" sz="1100">
              <a:ln>
                <a:solidFill>
                  <a:schemeClr val="accent2">
                    <a:lumMod val="60000"/>
                    <a:lumOff val="40000"/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2E2AAEF6-5120-A93B-77D3-FE7D87D98C15}"/>
              </a:ext>
            </a:extLst>
          </p:cNvPr>
          <p:cNvSpPr/>
          <p:nvPr/>
        </p:nvSpPr>
        <p:spPr>
          <a:xfrm>
            <a:off x="8754275" y="6133670"/>
            <a:ext cx="3137689" cy="390955"/>
          </a:xfrm>
          <a:prstGeom prst="roundRect">
            <a:avLst/>
          </a:prstGeom>
          <a:pattFill prst="dkUp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ko-KR" altLang="en-US" sz="11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고위험</a:t>
            </a:r>
            <a:r>
              <a:rPr lang="en-US" altLang="ko-KR" sz="11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1100" err="1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고영향</a:t>
            </a:r>
            <a:r>
              <a:rPr lang="en-US" altLang="ko-KR" sz="11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11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안전성 </a:t>
            </a:r>
            <a:r>
              <a:rPr lang="en-US" altLang="ko-KR" sz="11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AI</a:t>
            </a:r>
            <a:r>
              <a:rPr lang="ko-KR" altLang="en-US" sz="11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서비스</a:t>
            </a:r>
            <a:r>
              <a:rPr lang="en-US" altLang="ko-KR" sz="11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1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현황 제공</a:t>
            </a:r>
            <a:endParaRPr lang="en-US" altLang="ko-KR" sz="1100">
              <a:ln>
                <a:solidFill>
                  <a:schemeClr val="accent2">
                    <a:lumMod val="60000"/>
                    <a:lumOff val="40000"/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1586C108-27EE-E037-A188-EE11F3E1B613}"/>
              </a:ext>
            </a:extLst>
          </p:cNvPr>
          <p:cNvSpPr/>
          <p:nvPr/>
        </p:nvSpPr>
        <p:spPr>
          <a:xfrm>
            <a:off x="8754275" y="5000462"/>
            <a:ext cx="3137689" cy="390955"/>
          </a:xfrm>
          <a:prstGeom prst="roundRect">
            <a:avLst/>
          </a:prstGeom>
          <a:pattFill prst="dkUp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ko-KR" altLang="en-US" sz="11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생성형 </a:t>
            </a:r>
            <a:r>
              <a:rPr lang="en-US" altLang="ko-KR" sz="11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AI </a:t>
            </a:r>
            <a:r>
              <a:rPr lang="ko-KR" altLang="en-US" sz="11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보안 현황</a:t>
            </a:r>
            <a:r>
              <a:rPr lang="en-US" altLang="ko-KR" sz="11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1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단말기</a:t>
            </a:r>
            <a:r>
              <a:rPr lang="en-US" altLang="ko-KR" sz="11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1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네트워크 등</a:t>
            </a:r>
            <a:r>
              <a:rPr lang="en-US" altLang="ko-KR" sz="11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)</a:t>
            </a:r>
            <a:r>
              <a:rPr lang="ko-KR" altLang="en-US" sz="11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 제공</a:t>
            </a:r>
            <a:endParaRPr lang="en-US" altLang="ko-KR" sz="1100">
              <a:ln>
                <a:solidFill>
                  <a:schemeClr val="accent2">
                    <a:lumMod val="60000"/>
                    <a:lumOff val="40000"/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E464D91F-CC52-B2ED-2EE6-86236D73560D}"/>
              </a:ext>
            </a:extLst>
          </p:cNvPr>
          <p:cNvCxnSpPr>
            <a:cxnSpLocks/>
            <a:stCxn id="14" idx="3"/>
            <a:endCxn id="42" idx="1"/>
          </p:cNvCxnSpPr>
          <p:nvPr/>
        </p:nvCxnSpPr>
        <p:spPr>
          <a:xfrm flipV="1">
            <a:off x="8281268" y="2362925"/>
            <a:ext cx="473007" cy="60447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C6D0E338-B877-7CAE-A370-0F54CDAB2278}"/>
              </a:ext>
            </a:extLst>
          </p:cNvPr>
          <p:cNvCxnSpPr>
            <a:cxnSpLocks/>
            <a:stCxn id="14" idx="3"/>
            <a:endCxn id="45" idx="1"/>
          </p:cNvCxnSpPr>
          <p:nvPr/>
        </p:nvCxnSpPr>
        <p:spPr>
          <a:xfrm flipV="1">
            <a:off x="8281268" y="2929528"/>
            <a:ext cx="473006" cy="3786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DF342615-FAEE-BE70-49FC-00A87C743291}"/>
              </a:ext>
            </a:extLst>
          </p:cNvPr>
          <p:cNvCxnSpPr>
            <a:cxnSpLocks/>
            <a:stCxn id="14" idx="3"/>
            <a:endCxn id="43" idx="1"/>
          </p:cNvCxnSpPr>
          <p:nvPr/>
        </p:nvCxnSpPr>
        <p:spPr>
          <a:xfrm>
            <a:off x="8281268" y="2967395"/>
            <a:ext cx="473006" cy="52873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15F71E71-2F7F-A4D3-374A-60E369F20443}"/>
              </a:ext>
            </a:extLst>
          </p:cNvPr>
          <p:cNvCxnSpPr>
            <a:cxnSpLocks/>
            <a:stCxn id="14" idx="3"/>
            <a:endCxn id="44" idx="1"/>
          </p:cNvCxnSpPr>
          <p:nvPr/>
        </p:nvCxnSpPr>
        <p:spPr>
          <a:xfrm flipV="1">
            <a:off x="8281268" y="1796322"/>
            <a:ext cx="473006" cy="1171073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6752D1F0-EAB5-E659-A935-627934488BA9}"/>
              </a:ext>
            </a:extLst>
          </p:cNvPr>
          <p:cNvCxnSpPr>
            <a:cxnSpLocks/>
            <a:stCxn id="14" idx="3"/>
            <a:endCxn id="46" idx="1"/>
          </p:cNvCxnSpPr>
          <p:nvPr/>
        </p:nvCxnSpPr>
        <p:spPr>
          <a:xfrm>
            <a:off x="8281268" y="2967395"/>
            <a:ext cx="473006" cy="109533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43184DA9-1D07-76AF-91F6-41BBC6C8E824}"/>
              </a:ext>
            </a:extLst>
          </p:cNvPr>
          <p:cNvCxnSpPr>
            <a:cxnSpLocks/>
            <a:stCxn id="15" idx="3"/>
            <a:endCxn id="42" idx="1"/>
          </p:cNvCxnSpPr>
          <p:nvPr/>
        </p:nvCxnSpPr>
        <p:spPr>
          <a:xfrm flipV="1">
            <a:off x="8281268" y="2362925"/>
            <a:ext cx="473007" cy="116134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AB81BAFE-5A5A-BB20-4390-A59A043D3007}"/>
              </a:ext>
            </a:extLst>
          </p:cNvPr>
          <p:cNvCxnSpPr>
            <a:cxnSpLocks/>
            <a:stCxn id="15" idx="3"/>
            <a:endCxn id="45" idx="1"/>
          </p:cNvCxnSpPr>
          <p:nvPr/>
        </p:nvCxnSpPr>
        <p:spPr>
          <a:xfrm flipV="1">
            <a:off x="8281268" y="2929528"/>
            <a:ext cx="473006" cy="59473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45F513CF-DB89-0E8A-9FC4-EDE7F6BF507E}"/>
              </a:ext>
            </a:extLst>
          </p:cNvPr>
          <p:cNvCxnSpPr>
            <a:cxnSpLocks/>
            <a:stCxn id="15" idx="3"/>
            <a:endCxn id="43" idx="1"/>
          </p:cNvCxnSpPr>
          <p:nvPr/>
        </p:nvCxnSpPr>
        <p:spPr>
          <a:xfrm flipV="1">
            <a:off x="8281268" y="3496131"/>
            <a:ext cx="473006" cy="2813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50443BAF-781D-7F15-9F32-C9C76C4C5E92}"/>
              </a:ext>
            </a:extLst>
          </p:cNvPr>
          <p:cNvCxnSpPr>
            <a:cxnSpLocks/>
            <a:stCxn id="15" idx="3"/>
            <a:endCxn id="44" idx="1"/>
          </p:cNvCxnSpPr>
          <p:nvPr/>
        </p:nvCxnSpPr>
        <p:spPr>
          <a:xfrm flipV="1">
            <a:off x="8281268" y="1796322"/>
            <a:ext cx="473006" cy="172794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CB301E1E-F647-5311-1089-8244C01648F6}"/>
              </a:ext>
            </a:extLst>
          </p:cNvPr>
          <p:cNvCxnSpPr>
            <a:cxnSpLocks/>
            <a:stCxn id="15" idx="3"/>
            <a:endCxn id="46" idx="1"/>
          </p:cNvCxnSpPr>
          <p:nvPr/>
        </p:nvCxnSpPr>
        <p:spPr>
          <a:xfrm>
            <a:off x="8281268" y="3524267"/>
            <a:ext cx="473006" cy="53846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B7B6B1A5-60F9-AF47-118D-D87FEA6B9924}"/>
              </a:ext>
            </a:extLst>
          </p:cNvPr>
          <p:cNvCxnSpPr>
            <a:cxnSpLocks/>
            <a:stCxn id="16" idx="3"/>
            <a:endCxn id="42" idx="1"/>
          </p:cNvCxnSpPr>
          <p:nvPr/>
        </p:nvCxnSpPr>
        <p:spPr>
          <a:xfrm flipV="1">
            <a:off x="8281268" y="2362925"/>
            <a:ext cx="473007" cy="171821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289A8CF7-BC44-547A-ACFE-1C08F6AE8C02}"/>
              </a:ext>
            </a:extLst>
          </p:cNvPr>
          <p:cNvCxnSpPr>
            <a:cxnSpLocks/>
            <a:stCxn id="16" idx="3"/>
            <a:endCxn id="45" idx="1"/>
          </p:cNvCxnSpPr>
          <p:nvPr/>
        </p:nvCxnSpPr>
        <p:spPr>
          <a:xfrm flipV="1">
            <a:off x="8281268" y="2929528"/>
            <a:ext cx="473006" cy="115161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CB2B7949-F319-C565-0F12-DF2A79B9DDE4}"/>
              </a:ext>
            </a:extLst>
          </p:cNvPr>
          <p:cNvCxnSpPr>
            <a:cxnSpLocks/>
            <a:stCxn id="16" idx="3"/>
            <a:endCxn id="43" idx="1"/>
          </p:cNvCxnSpPr>
          <p:nvPr/>
        </p:nvCxnSpPr>
        <p:spPr>
          <a:xfrm flipV="1">
            <a:off x="8281268" y="3496131"/>
            <a:ext cx="473006" cy="58500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7DCCB53A-A913-4B5F-44B6-413AC3DC9DAB}"/>
              </a:ext>
            </a:extLst>
          </p:cNvPr>
          <p:cNvCxnSpPr>
            <a:cxnSpLocks/>
            <a:stCxn id="16" idx="3"/>
            <a:endCxn id="44" idx="1"/>
          </p:cNvCxnSpPr>
          <p:nvPr/>
        </p:nvCxnSpPr>
        <p:spPr>
          <a:xfrm flipV="1">
            <a:off x="8281268" y="1796322"/>
            <a:ext cx="473006" cy="228481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030AB89C-9799-5B02-72A6-164FDEBFA893}"/>
              </a:ext>
            </a:extLst>
          </p:cNvPr>
          <p:cNvCxnSpPr>
            <a:cxnSpLocks/>
            <a:stCxn id="16" idx="3"/>
            <a:endCxn id="47" idx="1"/>
          </p:cNvCxnSpPr>
          <p:nvPr/>
        </p:nvCxnSpPr>
        <p:spPr>
          <a:xfrm>
            <a:off x="8281268" y="4081139"/>
            <a:ext cx="473007" cy="54819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2AB7F274-3426-7268-DE0C-A866AB3FDF6D}"/>
              </a:ext>
            </a:extLst>
          </p:cNvPr>
          <p:cNvCxnSpPr>
            <a:cxnSpLocks/>
            <a:stCxn id="16" idx="3"/>
            <a:endCxn id="49" idx="1"/>
          </p:cNvCxnSpPr>
          <p:nvPr/>
        </p:nvCxnSpPr>
        <p:spPr>
          <a:xfrm>
            <a:off x="8281268" y="4081139"/>
            <a:ext cx="473007" cy="111480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16B06262-7232-8B84-AF93-C518D161FC49}"/>
              </a:ext>
            </a:extLst>
          </p:cNvPr>
          <p:cNvCxnSpPr>
            <a:cxnSpLocks/>
            <a:stCxn id="16" idx="3"/>
            <a:endCxn id="48" idx="1"/>
          </p:cNvCxnSpPr>
          <p:nvPr/>
        </p:nvCxnSpPr>
        <p:spPr>
          <a:xfrm>
            <a:off x="8281268" y="4081139"/>
            <a:ext cx="473007" cy="224800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7FE3592B-AD86-4970-5B7F-7B559740A342}"/>
              </a:ext>
            </a:extLst>
          </p:cNvPr>
          <p:cNvCxnSpPr>
            <a:cxnSpLocks/>
            <a:stCxn id="15" idx="3"/>
            <a:endCxn id="48" idx="1"/>
          </p:cNvCxnSpPr>
          <p:nvPr/>
        </p:nvCxnSpPr>
        <p:spPr>
          <a:xfrm>
            <a:off x="8281268" y="3524267"/>
            <a:ext cx="473007" cy="280488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27219E93-A7AF-707E-34E0-6E5B47DF37BF}"/>
              </a:ext>
            </a:extLst>
          </p:cNvPr>
          <p:cNvCxnSpPr>
            <a:cxnSpLocks/>
            <a:stCxn id="14" idx="3"/>
            <a:endCxn id="48" idx="1"/>
          </p:cNvCxnSpPr>
          <p:nvPr/>
        </p:nvCxnSpPr>
        <p:spPr>
          <a:xfrm>
            <a:off x="8281268" y="2967395"/>
            <a:ext cx="473007" cy="3361753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10F7C6E7-5C99-78C9-4FE6-EDEB0164CEF9}"/>
              </a:ext>
            </a:extLst>
          </p:cNvPr>
          <p:cNvCxnSpPr>
            <a:cxnSpLocks/>
            <a:stCxn id="17" idx="3"/>
            <a:endCxn id="49" idx="1"/>
          </p:cNvCxnSpPr>
          <p:nvPr/>
        </p:nvCxnSpPr>
        <p:spPr>
          <a:xfrm>
            <a:off x="8281268" y="4638011"/>
            <a:ext cx="473007" cy="55792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9255A724-CDB8-6E18-C9F5-451BB809407D}"/>
              </a:ext>
            </a:extLst>
          </p:cNvPr>
          <p:cNvCxnSpPr>
            <a:cxnSpLocks/>
            <a:stCxn id="18" idx="3"/>
            <a:endCxn id="47" idx="1"/>
          </p:cNvCxnSpPr>
          <p:nvPr/>
        </p:nvCxnSpPr>
        <p:spPr>
          <a:xfrm flipV="1">
            <a:off x="8281268" y="4629337"/>
            <a:ext cx="473007" cy="112241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9E229F39-64CF-9FD1-2201-3EC4B695A826}"/>
              </a:ext>
            </a:extLst>
          </p:cNvPr>
          <p:cNvCxnSpPr>
            <a:cxnSpLocks/>
            <a:stCxn id="18" idx="3"/>
            <a:endCxn id="49" idx="1"/>
          </p:cNvCxnSpPr>
          <p:nvPr/>
        </p:nvCxnSpPr>
        <p:spPr>
          <a:xfrm flipV="1">
            <a:off x="8281268" y="5195940"/>
            <a:ext cx="473007" cy="55581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88949938-691D-BB97-36F5-8C3A0107C825}"/>
              </a:ext>
            </a:extLst>
          </p:cNvPr>
          <p:cNvCxnSpPr>
            <a:cxnSpLocks/>
            <a:stCxn id="18" idx="3"/>
            <a:endCxn id="48" idx="1"/>
          </p:cNvCxnSpPr>
          <p:nvPr/>
        </p:nvCxnSpPr>
        <p:spPr>
          <a:xfrm>
            <a:off x="8281268" y="5751755"/>
            <a:ext cx="473007" cy="577393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9E1F1E13-476D-8049-11C2-2C36E2645FC8}"/>
              </a:ext>
            </a:extLst>
          </p:cNvPr>
          <p:cNvCxnSpPr>
            <a:cxnSpLocks/>
            <a:stCxn id="19" idx="3"/>
            <a:endCxn id="48" idx="1"/>
          </p:cNvCxnSpPr>
          <p:nvPr/>
        </p:nvCxnSpPr>
        <p:spPr>
          <a:xfrm>
            <a:off x="8281268" y="6308625"/>
            <a:ext cx="473007" cy="20523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A375B35A-743B-FC12-27A6-5BC45D9E544E}"/>
              </a:ext>
            </a:extLst>
          </p:cNvPr>
          <p:cNvCxnSpPr>
            <a:cxnSpLocks/>
            <a:stCxn id="19" idx="3"/>
            <a:endCxn id="49" idx="1"/>
          </p:cNvCxnSpPr>
          <p:nvPr/>
        </p:nvCxnSpPr>
        <p:spPr>
          <a:xfrm flipV="1">
            <a:off x="8281268" y="5195940"/>
            <a:ext cx="473007" cy="111268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DD955115-345E-7B4B-0AE9-465240CB306E}"/>
              </a:ext>
            </a:extLst>
          </p:cNvPr>
          <p:cNvCxnSpPr>
            <a:cxnSpLocks/>
            <a:stCxn id="19" idx="3"/>
            <a:endCxn id="47" idx="1"/>
          </p:cNvCxnSpPr>
          <p:nvPr/>
        </p:nvCxnSpPr>
        <p:spPr>
          <a:xfrm flipV="1">
            <a:off x="8281268" y="4629337"/>
            <a:ext cx="473007" cy="167928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2323E3E8-718E-0C01-6457-F37E89683D51}"/>
              </a:ext>
            </a:extLst>
          </p:cNvPr>
          <p:cNvSpPr/>
          <p:nvPr/>
        </p:nvSpPr>
        <p:spPr>
          <a:xfrm>
            <a:off x="8754275" y="5567065"/>
            <a:ext cx="3137689" cy="390955"/>
          </a:xfrm>
          <a:prstGeom prst="roundRect">
            <a:avLst/>
          </a:prstGeom>
          <a:pattFill prst="dkUp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r>
              <a:rPr lang="ko-KR" altLang="en-US" sz="1100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혁신금융신청서</a:t>
            </a:r>
            <a:r>
              <a:rPr lang="en-US" altLang="ko-KR" sz="1100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(AI </a:t>
            </a:r>
            <a:r>
              <a:rPr lang="ko-KR" altLang="en-US" sz="1100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시나리오</a:t>
            </a:r>
            <a:r>
              <a:rPr lang="en-US" altLang="ko-KR" sz="1100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100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데이터</a:t>
            </a:r>
            <a:r>
              <a:rPr lang="en-US" altLang="ko-KR" sz="1100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100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대상 등</a:t>
            </a:r>
            <a:r>
              <a:rPr lang="en-US" altLang="ko-KR" sz="1100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) </a:t>
            </a:r>
            <a:r>
              <a:rPr lang="ko-KR" altLang="en-US" sz="1100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제공</a:t>
            </a:r>
            <a:endParaRPr lang="en-US" altLang="ko-KR" sz="1100" spc="-150">
              <a:ln>
                <a:solidFill>
                  <a:schemeClr val="accent2">
                    <a:lumMod val="60000"/>
                    <a:lumOff val="40000"/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654351CD-B999-9CF2-C6B9-581BA55D24B7}"/>
              </a:ext>
            </a:extLst>
          </p:cNvPr>
          <p:cNvCxnSpPr>
            <a:cxnSpLocks/>
            <a:stCxn id="17" idx="3"/>
            <a:endCxn id="76" idx="1"/>
          </p:cNvCxnSpPr>
          <p:nvPr/>
        </p:nvCxnSpPr>
        <p:spPr>
          <a:xfrm>
            <a:off x="8281268" y="4638011"/>
            <a:ext cx="473007" cy="112453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사각형: 둥근 모서리 78">
            <a:extLst>
              <a:ext uri="{FF2B5EF4-FFF2-40B4-BE49-F238E27FC236}">
                <a16:creationId xmlns:a16="http://schemas.microsoft.com/office/drawing/2014/main" id="{FFD560B9-9077-B5D0-E457-D62490CDE694}"/>
              </a:ext>
            </a:extLst>
          </p:cNvPr>
          <p:cNvSpPr/>
          <p:nvPr/>
        </p:nvSpPr>
        <p:spPr>
          <a:xfrm>
            <a:off x="8824614" y="1659487"/>
            <a:ext cx="252334" cy="273668"/>
          </a:xfrm>
          <a:prstGeom prst="roundRect">
            <a:avLst/>
          </a:prstGeom>
          <a:solidFill>
            <a:srgbClr val="0070C0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1</a:t>
            </a:r>
          </a:p>
        </p:txBody>
      </p:sp>
      <p:sp>
        <p:nvSpPr>
          <p:cNvPr id="80" name="사각형: 둥근 모서리 79">
            <a:extLst>
              <a:ext uri="{FF2B5EF4-FFF2-40B4-BE49-F238E27FC236}">
                <a16:creationId xmlns:a16="http://schemas.microsoft.com/office/drawing/2014/main" id="{D0B264B9-1DC6-8C52-28B9-23891A6BE638}"/>
              </a:ext>
            </a:extLst>
          </p:cNvPr>
          <p:cNvSpPr/>
          <p:nvPr/>
        </p:nvSpPr>
        <p:spPr>
          <a:xfrm>
            <a:off x="8824614" y="2226090"/>
            <a:ext cx="252334" cy="273668"/>
          </a:xfrm>
          <a:prstGeom prst="roundRect">
            <a:avLst/>
          </a:prstGeom>
          <a:solidFill>
            <a:srgbClr val="0070C0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2</a:t>
            </a:r>
          </a:p>
        </p:txBody>
      </p:sp>
      <p:sp>
        <p:nvSpPr>
          <p:cNvPr id="81" name="사각형: 둥근 모서리 80">
            <a:extLst>
              <a:ext uri="{FF2B5EF4-FFF2-40B4-BE49-F238E27FC236}">
                <a16:creationId xmlns:a16="http://schemas.microsoft.com/office/drawing/2014/main" id="{E63F0B58-FD3E-D91F-C9D6-706786CE904B}"/>
              </a:ext>
            </a:extLst>
          </p:cNvPr>
          <p:cNvSpPr/>
          <p:nvPr/>
        </p:nvSpPr>
        <p:spPr>
          <a:xfrm>
            <a:off x="8824614" y="2792693"/>
            <a:ext cx="252334" cy="273668"/>
          </a:xfrm>
          <a:prstGeom prst="roundRect">
            <a:avLst/>
          </a:prstGeom>
          <a:solidFill>
            <a:srgbClr val="0070C0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3</a:t>
            </a:r>
          </a:p>
        </p:txBody>
      </p:sp>
      <p:sp>
        <p:nvSpPr>
          <p:cNvPr id="82" name="사각형: 둥근 모서리 81">
            <a:extLst>
              <a:ext uri="{FF2B5EF4-FFF2-40B4-BE49-F238E27FC236}">
                <a16:creationId xmlns:a16="http://schemas.microsoft.com/office/drawing/2014/main" id="{204B7E2A-FFA8-96AA-E69F-5C9617E29166}"/>
              </a:ext>
            </a:extLst>
          </p:cNvPr>
          <p:cNvSpPr/>
          <p:nvPr/>
        </p:nvSpPr>
        <p:spPr>
          <a:xfrm>
            <a:off x="8824614" y="3359296"/>
            <a:ext cx="252334" cy="273668"/>
          </a:xfrm>
          <a:prstGeom prst="roundRect">
            <a:avLst/>
          </a:prstGeom>
          <a:solidFill>
            <a:srgbClr val="0070C0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4</a:t>
            </a:r>
          </a:p>
        </p:txBody>
      </p:sp>
      <p:sp>
        <p:nvSpPr>
          <p:cNvPr id="83" name="사각형: 둥근 모서리 82">
            <a:extLst>
              <a:ext uri="{FF2B5EF4-FFF2-40B4-BE49-F238E27FC236}">
                <a16:creationId xmlns:a16="http://schemas.microsoft.com/office/drawing/2014/main" id="{899B2277-F934-3BD4-187F-674BAE800AA8}"/>
              </a:ext>
            </a:extLst>
          </p:cNvPr>
          <p:cNvSpPr/>
          <p:nvPr/>
        </p:nvSpPr>
        <p:spPr>
          <a:xfrm>
            <a:off x="8824614" y="3925899"/>
            <a:ext cx="252334" cy="273668"/>
          </a:xfrm>
          <a:prstGeom prst="roundRect">
            <a:avLst/>
          </a:prstGeom>
          <a:solidFill>
            <a:srgbClr val="0070C0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5</a:t>
            </a:r>
          </a:p>
        </p:txBody>
      </p:sp>
      <p:sp>
        <p:nvSpPr>
          <p:cNvPr id="4" name="Google Shape;134;p5">
            <a:extLst>
              <a:ext uri="{FF2B5EF4-FFF2-40B4-BE49-F238E27FC236}">
                <a16:creationId xmlns:a16="http://schemas.microsoft.com/office/drawing/2014/main" id="{0E7C981E-EABB-B759-1E4D-9229FF42B78E}"/>
              </a:ext>
            </a:extLst>
          </p:cNvPr>
          <p:cNvSpPr/>
          <p:nvPr/>
        </p:nvSpPr>
        <p:spPr>
          <a:xfrm>
            <a:off x="495388" y="4978883"/>
            <a:ext cx="2880000" cy="432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180000" tIns="0" rIns="72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457200" latinLnBrk="0">
              <a:lnSpc>
                <a:spcPct val="90000"/>
              </a:lnSpc>
              <a:spcAft>
                <a:spcPts val="1000"/>
              </a:spcAft>
              <a:buClr>
                <a:srgbClr val="7D7D7D"/>
              </a:buClr>
            </a:pPr>
            <a:r>
              <a:rPr lang="en-US" altLang="ko-KR" sz="1200" b="1" kern="0">
                <a:latin typeface="+mn-ea"/>
                <a:sym typeface="Arial"/>
              </a:rPr>
              <a:t>[</a:t>
            </a:r>
            <a:r>
              <a:rPr lang="ko-KR" altLang="en-US" sz="1200" b="1" kern="0">
                <a:latin typeface="+mn-ea"/>
                <a:sym typeface="Arial"/>
              </a:rPr>
              <a:t>신규</a:t>
            </a:r>
            <a:r>
              <a:rPr lang="en-US" altLang="ko-KR" sz="1200" b="1" kern="0">
                <a:latin typeface="+mn-ea"/>
                <a:sym typeface="Arial"/>
              </a:rPr>
              <a:t>Task] AI </a:t>
            </a:r>
            <a:r>
              <a:rPr lang="ko-KR" altLang="en-US" sz="1200" b="1" kern="0">
                <a:latin typeface="+mn-ea"/>
                <a:sym typeface="Arial"/>
              </a:rPr>
              <a:t>위험 평가 방안 및 구축 요건 작성</a:t>
            </a:r>
          </a:p>
        </p:txBody>
      </p:sp>
      <p:sp>
        <p:nvSpPr>
          <p:cNvPr id="34" name="Google Shape;134;p5">
            <a:extLst>
              <a:ext uri="{FF2B5EF4-FFF2-40B4-BE49-F238E27FC236}">
                <a16:creationId xmlns:a16="http://schemas.microsoft.com/office/drawing/2014/main" id="{6DA87A99-0DAF-EEBF-50A8-D2CEFA129155}"/>
              </a:ext>
            </a:extLst>
          </p:cNvPr>
          <p:cNvSpPr/>
          <p:nvPr/>
        </p:nvSpPr>
        <p:spPr>
          <a:xfrm>
            <a:off x="3524330" y="4978883"/>
            <a:ext cx="2880000" cy="432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7200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71450" indent="-171450">
              <a:spcBef>
                <a:spcPts val="600"/>
              </a:spcBef>
              <a:spcAft>
                <a:spcPts val="1000"/>
              </a:spcAft>
              <a:buClr>
                <a:srgbClr val="7D7D7D"/>
              </a:buClr>
              <a:buFont typeface="Arial" panose="020B0604020202020204" pitchFamily="34" charset="0"/>
              <a:buChar char="•"/>
            </a:pPr>
            <a:r>
              <a:rPr lang="ko-KR" altLang="en-US" sz="1200" b="1" kern="0">
                <a:latin typeface="+mn-ea"/>
                <a:sym typeface="Arial"/>
              </a:rPr>
              <a:t>실 기술관점에서 </a:t>
            </a:r>
            <a:r>
              <a:rPr lang="en-US" altLang="ko-KR" sz="1200" b="1" kern="0">
                <a:latin typeface="+mn-ea"/>
                <a:sym typeface="Arial"/>
              </a:rPr>
              <a:t>AI </a:t>
            </a:r>
            <a:r>
              <a:rPr lang="ko-KR" altLang="en-US" sz="1200" b="1" kern="0">
                <a:latin typeface="+mn-ea"/>
                <a:sym typeface="Arial"/>
              </a:rPr>
              <a:t>위험 평가 방안 및 구축 요건 수립</a:t>
            </a:r>
          </a:p>
        </p:txBody>
      </p:sp>
      <p:sp>
        <p:nvSpPr>
          <p:cNvPr id="38" name="Google Shape;134;p5">
            <a:extLst>
              <a:ext uri="{FF2B5EF4-FFF2-40B4-BE49-F238E27FC236}">
                <a16:creationId xmlns:a16="http://schemas.microsoft.com/office/drawing/2014/main" id="{9275CEC9-8EFD-C771-AAD5-12471176D3EE}"/>
              </a:ext>
            </a:extLst>
          </p:cNvPr>
          <p:cNvSpPr/>
          <p:nvPr/>
        </p:nvSpPr>
        <p:spPr>
          <a:xfrm>
            <a:off x="6553268" y="4978883"/>
            <a:ext cx="1728000" cy="4320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9050" cap="flat" cmpd="sng" algn="ctr">
            <a:noFill/>
            <a:prstDash val="solid"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7200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  <a:spcAft>
                <a:spcPts val="1000"/>
              </a:spcAft>
              <a:buClr>
                <a:srgbClr val="7D7D7D"/>
              </a:buClr>
            </a:pPr>
            <a:r>
              <a:rPr lang="en-US" altLang="ko-KR" sz="1200" b="1" kern="0">
                <a:latin typeface="+mn-ea"/>
                <a:sym typeface="Arial"/>
              </a:rPr>
              <a:t>AI </a:t>
            </a:r>
            <a:r>
              <a:rPr lang="ko-KR" altLang="en-US" sz="1200" b="1" kern="0">
                <a:latin typeface="+mn-ea"/>
                <a:sym typeface="Arial"/>
              </a:rPr>
              <a:t>위험 평가 방안</a:t>
            </a:r>
            <a:r>
              <a:rPr lang="en-US" altLang="ko-KR" sz="1200" b="1" kern="0">
                <a:latin typeface="+mn-ea"/>
                <a:sym typeface="Arial"/>
              </a:rPr>
              <a:t>, </a:t>
            </a:r>
            <a:r>
              <a:rPr lang="ko-KR" altLang="en-US" sz="1200" b="1" kern="0">
                <a:latin typeface="+mn-ea"/>
                <a:sym typeface="Arial"/>
              </a:rPr>
              <a:t>구축 요건</a:t>
            </a:r>
          </a:p>
        </p:txBody>
      </p:sp>
      <p:sp>
        <p:nvSpPr>
          <p:cNvPr id="110" name="사각형: 둥근 모서리 109">
            <a:extLst>
              <a:ext uri="{FF2B5EF4-FFF2-40B4-BE49-F238E27FC236}">
                <a16:creationId xmlns:a16="http://schemas.microsoft.com/office/drawing/2014/main" id="{8279A529-6D01-133D-09B6-B62C9DB0486D}"/>
              </a:ext>
            </a:extLst>
          </p:cNvPr>
          <p:cNvSpPr/>
          <p:nvPr/>
        </p:nvSpPr>
        <p:spPr>
          <a:xfrm>
            <a:off x="334964" y="1727651"/>
            <a:ext cx="252000" cy="252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C55A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>
                <a:solidFill>
                  <a:schemeClr val="tx1"/>
                </a:solidFill>
                <a:latin typeface="+mn-ea"/>
              </a:rPr>
              <a:t>1</a:t>
            </a:r>
            <a:endParaRPr lang="ko-KR" altLang="en-US" sz="1400" b="1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2" name="사각형: 둥근 모서리 111">
            <a:extLst>
              <a:ext uri="{FF2B5EF4-FFF2-40B4-BE49-F238E27FC236}">
                <a16:creationId xmlns:a16="http://schemas.microsoft.com/office/drawing/2014/main" id="{F87E027A-B829-FDED-2541-EB804C0F1707}"/>
              </a:ext>
            </a:extLst>
          </p:cNvPr>
          <p:cNvSpPr/>
          <p:nvPr/>
        </p:nvSpPr>
        <p:spPr>
          <a:xfrm>
            <a:off x="334964" y="3398267"/>
            <a:ext cx="252000" cy="252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C55A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>
                <a:solidFill>
                  <a:schemeClr val="tx1"/>
                </a:solidFill>
                <a:latin typeface="+mn-ea"/>
              </a:rPr>
              <a:t>3</a:t>
            </a:r>
            <a:endParaRPr lang="ko-KR" altLang="en-US" sz="1400" b="1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3" name="사각형: 둥근 모서리 112">
            <a:extLst>
              <a:ext uri="{FF2B5EF4-FFF2-40B4-BE49-F238E27FC236}">
                <a16:creationId xmlns:a16="http://schemas.microsoft.com/office/drawing/2014/main" id="{3EBEA7BE-3744-0D2F-10C9-0DD4849457D3}"/>
              </a:ext>
            </a:extLst>
          </p:cNvPr>
          <p:cNvSpPr/>
          <p:nvPr/>
        </p:nvSpPr>
        <p:spPr>
          <a:xfrm>
            <a:off x="334964" y="3955139"/>
            <a:ext cx="252000" cy="252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C55A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>
                <a:solidFill>
                  <a:schemeClr val="tx1"/>
                </a:solidFill>
                <a:latin typeface="+mn-ea"/>
              </a:rPr>
              <a:t>3</a:t>
            </a:r>
            <a:endParaRPr lang="ko-KR" altLang="en-US" sz="1400" b="1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4" name="사각형: 둥근 모서리 113">
            <a:extLst>
              <a:ext uri="{FF2B5EF4-FFF2-40B4-BE49-F238E27FC236}">
                <a16:creationId xmlns:a16="http://schemas.microsoft.com/office/drawing/2014/main" id="{C6FD01F3-D086-AFC3-0204-E89FAC2B634E}"/>
              </a:ext>
            </a:extLst>
          </p:cNvPr>
          <p:cNvSpPr/>
          <p:nvPr/>
        </p:nvSpPr>
        <p:spPr>
          <a:xfrm>
            <a:off x="334964" y="4512011"/>
            <a:ext cx="252000" cy="252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C55A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>
                <a:solidFill>
                  <a:schemeClr val="tx1"/>
                </a:solidFill>
                <a:latin typeface="+mn-ea"/>
              </a:rPr>
              <a:t>4</a:t>
            </a:r>
            <a:endParaRPr lang="ko-KR" altLang="en-US" sz="1400" b="1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5" name="사각형: 둥근 모서리 114">
            <a:extLst>
              <a:ext uri="{FF2B5EF4-FFF2-40B4-BE49-F238E27FC236}">
                <a16:creationId xmlns:a16="http://schemas.microsoft.com/office/drawing/2014/main" id="{11AC118F-858B-49AB-C044-1ABF95FF2BA6}"/>
              </a:ext>
            </a:extLst>
          </p:cNvPr>
          <p:cNvSpPr/>
          <p:nvPr/>
        </p:nvSpPr>
        <p:spPr>
          <a:xfrm>
            <a:off x="334964" y="5068883"/>
            <a:ext cx="252000" cy="252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C55A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>
                <a:solidFill>
                  <a:schemeClr val="tx1"/>
                </a:solidFill>
                <a:latin typeface="+mn-ea"/>
              </a:rPr>
              <a:t>5</a:t>
            </a:r>
            <a:endParaRPr lang="ko-KR" altLang="en-US" sz="1400" b="1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6" name="사각형: 둥근 모서리 115">
            <a:extLst>
              <a:ext uri="{FF2B5EF4-FFF2-40B4-BE49-F238E27FC236}">
                <a16:creationId xmlns:a16="http://schemas.microsoft.com/office/drawing/2014/main" id="{E8EC4F17-2A83-4E3E-2425-C4733C264A55}"/>
              </a:ext>
            </a:extLst>
          </p:cNvPr>
          <p:cNvSpPr/>
          <p:nvPr/>
        </p:nvSpPr>
        <p:spPr>
          <a:xfrm>
            <a:off x="334964" y="5625755"/>
            <a:ext cx="252000" cy="252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C55A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>
                <a:solidFill>
                  <a:schemeClr val="tx1"/>
                </a:solidFill>
                <a:latin typeface="+mn-ea"/>
              </a:rPr>
              <a:t>6</a:t>
            </a:r>
            <a:endParaRPr lang="ko-KR" altLang="en-US" sz="1400" b="1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7" name="사각형: 둥근 모서리 116">
            <a:extLst>
              <a:ext uri="{FF2B5EF4-FFF2-40B4-BE49-F238E27FC236}">
                <a16:creationId xmlns:a16="http://schemas.microsoft.com/office/drawing/2014/main" id="{1B7B01E8-9F86-8E78-6521-1BACFD7D02C3}"/>
              </a:ext>
            </a:extLst>
          </p:cNvPr>
          <p:cNvSpPr/>
          <p:nvPr/>
        </p:nvSpPr>
        <p:spPr>
          <a:xfrm>
            <a:off x="334964" y="6182625"/>
            <a:ext cx="252000" cy="252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C55A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>
                <a:solidFill>
                  <a:schemeClr val="tx1"/>
                </a:solidFill>
                <a:latin typeface="+mn-ea"/>
              </a:rPr>
              <a:t>7</a:t>
            </a:r>
            <a:endParaRPr lang="ko-KR" altLang="en-US" sz="1400" b="1">
              <a:solidFill>
                <a:schemeClr val="tx1"/>
              </a:solidFill>
              <a:latin typeface="+mn-ea"/>
            </a:endParaRPr>
          </a:p>
        </p:txBody>
      </p:sp>
      <p:sp>
        <p:nvSpPr>
          <p:cNvPr id="2" name="Google Shape;134;p5">
            <a:extLst>
              <a:ext uri="{FF2B5EF4-FFF2-40B4-BE49-F238E27FC236}">
                <a16:creationId xmlns:a16="http://schemas.microsoft.com/office/drawing/2014/main" id="{5DCA70EA-04EB-6C6B-D05A-3AFC7E020177}"/>
              </a:ext>
            </a:extLst>
          </p:cNvPr>
          <p:cNvSpPr/>
          <p:nvPr/>
        </p:nvSpPr>
        <p:spPr>
          <a:xfrm>
            <a:off x="495388" y="2194523"/>
            <a:ext cx="2880000" cy="432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180000" tIns="0" rIns="72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457200" latinLnBrk="0">
              <a:lnSpc>
                <a:spcPct val="90000"/>
              </a:lnSpc>
              <a:spcAft>
                <a:spcPts val="1000"/>
              </a:spcAft>
              <a:buClr>
                <a:srgbClr val="7D7D7D"/>
              </a:buClr>
            </a:pPr>
            <a:r>
              <a:rPr lang="en-US" altLang="ko-KR" sz="1200" b="1" kern="0">
                <a:latin typeface="+mn-ea"/>
                <a:sym typeface="Arial"/>
              </a:rPr>
              <a:t>To-Be </a:t>
            </a:r>
            <a:r>
              <a:rPr lang="ko-KR" altLang="en-US" sz="1200" b="1" kern="0">
                <a:latin typeface="+mn-ea"/>
                <a:sym typeface="Arial"/>
              </a:rPr>
              <a:t>참조 모델 작성</a:t>
            </a:r>
          </a:p>
        </p:txBody>
      </p:sp>
      <p:sp>
        <p:nvSpPr>
          <p:cNvPr id="3" name="Google Shape;134;p5">
            <a:extLst>
              <a:ext uri="{FF2B5EF4-FFF2-40B4-BE49-F238E27FC236}">
                <a16:creationId xmlns:a16="http://schemas.microsoft.com/office/drawing/2014/main" id="{0F915FA9-B092-A2FB-A953-D86FFF4F75D6}"/>
              </a:ext>
            </a:extLst>
          </p:cNvPr>
          <p:cNvSpPr/>
          <p:nvPr/>
        </p:nvSpPr>
        <p:spPr>
          <a:xfrm>
            <a:off x="3524330" y="2194523"/>
            <a:ext cx="2880000" cy="432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7200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71450" indent="-171450">
              <a:spcBef>
                <a:spcPts val="600"/>
              </a:spcBef>
              <a:spcAft>
                <a:spcPts val="1000"/>
              </a:spcAft>
              <a:buClr>
                <a:srgbClr val="7D7D7D"/>
              </a:buClr>
              <a:buFont typeface="Arial" panose="020B0604020202020204" pitchFamily="34" charset="0"/>
              <a:buChar char="•"/>
            </a:pPr>
            <a:r>
              <a:rPr lang="en-US" altLang="ko-KR" sz="1200" b="1" kern="0">
                <a:latin typeface="+mn-ea"/>
                <a:sym typeface="Arial"/>
              </a:rPr>
              <a:t>AI</a:t>
            </a:r>
            <a:r>
              <a:rPr lang="ko-KR" altLang="en-US" sz="1200" b="1" kern="0">
                <a:latin typeface="+mn-ea"/>
                <a:sym typeface="Arial"/>
              </a:rPr>
              <a:t>거버넌스 참조모델 제시</a:t>
            </a:r>
          </a:p>
        </p:txBody>
      </p:sp>
      <p:sp>
        <p:nvSpPr>
          <p:cNvPr id="35" name="Google Shape;134;p5">
            <a:extLst>
              <a:ext uri="{FF2B5EF4-FFF2-40B4-BE49-F238E27FC236}">
                <a16:creationId xmlns:a16="http://schemas.microsoft.com/office/drawing/2014/main" id="{B42A2A32-1225-C298-4848-1DE5E0CE109E}"/>
              </a:ext>
            </a:extLst>
          </p:cNvPr>
          <p:cNvSpPr/>
          <p:nvPr/>
        </p:nvSpPr>
        <p:spPr>
          <a:xfrm>
            <a:off x="6553268" y="2194523"/>
            <a:ext cx="1728000" cy="43200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9050" cap="flat" cmpd="sng" algn="ctr">
            <a:noFill/>
            <a:prstDash val="solid"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7200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  <a:spcAft>
                <a:spcPts val="1000"/>
              </a:spcAft>
              <a:buClr>
                <a:srgbClr val="7D7D7D"/>
              </a:buClr>
            </a:pPr>
            <a:r>
              <a:rPr lang="en-US" altLang="ko-KR" sz="1200" b="1" kern="0">
                <a:latin typeface="+mn-ea"/>
                <a:sym typeface="Arial"/>
              </a:rPr>
              <a:t>To-Be </a:t>
            </a:r>
            <a:r>
              <a:rPr lang="ko-KR" altLang="en-US" sz="1200" b="1" kern="0">
                <a:latin typeface="+mn-ea"/>
                <a:sym typeface="Arial"/>
              </a:rPr>
              <a:t>참조모델 정의서</a:t>
            </a:r>
          </a:p>
        </p:txBody>
      </p:sp>
      <p:sp>
        <p:nvSpPr>
          <p:cNvPr id="111" name="사각형: 둥근 모서리 110">
            <a:extLst>
              <a:ext uri="{FF2B5EF4-FFF2-40B4-BE49-F238E27FC236}">
                <a16:creationId xmlns:a16="http://schemas.microsoft.com/office/drawing/2014/main" id="{4B26EA08-ED74-F94C-64C8-9C567887453F}"/>
              </a:ext>
            </a:extLst>
          </p:cNvPr>
          <p:cNvSpPr/>
          <p:nvPr/>
        </p:nvSpPr>
        <p:spPr>
          <a:xfrm>
            <a:off x="334964" y="2841395"/>
            <a:ext cx="252000" cy="252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C55A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>
                <a:solidFill>
                  <a:schemeClr val="tx1"/>
                </a:solidFill>
                <a:latin typeface="+mn-ea"/>
              </a:rPr>
              <a:t>3</a:t>
            </a:r>
            <a:endParaRPr lang="ko-KR" altLang="en-US" sz="1400" b="1">
              <a:solidFill>
                <a:schemeClr val="tx1"/>
              </a:solidFill>
              <a:latin typeface="+mn-ea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30F9F0E0-684E-121C-B171-9C50A54411CE}"/>
              </a:ext>
            </a:extLst>
          </p:cNvPr>
          <p:cNvSpPr/>
          <p:nvPr/>
        </p:nvSpPr>
        <p:spPr>
          <a:xfrm>
            <a:off x="334964" y="2284523"/>
            <a:ext cx="252000" cy="252000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C55A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>
                <a:solidFill>
                  <a:schemeClr val="tx1"/>
                </a:solidFill>
                <a:latin typeface="+mn-ea"/>
              </a:rPr>
              <a:t>2</a:t>
            </a:r>
            <a:endParaRPr lang="ko-KR" altLang="en-US" sz="1400" b="1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2D52943A-D95B-02F7-1A53-242A1A309CFC}"/>
              </a:ext>
            </a:extLst>
          </p:cNvPr>
          <p:cNvCxnSpPr>
            <a:cxnSpLocks/>
            <a:stCxn id="38" idx="3"/>
            <a:endCxn id="47" idx="1"/>
          </p:cNvCxnSpPr>
          <p:nvPr/>
        </p:nvCxnSpPr>
        <p:spPr>
          <a:xfrm flipV="1">
            <a:off x="8281268" y="4629337"/>
            <a:ext cx="473007" cy="56554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id="{1D6C85F3-72AC-05D4-9ED1-863425D83F74}"/>
              </a:ext>
            </a:extLst>
          </p:cNvPr>
          <p:cNvCxnSpPr>
            <a:cxnSpLocks/>
            <a:stCxn id="38" idx="3"/>
            <a:endCxn id="76" idx="1"/>
          </p:cNvCxnSpPr>
          <p:nvPr/>
        </p:nvCxnSpPr>
        <p:spPr>
          <a:xfrm>
            <a:off x="8281268" y="5194883"/>
            <a:ext cx="473007" cy="56766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2D491520-9518-0B39-45CF-8D9753DAEBBB}"/>
              </a:ext>
            </a:extLst>
          </p:cNvPr>
          <p:cNvCxnSpPr>
            <a:cxnSpLocks/>
            <a:stCxn id="38" idx="3"/>
            <a:endCxn id="48" idx="1"/>
          </p:cNvCxnSpPr>
          <p:nvPr/>
        </p:nvCxnSpPr>
        <p:spPr>
          <a:xfrm>
            <a:off x="8281268" y="5194883"/>
            <a:ext cx="473007" cy="113426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67235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45954-4745-9112-628F-1B1F1229C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그림 22">
            <a:extLst>
              <a:ext uri="{FF2B5EF4-FFF2-40B4-BE49-F238E27FC236}">
                <a16:creationId xmlns:a16="http://schemas.microsoft.com/office/drawing/2014/main" id="{3E39DD4D-86A4-0545-7AA0-A253607DFB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4597" y="3894971"/>
            <a:ext cx="1897870" cy="1067552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8806E4D-06FD-A37B-4EF3-1A66CE367F6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2B3A112-4550-A3AC-B345-960AFC52B38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[Back-up] AI </a:t>
            </a:r>
            <a:r>
              <a:rPr lang="ko-KR" altLang="en-US"/>
              <a:t>위험 평가</a:t>
            </a:r>
            <a:r>
              <a:rPr lang="en-US" altLang="ko-KR"/>
              <a:t>&amp;</a:t>
            </a:r>
            <a:r>
              <a:rPr lang="ko-KR" altLang="en-US"/>
              <a:t>완화 방안 및 구축 요건 작성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FD09BB5-97D8-E0C8-61A1-5E41A4B82E3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/>
              <a:t>신규 요건인 </a:t>
            </a:r>
            <a:r>
              <a:rPr lang="en-US" altLang="ko-KR"/>
              <a:t>“AI </a:t>
            </a:r>
            <a:r>
              <a:rPr lang="ko-KR" altLang="en-US"/>
              <a:t>위험 평가</a:t>
            </a:r>
            <a:r>
              <a:rPr lang="en-US" altLang="ko-KR"/>
              <a:t>&amp;</a:t>
            </a:r>
            <a:r>
              <a:rPr lang="ko-KR" altLang="en-US"/>
              <a:t>완화 방안 및 구축 요건 작성</a:t>
            </a:r>
            <a:r>
              <a:rPr lang="en-US" altLang="ko-KR"/>
              <a:t>”</a:t>
            </a:r>
            <a:r>
              <a:rPr lang="ko-KR" altLang="en-US"/>
              <a:t>에 대해 다음과 같이 수행 예정임</a:t>
            </a:r>
          </a:p>
        </p:txBody>
      </p:sp>
      <p:sp>
        <p:nvSpPr>
          <p:cNvPr id="12" name="Rectangle: Rounded Corners 46">
            <a:extLst>
              <a:ext uri="{FF2B5EF4-FFF2-40B4-BE49-F238E27FC236}">
                <a16:creationId xmlns:a16="http://schemas.microsoft.com/office/drawing/2014/main" id="{BD0A5937-2478-224B-1F8D-D1D7FB02F53F}"/>
              </a:ext>
            </a:extLst>
          </p:cNvPr>
          <p:cNvSpPr/>
          <p:nvPr/>
        </p:nvSpPr>
        <p:spPr>
          <a:xfrm>
            <a:off x="1773515" y="1780422"/>
            <a:ext cx="3420000" cy="612000"/>
          </a:xfrm>
          <a:prstGeom prst="roundRect">
            <a:avLst>
              <a:gd name="adj" fmla="val 11418"/>
            </a:avLst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72000" tIns="0" rIns="72000" bIns="0" rtlCol="0" anchor="ctr"/>
          <a:lstStyle/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en-US" altLang="ko-KR" sz="105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 </a:t>
            </a:r>
            <a:r>
              <a:rPr lang="ko-KR" altLang="en-US" sz="105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위험 평가</a:t>
            </a:r>
            <a:r>
              <a:rPr lang="en-US" altLang="ko-KR" sz="105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&amp;</a:t>
            </a:r>
            <a:r>
              <a:rPr lang="ko-KR" altLang="en-US" sz="105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완화 방안 및 구축 요건 작성</a:t>
            </a:r>
          </a:p>
        </p:txBody>
      </p:sp>
      <p:sp>
        <p:nvSpPr>
          <p:cNvPr id="15" name="Rectangle: Rounded Corners 46">
            <a:extLst>
              <a:ext uri="{FF2B5EF4-FFF2-40B4-BE49-F238E27FC236}">
                <a16:creationId xmlns:a16="http://schemas.microsoft.com/office/drawing/2014/main" id="{8BFE0A7D-B3AB-C2B0-5F86-7554D5462EBB}"/>
              </a:ext>
            </a:extLst>
          </p:cNvPr>
          <p:cNvSpPr/>
          <p:nvPr/>
        </p:nvSpPr>
        <p:spPr>
          <a:xfrm>
            <a:off x="1773515" y="5790187"/>
            <a:ext cx="3420000" cy="734438"/>
          </a:xfrm>
          <a:prstGeom prst="roundRect">
            <a:avLst>
              <a:gd name="adj" fmla="val 11418"/>
            </a:avLst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72000" tIns="0" rIns="72000" bIns="0" rtlCol="0" anchor="ctr"/>
          <a:lstStyle/>
          <a:p>
            <a:pPr marL="171450" indent="-171450" defTabSz="9144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ko-KR" sz="105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 </a:t>
            </a:r>
            <a:r>
              <a:rPr lang="ko-KR" altLang="en-US" sz="105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위험 정의서</a:t>
            </a:r>
          </a:p>
          <a:p>
            <a:pPr marL="171450" indent="-171450" defTabSz="9144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ko-KR" sz="105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 </a:t>
            </a:r>
            <a:r>
              <a:rPr lang="ko-KR" altLang="en-US" sz="105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위험 평가</a:t>
            </a:r>
            <a:r>
              <a:rPr lang="en-US" altLang="ko-KR" sz="105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&amp;</a:t>
            </a:r>
            <a:r>
              <a:rPr lang="ko-KR" altLang="en-US" sz="105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완화 방안 정의서</a:t>
            </a:r>
            <a:endParaRPr lang="en-US" altLang="ko-KR" sz="1050" kern="0" spc="-5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  <a:p>
            <a:pPr marL="171450" indent="-171450" defTabSz="9144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ko-KR" sz="105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 </a:t>
            </a:r>
            <a:r>
              <a:rPr lang="ko-KR" altLang="en-US" sz="105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위험 평가</a:t>
            </a:r>
            <a:r>
              <a:rPr lang="en-US" altLang="ko-KR" sz="105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&amp;</a:t>
            </a:r>
            <a:r>
              <a:rPr lang="ko-KR" altLang="en-US" sz="105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완화 관련 구축 요건</a:t>
            </a:r>
            <a:r>
              <a:rPr lang="en-US" altLang="ko-KR" sz="105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(RFP)</a:t>
            </a:r>
          </a:p>
        </p:txBody>
      </p:sp>
      <p:sp>
        <p:nvSpPr>
          <p:cNvPr id="16" name="Rectangle: Rounded Corners 46">
            <a:extLst>
              <a:ext uri="{FF2B5EF4-FFF2-40B4-BE49-F238E27FC236}">
                <a16:creationId xmlns:a16="http://schemas.microsoft.com/office/drawing/2014/main" id="{938F2A02-514C-3115-4499-AA138126F042}"/>
              </a:ext>
            </a:extLst>
          </p:cNvPr>
          <p:cNvSpPr/>
          <p:nvPr/>
        </p:nvSpPr>
        <p:spPr>
          <a:xfrm>
            <a:off x="324596" y="1780422"/>
            <a:ext cx="1204912" cy="612000"/>
          </a:xfrm>
          <a:prstGeom prst="roundRect">
            <a:avLst>
              <a:gd name="adj" fmla="val 11418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Task </a:t>
            </a:r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명</a:t>
            </a:r>
            <a:endParaRPr lang="en-US" altLang="ko-KR" sz="1400" b="1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lt1"/>
              </a:solidFill>
              <a:latin typeface="+mn-ea"/>
            </a:endParaRPr>
          </a:p>
        </p:txBody>
      </p:sp>
      <p:sp>
        <p:nvSpPr>
          <p:cNvPr id="17" name="Rectangle: Rounded Corners 46">
            <a:extLst>
              <a:ext uri="{FF2B5EF4-FFF2-40B4-BE49-F238E27FC236}">
                <a16:creationId xmlns:a16="http://schemas.microsoft.com/office/drawing/2014/main" id="{73853C71-7AD8-430B-5E53-A7492983D274}"/>
              </a:ext>
            </a:extLst>
          </p:cNvPr>
          <p:cNvSpPr/>
          <p:nvPr/>
        </p:nvSpPr>
        <p:spPr>
          <a:xfrm>
            <a:off x="324596" y="2460523"/>
            <a:ext cx="1204912" cy="3236892"/>
          </a:xfrm>
          <a:prstGeom prst="roundRect">
            <a:avLst>
              <a:gd name="adj" fmla="val 6675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주요 </a:t>
            </a:r>
            <a:endParaRPr lang="en-US" altLang="ko-KR" sz="1400" b="1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lt1"/>
              </a:solidFill>
              <a:latin typeface="+mn-ea"/>
            </a:endParaRPr>
          </a:p>
          <a:p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내용</a:t>
            </a:r>
            <a:endParaRPr lang="en-US" altLang="ko-KR" sz="1400" b="1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lt1"/>
              </a:solidFill>
              <a:latin typeface="+mn-ea"/>
            </a:endParaRPr>
          </a:p>
        </p:txBody>
      </p:sp>
      <p:sp>
        <p:nvSpPr>
          <p:cNvPr id="18" name="Rectangle: Rounded Corners 46">
            <a:extLst>
              <a:ext uri="{FF2B5EF4-FFF2-40B4-BE49-F238E27FC236}">
                <a16:creationId xmlns:a16="http://schemas.microsoft.com/office/drawing/2014/main" id="{D610C485-09E1-941A-12FF-AB58BD24D792}"/>
              </a:ext>
            </a:extLst>
          </p:cNvPr>
          <p:cNvSpPr/>
          <p:nvPr/>
        </p:nvSpPr>
        <p:spPr>
          <a:xfrm>
            <a:off x="324597" y="5790187"/>
            <a:ext cx="1204912" cy="734438"/>
          </a:xfrm>
          <a:prstGeom prst="roundRect">
            <a:avLst>
              <a:gd name="adj" fmla="val 22435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산출물</a:t>
            </a:r>
            <a:endParaRPr lang="en-US" altLang="ko-KR" sz="1400" b="1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lt1"/>
              </a:solidFill>
              <a:latin typeface="+mn-ea"/>
            </a:endParaRPr>
          </a:p>
        </p:txBody>
      </p:sp>
      <p:sp>
        <p:nvSpPr>
          <p:cNvPr id="22" name="사각형: 둥근 모서리 20">
            <a:extLst>
              <a:ext uri="{FF2B5EF4-FFF2-40B4-BE49-F238E27FC236}">
                <a16:creationId xmlns:a16="http://schemas.microsoft.com/office/drawing/2014/main" id="{504ACE40-A35C-1425-3CDE-D87C5D9A4552}"/>
              </a:ext>
            </a:extLst>
          </p:cNvPr>
          <p:cNvSpPr/>
          <p:nvPr/>
        </p:nvSpPr>
        <p:spPr>
          <a:xfrm>
            <a:off x="324596" y="1334969"/>
            <a:ext cx="4868919" cy="360000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신규 추가 </a:t>
            </a:r>
            <a:r>
              <a:rPr lang="en-US" altLang="ko-KR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Task</a:t>
            </a:r>
            <a:endParaRPr lang="en" altLang="ko-KR" sz="1200" b="1">
              <a:ln>
                <a:solidFill>
                  <a:schemeClr val="bg1">
                    <a:alpha val="0"/>
                  </a:schemeClr>
                </a:solidFill>
              </a:ln>
              <a:latin typeface="+mn-ea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256997D1-C6D4-172B-6A3F-E771DC86B288}"/>
              </a:ext>
            </a:extLst>
          </p:cNvPr>
          <p:cNvGrpSpPr/>
          <p:nvPr/>
        </p:nvGrpSpPr>
        <p:grpSpPr>
          <a:xfrm>
            <a:off x="1031033" y="3440138"/>
            <a:ext cx="4162482" cy="612000"/>
            <a:chOff x="1031033" y="3440138"/>
            <a:chExt cx="4162482" cy="612000"/>
          </a:xfrm>
        </p:grpSpPr>
        <p:sp>
          <p:nvSpPr>
            <p:cNvPr id="11" name="Rectangle: Rounded Corners 46">
              <a:extLst>
                <a:ext uri="{FF2B5EF4-FFF2-40B4-BE49-F238E27FC236}">
                  <a16:creationId xmlns:a16="http://schemas.microsoft.com/office/drawing/2014/main" id="{B8871448-4893-3631-2A92-F58562B4B209}"/>
                </a:ext>
              </a:extLst>
            </p:cNvPr>
            <p:cNvSpPr/>
            <p:nvPr/>
          </p:nvSpPr>
          <p:spPr>
            <a:xfrm>
              <a:off x="1773515" y="3440138"/>
              <a:ext cx="3420000" cy="612000"/>
            </a:xfrm>
            <a:prstGeom prst="roundRect">
              <a:avLst>
                <a:gd name="adj" fmla="val 11418"/>
              </a:avLst>
            </a:prstGeom>
            <a:solidFill>
              <a:sysClr val="window" lastClr="FFFFFF"/>
            </a:solidFill>
            <a:ln w="6350" cap="flat" cmpd="sng" algn="ctr">
              <a:solidFill>
                <a:sysClr val="window" lastClr="FFFFFF">
                  <a:lumMod val="50000"/>
                </a:sysClr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txBody>
            <a:bodyPr lIns="72000" tIns="0" rIns="72000" bIns="0" rtlCol="0" anchor="ctr"/>
            <a:lstStyle/>
            <a:p>
              <a:pPr marL="171450" indent="-171450" defTabSz="914400">
                <a:buFont typeface="Arial" panose="020B0604020202020204" pitchFamily="34" charset="0"/>
                <a:buChar char="•"/>
              </a:pPr>
              <a:r>
                <a:rPr lang="ko-KR" altLang="en-US" sz="1050" kern="0" spc="-50">
                  <a:ln>
                    <a:solidFill>
                      <a:srgbClr val="0070C0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+mn-ea"/>
                </a:rPr>
                <a:t>상주</a:t>
              </a:r>
              <a:r>
                <a:rPr lang="en-US" altLang="ko-KR" sz="1050" kern="0" spc="-50">
                  <a:ln>
                    <a:solidFill>
                      <a:srgbClr val="0070C0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+mn-ea"/>
                </a:rPr>
                <a:t>: EY</a:t>
              </a:r>
            </a:p>
            <a:p>
              <a:pPr marL="171450" indent="-171450" defTabSz="914400">
                <a:buFont typeface="Arial" panose="020B0604020202020204" pitchFamily="34" charset="0"/>
                <a:buChar char="•"/>
              </a:pPr>
              <a:r>
                <a:rPr lang="ko-KR" altLang="en-US" sz="1050" kern="0" spc="-50">
                  <a:ln>
                    <a:solidFill>
                      <a:srgbClr val="0070C0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+mn-ea"/>
                </a:rPr>
                <a:t>비상주</a:t>
              </a:r>
              <a:r>
                <a:rPr lang="en-US" altLang="ko-KR" sz="1050" kern="0" spc="-50">
                  <a:ln>
                    <a:solidFill>
                      <a:srgbClr val="0070C0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+mn-ea"/>
                </a:rPr>
                <a:t>: </a:t>
              </a:r>
              <a:r>
                <a:rPr lang="ko-KR" altLang="en-US" sz="1050" kern="0" spc="-50">
                  <a:ln>
                    <a:solidFill>
                      <a:srgbClr val="0070C0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+mn-ea"/>
                </a:rPr>
                <a:t>미정</a:t>
              </a:r>
            </a:p>
          </p:txBody>
        </p:sp>
        <p:sp>
          <p:nvSpPr>
            <p:cNvPr id="19" name="Rectangle: Rounded Corners 46">
              <a:extLst>
                <a:ext uri="{FF2B5EF4-FFF2-40B4-BE49-F238E27FC236}">
                  <a16:creationId xmlns:a16="http://schemas.microsoft.com/office/drawing/2014/main" id="{38EE2B2C-9C4C-E81F-FF50-0D2BC34DD4EB}"/>
                </a:ext>
              </a:extLst>
            </p:cNvPr>
            <p:cNvSpPr/>
            <p:nvPr/>
          </p:nvSpPr>
          <p:spPr>
            <a:xfrm>
              <a:off x="1031033" y="3440138"/>
              <a:ext cx="582110" cy="612000"/>
            </a:xfrm>
            <a:prstGeom prst="roundRect">
              <a:avLst>
                <a:gd name="adj" fmla="val 11418"/>
              </a:avLst>
            </a:prstGeom>
            <a:solidFill>
              <a:srgbClr val="7F7F7F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1050" b="1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인력</a:t>
              </a:r>
              <a:endParaRPr lang="en-US" altLang="ko-KR" sz="105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endParaRP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0DB5D86E-DF10-85D6-FE38-A2158A466E6F}"/>
              </a:ext>
            </a:extLst>
          </p:cNvPr>
          <p:cNvGrpSpPr/>
          <p:nvPr/>
        </p:nvGrpSpPr>
        <p:grpSpPr>
          <a:xfrm>
            <a:off x="1031033" y="4144910"/>
            <a:ext cx="4162482" cy="468000"/>
            <a:chOff x="1031033" y="4144910"/>
            <a:chExt cx="4162482" cy="468000"/>
          </a:xfrm>
        </p:grpSpPr>
        <p:sp>
          <p:nvSpPr>
            <p:cNvPr id="13" name="Rectangle: Rounded Corners 46">
              <a:extLst>
                <a:ext uri="{FF2B5EF4-FFF2-40B4-BE49-F238E27FC236}">
                  <a16:creationId xmlns:a16="http://schemas.microsoft.com/office/drawing/2014/main" id="{A22E7366-26F1-612D-8F49-239F972A0C1E}"/>
                </a:ext>
              </a:extLst>
            </p:cNvPr>
            <p:cNvSpPr/>
            <p:nvPr/>
          </p:nvSpPr>
          <p:spPr>
            <a:xfrm>
              <a:off x="1773515" y="4144910"/>
              <a:ext cx="3420000" cy="468000"/>
            </a:xfrm>
            <a:prstGeom prst="roundRect">
              <a:avLst>
                <a:gd name="adj" fmla="val 11418"/>
              </a:avLst>
            </a:prstGeom>
            <a:solidFill>
              <a:sysClr val="window" lastClr="FFFFFF"/>
            </a:solidFill>
            <a:ln w="6350" cap="flat" cmpd="sng" algn="ctr">
              <a:solidFill>
                <a:sysClr val="window" lastClr="FFFFFF">
                  <a:lumMod val="50000"/>
                </a:sysClr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txBody>
            <a:bodyPr lIns="72000" tIns="0" rIns="72000" bIns="0" rtlCol="0" anchor="ctr"/>
            <a:lstStyle/>
            <a:p>
              <a:pPr marL="171450" indent="-171450" defTabSz="914400">
                <a:buFont typeface="Arial" panose="020B0604020202020204" pitchFamily="34" charset="0"/>
                <a:buChar char="•"/>
              </a:pPr>
              <a:r>
                <a:rPr lang="en-US" altLang="ko-KR" sz="1050" kern="0" spc="-50">
                  <a:ln>
                    <a:solidFill>
                      <a:srgbClr val="0070C0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+mn-ea"/>
                </a:rPr>
                <a:t>2</a:t>
              </a:r>
              <a:r>
                <a:rPr lang="ko-KR" altLang="en-US" sz="1050" kern="0" spc="-50">
                  <a:ln>
                    <a:solidFill>
                      <a:srgbClr val="0070C0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+mn-ea"/>
                </a:rPr>
                <a:t>개월</a:t>
              </a:r>
            </a:p>
          </p:txBody>
        </p:sp>
        <p:sp>
          <p:nvSpPr>
            <p:cNvPr id="20" name="Rectangle: Rounded Corners 46">
              <a:extLst>
                <a:ext uri="{FF2B5EF4-FFF2-40B4-BE49-F238E27FC236}">
                  <a16:creationId xmlns:a16="http://schemas.microsoft.com/office/drawing/2014/main" id="{B4F9D152-FE63-7EF8-E953-48693342E29C}"/>
                </a:ext>
              </a:extLst>
            </p:cNvPr>
            <p:cNvSpPr/>
            <p:nvPr/>
          </p:nvSpPr>
          <p:spPr>
            <a:xfrm>
              <a:off x="1031033" y="4144910"/>
              <a:ext cx="582110" cy="468000"/>
            </a:xfrm>
            <a:prstGeom prst="roundRect">
              <a:avLst>
                <a:gd name="adj" fmla="val 11418"/>
              </a:avLst>
            </a:prstGeom>
            <a:solidFill>
              <a:srgbClr val="7F7F7F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1050" b="1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기간</a:t>
              </a:r>
              <a:endParaRPr lang="en-US" altLang="ko-KR" sz="105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endParaRP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5F43CFAE-473E-F22D-440B-58C23101C56D}"/>
              </a:ext>
            </a:extLst>
          </p:cNvPr>
          <p:cNvGrpSpPr/>
          <p:nvPr/>
        </p:nvGrpSpPr>
        <p:grpSpPr>
          <a:xfrm>
            <a:off x="1031033" y="4705682"/>
            <a:ext cx="4162482" cy="828000"/>
            <a:chOff x="1031033" y="4705682"/>
            <a:chExt cx="4162482" cy="828000"/>
          </a:xfrm>
        </p:grpSpPr>
        <p:sp>
          <p:nvSpPr>
            <p:cNvPr id="14" name="Rectangle: Rounded Corners 46">
              <a:extLst>
                <a:ext uri="{FF2B5EF4-FFF2-40B4-BE49-F238E27FC236}">
                  <a16:creationId xmlns:a16="http://schemas.microsoft.com/office/drawing/2014/main" id="{3B5D90AA-7CF0-870A-FD3D-B90E0BA2BDCF}"/>
                </a:ext>
              </a:extLst>
            </p:cNvPr>
            <p:cNvSpPr/>
            <p:nvPr/>
          </p:nvSpPr>
          <p:spPr>
            <a:xfrm>
              <a:off x="1773515" y="4705682"/>
              <a:ext cx="3420000" cy="828000"/>
            </a:xfrm>
            <a:prstGeom prst="roundRect">
              <a:avLst>
                <a:gd name="adj" fmla="val 5596"/>
              </a:avLst>
            </a:prstGeom>
            <a:solidFill>
              <a:sysClr val="window" lastClr="FFFFFF"/>
            </a:solidFill>
            <a:ln w="6350" cap="flat" cmpd="sng" algn="ctr">
              <a:solidFill>
                <a:sysClr val="window" lastClr="FFFFFF">
                  <a:lumMod val="50000"/>
                </a:sysClr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txBody>
            <a:bodyPr lIns="72000" tIns="0" rIns="72000" bIns="0" rtlCol="0" anchor="ctr"/>
            <a:lstStyle/>
            <a:p>
              <a:pPr marL="171450" indent="-171450" defTabSz="91440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en-US" altLang="ko-KR" sz="1050" kern="0" spc="-50">
                  <a:ln>
                    <a:solidFill>
                      <a:srgbClr val="0070C0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+mn-ea"/>
                </a:rPr>
                <a:t>AI </a:t>
              </a:r>
              <a:r>
                <a:rPr lang="ko-KR" altLang="en-US" sz="1050" kern="0" spc="-50">
                  <a:ln>
                    <a:solidFill>
                      <a:srgbClr val="0070C0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+mn-ea"/>
                </a:rPr>
                <a:t>위험 요소 정의</a:t>
              </a:r>
              <a:endParaRPr lang="en-US" altLang="ko-KR" sz="105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endParaRPr>
            </a:p>
            <a:p>
              <a:pPr marL="171450" indent="-171450" defTabSz="91440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en-US" altLang="ko-KR" sz="1050" kern="0" spc="-50">
                  <a:ln>
                    <a:solidFill>
                      <a:srgbClr val="0070C0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+mn-ea"/>
                </a:rPr>
                <a:t>AI </a:t>
              </a:r>
              <a:r>
                <a:rPr lang="ko-KR" altLang="en-US" sz="1050" kern="0" spc="-50">
                  <a:ln>
                    <a:solidFill>
                      <a:srgbClr val="0070C0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+mn-ea"/>
                </a:rPr>
                <a:t>위험 평가 및 점검 방안 수립</a:t>
              </a:r>
              <a:endParaRPr lang="en-US" altLang="ko-KR" sz="105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endParaRPr>
            </a:p>
            <a:p>
              <a:pPr marL="171450" indent="-171450" defTabSz="91440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en-US" altLang="ko-KR" sz="1050" kern="0" spc="-50">
                  <a:ln>
                    <a:solidFill>
                      <a:srgbClr val="0070C0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+mn-ea"/>
                </a:rPr>
                <a:t>AI </a:t>
              </a:r>
              <a:r>
                <a:rPr lang="ko-KR" altLang="en-US" sz="1050" kern="0" spc="-50">
                  <a:ln>
                    <a:solidFill>
                      <a:srgbClr val="0070C0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+mn-ea"/>
                </a:rPr>
                <a:t>위험 평가  구축 요건 수립</a:t>
              </a:r>
              <a:endParaRPr lang="en-US" altLang="ko-KR" sz="105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endParaRPr>
            </a:p>
          </p:txBody>
        </p:sp>
        <p:sp>
          <p:nvSpPr>
            <p:cNvPr id="21" name="Rectangle: Rounded Corners 46">
              <a:extLst>
                <a:ext uri="{FF2B5EF4-FFF2-40B4-BE49-F238E27FC236}">
                  <a16:creationId xmlns:a16="http://schemas.microsoft.com/office/drawing/2014/main" id="{38E3F1A2-9D3D-0923-9B3A-F05AAD71C5BA}"/>
                </a:ext>
              </a:extLst>
            </p:cNvPr>
            <p:cNvSpPr/>
            <p:nvPr/>
          </p:nvSpPr>
          <p:spPr>
            <a:xfrm>
              <a:off x="1031033" y="4705682"/>
              <a:ext cx="582110" cy="828000"/>
            </a:xfrm>
            <a:prstGeom prst="roundRect">
              <a:avLst>
                <a:gd name="adj" fmla="val 11418"/>
              </a:avLst>
            </a:prstGeom>
            <a:solidFill>
              <a:srgbClr val="7F7F7F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1050" b="1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활동</a:t>
              </a:r>
              <a:endParaRPr lang="en-US" altLang="ko-KR" sz="105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endParaRP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3B9362AF-143E-4A8B-36F7-BAE60BFCA28D}"/>
              </a:ext>
            </a:extLst>
          </p:cNvPr>
          <p:cNvGrpSpPr/>
          <p:nvPr/>
        </p:nvGrpSpPr>
        <p:grpSpPr>
          <a:xfrm>
            <a:off x="1031033" y="2627366"/>
            <a:ext cx="4162482" cy="720000"/>
            <a:chOff x="1031033" y="2642891"/>
            <a:chExt cx="4162482" cy="720000"/>
          </a:xfrm>
        </p:grpSpPr>
        <p:sp>
          <p:nvSpPr>
            <p:cNvPr id="28" name="Rectangle: Rounded Corners 46">
              <a:extLst>
                <a:ext uri="{FF2B5EF4-FFF2-40B4-BE49-F238E27FC236}">
                  <a16:creationId xmlns:a16="http://schemas.microsoft.com/office/drawing/2014/main" id="{E795FF64-F344-7378-60D5-236D7BD11879}"/>
                </a:ext>
              </a:extLst>
            </p:cNvPr>
            <p:cNvSpPr/>
            <p:nvPr/>
          </p:nvSpPr>
          <p:spPr>
            <a:xfrm>
              <a:off x="1773515" y="2642891"/>
              <a:ext cx="3420000" cy="720000"/>
            </a:xfrm>
            <a:prstGeom prst="roundRect">
              <a:avLst>
                <a:gd name="adj" fmla="val 11418"/>
              </a:avLst>
            </a:prstGeom>
            <a:solidFill>
              <a:sysClr val="window" lastClr="FFFFFF"/>
            </a:solidFill>
            <a:ln w="6350" cap="flat" cmpd="sng" algn="ctr">
              <a:solidFill>
                <a:sysClr val="window" lastClr="FFFFFF">
                  <a:lumMod val="50000"/>
                </a:sysClr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txBody>
            <a:bodyPr lIns="72000" tIns="0" rIns="72000" bIns="0" rtlCol="0" anchor="ctr"/>
            <a:lstStyle/>
            <a:p>
              <a:pPr marL="171450" indent="-171450" defTabSz="914400">
                <a:buFont typeface="Arial" panose="020B0604020202020204" pitchFamily="34" charset="0"/>
                <a:buChar char="•"/>
              </a:pPr>
              <a:r>
                <a:rPr lang="ko-KR" altLang="en-US" sz="1050" kern="0" spc="-50">
                  <a:ln>
                    <a:solidFill>
                      <a:srgbClr val="0070C0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+mn-ea"/>
                </a:rPr>
                <a:t>정의된 </a:t>
              </a:r>
              <a:r>
                <a:rPr lang="en-US" altLang="ko-KR" sz="1050" kern="0" spc="-50">
                  <a:ln>
                    <a:solidFill>
                      <a:srgbClr val="0070C0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+mn-ea"/>
                </a:rPr>
                <a:t>AI </a:t>
              </a:r>
              <a:r>
                <a:rPr lang="ko-KR" altLang="en-US" sz="1050" kern="0" spc="-50">
                  <a:ln>
                    <a:solidFill>
                      <a:srgbClr val="0070C0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+mn-ea"/>
                </a:rPr>
                <a:t>위험에 대해 평가</a:t>
              </a:r>
              <a:r>
                <a:rPr lang="en-US" altLang="ko-KR" sz="1050" kern="0" spc="-50">
                  <a:ln>
                    <a:solidFill>
                      <a:srgbClr val="0070C0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+mn-ea"/>
                </a:rPr>
                <a:t> </a:t>
              </a:r>
              <a:r>
                <a:rPr lang="ko-KR" altLang="en-US" sz="1050" kern="0" spc="-50">
                  <a:ln>
                    <a:solidFill>
                      <a:srgbClr val="0070C0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+mn-ea"/>
                </a:rPr>
                <a:t>방안을 마련하고</a:t>
              </a:r>
              <a:r>
                <a:rPr lang="en-US" altLang="ko-KR" sz="1050" kern="0" spc="-50">
                  <a:ln>
                    <a:solidFill>
                      <a:srgbClr val="0070C0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+mn-ea"/>
                </a:rPr>
                <a:t>, </a:t>
              </a:r>
              <a:r>
                <a:rPr lang="ko-KR" altLang="en-US" sz="1050" kern="0" spc="-50">
                  <a:ln>
                    <a:solidFill>
                      <a:srgbClr val="0070C0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+mn-ea"/>
                </a:rPr>
                <a:t>이에 대한 구축요건을 작성하여</a:t>
              </a:r>
              <a:r>
                <a:rPr lang="en-US" altLang="ko-KR" sz="1050" kern="0" spc="-50">
                  <a:ln>
                    <a:solidFill>
                      <a:srgbClr val="0070C0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+mn-ea"/>
                </a:rPr>
                <a:t>, </a:t>
              </a:r>
              <a:r>
                <a:rPr lang="ko-KR" altLang="en-US" sz="1050" kern="0" spc="-50" err="1">
                  <a:ln>
                    <a:solidFill>
                      <a:srgbClr val="0070C0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+mn-ea"/>
                </a:rPr>
                <a:t>미래에셋증권</a:t>
              </a:r>
              <a:r>
                <a:rPr lang="ko-KR" altLang="en-US" sz="1050" kern="0" spc="-50">
                  <a:ln>
                    <a:solidFill>
                      <a:srgbClr val="0070C0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+mn-ea"/>
                </a:rPr>
                <a:t> 내 시스템화를 목적으로 함</a:t>
              </a:r>
            </a:p>
          </p:txBody>
        </p:sp>
        <p:sp>
          <p:nvSpPr>
            <p:cNvPr id="29" name="Rectangle: Rounded Corners 46">
              <a:extLst>
                <a:ext uri="{FF2B5EF4-FFF2-40B4-BE49-F238E27FC236}">
                  <a16:creationId xmlns:a16="http://schemas.microsoft.com/office/drawing/2014/main" id="{C75ADC3A-D5BB-AD8E-993B-F9A57FA5C7DA}"/>
                </a:ext>
              </a:extLst>
            </p:cNvPr>
            <p:cNvSpPr/>
            <p:nvPr/>
          </p:nvSpPr>
          <p:spPr>
            <a:xfrm>
              <a:off x="1031033" y="2642891"/>
              <a:ext cx="582110" cy="720000"/>
            </a:xfrm>
            <a:prstGeom prst="roundRect">
              <a:avLst>
                <a:gd name="adj" fmla="val 11418"/>
              </a:avLst>
            </a:prstGeom>
            <a:solidFill>
              <a:srgbClr val="7F7F7F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1050" b="1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</a:rPr>
                <a:t>목적</a:t>
              </a:r>
              <a:endParaRPr lang="en-US" altLang="ko-KR" sz="105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endParaRPr>
            </a:p>
          </p:txBody>
        </p:sp>
      </p:grpSp>
      <p:sp>
        <p:nvSpPr>
          <p:cNvPr id="32" name="사각형: 둥근 모서리 56">
            <a:extLst>
              <a:ext uri="{FF2B5EF4-FFF2-40B4-BE49-F238E27FC236}">
                <a16:creationId xmlns:a16="http://schemas.microsoft.com/office/drawing/2014/main" id="{AE270EE6-6BAE-3A77-98F6-1716DBFAA53B}"/>
              </a:ext>
            </a:extLst>
          </p:cNvPr>
          <p:cNvSpPr/>
          <p:nvPr/>
        </p:nvSpPr>
        <p:spPr>
          <a:xfrm>
            <a:off x="5592764" y="1334969"/>
            <a:ext cx="1080000" cy="360000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산출물명</a:t>
            </a:r>
            <a:endParaRPr lang="ko-KR" altLang="en-US" sz="1400" b="1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lt1"/>
              </a:solidFill>
              <a:latin typeface="+mn-ea"/>
            </a:endParaRPr>
          </a:p>
        </p:txBody>
      </p:sp>
      <p:sp>
        <p:nvSpPr>
          <p:cNvPr id="35" name="사각형: 둥근 모서리 56">
            <a:extLst>
              <a:ext uri="{FF2B5EF4-FFF2-40B4-BE49-F238E27FC236}">
                <a16:creationId xmlns:a16="http://schemas.microsoft.com/office/drawing/2014/main" id="{B2910D7A-ACC6-8248-890C-4E04742C3B6C}"/>
              </a:ext>
            </a:extLst>
          </p:cNvPr>
          <p:cNvSpPr/>
          <p:nvPr/>
        </p:nvSpPr>
        <p:spPr>
          <a:xfrm>
            <a:off x="6779963" y="1334969"/>
            <a:ext cx="5112000" cy="360000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산출물 예시</a:t>
            </a:r>
            <a:endParaRPr lang="ko-KR" altLang="en-US" sz="1400" b="1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lt1"/>
              </a:solidFill>
              <a:latin typeface="+mn-ea"/>
            </a:endParaRPr>
          </a:p>
        </p:txBody>
      </p:sp>
      <p:sp>
        <p:nvSpPr>
          <p:cNvPr id="36" name="사각형: 둥근 모서리 20">
            <a:extLst>
              <a:ext uri="{FF2B5EF4-FFF2-40B4-BE49-F238E27FC236}">
                <a16:creationId xmlns:a16="http://schemas.microsoft.com/office/drawing/2014/main" id="{E3E3F3BA-CF2F-1A36-D03E-BEA736583BA0}"/>
              </a:ext>
            </a:extLst>
          </p:cNvPr>
          <p:cNvSpPr/>
          <p:nvPr/>
        </p:nvSpPr>
        <p:spPr>
          <a:xfrm>
            <a:off x="5592764" y="1780422"/>
            <a:ext cx="1080000" cy="1440000"/>
          </a:xfrm>
          <a:prstGeom prst="roundRect">
            <a:avLst>
              <a:gd name="adj" fmla="val 0"/>
            </a:avLst>
          </a:prstGeom>
          <a:solidFill>
            <a:srgbClr val="F4B183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AI </a:t>
            </a:r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위험</a:t>
            </a:r>
            <a:r>
              <a:rPr lang="en-US" altLang="ko-KR" sz="12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정의서 </a:t>
            </a:r>
            <a:endParaRPr lang="en" altLang="ko-KR" sz="1200" b="1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sp>
        <p:nvSpPr>
          <p:cNvPr id="37" name="사각형: 둥근 모서리 20">
            <a:extLst>
              <a:ext uri="{FF2B5EF4-FFF2-40B4-BE49-F238E27FC236}">
                <a16:creationId xmlns:a16="http://schemas.microsoft.com/office/drawing/2014/main" id="{526A6F7A-8C24-5318-FE0A-180844FA26AB}"/>
              </a:ext>
            </a:extLst>
          </p:cNvPr>
          <p:cNvSpPr/>
          <p:nvPr/>
        </p:nvSpPr>
        <p:spPr>
          <a:xfrm>
            <a:off x="5592764" y="3342523"/>
            <a:ext cx="1080000" cy="1620000"/>
          </a:xfrm>
          <a:prstGeom prst="roundRect">
            <a:avLst>
              <a:gd name="adj" fmla="val 0"/>
            </a:avLst>
          </a:prstGeom>
          <a:solidFill>
            <a:srgbClr val="F4B183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AI </a:t>
            </a:r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위험 평가</a:t>
            </a:r>
            <a:r>
              <a:rPr lang="en-US" altLang="ko-KR" sz="12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&amp;</a:t>
            </a:r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완화 방안 정의서</a:t>
            </a:r>
            <a:endParaRPr lang="en" altLang="ko-KR" sz="1200" b="1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sp>
        <p:nvSpPr>
          <p:cNvPr id="38" name="사각형: 둥근 모서리 20">
            <a:extLst>
              <a:ext uri="{FF2B5EF4-FFF2-40B4-BE49-F238E27FC236}">
                <a16:creationId xmlns:a16="http://schemas.microsoft.com/office/drawing/2014/main" id="{893387E9-40D2-4AB8-8E19-737DB9163CE6}"/>
              </a:ext>
            </a:extLst>
          </p:cNvPr>
          <p:cNvSpPr/>
          <p:nvPr/>
        </p:nvSpPr>
        <p:spPr>
          <a:xfrm>
            <a:off x="5592764" y="5084625"/>
            <a:ext cx="1080000" cy="1440000"/>
          </a:xfrm>
          <a:prstGeom prst="roundRect">
            <a:avLst>
              <a:gd name="adj" fmla="val 0"/>
            </a:avLst>
          </a:prstGeom>
          <a:solidFill>
            <a:srgbClr val="F4B183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AI </a:t>
            </a:r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위험 평가</a:t>
            </a:r>
            <a:r>
              <a:rPr lang="en-US" altLang="ko-KR" sz="12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&amp; </a:t>
            </a:r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완화 관련</a:t>
            </a:r>
            <a:r>
              <a:rPr lang="en-US" altLang="ko-KR" sz="12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 </a:t>
            </a:r>
            <a:br>
              <a:rPr lang="en-US" altLang="ko-KR" sz="12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</a:br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구축 요건</a:t>
            </a:r>
            <a:endParaRPr lang="en" altLang="ko-KR" sz="1200" b="1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D9AFB19-13FD-11BB-EB84-FE2225691E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9965" y="3342523"/>
            <a:ext cx="1897870" cy="1067552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66D1C080-78D6-C88F-66D9-9DD51D4887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2826" y="5133975"/>
            <a:ext cx="1004956" cy="139065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26" name="사각형: 둥근 모서리 20">
            <a:extLst>
              <a:ext uri="{FF2B5EF4-FFF2-40B4-BE49-F238E27FC236}">
                <a16:creationId xmlns:a16="http://schemas.microsoft.com/office/drawing/2014/main" id="{4FE37F64-62DD-788C-02A9-0992D3CFFCFA}"/>
              </a:ext>
            </a:extLst>
          </p:cNvPr>
          <p:cNvSpPr/>
          <p:nvPr/>
        </p:nvSpPr>
        <p:spPr>
          <a:xfrm>
            <a:off x="6986590" y="5388472"/>
            <a:ext cx="617536" cy="3375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6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위험</a:t>
            </a:r>
            <a:r>
              <a:rPr lang="en-US" altLang="ko-KR" sz="6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6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영향</a:t>
            </a:r>
            <a:r>
              <a:rPr lang="en-US" altLang="ko-KR" sz="6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6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안전성 평가 시스템 구축 제안요청서</a:t>
            </a:r>
            <a:endParaRPr lang="en" altLang="ko-KR" sz="600" b="1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sp>
        <p:nvSpPr>
          <p:cNvPr id="27" name="사각형: 둥근 모서리 20">
            <a:extLst>
              <a:ext uri="{FF2B5EF4-FFF2-40B4-BE49-F238E27FC236}">
                <a16:creationId xmlns:a16="http://schemas.microsoft.com/office/drawing/2014/main" id="{9A78B7E9-606B-D89E-19EE-CC8FD8D62E67}"/>
              </a:ext>
            </a:extLst>
          </p:cNvPr>
          <p:cNvSpPr/>
          <p:nvPr/>
        </p:nvSpPr>
        <p:spPr>
          <a:xfrm>
            <a:off x="6986590" y="5890120"/>
            <a:ext cx="617536" cy="1397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5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2026.03</a:t>
            </a:r>
            <a:endParaRPr lang="en" altLang="ko-KR" sz="500" b="1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sp>
        <p:nvSpPr>
          <p:cNvPr id="34" name="사각형: 둥근 모서리 20">
            <a:extLst>
              <a:ext uri="{FF2B5EF4-FFF2-40B4-BE49-F238E27FC236}">
                <a16:creationId xmlns:a16="http://schemas.microsoft.com/office/drawing/2014/main" id="{8FE18F3B-A12D-C300-0969-8E71D8C2DEC9}"/>
              </a:ext>
            </a:extLst>
          </p:cNvPr>
          <p:cNvSpPr/>
          <p:nvPr/>
        </p:nvSpPr>
        <p:spPr>
          <a:xfrm>
            <a:off x="6902450" y="5186885"/>
            <a:ext cx="849335" cy="18680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50000"/>
              </a:lnSpc>
            </a:pPr>
            <a:endParaRPr lang="en" altLang="ko-KR" sz="500" b="1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pic>
        <p:nvPicPr>
          <p:cNvPr id="40" name="그림 39">
            <a:extLst>
              <a:ext uri="{FF2B5EF4-FFF2-40B4-BE49-F238E27FC236}">
                <a16:creationId xmlns:a16="http://schemas.microsoft.com/office/drawing/2014/main" id="{04B1D2B0-949F-3CE8-A3E0-B662039266A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1" r="37988"/>
          <a:stretch>
            <a:fillRect/>
          </a:stretch>
        </p:blipFill>
        <p:spPr>
          <a:xfrm>
            <a:off x="7945883" y="5140325"/>
            <a:ext cx="2010532" cy="138430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D18FC918-9158-BCFF-2339-E650FDC43E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02960" y="1780422"/>
            <a:ext cx="3149507" cy="144000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43" name="이등변 삼각형 42">
            <a:extLst>
              <a:ext uri="{FF2B5EF4-FFF2-40B4-BE49-F238E27FC236}">
                <a16:creationId xmlns:a16="http://schemas.microsoft.com/office/drawing/2014/main" id="{D4E82919-647B-6E7E-7EFB-8AD58B085ED3}"/>
              </a:ext>
            </a:extLst>
          </p:cNvPr>
          <p:cNvSpPr/>
          <p:nvPr/>
        </p:nvSpPr>
        <p:spPr>
          <a:xfrm rot="5400000">
            <a:off x="9977305" y="2446081"/>
            <a:ext cx="166998" cy="108683"/>
          </a:xfrm>
          <a:prstGeom prst="triangle">
            <a:avLst/>
          </a:prstGeom>
          <a:solidFill>
            <a:schemeClr val="bg1">
              <a:lumMod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44" name="이등변 삼각형 43">
            <a:extLst>
              <a:ext uri="{FF2B5EF4-FFF2-40B4-BE49-F238E27FC236}">
                <a16:creationId xmlns:a16="http://schemas.microsoft.com/office/drawing/2014/main" id="{556222B7-714E-84F8-F959-8C320BC4C846}"/>
              </a:ext>
            </a:extLst>
          </p:cNvPr>
          <p:cNvSpPr/>
          <p:nvPr/>
        </p:nvSpPr>
        <p:spPr>
          <a:xfrm rot="5400000">
            <a:off x="9977305" y="4098182"/>
            <a:ext cx="166998" cy="108683"/>
          </a:xfrm>
          <a:prstGeom prst="triangle">
            <a:avLst/>
          </a:prstGeom>
          <a:solidFill>
            <a:schemeClr val="bg1">
              <a:lumMod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45" name="이등변 삼각형 44">
            <a:extLst>
              <a:ext uri="{FF2B5EF4-FFF2-40B4-BE49-F238E27FC236}">
                <a16:creationId xmlns:a16="http://schemas.microsoft.com/office/drawing/2014/main" id="{46C78198-8C76-D05D-FEAA-2B5F12E8C48F}"/>
              </a:ext>
            </a:extLst>
          </p:cNvPr>
          <p:cNvSpPr/>
          <p:nvPr/>
        </p:nvSpPr>
        <p:spPr>
          <a:xfrm rot="5400000">
            <a:off x="9977305" y="5750284"/>
            <a:ext cx="166998" cy="108683"/>
          </a:xfrm>
          <a:prstGeom prst="triangle">
            <a:avLst/>
          </a:prstGeom>
          <a:solidFill>
            <a:schemeClr val="bg1">
              <a:lumMod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1C31CF8-6C44-0269-3B25-E8010459D11E}"/>
              </a:ext>
            </a:extLst>
          </p:cNvPr>
          <p:cNvSpPr txBox="1"/>
          <p:nvPr/>
        </p:nvSpPr>
        <p:spPr>
          <a:xfrm>
            <a:off x="10163963" y="2230422"/>
            <a:ext cx="1728000" cy="54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altLang="ko-KR" sz="1200" b="1" i="1">
                <a:latin typeface="+mn-ea"/>
              </a:rPr>
              <a:t>AI </a:t>
            </a:r>
            <a:r>
              <a:rPr lang="ko-KR" altLang="en-US" sz="1200" b="1" i="1">
                <a:latin typeface="+mn-ea"/>
              </a:rPr>
              <a:t>위험에 대한 분류 및 정의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5AEAC14-16E9-BBCA-CDE0-698FE9C5FF3C}"/>
              </a:ext>
            </a:extLst>
          </p:cNvPr>
          <p:cNvSpPr txBox="1"/>
          <p:nvPr/>
        </p:nvSpPr>
        <p:spPr>
          <a:xfrm>
            <a:off x="10163963" y="3882523"/>
            <a:ext cx="1728000" cy="54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altLang="ko-KR" sz="1200" b="1" i="1">
                <a:latin typeface="+mn-ea"/>
              </a:rPr>
              <a:t>AI </a:t>
            </a:r>
            <a:r>
              <a:rPr lang="ko-KR" altLang="en-US" sz="1200" b="1" i="1">
                <a:latin typeface="+mn-ea"/>
              </a:rPr>
              <a:t>시스템에서의 발생 위험에 대해 가능성을 정의하고 평가</a:t>
            </a:r>
            <a:r>
              <a:rPr lang="en-US" altLang="ko-KR" sz="1200" b="1" i="1">
                <a:latin typeface="+mn-ea"/>
              </a:rPr>
              <a:t>/</a:t>
            </a:r>
            <a:r>
              <a:rPr lang="ko-KR" altLang="en-US" sz="1200" b="1" i="1">
                <a:latin typeface="+mn-ea"/>
              </a:rPr>
              <a:t>점검 방안을 수립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903F40B-BE82-4539-2EDA-54D4E937F7FF}"/>
              </a:ext>
            </a:extLst>
          </p:cNvPr>
          <p:cNvSpPr txBox="1"/>
          <p:nvPr/>
        </p:nvSpPr>
        <p:spPr>
          <a:xfrm>
            <a:off x="10163963" y="5534625"/>
            <a:ext cx="1728000" cy="54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altLang="ko-KR" sz="1200" b="1" i="1">
                <a:latin typeface="+mn-ea"/>
              </a:rPr>
              <a:t>AI </a:t>
            </a:r>
            <a:r>
              <a:rPr lang="ko-KR" altLang="en-US" sz="1200" b="1" i="1">
                <a:latin typeface="+mn-ea"/>
              </a:rPr>
              <a:t>위험 평가 </a:t>
            </a:r>
            <a:r>
              <a:rPr lang="en-US" altLang="ko-KR" sz="1200" b="1" i="1">
                <a:latin typeface="+mn-ea"/>
              </a:rPr>
              <a:t>&amp; </a:t>
            </a:r>
            <a:r>
              <a:rPr lang="ko-KR" altLang="en-US" sz="1200" b="1" i="1">
                <a:latin typeface="+mn-ea"/>
              </a:rPr>
              <a:t>완화 관련 구축 요건 작성</a:t>
            </a:r>
          </a:p>
        </p:txBody>
      </p:sp>
      <p:sp>
        <p:nvSpPr>
          <p:cNvPr id="50" name="이등변 삼각형 49">
            <a:extLst>
              <a:ext uri="{FF2B5EF4-FFF2-40B4-BE49-F238E27FC236}">
                <a16:creationId xmlns:a16="http://schemas.microsoft.com/office/drawing/2014/main" id="{80738AEA-BAD2-675E-C96E-5CB7AD841A63}"/>
              </a:ext>
            </a:extLst>
          </p:cNvPr>
          <p:cNvSpPr/>
          <p:nvPr/>
        </p:nvSpPr>
        <p:spPr>
          <a:xfrm rot="5400000">
            <a:off x="4530237" y="3989713"/>
            <a:ext cx="1800000" cy="178512"/>
          </a:xfrm>
          <a:prstGeom prst="triangle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62549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AAC73BDD-37D4-7AF5-2005-C83738C1D8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9C9F0AA-BDD1-077A-16D8-A3C520A4670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[Back-up] AI</a:t>
            </a:r>
            <a:r>
              <a:rPr lang="ko-KR" altLang="en-US"/>
              <a:t>거버넌스 예상 구축 요건 예시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A7ABC04-9143-A81C-32EF-9CAB5C3D7B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AI</a:t>
            </a:r>
            <a:r>
              <a:rPr lang="ko-KR" altLang="en-US" dirty="0"/>
              <a:t>서비스 개발 라이프 사이클별 대응되는 </a:t>
            </a:r>
            <a:r>
              <a:rPr lang="en-US" altLang="ko-KR" dirty="0"/>
              <a:t>Task</a:t>
            </a:r>
            <a:r>
              <a:rPr lang="ko-KR" altLang="en-US" dirty="0"/>
              <a:t>가 </a:t>
            </a:r>
            <a:r>
              <a:rPr lang="en-US" altLang="ko-KR" dirty="0"/>
              <a:t>ITSM</a:t>
            </a:r>
            <a:r>
              <a:rPr lang="ko-KR" altLang="en-US" dirty="0"/>
              <a:t>의 구축요건으로 작성되어 </a:t>
            </a:r>
            <a:r>
              <a:rPr lang="en-US" altLang="ko-KR" dirty="0"/>
              <a:t>AI</a:t>
            </a:r>
            <a:r>
              <a:rPr lang="ko-KR" altLang="en-US" dirty="0"/>
              <a:t>거버넌스 관리를 자동화하고자 함</a:t>
            </a:r>
          </a:p>
        </p:txBody>
      </p:sp>
      <p:sp>
        <p:nvSpPr>
          <p:cNvPr id="5" name="사각형: 둥근 모서리 20">
            <a:extLst>
              <a:ext uri="{FF2B5EF4-FFF2-40B4-BE49-F238E27FC236}">
                <a16:creationId xmlns:a16="http://schemas.microsoft.com/office/drawing/2014/main" id="{99ECEDE7-2205-59AC-A731-88B21291EF5C}"/>
              </a:ext>
            </a:extLst>
          </p:cNvPr>
          <p:cNvSpPr/>
          <p:nvPr/>
        </p:nvSpPr>
        <p:spPr>
          <a:xfrm>
            <a:off x="334963" y="1341436"/>
            <a:ext cx="1044000" cy="319758"/>
          </a:xfrm>
          <a:prstGeom prst="roundRect">
            <a:avLst>
              <a:gd name="adj" fmla="val 0"/>
            </a:avLst>
          </a:prstGeom>
          <a:solidFill>
            <a:schemeClr val="bg1">
              <a:lumMod val="5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구분</a:t>
            </a:r>
            <a:endParaRPr lang="en" altLang="ko-KR" sz="1400" b="1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lt1"/>
              </a:solidFill>
              <a:latin typeface="+mn-ea"/>
            </a:endParaRPr>
          </a:p>
        </p:txBody>
      </p:sp>
      <p:sp>
        <p:nvSpPr>
          <p:cNvPr id="10" name="Google Shape;134;p5">
            <a:extLst>
              <a:ext uri="{FF2B5EF4-FFF2-40B4-BE49-F238E27FC236}">
                <a16:creationId xmlns:a16="http://schemas.microsoft.com/office/drawing/2014/main" id="{9DF47D93-5CB4-6126-B262-2C004C76072B}"/>
              </a:ext>
            </a:extLst>
          </p:cNvPr>
          <p:cNvSpPr/>
          <p:nvPr/>
        </p:nvSpPr>
        <p:spPr>
          <a:xfrm>
            <a:off x="334964" y="4516693"/>
            <a:ext cx="1036291" cy="432000"/>
          </a:xfrm>
          <a:prstGeom prst="roundRect">
            <a:avLst>
              <a:gd name="adj" fmla="val 37108"/>
            </a:avLst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  <a:sym typeface="Arial"/>
              </a:rPr>
              <a:t>AI</a:t>
            </a:r>
            <a:r>
              <a:rPr lang="ko-KR" altLang="en-US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  <a:sym typeface="Arial"/>
              </a:rPr>
              <a:t>거버넌스</a:t>
            </a:r>
            <a:r>
              <a:rPr lang="en-US" altLang="ko-KR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  <a:sym typeface="Arial"/>
              </a:rPr>
              <a:t> </a:t>
            </a:r>
            <a:r>
              <a:rPr lang="ko-KR" altLang="en-US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  <a:sym typeface="Arial"/>
              </a:rPr>
              <a:t>협의체</a:t>
            </a:r>
          </a:p>
        </p:txBody>
      </p:sp>
      <p:sp>
        <p:nvSpPr>
          <p:cNvPr id="53" name="Google Shape;134;p5">
            <a:extLst>
              <a:ext uri="{FF2B5EF4-FFF2-40B4-BE49-F238E27FC236}">
                <a16:creationId xmlns:a16="http://schemas.microsoft.com/office/drawing/2014/main" id="{D3B91E9B-51A5-A880-7E68-F0462775870D}"/>
              </a:ext>
            </a:extLst>
          </p:cNvPr>
          <p:cNvSpPr/>
          <p:nvPr/>
        </p:nvSpPr>
        <p:spPr>
          <a:xfrm>
            <a:off x="334963" y="1736725"/>
            <a:ext cx="1044000" cy="82822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AI</a:t>
            </a:r>
            <a:r>
              <a:rPr lang="ko-KR" altLang="en-US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서비스기획 담당자</a:t>
            </a:r>
            <a:r>
              <a:rPr lang="en-US" altLang="ko-KR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(</a:t>
            </a:r>
            <a:r>
              <a:rPr lang="ko-KR" altLang="en-US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팀</a:t>
            </a:r>
            <a:r>
              <a:rPr lang="en-US" altLang="ko-KR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)</a:t>
            </a:r>
            <a:endParaRPr lang="ko-KR" altLang="en-US" sz="1200" b="1" spc="-150">
              <a:ln>
                <a:solidFill>
                  <a:schemeClr val="accent2">
                    <a:lumMod val="60000"/>
                    <a:lumOff val="40000"/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</p:txBody>
      </p:sp>
      <p:sp>
        <p:nvSpPr>
          <p:cNvPr id="56" name="Google Shape;134;p5">
            <a:extLst>
              <a:ext uri="{FF2B5EF4-FFF2-40B4-BE49-F238E27FC236}">
                <a16:creationId xmlns:a16="http://schemas.microsoft.com/office/drawing/2014/main" id="{7FA40E0D-1D29-2BA1-7E4A-21BEE35E7E68}"/>
              </a:ext>
            </a:extLst>
          </p:cNvPr>
          <p:cNvSpPr/>
          <p:nvPr/>
        </p:nvSpPr>
        <p:spPr>
          <a:xfrm>
            <a:off x="334963" y="2676476"/>
            <a:ext cx="1044000" cy="82822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AI</a:t>
            </a:r>
            <a:r>
              <a:rPr lang="ko-KR" altLang="en-US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개발</a:t>
            </a:r>
            <a:r>
              <a:rPr lang="en-US" altLang="ko-KR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/</a:t>
            </a:r>
            <a:r>
              <a:rPr lang="ko-KR" altLang="en-US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운영 담당자</a:t>
            </a:r>
            <a:r>
              <a:rPr lang="en-US" altLang="ko-KR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(</a:t>
            </a:r>
            <a:r>
              <a:rPr lang="ko-KR" altLang="en-US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팀</a:t>
            </a:r>
            <a:r>
              <a:rPr lang="en-US" altLang="ko-KR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)</a:t>
            </a:r>
            <a:endParaRPr lang="ko-KR" altLang="en-US" sz="1200" b="1" spc="-150">
              <a:ln>
                <a:solidFill>
                  <a:schemeClr val="accent2">
                    <a:lumMod val="60000"/>
                    <a:lumOff val="40000"/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</p:txBody>
      </p:sp>
      <p:sp>
        <p:nvSpPr>
          <p:cNvPr id="90" name="Google Shape;134;p5">
            <a:extLst>
              <a:ext uri="{FF2B5EF4-FFF2-40B4-BE49-F238E27FC236}">
                <a16:creationId xmlns:a16="http://schemas.microsoft.com/office/drawing/2014/main" id="{C326B391-27A3-E91E-5A51-91880B7F1C5B}"/>
              </a:ext>
            </a:extLst>
          </p:cNvPr>
          <p:cNvSpPr/>
          <p:nvPr/>
        </p:nvSpPr>
        <p:spPr>
          <a:xfrm>
            <a:off x="334963" y="3613059"/>
            <a:ext cx="1044000" cy="82822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AI</a:t>
            </a:r>
            <a:r>
              <a:rPr lang="ko-KR" altLang="en-US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거버넌스 담당자</a:t>
            </a:r>
            <a:r>
              <a:rPr lang="en-US" altLang="ko-KR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(</a:t>
            </a:r>
            <a:r>
              <a:rPr lang="ko-KR" altLang="en-US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팀</a:t>
            </a:r>
            <a:r>
              <a:rPr lang="en-US" altLang="ko-KR" sz="12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)</a:t>
            </a:r>
            <a:endParaRPr lang="ko-KR" altLang="en-US" sz="1200" b="1" spc="-150">
              <a:ln>
                <a:solidFill>
                  <a:schemeClr val="accent2">
                    <a:lumMod val="60000"/>
                    <a:lumOff val="40000"/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D8211083-821A-8C63-E2EB-C591D70438E9}"/>
              </a:ext>
            </a:extLst>
          </p:cNvPr>
          <p:cNvSpPr/>
          <p:nvPr/>
        </p:nvSpPr>
        <p:spPr>
          <a:xfrm>
            <a:off x="334964" y="5024106"/>
            <a:ext cx="1036291" cy="1476000"/>
          </a:xfrm>
          <a:prstGeom prst="rect">
            <a:avLst/>
          </a:prstGeom>
          <a:solidFill>
            <a:srgbClr val="043B7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AI</a:t>
            </a:r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거버넌스 구축 요건</a:t>
            </a:r>
            <a:endParaRPr lang="en-US" altLang="ko-KR" sz="1400" b="1">
              <a:ln>
                <a:solidFill>
                  <a:schemeClr val="bg1">
                    <a:alpha val="0"/>
                  </a:schemeClr>
                </a:solidFill>
              </a:ln>
              <a:latin typeface="+mn-ea"/>
            </a:endParaRPr>
          </a:p>
          <a:p>
            <a:pPr algn="ctr"/>
            <a:r>
              <a:rPr lang="en-US" altLang="ko-KR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(</a:t>
            </a:r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예시</a:t>
            </a:r>
            <a:r>
              <a:rPr lang="en-US" altLang="ko-KR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)</a:t>
            </a:r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 </a:t>
            </a:r>
          </a:p>
        </p:txBody>
      </p:sp>
      <p:sp>
        <p:nvSpPr>
          <p:cNvPr id="6" name="사각형: 둥근 모서리 20">
            <a:extLst>
              <a:ext uri="{FF2B5EF4-FFF2-40B4-BE49-F238E27FC236}">
                <a16:creationId xmlns:a16="http://schemas.microsoft.com/office/drawing/2014/main" id="{A33B15FC-8FCA-94E5-2022-CAA509A7DFB4}"/>
              </a:ext>
            </a:extLst>
          </p:cNvPr>
          <p:cNvSpPr/>
          <p:nvPr/>
        </p:nvSpPr>
        <p:spPr>
          <a:xfrm>
            <a:off x="1499315" y="1341436"/>
            <a:ext cx="2520000" cy="319758"/>
          </a:xfrm>
          <a:prstGeom prst="homePlate">
            <a:avLst>
              <a:gd name="adj" fmla="val 37573"/>
            </a:avLst>
          </a:prstGeom>
          <a:solidFill>
            <a:schemeClr val="bg1">
              <a:lumMod val="5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기획</a:t>
            </a:r>
            <a:r>
              <a:rPr lang="en-US" altLang="ko-KR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·</a:t>
            </a:r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설계</a:t>
            </a:r>
          </a:p>
        </p:txBody>
      </p:sp>
      <p:sp>
        <p:nvSpPr>
          <p:cNvPr id="7" name="사각형: 둥근 모서리 20">
            <a:extLst>
              <a:ext uri="{FF2B5EF4-FFF2-40B4-BE49-F238E27FC236}">
                <a16:creationId xmlns:a16="http://schemas.microsoft.com/office/drawing/2014/main" id="{58A53AA9-C029-5BF4-92E3-570E148B8BBA}"/>
              </a:ext>
            </a:extLst>
          </p:cNvPr>
          <p:cNvSpPr/>
          <p:nvPr/>
        </p:nvSpPr>
        <p:spPr>
          <a:xfrm>
            <a:off x="4123531" y="1341436"/>
            <a:ext cx="2520000" cy="319758"/>
          </a:xfrm>
          <a:prstGeom prst="homePlate">
            <a:avLst>
              <a:gd name="adj" fmla="val 37573"/>
            </a:avLst>
          </a:prstGeom>
          <a:solidFill>
            <a:schemeClr val="bg1">
              <a:lumMod val="5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개발</a:t>
            </a:r>
          </a:p>
        </p:txBody>
      </p:sp>
      <p:sp>
        <p:nvSpPr>
          <p:cNvPr id="8" name="사각형: 둥근 모서리 20">
            <a:extLst>
              <a:ext uri="{FF2B5EF4-FFF2-40B4-BE49-F238E27FC236}">
                <a16:creationId xmlns:a16="http://schemas.microsoft.com/office/drawing/2014/main" id="{86D97DE9-85CE-9E13-801A-A6995C064C24}"/>
              </a:ext>
            </a:extLst>
          </p:cNvPr>
          <p:cNvSpPr/>
          <p:nvPr/>
        </p:nvSpPr>
        <p:spPr>
          <a:xfrm>
            <a:off x="6747747" y="1341436"/>
            <a:ext cx="2520000" cy="319758"/>
          </a:xfrm>
          <a:prstGeom prst="homePlate">
            <a:avLst>
              <a:gd name="adj" fmla="val 37573"/>
            </a:avLst>
          </a:prstGeom>
          <a:solidFill>
            <a:schemeClr val="bg1">
              <a:lumMod val="5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평가</a:t>
            </a:r>
            <a:r>
              <a:rPr lang="en-US" altLang="ko-KR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·</a:t>
            </a:r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검증</a:t>
            </a:r>
            <a:endParaRPr lang="ko-KR" altLang="en-US" sz="1400" b="1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lt1"/>
              </a:solidFill>
              <a:latin typeface="+mn-ea"/>
            </a:endParaRPr>
          </a:p>
        </p:txBody>
      </p:sp>
      <p:sp>
        <p:nvSpPr>
          <p:cNvPr id="9" name="사각형: 둥근 모서리 20">
            <a:extLst>
              <a:ext uri="{FF2B5EF4-FFF2-40B4-BE49-F238E27FC236}">
                <a16:creationId xmlns:a16="http://schemas.microsoft.com/office/drawing/2014/main" id="{B18780FF-A794-A46C-31A8-6EED15319B13}"/>
              </a:ext>
            </a:extLst>
          </p:cNvPr>
          <p:cNvSpPr/>
          <p:nvPr/>
        </p:nvSpPr>
        <p:spPr>
          <a:xfrm>
            <a:off x="9371963" y="1341436"/>
            <a:ext cx="2520000" cy="319758"/>
          </a:xfrm>
          <a:prstGeom prst="homePlate">
            <a:avLst>
              <a:gd name="adj" fmla="val 37573"/>
            </a:avLst>
          </a:prstGeom>
          <a:solidFill>
            <a:schemeClr val="bg1">
              <a:lumMod val="5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도입</a:t>
            </a:r>
            <a:r>
              <a:rPr lang="en-US" altLang="ko-KR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·</a:t>
            </a:r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운영</a:t>
            </a:r>
            <a:r>
              <a:rPr lang="en-US" altLang="ko-KR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·</a:t>
            </a:r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모니터링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92B32CA-3610-60E8-3A0C-9D7D766847ED}"/>
              </a:ext>
            </a:extLst>
          </p:cNvPr>
          <p:cNvSpPr/>
          <p:nvPr/>
        </p:nvSpPr>
        <p:spPr>
          <a:xfrm>
            <a:off x="1525229" y="1736725"/>
            <a:ext cx="1250731" cy="3619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 latinLnBrk="0"/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서비스</a:t>
            </a:r>
            <a:endParaRPr lang="en-US" altLang="ko-KR" sz="1000" kern="0" spc="-15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  <a:p>
            <a:pPr algn="ctr" latinLnBrk="0"/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계획 수립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B7E27DF-7FED-EC17-58AB-6F772452605D}"/>
              </a:ext>
            </a:extLst>
          </p:cNvPr>
          <p:cNvSpPr/>
          <p:nvPr/>
        </p:nvSpPr>
        <p:spPr>
          <a:xfrm>
            <a:off x="1525228" y="2237142"/>
            <a:ext cx="1250731" cy="504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i="0" u="none" strike="noStrik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AI </a:t>
            </a:r>
            <a:r>
              <a:rPr kumimoji="0" lang="ko-KR" altLang="en-US" sz="1000" i="0" u="none" strike="noStrik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위험</a:t>
            </a:r>
            <a:r>
              <a:rPr kumimoji="0" lang="en-US" altLang="ko-KR" sz="1000" i="0" u="none" strike="noStrik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/</a:t>
            </a:r>
            <a:r>
              <a:rPr kumimoji="0" lang="ko-KR" altLang="en-US" sz="1000" i="0" u="none" strike="noStrik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영향</a:t>
            </a:r>
            <a:r>
              <a:rPr kumimoji="0" lang="en-US" altLang="ko-KR" sz="1000" i="0" u="none" strike="noStrik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/</a:t>
            </a:r>
            <a:r>
              <a:rPr kumimoji="0" lang="ko-KR" altLang="en-US" sz="1000" i="0" u="none" strike="noStrik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안전성 </a:t>
            </a:r>
            <a:br>
              <a:rPr kumimoji="0" lang="en-US" altLang="ko-KR" sz="1000" i="0" u="none" strike="noStrik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</a:br>
            <a:r>
              <a:rPr kumimoji="0" lang="ko-KR" altLang="en-US" sz="1000" i="0" u="none" strike="noStrik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식별</a:t>
            </a:r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 </a:t>
            </a:r>
            <a:r>
              <a:rPr kumimoji="0" lang="ko-KR" altLang="en-US" sz="1000" i="0" u="none" strike="noStrik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및 평가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AC3EFE9-4274-4B86-8AE0-1AE612AA7D71}"/>
              </a:ext>
            </a:extLst>
          </p:cNvPr>
          <p:cNvSpPr/>
          <p:nvPr/>
        </p:nvSpPr>
        <p:spPr>
          <a:xfrm>
            <a:off x="4220750" y="1736725"/>
            <a:ext cx="985424" cy="3619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i="0" u="none" strike="noStrik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AI</a:t>
            </a:r>
            <a:r>
              <a:rPr kumimoji="0" lang="ko-KR" altLang="en-US" sz="1000" i="0" u="none" strike="noStrik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서비스</a:t>
            </a:r>
            <a:endParaRPr kumimoji="0" lang="en-US" altLang="ko-KR" sz="1000" i="0" u="none" strike="noStrike" kern="0" cap="none" spc="-150" normalizeH="0" baseline="0" noProof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strike="noStrik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개발 의뢰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E3FD152-7938-A895-CAFF-D7E5AFD994DA}"/>
              </a:ext>
            </a:extLst>
          </p:cNvPr>
          <p:cNvSpPr/>
          <p:nvPr/>
        </p:nvSpPr>
        <p:spPr>
          <a:xfrm>
            <a:off x="5367682" y="2045268"/>
            <a:ext cx="985423" cy="51967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lvl="0" algn="ctr" defTabSz="914400">
              <a:defRPr/>
            </a:pPr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위험</a:t>
            </a:r>
            <a:r>
              <a:rPr lang="en-US" altLang="ko-KR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/</a:t>
            </a:r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영향 </a:t>
            </a:r>
            <a:r>
              <a:rPr kumimoji="0" lang="ko-KR" altLang="en-US" sz="1000" i="0" u="none" strike="noStrike" kern="0" cap="none" spc="-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관리 계획 준수 사항 점검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9F905FB-BB9C-B719-1404-3ED9AE3A952F}"/>
              </a:ext>
            </a:extLst>
          </p:cNvPr>
          <p:cNvSpPr/>
          <p:nvPr/>
        </p:nvSpPr>
        <p:spPr>
          <a:xfrm>
            <a:off x="6997436" y="1736726"/>
            <a:ext cx="853065" cy="8282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i="0" u="none" strike="noStrik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AI</a:t>
            </a:r>
            <a:r>
              <a:rPr kumimoji="0" lang="ko-KR" altLang="en-US" sz="1000" i="0" u="none" strike="noStrik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서비스</a:t>
            </a:r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 </a:t>
            </a:r>
            <a:b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</a:b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운영 전 검증</a:t>
            </a:r>
            <a:endParaRPr kumimoji="0" lang="en-US" altLang="ko-KR" sz="1000" i="0" u="none" strike="noStrike" kern="0" cap="none" spc="-150" normalizeH="0" baseline="0" noProof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D697B7D-23C7-F9B3-2F4A-E2169C9BE9B6}"/>
              </a:ext>
            </a:extLst>
          </p:cNvPr>
          <p:cNvSpPr/>
          <p:nvPr/>
        </p:nvSpPr>
        <p:spPr>
          <a:xfrm>
            <a:off x="8162665" y="1736725"/>
            <a:ext cx="853065" cy="82822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strike="noStrik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운영 승인 </a:t>
            </a:r>
            <a:endParaRPr kumimoji="0" lang="en-US" altLang="ko-KR" sz="1000" i="0" u="none" strike="noStrike" kern="0" cap="none" spc="-150" normalizeH="0" baseline="0" noProof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strike="noStrik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요청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19F206E-C76C-4F97-9448-1D1ABCD42C31}"/>
              </a:ext>
            </a:extLst>
          </p:cNvPr>
          <p:cNvSpPr/>
          <p:nvPr/>
        </p:nvSpPr>
        <p:spPr>
          <a:xfrm>
            <a:off x="9631336" y="1736725"/>
            <a:ext cx="853065" cy="82691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 latinLnBrk="0">
              <a:defRPr/>
            </a:pP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위험 모니터링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B57EF83-0FD0-882D-E41D-3A69FD4D9AE4}"/>
              </a:ext>
            </a:extLst>
          </p:cNvPr>
          <p:cNvSpPr/>
          <p:nvPr/>
        </p:nvSpPr>
        <p:spPr>
          <a:xfrm>
            <a:off x="10946512" y="2694892"/>
            <a:ext cx="853065" cy="80670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i="0" u="none" strike="noStrik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AI</a:t>
            </a:r>
            <a:r>
              <a:rPr kumimoji="0" lang="ko-KR" altLang="en-US" sz="1000" i="0" u="none" strike="noStrik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서비스</a:t>
            </a:r>
            <a:br>
              <a:rPr kumimoji="0" lang="en-US" altLang="ko-KR" sz="1000" i="0" u="none" strike="noStrik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</a:br>
            <a:r>
              <a:rPr kumimoji="0" lang="ko-KR" altLang="en-US" sz="1000" i="0" u="none" strike="noStrik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개선</a:t>
            </a: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2D8631A1-DC1D-D37D-F200-D8276360D099}"/>
              </a:ext>
            </a:extLst>
          </p:cNvPr>
          <p:cNvCxnSpPr>
            <a:cxnSpLocks/>
            <a:endCxn id="57" idx="0"/>
          </p:cNvCxnSpPr>
          <p:nvPr/>
        </p:nvCxnSpPr>
        <p:spPr>
          <a:xfrm>
            <a:off x="2150594" y="2741142"/>
            <a:ext cx="0" cy="147170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4C711BAC-F50C-AB03-FB5C-51D141B9E6A8}"/>
              </a:ext>
            </a:extLst>
          </p:cNvPr>
          <p:cNvCxnSpPr>
            <a:cxnSpLocks/>
            <a:stCxn id="57" idx="2"/>
            <a:endCxn id="60" idx="0"/>
          </p:cNvCxnSpPr>
          <p:nvPr/>
        </p:nvCxnSpPr>
        <p:spPr>
          <a:xfrm>
            <a:off x="2150594" y="3140312"/>
            <a:ext cx="0" cy="109289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27" name="연결선: 꺾임 26">
            <a:extLst>
              <a:ext uri="{FF2B5EF4-FFF2-40B4-BE49-F238E27FC236}">
                <a16:creationId xmlns:a16="http://schemas.microsoft.com/office/drawing/2014/main" id="{FC37DF2E-8FC2-1827-0B14-377884E4C46B}"/>
              </a:ext>
            </a:extLst>
          </p:cNvPr>
          <p:cNvCxnSpPr>
            <a:cxnSpLocks/>
            <a:endCxn id="41" idx="1"/>
          </p:cNvCxnSpPr>
          <p:nvPr/>
        </p:nvCxnSpPr>
        <p:spPr>
          <a:xfrm rot="5400000" flipH="1" flipV="1">
            <a:off x="2092145" y="3174838"/>
            <a:ext cx="1539652" cy="172022"/>
          </a:xfrm>
          <a:prstGeom prst="bentConnector2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FFA365C0-EAC1-CBF5-086B-E6059CE14AEB}"/>
              </a:ext>
            </a:extLst>
          </p:cNvPr>
          <p:cNvCxnSpPr>
            <a:cxnSpLocks/>
            <a:stCxn id="41" idx="2"/>
            <a:endCxn id="58" idx="0"/>
          </p:cNvCxnSpPr>
          <p:nvPr/>
        </p:nvCxnSpPr>
        <p:spPr>
          <a:xfrm>
            <a:off x="3419631" y="2779023"/>
            <a:ext cx="0" cy="180961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0111AA2A-2AD5-58EF-1BCD-AB4C1FC3BCD1}"/>
              </a:ext>
            </a:extLst>
          </p:cNvPr>
          <p:cNvCxnSpPr>
            <a:cxnSpLocks/>
            <a:stCxn id="58" idx="2"/>
            <a:endCxn id="83" idx="0"/>
          </p:cNvCxnSpPr>
          <p:nvPr/>
        </p:nvCxnSpPr>
        <p:spPr>
          <a:xfrm>
            <a:off x="3419631" y="3501601"/>
            <a:ext cx="0" cy="115299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30" name="연결선: 꺾임 29">
            <a:extLst>
              <a:ext uri="{FF2B5EF4-FFF2-40B4-BE49-F238E27FC236}">
                <a16:creationId xmlns:a16="http://schemas.microsoft.com/office/drawing/2014/main" id="{035E08E9-2762-D4F3-A158-8B8EE50E291B}"/>
              </a:ext>
            </a:extLst>
          </p:cNvPr>
          <p:cNvCxnSpPr>
            <a:cxnSpLocks/>
            <a:stCxn id="83" idx="3"/>
            <a:endCxn id="15" idx="1"/>
          </p:cNvCxnSpPr>
          <p:nvPr/>
        </p:nvCxnSpPr>
        <p:spPr>
          <a:xfrm flipV="1">
            <a:off x="3891280" y="1917686"/>
            <a:ext cx="329470" cy="2112989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60E3DC7F-FEA1-F47A-E85B-0674150F74AD}"/>
              </a:ext>
            </a:extLst>
          </p:cNvPr>
          <p:cNvCxnSpPr>
            <a:cxnSpLocks/>
            <a:stCxn id="15" idx="2"/>
            <a:endCxn id="59" idx="0"/>
          </p:cNvCxnSpPr>
          <p:nvPr/>
        </p:nvCxnSpPr>
        <p:spPr>
          <a:xfrm flipH="1">
            <a:off x="4713459" y="2098646"/>
            <a:ext cx="4" cy="572213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C95D16BE-756F-0844-B381-C755CF2915F1}"/>
              </a:ext>
            </a:extLst>
          </p:cNvPr>
          <p:cNvCxnSpPr>
            <a:cxnSpLocks/>
            <a:stCxn id="17" idx="3"/>
            <a:endCxn id="18" idx="1"/>
          </p:cNvCxnSpPr>
          <p:nvPr/>
        </p:nvCxnSpPr>
        <p:spPr>
          <a:xfrm>
            <a:off x="7850501" y="2150836"/>
            <a:ext cx="312164" cy="0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33" name="연결선: 꺾임 32">
            <a:extLst>
              <a:ext uri="{FF2B5EF4-FFF2-40B4-BE49-F238E27FC236}">
                <a16:creationId xmlns:a16="http://schemas.microsoft.com/office/drawing/2014/main" id="{DC85E1A2-9AE4-9FAC-3218-D493A249937F}"/>
              </a:ext>
            </a:extLst>
          </p:cNvPr>
          <p:cNvCxnSpPr>
            <a:cxnSpLocks/>
            <a:stCxn id="63" idx="2"/>
            <a:endCxn id="84" idx="1"/>
          </p:cNvCxnSpPr>
          <p:nvPr/>
        </p:nvCxnSpPr>
        <p:spPr>
          <a:xfrm rot="16200000" flipH="1">
            <a:off x="7323468" y="3559148"/>
            <a:ext cx="337803" cy="136800"/>
          </a:xfrm>
          <a:prstGeom prst="bentConnector2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34" name="연결선: 꺾임 33">
            <a:extLst>
              <a:ext uri="{FF2B5EF4-FFF2-40B4-BE49-F238E27FC236}">
                <a16:creationId xmlns:a16="http://schemas.microsoft.com/office/drawing/2014/main" id="{6AC8FAD6-4834-D7AA-A904-BE471A85EC04}"/>
              </a:ext>
            </a:extLst>
          </p:cNvPr>
          <p:cNvCxnSpPr>
            <a:cxnSpLocks/>
            <a:endCxn id="18" idx="2"/>
          </p:cNvCxnSpPr>
          <p:nvPr/>
        </p:nvCxnSpPr>
        <p:spPr>
          <a:xfrm flipV="1">
            <a:off x="8413834" y="2564947"/>
            <a:ext cx="175363" cy="1231503"/>
          </a:xfrm>
          <a:prstGeom prst="bentConnector2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35" name="연결선: 꺾임 34">
            <a:extLst>
              <a:ext uri="{FF2B5EF4-FFF2-40B4-BE49-F238E27FC236}">
                <a16:creationId xmlns:a16="http://schemas.microsoft.com/office/drawing/2014/main" id="{9F0EED9F-FD4D-FC4F-0C7F-DBB39DEAAFB7}"/>
              </a:ext>
            </a:extLst>
          </p:cNvPr>
          <p:cNvCxnSpPr>
            <a:cxnSpLocks/>
            <a:endCxn id="18" idx="2"/>
          </p:cNvCxnSpPr>
          <p:nvPr/>
        </p:nvCxnSpPr>
        <p:spPr>
          <a:xfrm flipV="1">
            <a:off x="8413834" y="2564947"/>
            <a:ext cx="175363" cy="1699279"/>
          </a:xfrm>
          <a:prstGeom prst="bentConnector2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36" name="연결선: 꺾임 35">
            <a:extLst>
              <a:ext uri="{FF2B5EF4-FFF2-40B4-BE49-F238E27FC236}">
                <a16:creationId xmlns:a16="http://schemas.microsoft.com/office/drawing/2014/main" id="{659D67C1-FD2B-636C-BB86-1DF2130D1600}"/>
              </a:ext>
            </a:extLst>
          </p:cNvPr>
          <p:cNvCxnSpPr>
            <a:cxnSpLocks/>
            <a:stCxn id="18" idx="3"/>
            <a:endCxn id="86" idx="1"/>
          </p:cNvCxnSpPr>
          <p:nvPr/>
        </p:nvCxnSpPr>
        <p:spPr>
          <a:xfrm>
            <a:off x="9015730" y="2150836"/>
            <a:ext cx="615606" cy="1882805"/>
          </a:xfrm>
          <a:prstGeom prst="bentConnector3">
            <a:avLst>
              <a:gd name="adj1" fmla="val 45049"/>
            </a:avLst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CD484AB0-84F5-C209-C84C-0F73FD9EF32D}"/>
              </a:ext>
            </a:extLst>
          </p:cNvPr>
          <p:cNvCxnSpPr>
            <a:cxnSpLocks/>
            <a:stCxn id="52" idx="0"/>
            <a:endCxn id="51" idx="2"/>
          </p:cNvCxnSpPr>
          <p:nvPr/>
        </p:nvCxnSpPr>
        <p:spPr>
          <a:xfrm flipV="1">
            <a:off x="10057869" y="2981009"/>
            <a:ext cx="0" cy="188665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BFDB129B-6577-CEF0-CD1D-4FB88165A8A1}"/>
              </a:ext>
            </a:extLst>
          </p:cNvPr>
          <p:cNvCxnSpPr>
            <a:cxnSpLocks/>
            <a:stCxn id="51" idx="0"/>
            <a:endCxn id="20" idx="2"/>
          </p:cNvCxnSpPr>
          <p:nvPr/>
        </p:nvCxnSpPr>
        <p:spPr>
          <a:xfrm flipV="1">
            <a:off x="10057869" y="2563637"/>
            <a:ext cx="0" cy="119481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593B2917-EAAA-22C8-2453-F8825E23DDF2}"/>
              </a:ext>
            </a:extLst>
          </p:cNvPr>
          <p:cNvCxnSpPr>
            <a:cxnSpLocks/>
            <a:endCxn id="21" idx="2"/>
          </p:cNvCxnSpPr>
          <p:nvPr/>
        </p:nvCxnSpPr>
        <p:spPr>
          <a:xfrm flipV="1">
            <a:off x="11371955" y="3501601"/>
            <a:ext cx="1091" cy="121233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40" name="연결선: 꺾임 39">
            <a:extLst>
              <a:ext uri="{FF2B5EF4-FFF2-40B4-BE49-F238E27FC236}">
                <a16:creationId xmlns:a16="http://schemas.microsoft.com/office/drawing/2014/main" id="{60301611-D6E7-555E-83B0-AF81AD91A91D}"/>
              </a:ext>
            </a:extLst>
          </p:cNvPr>
          <p:cNvCxnSpPr>
            <a:cxnSpLocks/>
            <a:stCxn id="20" idx="3"/>
            <a:endCxn id="87" idx="1"/>
          </p:cNvCxnSpPr>
          <p:nvPr/>
        </p:nvCxnSpPr>
        <p:spPr>
          <a:xfrm>
            <a:off x="10484401" y="2150181"/>
            <a:ext cx="461020" cy="1883460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41" name="직사각형 11">
            <a:extLst>
              <a:ext uri="{FF2B5EF4-FFF2-40B4-BE49-F238E27FC236}">
                <a16:creationId xmlns:a16="http://schemas.microsoft.com/office/drawing/2014/main" id="{F57DB062-38BD-B294-2426-EDAE054DFCC9}"/>
              </a:ext>
            </a:extLst>
          </p:cNvPr>
          <p:cNvSpPr/>
          <p:nvPr/>
        </p:nvSpPr>
        <p:spPr>
          <a:xfrm>
            <a:off x="2947982" y="2203023"/>
            <a:ext cx="943298" cy="576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위험</a:t>
            </a:r>
            <a:r>
              <a:rPr lang="en-US" altLang="ko-KR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/</a:t>
            </a:r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영향</a:t>
            </a:r>
            <a:r>
              <a:rPr lang="en-US" altLang="ko-KR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/</a:t>
            </a:r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안전성 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관리 계획 수립</a:t>
            </a:r>
          </a:p>
        </p:txBody>
      </p:sp>
      <p:cxnSp>
        <p:nvCxnSpPr>
          <p:cNvPr id="42" name="직선 화살표 연결선 36">
            <a:extLst>
              <a:ext uri="{FF2B5EF4-FFF2-40B4-BE49-F238E27FC236}">
                <a16:creationId xmlns:a16="http://schemas.microsoft.com/office/drawing/2014/main" id="{979260B0-4612-5566-3CD0-C5E3BF4F0EFB}"/>
              </a:ext>
            </a:extLst>
          </p:cNvPr>
          <p:cNvCxnSpPr>
            <a:cxnSpLocks/>
            <a:stCxn id="60" idx="2"/>
          </p:cNvCxnSpPr>
          <p:nvPr/>
        </p:nvCxnSpPr>
        <p:spPr>
          <a:xfrm>
            <a:off x="2150594" y="3501601"/>
            <a:ext cx="0" cy="115299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43" name="직선 화살표 연결선 41">
            <a:extLst>
              <a:ext uri="{FF2B5EF4-FFF2-40B4-BE49-F238E27FC236}">
                <a16:creationId xmlns:a16="http://schemas.microsoft.com/office/drawing/2014/main" id="{3CCF84EB-D6AE-82C3-D5DD-789A5479895F}"/>
              </a:ext>
            </a:extLst>
          </p:cNvPr>
          <p:cNvCxnSpPr>
            <a:cxnSpLocks/>
            <a:stCxn id="59" idx="2"/>
            <a:endCxn id="61" idx="0"/>
          </p:cNvCxnSpPr>
          <p:nvPr/>
        </p:nvCxnSpPr>
        <p:spPr>
          <a:xfrm flipH="1">
            <a:off x="4713152" y="3138859"/>
            <a:ext cx="306" cy="121299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44" name="연결선: 꺾임 46">
            <a:extLst>
              <a:ext uri="{FF2B5EF4-FFF2-40B4-BE49-F238E27FC236}">
                <a16:creationId xmlns:a16="http://schemas.microsoft.com/office/drawing/2014/main" id="{99451C0A-064B-89C9-F370-9D1FC91251EE}"/>
              </a:ext>
            </a:extLst>
          </p:cNvPr>
          <p:cNvCxnSpPr>
            <a:cxnSpLocks/>
            <a:stCxn id="62" idx="3"/>
            <a:endCxn id="17" idx="1"/>
          </p:cNvCxnSpPr>
          <p:nvPr/>
        </p:nvCxnSpPr>
        <p:spPr>
          <a:xfrm flipV="1">
            <a:off x="6353105" y="2150836"/>
            <a:ext cx="644331" cy="1169805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46" name="연결선: 꺾임 46">
            <a:extLst>
              <a:ext uri="{FF2B5EF4-FFF2-40B4-BE49-F238E27FC236}">
                <a16:creationId xmlns:a16="http://schemas.microsoft.com/office/drawing/2014/main" id="{379C3079-2A2D-8121-B762-328F3EA606BD}"/>
              </a:ext>
            </a:extLst>
          </p:cNvPr>
          <p:cNvCxnSpPr>
            <a:cxnSpLocks/>
            <a:stCxn id="61" idx="3"/>
            <a:endCxn id="16" idx="1"/>
          </p:cNvCxnSpPr>
          <p:nvPr/>
        </p:nvCxnSpPr>
        <p:spPr>
          <a:xfrm flipV="1">
            <a:off x="5205864" y="2305107"/>
            <a:ext cx="161817" cy="1075529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47" name="직선 화살표 연결선 41">
            <a:extLst>
              <a:ext uri="{FF2B5EF4-FFF2-40B4-BE49-F238E27FC236}">
                <a16:creationId xmlns:a16="http://schemas.microsoft.com/office/drawing/2014/main" id="{E4C65096-CBF1-833C-6934-0A391445C602}"/>
              </a:ext>
            </a:extLst>
          </p:cNvPr>
          <p:cNvCxnSpPr>
            <a:cxnSpLocks/>
            <a:stCxn id="16" idx="2"/>
            <a:endCxn id="62" idx="0"/>
          </p:cNvCxnSpPr>
          <p:nvPr/>
        </p:nvCxnSpPr>
        <p:spPr>
          <a:xfrm>
            <a:off x="5860393" y="2564945"/>
            <a:ext cx="0" cy="574735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48" name="직사각형 13">
            <a:extLst>
              <a:ext uri="{FF2B5EF4-FFF2-40B4-BE49-F238E27FC236}">
                <a16:creationId xmlns:a16="http://schemas.microsoft.com/office/drawing/2014/main" id="{D7B489EE-4FC2-462D-6806-32F464916C00}"/>
              </a:ext>
            </a:extLst>
          </p:cNvPr>
          <p:cNvSpPr/>
          <p:nvPr/>
        </p:nvSpPr>
        <p:spPr>
          <a:xfrm>
            <a:off x="1480931" y="4588320"/>
            <a:ext cx="10401090" cy="288747"/>
          </a:xfrm>
          <a:prstGeom prst="rect">
            <a:avLst/>
          </a:prstGeom>
          <a:noFill/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 defTabSz="914400"/>
            <a:r>
              <a:rPr lang="en-US" altLang="ko-KR" sz="11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AI</a:t>
            </a:r>
            <a:r>
              <a:rPr lang="ko-KR" altLang="en-US" sz="11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서비스 규제 변화에 따른</a:t>
            </a:r>
            <a:r>
              <a:rPr lang="en-US" altLang="ko-KR" sz="11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1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규정</a:t>
            </a:r>
            <a:r>
              <a:rPr lang="en-US" altLang="ko-KR" sz="11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11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지침서 </a:t>
            </a:r>
            <a:r>
              <a:rPr lang="ko-KR" altLang="en-US" sz="1100" b="1" kern="0" spc="-50" err="1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제</a:t>
            </a:r>
            <a:r>
              <a:rPr lang="ko-KR" altLang="en-US" sz="1100" b="1" kern="0" spc="-50" err="1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</a:t>
            </a:r>
            <a:r>
              <a:rPr lang="ko-KR" altLang="en-US" sz="1100" b="1" kern="0" spc="-50" err="1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개정</a:t>
            </a:r>
            <a:r>
              <a:rPr lang="en-US" altLang="ko-KR" sz="11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1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이견</a:t>
            </a:r>
            <a:r>
              <a:rPr lang="en-US" altLang="ko-KR" sz="11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1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및 개선사항 등 심의</a:t>
            </a:r>
            <a:r>
              <a:rPr lang="ko-KR" altLang="en-US" sz="11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</a:t>
            </a:r>
            <a:r>
              <a:rPr lang="ko-KR" altLang="en-US" sz="11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의결</a:t>
            </a:r>
            <a:r>
              <a:rPr lang="en-US" altLang="ko-KR" sz="11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1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전사 전파</a:t>
            </a:r>
            <a:r>
              <a:rPr lang="en-US" altLang="ko-KR" sz="11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110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공유</a:t>
            </a:r>
          </a:p>
        </p:txBody>
      </p:sp>
      <p:cxnSp>
        <p:nvCxnSpPr>
          <p:cNvPr id="49" name="직선 화살표 연결선 53">
            <a:extLst>
              <a:ext uri="{FF2B5EF4-FFF2-40B4-BE49-F238E27FC236}">
                <a16:creationId xmlns:a16="http://schemas.microsoft.com/office/drawing/2014/main" id="{2E90A4C0-0C5D-D828-9EC1-267E3D144F17}"/>
              </a:ext>
            </a:extLst>
          </p:cNvPr>
          <p:cNvCxnSpPr>
            <a:cxnSpLocks/>
            <a:endCxn id="52" idx="2"/>
          </p:cNvCxnSpPr>
          <p:nvPr/>
        </p:nvCxnSpPr>
        <p:spPr>
          <a:xfrm flipV="1">
            <a:off x="10057869" y="3467565"/>
            <a:ext cx="0" cy="155269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50" name="직선 화살표 연결선 54">
            <a:extLst>
              <a:ext uri="{FF2B5EF4-FFF2-40B4-BE49-F238E27FC236}">
                <a16:creationId xmlns:a16="http://schemas.microsoft.com/office/drawing/2014/main" id="{F108D4D4-4B3D-520C-E50C-8D26D47291B8}"/>
              </a:ext>
            </a:extLst>
          </p:cNvPr>
          <p:cNvCxnSpPr>
            <a:cxnSpLocks/>
            <a:stCxn id="20" idx="3"/>
            <a:endCxn id="21" idx="0"/>
          </p:cNvCxnSpPr>
          <p:nvPr/>
        </p:nvCxnSpPr>
        <p:spPr>
          <a:xfrm>
            <a:off x="10484401" y="2150181"/>
            <a:ext cx="888644" cy="544711"/>
          </a:xfrm>
          <a:prstGeom prst="bentConnector2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159C52AF-DD14-B69D-65F0-ACAA2F2FF1E8}"/>
              </a:ext>
            </a:extLst>
          </p:cNvPr>
          <p:cNvSpPr/>
          <p:nvPr/>
        </p:nvSpPr>
        <p:spPr>
          <a:xfrm>
            <a:off x="9631336" y="2683118"/>
            <a:ext cx="853065" cy="29789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i="0" u="none" strike="noStrike" kern="0" cap="none" spc="-150" normalizeH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AI</a:t>
            </a:r>
            <a:r>
              <a:rPr kumimoji="0" lang="ko-KR" altLang="en-US" sz="1000" i="0" u="none" strike="noStrike" kern="0" cap="none" spc="-150" normalizeH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서비스 운영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084927A7-082D-6FB7-4909-34DD8EBFE370}"/>
              </a:ext>
            </a:extLst>
          </p:cNvPr>
          <p:cNvSpPr/>
          <p:nvPr/>
        </p:nvSpPr>
        <p:spPr>
          <a:xfrm>
            <a:off x="9631336" y="3169674"/>
            <a:ext cx="853065" cy="29789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i="0" u="none" strike="noStrike" kern="0" cap="none" spc="-150" normalizeH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AI</a:t>
            </a:r>
            <a:r>
              <a:rPr kumimoji="0" lang="ko-KR" altLang="en-US" sz="1000" i="0" u="none" strike="noStrike" kern="0" cap="none" spc="-150" normalizeH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서비스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 배포</a:t>
            </a:r>
            <a:endParaRPr kumimoji="0" lang="ko-KR" altLang="en-US" sz="1000" i="0" u="none" strike="noStrike" kern="0" cap="none" spc="-150" normalizeH="0" noProof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91BBBFC8-7CD7-DDFE-1144-8D578947C44E}"/>
              </a:ext>
            </a:extLst>
          </p:cNvPr>
          <p:cNvSpPr/>
          <p:nvPr/>
        </p:nvSpPr>
        <p:spPr>
          <a:xfrm>
            <a:off x="2947982" y="2959984"/>
            <a:ext cx="943298" cy="541617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lvl="0" algn="ctr" defTabSz="914400">
              <a:defRPr/>
            </a:pPr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위험</a:t>
            </a:r>
            <a:r>
              <a:rPr lang="en-US" altLang="ko-KR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/</a:t>
            </a:r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영향</a:t>
            </a:r>
            <a:r>
              <a:rPr lang="en-US" altLang="ko-KR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/</a:t>
            </a:r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안전성 </a:t>
            </a:r>
            <a:r>
              <a:rPr kumimoji="0" lang="ko-KR" altLang="en-US" sz="1000" i="0" u="none" strike="noStrik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관리</a:t>
            </a:r>
            <a:endParaRPr kumimoji="0" lang="en-US" altLang="ko-KR" sz="1000" i="0" u="none" strike="noStrike" kern="0" cap="none" spc="-150" normalizeH="0" baseline="0" noProof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strike="noStrik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계획 협의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F2E09592-B7FD-06B2-E9E4-32DD4D347D68}"/>
              </a:ext>
            </a:extLst>
          </p:cNvPr>
          <p:cNvSpPr/>
          <p:nvPr/>
        </p:nvSpPr>
        <p:spPr>
          <a:xfrm>
            <a:off x="4220746" y="2670859"/>
            <a:ext cx="985424" cy="46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strike="noStrik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개발환경 구축 및 학습데이터 관리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17445F9D-5EA4-41B0-5EB0-DAE0004E08B3}"/>
              </a:ext>
            </a:extLst>
          </p:cNvPr>
          <p:cNvSpPr/>
          <p:nvPr/>
        </p:nvSpPr>
        <p:spPr>
          <a:xfrm>
            <a:off x="1525229" y="2888312"/>
            <a:ext cx="1250731" cy="252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i="0" u="none" strike="noStrik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AI</a:t>
            </a:r>
            <a:r>
              <a:rPr kumimoji="0" lang="ko-KR" altLang="en-US" sz="1000" i="0" u="none" strike="noStrik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서비스 기획</a:t>
            </a:r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 </a:t>
            </a:r>
            <a:r>
              <a:rPr kumimoji="0" lang="ko-KR" altLang="en-US" sz="1000" i="0" u="none" strike="noStrik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사전검토</a:t>
            </a:r>
          </a:p>
        </p:txBody>
      </p:sp>
      <p:sp>
        <p:nvSpPr>
          <p:cNvPr id="60" name="직사각형 12">
            <a:extLst>
              <a:ext uri="{FF2B5EF4-FFF2-40B4-BE49-F238E27FC236}">
                <a16:creationId xmlns:a16="http://schemas.microsoft.com/office/drawing/2014/main" id="{6ACB2B39-CD19-4243-448B-2CA5F45B59D4}"/>
              </a:ext>
            </a:extLst>
          </p:cNvPr>
          <p:cNvSpPr/>
          <p:nvPr/>
        </p:nvSpPr>
        <p:spPr>
          <a:xfrm>
            <a:off x="1525229" y="3249601"/>
            <a:ext cx="1250731" cy="252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 latinLnBrk="0"/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서비스 개발계획 수립</a:t>
            </a:r>
          </a:p>
        </p:txBody>
      </p:sp>
      <p:sp>
        <p:nvSpPr>
          <p:cNvPr id="61" name="직사각형 22">
            <a:extLst>
              <a:ext uri="{FF2B5EF4-FFF2-40B4-BE49-F238E27FC236}">
                <a16:creationId xmlns:a16="http://schemas.microsoft.com/office/drawing/2014/main" id="{A16401B6-4004-4CD8-CABE-6F1D619C9556}"/>
              </a:ext>
            </a:extLst>
          </p:cNvPr>
          <p:cNvSpPr/>
          <p:nvPr/>
        </p:nvSpPr>
        <p:spPr>
          <a:xfrm>
            <a:off x="4220440" y="3260158"/>
            <a:ext cx="985424" cy="24095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lvl="0" algn="ctr" latinLnBrk="0">
              <a:defRPr/>
            </a:pPr>
            <a:r>
              <a:rPr kumimoji="0" lang="en-US" altLang="ko-KR" sz="1000" i="0" u="none" strike="noStrik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AI</a:t>
            </a:r>
            <a:r>
              <a:rPr kumimoji="0" lang="ko-KR" altLang="en-US" sz="1000" i="0" u="none" strike="noStrik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서비스 개발 </a:t>
            </a:r>
          </a:p>
        </p:txBody>
      </p:sp>
      <p:sp>
        <p:nvSpPr>
          <p:cNvPr id="62" name="직사각형 22">
            <a:extLst>
              <a:ext uri="{FF2B5EF4-FFF2-40B4-BE49-F238E27FC236}">
                <a16:creationId xmlns:a16="http://schemas.microsoft.com/office/drawing/2014/main" id="{65B755BB-464E-08D8-16A5-3D0F4BFC1250}"/>
              </a:ext>
            </a:extLst>
          </p:cNvPr>
          <p:cNvSpPr/>
          <p:nvPr/>
        </p:nvSpPr>
        <p:spPr>
          <a:xfrm>
            <a:off x="5367682" y="3139680"/>
            <a:ext cx="985423" cy="3619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lvl="0" algn="ctr" latinLnBrk="0">
              <a:defRPr/>
            </a:pPr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서비스 개발 요건 이행 점검</a:t>
            </a:r>
            <a:endParaRPr kumimoji="0" lang="ko-KR" altLang="en-US" sz="1000" i="0" u="none" strike="noStrike" kern="0" cap="none" spc="-150" normalizeH="0" baseline="0" noProof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63" name="직사각형 25">
            <a:extLst>
              <a:ext uri="{FF2B5EF4-FFF2-40B4-BE49-F238E27FC236}">
                <a16:creationId xmlns:a16="http://schemas.microsoft.com/office/drawing/2014/main" id="{320FD5AF-79AC-3189-BAE5-E2D413AA5768}"/>
              </a:ext>
            </a:extLst>
          </p:cNvPr>
          <p:cNvSpPr/>
          <p:nvPr/>
        </p:nvSpPr>
        <p:spPr>
          <a:xfrm>
            <a:off x="6997436" y="2888850"/>
            <a:ext cx="853065" cy="56979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i="0" u="none" strike="noStrik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AI</a:t>
            </a:r>
            <a:r>
              <a:rPr kumimoji="0" lang="ko-KR" altLang="en-US" sz="1000" i="0" u="none" strike="noStrik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서비스</a:t>
            </a:r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 </a:t>
            </a:r>
            <a:b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</a:b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운영 전 검증 지원</a:t>
            </a:r>
            <a:endParaRPr kumimoji="0" lang="ko-KR" altLang="en-US" sz="1000" i="0" u="none" strike="noStrike" kern="0" cap="none" spc="-150" normalizeH="0" baseline="0" noProof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cxnSp>
        <p:nvCxnSpPr>
          <p:cNvPr id="65" name="연결선: 꺾임 46">
            <a:extLst>
              <a:ext uri="{FF2B5EF4-FFF2-40B4-BE49-F238E27FC236}">
                <a16:creationId xmlns:a16="http://schemas.microsoft.com/office/drawing/2014/main" id="{044A0B9A-2878-6024-6315-799D8FEFF5E6}"/>
              </a:ext>
            </a:extLst>
          </p:cNvPr>
          <p:cNvCxnSpPr>
            <a:cxnSpLocks/>
            <a:stCxn id="63" idx="2"/>
            <a:endCxn id="88" idx="1"/>
          </p:cNvCxnSpPr>
          <p:nvPr/>
        </p:nvCxnSpPr>
        <p:spPr>
          <a:xfrm rot="16200000" flipH="1">
            <a:off x="7089580" y="3793036"/>
            <a:ext cx="805579" cy="136800"/>
          </a:xfrm>
          <a:prstGeom prst="bentConnector2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68" name="사각형: 둥근 모서리 67">
            <a:extLst>
              <a:ext uri="{FF2B5EF4-FFF2-40B4-BE49-F238E27FC236}">
                <a16:creationId xmlns:a16="http://schemas.microsoft.com/office/drawing/2014/main" id="{5EDA6516-0751-EBE9-C293-09597E873AAC}"/>
              </a:ext>
            </a:extLst>
          </p:cNvPr>
          <p:cNvSpPr/>
          <p:nvPr/>
        </p:nvSpPr>
        <p:spPr>
          <a:xfrm>
            <a:off x="8021512" y="1706581"/>
            <a:ext cx="682217" cy="161776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-15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cs"/>
              </a:rPr>
              <a:t>저 위험</a:t>
            </a:r>
            <a:r>
              <a:rPr kumimoji="0" lang="en-US" altLang="ko-KR" sz="900" b="1" i="0" u="none" strike="noStrike" kern="1200" cap="none" spc="-15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cs"/>
              </a:rPr>
              <a:t>/</a:t>
            </a:r>
            <a:r>
              <a:rPr kumimoji="0" lang="ko-KR" altLang="en-US" sz="900" b="1" i="0" u="none" strike="noStrike" kern="1200" cap="none" spc="-15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cs"/>
              </a:rPr>
              <a:t>영향</a:t>
            </a:r>
          </a:p>
        </p:txBody>
      </p:sp>
      <p:cxnSp>
        <p:nvCxnSpPr>
          <p:cNvPr id="98" name="직선 화살표 연결선 41">
            <a:extLst>
              <a:ext uri="{FF2B5EF4-FFF2-40B4-BE49-F238E27FC236}">
                <a16:creationId xmlns:a16="http://schemas.microsoft.com/office/drawing/2014/main" id="{CD45517D-453F-6B6A-1107-44F3F7495738}"/>
              </a:ext>
            </a:extLst>
          </p:cNvPr>
          <p:cNvCxnSpPr>
            <a:cxnSpLocks/>
            <a:stCxn id="17" idx="2"/>
            <a:endCxn id="63" idx="0"/>
          </p:cNvCxnSpPr>
          <p:nvPr/>
        </p:nvCxnSpPr>
        <p:spPr>
          <a:xfrm>
            <a:off x="7423969" y="2564946"/>
            <a:ext cx="0" cy="323904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85" name="연결선: 꺾임 84">
            <a:extLst>
              <a:ext uri="{FF2B5EF4-FFF2-40B4-BE49-F238E27FC236}">
                <a16:creationId xmlns:a16="http://schemas.microsoft.com/office/drawing/2014/main" id="{672A7197-6919-7117-7BAA-99AB87E712A6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 rot="5400000">
            <a:off x="2081346" y="2167894"/>
            <a:ext cx="138496" cy="1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89" name="연결선: 꺾임 88">
            <a:extLst>
              <a:ext uri="{FF2B5EF4-FFF2-40B4-BE49-F238E27FC236}">
                <a16:creationId xmlns:a16="http://schemas.microsoft.com/office/drawing/2014/main" id="{6587A0C3-7945-95B4-7FAA-E891EB6CE8FE}"/>
              </a:ext>
            </a:extLst>
          </p:cNvPr>
          <p:cNvCxnSpPr>
            <a:cxnSpLocks/>
            <a:stCxn id="12" idx="2"/>
            <a:endCxn id="57" idx="0"/>
          </p:cNvCxnSpPr>
          <p:nvPr/>
        </p:nvCxnSpPr>
        <p:spPr>
          <a:xfrm rot="16200000" flipH="1">
            <a:off x="2077008" y="2814726"/>
            <a:ext cx="147170" cy="1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95" name="직선 화살표 연결선 94">
            <a:extLst>
              <a:ext uri="{FF2B5EF4-FFF2-40B4-BE49-F238E27FC236}">
                <a16:creationId xmlns:a16="http://schemas.microsoft.com/office/drawing/2014/main" id="{03FEE00D-738A-661F-633D-1FCF308047BC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2150594" y="2098646"/>
            <a:ext cx="0" cy="138496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85907FDB-174F-C1F9-8313-69F4F467632A}"/>
              </a:ext>
            </a:extLst>
          </p:cNvPr>
          <p:cNvSpPr/>
          <p:nvPr/>
        </p:nvSpPr>
        <p:spPr>
          <a:xfrm>
            <a:off x="1525229" y="3616900"/>
            <a:ext cx="1250731" cy="82754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strike="noStrike" kern="0" cap="none" spc="-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+mn-cs"/>
              </a:rPr>
              <a:t>위험</a:t>
            </a:r>
            <a:r>
              <a:rPr kumimoji="0" lang="en-US" altLang="ko-KR" sz="1000" i="0" u="none" strike="noStrike" kern="0" cap="none" spc="-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+mn-cs"/>
              </a:rPr>
              <a:t>/</a:t>
            </a:r>
            <a:r>
              <a:rPr kumimoji="0" lang="ko-KR" altLang="en-US" sz="1000" i="0" u="none" strike="noStrike" kern="0" cap="none" spc="-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+mn-cs"/>
              </a:rPr>
              <a:t>영향</a:t>
            </a:r>
            <a:r>
              <a:rPr kumimoji="0" lang="en-US" altLang="ko-KR" sz="1000" i="0" u="none" strike="noStrike" kern="0" cap="none" spc="-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+mn-cs"/>
              </a:rPr>
              <a:t>/</a:t>
            </a:r>
            <a:r>
              <a:rPr kumimoji="0" lang="ko-KR" altLang="en-US" sz="1000" i="0" u="none" strike="noStrike" kern="0" cap="none" spc="-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+mn-cs"/>
              </a:rPr>
              <a:t>안전성 식별 </a:t>
            </a:r>
            <a:r>
              <a:rPr kumimoji="0" lang="ko-KR" altLang="en-US" sz="1000" i="0" u="none" strike="noStrike" kern="0" cap="none" spc="-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평가 결과 검토</a:t>
            </a: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D2664F43-BA7D-5849-46A7-23A12B5ACF84}"/>
              </a:ext>
            </a:extLst>
          </p:cNvPr>
          <p:cNvSpPr/>
          <p:nvPr/>
        </p:nvSpPr>
        <p:spPr>
          <a:xfrm>
            <a:off x="2947982" y="3616900"/>
            <a:ext cx="943298" cy="82754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lvl="0" algn="ctr" defTabSz="914400">
              <a:defRPr/>
            </a:pPr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위험</a:t>
            </a:r>
            <a:r>
              <a:rPr lang="en-US" altLang="ko-KR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/</a:t>
            </a:r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영향</a:t>
            </a:r>
            <a:r>
              <a:rPr lang="en-US" altLang="ko-KR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/</a:t>
            </a:r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안전성 </a:t>
            </a:r>
            <a:r>
              <a:rPr kumimoji="0" lang="ko-KR" altLang="en-US" sz="1000" i="0" u="none" strike="noStrik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관리</a:t>
            </a:r>
            <a:endParaRPr kumimoji="0" lang="en-US" altLang="ko-KR" sz="1000" i="0" u="none" strike="noStrike" kern="0" cap="none" spc="-150" normalizeH="0" baseline="0" noProof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strike="noStrik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+mn-cs"/>
              </a:rPr>
              <a:t>계획 승인</a:t>
            </a: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C92D09D1-0963-6F4B-6739-AF805AB15F68}"/>
              </a:ext>
            </a:extLst>
          </p:cNvPr>
          <p:cNvSpPr/>
          <p:nvPr/>
        </p:nvSpPr>
        <p:spPr>
          <a:xfrm>
            <a:off x="7560769" y="3616226"/>
            <a:ext cx="853065" cy="36044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strike="noStrik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 검증 결과 적절성 확인</a:t>
            </a: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EF843A5C-B22F-2EDC-2DC2-F902475E0A7D}"/>
              </a:ext>
            </a:extLst>
          </p:cNvPr>
          <p:cNvSpPr/>
          <p:nvPr/>
        </p:nvSpPr>
        <p:spPr>
          <a:xfrm>
            <a:off x="9631336" y="3622834"/>
            <a:ext cx="853065" cy="82161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strike="noStrik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위험관리</a:t>
            </a:r>
            <a:endParaRPr kumimoji="0" lang="en-US" altLang="ko-KR" sz="1000" i="0" u="none" strike="noStrike" kern="0" cap="none" spc="-150" normalizeH="0" baseline="0" noProof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strike="noStrik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계획 이행 </a:t>
            </a:r>
            <a:endParaRPr kumimoji="0" lang="en-US" altLang="ko-KR" sz="1000" i="0" u="none" strike="noStrike" kern="0" cap="none" spc="-150" normalizeH="0" baseline="0" noProof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확인 후 승인</a:t>
            </a:r>
            <a:endParaRPr kumimoji="0" lang="ko-KR" altLang="en-US" sz="1000" i="0" u="none" strike="noStrike" kern="0" cap="none" spc="-150" normalizeH="0" baseline="0" noProof="0">
              <a:ln>
                <a:solidFill>
                  <a:srgbClr val="0070C0">
                    <a:alpha val="0"/>
                  </a:srgbClr>
                </a:solidFill>
              </a:ln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1574D54A-2FE9-234E-41AE-E7D03D3249DF}"/>
              </a:ext>
            </a:extLst>
          </p:cNvPr>
          <p:cNvSpPr/>
          <p:nvPr/>
        </p:nvSpPr>
        <p:spPr>
          <a:xfrm>
            <a:off x="10945421" y="3622834"/>
            <a:ext cx="853065" cy="82161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strike="noStrik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위험</a:t>
            </a:r>
            <a:endParaRPr kumimoji="0" lang="en-US" altLang="ko-KR" sz="1000" i="0" u="none" strike="noStrike" kern="0" cap="none" spc="-150" normalizeH="0" baseline="0" noProof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strike="noStrik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모니터링</a:t>
            </a:r>
            <a:endParaRPr kumimoji="0" lang="en-US" altLang="ko-KR" sz="1000" i="0" u="none" strike="noStrike" kern="0" cap="none" spc="-150" normalizeH="0" baseline="0" noProof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strike="noStrik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결과 점검</a:t>
            </a:r>
          </a:p>
        </p:txBody>
      </p:sp>
      <p:sp>
        <p:nvSpPr>
          <p:cNvPr id="88" name="직사각형 27">
            <a:extLst>
              <a:ext uri="{FF2B5EF4-FFF2-40B4-BE49-F238E27FC236}">
                <a16:creationId xmlns:a16="http://schemas.microsoft.com/office/drawing/2014/main" id="{159D901C-8B90-2424-FF1F-B058E94AAE55}"/>
              </a:ext>
            </a:extLst>
          </p:cNvPr>
          <p:cNvSpPr/>
          <p:nvPr/>
        </p:nvSpPr>
        <p:spPr>
          <a:xfrm>
            <a:off x="7560769" y="4084002"/>
            <a:ext cx="853065" cy="36044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검증 수행</a:t>
            </a:r>
            <a:endParaRPr kumimoji="0" lang="ko-KR" altLang="en-US" sz="1000" i="0" u="none" strike="noStrike" kern="0" cap="none" spc="-150" normalizeH="0" baseline="0" noProof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91" name="사각형: 둥근 모서리 90">
            <a:extLst>
              <a:ext uri="{FF2B5EF4-FFF2-40B4-BE49-F238E27FC236}">
                <a16:creationId xmlns:a16="http://schemas.microsoft.com/office/drawing/2014/main" id="{B49C486A-B333-E877-523A-68FE032D4913}"/>
              </a:ext>
            </a:extLst>
          </p:cNvPr>
          <p:cNvSpPr/>
          <p:nvPr/>
        </p:nvSpPr>
        <p:spPr>
          <a:xfrm>
            <a:off x="7468493" y="4007787"/>
            <a:ext cx="682217" cy="162771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00" spc="-150">
                <a:solidFill>
                  <a:schemeClr val="tx1"/>
                </a:solidFill>
                <a:latin typeface="+mn-ea"/>
              </a:rPr>
              <a:t>고</a:t>
            </a:r>
            <a:r>
              <a:rPr kumimoji="0" lang="ko-KR" altLang="en-US" sz="900" i="0" u="none" strike="noStrike" kern="1200" cap="none" spc="-15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cs"/>
              </a:rPr>
              <a:t> 위험</a:t>
            </a:r>
            <a:r>
              <a:rPr kumimoji="0" lang="en-US" altLang="ko-KR" sz="900" i="0" u="none" strike="noStrike" kern="1200" cap="none" spc="-15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cs"/>
              </a:rPr>
              <a:t>/</a:t>
            </a:r>
            <a:r>
              <a:rPr kumimoji="0" lang="ko-KR" altLang="en-US" sz="900" i="0" u="none" strike="noStrike" kern="1200" cap="none" spc="-15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cs"/>
              </a:rPr>
              <a:t>영향</a:t>
            </a:r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986098D4-E08F-01A4-7FDC-50067345BE31}"/>
              </a:ext>
            </a:extLst>
          </p:cNvPr>
          <p:cNvSpPr/>
          <p:nvPr/>
        </p:nvSpPr>
        <p:spPr>
          <a:xfrm>
            <a:off x="7468493" y="3501114"/>
            <a:ext cx="682217" cy="162771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i="0" u="none" strike="noStrike" kern="1200" cap="none" spc="-15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cs"/>
              </a:rPr>
              <a:t>중 위험</a:t>
            </a:r>
            <a:r>
              <a:rPr kumimoji="0" lang="en-US" altLang="ko-KR" sz="900" i="0" u="none" strike="noStrike" kern="1200" cap="none" spc="-15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cs"/>
              </a:rPr>
              <a:t>/</a:t>
            </a:r>
            <a:r>
              <a:rPr kumimoji="0" lang="ko-KR" altLang="en-US" sz="900" i="0" u="none" strike="noStrike" kern="1200" cap="none" spc="-15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cs"/>
              </a:rPr>
              <a:t>영향</a:t>
            </a:r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A52608A9-4772-AE9D-898D-B71D77983478}"/>
              </a:ext>
            </a:extLst>
          </p:cNvPr>
          <p:cNvSpPr/>
          <p:nvPr/>
        </p:nvSpPr>
        <p:spPr>
          <a:xfrm>
            <a:off x="1458158" y="5024106"/>
            <a:ext cx="3420000" cy="1476000"/>
          </a:xfrm>
          <a:prstGeom prst="rect">
            <a:avLst/>
          </a:prstGeom>
          <a:pattFill prst="dkUp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rtlCol="0" anchor="t"/>
          <a:lstStyle/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위험의 관리를 위한 계획을 수립</a:t>
            </a:r>
            <a:b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</a:br>
            <a:r>
              <a:rPr lang="en-US" altLang="ko-KR" sz="10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- AI </a:t>
            </a:r>
            <a:r>
              <a:rPr lang="ko-KR" altLang="en-US" sz="10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서비스</a:t>
            </a:r>
            <a:r>
              <a:rPr lang="en-US" altLang="ko-KR" sz="10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10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모델 명을 기입해야 한다</a:t>
            </a:r>
            <a:br>
              <a:rPr lang="en-US" altLang="ko-KR" sz="10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</a:br>
            <a:r>
              <a:rPr lang="en-US" altLang="ko-KR" sz="10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- </a:t>
            </a:r>
            <a:r>
              <a:rPr lang="ko-KR" altLang="en-US" sz="10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위험등급을 기입해야 하며</a:t>
            </a:r>
            <a:r>
              <a:rPr lang="en-US" altLang="ko-KR" sz="10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0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잔여 위험 점수를 기입해야 한다</a:t>
            </a:r>
            <a:br>
              <a:rPr lang="en-US" altLang="ko-KR" sz="10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</a:br>
            <a:r>
              <a:rPr lang="en-US" altLang="ko-KR" sz="10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- </a:t>
            </a:r>
            <a:r>
              <a:rPr lang="ko-KR" altLang="en-US" sz="10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식별 위험 유형</a:t>
            </a:r>
            <a:r>
              <a:rPr lang="en-US" altLang="ko-KR" sz="10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10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경감 방안을 작성해야 한다</a:t>
            </a:r>
            <a:br>
              <a:rPr lang="en-US" altLang="ko-KR" sz="10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</a:br>
            <a:r>
              <a:rPr lang="en-US" altLang="ko-KR" sz="10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- </a:t>
            </a:r>
            <a:r>
              <a:rPr lang="ko-KR" altLang="en-US" sz="10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위험 관리 계획 적정성을 작성해야 한다</a:t>
            </a:r>
            <a:endParaRPr lang="en-US" altLang="ko-KR" sz="1200">
              <a:ln>
                <a:solidFill>
                  <a:schemeClr val="accent2">
                    <a:lumMod val="60000"/>
                    <a:lumOff val="40000"/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2292C20D-DEA0-8A15-FE41-14FCDBB4E22C}"/>
              </a:ext>
            </a:extLst>
          </p:cNvPr>
          <p:cNvSpPr/>
          <p:nvPr/>
        </p:nvSpPr>
        <p:spPr>
          <a:xfrm>
            <a:off x="4965061" y="5024106"/>
            <a:ext cx="3420000" cy="1476000"/>
          </a:xfrm>
          <a:prstGeom prst="rect">
            <a:avLst/>
          </a:prstGeom>
          <a:pattFill prst="dkUp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rtlCol="0" anchor="t"/>
          <a:lstStyle/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시스템 장비구성의 보안</a:t>
            </a:r>
            <a:b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</a:br>
            <a:r>
              <a:rPr lang="en-US" altLang="ko-KR" sz="10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- </a:t>
            </a:r>
            <a:r>
              <a:rPr lang="ko-KR" altLang="en-US" sz="10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관리자</a:t>
            </a:r>
            <a:r>
              <a:rPr lang="en-US" altLang="ko-KR" sz="10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·</a:t>
            </a:r>
            <a:r>
              <a:rPr lang="ko-KR" altLang="en-US" sz="10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운영자</a:t>
            </a:r>
            <a:r>
              <a:rPr lang="en-US" altLang="ko-KR" sz="10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·</a:t>
            </a:r>
            <a:r>
              <a:rPr lang="ko-KR" altLang="en-US" sz="10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사용자는 중복과 공유가 불가하도록 관리하여야 한다</a:t>
            </a:r>
            <a:br>
              <a:rPr lang="en-US" altLang="ko-KR" sz="10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</a:br>
            <a:r>
              <a:rPr lang="en-US" altLang="ko-KR" sz="10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- </a:t>
            </a:r>
            <a:r>
              <a:rPr lang="ko-KR" altLang="en-US" sz="10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인증정책 등 보안정책을 </a:t>
            </a:r>
            <a:r>
              <a:rPr lang="ko-KR" altLang="en-US" sz="1000" err="1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적용받는</a:t>
            </a:r>
            <a:r>
              <a:rPr lang="ko-KR" altLang="en-US" sz="10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 사용자</a:t>
            </a:r>
            <a:r>
              <a:rPr lang="en-US" altLang="ko-KR" sz="10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/</a:t>
            </a:r>
            <a:r>
              <a:rPr lang="ko-KR" altLang="en-US" sz="10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단말로 식별</a:t>
            </a:r>
            <a:r>
              <a:rPr lang="en-US" altLang="ko-KR" sz="10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/</a:t>
            </a:r>
            <a:r>
              <a:rPr lang="ko-KR" altLang="en-US" sz="10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인증하여야 한다</a:t>
            </a:r>
            <a:br>
              <a:rPr lang="en-US" altLang="ko-KR" sz="10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</a:br>
            <a:r>
              <a:rPr lang="en-US" altLang="ko-KR" sz="10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- </a:t>
            </a:r>
            <a:r>
              <a:rPr lang="ko-KR" altLang="en-US" sz="10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인증과정에 우회금지 및 인증 횟수 제한을 하여야 한다</a:t>
            </a:r>
            <a:endParaRPr lang="en-US" altLang="ko-KR" sz="1100">
              <a:ln>
                <a:solidFill>
                  <a:schemeClr val="accent2">
                    <a:lumMod val="60000"/>
                    <a:lumOff val="40000"/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  <a:sym typeface="Wingdings" panose="05000000000000000000" pitchFamily="2" charset="2"/>
            </a:endParaRPr>
          </a:p>
        </p:txBody>
      </p:sp>
      <p:sp>
        <p:nvSpPr>
          <p:cNvPr id="108" name="타원 107">
            <a:extLst>
              <a:ext uri="{FF2B5EF4-FFF2-40B4-BE49-F238E27FC236}">
                <a16:creationId xmlns:a16="http://schemas.microsoft.com/office/drawing/2014/main" id="{A7F5750B-1EEF-EE81-B19F-59694E23ED08}"/>
              </a:ext>
            </a:extLst>
          </p:cNvPr>
          <p:cNvSpPr/>
          <p:nvPr/>
        </p:nvSpPr>
        <p:spPr>
          <a:xfrm>
            <a:off x="2829467" y="2071148"/>
            <a:ext cx="216000" cy="216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F5822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>
                <a:ln>
                  <a:solidFill>
                    <a:srgbClr val="F58220">
                      <a:alpha val="0"/>
                    </a:srgbClr>
                  </a:solidFill>
                </a:ln>
                <a:solidFill>
                  <a:srgbClr val="F58220"/>
                </a:solidFill>
                <a:latin typeface="+mn-ea"/>
              </a:rPr>
              <a:t>1</a:t>
            </a:r>
            <a:endParaRPr lang="ko-KR" altLang="en-US" sz="1300" b="1">
              <a:ln>
                <a:solidFill>
                  <a:srgbClr val="F58220">
                    <a:alpha val="0"/>
                  </a:srgbClr>
                </a:solidFill>
              </a:ln>
              <a:solidFill>
                <a:srgbClr val="F58220"/>
              </a:solidFill>
              <a:latin typeface="+mn-ea"/>
            </a:endParaRPr>
          </a:p>
        </p:txBody>
      </p:sp>
      <p:sp>
        <p:nvSpPr>
          <p:cNvPr id="109" name="타원 108">
            <a:extLst>
              <a:ext uri="{FF2B5EF4-FFF2-40B4-BE49-F238E27FC236}">
                <a16:creationId xmlns:a16="http://schemas.microsoft.com/office/drawing/2014/main" id="{21AF372D-E802-A0F1-CAA6-DF263FD4876D}"/>
              </a:ext>
            </a:extLst>
          </p:cNvPr>
          <p:cNvSpPr/>
          <p:nvPr/>
        </p:nvSpPr>
        <p:spPr>
          <a:xfrm>
            <a:off x="6900045" y="1672750"/>
            <a:ext cx="216000" cy="216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F5822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>
                <a:ln>
                  <a:solidFill>
                    <a:srgbClr val="F58220">
                      <a:alpha val="0"/>
                    </a:srgbClr>
                  </a:solidFill>
                </a:ln>
                <a:solidFill>
                  <a:srgbClr val="F58220"/>
                </a:solidFill>
                <a:latin typeface="+mn-ea"/>
              </a:rPr>
              <a:t>3</a:t>
            </a:r>
            <a:endParaRPr lang="ko-KR" altLang="en-US" sz="1300" b="1">
              <a:ln>
                <a:solidFill>
                  <a:srgbClr val="F58220">
                    <a:alpha val="0"/>
                  </a:srgbClr>
                </a:solidFill>
              </a:ln>
              <a:solidFill>
                <a:srgbClr val="F58220"/>
              </a:solidFill>
              <a:latin typeface="+mn-ea"/>
            </a:endParaRPr>
          </a:p>
        </p:txBody>
      </p:sp>
      <p:sp>
        <p:nvSpPr>
          <p:cNvPr id="110" name="타원 109">
            <a:extLst>
              <a:ext uri="{FF2B5EF4-FFF2-40B4-BE49-F238E27FC236}">
                <a16:creationId xmlns:a16="http://schemas.microsoft.com/office/drawing/2014/main" id="{80A89703-93E5-614A-E6C2-84EAFEE8246C}"/>
              </a:ext>
            </a:extLst>
          </p:cNvPr>
          <p:cNvSpPr/>
          <p:nvPr/>
        </p:nvSpPr>
        <p:spPr>
          <a:xfrm>
            <a:off x="1378963" y="4948693"/>
            <a:ext cx="216000" cy="216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F5822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>
                <a:ln>
                  <a:solidFill>
                    <a:srgbClr val="F58220">
                      <a:alpha val="0"/>
                    </a:srgbClr>
                  </a:solidFill>
                </a:ln>
                <a:solidFill>
                  <a:srgbClr val="F58220"/>
                </a:solidFill>
                <a:latin typeface="+mn-ea"/>
              </a:rPr>
              <a:t>1</a:t>
            </a:r>
            <a:endParaRPr lang="ko-KR" altLang="en-US" sz="1300" b="1">
              <a:ln>
                <a:solidFill>
                  <a:srgbClr val="F58220">
                    <a:alpha val="0"/>
                  </a:srgbClr>
                </a:solidFill>
              </a:ln>
              <a:solidFill>
                <a:srgbClr val="F58220"/>
              </a:solidFill>
              <a:latin typeface="+mn-ea"/>
            </a:endParaRPr>
          </a:p>
        </p:txBody>
      </p:sp>
      <p:sp>
        <p:nvSpPr>
          <p:cNvPr id="111" name="타원 110">
            <a:extLst>
              <a:ext uri="{FF2B5EF4-FFF2-40B4-BE49-F238E27FC236}">
                <a16:creationId xmlns:a16="http://schemas.microsoft.com/office/drawing/2014/main" id="{2769892A-0E13-EE38-192A-453E837E0197}"/>
              </a:ext>
            </a:extLst>
          </p:cNvPr>
          <p:cNvSpPr/>
          <p:nvPr/>
        </p:nvSpPr>
        <p:spPr>
          <a:xfrm>
            <a:off x="4890681" y="4947053"/>
            <a:ext cx="216000" cy="216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F5822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>
                <a:ln>
                  <a:solidFill>
                    <a:srgbClr val="F58220">
                      <a:alpha val="0"/>
                    </a:srgbClr>
                  </a:solidFill>
                </a:ln>
                <a:solidFill>
                  <a:srgbClr val="F58220"/>
                </a:solidFill>
                <a:latin typeface="+mn-ea"/>
              </a:rPr>
              <a:t>2</a:t>
            </a:r>
            <a:endParaRPr lang="ko-KR" altLang="en-US" sz="1300" b="1">
              <a:ln>
                <a:solidFill>
                  <a:srgbClr val="F58220">
                    <a:alpha val="0"/>
                  </a:srgbClr>
                </a:solidFill>
              </a:ln>
              <a:solidFill>
                <a:srgbClr val="F58220"/>
              </a:solidFill>
              <a:latin typeface="+mn-ea"/>
            </a:endParaRPr>
          </a:p>
        </p:txBody>
      </p:sp>
      <p:sp>
        <p:nvSpPr>
          <p:cNvPr id="112" name="타원 111">
            <a:extLst>
              <a:ext uri="{FF2B5EF4-FFF2-40B4-BE49-F238E27FC236}">
                <a16:creationId xmlns:a16="http://schemas.microsoft.com/office/drawing/2014/main" id="{EDC4A2ED-8E6F-E540-21E1-E5C264760984}"/>
              </a:ext>
            </a:extLst>
          </p:cNvPr>
          <p:cNvSpPr/>
          <p:nvPr/>
        </p:nvSpPr>
        <p:spPr>
          <a:xfrm>
            <a:off x="4117121" y="3162218"/>
            <a:ext cx="216000" cy="216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F5822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>
                <a:ln>
                  <a:solidFill>
                    <a:srgbClr val="F58220">
                      <a:alpha val="0"/>
                    </a:srgbClr>
                  </a:solidFill>
                </a:ln>
                <a:solidFill>
                  <a:srgbClr val="F58220"/>
                </a:solidFill>
                <a:latin typeface="+mn-ea"/>
              </a:rPr>
              <a:t>2</a:t>
            </a:r>
            <a:endParaRPr lang="ko-KR" altLang="en-US" sz="1300" b="1">
              <a:ln>
                <a:solidFill>
                  <a:srgbClr val="F58220">
                    <a:alpha val="0"/>
                  </a:srgbClr>
                </a:solidFill>
              </a:ln>
              <a:solidFill>
                <a:srgbClr val="F58220"/>
              </a:solidFill>
              <a:latin typeface="+mn-ea"/>
            </a:endParaRPr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885AA7D5-41E7-9945-DA4C-B8729FA7BED8}"/>
              </a:ext>
            </a:extLst>
          </p:cNvPr>
          <p:cNvSpPr/>
          <p:nvPr/>
        </p:nvSpPr>
        <p:spPr>
          <a:xfrm>
            <a:off x="8471963" y="5024106"/>
            <a:ext cx="3420000" cy="1476000"/>
          </a:xfrm>
          <a:prstGeom prst="rect">
            <a:avLst/>
          </a:prstGeom>
          <a:pattFill prst="dkUp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rtlCol="0" anchor="t"/>
          <a:lstStyle/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AI </a:t>
            </a:r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서비스 운영 전 검증</a:t>
            </a:r>
            <a:b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</a:br>
            <a:r>
              <a:rPr lang="en-US" altLang="ko-KR" sz="10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- 44</a:t>
            </a:r>
            <a:r>
              <a:rPr lang="ko-KR" altLang="en-US" sz="10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개 위험 평가에 대한 검증을 수행해야 한다</a:t>
            </a:r>
            <a:br>
              <a:rPr lang="en-US" altLang="ko-KR" sz="10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</a:br>
            <a:r>
              <a:rPr lang="en-US" altLang="ko-KR" sz="10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   1)</a:t>
            </a:r>
            <a:r>
              <a:rPr lang="ko-KR" altLang="en-US" sz="10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 개인정보 데이터 유출 위험</a:t>
            </a:r>
            <a:br>
              <a:rPr lang="en-US" altLang="ko-KR" sz="10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</a:br>
            <a:r>
              <a:rPr lang="en-US" altLang="ko-KR" sz="10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    - </a:t>
            </a:r>
            <a:r>
              <a:rPr lang="ko-KR" altLang="en-US" sz="10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모델 출력으로 직접 유출되지 않는지 확인한다</a:t>
            </a:r>
            <a:br>
              <a:rPr lang="en-US" altLang="ko-KR" sz="10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</a:br>
            <a:r>
              <a:rPr lang="en-US" altLang="ko-KR" sz="10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    - </a:t>
            </a:r>
            <a:r>
              <a:rPr lang="ko-KR" altLang="en-US" sz="10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훈련데이터 역추적이 불가한지 확인한다</a:t>
            </a:r>
            <a:br>
              <a:rPr lang="en-US" altLang="ko-KR" sz="10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</a:br>
            <a:r>
              <a:rPr lang="en-US" altLang="ko-KR" sz="10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    - </a:t>
            </a:r>
            <a:r>
              <a:rPr lang="ko-KR" altLang="en-US" sz="10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개인식별 정보 탐지 및 숨김 여부를 확인한다</a:t>
            </a:r>
            <a:br>
              <a:rPr lang="en-US" altLang="ko-KR" sz="10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</a:br>
            <a:r>
              <a:rPr lang="en-US" altLang="ko-KR" sz="10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   2) </a:t>
            </a:r>
            <a:r>
              <a:rPr lang="ko-KR" altLang="en-US" sz="10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데이터</a:t>
            </a:r>
            <a:r>
              <a:rPr lang="en-US" altLang="ko-KR" sz="10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/</a:t>
            </a:r>
            <a:r>
              <a:rPr lang="ko-KR" altLang="en-US" sz="10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모델 오염 위험</a:t>
            </a:r>
            <a:endParaRPr lang="en-US" altLang="ko-KR" sz="1000">
              <a:ln>
                <a:solidFill>
                  <a:schemeClr val="accent2">
                    <a:lumMod val="60000"/>
                    <a:lumOff val="40000"/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  <a:sym typeface="Wingdings" panose="05000000000000000000" pitchFamily="2" charset="2"/>
            </a:endParaRPr>
          </a:p>
        </p:txBody>
      </p:sp>
      <p:sp>
        <p:nvSpPr>
          <p:cNvPr id="114" name="타원 113">
            <a:extLst>
              <a:ext uri="{FF2B5EF4-FFF2-40B4-BE49-F238E27FC236}">
                <a16:creationId xmlns:a16="http://schemas.microsoft.com/office/drawing/2014/main" id="{1A556D90-D059-C3C6-9D01-FA02D48DE25D}"/>
              </a:ext>
            </a:extLst>
          </p:cNvPr>
          <p:cNvSpPr/>
          <p:nvPr/>
        </p:nvSpPr>
        <p:spPr>
          <a:xfrm>
            <a:off x="8425941" y="4948693"/>
            <a:ext cx="216000" cy="2160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F5822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>
                <a:ln>
                  <a:solidFill>
                    <a:srgbClr val="F58220">
                      <a:alpha val="0"/>
                    </a:srgbClr>
                  </a:solidFill>
                </a:ln>
                <a:solidFill>
                  <a:srgbClr val="F58220"/>
                </a:solidFill>
                <a:latin typeface="+mn-ea"/>
              </a:rPr>
              <a:t>3</a:t>
            </a:r>
            <a:endParaRPr lang="ko-KR" altLang="en-US" sz="1300" b="1">
              <a:ln>
                <a:solidFill>
                  <a:srgbClr val="F58220">
                    <a:alpha val="0"/>
                  </a:srgbClr>
                </a:solidFill>
              </a:ln>
              <a:solidFill>
                <a:srgbClr val="F58220"/>
              </a:solidFill>
              <a:latin typeface="+mn-ea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A016B80B-8E3C-D398-F5D5-4BA04D6287F6}"/>
              </a:ext>
            </a:extLst>
          </p:cNvPr>
          <p:cNvSpPr txBox="1"/>
          <p:nvPr/>
        </p:nvSpPr>
        <p:spPr>
          <a:xfrm>
            <a:off x="9899990" y="1016470"/>
            <a:ext cx="1982031" cy="252000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txBody>
          <a:bodyPr wrap="square" lIns="0" rtlCol="0" anchor="ctr">
            <a:noAutofit/>
          </a:bodyPr>
          <a:lstStyle/>
          <a:p>
            <a:pPr algn="r"/>
            <a:endParaRPr lang="ko-KR" altLang="en-US" sz="800">
              <a:latin typeface="+mn-ea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F92294E4-CADE-8A14-ECFA-2ADD6198DEE4}"/>
              </a:ext>
            </a:extLst>
          </p:cNvPr>
          <p:cNvSpPr txBox="1"/>
          <p:nvPr/>
        </p:nvSpPr>
        <p:spPr>
          <a:xfrm>
            <a:off x="9669874" y="1052470"/>
            <a:ext cx="324000" cy="180000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800">
                <a:latin typeface="+mn-ea"/>
              </a:rPr>
              <a:t>범례</a:t>
            </a:r>
            <a:r>
              <a:rPr lang="en-US" altLang="ko-KR" sz="800">
                <a:latin typeface="+mn-ea"/>
              </a:rPr>
              <a:t>:</a:t>
            </a:r>
            <a:endParaRPr lang="ko-KR" altLang="en-US" sz="800">
              <a:latin typeface="+mn-ea"/>
            </a:endParaRPr>
          </a:p>
        </p:txBody>
      </p: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3AA6D509-6B0C-1105-3C8A-C2FAC296075D}"/>
              </a:ext>
            </a:extLst>
          </p:cNvPr>
          <p:cNvSpPr/>
          <p:nvPr/>
        </p:nvSpPr>
        <p:spPr>
          <a:xfrm>
            <a:off x="10570370" y="1070470"/>
            <a:ext cx="1278314" cy="144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>
              <a:defRPr/>
            </a:pPr>
            <a:r>
              <a:rPr lang="en-US" altLang="ko-KR" sz="600" kern="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ITSM </a:t>
            </a:r>
            <a:r>
              <a:rPr lang="ko-KR" altLang="en-US" sz="600" kern="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내 구축요건 필요 </a:t>
            </a:r>
            <a:r>
              <a:rPr lang="en-US" altLang="ko-KR" sz="600" kern="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Task (</a:t>
            </a:r>
            <a:r>
              <a:rPr lang="ko-KR" altLang="en-US" sz="600" kern="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예상</a:t>
            </a:r>
            <a:r>
              <a:rPr lang="en-US" altLang="ko-KR" sz="600" kern="0" dirty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)</a:t>
            </a:r>
            <a:endParaRPr lang="ko-KR" altLang="en-US" sz="600" kern="0" dirty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</p:txBody>
      </p: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B0C34A10-E81C-80BD-889A-C27DF80A12A7}"/>
              </a:ext>
            </a:extLst>
          </p:cNvPr>
          <p:cNvSpPr/>
          <p:nvPr/>
        </p:nvSpPr>
        <p:spPr>
          <a:xfrm>
            <a:off x="9996488" y="1070470"/>
            <a:ext cx="552450" cy="1440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ko-KR" altLang="en-US" sz="500" kern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일반 </a:t>
            </a:r>
            <a:r>
              <a:rPr lang="en-US" altLang="ko-KR" sz="500" kern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Task (</a:t>
            </a:r>
            <a:r>
              <a:rPr lang="ko-KR" altLang="en-US" sz="500" kern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예상</a:t>
            </a:r>
            <a:r>
              <a:rPr lang="en-US" altLang="ko-KR" sz="500" kern="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)</a:t>
            </a:r>
            <a:endParaRPr lang="ko-KR" altLang="en-US" sz="500" kern="0">
              <a:ln>
                <a:solidFill>
                  <a:srgbClr val="0070C0">
                    <a:alpha val="0"/>
                  </a:srgbClr>
                </a:solidFill>
              </a:ln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819920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D6EE2474-4D0A-501E-9A46-2A929E412BD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528C01E-0055-89F3-6121-E2AE9B0820E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AI</a:t>
            </a:r>
            <a:r>
              <a:rPr lang="ko-KR" altLang="en-US"/>
              <a:t>거버넌스 분석 대상 및 요건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C765919-4B87-FE2E-F557-5DE9881119E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금융분야 정책 준수를 위해 확정 </a:t>
            </a:r>
            <a:r>
              <a:rPr lang="en-US" altLang="ko-KR" dirty="0"/>
              <a:t>4</a:t>
            </a:r>
            <a:r>
              <a:rPr lang="ko-KR" altLang="en-US" dirty="0"/>
              <a:t>종 및 기타 </a:t>
            </a:r>
            <a:r>
              <a:rPr lang="en-US" altLang="ko-KR" dirty="0"/>
              <a:t>2</a:t>
            </a:r>
            <a:r>
              <a:rPr lang="ko-KR" altLang="en-US" dirty="0"/>
              <a:t>종을 포함한 </a:t>
            </a:r>
            <a:r>
              <a:rPr lang="en-US" altLang="ko-KR" dirty="0"/>
              <a:t>AI</a:t>
            </a:r>
            <a:r>
              <a:rPr lang="ko-KR" altLang="en-US" dirty="0"/>
              <a:t>거버넌스 체계를 보유하고 있으며</a:t>
            </a:r>
            <a:r>
              <a:rPr lang="en-US" altLang="ko-KR" dirty="0"/>
              <a:t>, </a:t>
            </a:r>
            <a:r>
              <a:rPr lang="ko-KR" altLang="en-US" dirty="0"/>
              <a:t>프로젝트 內 </a:t>
            </a:r>
            <a:r>
              <a:rPr lang="ko-KR" altLang="en-US" dirty="0" err="1"/>
              <a:t>미확정</a:t>
            </a:r>
            <a:r>
              <a:rPr lang="ko-KR" altLang="en-US" dirty="0"/>
              <a:t> </a:t>
            </a:r>
            <a:r>
              <a:rPr lang="en-US" altLang="ko-KR" dirty="0"/>
              <a:t>8</a:t>
            </a:r>
            <a:r>
              <a:rPr lang="ko-KR" altLang="en-US" dirty="0"/>
              <a:t>종</a:t>
            </a:r>
            <a:r>
              <a:rPr lang="en-US" altLang="ko-KR" baseline="30000" dirty="0"/>
              <a:t>2025.09</a:t>
            </a:r>
            <a:r>
              <a:rPr lang="ko-KR" altLang="en-US" baseline="30000" dirty="0"/>
              <a:t>발표</a:t>
            </a:r>
            <a:r>
              <a:rPr lang="ko-KR" altLang="en-US" dirty="0"/>
              <a:t>에 관한 </a:t>
            </a:r>
            <a:r>
              <a:rPr lang="en-US" altLang="ko-KR" dirty="0"/>
              <a:t>AI</a:t>
            </a:r>
            <a:r>
              <a:rPr lang="ko-KR" altLang="en-US" dirty="0"/>
              <a:t>거버넌스 수립이 필요함</a:t>
            </a:r>
          </a:p>
        </p:txBody>
      </p:sp>
      <p:sp>
        <p:nvSpPr>
          <p:cNvPr id="5" name="사각형: 둥근 모서리 20">
            <a:extLst>
              <a:ext uri="{FF2B5EF4-FFF2-40B4-BE49-F238E27FC236}">
                <a16:creationId xmlns:a16="http://schemas.microsoft.com/office/drawing/2014/main" id="{79166B77-D574-BC7B-6E4A-AFA2CD9DE2B2}"/>
              </a:ext>
            </a:extLst>
          </p:cNvPr>
          <p:cNvSpPr/>
          <p:nvPr/>
        </p:nvSpPr>
        <p:spPr>
          <a:xfrm>
            <a:off x="5963957" y="1720224"/>
            <a:ext cx="1775161" cy="324983"/>
          </a:xfrm>
          <a:prstGeom prst="roundRect">
            <a:avLst>
              <a:gd name="adj" fmla="val 0"/>
            </a:avLst>
          </a:prstGeom>
          <a:solidFill>
            <a:srgbClr val="F4B183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요건 상위 분류</a:t>
            </a:r>
            <a:endParaRPr lang="en" altLang="ko-KR" sz="1200" b="1" spc="-15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sp>
        <p:nvSpPr>
          <p:cNvPr id="6" name="사각형: 둥근 모서리 20">
            <a:extLst>
              <a:ext uri="{FF2B5EF4-FFF2-40B4-BE49-F238E27FC236}">
                <a16:creationId xmlns:a16="http://schemas.microsoft.com/office/drawing/2014/main" id="{67AA7495-88F4-5539-30EF-5865094472B7}"/>
              </a:ext>
            </a:extLst>
          </p:cNvPr>
          <p:cNvSpPr/>
          <p:nvPr/>
        </p:nvSpPr>
        <p:spPr>
          <a:xfrm>
            <a:off x="7850245" y="1720224"/>
            <a:ext cx="3043133" cy="324983"/>
          </a:xfrm>
          <a:prstGeom prst="roundRect">
            <a:avLst>
              <a:gd name="adj" fmla="val 0"/>
            </a:avLst>
          </a:prstGeom>
          <a:solidFill>
            <a:srgbClr val="F4B183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요건 하위 분류</a:t>
            </a:r>
            <a:endParaRPr lang="en" altLang="ko-KR" sz="1200" b="1" spc="-15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sp>
        <p:nvSpPr>
          <p:cNvPr id="7" name="사각형: 둥근 모서리 20">
            <a:extLst>
              <a:ext uri="{FF2B5EF4-FFF2-40B4-BE49-F238E27FC236}">
                <a16:creationId xmlns:a16="http://schemas.microsoft.com/office/drawing/2014/main" id="{0A35B4A3-A5A8-3FF9-C1EF-EDC58C95A6AE}"/>
              </a:ext>
            </a:extLst>
          </p:cNvPr>
          <p:cNvSpPr/>
          <p:nvPr/>
        </p:nvSpPr>
        <p:spPr>
          <a:xfrm>
            <a:off x="624170" y="1720224"/>
            <a:ext cx="797011" cy="812458"/>
          </a:xfrm>
          <a:prstGeom prst="roundRect">
            <a:avLst>
              <a:gd name="adj" fmla="val 0"/>
            </a:avLst>
          </a:prstGeom>
          <a:solidFill>
            <a:srgbClr val="7F7F7F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인공지능 </a:t>
            </a:r>
            <a:br>
              <a:rPr lang="en-US" altLang="ko-KR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</a:br>
            <a:r>
              <a:rPr lang="ko-KR" altLang="en-US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기본법</a:t>
            </a:r>
            <a:endParaRPr lang="en" altLang="ko-KR" sz="1000" b="1" spc="-15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</a:endParaRPr>
          </a:p>
        </p:txBody>
      </p:sp>
      <p:sp>
        <p:nvSpPr>
          <p:cNvPr id="8" name="사각형: 둥근 모서리 20">
            <a:extLst>
              <a:ext uri="{FF2B5EF4-FFF2-40B4-BE49-F238E27FC236}">
                <a16:creationId xmlns:a16="http://schemas.microsoft.com/office/drawing/2014/main" id="{63BA57CD-E01C-9508-C6B8-CF31117F3DE5}"/>
              </a:ext>
            </a:extLst>
          </p:cNvPr>
          <p:cNvSpPr/>
          <p:nvPr/>
        </p:nvSpPr>
        <p:spPr>
          <a:xfrm>
            <a:off x="624170" y="2613894"/>
            <a:ext cx="797011" cy="812458"/>
          </a:xfrm>
          <a:prstGeom prst="roundRect">
            <a:avLst>
              <a:gd name="adj" fmla="val 0"/>
            </a:avLst>
          </a:prstGeom>
          <a:solidFill>
            <a:srgbClr val="7F7F7F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금융분야 </a:t>
            </a:r>
            <a:br>
              <a:rPr lang="ko-KR" altLang="en-US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</a:br>
            <a:r>
              <a:rPr lang="en-US" altLang="ko-KR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AI</a:t>
            </a:r>
            <a:r>
              <a:rPr lang="ko-KR" altLang="en-US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개발</a:t>
            </a:r>
            <a:r>
              <a:rPr lang="en-US" altLang="ko-KR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·</a:t>
            </a:r>
            <a:r>
              <a:rPr lang="ko-KR" altLang="en-US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활용 안내서</a:t>
            </a:r>
          </a:p>
        </p:txBody>
      </p:sp>
      <p:sp>
        <p:nvSpPr>
          <p:cNvPr id="9" name="사각형: 둥근 모서리 20">
            <a:extLst>
              <a:ext uri="{FF2B5EF4-FFF2-40B4-BE49-F238E27FC236}">
                <a16:creationId xmlns:a16="http://schemas.microsoft.com/office/drawing/2014/main" id="{1F2A1AFF-A2D7-1D8A-8000-15538F6BB6EA}"/>
              </a:ext>
            </a:extLst>
          </p:cNvPr>
          <p:cNvSpPr/>
          <p:nvPr/>
        </p:nvSpPr>
        <p:spPr>
          <a:xfrm>
            <a:off x="624170" y="3507565"/>
            <a:ext cx="797011" cy="812458"/>
          </a:xfrm>
          <a:prstGeom prst="roundRect">
            <a:avLst>
              <a:gd name="adj" fmla="val 0"/>
            </a:avLst>
          </a:prstGeom>
          <a:solidFill>
            <a:srgbClr val="7F7F7F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금융분야 </a:t>
            </a:r>
            <a:br>
              <a:rPr lang="en-US" altLang="ko-KR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</a:br>
            <a:r>
              <a:rPr lang="en-US" altLang="ko-KR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AI</a:t>
            </a:r>
            <a:r>
              <a:rPr lang="ko-KR" altLang="en-US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운영 가이드라인</a:t>
            </a:r>
          </a:p>
        </p:txBody>
      </p:sp>
      <p:sp>
        <p:nvSpPr>
          <p:cNvPr id="10" name="사각형: 둥근 모서리 20">
            <a:extLst>
              <a:ext uri="{FF2B5EF4-FFF2-40B4-BE49-F238E27FC236}">
                <a16:creationId xmlns:a16="http://schemas.microsoft.com/office/drawing/2014/main" id="{98BA3A52-3F9D-A896-2280-0FEFF718C44D}"/>
              </a:ext>
            </a:extLst>
          </p:cNvPr>
          <p:cNvSpPr/>
          <p:nvPr/>
        </p:nvSpPr>
        <p:spPr>
          <a:xfrm>
            <a:off x="624170" y="4401235"/>
            <a:ext cx="797011" cy="812458"/>
          </a:xfrm>
          <a:prstGeom prst="roundRect">
            <a:avLst>
              <a:gd name="adj" fmla="val 0"/>
            </a:avLst>
          </a:prstGeom>
          <a:solidFill>
            <a:srgbClr val="7F7F7F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금융분야 </a:t>
            </a:r>
            <a:br>
              <a:rPr lang="en-US" altLang="ko-KR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</a:br>
            <a:r>
              <a:rPr lang="en-US" altLang="ko-KR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AI</a:t>
            </a:r>
            <a:r>
              <a:rPr lang="ko-KR" altLang="en-US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기반 보안 가이드라인</a:t>
            </a:r>
          </a:p>
        </p:txBody>
      </p:sp>
      <p:sp>
        <p:nvSpPr>
          <p:cNvPr id="11" name="사각형: 둥근 모서리 20">
            <a:extLst>
              <a:ext uri="{FF2B5EF4-FFF2-40B4-BE49-F238E27FC236}">
                <a16:creationId xmlns:a16="http://schemas.microsoft.com/office/drawing/2014/main" id="{E31F7763-C8DB-F2D0-A11E-701772C43000}"/>
              </a:ext>
            </a:extLst>
          </p:cNvPr>
          <p:cNvSpPr/>
          <p:nvPr/>
        </p:nvSpPr>
        <p:spPr>
          <a:xfrm>
            <a:off x="1468909" y="1720224"/>
            <a:ext cx="4236287" cy="812458"/>
          </a:xfrm>
          <a:prstGeom prst="roundRect">
            <a:avLst>
              <a:gd name="adj" fmla="val 0"/>
            </a:avLst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72000" tIns="0" rIns="72000" bIns="0" rtlCol="0" anchor="ctr"/>
          <a:lstStyle/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인공지능 사업자에게 투명성</a:t>
            </a:r>
            <a:r>
              <a:rPr lang="en-US" altLang="ko-KR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안전성 확보</a:t>
            </a:r>
            <a:r>
              <a:rPr lang="en-US" altLang="ko-KR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고지 의무 등 구체적인 책임을 부여하여 기업의 역할을 강화 必</a:t>
            </a:r>
            <a:endParaRPr lang="en-US" altLang="ko-KR" sz="1000" kern="0" spc="-5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 </a:t>
            </a:r>
            <a:r>
              <a:rPr lang="en-US" altLang="ko-KR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</a:t>
            </a:r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서비스의 개발</a:t>
            </a:r>
            <a:r>
              <a:rPr lang="en-US" altLang="ko-KR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활용</a:t>
            </a:r>
            <a:r>
              <a:rPr lang="en-US" altLang="ko-KR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폐기 등 전 생애주기에 걸쳐 발생할 수 있는 잠재적 위험을 사전 식별 </a:t>
            </a:r>
            <a:r>
              <a:rPr lang="en-US" altLang="ko-KR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  <a:sym typeface="Wingdings" panose="05000000000000000000" pitchFamily="2" charset="2"/>
              </a:rPr>
              <a:t></a:t>
            </a:r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 평가 </a:t>
            </a:r>
            <a:r>
              <a:rPr lang="en-US" altLang="ko-KR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  <a:sym typeface="Wingdings" panose="05000000000000000000" pitchFamily="2" charset="2"/>
              </a:rPr>
              <a:t> </a:t>
            </a:r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 완화 조치 마련 必</a:t>
            </a:r>
            <a:endParaRPr lang="en" altLang="ko-KR" sz="1000" kern="0" spc="-5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</p:txBody>
      </p:sp>
      <p:sp>
        <p:nvSpPr>
          <p:cNvPr id="12" name="사각형: 둥근 모서리 20">
            <a:extLst>
              <a:ext uri="{FF2B5EF4-FFF2-40B4-BE49-F238E27FC236}">
                <a16:creationId xmlns:a16="http://schemas.microsoft.com/office/drawing/2014/main" id="{1316F90C-ECD5-0789-6FCF-4E7CA93ACDF6}"/>
              </a:ext>
            </a:extLst>
          </p:cNvPr>
          <p:cNvSpPr/>
          <p:nvPr/>
        </p:nvSpPr>
        <p:spPr>
          <a:xfrm>
            <a:off x="1468909" y="2613894"/>
            <a:ext cx="4236287" cy="812458"/>
          </a:xfrm>
          <a:prstGeom prst="roundRect">
            <a:avLst>
              <a:gd name="adj" fmla="val 0"/>
            </a:avLst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72000" tIns="0" rIns="72000" bIns="0" rtlCol="0" anchor="ctr"/>
          <a:lstStyle/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금융회사가 </a:t>
            </a:r>
            <a:r>
              <a:rPr lang="en-US" altLang="ko-KR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</a:t>
            </a:r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를 안전하고 신뢰할 수 있게 개발 및 활용하도록 돕기 위한 지침</a:t>
            </a:r>
            <a:endParaRPr lang="en-US" altLang="ko-KR" sz="1000" kern="0" spc="-5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개발부터 운영</a:t>
            </a:r>
            <a:r>
              <a:rPr lang="en-US" altLang="ko-KR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위험 관리까지 전 과정에 걸친 원칙과 절차를 제시함</a:t>
            </a:r>
            <a:endParaRPr lang="en" altLang="ko-KR" sz="1000" kern="0" spc="-5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</p:txBody>
      </p:sp>
      <p:sp>
        <p:nvSpPr>
          <p:cNvPr id="13" name="사각형: 둥근 모서리 20">
            <a:extLst>
              <a:ext uri="{FF2B5EF4-FFF2-40B4-BE49-F238E27FC236}">
                <a16:creationId xmlns:a16="http://schemas.microsoft.com/office/drawing/2014/main" id="{04376F85-46CE-CB3B-AA5A-C2C36AA37111}"/>
              </a:ext>
            </a:extLst>
          </p:cNvPr>
          <p:cNvSpPr/>
          <p:nvPr/>
        </p:nvSpPr>
        <p:spPr>
          <a:xfrm>
            <a:off x="1468909" y="3507565"/>
            <a:ext cx="4236287" cy="812458"/>
          </a:xfrm>
          <a:prstGeom prst="roundRect">
            <a:avLst>
              <a:gd name="adj" fmla="val 0"/>
            </a:avLst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72000" tIns="0" rIns="72000" bIns="0" rtlCol="0" anchor="ctr"/>
          <a:lstStyle/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en-US" altLang="ko-KR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</a:t>
            </a:r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모델의 개발</a:t>
            </a:r>
            <a:r>
              <a:rPr lang="en-US" altLang="ko-KR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·</a:t>
            </a:r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검증</a:t>
            </a:r>
            <a:r>
              <a:rPr lang="en-US" altLang="ko-KR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·</a:t>
            </a:r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배포부터 운영 및 모니터링</a:t>
            </a:r>
            <a:r>
              <a:rPr lang="en-US" altLang="ko-KR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위험 관리</a:t>
            </a:r>
            <a:r>
              <a:rPr lang="en-US" altLang="ko-KR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 </a:t>
            </a:r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및 윤리적 책임 등 전 과정에서 지켜야 할 실무 지침을 제시함</a:t>
            </a:r>
            <a:endParaRPr lang="en-US" altLang="ko-KR" sz="1000" kern="0" spc="-5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en-US" altLang="ko-KR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</a:t>
            </a:r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의 안전성과 신뢰성을 확보하고</a:t>
            </a:r>
            <a:r>
              <a:rPr lang="en-US" altLang="ko-KR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이를 통해 이용자 및 시장 위험을 최소화하며 공정성을 유지 必</a:t>
            </a:r>
            <a:endParaRPr lang="en" altLang="ko-KR" sz="1000" kern="0" spc="-5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</p:txBody>
      </p:sp>
      <p:sp>
        <p:nvSpPr>
          <p:cNvPr id="14" name="사각형: 둥근 모서리 20">
            <a:extLst>
              <a:ext uri="{FF2B5EF4-FFF2-40B4-BE49-F238E27FC236}">
                <a16:creationId xmlns:a16="http://schemas.microsoft.com/office/drawing/2014/main" id="{3733E5C7-9936-3033-B6C2-86449CB3194C}"/>
              </a:ext>
            </a:extLst>
          </p:cNvPr>
          <p:cNvSpPr/>
          <p:nvPr/>
        </p:nvSpPr>
        <p:spPr>
          <a:xfrm>
            <a:off x="1468909" y="4401235"/>
            <a:ext cx="4236287" cy="812458"/>
          </a:xfrm>
          <a:prstGeom prst="roundRect">
            <a:avLst>
              <a:gd name="adj" fmla="val 0"/>
            </a:avLst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72000" tIns="0" rIns="72000" bIns="0" rtlCol="0" anchor="ctr"/>
          <a:lstStyle/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en-US" altLang="ko-KR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</a:t>
            </a:r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가 적용된 금융 시스템의 보안성 및 안전성을 확보 必</a:t>
            </a:r>
            <a:endParaRPr lang="en-US" altLang="ko-KR" sz="1000" kern="0" spc="-5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  <a:p>
            <a:pPr marL="171450" indent="-171450" defTabSz="914400">
              <a:buFont typeface="Arial" panose="020B0604020202020204" pitchFamily="34" charset="0"/>
              <a:buChar char="•"/>
            </a:pPr>
            <a:r>
              <a:rPr lang="en-US" altLang="ko-KR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</a:t>
            </a:r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개발 및 운영 전 과정에서 고려해야 할 데이터 보안</a:t>
            </a:r>
            <a:r>
              <a:rPr lang="en-US" altLang="ko-KR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모델 보호</a:t>
            </a:r>
            <a:r>
              <a:rPr lang="en-US" altLang="ko-KR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시스템 접근 통제 등 보안 원칙과 점검 항목을 제시함</a:t>
            </a:r>
            <a:endParaRPr lang="en" altLang="ko-KR" sz="1000" kern="0" spc="-5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</p:txBody>
      </p:sp>
      <p:sp>
        <p:nvSpPr>
          <p:cNvPr id="15" name="사각형: 둥근 모서리 20">
            <a:extLst>
              <a:ext uri="{FF2B5EF4-FFF2-40B4-BE49-F238E27FC236}">
                <a16:creationId xmlns:a16="http://schemas.microsoft.com/office/drawing/2014/main" id="{F3A7F4A9-D3E4-FFC8-04A9-6CCB21528D31}"/>
              </a:ext>
            </a:extLst>
          </p:cNvPr>
          <p:cNvSpPr/>
          <p:nvPr/>
        </p:nvSpPr>
        <p:spPr>
          <a:xfrm>
            <a:off x="324596" y="5712178"/>
            <a:ext cx="1096585" cy="812458"/>
          </a:xfrm>
          <a:prstGeom prst="roundRect">
            <a:avLst>
              <a:gd name="adj" fmla="val 0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err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미확정</a:t>
            </a:r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 </a:t>
            </a:r>
            <a:r>
              <a:rPr lang="en-US" altLang="ko-KR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7</a:t>
            </a:r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종</a:t>
            </a:r>
            <a:endParaRPr lang="en" altLang="ko-KR" sz="1200" b="1">
              <a:ln>
                <a:solidFill>
                  <a:schemeClr val="bg1"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16" name="사각형: 둥근 모서리 20">
            <a:extLst>
              <a:ext uri="{FF2B5EF4-FFF2-40B4-BE49-F238E27FC236}">
                <a16:creationId xmlns:a16="http://schemas.microsoft.com/office/drawing/2014/main" id="{4145FAE7-742C-B4EF-25A6-6FF3E4C816CF}"/>
              </a:ext>
            </a:extLst>
          </p:cNvPr>
          <p:cNvSpPr/>
          <p:nvPr/>
        </p:nvSpPr>
        <p:spPr>
          <a:xfrm>
            <a:off x="5963957" y="1341441"/>
            <a:ext cx="4929422" cy="324983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err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미래에셋증권</a:t>
            </a:r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 </a:t>
            </a:r>
            <a:r>
              <a:rPr lang="en-US" altLang="ko-KR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AI</a:t>
            </a:r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거버넌스 요건</a:t>
            </a:r>
            <a:endParaRPr lang="en" altLang="ko-KR" sz="1400" b="1">
              <a:ln>
                <a:solidFill>
                  <a:schemeClr val="bg1"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48323303-47EB-B25C-31E0-E77725738AF4}"/>
              </a:ext>
            </a:extLst>
          </p:cNvPr>
          <p:cNvSpPr/>
          <p:nvPr/>
        </p:nvSpPr>
        <p:spPr>
          <a:xfrm>
            <a:off x="5963957" y="3804972"/>
            <a:ext cx="1775161" cy="279987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10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위험관리</a:t>
            </a:r>
            <a:r>
              <a:rPr kumimoji="1" lang="en-US" altLang="ko-KR" sz="110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·</a:t>
            </a:r>
            <a:r>
              <a:rPr kumimoji="1" lang="ko-KR" altLang="en-US" sz="110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영향평가</a:t>
            </a:r>
            <a:endParaRPr kumimoji="1" lang="en" altLang="ko-KR" sz="1100" b="1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F203C543-9733-3BFC-20AC-ADF61CE25075}"/>
              </a:ext>
            </a:extLst>
          </p:cNvPr>
          <p:cNvSpPr/>
          <p:nvPr/>
        </p:nvSpPr>
        <p:spPr>
          <a:xfrm>
            <a:off x="7850245" y="3804972"/>
            <a:ext cx="3043133" cy="279987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72000" tIns="0" rIns="0" bIns="18000" rtlCol="0" anchor="ctr"/>
          <a:lstStyle/>
          <a:p>
            <a:pPr marL="171450" marR="0" lvl="0" indent="-17145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ko-KR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AI</a:t>
            </a:r>
            <a:r>
              <a:rPr kumimoji="1" lang="ko-KR" altLang="en-US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위험평가</a:t>
            </a:r>
            <a:r>
              <a:rPr kumimoji="1" lang="en-US" altLang="ko-KR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, </a:t>
            </a:r>
            <a:r>
              <a:rPr kumimoji="1" lang="ko-KR" altLang="en-US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영향도 분석</a:t>
            </a:r>
            <a:endParaRPr kumimoji="1" lang="en" altLang="ko-KR" sz="900" b="0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5D7FDD6E-F71E-B637-C4F9-14E8DDDAC203}"/>
              </a:ext>
            </a:extLst>
          </p:cNvPr>
          <p:cNvSpPr/>
          <p:nvPr/>
        </p:nvSpPr>
        <p:spPr>
          <a:xfrm>
            <a:off x="5963957" y="3125055"/>
            <a:ext cx="1775161" cy="279987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10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임직원 교육</a:t>
            </a:r>
            <a:endParaRPr kumimoji="1" lang="en" altLang="ko-KR" sz="1100" b="1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61A277F9-836E-A6B3-558B-78FDC082B16F}"/>
              </a:ext>
            </a:extLst>
          </p:cNvPr>
          <p:cNvSpPr/>
          <p:nvPr/>
        </p:nvSpPr>
        <p:spPr>
          <a:xfrm>
            <a:off x="7850245" y="3125055"/>
            <a:ext cx="3043133" cy="279987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72000" tIns="0" rIns="0" bIns="18000" rtlCol="0" anchor="ctr"/>
          <a:lstStyle/>
          <a:p>
            <a:pPr marL="171450" marR="0" lvl="0" indent="-17145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임직원 </a:t>
            </a:r>
            <a:r>
              <a:rPr kumimoji="1" lang="en-US" altLang="ko-KR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AI</a:t>
            </a:r>
            <a:r>
              <a:rPr kumimoji="1" lang="ko-KR" altLang="en-US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윤리 교육</a:t>
            </a:r>
            <a:endParaRPr kumimoji="1" lang="en" altLang="ko-KR" sz="900" b="0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3216A9D2-8770-9A5A-5347-E7C410976943}"/>
              </a:ext>
            </a:extLst>
          </p:cNvPr>
          <p:cNvSpPr/>
          <p:nvPr/>
        </p:nvSpPr>
        <p:spPr>
          <a:xfrm>
            <a:off x="5963957" y="2105179"/>
            <a:ext cx="1775161" cy="279987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10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정의</a:t>
            </a:r>
            <a:r>
              <a:rPr kumimoji="1" lang="en-US" altLang="ko-KR" sz="110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·</a:t>
            </a:r>
            <a:r>
              <a:rPr kumimoji="1" lang="ko-KR" altLang="en-US" sz="110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적용 범위</a:t>
            </a:r>
            <a:endParaRPr kumimoji="1" lang="en" altLang="ko-KR" sz="1100" b="1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DFA93756-5695-3904-99F9-079C25F7BB0A}"/>
              </a:ext>
            </a:extLst>
          </p:cNvPr>
          <p:cNvSpPr/>
          <p:nvPr/>
        </p:nvSpPr>
        <p:spPr>
          <a:xfrm>
            <a:off x="7850245" y="2105179"/>
            <a:ext cx="3043133" cy="279987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72000" tIns="0" rIns="0" bIns="18000" rtlCol="0" anchor="ctr"/>
          <a:lstStyle/>
          <a:p>
            <a:pPr marL="171450" marR="0" lvl="0" indent="-17145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기본 원칙</a:t>
            </a:r>
            <a:r>
              <a:rPr kumimoji="1" lang="en-US" altLang="ko-KR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, </a:t>
            </a:r>
            <a:r>
              <a:rPr kumimoji="1" lang="ko-KR" altLang="en-US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적용 목적</a:t>
            </a:r>
            <a:endParaRPr kumimoji="1" lang="en" altLang="ko-KR" sz="900" b="0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4D8F2B4B-FAF2-76A0-4248-F18EB674F621}"/>
              </a:ext>
            </a:extLst>
          </p:cNvPr>
          <p:cNvSpPr/>
          <p:nvPr/>
        </p:nvSpPr>
        <p:spPr>
          <a:xfrm>
            <a:off x="5963957" y="2445137"/>
            <a:ext cx="1775161" cy="279987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10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거버넌스 구조</a:t>
            </a:r>
            <a:endParaRPr kumimoji="1" lang="en" altLang="ko-KR" sz="1100" b="1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D6F57989-725D-5803-19C2-DBCA40C31451}"/>
              </a:ext>
            </a:extLst>
          </p:cNvPr>
          <p:cNvSpPr/>
          <p:nvPr/>
        </p:nvSpPr>
        <p:spPr>
          <a:xfrm>
            <a:off x="7850245" y="2445137"/>
            <a:ext cx="3043133" cy="279987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72000" tIns="0" rIns="0" bIns="18000" rtlCol="0" anchor="ctr"/>
          <a:lstStyle/>
          <a:p>
            <a:pPr marL="171450" marR="0" lvl="0" indent="-17145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역할</a:t>
            </a:r>
            <a:r>
              <a:rPr kumimoji="1" lang="en-US" altLang="ko-KR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·</a:t>
            </a:r>
            <a:r>
              <a:rPr kumimoji="1" lang="ko-KR" altLang="en-US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책임</a:t>
            </a:r>
            <a:r>
              <a:rPr kumimoji="1" lang="en-US" altLang="ko-KR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·</a:t>
            </a:r>
            <a:r>
              <a:rPr kumimoji="1" lang="ko-KR" altLang="en-US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협의체</a:t>
            </a:r>
            <a:r>
              <a:rPr kumimoji="1" lang="en-US" altLang="ko-KR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, </a:t>
            </a:r>
            <a:r>
              <a:rPr kumimoji="1" lang="ko-KR" altLang="en-US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업무 분장</a:t>
            </a:r>
            <a:endParaRPr kumimoji="1" lang="en" altLang="ko-KR" sz="900" b="0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B1512CC1-CF6B-2BA4-8ACF-E389DF38877F}"/>
              </a:ext>
            </a:extLst>
          </p:cNvPr>
          <p:cNvSpPr/>
          <p:nvPr/>
        </p:nvSpPr>
        <p:spPr>
          <a:xfrm>
            <a:off x="5963957" y="2785096"/>
            <a:ext cx="1775161" cy="279987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10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위</a:t>
            </a:r>
            <a:r>
              <a:rPr kumimoji="1" lang="en-US" altLang="ko-KR" sz="110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·</a:t>
            </a:r>
            <a:r>
              <a:rPr kumimoji="1" lang="ko-KR" altLang="en-US" sz="110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수탁 및 금융소비자 보호</a:t>
            </a:r>
            <a:endParaRPr kumimoji="1" lang="en" altLang="ko-KR" sz="1100" b="1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8257C580-4999-853F-FB84-249E319033D1}"/>
              </a:ext>
            </a:extLst>
          </p:cNvPr>
          <p:cNvSpPr/>
          <p:nvPr/>
        </p:nvSpPr>
        <p:spPr>
          <a:xfrm>
            <a:off x="7850245" y="2785096"/>
            <a:ext cx="3043133" cy="279987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72000" tIns="0" rIns="0" bIns="18000" rtlCol="0" anchor="ctr"/>
          <a:lstStyle/>
          <a:p>
            <a:pPr marL="171450" marR="0" lvl="0" indent="-17145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위탁 서비스 관리</a:t>
            </a:r>
            <a:r>
              <a:rPr kumimoji="1" lang="en-US" altLang="ko-KR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, </a:t>
            </a:r>
            <a:r>
              <a:rPr kumimoji="1" lang="ko-KR" altLang="en-US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금융소비자 보호 관리</a:t>
            </a:r>
            <a:r>
              <a:rPr kumimoji="1" lang="en-US" altLang="ko-KR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, </a:t>
            </a:r>
            <a:r>
              <a:rPr kumimoji="1" lang="ko-KR" altLang="en-US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임직원 교육</a:t>
            </a:r>
            <a:endParaRPr kumimoji="1" lang="en" altLang="ko-KR" sz="900" b="0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DA15AC78-5AA7-6840-715F-F3994CDAC760}"/>
              </a:ext>
            </a:extLst>
          </p:cNvPr>
          <p:cNvSpPr/>
          <p:nvPr/>
        </p:nvSpPr>
        <p:spPr>
          <a:xfrm>
            <a:off x="5963957" y="3465013"/>
            <a:ext cx="1775161" cy="279987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10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규제준수</a:t>
            </a:r>
            <a:r>
              <a:rPr kumimoji="1" lang="en-US" altLang="ko-KR" sz="110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·</a:t>
            </a:r>
            <a:r>
              <a:rPr kumimoji="1" lang="ko-KR" altLang="en-US" sz="110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윤리기준</a:t>
            </a:r>
            <a:endParaRPr kumimoji="1" lang="en" altLang="ko-KR" sz="1100" b="1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635EB1C9-38AB-5B67-3BD6-591C812079FE}"/>
              </a:ext>
            </a:extLst>
          </p:cNvPr>
          <p:cNvSpPr/>
          <p:nvPr/>
        </p:nvSpPr>
        <p:spPr>
          <a:xfrm>
            <a:off x="7850245" y="3465013"/>
            <a:ext cx="3043133" cy="279987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72000" tIns="0" rIns="0" bIns="18000" rtlCol="0" anchor="ctr"/>
          <a:lstStyle/>
          <a:p>
            <a:pPr marL="171450" marR="0" lvl="0" indent="-17145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법</a:t>
            </a:r>
            <a:r>
              <a:rPr kumimoji="1" lang="en-US" altLang="ko-KR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·</a:t>
            </a:r>
            <a:r>
              <a:rPr kumimoji="1" lang="ko-KR" altLang="en-US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규정 준수</a:t>
            </a:r>
            <a:r>
              <a:rPr kumimoji="1" lang="en-US" altLang="ko-KR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, </a:t>
            </a:r>
            <a:r>
              <a:rPr kumimoji="1" lang="ko-KR" altLang="en-US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윤리 원칙</a:t>
            </a:r>
            <a:r>
              <a:rPr kumimoji="1" lang="en-US" altLang="ko-KR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, </a:t>
            </a:r>
            <a:r>
              <a:rPr kumimoji="1" lang="ko-KR" altLang="en-US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내부정책</a:t>
            </a:r>
            <a:endParaRPr kumimoji="1" lang="en" altLang="ko-KR" sz="900" b="0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B553061C-48C8-CF5C-65ED-72175C9CD311}"/>
              </a:ext>
            </a:extLst>
          </p:cNvPr>
          <p:cNvSpPr/>
          <p:nvPr/>
        </p:nvSpPr>
        <p:spPr>
          <a:xfrm>
            <a:off x="5963957" y="4144931"/>
            <a:ext cx="1775161" cy="279987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10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안전성</a:t>
            </a:r>
            <a:r>
              <a:rPr kumimoji="1" lang="en-US" altLang="ko-KR" sz="110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·</a:t>
            </a:r>
            <a:r>
              <a:rPr kumimoji="1" lang="ko-KR" altLang="en-US" sz="110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보안</a:t>
            </a:r>
            <a:endParaRPr kumimoji="1" lang="en" altLang="ko-KR" sz="1100" b="1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D910915E-D7DF-3910-E234-FEA9B3E23B03}"/>
              </a:ext>
            </a:extLst>
          </p:cNvPr>
          <p:cNvSpPr/>
          <p:nvPr/>
        </p:nvSpPr>
        <p:spPr>
          <a:xfrm>
            <a:off x="7850245" y="4144931"/>
            <a:ext cx="3043133" cy="279987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72000" tIns="0" rIns="0" bIns="18000" rtlCol="0" anchor="ctr"/>
          <a:lstStyle/>
          <a:p>
            <a:pPr marL="171450" marR="0" lvl="0" indent="-17145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안전성 확보</a:t>
            </a:r>
            <a:r>
              <a:rPr kumimoji="1" lang="en-US" altLang="ko-KR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, </a:t>
            </a:r>
            <a:r>
              <a:rPr kumimoji="1" lang="ko-KR" altLang="en-US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보안 요건</a:t>
            </a:r>
            <a:endParaRPr kumimoji="1" lang="en" altLang="ko-KR" sz="900" b="0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80E104A7-BE4E-ADEA-6C18-EEBB7FA82821}"/>
              </a:ext>
            </a:extLst>
          </p:cNvPr>
          <p:cNvSpPr/>
          <p:nvPr/>
        </p:nvSpPr>
        <p:spPr>
          <a:xfrm>
            <a:off x="5963957" y="4484889"/>
            <a:ext cx="1775161" cy="279987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10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투명성</a:t>
            </a:r>
            <a:r>
              <a:rPr kumimoji="1" lang="en-US" altLang="ko-KR" sz="110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·</a:t>
            </a:r>
            <a:r>
              <a:rPr kumimoji="1" lang="ko-KR" altLang="en-US" sz="110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설명가능성</a:t>
            </a:r>
            <a:endParaRPr kumimoji="1" lang="en" altLang="ko-KR" sz="1100" b="1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69A6892A-EDC9-5116-F002-256AA88405C5}"/>
              </a:ext>
            </a:extLst>
          </p:cNvPr>
          <p:cNvSpPr/>
          <p:nvPr/>
        </p:nvSpPr>
        <p:spPr>
          <a:xfrm>
            <a:off x="7850245" y="4484889"/>
            <a:ext cx="3043133" cy="279987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72000" tIns="0" rIns="0" bIns="18000" rtlCol="0" anchor="ctr"/>
          <a:lstStyle/>
          <a:p>
            <a:pPr marL="171450" marR="0" lvl="0" indent="-17145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결과 설명</a:t>
            </a:r>
            <a:r>
              <a:rPr kumimoji="1" lang="en-US" altLang="ko-KR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·</a:t>
            </a:r>
            <a:r>
              <a:rPr kumimoji="1" lang="ko-KR" altLang="en-US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알림</a:t>
            </a:r>
            <a:r>
              <a:rPr kumimoji="1" lang="en-US" altLang="ko-KR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, </a:t>
            </a:r>
            <a:r>
              <a:rPr kumimoji="1" lang="ko-KR" altLang="en-US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기록</a:t>
            </a:r>
            <a:r>
              <a:rPr kumimoji="1" lang="en-US" altLang="ko-KR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·</a:t>
            </a:r>
            <a:r>
              <a:rPr kumimoji="1" lang="ko-KR" altLang="en-US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로깅</a:t>
            </a:r>
            <a:endParaRPr kumimoji="1" lang="en" altLang="ko-KR" sz="900" b="0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C042DB7E-AD41-D7CA-F2EC-9078D4555AF1}"/>
              </a:ext>
            </a:extLst>
          </p:cNvPr>
          <p:cNvSpPr/>
          <p:nvPr/>
        </p:nvSpPr>
        <p:spPr>
          <a:xfrm>
            <a:off x="5963957" y="4824848"/>
            <a:ext cx="1775161" cy="279987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10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공정성</a:t>
            </a:r>
            <a:endParaRPr kumimoji="1" lang="en" altLang="ko-KR" sz="1100" b="1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3E69284C-C476-9AE9-7FB1-131C55E502A4}"/>
              </a:ext>
            </a:extLst>
          </p:cNvPr>
          <p:cNvSpPr/>
          <p:nvPr/>
        </p:nvSpPr>
        <p:spPr>
          <a:xfrm>
            <a:off x="7850245" y="4824848"/>
            <a:ext cx="3043133" cy="279987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72000" tIns="0" rIns="0" bIns="18000" rtlCol="0" anchor="ctr"/>
          <a:lstStyle/>
          <a:p>
            <a:pPr marL="171450" marR="0" lvl="0" indent="-17145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개발</a:t>
            </a:r>
            <a:r>
              <a:rPr kumimoji="1" lang="en-US" altLang="ko-KR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·</a:t>
            </a:r>
            <a:r>
              <a:rPr kumimoji="1" lang="ko-KR" altLang="en-US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평가</a:t>
            </a:r>
            <a:r>
              <a:rPr kumimoji="1" lang="en-US" altLang="ko-KR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·</a:t>
            </a:r>
            <a:r>
              <a:rPr kumimoji="1" lang="ko-KR" altLang="en-US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검증 공정성</a:t>
            </a:r>
            <a:r>
              <a:rPr kumimoji="1" lang="en-US" altLang="ko-KR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, </a:t>
            </a:r>
            <a:r>
              <a:rPr kumimoji="1" lang="ko-KR" altLang="en-US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편향 방지</a:t>
            </a:r>
            <a:r>
              <a:rPr kumimoji="1" lang="en-US" altLang="ko-KR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 </a:t>
            </a:r>
            <a:r>
              <a:rPr kumimoji="1" lang="ko-KR" altLang="en-US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검토</a:t>
            </a:r>
            <a:endParaRPr kumimoji="1" lang="en" altLang="ko-KR" sz="900" b="0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779F97D4-F932-9E44-626E-D4A0F4BB3B54}"/>
              </a:ext>
            </a:extLst>
          </p:cNvPr>
          <p:cNvSpPr/>
          <p:nvPr/>
        </p:nvSpPr>
        <p:spPr>
          <a:xfrm>
            <a:off x="5963957" y="5164807"/>
            <a:ext cx="1775161" cy="279987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defTabSz="45720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10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기획</a:t>
            </a:r>
            <a:r>
              <a:rPr kumimoji="1" lang="en-US" altLang="ko-KR" sz="110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·</a:t>
            </a:r>
            <a:r>
              <a:rPr kumimoji="1" lang="ko-KR" altLang="en-US" sz="110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개발</a:t>
            </a:r>
            <a:r>
              <a:rPr kumimoji="1" lang="en-US" altLang="ko-KR" sz="1100" b="1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·</a:t>
            </a:r>
            <a:r>
              <a:rPr kumimoji="1" lang="ko-KR" altLang="en-US" sz="1100" b="1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평가</a:t>
            </a:r>
            <a:r>
              <a:rPr kumimoji="1" lang="en-US" altLang="ko-KR" sz="1100" b="1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·</a:t>
            </a:r>
            <a:r>
              <a:rPr kumimoji="1" lang="ko-KR" altLang="en-US" sz="1100" b="1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점검</a:t>
            </a:r>
            <a:endParaRPr kumimoji="1" lang="en" altLang="ko-KR" sz="1100" b="1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E30CCECF-8489-BA75-4363-184F8A00F117}"/>
              </a:ext>
            </a:extLst>
          </p:cNvPr>
          <p:cNvSpPr/>
          <p:nvPr/>
        </p:nvSpPr>
        <p:spPr>
          <a:xfrm>
            <a:off x="7850245" y="5164807"/>
            <a:ext cx="3043133" cy="279987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72000" tIns="0" rIns="0" bIns="18000" rtlCol="0" anchor="ctr"/>
          <a:lstStyle/>
          <a:p>
            <a:pPr marL="171450" lvl="0" indent="-171450" defTabSz="457200" fontAlgn="base" latinLnBrk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ko-KR" altLang="en-US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기획</a:t>
            </a:r>
            <a:r>
              <a:rPr kumimoji="1" lang="en-US" altLang="ko-KR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·</a:t>
            </a:r>
            <a:r>
              <a:rPr kumimoji="1" lang="ko-KR" altLang="en-US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설계</a:t>
            </a:r>
            <a:r>
              <a:rPr kumimoji="1" lang="en-US" altLang="ko-KR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, </a:t>
            </a:r>
            <a:r>
              <a:rPr kumimoji="1" lang="ko-KR" altLang="en-US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개발</a:t>
            </a:r>
            <a:r>
              <a:rPr kumimoji="1" lang="en-US" altLang="ko-KR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·</a:t>
            </a:r>
            <a:r>
              <a:rPr kumimoji="1" lang="ko-KR" altLang="en-US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테스트</a:t>
            </a:r>
            <a:r>
              <a:rPr kumimoji="1" lang="en-US" altLang="ko-KR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, </a:t>
            </a:r>
            <a:r>
              <a:rPr kumimoji="1" lang="ko-KR" altLang="en-US" sz="9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성능 평가</a:t>
            </a:r>
            <a:r>
              <a:rPr kumimoji="1" lang="en-US" altLang="ko-KR" sz="9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, </a:t>
            </a:r>
            <a:r>
              <a:rPr kumimoji="1" lang="ko-KR" altLang="en-US" sz="9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점검 절차</a:t>
            </a:r>
            <a:r>
              <a:rPr kumimoji="1" lang="en-US" altLang="ko-KR" sz="9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 </a:t>
            </a:r>
            <a:endParaRPr kumimoji="1" lang="en" altLang="ko-KR" sz="900" b="0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421B6409-0AEC-DA18-681D-69354FCCD620}"/>
              </a:ext>
            </a:extLst>
          </p:cNvPr>
          <p:cNvSpPr/>
          <p:nvPr/>
        </p:nvSpPr>
        <p:spPr>
          <a:xfrm>
            <a:off x="5963957" y="5504765"/>
            <a:ext cx="1775161" cy="279987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defTabSz="45720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100" b="1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운영</a:t>
            </a:r>
            <a:r>
              <a:rPr kumimoji="1" lang="en-US" altLang="ko-KR" sz="1100" b="1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·</a:t>
            </a:r>
            <a:r>
              <a:rPr kumimoji="1" lang="ko-KR" altLang="en-US" sz="110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모니터링</a:t>
            </a:r>
            <a:endParaRPr kumimoji="1" lang="en" altLang="ko-KR" sz="1100" b="1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A0512D11-7746-32F9-48CE-287055FC352D}"/>
              </a:ext>
            </a:extLst>
          </p:cNvPr>
          <p:cNvSpPr/>
          <p:nvPr/>
        </p:nvSpPr>
        <p:spPr>
          <a:xfrm>
            <a:off x="7850245" y="5504765"/>
            <a:ext cx="3043133" cy="279987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72000" tIns="0" rIns="0" bIns="18000" rtlCol="0" anchor="ctr"/>
          <a:lstStyle/>
          <a:p>
            <a:pPr marL="171450" indent="-171450" defTabSz="457200" fontAlgn="base" latinLnBrk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ko-KR" altLang="en-US" sz="9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운영</a:t>
            </a:r>
            <a:r>
              <a:rPr kumimoji="1" lang="en" altLang="ko-KR" sz="9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, </a:t>
            </a:r>
            <a:r>
              <a:rPr kumimoji="1" lang="ko-KR" altLang="en-US" sz="9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모니터링</a:t>
            </a:r>
            <a:endParaRPr kumimoji="1" lang="en" altLang="ko-KR" sz="900" b="0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51AE9EE4-9E2B-A623-36D6-A740975B7381}"/>
              </a:ext>
            </a:extLst>
          </p:cNvPr>
          <p:cNvSpPr/>
          <p:nvPr/>
        </p:nvSpPr>
        <p:spPr>
          <a:xfrm>
            <a:off x="5963957" y="5904695"/>
            <a:ext cx="1775161" cy="279987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defTabSz="45720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10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고영향 인공지능</a:t>
            </a:r>
            <a:endParaRPr kumimoji="1" lang="en" altLang="ko-KR" sz="1100" b="1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D1AC53E1-A10B-621D-9680-ACE01557CCF5}"/>
              </a:ext>
            </a:extLst>
          </p:cNvPr>
          <p:cNvSpPr/>
          <p:nvPr/>
        </p:nvSpPr>
        <p:spPr>
          <a:xfrm>
            <a:off x="7850245" y="5904695"/>
            <a:ext cx="3043133" cy="279987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72000" tIns="0" rIns="0" bIns="18000" rtlCol="0" anchor="ctr"/>
          <a:lstStyle/>
          <a:p>
            <a:pPr marL="171450" indent="-171450" defTabSz="457200" fontAlgn="base" latinLnBrk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ko-KR" altLang="en-US" sz="9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고영향 인공지능 정의</a:t>
            </a:r>
            <a:r>
              <a:rPr kumimoji="1" lang="en-US" altLang="ko-KR" sz="9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, </a:t>
            </a:r>
            <a:r>
              <a:rPr kumimoji="1" lang="ko-KR" altLang="en-US" sz="9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목적</a:t>
            </a:r>
            <a:r>
              <a:rPr kumimoji="1" lang="en-US" altLang="ko-KR" sz="9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, </a:t>
            </a:r>
            <a:r>
              <a:rPr kumimoji="1" lang="ko-KR" altLang="en-US" sz="9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평가 방안 등</a:t>
            </a:r>
            <a:endParaRPr kumimoji="1" lang="en" altLang="ko-KR" sz="900" b="0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3AAB5ED8-1419-19D8-F821-A6B2540F5EF9}"/>
              </a:ext>
            </a:extLst>
          </p:cNvPr>
          <p:cNvSpPr/>
          <p:nvPr/>
        </p:nvSpPr>
        <p:spPr>
          <a:xfrm>
            <a:off x="5963957" y="6244649"/>
            <a:ext cx="1775161" cy="279987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defTabSz="45720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100" b="1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인공지능 안전성</a:t>
            </a:r>
            <a:endParaRPr kumimoji="1" lang="en" altLang="ko-KR" sz="1100" b="1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2B4B2B49-BB93-5483-8062-10DC623920F0}"/>
              </a:ext>
            </a:extLst>
          </p:cNvPr>
          <p:cNvSpPr/>
          <p:nvPr/>
        </p:nvSpPr>
        <p:spPr>
          <a:xfrm>
            <a:off x="7850245" y="6244649"/>
            <a:ext cx="3043133" cy="279987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72000" tIns="0" rIns="0" bIns="18000" rtlCol="0" anchor="ctr"/>
          <a:lstStyle/>
          <a:p>
            <a:pPr marL="171450" indent="-171450" defTabSz="457200" fontAlgn="base" latinLnBrk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ko-KR" altLang="en-US" sz="9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인공지능 안전성 정의</a:t>
            </a:r>
            <a:r>
              <a:rPr kumimoji="1" lang="en-US" altLang="ko-KR" sz="9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, </a:t>
            </a:r>
            <a:r>
              <a:rPr kumimoji="1" lang="ko-KR" altLang="en-US" sz="9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목적</a:t>
            </a:r>
            <a:r>
              <a:rPr kumimoji="1" lang="en-US" altLang="ko-KR" sz="9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, </a:t>
            </a:r>
            <a:r>
              <a:rPr kumimoji="1" lang="ko-KR" altLang="en-US" sz="9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평가 방안 등</a:t>
            </a:r>
            <a:endParaRPr kumimoji="1" lang="en" altLang="ko-KR" sz="900" b="0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43" name="사각형: 둥근 모서리 20">
            <a:extLst>
              <a:ext uri="{FF2B5EF4-FFF2-40B4-BE49-F238E27FC236}">
                <a16:creationId xmlns:a16="http://schemas.microsoft.com/office/drawing/2014/main" id="{13350D65-FC6C-515B-138E-500CE5B89AB6}"/>
              </a:ext>
            </a:extLst>
          </p:cNvPr>
          <p:cNvSpPr/>
          <p:nvPr/>
        </p:nvSpPr>
        <p:spPr>
          <a:xfrm>
            <a:off x="324596" y="1720223"/>
            <a:ext cx="251845" cy="3493469"/>
          </a:xfrm>
          <a:prstGeom prst="roundRect">
            <a:avLst>
              <a:gd name="adj" fmla="val 0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확정 </a:t>
            </a:r>
            <a:r>
              <a:rPr lang="en-US" altLang="ko-KR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4</a:t>
            </a:r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종</a:t>
            </a:r>
            <a:endParaRPr lang="en" altLang="ko-KR" sz="1200" b="1">
              <a:ln>
                <a:solidFill>
                  <a:schemeClr val="bg1"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44" name="사각형: 둥근 모서리 20">
            <a:extLst>
              <a:ext uri="{FF2B5EF4-FFF2-40B4-BE49-F238E27FC236}">
                <a16:creationId xmlns:a16="http://schemas.microsoft.com/office/drawing/2014/main" id="{65795154-23FD-4B9B-6874-A6367E810135}"/>
              </a:ext>
            </a:extLst>
          </p:cNvPr>
          <p:cNvSpPr/>
          <p:nvPr/>
        </p:nvSpPr>
        <p:spPr>
          <a:xfrm>
            <a:off x="324596" y="1355107"/>
            <a:ext cx="5380600" cy="324983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외부 현황 분석 대상</a:t>
            </a:r>
            <a:endParaRPr lang="en" altLang="ko-KR" sz="1200" b="1">
              <a:ln>
                <a:solidFill>
                  <a:schemeClr val="bg1"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51" name="사각형: 둥근 모서리 20">
            <a:extLst>
              <a:ext uri="{FF2B5EF4-FFF2-40B4-BE49-F238E27FC236}">
                <a16:creationId xmlns:a16="http://schemas.microsoft.com/office/drawing/2014/main" id="{6DDBFCC1-4D7F-990F-DB4A-6F5380F725DF}"/>
              </a:ext>
            </a:extLst>
          </p:cNvPr>
          <p:cNvSpPr/>
          <p:nvPr/>
        </p:nvSpPr>
        <p:spPr>
          <a:xfrm>
            <a:off x="324596" y="5264472"/>
            <a:ext cx="1096585" cy="336062"/>
          </a:xfrm>
          <a:prstGeom prst="roundRect">
            <a:avLst>
              <a:gd name="adj" fmla="val 0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기타 </a:t>
            </a:r>
            <a:r>
              <a:rPr lang="en-US" altLang="ko-KR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2</a:t>
            </a:r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종</a:t>
            </a:r>
            <a:endParaRPr lang="en" altLang="ko-KR" sz="1200" b="1">
              <a:ln>
                <a:solidFill>
                  <a:schemeClr val="bg1"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52" name="사각형: 둥근 모서리 20">
            <a:extLst>
              <a:ext uri="{FF2B5EF4-FFF2-40B4-BE49-F238E27FC236}">
                <a16:creationId xmlns:a16="http://schemas.microsoft.com/office/drawing/2014/main" id="{D8A01244-410A-2AA4-123E-442ED71C9507}"/>
              </a:ext>
            </a:extLst>
          </p:cNvPr>
          <p:cNvSpPr/>
          <p:nvPr/>
        </p:nvSpPr>
        <p:spPr>
          <a:xfrm>
            <a:off x="1468909" y="5264472"/>
            <a:ext cx="2064983" cy="336063"/>
          </a:xfrm>
          <a:prstGeom prst="roundRect">
            <a:avLst>
              <a:gd name="adj" fmla="val 0"/>
            </a:avLst>
          </a:prstGeom>
          <a:solidFill>
            <a:srgbClr val="7F7F7F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신용정보법</a:t>
            </a:r>
          </a:p>
        </p:txBody>
      </p:sp>
      <p:sp>
        <p:nvSpPr>
          <p:cNvPr id="53" name="사각형: 둥근 모서리 20">
            <a:extLst>
              <a:ext uri="{FF2B5EF4-FFF2-40B4-BE49-F238E27FC236}">
                <a16:creationId xmlns:a16="http://schemas.microsoft.com/office/drawing/2014/main" id="{2FE49999-4451-5ACE-9194-348993C00843}"/>
              </a:ext>
            </a:extLst>
          </p:cNvPr>
          <p:cNvSpPr/>
          <p:nvPr/>
        </p:nvSpPr>
        <p:spPr>
          <a:xfrm>
            <a:off x="3640212" y="5264472"/>
            <a:ext cx="2064983" cy="336063"/>
          </a:xfrm>
          <a:prstGeom prst="roundRect">
            <a:avLst>
              <a:gd name="adj" fmla="val 0"/>
            </a:avLst>
          </a:prstGeom>
          <a:solidFill>
            <a:srgbClr val="7F7F7F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개인정보 보호법</a:t>
            </a:r>
          </a:p>
        </p:txBody>
      </p: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F5DBBE13-ABEC-0EFA-11CF-65014F4ACAD7}"/>
              </a:ext>
            </a:extLst>
          </p:cNvPr>
          <p:cNvCxnSpPr/>
          <p:nvPr/>
        </p:nvCxnSpPr>
        <p:spPr>
          <a:xfrm>
            <a:off x="324596" y="5656356"/>
            <a:ext cx="5380600" cy="0"/>
          </a:xfrm>
          <a:prstGeom prst="line">
            <a:avLst/>
          </a:prstGeom>
          <a:ln w="38100">
            <a:solidFill>
              <a:srgbClr val="C55A1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99176117-DA6F-C803-A09A-374A47EB634E}"/>
              </a:ext>
            </a:extLst>
          </p:cNvPr>
          <p:cNvCxnSpPr>
            <a:cxnSpLocks/>
          </p:cNvCxnSpPr>
          <p:nvPr/>
        </p:nvCxnSpPr>
        <p:spPr>
          <a:xfrm>
            <a:off x="5963957" y="5844724"/>
            <a:ext cx="4929422" cy="0"/>
          </a:xfrm>
          <a:prstGeom prst="line">
            <a:avLst/>
          </a:prstGeom>
          <a:ln w="38100">
            <a:solidFill>
              <a:srgbClr val="C55A1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920605F4-DDC1-4E62-F69F-86A1BDF7AD31}"/>
              </a:ext>
            </a:extLst>
          </p:cNvPr>
          <p:cNvCxnSpPr>
            <a:cxnSpLocks/>
          </p:cNvCxnSpPr>
          <p:nvPr/>
        </p:nvCxnSpPr>
        <p:spPr>
          <a:xfrm>
            <a:off x="5720115" y="5656356"/>
            <a:ext cx="217367" cy="153355"/>
          </a:xfrm>
          <a:prstGeom prst="line">
            <a:avLst/>
          </a:prstGeom>
          <a:ln w="38100">
            <a:solidFill>
              <a:srgbClr val="C55A1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2C4039A0-3CC4-C5B4-95AE-A1FC47072660}"/>
              </a:ext>
            </a:extLst>
          </p:cNvPr>
          <p:cNvSpPr txBox="1"/>
          <p:nvPr/>
        </p:nvSpPr>
        <p:spPr>
          <a:xfrm>
            <a:off x="11166022" y="3837243"/>
            <a:ext cx="642473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1400" b="1" i="1">
                <a:latin typeface="+mn-ea"/>
              </a:rPr>
              <a:t>旣 완료</a:t>
            </a:r>
          </a:p>
        </p:txBody>
      </p:sp>
      <p:sp>
        <p:nvSpPr>
          <p:cNvPr id="58" name="이등변 삼각형 57">
            <a:extLst>
              <a:ext uri="{FF2B5EF4-FFF2-40B4-BE49-F238E27FC236}">
                <a16:creationId xmlns:a16="http://schemas.microsoft.com/office/drawing/2014/main" id="{B5385D34-A53B-56E5-DEE7-0EAB1B53C045}"/>
              </a:ext>
            </a:extLst>
          </p:cNvPr>
          <p:cNvSpPr/>
          <p:nvPr/>
        </p:nvSpPr>
        <p:spPr>
          <a:xfrm rot="5400000">
            <a:off x="5766014" y="3719179"/>
            <a:ext cx="166998" cy="108683"/>
          </a:xfrm>
          <a:prstGeom prst="triangle">
            <a:avLst/>
          </a:prstGeom>
          <a:solidFill>
            <a:schemeClr val="bg1">
              <a:lumMod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59" name="이등변 삼각형 58">
            <a:extLst>
              <a:ext uri="{FF2B5EF4-FFF2-40B4-BE49-F238E27FC236}">
                <a16:creationId xmlns:a16="http://schemas.microsoft.com/office/drawing/2014/main" id="{F61F0BE3-7DA7-F2B5-900C-275188D8968C}"/>
              </a:ext>
            </a:extLst>
          </p:cNvPr>
          <p:cNvSpPr/>
          <p:nvPr/>
        </p:nvSpPr>
        <p:spPr>
          <a:xfrm rot="5400000">
            <a:off x="5766014" y="6103853"/>
            <a:ext cx="166998" cy="108683"/>
          </a:xfrm>
          <a:prstGeom prst="triangle">
            <a:avLst/>
          </a:prstGeom>
          <a:solidFill>
            <a:schemeClr val="bg1">
              <a:lumMod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60" name="오른쪽 중괄호 59">
            <a:extLst>
              <a:ext uri="{FF2B5EF4-FFF2-40B4-BE49-F238E27FC236}">
                <a16:creationId xmlns:a16="http://schemas.microsoft.com/office/drawing/2014/main" id="{453219A2-2BDE-24C9-40E3-1DB22510791E}"/>
              </a:ext>
            </a:extLst>
          </p:cNvPr>
          <p:cNvSpPr/>
          <p:nvPr/>
        </p:nvSpPr>
        <p:spPr>
          <a:xfrm>
            <a:off x="10893379" y="2105179"/>
            <a:ext cx="253594" cy="3679574"/>
          </a:xfrm>
          <a:prstGeom prst="rightBrace">
            <a:avLst/>
          </a:prstGeom>
          <a:ln>
            <a:solidFill>
              <a:srgbClr val="C55A1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61" name="오른쪽 중괄호 60">
            <a:extLst>
              <a:ext uri="{FF2B5EF4-FFF2-40B4-BE49-F238E27FC236}">
                <a16:creationId xmlns:a16="http://schemas.microsoft.com/office/drawing/2014/main" id="{A2BD24DE-3789-4CB9-AF4C-412710286B3D}"/>
              </a:ext>
            </a:extLst>
          </p:cNvPr>
          <p:cNvSpPr/>
          <p:nvPr/>
        </p:nvSpPr>
        <p:spPr>
          <a:xfrm>
            <a:off x="10893379" y="5904696"/>
            <a:ext cx="253594" cy="619941"/>
          </a:xfrm>
          <a:prstGeom prst="rightBrace">
            <a:avLst/>
          </a:prstGeom>
          <a:ln>
            <a:solidFill>
              <a:srgbClr val="C55A1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428D761-286B-6E7E-20E2-61D223A75FE5}"/>
              </a:ext>
            </a:extLst>
          </p:cNvPr>
          <p:cNvSpPr txBox="1"/>
          <p:nvPr/>
        </p:nvSpPr>
        <p:spPr>
          <a:xfrm>
            <a:off x="11166022" y="5999222"/>
            <a:ext cx="642473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1400" b="1" i="1">
                <a:latin typeface="+mn-ea"/>
              </a:rPr>
              <a:t>본 </a:t>
            </a:r>
            <a:r>
              <a:rPr lang="ko-KR" altLang="en-US" sz="1400" b="1" i="1" err="1">
                <a:latin typeface="+mn-ea"/>
              </a:rPr>
              <a:t>플젝</a:t>
            </a:r>
            <a:endParaRPr lang="en-US" altLang="ko-KR" sz="1400" b="1" i="1">
              <a:latin typeface="+mn-ea"/>
            </a:endParaRPr>
          </a:p>
          <a:p>
            <a:r>
              <a:rPr lang="ko-KR" altLang="en-US" sz="1400" b="1" i="1">
                <a:latin typeface="+mn-ea"/>
              </a:rPr>
              <a:t>작성 中</a:t>
            </a:r>
          </a:p>
        </p:txBody>
      </p:sp>
      <p:sp>
        <p:nvSpPr>
          <p:cNvPr id="45" name="사각형: 둥근 모서리 20">
            <a:extLst>
              <a:ext uri="{FF2B5EF4-FFF2-40B4-BE49-F238E27FC236}">
                <a16:creationId xmlns:a16="http://schemas.microsoft.com/office/drawing/2014/main" id="{48B4DE07-71A8-BD29-500E-285CB192CACC}"/>
              </a:ext>
            </a:extLst>
          </p:cNvPr>
          <p:cNvSpPr/>
          <p:nvPr/>
        </p:nvSpPr>
        <p:spPr>
          <a:xfrm>
            <a:off x="1468910" y="5712178"/>
            <a:ext cx="473069" cy="812458"/>
          </a:xfrm>
          <a:prstGeom prst="roundRect">
            <a:avLst>
              <a:gd name="adj" fmla="val 0"/>
            </a:avLst>
          </a:prstGeom>
          <a:solidFill>
            <a:srgbClr val="7F7F7F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인공지능 기본법</a:t>
            </a:r>
            <a:br>
              <a:rPr lang="ko-KR" altLang="en-US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</a:br>
            <a:r>
              <a:rPr lang="ko-KR" altLang="en-US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 시행령</a:t>
            </a:r>
          </a:p>
        </p:txBody>
      </p:sp>
      <p:sp>
        <p:nvSpPr>
          <p:cNvPr id="46" name="사각형: 둥근 모서리 20">
            <a:extLst>
              <a:ext uri="{FF2B5EF4-FFF2-40B4-BE49-F238E27FC236}">
                <a16:creationId xmlns:a16="http://schemas.microsoft.com/office/drawing/2014/main" id="{96359652-A79E-8216-56BC-F8F68E6885A2}"/>
              </a:ext>
            </a:extLst>
          </p:cNvPr>
          <p:cNvSpPr/>
          <p:nvPr/>
        </p:nvSpPr>
        <p:spPr>
          <a:xfrm>
            <a:off x="3076317" y="5712178"/>
            <a:ext cx="473069" cy="812458"/>
          </a:xfrm>
          <a:prstGeom prst="roundRect">
            <a:avLst>
              <a:gd name="adj" fmla="val 0"/>
            </a:avLst>
          </a:prstGeom>
          <a:solidFill>
            <a:srgbClr val="7F7F7F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사업자 책무 고시</a:t>
            </a:r>
            <a:r>
              <a:rPr lang="en-US" altLang="ko-KR" sz="1000" b="1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(</a:t>
            </a:r>
            <a:r>
              <a:rPr lang="ko-KR" altLang="en-US" sz="1000" b="1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안</a:t>
            </a:r>
            <a:r>
              <a:rPr lang="en-US" altLang="ko-KR" sz="1000" b="1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)</a:t>
            </a:r>
          </a:p>
        </p:txBody>
      </p:sp>
      <p:sp>
        <p:nvSpPr>
          <p:cNvPr id="47" name="사각형: 둥근 모서리 20">
            <a:extLst>
              <a:ext uri="{FF2B5EF4-FFF2-40B4-BE49-F238E27FC236}">
                <a16:creationId xmlns:a16="http://schemas.microsoft.com/office/drawing/2014/main" id="{687FE6EA-EBA7-42B8-7FCE-0F08FB6A5A47}"/>
              </a:ext>
            </a:extLst>
          </p:cNvPr>
          <p:cNvSpPr/>
          <p:nvPr/>
        </p:nvSpPr>
        <p:spPr>
          <a:xfrm>
            <a:off x="4147922" y="5712178"/>
            <a:ext cx="473069" cy="812458"/>
          </a:xfrm>
          <a:prstGeom prst="roundRect">
            <a:avLst>
              <a:gd name="adj" fmla="val 0"/>
            </a:avLst>
          </a:prstGeom>
          <a:solidFill>
            <a:srgbClr val="7F7F7F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spc="-15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고영향</a:t>
            </a:r>
            <a:r>
              <a:rPr lang="ko-KR" altLang="en-US" sz="1000" b="1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ko-KR" sz="1000" b="1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AI</a:t>
            </a:r>
            <a:r>
              <a:rPr lang="ko-KR" altLang="en-US" sz="1000" b="1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사업자 책무 가이드 라인 </a:t>
            </a:r>
            <a:r>
              <a:rPr lang="en-US" altLang="ko-KR" sz="1000" b="1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(</a:t>
            </a:r>
            <a:r>
              <a:rPr lang="ko-KR" altLang="en-US" sz="1000" b="1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안</a:t>
            </a:r>
            <a:r>
              <a:rPr lang="en-US" altLang="ko-KR" sz="1000" b="1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)</a:t>
            </a:r>
          </a:p>
        </p:txBody>
      </p:sp>
      <p:sp>
        <p:nvSpPr>
          <p:cNvPr id="48" name="사각형: 둥근 모서리 20">
            <a:extLst>
              <a:ext uri="{FF2B5EF4-FFF2-40B4-BE49-F238E27FC236}">
                <a16:creationId xmlns:a16="http://schemas.microsoft.com/office/drawing/2014/main" id="{D5A50AD4-B94E-5698-3B12-E076E1488B3A}"/>
              </a:ext>
            </a:extLst>
          </p:cNvPr>
          <p:cNvSpPr/>
          <p:nvPr/>
        </p:nvSpPr>
        <p:spPr>
          <a:xfrm>
            <a:off x="4683723" y="5712178"/>
            <a:ext cx="473069" cy="812458"/>
          </a:xfrm>
          <a:prstGeom prst="roundRect">
            <a:avLst>
              <a:gd name="adj" fmla="val 0"/>
            </a:avLst>
          </a:prstGeom>
          <a:solidFill>
            <a:srgbClr val="7F7F7F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AI</a:t>
            </a:r>
            <a:r>
              <a:rPr lang="ko-KR" altLang="en-US" sz="1000" b="1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안전성 확보 가이드 라인 </a:t>
            </a:r>
            <a:r>
              <a:rPr lang="en-US" altLang="ko-KR" sz="1000" b="1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(</a:t>
            </a:r>
            <a:r>
              <a:rPr lang="ko-KR" altLang="en-US" sz="1000" b="1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안</a:t>
            </a:r>
            <a:r>
              <a:rPr lang="en-US" altLang="ko-KR" sz="1000" b="1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)</a:t>
            </a:r>
            <a:endParaRPr lang="ko-KR" altLang="en-US" sz="1000" b="1" spc="-1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</a:endParaRPr>
          </a:p>
        </p:txBody>
      </p:sp>
      <p:sp>
        <p:nvSpPr>
          <p:cNvPr id="49" name="사각형: 둥근 모서리 20">
            <a:extLst>
              <a:ext uri="{FF2B5EF4-FFF2-40B4-BE49-F238E27FC236}">
                <a16:creationId xmlns:a16="http://schemas.microsoft.com/office/drawing/2014/main" id="{4AC530BC-CADE-92FD-33BC-514E4891BE55}"/>
              </a:ext>
            </a:extLst>
          </p:cNvPr>
          <p:cNvSpPr/>
          <p:nvPr/>
        </p:nvSpPr>
        <p:spPr>
          <a:xfrm>
            <a:off x="2540514" y="5712178"/>
            <a:ext cx="473069" cy="812458"/>
          </a:xfrm>
          <a:prstGeom prst="roundRect">
            <a:avLst>
              <a:gd name="adj" fmla="val 0"/>
            </a:avLst>
          </a:prstGeom>
          <a:solidFill>
            <a:srgbClr val="7F7F7F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spc="-15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고영향</a:t>
            </a:r>
            <a:r>
              <a:rPr lang="ko-KR" altLang="en-US" sz="1000" b="1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ko-KR" sz="1000" b="1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AI</a:t>
            </a:r>
            <a:r>
              <a:rPr lang="ko-KR" altLang="en-US" sz="1000" b="1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판단 가이드 라인 </a:t>
            </a:r>
            <a:r>
              <a:rPr lang="en-US" altLang="ko-KR" sz="1000" b="1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(</a:t>
            </a:r>
            <a:r>
              <a:rPr lang="ko-KR" altLang="en-US" sz="1000" b="1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안</a:t>
            </a:r>
            <a:r>
              <a:rPr lang="en-US" altLang="ko-KR" sz="1000" b="1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)</a:t>
            </a:r>
            <a:endParaRPr lang="ko-KR" altLang="en-US" sz="1000" b="1" spc="-1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</a:endParaRPr>
          </a:p>
        </p:txBody>
      </p:sp>
      <p:sp>
        <p:nvSpPr>
          <p:cNvPr id="50" name="사각형: 둥근 모서리 20">
            <a:extLst>
              <a:ext uri="{FF2B5EF4-FFF2-40B4-BE49-F238E27FC236}">
                <a16:creationId xmlns:a16="http://schemas.microsoft.com/office/drawing/2014/main" id="{DFA03BF7-69D1-B6CF-F701-8A51766C6F78}"/>
              </a:ext>
            </a:extLst>
          </p:cNvPr>
          <p:cNvSpPr/>
          <p:nvPr/>
        </p:nvSpPr>
        <p:spPr>
          <a:xfrm>
            <a:off x="3612120" y="5712178"/>
            <a:ext cx="473069" cy="812458"/>
          </a:xfrm>
          <a:prstGeom prst="roundRect">
            <a:avLst>
              <a:gd name="adj" fmla="val 0"/>
            </a:avLst>
          </a:prstGeom>
          <a:solidFill>
            <a:srgbClr val="7F7F7F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AI</a:t>
            </a:r>
            <a:r>
              <a:rPr lang="ko-KR" altLang="en-US" sz="1000" b="1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영향평가 가이드 라인 </a:t>
            </a:r>
            <a:r>
              <a:rPr lang="en-US" altLang="ko-KR" sz="1000" b="1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(</a:t>
            </a:r>
            <a:r>
              <a:rPr lang="ko-KR" altLang="en-US" sz="1000" b="1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안</a:t>
            </a:r>
            <a:r>
              <a:rPr lang="en-US" altLang="ko-KR" sz="1000" b="1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)</a:t>
            </a:r>
            <a:endParaRPr lang="ko-KR" altLang="en-US" sz="1000" b="1" spc="-1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</a:endParaRPr>
          </a:p>
        </p:txBody>
      </p:sp>
      <p:sp>
        <p:nvSpPr>
          <p:cNvPr id="63" name="사각형: 둥근 모서리 20">
            <a:extLst>
              <a:ext uri="{FF2B5EF4-FFF2-40B4-BE49-F238E27FC236}">
                <a16:creationId xmlns:a16="http://schemas.microsoft.com/office/drawing/2014/main" id="{E7851C6E-2B3D-787F-80C2-D92D60FCA223}"/>
              </a:ext>
            </a:extLst>
          </p:cNvPr>
          <p:cNvSpPr/>
          <p:nvPr/>
        </p:nvSpPr>
        <p:spPr>
          <a:xfrm>
            <a:off x="2004712" y="5712178"/>
            <a:ext cx="473069" cy="812458"/>
          </a:xfrm>
          <a:prstGeom prst="roundRect">
            <a:avLst>
              <a:gd name="adj" fmla="val 0"/>
            </a:avLst>
          </a:prstGeom>
          <a:solidFill>
            <a:srgbClr val="7F7F7F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안전성 확보 고시</a:t>
            </a:r>
            <a:r>
              <a:rPr lang="en-US" altLang="ko-KR" sz="1000" b="1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(</a:t>
            </a:r>
            <a:r>
              <a:rPr lang="ko-KR" altLang="en-US" sz="1000" b="1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안</a:t>
            </a:r>
            <a:r>
              <a:rPr lang="en-US" altLang="ko-KR" sz="1000" b="1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)</a:t>
            </a:r>
          </a:p>
        </p:txBody>
      </p:sp>
      <p:sp>
        <p:nvSpPr>
          <p:cNvPr id="65" name="사각형: 둥근 모서리 20">
            <a:extLst>
              <a:ext uri="{FF2B5EF4-FFF2-40B4-BE49-F238E27FC236}">
                <a16:creationId xmlns:a16="http://schemas.microsoft.com/office/drawing/2014/main" id="{DEE3B99E-C2DD-05FD-6EEC-1FA6AD2E24B5}"/>
              </a:ext>
            </a:extLst>
          </p:cNvPr>
          <p:cNvSpPr/>
          <p:nvPr/>
        </p:nvSpPr>
        <p:spPr>
          <a:xfrm>
            <a:off x="5216894" y="5712178"/>
            <a:ext cx="473069" cy="812458"/>
          </a:xfrm>
          <a:prstGeom prst="roundRect">
            <a:avLst>
              <a:gd name="adj" fmla="val 0"/>
            </a:avLst>
          </a:prstGeom>
          <a:solidFill>
            <a:srgbClr val="7F7F7F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AI </a:t>
            </a:r>
            <a:r>
              <a:rPr lang="ko-KR" altLang="en-US" sz="1000" b="1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투명성 확보 가이드라인 </a:t>
            </a:r>
            <a:r>
              <a:rPr lang="en-US" altLang="ko-KR" sz="1000" b="1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(</a:t>
            </a:r>
            <a:r>
              <a:rPr lang="ko-KR" altLang="en-US" sz="1000" b="1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안</a:t>
            </a:r>
            <a:r>
              <a:rPr lang="en-US" altLang="ko-KR" sz="1000" b="1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)</a:t>
            </a:r>
            <a:endParaRPr lang="ko-KR" altLang="en-US" sz="1000" b="1" spc="-1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69066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FE71B00-1AF0-0783-1E96-4C43281D22A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[Back-up] </a:t>
            </a:r>
            <a:r>
              <a:rPr lang="ko-KR" altLang="en-US"/>
              <a:t>주요 금융사별 </a:t>
            </a:r>
            <a:r>
              <a:rPr lang="en-US" altLang="ko-KR"/>
              <a:t>AI</a:t>
            </a:r>
            <a:r>
              <a:rPr lang="ko-KR" altLang="en-US"/>
              <a:t>거버넌스 요건 포함 여부</a:t>
            </a:r>
          </a:p>
        </p:txBody>
      </p:sp>
      <p:sp>
        <p:nvSpPr>
          <p:cNvPr id="6" name="사각형: 둥근 모서리 20">
            <a:extLst>
              <a:ext uri="{FF2B5EF4-FFF2-40B4-BE49-F238E27FC236}">
                <a16:creationId xmlns:a16="http://schemas.microsoft.com/office/drawing/2014/main" id="{B9E8CC84-376B-BA14-70BE-6889D89AD2D2}"/>
              </a:ext>
            </a:extLst>
          </p:cNvPr>
          <p:cNvSpPr/>
          <p:nvPr/>
        </p:nvSpPr>
        <p:spPr>
          <a:xfrm>
            <a:off x="334965" y="1132167"/>
            <a:ext cx="1139278" cy="462485"/>
          </a:xfrm>
          <a:prstGeom prst="roundRect">
            <a:avLst>
              <a:gd name="adj" fmla="val 0"/>
            </a:avLst>
          </a:prstGeom>
          <a:solidFill>
            <a:srgbClr val="7F7F7F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요건 상위 분류</a:t>
            </a:r>
            <a:endParaRPr lang="en" altLang="ko-KR" sz="1200" b="1" spc="-15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</a:endParaRPr>
          </a:p>
        </p:txBody>
      </p:sp>
      <p:sp>
        <p:nvSpPr>
          <p:cNvPr id="7" name="사각형: 둥근 모서리 20">
            <a:extLst>
              <a:ext uri="{FF2B5EF4-FFF2-40B4-BE49-F238E27FC236}">
                <a16:creationId xmlns:a16="http://schemas.microsoft.com/office/drawing/2014/main" id="{1F86D602-43F1-E769-07E6-70F8A73079C5}"/>
              </a:ext>
            </a:extLst>
          </p:cNvPr>
          <p:cNvSpPr/>
          <p:nvPr/>
        </p:nvSpPr>
        <p:spPr>
          <a:xfrm>
            <a:off x="1548362" y="1132167"/>
            <a:ext cx="2261673" cy="462485"/>
          </a:xfrm>
          <a:prstGeom prst="roundRect">
            <a:avLst>
              <a:gd name="adj" fmla="val 0"/>
            </a:avLst>
          </a:prstGeom>
          <a:solidFill>
            <a:srgbClr val="7F7F7F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요건 하위 분류</a:t>
            </a:r>
            <a:endParaRPr lang="en" altLang="ko-KR" sz="1200" b="1" spc="-15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</a:endParaRPr>
          </a:p>
        </p:txBody>
      </p:sp>
      <p:sp>
        <p:nvSpPr>
          <p:cNvPr id="8" name="사각형: 둥근 모서리 20">
            <a:extLst>
              <a:ext uri="{FF2B5EF4-FFF2-40B4-BE49-F238E27FC236}">
                <a16:creationId xmlns:a16="http://schemas.microsoft.com/office/drawing/2014/main" id="{5C0C8019-3048-7DE6-C41B-269CDA4911AC}"/>
              </a:ext>
            </a:extLst>
          </p:cNvPr>
          <p:cNvSpPr/>
          <p:nvPr/>
        </p:nvSpPr>
        <p:spPr>
          <a:xfrm>
            <a:off x="3912366" y="1132167"/>
            <a:ext cx="816517" cy="462485"/>
          </a:xfrm>
          <a:prstGeom prst="roundRect">
            <a:avLst>
              <a:gd name="adj" fmla="val 0"/>
            </a:avLst>
          </a:prstGeom>
          <a:solidFill>
            <a:srgbClr val="F4B183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AI</a:t>
            </a:r>
            <a:r>
              <a:rPr lang="ko-KR" altLang="en-US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위험관리 지침</a:t>
            </a:r>
            <a:endParaRPr lang="en" altLang="ko-KR" sz="1200" b="1" spc="-15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sp>
        <p:nvSpPr>
          <p:cNvPr id="9" name="사각형: 둥근 모서리 20">
            <a:extLst>
              <a:ext uri="{FF2B5EF4-FFF2-40B4-BE49-F238E27FC236}">
                <a16:creationId xmlns:a16="http://schemas.microsoft.com/office/drawing/2014/main" id="{BEAB2CEE-8D04-AE5F-47C5-36CF7624B018}"/>
              </a:ext>
            </a:extLst>
          </p:cNvPr>
          <p:cNvSpPr/>
          <p:nvPr/>
        </p:nvSpPr>
        <p:spPr>
          <a:xfrm>
            <a:off x="4793980" y="1132167"/>
            <a:ext cx="816694" cy="462485"/>
          </a:xfrm>
          <a:prstGeom prst="roundRect">
            <a:avLst>
              <a:gd name="adj" fmla="val 0"/>
            </a:avLst>
          </a:prstGeom>
          <a:solidFill>
            <a:srgbClr val="F4B183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AI</a:t>
            </a:r>
            <a:r>
              <a:rPr lang="ko-KR" altLang="en-US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 위험관리 업무매뉴얼</a:t>
            </a:r>
          </a:p>
        </p:txBody>
      </p:sp>
      <p:sp>
        <p:nvSpPr>
          <p:cNvPr id="10" name="사각형: 둥근 모서리 20">
            <a:extLst>
              <a:ext uri="{FF2B5EF4-FFF2-40B4-BE49-F238E27FC236}">
                <a16:creationId xmlns:a16="http://schemas.microsoft.com/office/drawing/2014/main" id="{428BBD7E-039D-681C-26CA-C97FF51D2B96}"/>
              </a:ext>
            </a:extLst>
          </p:cNvPr>
          <p:cNvSpPr/>
          <p:nvPr/>
        </p:nvSpPr>
        <p:spPr>
          <a:xfrm>
            <a:off x="5676409" y="1132167"/>
            <a:ext cx="816517" cy="462485"/>
          </a:xfrm>
          <a:prstGeom prst="roundRect">
            <a:avLst>
              <a:gd name="adj" fmla="val 0"/>
            </a:avLst>
          </a:prstGeom>
          <a:solidFill>
            <a:srgbClr val="F4B183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AI</a:t>
            </a:r>
            <a:r>
              <a:rPr lang="ko-KR" altLang="en-US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모델 개발안내서</a:t>
            </a:r>
          </a:p>
        </p:txBody>
      </p:sp>
      <p:sp>
        <p:nvSpPr>
          <p:cNvPr id="11" name="사각형: 둥근 모서리 20">
            <a:extLst>
              <a:ext uri="{FF2B5EF4-FFF2-40B4-BE49-F238E27FC236}">
                <a16:creationId xmlns:a16="http://schemas.microsoft.com/office/drawing/2014/main" id="{5EB89808-CE23-563B-4C06-75C97308276B}"/>
              </a:ext>
            </a:extLst>
          </p:cNvPr>
          <p:cNvSpPr/>
          <p:nvPr/>
        </p:nvSpPr>
        <p:spPr>
          <a:xfrm>
            <a:off x="6609973" y="1132167"/>
            <a:ext cx="816517" cy="462485"/>
          </a:xfrm>
          <a:prstGeom prst="roundRect">
            <a:avLst>
              <a:gd name="adj" fmla="val 0"/>
            </a:avLst>
          </a:prstGeom>
          <a:solidFill>
            <a:srgbClr val="F4B183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AI</a:t>
            </a:r>
            <a:r>
              <a:rPr lang="ko-KR" altLang="en-US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거버넌스  업무규정</a:t>
            </a:r>
          </a:p>
        </p:txBody>
      </p:sp>
      <p:sp>
        <p:nvSpPr>
          <p:cNvPr id="12" name="사각형: 둥근 모서리 20">
            <a:extLst>
              <a:ext uri="{FF2B5EF4-FFF2-40B4-BE49-F238E27FC236}">
                <a16:creationId xmlns:a16="http://schemas.microsoft.com/office/drawing/2014/main" id="{D5139A7B-F1C9-805A-76CC-7D85AF748D1F}"/>
              </a:ext>
            </a:extLst>
          </p:cNvPr>
          <p:cNvSpPr/>
          <p:nvPr/>
        </p:nvSpPr>
        <p:spPr>
          <a:xfrm>
            <a:off x="7491587" y="1132167"/>
            <a:ext cx="816694" cy="462485"/>
          </a:xfrm>
          <a:prstGeom prst="roundRect">
            <a:avLst>
              <a:gd name="adj" fmla="val 0"/>
            </a:avLst>
          </a:prstGeom>
          <a:solidFill>
            <a:srgbClr val="F4B183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AI</a:t>
            </a:r>
            <a:r>
              <a:rPr lang="ko-KR" altLang="en-US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거버넌스 업무준칙</a:t>
            </a:r>
          </a:p>
        </p:txBody>
      </p:sp>
      <p:sp>
        <p:nvSpPr>
          <p:cNvPr id="13" name="사각형: 둥근 모서리 20">
            <a:extLst>
              <a:ext uri="{FF2B5EF4-FFF2-40B4-BE49-F238E27FC236}">
                <a16:creationId xmlns:a16="http://schemas.microsoft.com/office/drawing/2014/main" id="{09120FD0-5312-5B2A-56D6-B02219028790}"/>
              </a:ext>
            </a:extLst>
          </p:cNvPr>
          <p:cNvSpPr/>
          <p:nvPr/>
        </p:nvSpPr>
        <p:spPr>
          <a:xfrm>
            <a:off x="8373376" y="1132167"/>
            <a:ext cx="816517" cy="462485"/>
          </a:xfrm>
          <a:prstGeom prst="roundRect">
            <a:avLst>
              <a:gd name="adj" fmla="val 0"/>
            </a:avLst>
          </a:prstGeom>
          <a:solidFill>
            <a:srgbClr val="F4B183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AI</a:t>
            </a:r>
            <a:r>
              <a:rPr lang="ko-KR" altLang="en-US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거버넌스 업무방법</a:t>
            </a:r>
          </a:p>
        </p:txBody>
      </p:sp>
      <p:sp>
        <p:nvSpPr>
          <p:cNvPr id="14" name="사각형: 둥근 모서리 20">
            <a:extLst>
              <a:ext uri="{FF2B5EF4-FFF2-40B4-BE49-F238E27FC236}">
                <a16:creationId xmlns:a16="http://schemas.microsoft.com/office/drawing/2014/main" id="{C732C461-20A7-6E5A-EE6F-D10DF1F7D382}"/>
              </a:ext>
            </a:extLst>
          </p:cNvPr>
          <p:cNvSpPr/>
          <p:nvPr/>
        </p:nvSpPr>
        <p:spPr>
          <a:xfrm>
            <a:off x="9312038" y="1132167"/>
            <a:ext cx="816517" cy="462485"/>
          </a:xfrm>
          <a:prstGeom prst="roundRect">
            <a:avLst>
              <a:gd name="adj" fmla="val 0"/>
            </a:avLst>
          </a:prstGeom>
          <a:solidFill>
            <a:srgbClr val="F4B183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AI</a:t>
            </a:r>
            <a:r>
              <a:rPr lang="ko-KR" altLang="en-US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거버넌스  규정</a:t>
            </a:r>
            <a:endParaRPr lang="en" altLang="ko-KR" sz="1200" b="1" spc="-15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sp>
        <p:nvSpPr>
          <p:cNvPr id="15" name="사각형: 둥근 모서리 20">
            <a:extLst>
              <a:ext uri="{FF2B5EF4-FFF2-40B4-BE49-F238E27FC236}">
                <a16:creationId xmlns:a16="http://schemas.microsoft.com/office/drawing/2014/main" id="{C8DD985B-37B1-5342-22D8-E12D3D68FE27}"/>
              </a:ext>
            </a:extLst>
          </p:cNvPr>
          <p:cNvSpPr/>
          <p:nvPr/>
        </p:nvSpPr>
        <p:spPr>
          <a:xfrm>
            <a:off x="10193653" y="1132167"/>
            <a:ext cx="816694" cy="462485"/>
          </a:xfrm>
          <a:prstGeom prst="roundRect">
            <a:avLst>
              <a:gd name="adj" fmla="val 0"/>
            </a:avLst>
          </a:prstGeom>
          <a:solidFill>
            <a:srgbClr val="F4B183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spc="-3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AI</a:t>
            </a:r>
            <a:r>
              <a:rPr lang="ko-KR" altLang="en-US" sz="1200" b="1" spc="-3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거버넌스 규정 시행 세칙</a:t>
            </a:r>
          </a:p>
        </p:txBody>
      </p:sp>
      <p:sp>
        <p:nvSpPr>
          <p:cNvPr id="16" name="사각형: 둥근 모서리 20">
            <a:extLst>
              <a:ext uri="{FF2B5EF4-FFF2-40B4-BE49-F238E27FC236}">
                <a16:creationId xmlns:a16="http://schemas.microsoft.com/office/drawing/2014/main" id="{8F18C77B-C183-4CAC-829C-1B9F1C4BEA6B}"/>
              </a:ext>
            </a:extLst>
          </p:cNvPr>
          <p:cNvSpPr/>
          <p:nvPr/>
        </p:nvSpPr>
        <p:spPr>
          <a:xfrm>
            <a:off x="11075442" y="1132167"/>
            <a:ext cx="816517" cy="462485"/>
          </a:xfrm>
          <a:prstGeom prst="roundRect">
            <a:avLst>
              <a:gd name="adj" fmla="val 0"/>
            </a:avLst>
          </a:prstGeom>
          <a:solidFill>
            <a:srgbClr val="F4B183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AI</a:t>
            </a:r>
            <a:r>
              <a:rPr lang="ko-KR" altLang="en-US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개발 운영 시행 세칙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60DA29F-2E01-2379-D6E1-995D9836D796}"/>
              </a:ext>
            </a:extLst>
          </p:cNvPr>
          <p:cNvSpPr/>
          <p:nvPr/>
        </p:nvSpPr>
        <p:spPr>
          <a:xfrm>
            <a:off x="334964" y="3377757"/>
            <a:ext cx="1139278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5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위험관리</a:t>
            </a:r>
            <a:r>
              <a:rPr kumimoji="1" lang="en-US" altLang="ko-KR" sz="105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· </a:t>
            </a:r>
            <a:r>
              <a:rPr kumimoji="1" lang="ko-KR" altLang="en-US" sz="105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영향평가</a:t>
            </a:r>
            <a:endParaRPr kumimoji="1" lang="en" altLang="ko-KR" sz="1050" b="1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4C3CE85D-AE04-5964-F746-05393599F1D5}"/>
              </a:ext>
            </a:extLst>
          </p:cNvPr>
          <p:cNvSpPr/>
          <p:nvPr/>
        </p:nvSpPr>
        <p:spPr>
          <a:xfrm>
            <a:off x="1548361" y="3377757"/>
            <a:ext cx="2261674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72000" tIns="0" rIns="0" bIns="18000" rtlCol="0" anchor="ctr"/>
          <a:lstStyle/>
          <a:p>
            <a:pPr marL="171450" marR="0" lvl="0" indent="-17145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en-US" altLang="ko-KR" sz="10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AI</a:t>
            </a:r>
            <a:r>
              <a:rPr kumimoji="1" lang="ko-KR" altLang="en-US" sz="10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위험평가</a:t>
            </a:r>
            <a:r>
              <a:rPr kumimoji="1" lang="en-US" altLang="ko-KR" sz="10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, </a:t>
            </a:r>
            <a:r>
              <a:rPr kumimoji="1" lang="ko-KR" altLang="en-US" sz="10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영향도 분석</a:t>
            </a:r>
            <a:endParaRPr kumimoji="1" lang="en" altLang="ko-KR" sz="1000" b="0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67FDFE95-2F14-DCDB-AEFA-23059B4D2799}"/>
              </a:ext>
            </a:extLst>
          </p:cNvPr>
          <p:cNvSpPr/>
          <p:nvPr/>
        </p:nvSpPr>
        <p:spPr>
          <a:xfrm>
            <a:off x="334964" y="2692672"/>
            <a:ext cx="1139278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5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임직원 교육</a:t>
            </a:r>
            <a:endParaRPr kumimoji="1" lang="en" altLang="ko-KR" sz="1050" b="1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7487C9C7-C22A-074C-D26A-622C463DE1A6}"/>
              </a:ext>
            </a:extLst>
          </p:cNvPr>
          <p:cNvSpPr/>
          <p:nvPr/>
        </p:nvSpPr>
        <p:spPr>
          <a:xfrm>
            <a:off x="1548362" y="2692672"/>
            <a:ext cx="2261674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72000" tIns="0" rIns="0" bIns="18000" rtlCol="0" anchor="ctr"/>
          <a:lstStyle/>
          <a:p>
            <a:pPr marL="171450" marR="0" lvl="0" indent="-17145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10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임직원 </a:t>
            </a:r>
            <a:r>
              <a:rPr kumimoji="1" lang="en-US" altLang="ko-KR" sz="10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AI</a:t>
            </a:r>
            <a:r>
              <a:rPr kumimoji="1" lang="ko-KR" altLang="en-US" sz="10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윤리 교육</a:t>
            </a:r>
            <a:endParaRPr kumimoji="1" lang="en" altLang="ko-KR" sz="1000" b="0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F2AE9246-1B21-F661-23AD-2E9B6E33F517}"/>
              </a:ext>
            </a:extLst>
          </p:cNvPr>
          <p:cNvSpPr/>
          <p:nvPr/>
        </p:nvSpPr>
        <p:spPr>
          <a:xfrm>
            <a:off x="334966" y="1665043"/>
            <a:ext cx="1139278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5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정의</a:t>
            </a:r>
            <a:r>
              <a:rPr kumimoji="1" lang="en-US" altLang="ko-KR" sz="105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·</a:t>
            </a:r>
            <a:r>
              <a:rPr kumimoji="1" lang="ko-KR" altLang="en-US" sz="105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적용 범위</a:t>
            </a:r>
            <a:endParaRPr kumimoji="1" lang="en" altLang="ko-KR" sz="1050" b="1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03A5CE84-EB15-FD74-0582-9480D90C7AE6}"/>
              </a:ext>
            </a:extLst>
          </p:cNvPr>
          <p:cNvSpPr/>
          <p:nvPr/>
        </p:nvSpPr>
        <p:spPr>
          <a:xfrm>
            <a:off x="1548362" y="1665043"/>
            <a:ext cx="2261674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72000" tIns="0" rIns="0" bIns="18000" rtlCol="0" anchor="ctr"/>
          <a:lstStyle/>
          <a:p>
            <a:pPr marL="171450" marR="0" lvl="0" indent="-17145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10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기본 원칙</a:t>
            </a:r>
            <a:r>
              <a:rPr kumimoji="1" lang="en-US" altLang="ko-KR" sz="10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, </a:t>
            </a:r>
            <a:r>
              <a:rPr kumimoji="1" lang="ko-KR" altLang="en-US" sz="10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적용 목적</a:t>
            </a:r>
            <a:endParaRPr kumimoji="1" lang="en" altLang="ko-KR" sz="1000" b="0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B950F314-C1C3-7438-9626-9565FD6924EC}"/>
              </a:ext>
            </a:extLst>
          </p:cNvPr>
          <p:cNvSpPr/>
          <p:nvPr/>
        </p:nvSpPr>
        <p:spPr>
          <a:xfrm>
            <a:off x="334964" y="2007586"/>
            <a:ext cx="1139278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5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거버넌스 구조</a:t>
            </a:r>
            <a:endParaRPr kumimoji="1" lang="en" altLang="ko-KR" sz="1050" b="1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4817721C-5807-478D-843E-C3D7728825D1}"/>
              </a:ext>
            </a:extLst>
          </p:cNvPr>
          <p:cNvSpPr/>
          <p:nvPr/>
        </p:nvSpPr>
        <p:spPr>
          <a:xfrm>
            <a:off x="1548362" y="2007586"/>
            <a:ext cx="2261674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72000" tIns="0" rIns="0" bIns="18000" rtlCol="0" anchor="ctr"/>
          <a:lstStyle/>
          <a:p>
            <a:pPr marL="171450" marR="0" lvl="0" indent="-17145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10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역할</a:t>
            </a:r>
            <a:r>
              <a:rPr kumimoji="1" lang="en-US" altLang="ko-KR" sz="10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·</a:t>
            </a:r>
            <a:r>
              <a:rPr kumimoji="1" lang="ko-KR" altLang="en-US" sz="10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책임</a:t>
            </a:r>
            <a:r>
              <a:rPr kumimoji="1" lang="en-US" altLang="ko-KR" sz="10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·</a:t>
            </a:r>
            <a:r>
              <a:rPr kumimoji="1" lang="ko-KR" altLang="en-US" sz="10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협의체</a:t>
            </a:r>
            <a:r>
              <a:rPr kumimoji="1" lang="en-US" altLang="ko-KR" sz="10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, </a:t>
            </a:r>
            <a:r>
              <a:rPr kumimoji="1" lang="ko-KR" altLang="en-US" sz="10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업무 분장</a:t>
            </a:r>
            <a:endParaRPr kumimoji="1" lang="en" altLang="ko-KR" sz="1000" b="0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B017A9EB-C27B-B732-0392-71FA178A40E7}"/>
              </a:ext>
            </a:extLst>
          </p:cNvPr>
          <p:cNvSpPr/>
          <p:nvPr/>
        </p:nvSpPr>
        <p:spPr>
          <a:xfrm>
            <a:off x="334964" y="2350128"/>
            <a:ext cx="1139278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5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위</a:t>
            </a:r>
            <a:r>
              <a:rPr kumimoji="1" lang="en-US" altLang="ko-KR" sz="105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·</a:t>
            </a:r>
            <a:r>
              <a:rPr kumimoji="1" lang="ko-KR" altLang="en-US" sz="105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수탁 및 금융소비자 보호</a:t>
            </a:r>
            <a:endParaRPr kumimoji="1" lang="en" altLang="ko-KR" sz="1050" b="1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5C13246A-14C0-5B11-C308-EC90DA387ED8}"/>
              </a:ext>
            </a:extLst>
          </p:cNvPr>
          <p:cNvSpPr/>
          <p:nvPr/>
        </p:nvSpPr>
        <p:spPr>
          <a:xfrm>
            <a:off x="1548362" y="2350128"/>
            <a:ext cx="2261674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72000" tIns="0" rIns="0" bIns="18000" rtlCol="0" anchor="ctr"/>
          <a:lstStyle/>
          <a:p>
            <a:pPr marL="171450" marR="0" lvl="0" indent="-17145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10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위탁 서비스 관리</a:t>
            </a:r>
            <a:r>
              <a:rPr kumimoji="1" lang="en-US" altLang="ko-KR" sz="10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, </a:t>
            </a:r>
            <a:r>
              <a:rPr kumimoji="1" lang="ko-KR" altLang="en-US" sz="10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금융소비자 보호 관리</a:t>
            </a:r>
            <a:r>
              <a:rPr kumimoji="1" lang="en-US" altLang="ko-KR" sz="10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, </a:t>
            </a:r>
            <a:r>
              <a:rPr kumimoji="1" lang="ko-KR" altLang="en-US" sz="10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임직원 교육</a:t>
            </a:r>
            <a:endParaRPr kumimoji="1" lang="en" altLang="ko-KR" sz="1000" b="0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1B0FF45F-B72A-95D4-D642-6CCACF5B39D3}"/>
              </a:ext>
            </a:extLst>
          </p:cNvPr>
          <p:cNvSpPr/>
          <p:nvPr/>
        </p:nvSpPr>
        <p:spPr>
          <a:xfrm>
            <a:off x="334964" y="3035214"/>
            <a:ext cx="1139278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5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규제준수</a:t>
            </a:r>
            <a:r>
              <a:rPr kumimoji="1" lang="en-US" altLang="ko-KR" sz="105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· </a:t>
            </a:r>
            <a:r>
              <a:rPr kumimoji="1" lang="ko-KR" altLang="en-US" sz="105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윤리기준</a:t>
            </a:r>
            <a:endParaRPr kumimoji="1" lang="en" altLang="ko-KR" sz="1050" b="1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1BB29800-0583-15A3-4C31-D7BBF1CECC62}"/>
              </a:ext>
            </a:extLst>
          </p:cNvPr>
          <p:cNvSpPr/>
          <p:nvPr/>
        </p:nvSpPr>
        <p:spPr>
          <a:xfrm>
            <a:off x="1548362" y="3035214"/>
            <a:ext cx="2261674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72000" tIns="0" rIns="0" bIns="18000" rtlCol="0" anchor="ctr"/>
          <a:lstStyle/>
          <a:p>
            <a:pPr marL="171450" marR="0" lvl="0" indent="-17145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10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법</a:t>
            </a:r>
            <a:r>
              <a:rPr kumimoji="1" lang="en-US" altLang="ko-KR" sz="10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·</a:t>
            </a:r>
            <a:r>
              <a:rPr kumimoji="1" lang="ko-KR" altLang="en-US" sz="10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규정 준수</a:t>
            </a:r>
            <a:r>
              <a:rPr kumimoji="1" lang="en-US" altLang="ko-KR" sz="10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, </a:t>
            </a:r>
            <a:r>
              <a:rPr kumimoji="1" lang="ko-KR" altLang="en-US" sz="10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윤리 원칙</a:t>
            </a:r>
            <a:r>
              <a:rPr kumimoji="1" lang="en-US" altLang="ko-KR" sz="10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, </a:t>
            </a:r>
            <a:r>
              <a:rPr kumimoji="1" lang="ko-KR" altLang="en-US" sz="10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내부정책</a:t>
            </a:r>
            <a:endParaRPr kumimoji="1" lang="en" altLang="ko-KR" sz="1000" b="0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DC7592C0-0291-FBE0-1779-F63FAF276620}"/>
              </a:ext>
            </a:extLst>
          </p:cNvPr>
          <p:cNvSpPr/>
          <p:nvPr/>
        </p:nvSpPr>
        <p:spPr>
          <a:xfrm>
            <a:off x="334964" y="3720300"/>
            <a:ext cx="1139278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5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안전성</a:t>
            </a:r>
            <a:r>
              <a:rPr kumimoji="1" lang="en-US" altLang="ko-KR" sz="105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·</a:t>
            </a:r>
            <a:r>
              <a:rPr kumimoji="1" lang="ko-KR" altLang="en-US" sz="105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보안</a:t>
            </a:r>
            <a:endParaRPr kumimoji="1" lang="en" altLang="ko-KR" sz="1050" b="1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A374DABF-7FEC-B074-5E0B-211D594AB65F}"/>
              </a:ext>
            </a:extLst>
          </p:cNvPr>
          <p:cNvSpPr/>
          <p:nvPr/>
        </p:nvSpPr>
        <p:spPr>
          <a:xfrm>
            <a:off x="1548361" y="3720300"/>
            <a:ext cx="2261674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72000" tIns="0" rIns="0" bIns="18000" rtlCol="0" anchor="ctr"/>
          <a:lstStyle/>
          <a:p>
            <a:pPr marL="171450" marR="0" lvl="0" indent="-17145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10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안전성 확보</a:t>
            </a:r>
            <a:r>
              <a:rPr kumimoji="1" lang="en-US" altLang="ko-KR" sz="10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, </a:t>
            </a:r>
            <a:r>
              <a:rPr kumimoji="1" lang="ko-KR" altLang="en-US" sz="10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보안 요건</a:t>
            </a:r>
            <a:endParaRPr kumimoji="1" lang="en" altLang="ko-KR" sz="1000" b="0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291F9B8C-2850-A451-059D-3A5BD52D629B}"/>
              </a:ext>
            </a:extLst>
          </p:cNvPr>
          <p:cNvSpPr/>
          <p:nvPr/>
        </p:nvSpPr>
        <p:spPr>
          <a:xfrm>
            <a:off x="334964" y="4062843"/>
            <a:ext cx="1139278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5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투명성</a:t>
            </a:r>
            <a:r>
              <a:rPr kumimoji="1" lang="en-US" altLang="ko-KR" sz="105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· </a:t>
            </a:r>
            <a:r>
              <a:rPr kumimoji="1" lang="ko-KR" altLang="en-US" sz="105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설명가능성</a:t>
            </a:r>
            <a:endParaRPr kumimoji="1" lang="en" altLang="ko-KR" sz="1050" b="1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1B6C79F9-7AEA-AF27-9005-354B6AEA3AA6}"/>
              </a:ext>
            </a:extLst>
          </p:cNvPr>
          <p:cNvSpPr/>
          <p:nvPr/>
        </p:nvSpPr>
        <p:spPr>
          <a:xfrm>
            <a:off x="1548361" y="4062843"/>
            <a:ext cx="2261674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72000" tIns="0" rIns="0" bIns="18000" rtlCol="0" anchor="ctr"/>
          <a:lstStyle/>
          <a:p>
            <a:pPr marL="171450" marR="0" lvl="0" indent="-17145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10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결과 설명</a:t>
            </a:r>
            <a:r>
              <a:rPr kumimoji="1" lang="en-US" altLang="ko-KR" sz="10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·</a:t>
            </a:r>
            <a:r>
              <a:rPr kumimoji="1" lang="ko-KR" altLang="en-US" sz="10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알림</a:t>
            </a:r>
            <a:r>
              <a:rPr kumimoji="1" lang="en-US" altLang="ko-KR" sz="10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, </a:t>
            </a:r>
            <a:r>
              <a:rPr kumimoji="1" lang="ko-KR" altLang="en-US" sz="10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기록</a:t>
            </a:r>
            <a:r>
              <a:rPr kumimoji="1" lang="en-US" altLang="ko-KR" sz="10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·</a:t>
            </a:r>
            <a:r>
              <a:rPr kumimoji="1" lang="ko-KR" altLang="en-US" sz="10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로깅</a:t>
            </a:r>
            <a:endParaRPr kumimoji="1" lang="en" altLang="ko-KR" sz="1000" b="0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4D1F2D70-6AE7-F62C-5D9B-09E2C79EB442}"/>
              </a:ext>
            </a:extLst>
          </p:cNvPr>
          <p:cNvSpPr/>
          <p:nvPr/>
        </p:nvSpPr>
        <p:spPr>
          <a:xfrm>
            <a:off x="334964" y="4405385"/>
            <a:ext cx="1139278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5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공정성</a:t>
            </a:r>
            <a:endParaRPr kumimoji="1" lang="en" altLang="ko-KR" sz="1050" b="1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983D80FA-A139-D279-B5F5-2276A77EFB8C}"/>
              </a:ext>
            </a:extLst>
          </p:cNvPr>
          <p:cNvSpPr/>
          <p:nvPr/>
        </p:nvSpPr>
        <p:spPr>
          <a:xfrm>
            <a:off x="1548361" y="4405385"/>
            <a:ext cx="2261674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72000" tIns="0" rIns="0" bIns="18000" rtlCol="0" anchor="ctr"/>
          <a:lstStyle/>
          <a:p>
            <a:pPr marL="171450" marR="0" lvl="0" indent="-17145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10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개발</a:t>
            </a:r>
            <a:r>
              <a:rPr kumimoji="1" lang="en-US" altLang="ko-KR" sz="10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·</a:t>
            </a:r>
            <a:r>
              <a:rPr kumimoji="1" lang="ko-KR" altLang="en-US" sz="10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평가</a:t>
            </a:r>
            <a:r>
              <a:rPr kumimoji="1" lang="en-US" altLang="ko-KR" sz="10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·</a:t>
            </a:r>
            <a:r>
              <a:rPr kumimoji="1" lang="ko-KR" altLang="en-US" sz="10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검증 공정성</a:t>
            </a:r>
            <a:r>
              <a:rPr kumimoji="1" lang="en-US" altLang="ko-KR" sz="10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, </a:t>
            </a:r>
            <a:r>
              <a:rPr kumimoji="1" lang="ko-KR" altLang="en-US" sz="10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편향 방지</a:t>
            </a:r>
            <a:r>
              <a:rPr kumimoji="1" lang="en-US" altLang="ko-KR" sz="10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 </a:t>
            </a:r>
            <a:r>
              <a:rPr kumimoji="1" lang="ko-KR" altLang="en-US" sz="10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검토</a:t>
            </a:r>
            <a:endParaRPr kumimoji="1" lang="en" altLang="ko-KR" sz="1000" b="0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203104FA-F104-F50A-7575-2FEE0DC41401}"/>
              </a:ext>
            </a:extLst>
          </p:cNvPr>
          <p:cNvSpPr/>
          <p:nvPr/>
        </p:nvSpPr>
        <p:spPr>
          <a:xfrm>
            <a:off x="334964" y="4747928"/>
            <a:ext cx="1139278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defTabSz="45720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05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기획</a:t>
            </a:r>
            <a:r>
              <a:rPr kumimoji="1" lang="en-US" altLang="ko-KR" sz="105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·</a:t>
            </a:r>
            <a:r>
              <a:rPr kumimoji="1" lang="ko-KR" altLang="en-US" sz="105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개발</a:t>
            </a:r>
            <a:r>
              <a:rPr kumimoji="1" lang="en-US" altLang="ko-KR" sz="1050" b="1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· </a:t>
            </a:r>
            <a:r>
              <a:rPr kumimoji="1" lang="ko-KR" altLang="en-US" sz="1050" b="1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평가</a:t>
            </a:r>
            <a:r>
              <a:rPr kumimoji="1" lang="en-US" altLang="ko-KR" sz="1050" b="1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·</a:t>
            </a:r>
            <a:r>
              <a:rPr kumimoji="1" lang="ko-KR" altLang="en-US" sz="1050" b="1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점검</a:t>
            </a:r>
            <a:endParaRPr kumimoji="1" lang="en" altLang="ko-KR" sz="1050" b="1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F445CF12-949B-2A8E-5D1C-AA500F0EBF8E}"/>
              </a:ext>
            </a:extLst>
          </p:cNvPr>
          <p:cNvSpPr/>
          <p:nvPr/>
        </p:nvSpPr>
        <p:spPr>
          <a:xfrm>
            <a:off x="1548361" y="4747928"/>
            <a:ext cx="2261674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72000" tIns="0" rIns="0" bIns="18000" rtlCol="0" anchor="ctr"/>
          <a:lstStyle/>
          <a:p>
            <a:pPr marL="171450" lvl="0" indent="-171450" defTabSz="457200" fontAlgn="base" latinLnBrk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ko-KR" altLang="en-US" sz="10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기획</a:t>
            </a:r>
            <a:r>
              <a:rPr kumimoji="1" lang="en-US" altLang="ko-KR" sz="10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·</a:t>
            </a:r>
            <a:r>
              <a:rPr kumimoji="1" lang="ko-KR" altLang="en-US" sz="10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설계</a:t>
            </a:r>
            <a:r>
              <a:rPr kumimoji="1" lang="en-US" altLang="ko-KR" sz="10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, </a:t>
            </a:r>
            <a:r>
              <a:rPr kumimoji="1" lang="ko-KR" altLang="en-US" sz="10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개발</a:t>
            </a:r>
            <a:r>
              <a:rPr kumimoji="1" lang="en-US" altLang="ko-KR" sz="10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·</a:t>
            </a:r>
            <a:r>
              <a:rPr kumimoji="1" lang="ko-KR" altLang="en-US" sz="10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테스트</a:t>
            </a:r>
            <a:r>
              <a:rPr kumimoji="1" lang="en-US" altLang="ko-KR" sz="10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, </a:t>
            </a:r>
            <a:r>
              <a:rPr kumimoji="1" lang="ko-KR" altLang="en-US" sz="10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성능 평가</a:t>
            </a:r>
            <a:r>
              <a:rPr kumimoji="1" lang="en-US" altLang="ko-KR" sz="10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, </a:t>
            </a:r>
            <a:r>
              <a:rPr kumimoji="1" lang="ko-KR" altLang="en-US" sz="10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점검 절차</a:t>
            </a:r>
            <a:r>
              <a:rPr kumimoji="1" lang="en-US" altLang="ko-KR" sz="10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 </a:t>
            </a:r>
            <a:endParaRPr kumimoji="1" lang="en" altLang="ko-KR" sz="1000" b="0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ED5DDA59-4F1B-C012-A701-EFD2FB5D9247}"/>
              </a:ext>
            </a:extLst>
          </p:cNvPr>
          <p:cNvSpPr/>
          <p:nvPr/>
        </p:nvSpPr>
        <p:spPr>
          <a:xfrm>
            <a:off x="334964" y="5090472"/>
            <a:ext cx="1139278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defTabSz="45720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050" b="1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운영</a:t>
            </a:r>
            <a:r>
              <a:rPr kumimoji="1" lang="en-US" altLang="ko-KR" sz="1050" b="1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·</a:t>
            </a:r>
            <a:r>
              <a:rPr kumimoji="1" lang="ko-KR" altLang="en-US" sz="1050" b="1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모니터링</a:t>
            </a:r>
            <a:endParaRPr kumimoji="1" lang="en" altLang="ko-KR" sz="1050" b="1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B3283D74-808F-B173-3A00-710C5AA2D27A}"/>
              </a:ext>
            </a:extLst>
          </p:cNvPr>
          <p:cNvSpPr/>
          <p:nvPr/>
        </p:nvSpPr>
        <p:spPr>
          <a:xfrm>
            <a:off x="1548361" y="5090472"/>
            <a:ext cx="2261674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72000" tIns="0" rIns="0" bIns="18000" rtlCol="0" anchor="ctr"/>
          <a:lstStyle/>
          <a:p>
            <a:pPr marL="171450" indent="-171450" defTabSz="457200" fontAlgn="base" latinLnBrk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ko-KR" altLang="en-US" sz="10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운영</a:t>
            </a:r>
            <a:r>
              <a:rPr kumimoji="1" lang="en" altLang="ko-KR" sz="10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, </a:t>
            </a:r>
            <a:r>
              <a:rPr kumimoji="1" lang="ko-KR" altLang="en-US" sz="10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모니터링</a:t>
            </a:r>
            <a:endParaRPr kumimoji="1" lang="en" altLang="ko-KR" sz="1000" b="0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318927E1-BB04-EB80-4440-0445E5B4808B}"/>
              </a:ext>
            </a:extLst>
          </p:cNvPr>
          <p:cNvCxnSpPr>
            <a:cxnSpLocks/>
          </p:cNvCxnSpPr>
          <p:nvPr/>
        </p:nvCxnSpPr>
        <p:spPr>
          <a:xfrm>
            <a:off x="334965" y="1976833"/>
            <a:ext cx="11556991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B4C9A94D-D961-390B-A8F1-A06A1E5784FD}"/>
              </a:ext>
            </a:extLst>
          </p:cNvPr>
          <p:cNvCxnSpPr>
            <a:cxnSpLocks/>
          </p:cNvCxnSpPr>
          <p:nvPr/>
        </p:nvCxnSpPr>
        <p:spPr>
          <a:xfrm>
            <a:off x="334965" y="2319376"/>
            <a:ext cx="11556991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8C585EDF-87D0-E283-3C7C-6462FFB1A2F2}"/>
              </a:ext>
            </a:extLst>
          </p:cNvPr>
          <p:cNvCxnSpPr>
            <a:cxnSpLocks/>
          </p:cNvCxnSpPr>
          <p:nvPr/>
        </p:nvCxnSpPr>
        <p:spPr>
          <a:xfrm>
            <a:off x="334965" y="2661919"/>
            <a:ext cx="11556991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D2418F38-043F-7FE8-F948-2BAAB8573540}"/>
              </a:ext>
            </a:extLst>
          </p:cNvPr>
          <p:cNvCxnSpPr>
            <a:cxnSpLocks/>
          </p:cNvCxnSpPr>
          <p:nvPr/>
        </p:nvCxnSpPr>
        <p:spPr>
          <a:xfrm>
            <a:off x="334965" y="3004461"/>
            <a:ext cx="11556991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C8F36F5D-BE5E-AF81-8B78-09A105012C29}"/>
              </a:ext>
            </a:extLst>
          </p:cNvPr>
          <p:cNvCxnSpPr>
            <a:cxnSpLocks/>
          </p:cNvCxnSpPr>
          <p:nvPr/>
        </p:nvCxnSpPr>
        <p:spPr>
          <a:xfrm>
            <a:off x="334965" y="3347004"/>
            <a:ext cx="11556991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718D4E59-C543-0FD6-A669-5851D0ECF0D1}"/>
              </a:ext>
            </a:extLst>
          </p:cNvPr>
          <p:cNvCxnSpPr>
            <a:cxnSpLocks/>
          </p:cNvCxnSpPr>
          <p:nvPr/>
        </p:nvCxnSpPr>
        <p:spPr>
          <a:xfrm>
            <a:off x="334965" y="4032090"/>
            <a:ext cx="11556991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ECD3F67C-E232-F9A0-6065-DCA1C542341A}"/>
              </a:ext>
            </a:extLst>
          </p:cNvPr>
          <p:cNvCxnSpPr>
            <a:cxnSpLocks/>
          </p:cNvCxnSpPr>
          <p:nvPr/>
        </p:nvCxnSpPr>
        <p:spPr>
          <a:xfrm>
            <a:off x="334965" y="4374633"/>
            <a:ext cx="11556991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EED38338-D221-379B-DE01-8BEF2A4F764D}"/>
              </a:ext>
            </a:extLst>
          </p:cNvPr>
          <p:cNvCxnSpPr>
            <a:cxnSpLocks/>
          </p:cNvCxnSpPr>
          <p:nvPr/>
        </p:nvCxnSpPr>
        <p:spPr>
          <a:xfrm>
            <a:off x="334965" y="4717175"/>
            <a:ext cx="11556991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6F77B9F8-CFF8-3A2C-D509-9AB901CF1498}"/>
              </a:ext>
            </a:extLst>
          </p:cNvPr>
          <p:cNvCxnSpPr>
            <a:cxnSpLocks/>
          </p:cNvCxnSpPr>
          <p:nvPr/>
        </p:nvCxnSpPr>
        <p:spPr>
          <a:xfrm>
            <a:off x="334965" y="5059719"/>
            <a:ext cx="11556991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325843AA-D9A4-0A3A-A276-3E8A817F095A}"/>
              </a:ext>
            </a:extLst>
          </p:cNvPr>
          <p:cNvCxnSpPr>
            <a:cxnSpLocks/>
          </p:cNvCxnSpPr>
          <p:nvPr/>
        </p:nvCxnSpPr>
        <p:spPr>
          <a:xfrm>
            <a:off x="334965" y="6013501"/>
            <a:ext cx="11556991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A590CF7D-87E1-D528-EC34-F76C72072285}"/>
              </a:ext>
            </a:extLst>
          </p:cNvPr>
          <p:cNvCxnSpPr>
            <a:cxnSpLocks/>
          </p:cNvCxnSpPr>
          <p:nvPr/>
        </p:nvCxnSpPr>
        <p:spPr>
          <a:xfrm>
            <a:off x="334965" y="3689547"/>
            <a:ext cx="11556991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E0B6FE85-F643-48E7-C83F-54992A641397}"/>
              </a:ext>
            </a:extLst>
          </p:cNvPr>
          <p:cNvSpPr/>
          <p:nvPr/>
        </p:nvSpPr>
        <p:spPr>
          <a:xfrm>
            <a:off x="3912367" y="3377757"/>
            <a:ext cx="816517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" altLang="ko-KR" sz="1100" ker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O</a:t>
            </a:r>
          </a:p>
        </p:txBody>
      </p:sp>
      <p:sp>
        <p:nvSpPr>
          <p:cNvPr id="51" name="사각형: 둥근 모서리 20">
            <a:extLst>
              <a:ext uri="{FF2B5EF4-FFF2-40B4-BE49-F238E27FC236}">
                <a16:creationId xmlns:a16="http://schemas.microsoft.com/office/drawing/2014/main" id="{F36315C6-276D-C2F7-20D2-B32D02B98D54}"/>
              </a:ext>
            </a:extLst>
          </p:cNvPr>
          <p:cNvSpPr/>
          <p:nvPr/>
        </p:nvSpPr>
        <p:spPr>
          <a:xfrm>
            <a:off x="5675769" y="3377757"/>
            <a:ext cx="816517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" altLang="ko-KR" sz="1100" ker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O</a:t>
            </a: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D10DCD59-9514-7896-9CAE-8CE1E6453C2A}"/>
              </a:ext>
            </a:extLst>
          </p:cNvPr>
          <p:cNvSpPr/>
          <p:nvPr/>
        </p:nvSpPr>
        <p:spPr>
          <a:xfrm>
            <a:off x="4794157" y="3377757"/>
            <a:ext cx="816517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" altLang="ko-KR" sz="1100" ker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O</a:t>
            </a: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80BDFA78-6084-259B-EC85-961ADFB109E7}"/>
              </a:ext>
            </a:extLst>
          </p:cNvPr>
          <p:cNvSpPr/>
          <p:nvPr/>
        </p:nvSpPr>
        <p:spPr>
          <a:xfrm>
            <a:off x="3912367" y="2692672"/>
            <a:ext cx="816517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" altLang="ko-KR" sz="1100" ker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O</a:t>
            </a:r>
          </a:p>
        </p:txBody>
      </p:sp>
      <p:sp>
        <p:nvSpPr>
          <p:cNvPr id="54" name="사각형: 둥근 모서리 20">
            <a:extLst>
              <a:ext uri="{FF2B5EF4-FFF2-40B4-BE49-F238E27FC236}">
                <a16:creationId xmlns:a16="http://schemas.microsoft.com/office/drawing/2014/main" id="{41C8C2DD-1DD6-4AF9-2796-7F6E48A0A84F}"/>
              </a:ext>
            </a:extLst>
          </p:cNvPr>
          <p:cNvSpPr/>
          <p:nvPr/>
        </p:nvSpPr>
        <p:spPr>
          <a:xfrm>
            <a:off x="5675769" y="2692672"/>
            <a:ext cx="816517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100" i="1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75000"/>
                  </a:schemeClr>
                </a:solidFill>
                <a:latin typeface="+mn-ea"/>
              </a:rPr>
              <a:t>N/A</a:t>
            </a:r>
            <a:endParaRPr kumimoji="1" lang="en" altLang="ko-KR" sz="1100" i="1" kern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bg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CA6A9159-7560-44E9-763A-8F56C1BA46D0}"/>
              </a:ext>
            </a:extLst>
          </p:cNvPr>
          <p:cNvSpPr/>
          <p:nvPr/>
        </p:nvSpPr>
        <p:spPr>
          <a:xfrm>
            <a:off x="4794157" y="2692672"/>
            <a:ext cx="816517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" altLang="ko-KR" sz="1100" ker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O</a:t>
            </a: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77D9F86E-5839-997E-D0CB-007ECBF72EB7}"/>
              </a:ext>
            </a:extLst>
          </p:cNvPr>
          <p:cNvSpPr/>
          <p:nvPr/>
        </p:nvSpPr>
        <p:spPr>
          <a:xfrm>
            <a:off x="3912367" y="1665043"/>
            <a:ext cx="816517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" altLang="ko-KR" sz="11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effectLst/>
                <a:uLnTx/>
                <a:uFillTx/>
                <a:latin typeface="+mn-ea"/>
                <a:cs typeface="+mn-cs"/>
              </a:rPr>
              <a:t>O</a:t>
            </a:r>
          </a:p>
        </p:txBody>
      </p:sp>
      <p:sp>
        <p:nvSpPr>
          <p:cNvPr id="57" name="사각형: 둥근 모서리 20">
            <a:extLst>
              <a:ext uri="{FF2B5EF4-FFF2-40B4-BE49-F238E27FC236}">
                <a16:creationId xmlns:a16="http://schemas.microsoft.com/office/drawing/2014/main" id="{66D1BCEA-8767-C42D-51AB-5268239545D0}"/>
              </a:ext>
            </a:extLst>
          </p:cNvPr>
          <p:cNvSpPr/>
          <p:nvPr/>
        </p:nvSpPr>
        <p:spPr>
          <a:xfrm>
            <a:off x="4793979" y="1665043"/>
            <a:ext cx="816694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" altLang="ko-KR" sz="1100" ker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O</a:t>
            </a:r>
          </a:p>
        </p:txBody>
      </p:sp>
      <p:sp>
        <p:nvSpPr>
          <p:cNvPr id="58" name="사각형: 둥근 모서리 20">
            <a:extLst>
              <a:ext uri="{FF2B5EF4-FFF2-40B4-BE49-F238E27FC236}">
                <a16:creationId xmlns:a16="http://schemas.microsoft.com/office/drawing/2014/main" id="{2BD67CF8-8ABF-2002-E0E5-693D686A95E3}"/>
              </a:ext>
            </a:extLst>
          </p:cNvPr>
          <p:cNvSpPr/>
          <p:nvPr/>
        </p:nvSpPr>
        <p:spPr>
          <a:xfrm>
            <a:off x="5675593" y="1665043"/>
            <a:ext cx="816694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" altLang="ko-KR" sz="1100" ker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O</a:t>
            </a: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CA30394C-7934-6105-6ABF-063229140F28}"/>
              </a:ext>
            </a:extLst>
          </p:cNvPr>
          <p:cNvSpPr/>
          <p:nvPr/>
        </p:nvSpPr>
        <p:spPr>
          <a:xfrm>
            <a:off x="3912367" y="2007586"/>
            <a:ext cx="816517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" altLang="ko-KR" sz="1100" ker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O</a:t>
            </a:r>
          </a:p>
        </p:txBody>
      </p:sp>
      <p:sp>
        <p:nvSpPr>
          <p:cNvPr id="60" name="사각형: 둥근 모서리 20">
            <a:extLst>
              <a:ext uri="{FF2B5EF4-FFF2-40B4-BE49-F238E27FC236}">
                <a16:creationId xmlns:a16="http://schemas.microsoft.com/office/drawing/2014/main" id="{423534F6-3AFA-550A-7743-7FC007680186}"/>
              </a:ext>
            </a:extLst>
          </p:cNvPr>
          <p:cNvSpPr/>
          <p:nvPr/>
        </p:nvSpPr>
        <p:spPr>
          <a:xfrm>
            <a:off x="4793979" y="2007586"/>
            <a:ext cx="816694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" altLang="ko-KR" sz="1100" ker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O</a:t>
            </a:r>
          </a:p>
        </p:txBody>
      </p:sp>
      <p:sp>
        <p:nvSpPr>
          <p:cNvPr id="61" name="사각형: 둥근 모서리 20">
            <a:extLst>
              <a:ext uri="{FF2B5EF4-FFF2-40B4-BE49-F238E27FC236}">
                <a16:creationId xmlns:a16="http://schemas.microsoft.com/office/drawing/2014/main" id="{D70360FC-FC91-9A54-7FF8-5EC1A61649A5}"/>
              </a:ext>
            </a:extLst>
          </p:cNvPr>
          <p:cNvSpPr/>
          <p:nvPr/>
        </p:nvSpPr>
        <p:spPr>
          <a:xfrm>
            <a:off x="5675593" y="2007586"/>
            <a:ext cx="816694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" altLang="ko-KR" sz="1100" ker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O</a:t>
            </a: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CF27D65C-5CD7-4BA1-0140-C5A93D659013}"/>
              </a:ext>
            </a:extLst>
          </p:cNvPr>
          <p:cNvSpPr/>
          <p:nvPr/>
        </p:nvSpPr>
        <p:spPr>
          <a:xfrm>
            <a:off x="3912367" y="2350128"/>
            <a:ext cx="816517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" altLang="ko-KR" sz="1100" ker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O</a:t>
            </a:r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63E2E6D5-B89C-9E96-D058-15DBBAD93919}"/>
              </a:ext>
            </a:extLst>
          </p:cNvPr>
          <p:cNvSpPr/>
          <p:nvPr/>
        </p:nvSpPr>
        <p:spPr>
          <a:xfrm>
            <a:off x="4794157" y="2350128"/>
            <a:ext cx="816517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" altLang="ko-KR" sz="1100" ker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O</a:t>
            </a:r>
          </a:p>
        </p:txBody>
      </p:sp>
      <p:sp>
        <p:nvSpPr>
          <p:cNvPr id="64" name="사각형: 둥근 모서리 20">
            <a:extLst>
              <a:ext uri="{FF2B5EF4-FFF2-40B4-BE49-F238E27FC236}">
                <a16:creationId xmlns:a16="http://schemas.microsoft.com/office/drawing/2014/main" id="{D7B6D951-FCAB-F3D3-4019-6CFFA6DD2ABD}"/>
              </a:ext>
            </a:extLst>
          </p:cNvPr>
          <p:cNvSpPr/>
          <p:nvPr/>
        </p:nvSpPr>
        <p:spPr>
          <a:xfrm>
            <a:off x="5675593" y="2350128"/>
            <a:ext cx="816694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100" i="1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75000"/>
                  </a:schemeClr>
                </a:solidFill>
                <a:latin typeface="+mn-ea"/>
              </a:rPr>
              <a:t>N/A</a:t>
            </a:r>
            <a:endParaRPr kumimoji="1" lang="en" altLang="ko-KR" sz="1100" i="1" kern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bg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7E75682B-3F23-14E6-3046-4A0E40A1413B}"/>
              </a:ext>
            </a:extLst>
          </p:cNvPr>
          <p:cNvSpPr/>
          <p:nvPr/>
        </p:nvSpPr>
        <p:spPr>
          <a:xfrm>
            <a:off x="3912367" y="3035214"/>
            <a:ext cx="816517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" altLang="ko-KR" sz="1100" ker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O</a:t>
            </a:r>
          </a:p>
        </p:txBody>
      </p: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29508916-7E3C-ECF0-B445-A89F14F63F98}"/>
              </a:ext>
            </a:extLst>
          </p:cNvPr>
          <p:cNvSpPr/>
          <p:nvPr/>
        </p:nvSpPr>
        <p:spPr>
          <a:xfrm>
            <a:off x="4794157" y="3035214"/>
            <a:ext cx="816517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" altLang="ko-KR" sz="1100" ker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O</a:t>
            </a:r>
          </a:p>
        </p:txBody>
      </p:sp>
      <p:sp>
        <p:nvSpPr>
          <p:cNvPr id="67" name="사각형: 둥근 모서리 20">
            <a:extLst>
              <a:ext uri="{FF2B5EF4-FFF2-40B4-BE49-F238E27FC236}">
                <a16:creationId xmlns:a16="http://schemas.microsoft.com/office/drawing/2014/main" id="{8012D1F9-BC14-E8D3-945B-DE157134D115}"/>
              </a:ext>
            </a:extLst>
          </p:cNvPr>
          <p:cNvSpPr/>
          <p:nvPr/>
        </p:nvSpPr>
        <p:spPr>
          <a:xfrm>
            <a:off x="5675593" y="3035214"/>
            <a:ext cx="816694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" altLang="ko-KR" sz="1100" ker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O</a:t>
            </a:r>
          </a:p>
        </p:txBody>
      </p:sp>
      <p:sp>
        <p:nvSpPr>
          <p:cNvPr id="68" name="사각형: 둥근 모서리 67">
            <a:extLst>
              <a:ext uri="{FF2B5EF4-FFF2-40B4-BE49-F238E27FC236}">
                <a16:creationId xmlns:a16="http://schemas.microsoft.com/office/drawing/2014/main" id="{ED7EB2A8-2649-C45D-0AA4-F99FEC42A45D}"/>
              </a:ext>
            </a:extLst>
          </p:cNvPr>
          <p:cNvSpPr/>
          <p:nvPr/>
        </p:nvSpPr>
        <p:spPr>
          <a:xfrm>
            <a:off x="3912367" y="3720300"/>
            <a:ext cx="816517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" altLang="ko-KR" sz="1100" ker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O</a:t>
            </a:r>
          </a:p>
        </p:txBody>
      </p: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80EA8AA2-61B2-60F0-48B2-ADAB255D662E}"/>
              </a:ext>
            </a:extLst>
          </p:cNvPr>
          <p:cNvSpPr/>
          <p:nvPr/>
        </p:nvSpPr>
        <p:spPr>
          <a:xfrm>
            <a:off x="4794157" y="3720300"/>
            <a:ext cx="816517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" altLang="ko-KR" sz="1100" ker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O</a:t>
            </a:r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52064622-CC5B-CB29-2CA1-1BFF892238C2}"/>
              </a:ext>
            </a:extLst>
          </p:cNvPr>
          <p:cNvSpPr/>
          <p:nvPr/>
        </p:nvSpPr>
        <p:spPr>
          <a:xfrm>
            <a:off x="5675769" y="3720300"/>
            <a:ext cx="816517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" altLang="ko-KR" sz="1100" ker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O</a:t>
            </a:r>
          </a:p>
        </p:txBody>
      </p:sp>
      <p:sp>
        <p:nvSpPr>
          <p:cNvPr id="71" name="사각형: 둥근 모서리 70">
            <a:extLst>
              <a:ext uri="{FF2B5EF4-FFF2-40B4-BE49-F238E27FC236}">
                <a16:creationId xmlns:a16="http://schemas.microsoft.com/office/drawing/2014/main" id="{55D52026-67D8-3AB5-ED26-D9112D4A8F76}"/>
              </a:ext>
            </a:extLst>
          </p:cNvPr>
          <p:cNvSpPr/>
          <p:nvPr/>
        </p:nvSpPr>
        <p:spPr>
          <a:xfrm>
            <a:off x="3912367" y="4062843"/>
            <a:ext cx="816517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" altLang="ko-KR" sz="1100" ker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O</a:t>
            </a:r>
          </a:p>
        </p:txBody>
      </p:sp>
      <p:sp>
        <p:nvSpPr>
          <p:cNvPr id="72" name="사각형: 둥근 모서리 71">
            <a:extLst>
              <a:ext uri="{FF2B5EF4-FFF2-40B4-BE49-F238E27FC236}">
                <a16:creationId xmlns:a16="http://schemas.microsoft.com/office/drawing/2014/main" id="{5BB9F3E0-DB5C-6BC0-02A6-A9E730827E53}"/>
              </a:ext>
            </a:extLst>
          </p:cNvPr>
          <p:cNvSpPr/>
          <p:nvPr/>
        </p:nvSpPr>
        <p:spPr>
          <a:xfrm>
            <a:off x="4794157" y="4062843"/>
            <a:ext cx="816517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" altLang="ko-KR" sz="1100" ker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O</a:t>
            </a:r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13BF9E7E-03D7-6CDC-9D50-B60B0C025B05}"/>
              </a:ext>
            </a:extLst>
          </p:cNvPr>
          <p:cNvSpPr/>
          <p:nvPr/>
        </p:nvSpPr>
        <p:spPr>
          <a:xfrm>
            <a:off x="5675769" y="4062843"/>
            <a:ext cx="816517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" altLang="ko-KR" sz="1100" ker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O</a:t>
            </a:r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08BEACAC-F1D1-6E6D-7B07-E178F83791FF}"/>
              </a:ext>
            </a:extLst>
          </p:cNvPr>
          <p:cNvSpPr/>
          <p:nvPr/>
        </p:nvSpPr>
        <p:spPr>
          <a:xfrm>
            <a:off x="3912367" y="4405385"/>
            <a:ext cx="816517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" altLang="ko-KR" sz="1100" ker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O</a:t>
            </a:r>
          </a:p>
        </p:txBody>
      </p:sp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7BDEFB15-509F-92B4-D0E5-DABB77AB41C2}"/>
              </a:ext>
            </a:extLst>
          </p:cNvPr>
          <p:cNvSpPr/>
          <p:nvPr/>
        </p:nvSpPr>
        <p:spPr>
          <a:xfrm>
            <a:off x="4794157" y="4405385"/>
            <a:ext cx="816517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" altLang="ko-KR" sz="1100" ker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O</a:t>
            </a:r>
          </a:p>
        </p:txBody>
      </p:sp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B496D91C-9DA4-E6DE-6A6C-22D926FACD2D}"/>
              </a:ext>
            </a:extLst>
          </p:cNvPr>
          <p:cNvSpPr/>
          <p:nvPr/>
        </p:nvSpPr>
        <p:spPr>
          <a:xfrm>
            <a:off x="5675769" y="4405385"/>
            <a:ext cx="816517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" altLang="ko-KR" sz="1100" ker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O</a:t>
            </a:r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AA6D44DB-9A14-AA85-75D2-C18C2DA188C9}"/>
              </a:ext>
            </a:extLst>
          </p:cNvPr>
          <p:cNvSpPr/>
          <p:nvPr/>
        </p:nvSpPr>
        <p:spPr>
          <a:xfrm>
            <a:off x="3912367" y="4747928"/>
            <a:ext cx="816517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" altLang="ko-KR" sz="1100" ker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O</a:t>
            </a:r>
          </a:p>
        </p:txBody>
      </p: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F56FE63A-DF8F-17D4-5A91-B992EBF5E42A}"/>
              </a:ext>
            </a:extLst>
          </p:cNvPr>
          <p:cNvSpPr/>
          <p:nvPr/>
        </p:nvSpPr>
        <p:spPr>
          <a:xfrm>
            <a:off x="4794157" y="4747928"/>
            <a:ext cx="816517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" altLang="ko-KR" sz="1100" ker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O</a:t>
            </a:r>
          </a:p>
        </p:txBody>
      </p:sp>
      <p:sp>
        <p:nvSpPr>
          <p:cNvPr id="79" name="사각형: 둥근 모서리 78">
            <a:extLst>
              <a:ext uri="{FF2B5EF4-FFF2-40B4-BE49-F238E27FC236}">
                <a16:creationId xmlns:a16="http://schemas.microsoft.com/office/drawing/2014/main" id="{B0728C3E-008D-6EA8-0370-8D7C4527412A}"/>
              </a:ext>
            </a:extLst>
          </p:cNvPr>
          <p:cNvSpPr/>
          <p:nvPr/>
        </p:nvSpPr>
        <p:spPr>
          <a:xfrm>
            <a:off x="5675769" y="4747928"/>
            <a:ext cx="816517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" altLang="ko-KR" sz="1100" ker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O</a:t>
            </a:r>
          </a:p>
        </p:txBody>
      </p:sp>
      <p:sp>
        <p:nvSpPr>
          <p:cNvPr id="80" name="사각형: 둥근 모서리 79">
            <a:extLst>
              <a:ext uri="{FF2B5EF4-FFF2-40B4-BE49-F238E27FC236}">
                <a16:creationId xmlns:a16="http://schemas.microsoft.com/office/drawing/2014/main" id="{8ECFCA38-1355-ACE3-682E-146173381D83}"/>
              </a:ext>
            </a:extLst>
          </p:cNvPr>
          <p:cNvSpPr/>
          <p:nvPr/>
        </p:nvSpPr>
        <p:spPr>
          <a:xfrm>
            <a:off x="3912367" y="5090472"/>
            <a:ext cx="816517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" altLang="ko-KR" sz="1100" ker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O</a:t>
            </a:r>
          </a:p>
        </p:txBody>
      </p:sp>
      <p:sp>
        <p:nvSpPr>
          <p:cNvPr id="81" name="사각형: 둥근 모서리 80">
            <a:extLst>
              <a:ext uri="{FF2B5EF4-FFF2-40B4-BE49-F238E27FC236}">
                <a16:creationId xmlns:a16="http://schemas.microsoft.com/office/drawing/2014/main" id="{8990F92A-ABBF-A264-6144-1BA1450E4A12}"/>
              </a:ext>
            </a:extLst>
          </p:cNvPr>
          <p:cNvSpPr/>
          <p:nvPr/>
        </p:nvSpPr>
        <p:spPr>
          <a:xfrm>
            <a:off x="4794157" y="5090472"/>
            <a:ext cx="816517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" altLang="ko-KR" sz="1100" ker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O</a:t>
            </a:r>
          </a:p>
        </p:txBody>
      </p:sp>
      <p:sp>
        <p:nvSpPr>
          <p:cNvPr id="82" name="사각형: 둥근 모서리 81">
            <a:extLst>
              <a:ext uri="{FF2B5EF4-FFF2-40B4-BE49-F238E27FC236}">
                <a16:creationId xmlns:a16="http://schemas.microsoft.com/office/drawing/2014/main" id="{313B7FAA-6118-D0C8-2317-42E739A696FA}"/>
              </a:ext>
            </a:extLst>
          </p:cNvPr>
          <p:cNvSpPr/>
          <p:nvPr/>
        </p:nvSpPr>
        <p:spPr>
          <a:xfrm>
            <a:off x="5675769" y="5090472"/>
            <a:ext cx="816517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" altLang="ko-KR" sz="1100" ker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O</a:t>
            </a:r>
          </a:p>
        </p:txBody>
      </p:sp>
      <p:sp>
        <p:nvSpPr>
          <p:cNvPr id="83" name="사각형: 둥근 모서리 82">
            <a:extLst>
              <a:ext uri="{FF2B5EF4-FFF2-40B4-BE49-F238E27FC236}">
                <a16:creationId xmlns:a16="http://schemas.microsoft.com/office/drawing/2014/main" id="{54B67258-01F3-A005-84E4-E0E656ADD5F1}"/>
              </a:ext>
            </a:extLst>
          </p:cNvPr>
          <p:cNvSpPr/>
          <p:nvPr/>
        </p:nvSpPr>
        <p:spPr>
          <a:xfrm>
            <a:off x="6609974" y="3377757"/>
            <a:ext cx="816517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" altLang="ko-KR" sz="1100" ker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O</a:t>
            </a:r>
            <a:endParaRPr kumimoji="1" lang="en" altLang="ko-KR" sz="1100" b="0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effectLst/>
              <a:uLnTx/>
              <a:uFillTx/>
              <a:latin typeface="+mn-ea"/>
            </a:endParaRPr>
          </a:p>
        </p:txBody>
      </p:sp>
      <p:sp>
        <p:nvSpPr>
          <p:cNvPr id="84" name="사각형: 둥근 모서리 20">
            <a:extLst>
              <a:ext uri="{FF2B5EF4-FFF2-40B4-BE49-F238E27FC236}">
                <a16:creationId xmlns:a16="http://schemas.microsoft.com/office/drawing/2014/main" id="{DB1AE0F6-4505-269E-6B6D-34994AB24A06}"/>
              </a:ext>
            </a:extLst>
          </p:cNvPr>
          <p:cNvSpPr/>
          <p:nvPr/>
        </p:nvSpPr>
        <p:spPr>
          <a:xfrm>
            <a:off x="8373376" y="3377757"/>
            <a:ext cx="816517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" altLang="ko-KR" sz="1100" ker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O</a:t>
            </a:r>
            <a:endParaRPr kumimoji="1" lang="en" altLang="ko-KR" sz="1100" b="0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effectLst/>
              <a:uLnTx/>
              <a:uFillTx/>
              <a:latin typeface="+mn-ea"/>
            </a:endParaRPr>
          </a:p>
        </p:txBody>
      </p:sp>
      <p:sp>
        <p:nvSpPr>
          <p:cNvPr id="85" name="사각형: 둥근 모서리 84">
            <a:extLst>
              <a:ext uri="{FF2B5EF4-FFF2-40B4-BE49-F238E27FC236}">
                <a16:creationId xmlns:a16="http://schemas.microsoft.com/office/drawing/2014/main" id="{023F07F7-487E-861F-B3F2-850B445B0F65}"/>
              </a:ext>
            </a:extLst>
          </p:cNvPr>
          <p:cNvSpPr/>
          <p:nvPr/>
        </p:nvSpPr>
        <p:spPr>
          <a:xfrm>
            <a:off x="7491764" y="3377757"/>
            <a:ext cx="816517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" altLang="ko-KR" sz="1100" ker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O</a:t>
            </a:r>
            <a:endParaRPr kumimoji="1" lang="en" altLang="ko-KR" sz="1100" b="0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effectLst/>
              <a:uLnTx/>
              <a:uFillTx/>
              <a:latin typeface="+mn-ea"/>
            </a:endParaRPr>
          </a:p>
        </p:txBody>
      </p:sp>
      <p:sp>
        <p:nvSpPr>
          <p:cNvPr id="86" name="사각형: 둥근 모서리 85">
            <a:extLst>
              <a:ext uri="{FF2B5EF4-FFF2-40B4-BE49-F238E27FC236}">
                <a16:creationId xmlns:a16="http://schemas.microsoft.com/office/drawing/2014/main" id="{94500075-4587-0C90-FF01-37164C379561}"/>
              </a:ext>
            </a:extLst>
          </p:cNvPr>
          <p:cNvSpPr/>
          <p:nvPr/>
        </p:nvSpPr>
        <p:spPr>
          <a:xfrm>
            <a:off x="6609974" y="2692672"/>
            <a:ext cx="816517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" altLang="ko-KR" sz="1100" ker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O</a:t>
            </a:r>
            <a:endParaRPr kumimoji="1" lang="en" altLang="ko-KR" sz="1100" b="0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effectLst/>
              <a:uLnTx/>
              <a:uFillTx/>
              <a:latin typeface="+mn-ea"/>
            </a:endParaRPr>
          </a:p>
        </p:txBody>
      </p:sp>
      <p:sp>
        <p:nvSpPr>
          <p:cNvPr id="87" name="사각형: 둥근 모서리 20">
            <a:extLst>
              <a:ext uri="{FF2B5EF4-FFF2-40B4-BE49-F238E27FC236}">
                <a16:creationId xmlns:a16="http://schemas.microsoft.com/office/drawing/2014/main" id="{F7E364AF-3EBE-33D6-AE70-DC290B44337F}"/>
              </a:ext>
            </a:extLst>
          </p:cNvPr>
          <p:cNvSpPr/>
          <p:nvPr/>
        </p:nvSpPr>
        <p:spPr>
          <a:xfrm>
            <a:off x="8373376" y="2692672"/>
            <a:ext cx="816517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100" i="1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75000"/>
                  </a:schemeClr>
                </a:solidFill>
                <a:latin typeface="+mn-ea"/>
              </a:rPr>
              <a:t>N/A</a:t>
            </a:r>
            <a:endParaRPr kumimoji="1" lang="en" altLang="ko-KR" sz="1100" i="1" kern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bg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88" name="사각형: 둥근 모서리 87">
            <a:extLst>
              <a:ext uri="{FF2B5EF4-FFF2-40B4-BE49-F238E27FC236}">
                <a16:creationId xmlns:a16="http://schemas.microsoft.com/office/drawing/2014/main" id="{537D6EFA-59E0-6700-2B4B-DF070CD24289}"/>
              </a:ext>
            </a:extLst>
          </p:cNvPr>
          <p:cNvSpPr/>
          <p:nvPr/>
        </p:nvSpPr>
        <p:spPr>
          <a:xfrm>
            <a:off x="7491764" y="2692672"/>
            <a:ext cx="816517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" altLang="ko-KR" sz="1100" ker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O</a:t>
            </a:r>
            <a:endParaRPr kumimoji="1" lang="en" altLang="ko-KR" sz="1100" b="0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effectLst/>
              <a:uLnTx/>
              <a:uFillTx/>
              <a:latin typeface="+mn-ea"/>
            </a:endParaRPr>
          </a:p>
        </p:txBody>
      </p:sp>
      <p:sp>
        <p:nvSpPr>
          <p:cNvPr id="89" name="사각형: 둥근 모서리 88">
            <a:extLst>
              <a:ext uri="{FF2B5EF4-FFF2-40B4-BE49-F238E27FC236}">
                <a16:creationId xmlns:a16="http://schemas.microsoft.com/office/drawing/2014/main" id="{B634E067-711B-6511-0911-0EA77939B44A}"/>
              </a:ext>
            </a:extLst>
          </p:cNvPr>
          <p:cNvSpPr/>
          <p:nvPr/>
        </p:nvSpPr>
        <p:spPr>
          <a:xfrm>
            <a:off x="6609974" y="1665043"/>
            <a:ext cx="816517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" altLang="ko-KR" sz="1100" ker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O</a:t>
            </a:r>
          </a:p>
        </p:txBody>
      </p:sp>
      <p:sp>
        <p:nvSpPr>
          <p:cNvPr id="90" name="사각형: 둥근 모서리 20">
            <a:extLst>
              <a:ext uri="{FF2B5EF4-FFF2-40B4-BE49-F238E27FC236}">
                <a16:creationId xmlns:a16="http://schemas.microsoft.com/office/drawing/2014/main" id="{D09B5CA8-2D61-B84F-F4E8-AB076E6AA0F3}"/>
              </a:ext>
            </a:extLst>
          </p:cNvPr>
          <p:cNvSpPr/>
          <p:nvPr/>
        </p:nvSpPr>
        <p:spPr>
          <a:xfrm>
            <a:off x="7491586" y="1665043"/>
            <a:ext cx="816694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" altLang="ko-KR" sz="1100" ker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O</a:t>
            </a:r>
            <a:endParaRPr kumimoji="1" lang="en" altLang="ko-KR" sz="1100" b="0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effectLst/>
              <a:uLnTx/>
              <a:uFillTx/>
              <a:latin typeface="+mn-ea"/>
            </a:endParaRPr>
          </a:p>
        </p:txBody>
      </p:sp>
      <p:sp>
        <p:nvSpPr>
          <p:cNvPr id="91" name="사각형: 둥근 모서리 20">
            <a:extLst>
              <a:ext uri="{FF2B5EF4-FFF2-40B4-BE49-F238E27FC236}">
                <a16:creationId xmlns:a16="http://schemas.microsoft.com/office/drawing/2014/main" id="{F56FF491-0FBB-6D9A-412E-9C38E459636C}"/>
              </a:ext>
            </a:extLst>
          </p:cNvPr>
          <p:cNvSpPr/>
          <p:nvPr/>
        </p:nvSpPr>
        <p:spPr>
          <a:xfrm>
            <a:off x="8373199" y="1665043"/>
            <a:ext cx="816694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" altLang="ko-KR" sz="1100" ker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O</a:t>
            </a:r>
            <a:endParaRPr kumimoji="1" lang="en" altLang="ko-KR" sz="1100" b="0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effectLst/>
              <a:uLnTx/>
              <a:uFillTx/>
              <a:latin typeface="+mn-ea"/>
            </a:endParaRPr>
          </a:p>
        </p:txBody>
      </p:sp>
      <p:sp>
        <p:nvSpPr>
          <p:cNvPr id="92" name="사각형: 둥근 모서리 91">
            <a:extLst>
              <a:ext uri="{FF2B5EF4-FFF2-40B4-BE49-F238E27FC236}">
                <a16:creationId xmlns:a16="http://schemas.microsoft.com/office/drawing/2014/main" id="{1124DBC0-E1E8-CC7B-A1D6-44702F9CDC25}"/>
              </a:ext>
            </a:extLst>
          </p:cNvPr>
          <p:cNvSpPr/>
          <p:nvPr/>
        </p:nvSpPr>
        <p:spPr>
          <a:xfrm>
            <a:off x="6609974" y="2007586"/>
            <a:ext cx="816517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" altLang="ko-KR" sz="1100" ker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O</a:t>
            </a:r>
            <a:endParaRPr kumimoji="1" lang="en" altLang="ko-KR" sz="1100" b="0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effectLst/>
              <a:uLnTx/>
              <a:uFillTx/>
              <a:latin typeface="+mn-ea"/>
            </a:endParaRPr>
          </a:p>
        </p:txBody>
      </p:sp>
      <p:sp>
        <p:nvSpPr>
          <p:cNvPr id="93" name="사각형: 둥근 모서리 20">
            <a:extLst>
              <a:ext uri="{FF2B5EF4-FFF2-40B4-BE49-F238E27FC236}">
                <a16:creationId xmlns:a16="http://schemas.microsoft.com/office/drawing/2014/main" id="{A850F05E-109A-BF9E-BE4A-45D7D2FD6792}"/>
              </a:ext>
            </a:extLst>
          </p:cNvPr>
          <p:cNvSpPr/>
          <p:nvPr/>
        </p:nvSpPr>
        <p:spPr>
          <a:xfrm>
            <a:off x="7491586" y="2007586"/>
            <a:ext cx="816694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" altLang="ko-KR" sz="1100" ker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O</a:t>
            </a:r>
            <a:endParaRPr kumimoji="1" lang="en" altLang="ko-KR" sz="1100" b="0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effectLst/>
              <a:uLnTx/>
              <a:uFillTx/>
              <a:latin typeface="+mn-ea"/>
            </a:endParaRPr>
          </a:p>
        </p:txBody>
      </p:sp>
      <p:sp>
        <p:nvSpPr>
          <p:cNvPr id="94" name="사각형: 둥근 모서리 20">
            <a:extLst>
              <a:ext uri="{FF2B5EF4-FFF2-40B4-BE49-F238E27FC236}">
                <a16:creationId xmlns:a16="http://schemas.microsoft.com/office/drawing/2014/main" id="{5CED4211-42E4-41B1-B149-D1B8114D6752}"/>
              </a:ext>
            </a:extLst>
          </p:cNvPr>
          <p:cNvSpPr/>
          <p:nvPr/>
        </p:nvSpPr>
        <p:spPr>
          <a:xfrm>
            <a:off x="8373199" y="2007586"/>
            <a:ext cx="816694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" altLang="ko-KR" sz="1100" ker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O</a:t>
            </a:r>
            <a:endParaRPr kumimoji="1" lang="en" altLang="ko-KR" sz="1100" b="0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effectLst/>
              <a:uLnTx/>
              <a:uFillTx/>
              <a:latin typeface="+mn-ea"/>
            </a:endParaRPr>
          </a:p>
        </p:txBody>
      </p:sp>
      <p:sp>
        <p:nvSpPr>
          <p:cNvPr id="95" name="사각형: 둥근 모서리 94">
            <a:extLst>
              <a:ext uri="{FF2B5EF4-FFF2-40B4-BE49-F238E27FC236}">
                <a16:creationId xmlns:a16="http://schemas.microsoft.com/office/drawing/2014/main" id="{AEF0BD05-CEEF-1135-FE7C-C5CE2D7F8DD0}"/>
              </a:ext>
            </a:extLst>
          </p:cNvPr>
          <p:cNvSpPr/>
          <p:nvPr/>
        </p:nvSpPr>
        <p:spPr>
          <a:xfrm>
            <a:off x="6609974" y="2350128"/>
            <a:ext cx="816517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" altLang="ko-KR" sz="1100" ker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O</a:t>
            </a:r>
            <a:endParaRPr kumimoji="1" lang="en" altLang="ko-KR" sz="1100" b="0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effectLst/>
              <a:uLnTx/>
              <a:uFillTx/>
              <a:latin typeface="+mn-ea"/>
            </a:endParaRPr>
          </a:p>
        </p:txBody>
      </p:sp>
      <p:sp>
        <p:nvSpPr>
          <p:cNvPr id="96" name="사각형: 둥근 모서리 95">
            <a:extLst>
              <a:ext uri="{FF2B5EF4-FFF2-40B4-BE49-F238E27FC236}">
                <a16:creationId xmlns:a16="http://schemas.microsoft.com/office/drawing/2014/main" id="{97D90E1A-0CD3-E845-457C-070BF4C254A5}"/>
              </a:ext>
            </a:extLst>
          </p:cNvPr>
          <p:cNvSpPr/>
          <p:nvPr/>
        </p:nvSpPr>
        <p:spPr>
          <a:xfrm>
            <a:off x="7491764" y="2350128"/>
            <a:ext cx="816517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" altLang="ko-KR" sz="1100" ker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O</a:t>
            </a:r>
            <a:endParaRPr kumimoji="1" lang="en" altLang="ko-KR" sz="1100" b="0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effectLst/>
              <a:uLnTx/>
              <a:uFillTx/>
              <a:latin typeface="+mn-ea"/>
            </a:endParaRPr>
          </a:p>
        </p:txBody>
      </p:sp>
      <p:sp>
        <p:nvSpPr>
          <p:cNvPr id="97" name="사각형: 둥근 모서리 20">
            <a:extLst>
              <a:ext uri="{FF2B5EF4-FFF2-40B4-BE49-F238E27FC236}">
                <a16:creationId xmlns:a16="http://schemas.microsoft.com/office/drawing/2014/main" id="{5F306E14-9AB5-053C-0CF7-EFF83E3B2A27}"/>
              </a:ext>
            </a:extLst>
          </p:cNvPr>
          <p:cNvSpPr/>
          <p:nvPr/>
        </p:nvSpPr>
        <p:spPr>
          <a:xfrm>
            <a:off x="8373199" y="2350128"/>
            <a:ext cx="816694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" altLang="ko-KR" sz="1100" ker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O</a:t>
            </a:r>
            <a:endParaRPr kumimoji="1" lang="en" altLang="ko-KR" sz="1100" b="0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effectLst/>
              <a:uLnTx/>
              <a:uFillTx/>
              <a:latin typeface="+mn-ea"/>
            </a:endParaRPr>
          </a:p>
        </p:txBody>
      </p:sp>
      <p:sp>
        <p:nvSpPr>
          <p:cNvPr id="98" name="사각형: 둥근 모서리 97">
            <a:extLst>
              <a:ext uri="{FF2B5EF4-FFF2-40B4-BE49-F238E27FC236}">
                <a16:creationId xmlns:a16="http://schemas.microsoft.com/office/drawing/2014/main" id="{E6810FEA-9349-4450-8E6D-DF3B27B0A7C5}"/>
              </a:ext>
            </a:extLst>
          </p:cNvPr>
          <p:cNvSpPr/>
          <p:nvPr/>
        </p:nvSpPr>
        <p:spPr>
          <a:xfrm>
            <a:off x="6609974" y="3035214"/>
            <a:ext cx="816517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" altLang="ko-KR" sz="1100" ker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O</a:t>
            </a:r>
            <a:endParaRPr kumimoji="1" lang="en" altLang="ko-KR" sz="1100" b="0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effectLst/>
              <a:uLnTx/>
              <a:uFillTx/>
              <a:latin typeface="+mn-ea"/>
            </a:endParaRPr>
          </a:p>
        </p:txBody>
      </p:sp>
      <p:sp>
        <p:nvSpPr>
          <p:cNvPr id="99" name="사각형: 둥근 모서리 98">
            <a:extLst>
              <a:ext uri="{FF2B5EF4-FFF2-40B4-BE49-F238E27FC236}">
                <a16:creationId xmlns:a16="http://schemas.microsoft.com/office/drawing/2014/main" id="{3C47BEA1-F77E-9215-5FD2-3F24ABC218DB}"/>
              </a:ext>
            </a:extLst>
          </p:cNvPr>
          <p:cNvSpPr/>
          <p:nvPr/>
        </p:nvSpPr>
        <p:spPr>
          <a:xfrm>
            <a:off x="7491764" y="3035214"/>
            <a:ext cx="816517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" altLang="ko-KR" sz="1100" ker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O</a:t>
            </a:r>
            <a:endParaRPr kumimoji="1" lang="en" altLang="ko-KR" sz="1100" b="0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effectLst/>
              <a:uLnTx/>
              <a:uFillTx/>
              <a:latin typeface="+mn-ea"/>
            </a:endParaRPr>
          </a:p>
        </p:txBody>
      </p:sp>
      <p:sp>
        <p:nvSpPr>
          <p:cNvPr id="100" name="사각형: 둥근 모서리 20">
            <a:extLst>
              <a:ext uri="{FF2B5EF4-FFF2-40B4-BE49-F238E27FC236}">
                <a16:creationId xmlns:a16="http://schemas.microsoft.com/office/drawing/2014/main" id="{8F73D787-CF16-6F9D-69F6-14EACEFCA574}"/>
              </a:ext>
            </a:extLst>
          </p:cNvPr>
          <p:cNvSpPr/>
          <p:nvPr/>
        </p:nvSpPr>
        <p:spPr>
          <a:xfrm>
            <a:off x="8373199" y="3035214"/>
            <a:ext cx="816694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" altLang="ko-KR" sz="1100" ker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O</a:t>
            </a:r>
            <a:endParaRPr kumimoji="1" lang="en" altLang="ko-KR" sz="1100" b="0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effectLst/>
              <a:uLnTx/>
              <a:uFillTx/>
              <a:latin typeface="+mn-ea"/>
            </a:endParaRPr>
          </a:p>
        </p:txBody>
      </p:sp>
      <p:sp>
        <p:nvSpPr>
          <p:cNvPr id="101" name="사각형: 둥근 모서리 100">
            <a:extLst>
              <a:ext uri="{FF2B5EF4-FFF2-40B4-BE49-F238E27FC236}">
                <a16:creationId xmlns:a16="http://schemas.microsoft.com/office/drawing/2014/main" id="{D749EB71-8299-839B-4B22-9B0D30F90851}"/>
              </a:ext>
            </a:extLst>
          </p:cNvPr>
          <p:cNvSpPr/>
          <p:nvPr/>
        </p:nvSpPr>
        <p:spPr>
          <a:xfrm>
            <a:off x="6609974" y="3720300"/>
            <a:ext cx="816517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" altLang="ko-KR" sz="1100" ker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O</a:t>
            </a:r>
            <a:endParaRPr kumimoji="1" lang="en" altLang="ko-KR" sz="1100" b="0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effectLst/>
              <a:uLnTx/>
              <a:uFillTx/>
              <a:latin typeface="+mn-ea"/>
            </a:endParaRPr>
          </a:p>
        </p:txBody>
      </p:sp>
      <p:sp>
        <p:nvSpPr>
          <p:cNvPr id="102" name="사각형: 둥근 모서리 101">
            <a:extLst>
              <a:ext uri="{FF2B5EF4-FFF2-40B4-BE49-F238E27FC236}">
                <a16:creationId xmlns:a16="http://schemas.microsoft.com/office/drawing/2014/main" id="{990542B7-7B45-FFA1-69F1-94E5AA2CEA5E}"/>
              </a:ext>
            </a:extLst>
          </p:cNvPr>
          <p:cNvSpPr/>
          <p:nvPr/>
        </p:nvSpPr>
        <p:spPr>
          <a:xfrm>
            <a:off x="7491764" y="3720300"/>
            <a:ext cx="816517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" altLang="ko-KR" sz="1100" ker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O</a:t>
            </a:r>
            <a:endParaRPr kumimoji="1" lang="en" altLang="ko-KR" sz="1100" b="0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effectLst/>
              <a:uLnTx/>
              <a:uFillTx/>
              <a:latin typeface="+mn-ea"/>
            </a:endParaRPr>
          </a:p>
        </p:txBody>
      </p:sp>
      <p:sp>
        <p:nvSpPr>
          <p:cNvPr id="103" name="사각형: 둥근 모서리 102">
            <a:extLst>
              <a:ext uri="{FF2B5EF4-FFF2-40B4-BE49-F238E27FC236}">
                <a16:creationId xmlns:a16="http://schemas.microsoft.com/office/drawing/2014/main" id="{CB69C50A-2EF6-F6E8-FFC9-36423E617A67}"/>
              </a:ext>
            </a:extLst>
          </p:cNvPr>
          <p:cNvSpPr/>
          <p:nvPr/>
        </p:nvSpPr>
        <p:spPr>
          <a:xfrm>
            <a:off x="8373376" y="3720300"/>
            <a:ext cx="816517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" altLang="ko-KR" sz="1100" ker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O</a:t>
            </a:r>
            <a:endParaRPr kumimoji="1" lang="en" altLang="ko-KR" sz="1100" b="0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effectLst/>
              <a:uLnTx/>
              <a:uFillTx/>
              <a:latin typeface="+mn-ea"/>
            </a:endParaRPr>
          </a:p>
        </p:txBody>
      </p:sp>
      <p:sp>
        <p:nvSpPr>
          <p:cNvPr id="104" name="사각형: 둥근 모서리 103">
            <a:extLst>
              <a:ext uri="{FF2B5EF4-FFF2-40B4-BE49-F238E27FC236}">
                <a16:creationId xmlns:a16="http://schemas.microsoft.com/office/drawing/2014/main" id="{9431ABAD-3229-E943-855F-ED219BF2E4C9}"/>
              </a:ext>
            </a:extLst>
          </p:cNvPr>
          <p:cNvSpPr/>
          <p:nvPr/>
        </p:nvSpPr>
        <p:spPr>
          <a:xfrm>
            <a:off x="6609974" y="4062843"/>
            <a:ext cx="816517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" altLang="ko-KR" sz="1100" ker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O</a:t>
            </a:r>
            <a:endParaRPr kumimoji="1" lang="en" altLang="ko-KR" sz="1100" b="0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effectLst/>
              <a:uLnTx/>
              <a:uFillTx/>
              <a:latin typeface="+mn-ea"/>
            </a:endParaRPr>
          </a:p>
        </p:txBody>
      </p:sp>
      <p:sp>
        <p:nvSpPr>
          <p:cNvPr id="105" name="사각형: 둥근 모서리 104">
            <a:extLst>
              <a:ext uri="{FF2B5EF4-FFF2-40B4-BE49-F238E27FC236}">
                <a16:creationId xmlns:a16="http://schemas.microsoft.com/office/drawing/2014/main" id="{2ADD5F70-ABAC-12ED-58DF-45C694B25373}"/>
              </a:ext>
            </a:extLst>
          </p:cNvPr>
          <p:cNvSpPr/>
          <p:nvPr/>
        </p:nvSpPr>
        <p:spPr>
          <a:xfrm>
            <a:off x="7491764" y="4062843"/>
            <a:ext cx="816517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" altLang="ko-KR" sz="1100" ker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O</a:t>
            </a:r>
            <a:endParaRPr kumimoji="1" lang="en" altLang="ko-KR" sz="1100" b="0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effectLst/>
              <a:uLnTx/>
              <a:uFillTx/>
              <a:latin typeface="+mn-ea"/>
            </a:endParaRPr>
          </a:p>
        </p:txBody>
      </p:sp>
      <p:sp>
        <p:nvSpPr>
          <p:cNvPr id="106" name="사각형: 둥근 모서리 105">
            <a:extLst>
              <a:ext uri="{FF2B5EF4-FFF2-40B4-BE49-F238E27FC236}">
                <a16:creationId xmlns:a16="http://schemas.microsoft.com/office/drawing/2014/main" id="{60019241-8643-234A-5E4E-5034BEEC30B7}"/>
              </a:ext>
            </a:extLst>
          </p:cNvPr>
          <p:cNvSpPr/>
          <p:nvPr/>
        </p:nvSpPr>
        <p:spPr>
          <a:xfrm>
            <a:off x="8373376" y="4062843"/>
            <a:ext cx="816517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" altLang="ko-KR" sz="1100" ker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O</a:t>
            </a:r>
            <a:endParaRPr kumimoji="1" lang="en" altLang="ko-KR" sz="1100" b="0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effectLst/>
              <a:uLnTx/>
              <a:uFillTx/>
              <a:latin typeface="+mn-ea"/>
            </a:endParaRPr>
          </a:p>
        </p:txBody>
      </p:sp>
      <p:sp>
        <p:nvSpPr>
          <p:cNvPr id="107" name="사각형: 둥근 모서리 106">
            <a:extLst>
              <a:ext uri="{FF2B5EF4-FFF2-40B4-BE49-F238E27FC236}">
                <a16:creationId xmlns:a16="http://schemas.microsoft.com/office/drawing/2014/main" id="{24F89883-B966-BD76-BC60-0771CFA4FDD5}"/>
              </a:ext>
            </a:extLst>
          </p:cNvPr>
          <p:cNvSpPr/>
          <p:nvPr/>
        </p:nvSpPr>
        <p:spPr>
          <a:xfrm>
            <a:off x="6609974" y="4405385"/>
            <a:ext cx="816517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" altLang="ko-KR" sz="1100" ker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O</a:t>
            </a:r>
            <a:endParaRPr kumimoji="1" lang="en" altLang="ko-KR" sz="1100" b="0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effectLst/>
              <a:uLnTx/>
              <a:uFillTx/>
              <a:latin typeface="+mn-ea"/>
            </a:endParaRPr>
          </a:p>
        </p:txBody>
      </p:sp>
      <p:sp>
        <p:nvSpPr>
          <p:cNvPr id="108" name="사각형: 둥근 모서리 107">
            <a:extLst>
              <a:ext uri="{FF2B5EF4-FFF2-40B4-BE49-F238E27FC236}">
                <a16:creationId xmlns:a16="http://schemas.microsoft.com/office/drawing/2014/main" id="{28A067B4-FE9D-8903-68D3-A4ABCFF4660B}"/>
              </a:ext>
            </a:extLst>
          </p:cNvPr>
          <p:cNvSpPr/>
          <p:nvPr/>
        </p:nvSpPr>
        <p:spPr>
          <a:xfrm>
            <a:off x="7491764" y="4405385"/>
            <a:ext cx="816517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" altLang="ko-KR" sz="1100" ker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O</a:t>
            </a:r>
            <a:endParaRPr kumimoji="1" lang="en" altLang="ko-KR" sz="1100" b="0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effectLst/>
              <a:uLnTx/>
              <a:uFillTx/>
              <a:latin typeface="+mn-ea"/>
            </a:endParaRPr>
          </a:p>
        </p:txBody>
      </p:sp>
      <p:sp>
        <p:nvSpPr>
          <p:cNvPr id="109" name="사각형: 둥근 모서리 108">
            <a:extLst>
              <a:ext uri="{FF2B5EF4-FFF2-40B4-BE49-F238E27FC236}">
                <a16:creationId xmlns:a16="http://schemas.microsoft.com/office/drawing/2014/main" id="{DB77A3E5-66DA-66DE-C58C-7446F61CC16A}"/>
              </a:ext>
            </a:extLst>
          </p:cNvPr>
          <p:cNvSpPr/>
          <p:nvPr/>
        </p:nvSpPr>
        <p:spPr>
          <a:xfrm>
            <a:off x="8373376" y="4405385"/>
            <a:ext cx="816517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" altLang="ko-KR" sz="1100" ker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O</a:t>
            </a:r>
            <a:endParaRPr kumimoji="1" lang="en" altLang="ko-KR" sz="1100" b="0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effectLst/>
              <a:uLnTx/>
              <a:uFillTx/>
              <a:latin typeface="+mn-ea"/>
            </a:endParaRPr>
          </a:p>
        </p:txBody>
      </p:sp>
      <p:sp>
        <p:nvSpPr>
          <p:cNvPr id="110" name="사각형: 둥근 모서리 109">
            <a:extLst>
              <a:ext uri="{FF2B5EF4-FFF2-40B4-BE49-F238E27FC236}">
                <a16:creationId xmlns:a16="http://schemas.microsoft.com/office/drawing/2014/main" id="{2D5E5F5F-74E4-F036-6015-62A3CAEE3393}"/>
              </a:ext>
            </a:extLst>
          </p:cNvPr>
          <p:cNvSpPr/>
          <p:nvPr/>
        </p:nvSpPr>
        <p:spPr>
          <a:xfrm>
            <a:off x="6609974" y="4747928"/>
            <a:ext cx="816517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" altLang="ko-KR" sz="1100" ker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O</a:t>
            </a:r>
            <a:endParaRPr kumimoji="1" lang="en" altLang="ko-KR" sz="1100" b="0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effectLst/>
              <a:uLnTx/>
              <a:uFillTx/>
              <a:latin typeface="+mn-ea"/>
            </a:endParaRPr>
          </a:p>
        </p:txBody>
      </p:sp>
      <p:sp>
        <p:nvSpPr>
          <p:cNvPr id="111" name="사각형: 둥근 모서리 110">
            <a:extLst>
              <a:ext uri="{FF2B5EF4-FFF2-40B4-BE49-F238E27FC236}">
                <a16:creationId xmlns:a16="http://schemas.microsoft.com/office/drawing/2014/main" id="{A8F6B5C6-A0C9-2328-6656-61A6014E83AA}"/>
              </a:ext>
            </a:extLst>
          </p:cNvPr>
          <p:cNvSpPr/>
          <p:nvPr/>
        </p:nvSpPr>
        <p:spPr>
          <a:xfrm>
            <a:off x="7491764" y="4747928"/>
            <a:ext cx="816517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" altLang="ko-KR" sz="1100" ker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O</a:t>
            </a:r>
            <a:endParaRPr kumimoji="1" lang="en" altLang="ko-KR" sz="1100" b="0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effectLst/>
              <a:uLnTx/>
              <a:uFillTx/>
              <a:latin typeface="+mn-ea"/>
            </a:endParaRPr>
          </a:p>
        </p:txBody>
      </p:sp>
      <p:sp>
        <p:nvSpPr>
          <p:cNvPr id="112" name="사각형: 둥근 모서리 111">
            <a:extLst>
              <a:ext uri="{FF2B5EF4-FFF2-40B4-BE49-F238E27FC236}">
                <a16:creationId xmlns:a16="http://schemas.microsoft.com/office/drawing/2014/main" id="{96056493-11CE-29FA-F8F7-B901DC16D45F}"/>
              </a:ext>
            </a:extLst>
          </p:cNvPr>
          <p:cNvSpPr/>
          <p:nvPr/>
        </p:nvSpPr>
        <p:spPr>
          <a:xfrm>
            <a:off x="8373376" y="4747928"/>
            <a:ext cx="816517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" altLang="ko-KR" sz="1100" ker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O</a:t>
            </a:r>
            <a:endParaRPr kumimoji="1" lang="en" altLang="ko-KR" sz="1100" b="0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effectLst/>
              <a:uLnTx/>
              <a:uFillTx/>
              <a:latin typeface="+mn-ea"/>
            </a:endParaRPr>
          </a:p>
        </p:txBody>
      </p:sp>
      <p:sp>
        <p:nvSpPr>
          <p:cNvPr id="113" name="사각형: 둥근 모서리 112">
            <a:extLst>
              <a:ext uri="{FF2B5EF4-FFF2-40B4-BE49-F238E27FC236}">
                <a16:creationId xmlns:a16="http://schemas.microsoft.com/office/drawing/2014/main" id="{0AABACDB-1746-1B38-36BD-9FA38B745449}"/>
              </a:ext>
            </a:extLst>
          </p:cNvPr>
          <p:cNvSpPr/>
          <p:nvPr/>
        </p:nvSpPr>
        <p:spPr>
          <a:xfrm>
            <a:off x="6609974" y="5090472"/>
            <a:ext cx="816517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" altLang="ko-KR" sz="1100" ker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O</a:t>
            </a:r>
            <a:endParaRPr kumimoji="1" lang="en" altLang="ko-KR" sz="1100" b="0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effectLst/>
              <a:uLnTx/>
              <a:uFillTx/>
              <a:latin typeface="+mn-ea"/>
            </a:endParaRPr>
          </a:p>
        </p:txBody>
      </p:sp>
      <p:sp>
        <p:nvSpPr>
          <p:cNvPr id="114" name="사각형: 둥근 모서리 113">
            <a:extLst>
              <a:ext uri="{FF2B5EF4-FFF2-40B4-BE49-F238E27FC236}">
                <a16:creationId xmlns:a16="http://schemas.microsoft.com/office/drawing/2014/main" id="{0C47BB08-96E6-BA7E-D54A-ED23695EA821}"/>
              </a:ext>
            </a:extLst>
          </p:cNvPr>
          <p:cNvSpPr/>
          <p:nvPr/>
        </p:nvSpPr>
        <p:spPr>
          <a:xfrm>
            <a:off x="7491764" y="5090472"/>
            <a:ext cx="816517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" altLang="ko-KR" sz="1100" ker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O</a:t>
            </a:r>
            <a:endParaRPr kumimoji="1" lang="en" altLang="ko-KR" sz="1100" b="0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effectLst/>
              <a:uLnTx/>
              <a:uFillTx/>
              <a:latin typeface="+mn-ea"/>
            </a:endParaRPr>
          </a:p>
        </p:txBody>
      </p:sp>
      <p:sp>
        <p:nvSpPr>
          <p:cNvPr id="115" name="사각형: 둥근 모서리 114">
            <a:extLst>
              <a:ext uri="{FF2B5EF4-FFF2-40B4-BE49-F238E27FC236}">
                <a16:creationId xmlns:a16="http://schemas.microsoft.com/office/drawing/2014/main" id="{60D62193-9964-F563-6E7B-D849817B095E}"/>
              </a:ext>
            </a:extLst>
          </p:cNvPr>
          <p:cNvSpPr/>
          <p:nvPr/>
        </p:nvSpPr>
        <p:spPr>
          <a:xfrm>
            <a:off x="8373376" y="5090472"/>
            <a:ext cx="816517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" altLang="ko-KR" sz="1100" ker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O</a:t>
            </a:r>
            <a:endParaRPr kumimoji="1" lang="en" altLang="ko-KR" sz="1100" b="0" i="0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effectLst/>
              <a:uLnTx/>
              <a:uFillTx/>
              <a:latin typeface="+mn-ea"/>
            </a:endParaRPr>
          </a:p>
        </p:txBody>
      </p:sp>
      <p:sp>
        <p:nvSpPr>
          <p:cNvPr id="116" name="사각형: 둥근 모서리 115">
            <a:extLst>
              <a:ext uri="{FF2B5EF4-FFF2-40B4-BE49-F238E27FC236}">
                <a16:creationId xmlns:a16="http://schemas.microsoft.com/office/drawing/2014/main" id="{7FCD4AAB-4F04-9206-9776-0B346C8CFB33}"/>
              </a:ext>
            </a:extLst>
          </p:cNvPr>
          <p:cNvSpPr/>
          <p:nvPr/>
        </p:nvSpPr>
        <p:spPr>
          <a:xfrm>
            <a:off x="9312039" y="3377757"/>
            <a:ext cx="816517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" altLang="ko-KR" sz="1100" ker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O</a:t>
            </a:r>
          </a:p>
        </p:txBody>
      </p:sp>
      <p:sp>
        <p:nvSpPr>
          <p:cNvPr id="117" name="사각형: 둥근 모서리 20">
            <a:extLst>
              <a:ext uri="{FF2B5EF4-FFF2-40B4-BE49-F238E27FC236}">
                <a16:creationId xmlns:a16="http://schemas.microsoft.com/office/drawing/2014/main" id="{47CAFF7D-1D44-D695-3F02-DE7ED4D67925}"/>
              </a:ext>
            </a:extLst>
          </p:cNvPr>
          <p:cNvSpPr/>
          <p:nvPr/>
        </p:nvSpPr>
        <p:spPr>
          <a:xfrm>
            <a:off x="11075442" y="3377757"/>
            <a:ext cx="816517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100" i="1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75000"/>
                  </a:schemeClr>
                </a:solidFill>
                <a:latin typeface="+mn-ea"/>
              </a:rPr>
              <a:t>N/A</a:t>
            </a:r>
            <a:endParaRPr kumimoji="1" lang="en" altLang="ko-KR" sz="1100" i="1" kern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bg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118" name="사각형: 둥근 모서리 117">
            <a:extLst>
              <a:ext uri="{FF2B5EF4-FFF2-40B4-BE49-F238E27FC236}">
                <a16:creationId xmlns:a16="http://schemas.microsoft.com/office/drawing/2014/main" id="{A08AB8A8-7F92-1767-D6BD-D6722F9235A1}"/>
              </a:ext>
            </a:extLst>
          </p:cNvPr>
          <p:cNvSpPr/>
          <p:nvPr/>
        </p:nvSpPr>
        <p:spPr>
          <a:xfrm>
            <a:off x="10193830" y="3377757"/>
            <a:ext cx="816517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" altLang="ko-KR" sz="1100" ker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O</a:t>
            </a:r>
          </a:p>
        </p:txBody>
      </p:sp>
      <p:sp>
        <p:nvSpPr>
          <p:cNvPr id="119" name="사각형: 둥근 모서리 118">
            <a:extLst>
              <a:ext uri="{FF2B5EF4-FFF2-40B4-BE49-F238E27FC236}">
                <a16:creationId xmlns:a16="http://schemas.microsoft.com/office/drawing/2014/main" id="{D36C4752-531B-5244-D806-EFD943735970}"/>
              </a:ext>
            </a:extLst>
          </p:cNvPr>
          <p:cNvSpPr/>
          <p:nvPr/>
        </p:nvSpPr>
        <p:spPr>
          <a:xfrm>
            <a:off x="9312039" y="2692672"/>
            <a:ext cx="816517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" altLang="ko-KR" sz="1100" ker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O</a:t>
            </a:r>
          </a:p>
        </p:txBody>
      </p:sp>
      <p:sp>
        <p:nvSpPr>
          <p:cNvPr id="120" name="사각형: 둥근 모서리 20">
            <a:extLst>
              <a:ext uri="{FF2B5EF4-FFF2-40B4-BE49-F238E27FC236}">
                <a16:creationId xmlns:a16="http://schemas.microsoft.com/office/drawing/2014/main" id="{BAD163A6-0E58-CA8F-8375-A45245487793}"/>
              </a:ext>
            </a:extLst>
          </p:cNvPr>
          <p:cNvSpPr/>
          <p:nvPr/>
        </p:nvSpPr>
        <p:spPr>
          <a:xfrm>
            <a:off x="11075442" y="2692672"/>
            <a:ext cx="816517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100" b="0" i="1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+mn-ea"/>
                <a:cs typeface="+mn-cs"/>
              </a:rPr>
              <a:t>N/A</a:t>
            </a:r>
            <a:endParaRPr kumimoji="1" lang="en" altLang="ko-KR" sz="1100" b="0" i="1" u="none" strike="noStrike" kern="0" cap="none" spc="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21" name="사각형: 둥근 모서리 120">
            <a:extLst>
              <a:ext uri="{FF2B5EF4-FFF2-40B4-BE49-F238E27FC236}">
                <a16:creationId xmlns:a16="http://schemas.microsoft.com/office/drawing/2014/main" id="{1A14FB32-86B1-8CF7-7FD4-94D9E1840DEE}"/>
              </a:ext>
            </a:extLst>
          </p:cNvPr>
          <p:cNvSpPr/>
          <p:nvPr/>
        </p:nvSpPr>
        <p:spPr>
          <a:xfrm>
            <a:off x="10193830" y="2692672"/>
            <a:ext cx="816517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" altLang="ko-KR" sz="1100" ker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O</a:t>
            </a:r>
          </a:p>
        </p:txBody>
      </p:sp>
      <p:sp>
        <p:nvSpPr>
          <p:cNvPr id="122" name="사각형: 둥근 모서리 121">
            <a:extLst>
              <a:ext uri="{FF2B5EF4-FFF2-40B4-BE49-F238E27FC236}">
                <a16:creationId xmlns:a16="http://schemas.microsoft.com/office/drawing/2014/main" id="{244C94B4-1347-BD14-3E0B-73966ACFC7CD}"/>
              </a:ext>
            </a:extLst>
          </p:cNvPr>
          <p:cNvSpPr/>
          <p:nvPr/>
        </p:nvSpPr>
        <p:spPr>
          <a:xfrm>
            <a:off x="9312039" y="1665043"/>
            <a:ext cx="816517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" altLang="ko-KR" sz="1100" ker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O</a:t>
            </a:r>
          </a:p>
        </p:txBody>
      </p:sp>
      <p:sp>
        <p:nvSpPr>
          <p:cNvPr id="123" name="사각형: 둥근 모서리 20">
            <a:extLst>
              <a:ext uri="{FF2B5EF4-FFF2-40B4-BE49-F238E27FC236}">
                <a16:creationId xmlns:a16="http://schemas.microsoft.com/office/drawing/2014/main" id="{2A0E6F91-14A4-0F93-EA65-A95E204EF82C}"/>
              </a:ext>
            </a:extLst>
          </p:cNvPr>
          <p:cNvSpPr/>
          <p:nvPr/>
        </p:nvSpPr>
        <p:spPr>
          <a:xfrm>
            <a:off x="10193652" y="1665043"/>
            <a:ext cx="816694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" altLang="ko-KR" sz="1100" ker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O</a:t>
            </a:r>
          </a:p>
        </p:txBody>
      </p:sp>
      <p:sp>
        <p:nvSpPr>
          <p:cNvPr id="124" name="사각형: 둥근 모서리 20">
            <a:extLst>
              <a:ext uri="{FF2B5EF4-FFF2-40B4-BE49-F238E27FC236}">
                <a16:creationId xmlns:a16="http://schemas.microsoft.com/office/drawing/2014/main" id="{FFC6DEAA-2668-F0D7-9493-A8AD32498629}"/>
              </a:ext>
            </a:extLst>
          </p:cNvPr>
          <p:cNvSpPr/>
          <p:nvPr/>
        </p:nvSpPr>
        <p:spPr>
          <a:xfrm>
            <a:off x="11075265" y="1665043"/>
            <a:ext cx="816694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" altLang="ko-KR" sz="1100" ker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O</a:t>
            </a:r>
          </a:p>
        </p:txBody>
      </p:sp>
      <p:sp>
        <p:nvSpPr>
          <p:cNvPr id="125" name="사각형: 둥근 모서리 124">
            <a:extLst>
              <a:ext uri="{FF2B5EF4-FFF2-40B4-BE49-F238E27FC236}">
                <a16:creationId xmlns:a16="http://schemas.microsoft.com/office/drawing/2014/main" id="{117827DA-A3EC-A93B-CB2F-8F44C02EEEFC}"/>
              </a:ext>
            </a:extLst>
          </p:cNvPr>
          <p:cNvSpPr/>
          <p:nvPr/>
        </p:nvSpPr>
        <p:spPr>
          <a:xfrm>
            <a:off x="9312039" y="2007586"/>
            <a:ext cx="816517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" altLang="ko-KR" sz="1100" ker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O</a:t>
            </a:r>
          </a:p>
        </p:txBody>
      </p:sp>
      <p:sp>
        <p:nvSpPr>
          <p:cNvPr id="126" name="사각형: 둥근 모서리 20">
            <a:extLst>
              <a:ext uri="{FF2B5EF4-FFF2-40B4-BE49-F238E27FC236}">
                <a16:creationId xmlns:a16="http://schemas.microsoft.com/office/drawing/2014/main" id="{9382E0DC-987B-8939-D420-C6B86C879B09}"/>
              </a:ext>
            </a:extLst>
          </p:cNvPr>
          <p:cNvSpPr/>
          <p:nvPr/>
        </p:nvSpPr>
        <p:spPr>
          <a:xfrm>
            <a:off x="10193652" y="2007586"/>
            <a:ext cx="816694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" altLang="ko-KR" sz="1100" ker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O</a:t>
            </a:r>
          </a:p>
        </p:txBody>
      </p:sp>
      <p:sp>
        <p:nvSpPr>
          <p:cNvPr id="127" name="사각형: 둥근 모서리 20">
            <a:extLst>
              <a:ext uri="{FF2B5EF4-FFF2-40B4-BE49-F238E27FC236}">
                <a16:creationId xmlns:a16="http://schemas.microsoft.com/office/drawing/2014/main" id="{F5E0102B-9116-6039-CA77-23722132E3B9}"/>
              </a:ext>
            </a:extLst>
          </p:cNvPr>
          <p:cNvSpPr/>
          <p:nvPr/>
        </p:nvSpPr>
        <p:spPr>
          <a:xfrm>
            <a:off x="11075265" y="2007586"/>
            <a:ext cx="816694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" altLang="ko-KR" sz="1100" ker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O</a:t>
            </a:r>
          </a:p>
        </p:txBody>
      </p:sp>
      <p:sp>
        <p:nvSpPr>
          <p:cNvPr id="128" name="사각형: 둥근 모서리 127">
            <a:extLst>
              <a:ext uri="{FF2B5EF4-FFF2-40B4-BE49-F238E27FC236}">
                <a16:creationId xmlns:a16="http://schemas.microsoft.com/office/drawing/2014/main" id="{7B93FEF1-60A7-F972-2C9F-4E3EDF25825D}"/>
              </a:ext>
            </a:extLst>
          </p:cNvPr>
          <p:cNvSpPr/>
          <p:nvPr/>
        </p:nvSpPr>
        <p:spPr>
          <a:xfrm>
            <a:off x="9312039" y="2350128"/>
            <a:ext cx="816517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" altLang="ko-KR" sz="1100" ker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O</a:t>
            </a:r>
          </a:p>
        </p:txBody>
      </p:sp>
      <p:sp>
        <p:nvSpPr>
          <p:cNvPr id="129" name="사각형: 둥근 모서리 128">
            <a:extLst>
              <a:ext uri="{FF2B5EF4-FFF2-40B4-BE49-F238E27FC236}">
                <a16:creationId xmlns:a16="http://schemas.microsoft.com/office/drawing/2014/main" id="{B2680126-7C7D-63D0-457C-2DA67AEFC683}"/>
              </a:ext>
            </a:extLst>
          </p:cNvPr>
          <p:cNvSpPr/>
          <p:nvPr/>
        </p:nvSpPr>
        <p:spPr>
          <a:xfrm>
            <a:off x="10193830" y="2350128"/>
            <a:ext cx="816517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" altLang="ko-KR" sz="1100" ker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O</a:t>
            </a:r>
          </a:p>
        </p:txBody>
      </p:sp>
      <p:sp>
        <p:nvSpPr>
          <p:cNvPr id="130" name="사각형: 둥근 모서리 20">
            <a:extLst>
              <a:ext uri="{FF2B5EF4-FFF2-40B4-BE49-F238E27FC236}">
                <a16:creationId xmlns:a16="http://schemas.microsoft.com/office/drawing/2014/main" id="{BFC77120-E1AC-5BD5-9848-A779A97C3D72}"/>
              </a:ext>
            </a:extLst>
          </p:cNvPr>
          <p:cNvSpPr/>
          <p:nvPr/>
        </p:nvSpPr>
        <p:spPr>
          <a:xfrm>
            <a:off x="11075265" y="2350128"/>
            <a:ext cx="816694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" altLang="ko-KR" sz="1100" ker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O</a:t>
            </a:r>
          </a:p>
        </p:txBody>
      </p:sp>
      <p:sp>
        <p:nvSpPr>
          <p:cNvPr id="131" name="사각형: 둥근 모서리 130">
            <a:extLst>
              <a:ext uri="{FF2B5EF4-FFF2-40B4-BE49-F238E27FC236}">
                <a16:creationId xmlns:a16="http://schemas.microsoft.com/office/drawing/2014/main" id="{1B3D237D-7941-417B-DA5D-0A9819CFF60B}"/>
              </a:ext>
            </a:extLst>
          </p:cNvPr>
          <p:cNvSpPr/>
          <p:nvPr/>
        </p:nvSpPr>
        <p:spPr>
          <a:xfrm>
            <a:off x="9312039" y="3035214"/>
            <a:ext cx="816517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" altLang="ko-KR" sz="1100" ker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O</a:t>
            </a:r>
          </a:p>
        </p:txBody>
      </p:sp>
      <p:sp>
        <p:nvSpPr>
          <p:cNvPr id="132" name="사각형: 둥근 모서리 131">
            <a:extLst>
              <a:ext uri="{FF2B5EF4-FFF2-40B4-BE49-F238E27FC236}">
                <a16:creationId xmlns:a16="http://schemas.microsoft.com/office/drawing/2014/main" id="{DEA34D65-FA72-C68A-B4C6-4C04B31AEAC2}"/>
              </a:ext>
            </a:extLst>
          </p:cNvPr>
          <p:cNvSpPr/>
          <p:nvPr/>
        </p:nvSpPr>
        <p:spPr>
          <a:xfrm>
            <a:off x="10193830" y="3035214"/>
            <a:ext cx="816517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" altLang="ko-KR" sz="1100" ker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O</a:t>
            </a:r>
          </a:p>
        </p:txBody>
      </p:sp>
      <p:sp>
        <p:nvSpPr>
          <p:cNvPr id="133" name="사각형: 둥근 모서리 20">
            <a:extLst>
              <a:ext uri="{FF2B5EF4-FFF2-40B4-BE49-F238E27FC236}">
                <a16:creationId xmlns:a16="http://schemas.microsoft.com/office/drawing/2014/main" id="{D81E9297-CB75-816F-91EC-AACC9193224E}"/>
              </a:ext>
            </a:extLst>
          </p:cNvPr>
          <p:cNvSpPr/>
          <p:nvPr/>
        </p:nvSpPr>
        <p:spPr>
          <a:xfrm>
            <a:off x="11075265" y="3035214"/>
            <a:ext cx="816694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" altLang="ko-KR" sz="1100" ker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O</a:t>
            </a:r>
          </a:p>
        </p:txBody>
      </p:sp>
      <p:sp>
        <p:nvSpPr>
          <p:cNvPr id="134" name="사각형: 둥근 모서리 133">
            <a:extLst>
              <a:ext uri="{FF2B5EF4-FFF2-40B4-BE49-F238E27FC236}">
                <a16:creationId xmlns:a16="http://schemas.microsoft.com/office/drawing/2014/main" id="{E2F9F518-A986-B635-4FBA-3732D643E208}"/>
              </a:ext>
            </a:extLst>
          </p:cNvPr>
          <p:cNvSpPr/>
          <p:nvPr/>
        </p:nvSpPr>
        <p:spPr>
          <a:xfrm>
            <a:off x="9312039" y="3720300"/>
            <a:ext cx="816517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" altLang="ko-KR" sz="1100" ker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O</a:t>
            </a:r>
          </a:p>
        </p:txBody>
      </p:sp>
      <p:sp>
        <p:nvSpPr>
          <p:cNvPr id="135" name="사각형: 둥근 모서리 134">
            <a:extLst>
              <a:ext uri="{FF2B5EF4-FFF2-40B4-BE49-F238E27FC236}">
                <a16:creationId xmlns:a16="http://schemas.microsoft.com/office/drawing/2014/main" id="{C76A1881-98EA-A09B-71C4-7A3B48789F00}"/>
              </a:ext>
            </a:extLst>
          </p:cNvPr>
          <p:cNvSpPr/>
          <p:nvPr/>
        </p:nvSpPr>
        <p:spPr>
          <a:xfrm>
            <a:off x="10193830" y="3720300"/>
            <a:ext cx="816517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" altLang="ko-KR" sz="1100" ker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O</a:t>
            </a:r>
          </a:p>
        </p:txBody>
      </p:sp>
      <p:sp>
        <p:nvSpPr>
          <p:cNvPr id="136" name="사각형: 둥근 모서리 135">
            <a:extLst>
              <a:ext uri="{FF2B5EF4-FFF2-40B4-BE49-F238E27FC236}">
                <a16:creationId xmlns:a16="http://schemas.microsoft.com/office/drawing/2014/main" id="{0298DF84-C17A-1473-7398-ECAB9B030C45}"/>
              </a:ext>
            </a:extLst>
          </p:cNvPr>
          <p:cNvSpPr/>
          <p:nvPr/>
        </p:nvSpPr>
        <p:spPr>
          <a:xfrm>
            <a:off x="11075442" y="3720300"/>
            <a:ext cx="816517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" altLang="ko-KR" sz="1100" ker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O</a:t>
            </a:r>
          </a:p>
        </p:txBody>
      </p:sp>
      <p:sp>
        <p:nvSpPr>
          <p:cNvPr id="137" name="사각형: 둥근 모서리 136">
            <a:extLst>
              <a:ext uri="{FF2B5EF4-FFF2-40B4-BE49-F238E27FC236}">
                <a16:creationId xmlns:a16="http://schemas.microsoft.com/office/drawing/2014/main" id="{D56543B6-6821-7987-2A53-0EDEF02B4F6E}"/>
              </a:ext>
            </a:extLst>
          </p:cNvPr>
          <p:cNvSpPr/>
          <p:nvPr/>
        </p:nvSpPr>
        <p:spPr>
          <a:xfrm>
            <a:off x="9312039" y="4062843"/>
            <a:ext cx="816517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" altLang="ko-KR" sz="1100" ker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O</a:t>
            </a:r>
          </a:p>
        </p:txBody>
      </p:sp>
      <p:sp>
        <p:nvSpPr>
          <p:cNvPr id="138" name="사각형: 둥근 모서리 137">
            <a:extLst>
              <a:ext uri="{FF2B5EF4-FFF2-40B4-BE49-F238E27FC236}">
                <a16:creationId xmlns:a16="http://schemas.microsoft.com/office/drawing/2014/main" id="{4C422A2E-E605-FB43-E86D-05DE73DB34C5}"/>
              </a:ext>
            </a:extLst>
          </p:cNvPr>
          <p:cNvSpPr/>
          <p:nvPr/>
        </p:nvSpPr>
        <p:spPr>
          <a:xfrm>
            <a:off x="10193830" y="4062843"/>
            <a:ext cx="816517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" altLang="ko-KR" sz="1100" ker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O</a:t>
            </a:r>
          </a:p>
        </p:txBody>
      </p:sp>
      <p:sp>
        <p:nvSpPr>
          <p:cNvPr id="139" name="사각형: 둥근 모서리 138">
            <a:extLst>
              <a:ext uri="{FF2B5EF4-FFF2-40B4-BE49-F238E27FC236}">
                <a16:creationId xmlns:a16="http://schemas.microsoft.com/office/drawing/2014/main" id="{98FA00F8-27F6-BEC6-D5F4-7CD9446D7052}"/>
              </a:ext>
            </a:extLst>
          </p:cNvPr>
          <p:cNvSpPr/>
          <p:nvPr/>
        </p:nvSpPr>
        <p:spPr>
          <a:xfrm>
            <a:off x="11075442" y="4062843"/>
            <a:ext cx="816517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" altLang="ko-KR" sz="1100" ker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O</a:t>
            </a:r>
          </a:p>
        </p:txBody>
      </p:sp>
      <p:sp>
        <p:nvSpPr>
          <p:cNvPr id="140" name="사각형: 둥근 모서리 139">
            <a:extLst>
              <a:ext uri="{FF2B5EF4-FFF2-40B4-BE49-F238E27FC236}">
                <a16:creationId xmlns:a16="http://schemas.microsoft.com/office/drawing/2014/main" id="{E926F090-6D94-56E3-A902-74E8BBB09E81}"/>
              </a:ext>
            </a:extLst>
          </p:cNvPr>
          <p:cNvSpPr/>
          <p:nvPr/>
        </p:nvSpPr>
        <p:spPr>
          <a:xfrm>
            <a:off x="9312039" y="4405385"/>
            <a:ext cx="816517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" altLang="ko-KR" sz="1100" ker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O</a:t>
            </a:r>
          </a:p>
        </p:txBody>
      </p:sp>
      <p:sp>
        <p:nvSpPr>
          <p:cNvPr id="141" name="사각형: 둥근 모서리 140">
            <a:extLst>
              <a:ext uri="{FF2B5EF4-FFF2-40B4-BE49-F238E27FC236}">
                <a16:creationId xmlns:a16="http://schemas.microsoft.com/office/drawing/2014/main" id="{D391E4D8-7D1F-18A2-6288-DE92DF522E28}"/>
              </a:ext>
            </a:extLst>
          </p:cNvPr>
          <p:cNvSpPr/>
          <p:nvPr/>
        </p:nvSpPr>
        <p:spPr>
          <a:xfrm>
            <a:off x="10193830" y="4405385"/>
            <a:ext cx="816517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" altLang="ko-KR" sz="1100" ker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O</a:t>
            </a:r>
          </a:p>
        </p:txBody>
      </p:sp>
      <p:sp>
        <p:nvSpPr>
          <p:cNvPr id="142" name="사각형: 둥근 모서리 141">
            <a:extLst>
              <a:ext uri="{FF2B5EF4-FFF2-40B4-BE49-F238E27FC236}">
                <a16:creationId xmlns:a16="http://schemas.microsoft.com/office/drawing/2014/main" id="{944B182F-A760-1A1B-0291-46ACFF172EAB}"/>
              </a:ext>
            </a:extLst>
          </p:cNvPr>
          <p:cNvSpPr/>
          <p:nvPr/>
        </p:nvSpPr>
        <p:spPr>
          <a:xfrm>
            <a:off x="11075442" y="4405385"/>
            <a:ext cx="816517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" altLang="ko-KR" sz="1100" ker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O</a:t>
            </a:r>
          </a:p>
        </p:txBody>
      </p:sp>
      <p:sp>
        <p:nvSpPr>
          <p:cNvPr id="143" name="사각형: 둥근 모서리 142">
            <a:extLst>
              <a:ext uri="{FF2B5EF4-FFF2-40B4-BE49-F238E27FC236}">
                <a16:creationId xmlns:a16="http://schemas.microsoft.com/office/drawing/2014/main" id="{0A342DE9-C451-B470-32C9-928E8FD197AF}"/>
              </a:ext>
            </a:extLst>
          </p:cNvPr>
          <p:cNvSpPr/>
          <p:nvPr/>
        </p:nvSpPr>
        <p:spPr>
          <a:xfrm>
            <a:off x="9312039" y="4747928"/>
            <a:ext cx="816517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" altLang="ko-KR" sz="1100" ker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O</a:t>
            </a:r>
          </a:p>
        </p:txBody>
      </p:sp>
      <p:sp>
        <p:nvSpPr>
          <p:cNvPr id="144" name="사각형: 둥근 모서리 143">
            <a:extLst>
              <a:ext uri="{FF2B5EF4-FFF2-40B4-BE49-F238E27FC236}">
                <a16:creationId xmlns:a16="http://schemas.microsoft.com/office/drawing/2014/main" id="{B90F5A64-3C19-412A-889D-BC56C84FA2E5}"/>
              </a:ext>
            </a:extLst>
          </p:cNvPr>
          <p:cNvSpPr/>
          <p:nvPr/>
        </p:nvSpPr>
        <p:spPr>
          <a:xfrm>
            <a:off x="10193830" y="4747928"/>
            <a:ext cx="816517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" altLang="ko-KR" sz="1100" ker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O</a:t>
            </a:r>
          </a:p>
        </p:txBody>
      </p:sp>
      <p:sp>
        <p:nvSpPr>
          <p:cNvPr id="145" name="사각형: 둥근 모서리 144">
            <a:extLst>
              <a:ext uri="{FF2B5EF4-FFF2-40B4-BE49-F238E27FC236}">
                <a16:creationId xmlns:a16="http://schemas.microsoft.com/office/drawing/2014/main" id="{33F419FE-A96F-EA45-65B1-1E8F3FBB7101}"/>
              </a:ext>
            </a:extLst>
          </p:cNvPr>
          <p:cNvSpPr/>
          <p:nvPr/>
        </p:nvSpPr>
        <p:spPr>
          <a:xfrm>
            <a:off x="11075442" y="4747928"/>
            <a:ext cx="816517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" altLang="ko-KR" sz="1100" ker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O</a:t>
            </a:r>
          </a:p>
        </p:txBody>
      </p:sp>
      <p:sp>
        <p:nvSpPr>
          <p:cNvPr id="146" name="사각형: 둥근 모서리 145">
            <a:extLst>
              <a:ext uri="{FF2B5EF4-FFF2-40B4-BE49-F238E27FC236}">
                <a16:creationId xmlns:a16="http://schemas.microsoft.com/office/drawing/2014/main" id="{47C2DB02-4048-3B77-9675-CE6DA52C1506}"/>
              </a:ext>
            </a:extLst>
          </p:cNvPr>
          <p:cNvSpPr/>
          <p:nvPr/>
        </p:nvSpPr>
        <p:spPr>
          <a:xfrm>
            <a:off x="9312039" y="5090472"/>
            <a:ext cx="816517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" altLang="ko-KR" sz="1100" ker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O</a:t>
            </a:r>
          </a:p>
        </p:txBody>
      </p:sp>
      <p:sp>
        <p:nvSpPr>
          <p:cNvPr id="147" name="사각형: 둥근 모서리 146">
            <a:extLst>
              <a:ext uri="{FF2B5EF4-FFF2-40B4-BE49-F238E27FC236}">
                <a16:creationId xmlns:a16="http://schemas.microsoft.com/office/drawing/2014/main" id="{A8CEFDE1-ED00-291A-23C2-C49B7547D247}"/>
              </a:ext>
            </a:extLst>
          </p:cNvPr>
          <p:cNvSpPr/>
          <p:nvPr/>
        </p:nvSpPr>
        <p:spPr>
          <a:xfrm>
            <a:off x="10193830" y="5090472"/>
            <a:ext cx="816517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" altLang="ko-KR" sz="1100" ker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O</a:t>
            </a:r>
          </a:p>
        </p:txBody>
      </p:sp>
      <p:sp>
        <p:nvSpPr>
          <p:cNvPr id="148" name="사각형: 둥근 모서리 147">
            <a:extLst>
              <a:ext uri="{FF2B5EF4-FFF2-40B4-BE49-F238E27FC236}">
                <a16:creationId xmlns:a16="http://schemas.microsoft.com/office/drawing/2014/main" id="{87B549D2-0627-3CD7-B9B7-1DF1FE43D883}"/>
              </a:ext>
            </a:extLst>
          </p:cNvPr>
          <p:cNvSpPr/>
          <p:nvPr/>
        </p:nvSpPr>
        <p:spPr>
          <a:xfrm>
            <a:off x="11075442" y="5090472"/>
            <a:ext cx="816517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" altLang="ko-KR" sz="1100" ker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O</a:t>
            </a:r>
          </a:p>
        </p:txBody>
      </p:sp>
      <p:grpSp>
        <p:nvGrpSpPr>
          <p:cNvPr id="149" name="그룹 148">
            <a:extLst>
              <a:ext uri="{FF2B5EF4-FFF2-40B4-BE49-F238E27FC236}">
                <a16:creationId xmlns:a16="http://schemas.microsoft.com/office/drawing/2014/main" id="{F75FDD53-55C7-A905-437A-9CF413208BD3}"/>
              </a:ext>
            </a:extLst>
          </p:cNvPr>
          <p:cNvGrpSpPr/>
          <p:nvPr/>
        </p:nvGrpSpPr>
        <p:grpSpPr>
          <a:xfrm>
            <a:off x="3847094" y="1665043"/>
            <a:ext cx="5432399" cy="4328904"/>
            <a:chOff x="3870714" y="1718584"/>
            <a:chExt cx="5355983" cy="3641109"/>
          </a:xfrm>
        </p:grpSpPr>
        <p:cxnSp>
          <p:nvCxnSpPr>
            <p:cNvPr id="150" name="직선 연결선 149">
              <a:extLst>
                <a:ext uri="{FF2B5EF4-FFF2-40B4-BE49-F238E27FC236}">
                  <a16:creationId xmlns:a16="http://schemas.microsoft.com/office/drawing/2014/main" id="{589E6643-02F6-367D-B249-6BB75220A0C7}"/>
                </a:ext>
              </a:extLst>
            </p:cNvPr>
            <p:cNvCxnSpPr>
              <a:cxnSpLocks/>
            </p:cNvCxnSpPr>
            <p:nvPr/>
          </p:nvCxnSpPr>
          <p:spPr>
            <a:xfrm>
              <a:off x="3870714" y="1718584"/>
              <a:ext cx="0" cy="3641109"/>
            </a:xfrm>
            <a:prstGeom prst="line">
              <a:avLst/>
            </a:prstGeom>
            <a:ln w="19050">
              <a:solidFill>
                <a:srgbClr val="8F8F92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직선 연결선 150">
              <a:extLst>
                <a:ext uri="{FF2B5EF4-FFF2-40B4-BE49-F238E27FC236}">
                  <a16:creationId xmlns:a16="http://schemas.microsoft.com/office/drawing/2014/main" id="{4111B741-B8C3-0436-A319-6D95D82CD665}"/>
                </a:ext>
              </a:extLst>
            </p:cNvPr>
            <p:cNvCxnSpPr>
              <a:cxnSpLocks/>
            </p:cNvCxnSpPr>
            <p:nvPr/>
          </p:nvCxnSpPr>
          <p:spPr>
            <a:xfrm>
              <a:off x="6562640" y="1718584"/>
              <a:ext cx="0" cy="3641109"/>
            </a:xfrm>
            <a:prstGeom prst="line">
              <a:avLst/>
            </a:prstGeom>
            <a:ln w="19050">
              <a:solidFill>
                <a:srgbClr val="8F8F92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직선 연결선 151">
              <a:extLst>
                <a:ext uri="{FF2B5EF4-FFF2-40B4-BE49-F238E27FC236}">
                  <a16:creationId xmlns:a16="http://schemas.microsoft.com/office/drawing/2014/main" id="{9A8A934A-1A76-ED62-DBF7-6A4DB762A602}"/>
                </a:ext>
              </a:extLst>
            </p:cNvPr>
            <p:cNvCxnSpPr>
              <a:cxnSpLocks/>
            </p:cNvCxnSpPr>
            <p:nvPr/>
          </p:nvCxnSpPr>
          <p:spPr>
            <a:xfrm>
              <a:off x="9226697" y="1718584"/>
              <a:ext cx="0" cy="3641109"/>
            </a:xfrm>
            <a:prstGeom prst="line">
              <a:avLst/>
            </a:prstGeom>
            <a:ln w="19050">
              <a:solidFill>
                <a:srgbClr val="8F8F92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3" name="직사각형 152">
            <a:extLst>
              <a:ext uri="{FF2B5EF4-FFF2-40B4-BE49-F238E27FC236}">
                <a16:creationId xmlns:a16="http://schemas.microsoft.com/office/drawing/2014/main" id="{2E47A986-5D27-8068-E04E-4B620BA75B31}"/>
              </a:ext>
            </a:extLst>
          </p:cNvPr>
          <p:cNvSpPr/>
          <p:nvPr/>
        </p:nvSpPr>
        <p:spPr>
          <a:xfrm>
            <a:off x="3912365" y="800101"/>
            <a:ext cx="2580561" cy="295602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K</a:t>
            </a:r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은행</a:t>
            </a:r>
          </a:p>
        </p:txBody>
      </p:sp>
      <p:sp>
        <p:nvSpPr>
          <p:cNvPr id="154" name="직사각형 153">
            <a:extLst>
              <a:ext uri="{FF2B5EF4-FFF2-40B4-BE49-F238E27FC236}">
                <a16:creationId xmlns:a16="http://schemas.microsoft.com/office/drawing/2014/main" id="{92A5E923-FE3E-CE97-1154-F4B06F5D46FB}"/>
              </a:ext>
            </a:extLst>
          </p:cNvPr>
          <p:cNvSpPr/>
          <p:nvPr/>
        </p:nvSpPr>
        <p:spPr>
          <a:xfrm>
            <a:off x="6609332" y="800101"/>
            <a:ext cx="2580561" cy="295602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N</a:t>
            </a:r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은행</a:t>
            </a:r>
          </a:p>
        </p:txBody>
      </p: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DDB0DC70-8BD0-78E8-65C0-28E6219B6016}"/>
              </a:ext>
            </a:extLst>
          </p:cNvPr>
          <p:cNvSpPr/>
          <p:nvPr/>
        </p:nvSpPr>
        <p:spPr>
          <a:xfrm>
            <a:off x="9311546" y="800101"/>
            <a:ext cx="2580413" cy="295602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M</a:t>
            </a:r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금고 </a:t>
            </a:r>
            <a:r>
              <a:rPr lang="en-US" altLang="ko-KR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(</a:t>
            </a:r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案</a:t>
            </a:r>
            <a:r>
              <a:rPr lang="en-US" altLang="ko-KR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)</a:t>
            </a:r>
            <a:endParaRPr lang="ko-KR" altLang="en-US" sz="1400" b="1">
              <a:ln>
                <a:solidFill>
                  <a:schemeClr val="bg1"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156" name="직사각형 155">
            <a:extLst>
              <a:ext uri="{FF2B5EF4-FFF2-40B4-BE49-F238E27FC236}">
                <a16:creationId xmlns:a16="http://schemas.microsoft.com/office/drawing/2014/main" id="{66A8F6A6-1A4B-4394-5FD1-DE02F790F2E3}"/>
              </a:ext>
            </a:extLst>
          </p:cNvPr>
          <p:cNvSpPr/>
          <p:nvPr/>
        </p:nvSpPr>
        <p:spPr>
          <a:xfrm>
            <a:off x="334962" y="6044269"/>
            <a:ext cx="1584325" cy="480353"/>
          </a:xfrm>
          <a:prstGeom prst="rect">
            <a:avLst/>
          </a:prstGeom>
          <a:solidFill>
            <a:srgbClr val="043B7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현황 </a:t>
            </a:r>
            <a:r>
              <a:rPr lang="en-US" altLang="ko-KR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&amp;</a:t>
            </a:r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 고려사항</a:t>
            </a:r>
          </a:p>
        </p:txBody>
      </p:sp>
      <p:grpSp>
        <p:nvGrpSpPr>
          <p:cNvPr id="157" name="그룹 156">
            <a:extLst>
              <a:ext uri="{FF2B5EF4-FFF2-40B4-BE49-F238E27FC236}">
                <a16:creationId xmlns:a16="http://schemas.microsoft.com/office/drawing/2014/main" id="{9DD6F20B-343E-EBE6-2157-0489B046DBFB}"/>
              </a:ext>
            </a:extLst>
          </p:cNvPr>
          <p:cNvGrpSpPr>
            <a:grpSpLocks noChangeAspect="1"/>
          </p:cNvGrpSpPr>
          <p:nvPr/>
        </p:nvGrpSpPr>
        <p:grpSpPr>
          <a:xfrm>
            <a:off x="4684339" y="837051"/>
            <a:ext cx="219082" cy="221702"/>
            <a:chOff x="2444115" y="2050000"/>
            <a:chExt cx="255270" cy="255270"/>
          </a:xfrm>
        </p:grpSpPr>
        <p:sp>
          <p:nvSpPr>
            <p:cNvPr id="158" name="타원 157">
              <a:extLst>
                <a:ext uri="{FF2B5EF4-FFF2-40B4-BE49-F238E27FC236}">
                  <a16:creationId xmlns:a16="http://schemas.microsoft.com/office/drawing/2014/main" id="{C8029F55-D664-2800-4E7F-10FA4FFC9FE8}"/>
                </a:ext>
              </a:extLst>
            </p:cNvPr>
            <p:cNvSpPr/>
            <p:nvPr/>
          </p:nvSpPr>
          <p:spPr>
            <a:xfrm>
              <a:off x="2444115" y="2050000"/>
              <a:ext cx="255270" cy="255270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pic>
          <p:nvPicPr>
            <p:cNvPr id="159" name="Picture 2" descr="KB 국민 로고 소개 (ai파일)">
              <a:extLst>
                <a:ext uri="{FF2B5EF4-FFF2-40B4-BE49-F238E27FC236}">
                  <a16:creationId xmlns:a16="http://schemas.microsoft.com/office/drawing/2014/main" id="{7406E195-3E7D-33CE-FE51-4C7180808EE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clrChange>
                <a:clrFrom>
                  <a:srgbClr val="F9F9F9"/>
                </a:clrFrom>
                <a:clrTo>
                  <a:srgbClr val="F9F9F9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054" t="22190" r="23617" b="22050"/>
            <a:stretch>
              <a:fillRect/>
            </a:stretch>
          </p:blipFill>
          <p:spPr bwMode="auto">
            <a:xfrm>
              <a:off x="2460307" y="2099433"/>
              <a:ext cx="222885" cy="1607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60" name="그룹 159">
            <a:extLst>
              <a:ext uri="{FF2B5EF4-FFF2-40B4-BE49-F238E27FC236}">
                <a16:creationId xmlns:a16="http://schemas.microsoft.com/office/drawing/2014/main" id="{C272BFE1-5DF5-0EA1-558D-C5FA07B67B73}"/>
              </a:ext>
            </a:extLst>
          </p:cNvPr>
          <p:cNvGrpSpPr>
            <a:grpSpLocks noChangeAspect="1"/>
          </p:cNvGrpSpPr>
          <p:nvPr/>
        </p:nvGrpSpPr>
        <p:grpSpPr>
          <a:xfrm>
            <a:off x="7380183" y="837051"/>
            <a:ext cx="222806" cy="221702"/>
            <a:chOff x="5892841" y="2046405"/>
            <a:chExt cx="259610" cy="255270"/>
          </a:xfrm>
        </p:grpSpPr>
        <p:sp>
          <p:nvSpPr>
            <p:cNvPr id="161" name="타원 160">
              <a:extLst>
                <a:ext uri="{FF2B5EF4-FFF2-40B4-BE49-F238E27FC236}">
                  <a16:creationId xmlns:a16="http://schemas.microsoft.com/office/drawing/2014/main" id="{E2259450-205D-8158-B514-168B4680280A}"/>
                </a:ext>
              </a:extLst>
            </p:cNvPr>
            <p:cNvSpPr/>
            <p:nvPr/>
          </p:nvSpPr>
          <p:spPr>
            <a:xfrm>
              <a:off x="5895276" y="2046405"/>
              <a:ext cx="255270" cy="255270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pic>
          <p:nvPicPr>
            <p:cNvPr id="162" name="Picture 4" descr="NH농협 CI 소개 (ai파일)">
              <a:extLst>
                <a:ext uri="{FF2B5EF4-FFF2-40B4-BE49-F238E27FC236}">
                  <a16:creationId xmlns:a16="http://schemas.microsoft.com/office/drawing/2014/main" id="{C5B55FD6-0749-28FB-A0AD-86B7A8AF147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212" t="29692" r="20987" b="30247"/>
            <a:stretch>
              <a:fillRect/>
            </a:stretch>
          </p:blipFill>
          <p:spPr bwMode="auto">
            <a:xfrm>
              <a:off x="5892841" y="2109480"/>
              <a:ext cx="259610" cy="12475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63" name="그룹 162">
            <a:extLst>
              <a:ext uri="{FF2B5EF4-FFF2-40B4-BE49-F238E27FC236}">
                <a16:creationId xmlns:a16="http://schemas.microsoft.com/office/drawing/2014/main" id="{117D0F73-F795-FC2C-8B4D-1B7CC641E1CC}"/>
              </a:ext>
            </a:extLst>
          </p:cNvPr>
          <p:cNvGrpSpPr>
            <a:grpSpLocks noChangeAspect="1"/>
          </p:cNvGrpSpPr>
          <p:nvPr/>
        </p:nvGrpSpPr>
        <p:grpSpPr>
          <a:xfrm>
            <a:off x="9850522" y="837051"/>
            <a:ext cx="219082" cy="221702"/>
            <a:chOff x="9243276" y="2046405"/>
            <a:chExt cx="255270" cy="255270"/>
          </a:xfrm>
        </p:grpSpPr>
        <p:sp>
          <p:nvSpPr>
            <p:cNvPr id="164" name="타원 163">
              <a:extLst>
                <a:ext uri="{FF2B5EF4-FFF2-40B4-BE49-F238E27FC236}">
                  <a16:creationId xmlns:a16="http://schemas.microsoft.com/office/drawing/2014/main" id="{C52979B4-5413-6F57-3E19-84932AFC75F0}"/>
                </a:ext>
              </a:extLst>
            </p:cNvPr>
            <p:cNvSpPr/>
            <p:nvPr/>
          </p:nvSpPr>
          <p:spPr>
            <a:xfrm>
              <a:off x="9243276" y="2046405"/>
              <a:ext cx="255270" cy="255270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pic>
          <p:nvPicPr>
            <p:cNvPr id="165" name="Picture 6" descr="MG손보 손절수순에…MG새마을금고 “상표권 계약 해지추진” - 매일경제">
              <a:extLst>
                <a:ext uri="{FF2B5EF4-FFF2-40B4-BE49-F238E27FC236}">
                  <a16:creationId xmlns:a16="http://schemas.microsoft.com/office/drawing/2014/main" id="{C4BBD8B4-BD99-9D98-68F0-533EA6CFCF8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760" t="3390" r="22832" b="30791"/>
            <a:stretch>
              <a:fillRect/>
            </a:stretch>
          </p:blipFill>
          <p:spPr bwMode="auto">
            <a:xfrm>
              <a:off x="9255766" y="2065794"/>
              <a:ext cx="230289" cy="20069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66" name="직사각형 165">
            <a:extLst>
              <a:ext uri="{FF2B5EF4-FFF2-40B4-BE49-F238E27FC236}">
                <a16:creationId xmlns:a16="http://schemas.microsoft.com/office/drawing/2014/main" id="{C679ADF8-4424-0FAE-A7D9-6E1AF6DD2406}"/>
              </a:ext>
            </a:extLst>
          </p:cNvPr>
          <p:cNvSpPr/>
          <p:nvPr/>
        </p:nvSpPr>
        <p:spPr>
          <a:xfrm>
            <a:off x="334964" y="800101"/>
            <a:ext cx="3475072" cy="29560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AI</a:t>
            </a:r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거버넌스 요건</a:t>
            </a:r>
          </a:p>
        </p:txBody>
      </p:sp>
      <p:sp>
        <p:nvSpPr>
          <p:cNvPr id="167" name="사각형: 둥근 모서리 166">
            <a:extLst>
              <a:ext uri="{FF2B5EF4-FFF2-40B4-BE49-F238E27FC236}">
                <a16:creationId xmlns:a16="http://schemas.microsoft.com/office/drawing/2014/main" id="{23C93093-9D60-0910-6C92-2374D5DE1E5D}"/>
              </a:ext>
            </a:extLst>
          </p:cNvPr>
          <p:cNvSpPr/>
          <p:nvPr/>
        </p:nvSpPr>
        <p:spPr>
          <a:xfrm>
            <a:off x="334964" y="5439443"/>
            <a:ext cx="1139278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defTabSz="45720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050" b="1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고영향 인공지능</a:t>
            </a:r>
          </a:p>
        </p:txBody>
      </p:sp>
      <p:sp>
        <p:nvSpPr>
          <p:cNvPr id="168" name="사각형: 둥근 모서리 167">
            <a:extLst>
              <a:ext uri="{FF2B5EF4-FFF2-40B4-BE49-F238E27FC236}">
                <a16:creationId xmlns:a16="http://schemas.microsoft.com/office/drawing/2014/main" id="{C597C833-3DD1-7D75-F7B4-9AC62EB0BE42}"/>
              </a:ext>
            </a:extLst>
          </p:cNvPr>
          <p:cNvSpPr/>
          <p:nvPr/>
        </p:nvSpPr>
        <p:spPr>
          <a:xfrm>
            <a:off x="1548361" y="5439443"/>
            <a:ext cx="2261674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72000" tIns="0" rIns="0" bIns="18000" rtlCol="0" anchor="ctr"/>
          <a:lstStyle/>
          <a:p>
            <a:pPr marL="171450" indent="-171450" defTabSz="457200" fontAlgn="base" latinLnBrk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ko-KR" altLang="en-US" sz="10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고영향 인공지능 정의</a:t>
            </a:r>
            <a:r>
              <a:rPr kumimoji="1" lang="en-US" altLang="ko-KR" sz="10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, </a:t>
            </a:r>
            <a:r>
              <a:rPr kumimoji="1" lang="ko-KR" altLang="en-US" sz="10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목적</a:t>
            </a:r>
            <a:r>
              <a:rPr kumimoji="1" lang="en-US" altLang="ko-KR" sz="10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, </a:t>
            </a:r>
            <a:r>
              <a:rPr kumimoji="1" lang="ko-KR" altLang="en-US" sz="10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평가 방안 등</a:t>
            </a:r>
          </a:p>
        </p:txBody>
      </p:sp>
      <p:cxnSp>
        <p:nvCxnSpPr>
          <p:cNvPr id="169" name="직선 연결선 168">
            <a:extLst>
              <a:ext uri="{FF2B5EF4-FFF2-40B4-BE49-F238E27FC236}">
                <a16:creationId xmlns:a16="http://schemas.microsoft.com/office/drawing/2014/main" id="{3DCC8C79-94CE-C42A-5A59-FFC731A250A0}"/>
              </a:ext>
            </a:extLst>
          </p:cNvPr>
          <p:cNvCxnSpPr>
            <a:cxnSpLocks/>
          </p:cNvCxnSpPr>
          <p:nvPr/>
        </p:nvCxnSpPr>
        <p:spPr>
          <a:xfrm>
            <a:off x="334965" y="5408690"/>
            <a:ext cx="11556991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사각형: 둥근 모서리 169">
            <a:extLst>
              <a:ext uri="{FF2B5EF4-FFF2-40B4-BE49-F238E27FC236}">
                <a16:creationId xmlns:a16="http://schemas.microsoft.com/office/drawing/2014/main" id="{BDB28673-3585-FD3D-CE15-757A99ABCC1A}"/>
              </a:ext>
            </a:extLst>
          </p:cNvPr>
          <p:cNvSpPr/>
          <p:nvPr/>
        </p:nvSpPr>
        <p:spPr>
          <a:xfrm>
            <a:off x="3912367" y="5439443"/>
            <a:ext cx="816517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" altLang="ko-KR" b="1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C55A11"/>
                </a:solidFill>
                <a:latin typeface="+mn-ea"/>
              </a:rPr>
              <a:t>X</a:t>
            </a:r>
          </a:p>
        </p:txBody>
      </p:sp>
      <p:sp>
        <p:nvSpPr>
          <p:cNvPr id="171" name="사각형: 둥근 모서리 170">
            <a:extLst>
              <a:ext uri="{FF2B5EF4-FFF2-40B4-BE49-F238E27FC236}">
                <a16:creationId xmlns:a16="http://schemas.microsoft.com/office/drawing/2014/main" id="{DB265743-3EA3-2D5F-0107-0466B1B11CE2}"/>
              </a:ext>
            </a:extLst>
          </p:cNvPr>
          <p:cNvSpPr/>
          <p:nvPr/>
        </p:nvSpPr>
        <p:spPr>
          <a:xfrm>
            <a:off x="4794157" y="5439443"/>
            <a:ext cx="816517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" altLang="ko-KR" b="1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C55A11"/>
                </a:solidFill>
                <a:latin typeface="+mn-ea"/>
              </a:rPr>
              <a:t>X</a:t>
            </a:r>
          </a:p>
        </p:txBody>
      </p:sp>
      <p:sp>
        <p:nvSpPr>
          <p:cNvPr id="172" name="사각형: 둥근 모서리 171">
            <a:extLst>
              <a:ext uri="{FF2B5EF4-FFF2-40B4-BE49-F238E27FC236}">
                <a16:creationId xmlns:a16="http://schemas.microsoft.com/office/drawing/2014/main" id="{00BF709B-AA0B-56F3-15C9-13EE190D67FE}"/>
              </a:ext>
            </a:extLst>
          </p:cNvPr>
          <p:cNvSpPr/>
          <p:nvPr/>
        </p:nvSpPr>
        <p:spPr>
          <a:xfrm>
            <a:off x="5675769" y="5439443"/>
            <a:ext cx="816517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" altLang="ko-KR" b="1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C55A11"/>
                </a:solidFill>
                <a:latin typeface="+mn-ea"/>
              </a:rPr>
              <a:t>X</a:t>
            </a:r>
          </a:p>
        </p:txBody>
      </p:sp>
      <p:sp>
        <p:nvSpPr>
          <p:cNvPr id="173" name="사각형: 둥근 모서리 172">
            <a:extLst>
              <a:ext uri="{FF2B5EF4-FFF2-40B4-BE49-F238E27FC236}">
                <a16:creationId xmlns:a16="http://schemas.microsoft.com/office/drawing/2014/main" id="{D54E10D1-508A-D659-6BF5-7769DCDFEDBC}"/>
              </a:ext>
            </a:extLst>
          </p:cNvPr>
          <p:cNvSpPr/>
          <p:nvPr/>
        </p:nvSpPr>
        <p:spPr>
          <a:xfrm>
            <a:off x="6609974" y="5439443"/>
            <a:ext cx="816517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" altLang="ko-KR" b="1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C55A11"/>
                </a:solidFill>
                <a:latin typeface="+mn-ea"/>
              </a:rPr>
              <a:t>X</a:t>
            </a:r>
          </a:p>
        </p:txBody>
      </p:sp>
      <p:sp>
        <p:nvSpPr>
          <p:cNvPr id="174" name="사각형: 둥근 모서리 173">
            <a:extLst>
              <a:ext uri="{FF2B5EF4-FFF2-40B4-BE49-F238E27FC236}">
                <a16:creationId xmlns:a16="http://schemas.microsoft.com/office/drawing/2014/main" id="{93A13873-A05F-BF9E-D449-0F4CAC0E6C58}"/>
              </a:ext>
            </a:extLst>
          </p:cNvPr>
          <p:cNvSpPr/>
          <p:nvPr/>
        </p:nvSpPr>
        <p:spPr>
          <a:xfrm>
            <a:off x="7491764" y="5439443"/>
            <a:ext cx="816517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" altLang="ko-KR" b="1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C55A11"/>
                </a:solidFill>
                <a:latin typeface="+mn-ea"/>
              </a:rPr>
              <a:t>X</a:t>
            </a:r>
          </a:p>
        </p:txBody>
      </p:sp>
      <p:sp>
        <p:nvSpPr>
          <p:cNvPr id="175" name="사각형: 둥근 모서리 174">
            <a:extLst>
              <a:ext uri="{FF2B5EF4-FFF2-40B4-BE49-F238E27FC236}">
                <a16:creationId xmlns:a16="http://schemas.microsoft.com/office/drawing/2014/main" id="{214C6666-AD4B-5087-221D-12106BE5D564}"/>
              </a:ext>
            </a:extLst>
          </p:cNvPr>
          <p:cNvSpPr/>
          <p:nvPr/>
        </p:nvSpPr>
        <p:spPr>
          <a:xfrm>
            <a:off x="8373376" y="5439443"/>
            <a:ext cx="816517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" altLang="ko-KR" b="1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C55A11"/>
                </a:solidFill>
                <a:latin typeface="+mn-ea"/>
              </a:rPr>
              <a:t>X</a:t>
            </a:r>
          </a:p>
        </p:txBody>
      </p:sp>
      <p:sp>
        <p:nvSpPr>
          <p:cNvPr id="176" name="사각형: 둥근 모서리 175">
            <a:extLst>
              <a:ext uri="{FF2B5EF4-FFF2-40B4-BE49-F238E27FC236}">
                <a16:creationId xmlns:a16="http://schemas.microsoft.com/office/drawing/2014/main" id="{4C5A8F71-83F4-FF6A-7B42-0593CBDE08DC}"/>
              </a:ext>
            </a:extLst>
          </p:cNvPr>
          <p:cNvSpPr/>
          <p:nvPr/>
        </p:nvSpPr>
        <p:spPr>
          <a:xfrm>
            <a:off x="9312039" y="5439443"/>
            <a:ext cx="816517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i="1" ker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진행중</a:t>
            </a:r>
            <a:endParaRPr kumimoji="1" lang="en" altLang="ko-KR" sz="1400" b="1" i="1" kern="0">
              <a:ln>
                <a:solidFill>
                  <a:prstClr val="white">
                    <a:alpha val="0"/>
                  </a:prstClr>
                </a:solidFill>
              </a:ln>
              <a:latin typeface="+mn-ea"/>
            </a:endParaRPr>
          </a:p>
        </p:txBody>
      </p:sp>
      <p:sp>
        <p:nvSpPr>
          <p:cNvPr id="177" name="사각형: 둥근 모서리 176">
            <a:extLst>
              <a:ext uri="{FF2B5EF4-FFF2-40B4-BE49-F238E27FC236}">
                <a16:creationId xmlns:a16="http://schemas.microsoft.com/office/drawing/2014/main" id="{AA3A8591-DE02-3BB9-BC0B-5D6AF4C30722}"/>
              </a:ext>
            </a:extLst>
          </p:cNvPr>
          <p:cNvSpPr/>
          <p:nvPr/>
        </p:nvSpPr>
        <p:spPr>
          <a:xfrm>
            <a:off x="10193830" y="5439443"/>
            <a:ext cx="816517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i="1" ker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진행중</a:t>
            </a:r>
            <a:endParaRPr kumimoji="1" lang="en" altLang="ko-KR" sz="1400" b="1" i="1" kern="0">
              <a:ln>
                <a:solidFill>
                  <a:prstClr val="white">
                    <a:alpha val="0"/>
                  </a:prstClr>
                </a:solidFill>
              </a:ln>
              <a:latin typeface="+mn-ea"/>
            </a:endParaRPr>
          </a:p>
        </p:txBody>
      </p:sp>
      <p:sp>
        <p:nvSpPr>
          <p:cNvPr id="178" name="사각형: 둥근 모서리 177">
            <a:extLst>
              <a:ext uri="{FF2B5EF4-FFF2-40B4-BE49-F238E27FC236}">
                <a16:creationId xmlns:a16="http://schemas.microsoft.com/office/drawing/2014/main" id="{E75EDDAA-BA39-F761-7CC7-A24B3B262D76}"/>
              </a:ext>
            </a:extLst>
          </p:cNvPr>
          <p:cNvSpPr/>
          <p:nvPr/>
        </p:nvSpPr>
        <p:spPr>
          <a:xfrm>
            <a:off x="11075442" y="5439443"/>
            <a:ext cx="816517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i="1" ker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진행중</a:t>
            </a:r>
            <a:endParaRPr kumimoji="1" lang="en" altLang="ko-KR" sz="1400" b="1" i="1" kern="0">
              <a:ln>
                <a:solidFill>
                  <a:prstClr val="white">
                    <a:alpha val="0"/>
                  </a:prstClr>
                </a:solidFill>
              </a:ln>
              <a:latin typeface="+mn-ea"/>
            </a:endParaRPr>
          </a:p>
        </p:txBody>
      </p:sp>
      <p:sp>
        <p:nvSpPr>
          <p:cNvPr id="179" name="사각형: 둥근 모서리 178">
            <a:extLst>
              <a:ext uri="{FF2B5EF4-FFF2-40B4-BE49-F238E27FC236}">
                <a16:creationId xmlns:a16="http://schemas.microsoft.com/office/drawing/2014/main" id="{B25CE8EC-FB84-A439-9809-325C87950CA3}"/>
              </a:ext>
            </a:extLst>
          </p:cNvPr>
          <p:cNvSpPr/>
          <p:nvPr/>
        </p:nvSpPr>
        <p:spPr>
          <a:xfrm>
            <a:off x="334964" y="5728008"/>
            <a:ext cx="1139278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defTabSz="45720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050" b="1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인공지능 안전성</a:t>
            </a:r>
          </a:p>
        </p:txBody>
      </p:sp>
      <p:sp>
        <p:nvSpPr>
          <p:cNvPr id="180" name="사각형: 둥근 모서리 179">
            <a:extLst>
              <a:ext uri="{FF2B5EF4-FFF2-40B4-BE49-F238E27FC236}">
                <a16:creationId xmlns:a16="http://schemas.microsoft.com/office/drawing/2014/main" id="{D85D9A43-E802-7890-5B56-E745EA8906C4}"/>
              </a:ext>
            </a:extLst>
          </p:cNvPr>
          <p:cNvSpPr/>
          <p:nvPr/>
        </p:nvSpPr>
        <p:spPr>
          <a:xfrm>
            <a:off x="1548361" y="5728008"/>
            <a:ext cx="2261674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72000" tIns="0" rIns="0" bIns="18000" rtlCol="0" anchor="ctr"/>
          <a:lstStyle/>
          <a:p>
            <a:pPr marL="171450" indent="-171450" defTabSz="457200" fontAlgn="base" latinLnBrk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1" lang="ko-KR" altLang="en-US" sz="10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인공지능 안전성 정의</a:t>
            </a:r>
            <a:r>
              <a:rPr kumimoji="1" lang="en-US" altLang="ko-KR" sz="10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, </a:t>
            </a:r>
            <a:r>
              <a:rPr kumimoji="1" lang="ko-KR" altLang="en-US" sz="10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목적</a:t>
            </a:r>
            <a:r>
              <a:rPr kumimoji="1" lang="en-US" altLang="ko-KR" sz="10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, </a:t>
            </a:r>
            <a:r>
              <a:rPr kumimoji="1" lang="ko-KR" altLang="en-US" sz="1000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평가 방안 등</a:t>
            </a:r>
          </a:p>
        </p:txBody>
      </p:sp>
      <p:cxnSp>
        <p:nvCxnSpPr>
          <p:cNvPr id="181" name="직선 연결선 180">
            <a:extLst>
              <a:ext uri="{FF2B5EF4-FFF2-40B4-BE49-F238E27FC236}">
                <a16:creationId xmlns:a16="http://schemas.microsoft.com/office/drawing/2014/main" id="{E3644EEF-B711-E8D6-EAD3-292A30651865}"/>
              </a:ext>
            </a:extLst>
          </p:cNvPr>
          <p:cNvCxnSpPr>
            <a:cxnSpLocks/>
          </p:cNvCxnSpPr>
          <p:nvPr/>
        </p:nvCxnSpPr>
        <p:spPr>
          <a:xfrm>
            <a:off x="334965" y="5697255"/>
            <a:ext cx="11556991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사각형: 둥근 모서리 181">
            <a:extLst>
              <a:ext uri="{FF2B5EF4-FFF2-40B4-BE49-F238E27FC236}">
                <a16:creationId xmlns:a16="http://schemas.microsoft.com/office/drawing/2014/main" id="{52D46C32-79FB-C4D6-D246-7C51A1B629F6}"/>
              </a:ext>
            </a:extLst>
          </p:cNvPr>
          <p:cNvSpPr/>
          <p:nvPr/>
        </p:nvSpPr>
        <p:spPr>
          <a:xfrm>
            <a:off x="3912367" y="5728008"/>
            <a:ext cx="816517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" altLang="ko-KR" b="1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C55A11"/>
                </a:solidFill>
                <a:latin typeface="+mn-ea"/>
              </a:rPr>
              <a:t>X</a:t>
            </a:r>
          </a:p>
        </p:txBody>
      </p:sp>
      <p:sp>
        <p:nvSpPr>
          <p:cNvPr id="183" name="사각형: 둥근 모서리 182">
            <a:extLst>
              <a:ext uri="{FF2B5EF4-FFF2-40B4-BE49-F238E27FC236}">
                <a16:creationId xmlns:a16="http://schemas.microsoft.com/office/drawing/2014/main" id="{91576B32-86C6-F297-DAC6-A3C456FC967C}"/>
              </a:ext>
            </a:extLst>
          </p:cNvPr>
          <p:cNvSpPr/>
          <p:nvPr/>
        </p:nvSpPr>
        <p:spPr>
          <a:xfrm>
            <a:off x="4794157" y="5728008"/>
            <a:ext cx="816517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" altLang="ko-KR" b="1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C55A11"/>
                </a:solidFill>
                <a:latin typeface="+mn-ea"/>
              </a:rPr>
              <a:t>X</a:t>
            </a:r>
          </a:p>
        </p:txBody>
      </p:sp>
      <p:sp>
        <p:nvSpPr>
          <p:cNvPr id="184" name="사각형: 둥근 모서리 183">
            <a:extLst>
              <a:ext uri="{FF2B5EF4-FFF2-40B4-BE49-F238E27FC236}">
                <a16:creationId xmlns:a16="http://schemas.microsoft.com/office/drawing/2014/main" id="{6EEFA4FB-F0F7-66E1-1155-189F39C4A0AF}"/>
              </a:ext>
            </a:extLst>
          </p:cNvPr>
          <p:cNvSpPr/>
          <p:nvPr/>
        </p:nvSpPr>
        <p:spPr>
          <a:xfrm>
            <a:off x="5675769" y="5728008"/>
            <a:ext cx="816517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" altLang="ko-KR" b="1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C55A11"/>
                </a:solidFill>
                <a:latin typeface="+mn-ea"/>
              </a:rPr>
              <a:t>X</a:t>
            </a:r>
          </a:p>
        </p:txBody>
      </p:sp>
      <p:sp>
        <p:nvSpPr>
          <p:cNvPr id="185" name="사각형: 둥근 모서리 184">
            <a:extLst>
              <a:ext uri="{FF2B5EF4-FFF2-40B4-BE49-F238E27FC236}">
                <a16:creationId xmlns:a16="http://schemas.microsoft.com/office/drawing/2014/main" id="{618CB5F0-E49F-8835-5966-EC6CE41858EE}"/>
              </a:ext>
            </a:extLst>
          </p:cNvPr>
          <p:cNvSpPr/>
          <p:nvPr/>
        </p:nvSpPr>
        <p:spPr>
          <a:xfrm>
            <a:off x="6609974" y="5728008"/>
            <a:ext cx="816517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" altLang="ko-KR" b="1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C55A11"/>
                </a:solidFill>
                <a:latin typeface="+mn-ea"/>
              </a:rPr>
              <a:t>X</a:t>
            </a:r>
          </a:p>
        </p:txBody>
      </p:sp>
      <p:sp>
        <p:nvSpPr>
          <p:cNvPr id="186" name="사각형: 둥근 모서리 185">
            <a:extLst>
              <a:ext uri="{FF2B5EF4-FFF2-40B4-BE49-F238E27FC236}">
                <a16:creationId xmlns:a16="http://schemas.microsoft.com/office/drawing/2014/main" id="{0B3EA425-6A36-8634-28C5-C68D38422D08}"/>
              </a:ext>
            </a:extLst>
          </p:cNvPr>
          <p:cNvSpPr/>
          <p:nvPr/>
        </p:nvSpPr>
        <p:spPr>
          <a:xfrm>
            <a:off x="7491764" y="5728008"/>
            <a:ext cx="816517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" altLang="ko-KR" b="1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C55A11"/>
                </a:solidFill>
                <a:latin typeface="+mn-ea"/>
              </a:rPr>
              <a:t>X</a:t>
            </a:r>
          </a:p>
        </p:txBody>
      </p:sp>
      <p:sp>
        <p:nvSpPr>
          <p:cNvPr id="187" name="사각형: 둥근 모서리 186">
            <a:extLst>
              <a:ext uri="{FF2B5EF4-FFF2-40B4-BE49-F238E27FC236}">
                <a16:creationId xmlns:a16="http://schemas.microsoft.com/office/drawing/2014/main" id="{B38595F9-D6CA-D17B-4757-16AC009DB957}"/>
              </a:ext>
            </a:extLst>
          </p:cNvPr>
          <p:cNvSpPr/>
          <p:nvPr/>
        </p:nvSpPr>
        <p:spPr>
          <a:xfrm>
            <a:off x="8373376" y="5728008"/>
            <a:ext cx="816517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" altLang="ko-KR" b="1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C55A11"/>
                </a:solidFill>
                <a:latin typeface="+mn-ea"/>
              </a:rPr>
              <a:t>X</a:t>
            </a:r>
          </a:p>
        </p:txBody>
      </p:sp>
      <p:sp>
        <p:nvSpPr>
          <p:cNvPr id="188" name="사각형: 둥근 모서리 187">
            <a:extLst>
              <a:ext uri="{FF2B5EF4-FFF2-40B4-BE49-F238E27FC236}">
                <a16:creationId xmlns:a16="http://schemas.microsoft.com/office/drawing/2014/main" id="{8D6238E1-9AEA-BCBF-B55C-D1C7692CC306}"/>
              </a:ext>
            </a:extLst>
          </p:cNvPr>
          <p:cNvSpPr/>
          <p:nvPr/>
        </p:nvSpPr>
        <p:spPr>
          <a:xfrm>
            <a:off x="9312039" y="5728008"/>
            <a:ext cx="816517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i="1" ker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진행중</a:t>
            </a:r>
            <a:endParaRPr kumimoji="1" lang="en" altLang="ko-KR" sz="1400" b="1" i="1" kern="0">
              <a:ln>
                <a:solidFill>
                  <a:prstClr val="white">
                    <a:alpha val="0"/>
                  </a:prstClr>
                </a:solidFill>
              </a:ln>
              <a:latin typeface="+mn-ea"/>
            </a:endParaRPr>
          </a:p>
        </p:txBody>
      </p:sp>
      <p:sp>
        <p:nvSpPr>
          <p:cNvPr id="189" name="사각형: 둥근 모서리 188">
            <a:extLst>
              <a:ext uri="{FF2B5EF4-FFF2-40B4-BE49-F238E27FC236}">
                <a16:creationId xmlns:a16="http://schemas.microsoft.com/office/drawing/2014/main" id="{B7D3A298-1D33-B3CA-F626-3D03C068ED2E}"/>
              </a:ext>
            </a:extLst>
          </p:cNvPr>
          <p:cNvSpPr/>
          <p:nvPr/>
        </p:nvSpPr>
        <p:spPr>
          <a:xfrm>
            <a:off x="10193830" y="5728008"/>
            <a:ext cx="816517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i="1" ker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진행중</a:t>
            </a:r>
            <a:endParaRPr kumimoji="1" lang="en" altLang="ko-KR" sz="1400" b="1" i="1" kern="0">
              <a:ln>
                <a:solidFill>
                  <a:prstClr val="white">
                    <a:alpha val="0"/>
                  </a:prstClr>
                </a:solidFill>
              </a:ln>
              <a:latin typeface="+mn-ea"/>
            </a:endParaRPr>
          </a:p>
        </p:txBody>
      </p:sp>
      <p:sp>
        <p:nvSpPr>
          <p:cNvPr id="190" name="사각형: 둥근 모서리 189">
            <a:extLst>
              <a:ext uri="{FF2B5EF4-FFF2-40B4-BE49-F238E27FC236}">
                <a16:creationId xmlns:a16="http://schemas.microsoft.com/office/drawing/2014/main" id="{25CA4D2F-B66D-4B17-DE26-144BCCA82197}"/>
              </a:ext>
            </a:extLst>
          </p:cNvPr>
          <p:cNvSpPr/>
          <p:nvPr/>
        </p:nvSpPr>
        <p:spPr>
          <a:xfrm>
            <a:off x="11075442" y="5728008"/>
            <a:ext cx="816517" cy="281038"/>
          </a:xfrm>
          <a:prstGeom prst="roundRect">
            <a:avLst>
              <a:gd name="adj" fmla="val 0"/>
            </a:avLst>
          </a:prstGeom>
          <a:noFill/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i="1" ker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진행중</a:t>
            </a:r>
            <a:endParaRPr kumimoji="1" lang="en" altLang="ko-KR" sz="1400" b="1" i="1" kern="0">
              <a:ln>
                <a:solidFill>
                  <a:prstClr val="white">
                    <a:alpha val="0"/>
                  </a:prstClr>
                </a:solidFill>
              </a:ln>
              <a:latin typeface="+mn-ea"/>
            </a:endParaRPr>
          </a:p>
        </p:txBody>
      </p:sp>
      <p:sp>
        <p:nvSpPr>
          <p:cNvPr id="191" name="직사각형 190">
            <a:extLst>
              <a:ext uri="{FF2B5EF4-FFF2-40B4-BE49-F238E27FC236}">
                <a16:creationId xmlns:a16="http://schemas.microsoft.com/office/drawing/2014/main" id="{CC04FF28-7359-5C50-EBA9-542CF8FB499E}"/>
              </a:ext>
            </a:extLst>
          </p:cNvPr>
          <p:cNvSpPr/>
          <p:nvPr/>
        </p:nvSpPr>
        <p:spPr>
          <a:xfrm>
            <a:off x="2011212" y="6062139"/>
            <a:ext cx="9880750" cy="462485"/>
          </a:xfrm>
          <a:prstGeom prst="rect">
            <a:avLst/>
          </a:prstGeom>
          <a:pattFill prst="dkUp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他 금융사는 </a:t>
            </a:r>
            <a:r>
              <a:rPr lang="ko-KR" altLang="en-US" sz="1200" err="1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고영향</a:t>
            </a:r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 인공지능과 인공지능 안전성 확보에 관한 행정고시를 포함하고 있지 않음</a:t>
            </a:r>
            <a:endParaRPr lang="en-US" altLang="ko-KR" sz="1200">
              <a:ln>
                <a:solidFill>
                  <a:schemeClr val="accent2">
                    <a:lumMod val="60000"/>
                    <a:lumOff val="40000"/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프로젝트를 통해 </a:t>
            </a: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13</a:t>
            </a:r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개 주요 요건을 규정 및 지침서에 포함하여 </a:t>
            </a: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AI</a:t>
            </a:r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거버넌스 체계 수립이 필요함</a:t>
            </a:r>
            <a:endParaRPr lang="en-US" altLang="ko-KR" sz="1200">
              <a:ln>
                <a:solidFill>
                  <a:schemeClr val="accent2">
                    <a:lumMod val="60000"/>
                    <a:lumOff val="40000"/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sp>
        <p:nvSpPr>
          <p:cNvPr id="193" name="텍스트 개체 틀 192">
            <a:extLst>
              <a:ext uri="{FF2B5EF4-FFF2-40B4-BE49-F238E27FC236}">
                <a16:creationId xmlns:a16="http://schemas.microsoft.com/office/drawing/2014/main" id="{B38EAED6-DDC4-1D19-B61C-10ECC9D4677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29259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16E9D43D-9C0A-157F-802B-BA031AB39D3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F87B2EA-87DA-E103-3DBB-651A238DCE3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AI</a:t>
            </a:r>
            <a:r>
              <a:rPr lang="ko-KR" altLang="en-US"/>
              <a:t>거버넌스 초기 가설적 산출물 목차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D7D0A3C-DF27-7C5E-408E-2BD5B07BCA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/>
              <a:t>정부에서 제시한 규제 요건에 부합하는 </a:t>
            </a:r>
            <a:r>
              <a:rPr lang="en-US" altLang="ko-KR"/>
              <a:t>AI</a:t>
            </a:r>
            <a:r>
              <a:rPr lang="ko-KR" altLang="en-US"/>
              <a:t>거버넌스 </a:t>
            </a:r>
            <a:r>
              <a:rPr lang="en-US" altLang="ko-KR"/>
              <a:t>3</a:t>
            </a:r>
            <a:r>
              <a:rPr lang="ko-KR" altLang="en-US"/>
              <a:t>종 산출물의 목차를 수립함</a:t>
            </a:r>
          </a:p>
        </p:txBody>
      </p:sp>
      <p:sp>
        <p:nvSpPr>
          <p:cNvPr id="6" name="사각형: 둥근 모서리 20">
            <a:extLst>
              <a:ext uri="{FF2B5EF4-FFF2-40B4-BE49-F238E27FC236}">
                <a16:creationId xmlns:a16="http://schemas.microsoft.com/office/drawing/2014/main" id="{9CA6AA41-6C33-FC1A-33BD-8114D5896597}"/>
              </a:ext>
            </a:extLst>
          </p:cNvPr>
          <p:cNvSpPr/>
          <p:nvPr/>
        </p:nvSpPr>
        <p:spPr>
          <a:xfrm>
            <a:off x="334963" y="1898508"/>
            <a:ext cx="1786329" cy="311088"/>
          </a:xfrm>
          <a:prstGeom prst="roundRect">
            <a:avLst>
              <a:gd name="adj" fmla="val 0"/>
            </a:avLst>
          </a:prstGeom>
          <a:solidFill>
            <a:srgbClr val="7F7F7F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요건 상위 분류</a:t>
            </a:r>
            <a:endParaRPr lang="en" altLang="ko-KR" sz="1200" b="1" spc="-15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</a:endParaRPr>
          </a:p>
        </p:txBody>
      </p:sp>
      <p:sp>
        <p:nvSpPr>
          <p:cNvPr id="7" name="사각형: 둥근 모서리 20">
            <a:extLst>
              <a:ext uri="{FF2B5EF4-FFF2-40B4-BE49-F238E27FC236}">
                <a16:creationId xmlns:a16="http://schemas.microsoft.com/office/drawing/2014/main" id="{A429A066-8C05-D484-A111-F9220E920FF2}"/>
              </a:ext>
            </a:extLst>
          </p:cNvPr>
          <p:cNvSpPr/>
          <p:nvPr/>
        </p:nvSpPr>
        <p:spPr>
          <a:xfrm>
            <a:off x="334964" y="1340805"/>
            <a:ext cx="1786329" cy="506203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err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미래에셋증권</a:t>
            </a:r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 </a:t>
            </a:r>
            <a:r>
              <a:rPr lang="en-US" altLang="ko-KR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AI</a:t>
            </a:r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거버넌스 요건</a:t>
            </a:r>
            <a:endParaRPr lang="en" altLang="ko-KR" sz="1200" b="1">
              <a:ln>
                <a:solidFill>
                  <a:schemeClr val="bg1"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247045C0-E7B4-0230-A230-562B88F55B28}"/>
              </a:ext>
            </a:extLst>
          </p:cNvPr>
          <p:cNvSpPr/>
          <p:nvPr/>
        </p:nvSpPr>
        <p:spPr>
          <a:xfrm>
            <a:off x="334963" y="3936018"/>
            <a:ext cx="1786329" cy="26801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위험관리</a:t>
            </a:r>
            <a:r>
              <a:rPr kumimoji="1" lang="en-US" altLang="ko-KR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·</a:t>
            </a:r>
            <a:r>
              <a:rPr kumimoji="1" lang="ko-KR" altLang="en-US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영향평가</a:t>
            </a:r>
            <a:endParaRPr kumimoji="1" lang="en" altLang="ko-KR" sz="1100" b="1" i="0" u="none" strike="noStrike" kern="0" cap="none" spc="-5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5CD0748D-1473-D1A0-E339-CC9C4BB0B818}"/>
              </a:ext>
            </a:extLst>
          </p:cNvPr>
          <p:cNvSpPr/>
          <p:nvPr/>
        </p:nvSpPr>
        <p:spPr>
          <a:xfrm>
            <a:off x="334963" y="3268412"/>
            <a:ext cx="1786329" cy="26801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임직원 교육</a:t>
            </a:r>
            <a:endParaRPr kumimoji="1" lang="en" altLang="ko-KR" sz="1100" b="1" i="0" u="none" strike="noStrike" kern="0" cap="none" spc="-5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E945AEA4-5D47-F33F-B298-06F6EB239633}"/>
              </a:ext>
            </a:extLst>
          </p:cNvPr>
          <p:cNvSpPr/>
          <p:nvPr/>
        </p:nvSpPr>
        <p:spPr>
          <a:xfrm>
            <a:off x="334963" y="2267003"/>
            <a:ext cx="1786329" cy="26801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정의</a:t>
            </a:r>
            <a:r>
              <a:rPr kumimoji="1" lang="en-US" altLang="ko-KR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·</a:t>
            </a:r>
            <a:r>
              <a:rPr kumimoji="1" lang="ko-KR" altLang="en-US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적용 범위</a:t>
            </a:r>
            <a:endParaRPr kumimoji="1" lang="en" altLang="ko-KR" sz="1100" b="1" i="0" u="none" strike="noStrike" kern="0" cap="none" spc="-5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7DDC7B6E-63F4-9E35-7F8F-7F57F413B7B8}"/>
              </a:ext>
            </a:extLst>
          </p:cNvPr>
          <p:cNvSpPr/>
          <p:nvPr/>
        </p:nvSpPr>
        <p:spPr>
          <a:xfrm>
            <a:off x="334963" y="2600806"/>
            <a:ext cx="1786329" cy="26801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거버넌스 구조</a:t>
            </a:r>
            <a:endParaRPr kumimoji="1" lang="en" altLang="ko-KR" sz="1100" b="1" i="0" u="none" strike="noStrike" kern="0" cap="none" spc="-5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3DD2E5E5-B1ED-1F1A-4B99-4A981BCBB1B6}"/>
              </a:ext>
            </a:extLst>
          </p:cNvPr>
          <p:cNvSpPr/>
          <p:nvPr/>
        </p:nvSpPr>
        <p:spPr>
          <a:xfrm>
            <a:off x="334963" y="2934609"/>
            <a:ext cx="1786329" cy="26801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위</a:t>
            </a:r>
            <a:r>
              <a:rPr kumimoji="1" lang="en-US" altLang="ko-KR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·</a:t>
            </a:r>
            <a:r>
              <a:rPr kumimoji="1" lang="ko-KR" altLang="en-US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수탁 및 금융소비자 보호</a:t>
            </a:r>
            <a:endParaRPr kumimoji="1" lang="en" altLang="ko-KR" sz="1100" b="1" i="0" u="none" strike="noStrike" kern="0" cap="none" spc="-5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AC10A83D-B20F-630E-EDB0-79E1B1F6E7FE}"/>
              </a:ext>
            </a:extLst>
          </p:cNvPr>
          <p:cNvSpPr/>
          <p:nvPr/>
        </p:nvSpPr>
        <p:spPr>
          <a:xfrm>
            <a:off x="334963" y="3602215"/>
            <a:ext cx="1786329" cy="26801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규제준수</a:t>
            </a:r>
            <a:r>
              <a:rPr kumimoji="1" lang="en-US" altLang="ko-KR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·</a:t>
            </a:r>
            <a:r>
              <a:rPr kumimoji="1" lang="ko-KR" altLang="en-US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윤리기준</a:t>
            </a:r>
            <a:endParaRPr kumimoji="1" lang="en" altLang="ko-KR" sz="1100" b="1" i="0" u="none" strike="noStrike" kern="0" cap="none" spc="-5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60493B7B-E116-BB97-AE2A-37E7179BFF9F}"/>
              </a:ext>
            </a:extLst>
          </p:cNvPr>
          <p:cNvSpPr/>
          <p:nvPr/>
        </p:nvSpPr>
        <p:spPr>
          <a:xfrm>
            <a:off x="334963" y="4269821"/>
            <a:ext cx="1786329" cy="26801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안전성</a:t>
            </a:r>
            <a:r>
              <a:rPr kumimoji="1" lang="en-US" altLang="ko-KR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·</a:t>
            </a:r>
            <a:r>
              <a:rPr kumimoji="1" lang="ko-KR" altLang="en-US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보안</a:t>
            </a:r>
            <a:endParaRPr kumimoji="1" lang="en" altLang="ko-KR" sz="1100" b="1" i="0" u="none" strike="noStrike" kern="0" cap="none" spc="-5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D11DA2DA-7939-169D-46A7-8B86C9749763}"/>
              </a:ext>
            </a:extLst>
          </p:cNvPr>
          <p:cNvSpPr/>
          <p:nvPr/>
        </p:nvSpPr>
        <p:spPr>
          <a:xfrm>
            <a:off x="334963" y="4603624"/>
            <a:ext cx="1786329" cy="26801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투명성</a:t>
            </a:r>
            <a:r>
              <a:rPr kumimoji="1" lang="en-US" altLang="ko-KR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·</a:t>
            </a:r>
            <a:r>
              <a:rPr kumimoji="1" lang="ko-KR" altLang="en-US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설명가능성</a:t>
            </a:r>
            <a:endParaRPr kumimoji="1" lang="en" altLang="ko-KR" sz="1100" b="1" i="0" u="none" strike="noStrike" kern="0" cap="none" spc="-5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62BBC8FC-D2F3-A8BF-93B5-5F44410B49BF}"/>
              </a:ext>
            </a:extLst>
          </p:cNvPr>
          <p:cNvSpPr/>
          <p:nvPr/>
        </p:nvSpPr>
        <p:spPr>
          <a:xfrm>
            <a:off x="334963" y="4937427"/>
            <a:ext cx="1786329" cy="26801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공정성</a:t>
            </a:r>
            <a:endParaRPr kumimoji="1" lang="en" altLang="ko-KR" sz="1100" b="1" i="0" u="none" strike="noStrike" kern="0" cap="none" spc="-5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ED4883F1-A804-9645-137B-591E33E6AC92}"/>
              </a:ext>
            </a:extLst>
          </p:cNvPr>
          <p:cNvSpPr/>
          <p:nvPr/>
        </p:nvSpPr>
        <p:spPr>
          <a:xfrm>
            <a:off x="334963" y="5271230"/>
            <a:ext cx="1786329" cy="26801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defTabSz="45720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기획</a:t>
            </a:r>
            <a:r>
              <a:rPr kumimoji="1" lang="en-US" altLang="ko-KR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·</a:t>
            </a:r>
            <a:r>
              <a:rPr kumimoji="1" lang="ko-KR" altLang="en-US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개발</a:t>
            </a:r>
            <a:r>
              <a:rPr kumimoji="1" lang="en-US" altLang="ko-KR" sz="1100" b="1" kern="0" spc="-5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·</a:t>
            </a:r>
            <a:r>
              <a:rPr kumimoji="1" lang="ko-KR" altLang="en-US" sz="1100" b="1" kern="0" spc="-5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평가</a:t>
            </a:r>
            <a:r>
              <a:rPr kumimoji="1" lang="en-US" altLang="ko-KR" sz="1100" b="1" kern="0" spc="-5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·</a:t>
            </a:r>
            <a:r>
              <a:rPr kumimoji="1" lang="ko-KR" altLang="en-US" sz="1100" b="1" kern="0" spc="-5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점검</a:t>
            </a:r>
            <a:endParaRPr kumimoji="1" lang="en" altLang="ko-KR" sz="1100" b="1" i="0" u="none" strike="noStrike" kern="0" cap="none" spc="-5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C42BFEC8-0110-119B-EAC2-6CD025F7B361}"/>
              </a:ext>
            </a:extLst>
          </p:cNvPr>
          <p:cNvSpPr/>
          <p:nvPr/>
        </p:nvSpPr>
        <p:spPr>
          <a:xfrm>
            <a:off x="334963" y="5605033"/>
            <a:ext cx="1786329" cy="26801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lvl="0" algn="ctr" defTabSz="45720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100" b="1" kern="0" spc="-5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운영</a:t>
            </a:r>
            <a:r>
              <a:rPr kumimoji="1" lang="en-US" altLang="ko-KR" sz="1100" b="1" kern="0" spc="-5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·</a:t>
            </a:r>
            <a:r>
              <a:rPr kumimoji="1" lang="ko-KR" altLang="en-US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모니터링</a:t>
            </a:r>
            <a:endParaRPr kumimoji="1" lang="en" altLang="ko-KR" sz="1100" b="1" i="0" u="none" strike="noStrike" kern="0" cap="none" spc="-5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9" name="사각형: 둥근 모서리 20">
            <a:extLst>
              <a:ext uri="{FF2B5EF4-FFF2-40B4-BE49-F238E27FC236}">
                <a16:creationId xmlns:a16="http://schemas.microsoft.com/office/drawing/2014/main" id="{59B33826-BFFF-63F2-24BF-377F1B98C360}"/>
              </a:ext>
            </a:extLst>
          </p:cNvPr>
          <p:cNvSpPr/>
          <p:nvPr/>
        </p:nvSpPr>
        <p:spPr>
          <a:xfrm>
            <a:off x="2619705" y="1898508"/>
            <a:ext cx="2916456" cy="311088"/>
          </a:xfrm>
          <a:prstGeom prst="roundRect">
            <a:avLst>
              <a:gd name="adj" fmla="val 0"/>
            </a:avLst>
          </a:prstGeom>
          <a:solidFill>
            <a:srgbClr val="F4B183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spc="-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AI</a:t>
            </a:r>
            <a:r>
              <a:rPr lang="ko-KR" altLang="en-US" sz="1200" b="1" spc="-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거버넌스 규정서</a:t>
            </a:r>
            <a:endParaRPr lang="en" altLang="ko-KR" sz="1200" b="1" spc="-5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62644766-2C36-7247-A5D3-59044C0385D8}"/>
              </a:ext>
            </a:extLst>
          </p:cNvPr>
          <p:cNvSpPr/>
          <p:nvPr/>
        </p:nvSpPr>
        <p:spPr>
          <a:xfrm>
            <a:off x="2619705" y="1340805"/>
            <a:ext cx="9272257" cy="506203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err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미래에셋증권</a:t>
            </a:r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 </a:t>
            </a:r>
            <a:r>
              <a:rPr lang="en-US" altLang="ko-KR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AI</a:t>
            </a:r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거버넌스 산출물 목차 </a:t>
            </a:r>
            <a:r>
              <a:rPr lang="en-US" altLang="ko-KR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(</a:t>
            </a:r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가설적</a:t>
            </a:r>
            <a:r>
              <a:rPr lang="en-US" altLang="ko-KR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)</a:t>
            </a:r>
            <a:endParaRPr lang="en" altLang="ko-KR" sz="1400" b="1">
              <a:ln>
                <a:solidFill>
                  <a:schemeClr val="bg1"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31" name="사각형: 둥근 모서리 20">
            <a:extLst>
              <a:ext uri="{FF2B5EF4-FFF2-40B4-BE49-F238E27FC236}">
                <a16:creationId xmlns:a16="http://schemas.microsoft.com/office/drawing/2014/main" id="{BF850F94-C628-5AA8-198A-DB5791D676A1}"/>
              </a:ext>
            </a:extLst>
          </p:cNvPr>
          <p:cNvSpPr/>
          <p:nvPr/>
        </p:nvSpPr>
        <p:spPr>
          <a:xfrm>
            <a:off x="5797605" y="1898508"/>
            <a:ext cx="2916456" cy="311088"/>
          </a:xfrm>
          <a:prstGeom prst="roundRect">
            <a:avLst>
              <a:gd name="adj" fmla="val 0"/>
            </a:avLst>
          </a:prstGeom>
          <a:solidFill>
            <a:srgbClr val="F4B183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spc="-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AI</a:t>
            </a:r>
            <a:r>
              <a:rPr lang="ko-KR" altLang="en-US" sz="1200" b="1" spc="-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거버넌스 운영 지침서</a:t>
            </a:r>
            <a:endParaRPr lang="en" altLang="ko-KR" sz="1200" b="1" spc="-5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sp>
        <p:nvSpPr>
          <p:cNvPr id="32" name="사각형: 둥근 모서리 20">
            <a:extLst>
              <a:ext uri="{FF2B5EF4-FFF2-40B4-BE49-F238E27FC236}">
                <a16:creationId xmlns:a16="http://schemas.microsoft.com/office/drawing/2014/main" id="{5DF5AAE7-0552-E8BF-C7D5-535D38AD5D7F}"/>
              </a:ext>
            </a:extLst>
          </p:cNvPr>
          <p:cNvSpPr/>
          <p:nvPr/>
        </p:nvSpPr>
        <p:spPr>
          <a:xfrm>
            <a:off x="8975506" y="1898508"/>
            <a:ext cx="2916456" cy="311088"/>
          </a:xfrm>
          <a:prstGeom prst="roundRect">
            <a:avLst>
              <a:gd name="adj" fmla="val 0"/>
            </a:avLst>
          </a:prstGeom>
          <a:solidFill>
            <a:srgbClr val="F4B183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spc="-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AI </a:t>
            </a:r>
            <a:r>
              <a:rPr lang="ko-KR" altLang="en-US" sz="1200" b="1" spc="-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개발</a:t>
            </a:r>
            <a:r>
              <a:rPr lang="en-US" altLang="ko-KR" sz="1200" b="1" spc="-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·</a:t>
            </a:r>
            <a:r>
              <a:rPr lang="ko-KR" altLang="en-US" sz="1200" b="1" spc="-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운영 지침서</a:t>
            </a:r>
            <a:endParaRPr lang="en" altLang="ko-KR" sz="1200" b="1" spc="-5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EAAC2962-96C6-A1AB-4F66-467E38EFFE36}"/>
              </a:ext>
            </a:extLst>
          </p:cNvPr>
          <p:cNvSpPr/>
          <p:nvPr/>
        </p:nvSpPr>
        <p:spPr>
          <a:xfrm>
            <a:off x="334963" y="5938836"/>
            <a:ext cx="1786329" cy="26801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100" b="1" kern="0" spc="-5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고영향 인공지능</a:t>
            </a:r>
            <a:endParaRPr kumimoji="1" lang="en" altLang="ko-KR" sz="1100" b="1" kern="0" spc="-5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+mn-ea"/>
            </a:endParaRP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D3494810-0561-940B-B8BF-0EA7AE04ED9F}"/>
              </a:ext>
            </a:extLst>
          </p:cNvPr>
          <p:cNvSpPr/>
          <p:nvPr/>
        </p:nvSpPr>
        <p:spPr>
          <a:xfrm>
            <a:off x="334963" y="6272642"/>
            <a:ext cx="1786329" cy="26801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100" b="1" kern="0" spc="-5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인공지능 안전성</a:t>
            </a:r>
            <a:endParaRPr kumimoji="1" lang="en" altLang="ko-KR" sz="1100" b="1" kern="0" spc="-5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+mn-ea"/>
            </a:endParaRPr>
          </a:p>
        </p:txBody>
      </p:sp>
      <p:sp>
        <p:nvSpPr>
          <p:cNvPr id="44" name="이등변 삼각형 43">
            <a:extLst>
              <a:ext uri="{FF2B5EF4-FFF2-40B4-BE49-F238E27FC236}">
                <a16:creationId xmlns:a16="http://schemas.microsoft.com/office/drawing/2014/main" id="{BF52523C-431E-5DE2-4C2A-F6799A4CBC18}"/>
              </a:ext>
            </a:extLst>
          </p:cNvPr>
          <p:cNvSpPr/>
          <p:nvPr/>
        </p:nvSpPr>
        <p:spPr>
          <a:xfrm rot="5400000">
            <a:off x="2302807" y="3759507"/>
            <a:ext cx="159858" cy="109367"/>
          </a:xfrm>
          <a:prstGeom prst="triangle">
            <a:avLst/>
          </a:prstGeom>
          <a:solidFill>
            <a:schemeClr val="bg1">
              <a:lumMod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0" cap="none" spc="-5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9FE21F8D-530F-7401-F523-18A1F83FCF13}"/>
              </a:ext>
            </a:extLst>
          </p:cNvPr>
          <p:cNvSpPr/>
          <p:nvPr/>
        </p:nvSpPr>
        <p:spPr>
          <a:xfrm>
            <a:off x="2619705" y="4041137"/>
            <a:ext cx="2916456" cy="201718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91440" tIns="0" rIns="0" bIns="18000" rtlCol="0" anchor="ctr"/>
          <a:lstStyle/>
          <a:p>
            <a:pPr marL="0" marR="0" lvl="0" indent="0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제</a:t>
            </a:r>
            <a:r>
              <a:rPr kumimoji="1" lang="en-US" altLang="ko-KR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3</a:t>
            </a:r>
            <a:r>
              <a:rPr kumimoji="1" lang="ko-KR" altLang="en-US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장 </a:t>
            </a:r>
            <a:r>
              <a:rPr kumimoji="1" lang="en-US" altLang="ko-KR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AI</a:t>
            </a:r>
            <a:r>
              <a:rPr kumimoji="1" lang="ko-KR" altLang="en-US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거버넌스 </a:t>
            </a:r>
            <a:r>
              <a:rPr kumimoji="1" lang="ko-KR" altLang="en-US" sz="1100" b="1" kern="0" spc="-5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담당 및 역할</a:t>
            </a:r>
            <a:endParaRPr kumimoji="1" lang="en" altLang="ko-KR" sz="1100" b="1" i="0" u="none" strike="noStrike" kern="0" cap="none" spc="-5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2975ABF5-55F1-AE8F-CDF1-622E6D3FAFC3}"/>
              </a:ext>
            </a:extLst>
          </p:cNvPr>
          <p:cNvSpPr/>
          <p:nvPr/>
        </p:nvSpPr>
        <p:spPr>
          <a:xfrm>
            <a:off x="2738316" y="3026246"/>
            <a:ext cx="2797844" cy="201718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91440" tIns="0" rIns="0" bIns="18000" rtlCol="0" anchor="ctr"/>
          <a:lstStyle/>
          <a:p>
            <a:pPr marL="0" marR="0" lvl="0" indent="0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제</a:t>
            </a:r>
            <a:r>
              <a:rPr kumimoji="1" lang="en-US" altLang="ko-KR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2</a:t>
            </a:r>
            <a:r>
              <a:rPr kumimoji="1" lang="ko-KR" altLang="en-US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절 </a:t>
            </a:r>
            <a:r>
              <a:rPr kumimoji="1" lang="en-US" altLang="ko-KR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AI</a:t>
            </a:r>
            <a:r>
              <a:rPr kumimoji="1" lang="ko-KR" altLang="en-US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서비스 </a:t>
            </a:r>
            <a:r>
              <a:rPr kumimoji="1" lang="ko-KR" altLang="en-US" sz="1100" b="1" i="0" u="none" strike="noStrike" kern="0" cap="none" spc="-50" normalizeH="0" baseline="0" noProof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위수탁</a:t>
            </a:r>
            <a:endParaRPr kumimoji="1" lang="en" altLang="ko-KR" sz="1100" b="1" i="0" u="none" strike="noStrike" kern="0" cap="none" spc="-5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3A65EED-1031-013E-71D5-0933DC5C5B9B}"/>
              </a:ext>
            </a:extLst>
          </p:cNvPr>
          <p:cNvSpPr/>
          <p:nvPr/>
        </p:nvSpPr>
        <p:spPr>
          <a:xfrm>
            <a:off x="2619705" y="2265079"/>
            <a:ext cx="2916456" cy="201718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91440" tIns="0" rIns="0" bIns="18000" rtlCol="0" anchor="ctr"/>
          <a:lstStyle/>
          <a:p>
            <a:pPr marL="0" marR="0" lvl="0" indent="0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100" b="1" kern="0" spc="-5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제</a:t>
            </a:r>
            <a:r>
              <a:rPr kumimoji="1" lang="en-US" altLang="ko-KR" sz="1100" b="1" kern="0" spc="-5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1</a:t>
            </a:r>
            <a:r>
              <a:rPr kumimoji="1" lang="ko-KR" altLang="en-US" sz="1100" b="1" kern="0" spc="-5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장 총칙</a:t>
            </a:r>
            <a:endParaRPr kumimoji="1" lang="en" altLang="ko-KR" sz="1100" b="1" i="0" u="none" strike="noStrike" kern="0" cap="none" spc="-5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BB9B9899-B240-A36B-7B64-C4352A0FD50B}"/>
              </a:ext>
            </a:extLst>
          </p:cNvPr>
          <p:cNvSpPr/>
          <p:nvPr/>
        </p:nvSpPr>
        <p:spPr>
          <a:xfrm>
            <a:off x="2619705" y="2518802"/>
            <a:ext cx="2916456" cy="201718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91440" tIns="0" rIns="0" bIns="18000" rtlCol="0" anchor="ctr"/>
          <a:lstStyle/>
          <a:p>
            <a:pPr marL="0" marR="0" lvl="0" indent="0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제</a:t>
            </a:r>
            <a:r>
              <a:rPr kumimoji="1" lang="en-US" altLang="ko-KR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2</a:t>
            </a:r>
            <a:r>
              <a:rPr kumimoji="1" lang="ko-KR" altLang="en-US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장 원칙 및 기준</a:t>
            </a:r>
            <a:endParaRPr kumimoji="1" lang="en" altLang="ko-KR" sz="1100" b="1" i="0" u="none" strike="noStrike" kern="0" cap="none" spc="-5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90E446C2-B736-A94B-28B3-FE9329404B10}"/>
              </a:ext>
            </a:extLst>
          </p:cNvPr>
          <p:cNvSpPr/>
          <p:nvPr/>
        </p:nvSpPr>
        <p:spPr>
          <a:xfrm>
            <a:off x="2738316" y="2772523"/>
            <a:ext cx="2797844" cy="201718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91440" tIns="0" rIns="0" bIns="18000" rtlCol="0" anchor="ctr"/>
          <a:lstStyle/>
          <a:p>
            <a:pPr marL="0" marR="0" lvl="0" indent="0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제</a:t>
            </a:r>
            <a:r>
              <a:rPr kumimoji="1" lang="en-US" altLang="ko-KR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1</a:t>
            </a:r>
            <a:r>
              <a:rPr kumimoji="1" lang="ko-KR" altLang="en-US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절 윤리원칙</a:t>
            </a:r>
            <a:endParaRPr kumimoji="1" lang="en" altLang="ko-KR" sz="1100" b="1" i="0" u="none" strike="noStrike" kern="0" cap="none" spc="-5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469D7175-776F-C858-6862-1E92B0BEF7D2}"/>
              </a:ext>
            </a:extLst>
          </p:cNvPr>
          <p:cNvSpPr/>
          <p:nvPr/>
        </p:nvSpPr>
        <p:spPr>
          <a:xfrm>
            <a:off x="2738316" y="3279969"/>
            <a:ext cx="2797844" cy="201718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91440" tIns="0" rIns="0" bIns="18000" rtlCol="0" anchor="ctr"/>
          <a:lstStyle/>
          <a:p>
            <a:pPr marL="0" marR="0" lvl="0" indent="0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제</a:t>
            </a:r>
            <a:r>
              <a:rPr kumimoji="1" lang="en-US" altLang="ko-KR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3</a:t>
            </a:r>
            <a:r>
              <a:rPr kumimoji="1" lang="ko-KR" altLang="en-US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절 이용자 및 금융소비자의 보호</a:t>
            </a:r>
            <a:endParaRPr kumimoji="1" lang="en" altLang="ko-KR" sz="1100" b="1" i="0" u="none" strike="noStrike" kern="0" cap="none" spc="-5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DA1B03B0-5DF1-B528-68F3-F56F6E585AE6}"/>
              </a:ext>
            </a:extLst>
          </p:cNvPr>
          <p:cNvSpPr/>
          <p:nvPr/>
        </p:nvSpPr>
        <p:spPr>
          <a:xfrm>
            <a:off x="2619705" y="4294859"/>
            <a:ext cx="2916456" cy="201718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91440" tIns="0" rIns="0" bIns="18000" rtlCol="0" anchor="ctr"/>
          <a:lstStyle/>
          <a:p>
            <a:pPr marL="0" marR="0" lvl="0" indent="0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100" b="1" kern="0" spc="-5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제</a:t>
            </a:r>
            <a:r>
              <a:rPr kumimoji="1" lang="en-US" altLang="ko-KR" sz="1100" b="1" kern="0" spc="-5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4</a:t>
            </a:r>
            <a:r>
              <a:rPr kumimoji="1" lang="ko-KR" altLang="en-US" sz="1100" b="1" kern="0" spc="-5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장 </a:t>
            </a:r>
            <a:r>
              <a:rPr kumimoji="1" lang="en-US" altLang="ko-KR" sz="1100" b="1" kern="0" spc="-5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AI</a:t>
            </a:r>
            <a:r>
              <a:rPr kumimoji="1" lang="ko-KR" altLang="en-US" sz="1100" b="1" kern="0" spc="-5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개발 및 운영</a:t>
            </a:r>
            <a:endParaRPr kumimoji="1" lang="en" altLang="ko-KR" sz="1100" b="1" i="0" u="none" strike="noStrike" kern="0" cap="none" spc="-5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0A6D9A51-A012-418B-8099-EA05F6B02CDE}"/>
              </a:ext>
            </a:extLst>
          </p:cNvPr>
          <p:cNvSpPr/>
          <p:nvPr/>
        </p:nvSpPr>
        <p:spPr>
          <a:xfrm>
            <a:off x="2619705" y="4548582"/>
            <a:ext cx="2916456" cy="201718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91440" tIns="0" rIns="0" bIns="18000" rtlCol="0" anchor="ctr"/>
          <a:lstStyle/>
          <a:p>
            <a:pPr marL="0" marR="0" lvl="0" indent="0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100" b="1" kern="0" spc="-5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제</a:t>
            </a:r>
            <a:r>
              <a:rPr kumimoji="1" lang="en-US" altLang="ko-KR" sz="1100" b="1" kern="0" spc="-5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5</a:t>
            </a:r>
            <a:r>
              <a:rPr kumimoji="1" lang="ko-KR" altLang="en-US" sz="1100" b="1" kern="0" spc="-5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장 </a:t>
            </a:r>
            <a:r>
              <a:rPr kumimoji="1" lang="en-US" altLang="ko-KR" sz="1100" b="1" kern="0" spc="-5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AI</a:t>
            </a:r>
            <a:r>
              <a:rPr kumimoji="1" lang="ko-KR" altLang="en-US" sz="1100" b="1" kern="0" spc="-5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위험관리정책</a:t>
            </a:r>
            <a:endParaRPr kumimoji="1" lang="en" altLang="ko-KR" sz="1100" b="1" i="0" u="none" strike="noStrike" kern="0" cap="none" spc="-5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D3372EDB-7B8F-4DF3-451D-DB1CC12ECE68}"/>
              </a:ext>
            </a:extLst>
          </p:cNvPr>
          <p:cNvSpPr/>
          <p:nvPr/>
        </p:nvSpPr>
        <p:spPr>
          <a:xfrm>
            <a:off x="2738316" y="4802305"/>
            <a:ext cx="2797844" cy="201718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91440" tIns="0" rIns="0" bIns="18000" rtlCol="0" anchor="ctr"/>
          <a:lstStyle/>
          <a:p>
            <a:pPr marL="0" marR="0" lvl="0" indent="0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제</a:t>
            </a:r>
            <a:r>
              <a:rPr kumimoji="1" lang="en-US" altLang="ko-KR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1</a:t>
            </a:r>
            <a:r>
              <a:rPr kumimoji="1" lang="ko-KR" altLang="en-US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절 공통</a:t>
            </a:r>
            <a:endParaRPr kumimoji="1" lang="en" altLang="ko-KR" sz="1100" b="1" i="0" u="none" strike="noStrike" kern="0" cap="none" spc="-5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558E2CE9-7964-171B-D71C-B7D2A0B8928C}"/>
              </a:ext>
            </a:extLst>
          </p:cNvPr>
          <p:cNvSpPr/>
          <p:nvPr/>
        </p:nvSpPr>
        <p:spPr>
          <a:xfrm>
            <a:off x="2738316" y="5056027"/>
            <a:ext cx="2797844" cy="201718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91440" tIns="0" rIns="0" bIns="18000" rtlCol="0" anchor="ctr"/>
          <a:lstStyle/>
          <a:p>
            <a:pPr lvl="0" defTabSz="45720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제</a:t>
            </a:r>
            <a:r>
              <a:rPr kumimoji="1" lang="en-US" altLang="ko-KR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2</a:t>
            </a:r>
            <a:r>
              <a:rPr kumimoji="1" lang="ko-KR" altLang="en-US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절 </a:t>
            </a:r>
            <a:r>
              <a:rPr kumimoji="1" lang="en-US" altLang="ko-KR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AI </a:t>
            </a:r>
            <a:r>
              <a:rPr kumimoji="1" lang="ko-KR" altLang="en-US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생애주기별 관리 정책</a:t>
            </a:r>
            <a:endParaRPr kumimoji="1" lang="en" altLang="ko-KR" sz="1100" b="1" i="0" u="none" strike="noStrike" kern="0" cap="none" spc="-5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21F3F10C-FAD2-2577-9F39-70671FFDADC2}"/>
              </a:ext>
            </a:extLst>
          </p:cNvPr>
          <p:cNvSpPr/>
          <p:nvPr/>
        </p:nvSpPr>
        <p:spPr>
          <a:xfrm>
            <a:off x="8975506" y="2265079"/>
            <a:ext cx="2916456" cy="201718"/>
          </a:xfrm>
          <a:prstGeom prst="roundRect">
            <a:avLst>
              <a:gd name="adj" fmla="val 0"/>
            </a:avLst>
          </a:prstGeom>
          <a:solidFill>
            <a:srgbClr val="FBE5D6"/>
          </a:solidFill>
          <a:ln w="25400" cap="flat" cmpd="sng" algn="ctr">
            <a:noFill/>
            <a:prstDash val="solid"/>
          </a:ln>
          <a:effectLst/>
        </p:spPr>
        <p:txBody>
          <a:bodyPr lIns="90000" tIns="0" rIns="0" bIns="18000" rtlCol="0" anchor="ctr"/>
          <a:lstStyle/>
          <a:p>
            <a:pPr marL="0" marR="0" lvl="0" indent="0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제</a:t>
            </a:r>
            <a:r>
              <a:rPr kumimoji="1" lang="en-US" altLang="ko-KR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1</a:t>
            </a:r>
            <a:r>
              <a:rPr kumimoji="1" lang="ko-KR" altLang="en-US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장 총칙</a:t>
            </a:r>
            <a:endParaRPr kumimoji="1" lang="en" altLang="ko-KR" sz="1100" b="1" i="0" u="none" strike="noStrike" kern="0" cap="none" spc="-5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C36AD6AB-DD71-B726-5FA3-08FBD8AE33D1}"/>
              </a:ext>
            </a:extLst>
          </p:cNvPr>
          <p:cNvSpPr/>
          <p:nvPr/>
        </p:nvSpPr>
        <p:spPr>
          <a:xfrm>
            <a:off x="8975506" y="2518802"/>
            <a:ext cx="2916456" cy="201718"/>
          </a:xfrm>
          <a:prstGeom prst="roundRect">
            <a:avLst>
              <a:gd name="adj" fmla="val 0"/>
            </a:avLst>
          </a:prstGeom>
          <a:solidFill>
            <a:srgbClr val="FBE5D6"/>
          </a:solidFill>
          <a:ln w="25400" cap="flat" cmpd="sng" algn="ctr">
            <a:noFill/>
            <a:prstDash val="solid"/>
          </a:ln>
          <a:effectLst/>
        </p:spPr>
        <p:txBody>
          <a:bodyPr lIns="90000" tIns="0" rIns="0" bIns="18000" rtlCol="0" anchor="ctr"/>
          <a:lstStyle/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제</a:t>
            </a:r>
            <a:r>
              <a:rPr kumimoji="1" lang="en-US" altLang="ko-KR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2</a:t>
            </a:r>
            <a:r>
              <a:rPr kumimoji="1" lang="ko-KR" altLang="en-US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장 </a:t>
            </a:r>
            <a:r>
              <a:rPr kumimoji="1" lang="en-US" altLang="ko-KR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AI </a:t>
            </a:r>
            <a:r>
              <a:rPr kumimoji="1" lang="ko-KR" altLang="en-US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개발</a:t>
            </a:r>
            <a:r>
              <a:rPr kumimoji="1" lang="en-US" altLang="ko-KR" sz="1100" b="1" kern="0" spc="-5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·</a:t>
            </a:r>
            <a:r>
              <a:rPr kumimoji="1" lang="ko-KR" altLang="en-US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운영</a:t>
            </a:r>
            <a:r>
              <a:rPr kumimoji="1" lang="en-US" altLang="ko-KR" sz="1100" b="1" kern="0" spc="-5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 </a:t>
            </a:r>
            <a:r>
              <a:rPr kumimoji="1" lang="ko-KR" altLang="en-US" sz="1100" b="1" kern="0" spc="-5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담당 역할</a:t>
            </a:r>
            <a:endParaRPr kumimoji="1" lang="en" altLang="ko-KR" sz="1100" b="1" i="0" u="none" strike="noStrike" kern="0" cap="none" spc="-5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D9508B28-3CC1-2A51-396B-508F878FDDBD}"/>
              </a:ext>
            </a:extLst>
          </p:cNvPr>
          <p:cNvSpPr/>
          <p:nvPr/>
        </p:nvSpPr>
        <p:spPr>
          <a:xfrm>
            <a:off x="8975506" y="2772523"/>
            <a:ext cx="2916456" cy="201718"/>
          </a:xfrm>
          <a:prstGeom prst="roundRect">
            <a:avLst>
              <a:gd name="adj" fmla="val 0"/>
            </a:avLst>
          </a:prstGeom>
          <a:solidFill>
            <a:srgbClr val="FBE5D6"/>
          </a:solidFill>
          <a:ln w="25400" cap="flat" cmpd="sng" algn="ctr">
            <a:noFill/>
            <a:prstDash val="solid"/>
          </a:ln>
          <a:effectLst/>
        </p:spPr>
        <p:txBody>
          <a:bodyPr lIns="90000" tIns="0" rIns="0" bIns="18000" rtlCol="0" anchor="ctr"/>
          <a:lstStyle/>
          <a:p>
            <a:pPr marL="0" marR="0" lvl="0" indent="0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제</a:t>
            </a:r>
            <a:r>
              <a:rPr kumimoji="1" lang="en-US" altLang="ko-KR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3</a:t>
            </a:r>
            <a:r>
              <a:rPr kumimoji="1" lang="ko-KR" altLang="en-US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장 </a:t>
            </a:r>
            <a:r>
              <a:rPr kumimoji="1" lang="en-US" altLang="ko-KR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AI </a:t>
            </a:r>
            <a:r>
              <a:rPr kumimoji="1" lang="ko-KR" altLang="en-US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개발 및 운영</a:t>
            </a:r>
            <a:endParaRPr kumimoji="1" lang="en" altLang="ko-KR" sz="1100" b="1" i="0" u="none" strike="noStrike" kern="0" cap="none" spc="-5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1790E7D1-4CE9-20A9-802D-ACB348A34438}"/>
              </a:ext>
            </a:extLst>
          </p:cNvPr>
          <p:cNvSpPr/>
          <p:nvPr/>
        </p:nvSpPr>
        <p:spPr>
          <a:xfrm>
            <a:off x="9094115" y="3026246"/>
            <a:ext cx="2797847" cy="201718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90000" tIns="0" rIns="0" bIns="18000" rtlCol="0" anchor="ctr"/>
          <a:lstStyle/>
          <a:p>
            <a:pPr marL="0" marR="0" lvl="0" indent="0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제</a:t>
            </a:r>
            <a:r>
              <a:rPr kumimoji="1" lang="en-US" altLang="ko-KR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1</a:t>
            </a:r>
            <a:r>
              <a:rPr kumimoji="1" lang="ko-KR" altLang="en-US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절 원칙 및 기준</a:t>
            </a:r>
            <a:endParaRPr kumimoji="1" lang="en" altLang="ko-KR" sz="1100" b="1" i="0" u="none" strike="noStrike" kern="0" cap="none" spc="-5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66C24D67-A2E8-4881-D0A0-3014A22E017A}"/>
              </a:ext>
            </a:extLst>
          </p:cNvPr>
          <p:cNvSpPr/>
          <p:nvPr/>
        </p:nvSpPr>
        <p:spPr>
          <a:xfrm>
            <a:off x="9094115" y="4041137"/>
            <a:ext cx="2797847" cy="201718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90000" tIns="0" rIns="0" bIns="18000" rtlCol="0" anchor="ctr"/>
          <a:lstStyle/>
          <a:p>
            <a:pPr marL="0" marR="0" lvl="0" indent="0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제</a:t>
            </a:r>
            <a:r>
              <a:rPr kumimoji="1" lang="en-US" altLang="ko-KR" sz="1100" b="1" kern="0" spc="-5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5</a:t>
            </a:r>
            <a:r>
              <a:rPr kumimoji="1" lang="ko-KR" altLang="en-US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절 개발 단계</a:t>
            </a:r>
            <a:endParaRPr kumimoji="1" lang="en" altLang="ko-KR" sz="1100" b="1" i="0" u="none" strike="noStrike" kern="0" cap="none" spc="-5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035952FE-B276-9D2E-FE1C-218707C3E6F0}"/>
              </a:ext>
            </a:extLst>
          </p:cNvPr>
          <p:cNvSpPr/>
          <p:nvPr/>
        </p:nvSpPr>
        <p:spPr>
          <a:xfrm>
            <a:off x="9094115" y="3787414"/>
            <a:ext cx="2797847" cy="201718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90000" tIns="0" rIns="0" bIns="18000" rtlCol="0" anchor="ctr"/>
          <a:lstStyle/>
          <a:p>
            <a:pPr marL="0" marR="0" lvl="0" indent="0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제</a:t>
            </a:r>
            <a:r>
              <a:rPr kumimoji="1" lang="en-US" altLang="ko-KR" sz="1100" b="1" kern="0" spc="-5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4</a:t>
            </a:r>
            <a:r>
              <a:rPr kumimoji="1" lang="ko-KR" altLang="en-US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절 기획</a:t>
            </a:r>
            <a:r>
              <a:rPr kumimoji="1" lang="en-US" altLang="ko-KR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·</a:t>
            </a:r>
            <a:r>
              <a:rPr kumimoji="1" lang="ko-KR" altLang="en-US" sz="1100" b="1" kern="0" spc="-5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설계 단계</a:t>
            </a:r>
            <a:r>
              <a:rPr kumimoji="1" lang="ko-KR" altLang="en-US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 </a:t>
            </a:r>
            <a:endParaRPr kumimoji="1" lang="en" altLang="ko-KR" sz="1100" b="1" i="0" u="none" strike="noStrike" kern="0" cap="none" spc="-5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56A1BA17-E2AC-825B-1AB8-85E5350A784A}"/>
              </a:ext>
            </a:extLst>
          </p:cNvPr>
          <p:cNvSpPr/>
          <p:nvPr/>
        </p:nvSpPr>
        <p:spPr>
          <a:xfrm>
            <a:off x="9094115" y="4294859"/>
            <a:ext cx="2797847" cy="201718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90000" tIns="0" rIns="0" bIns="18000" rtlCol="0" anchor="ctr"/>
          <a:lstStyle/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제</a:t>
            </a:r>
            <a:r>
              <a:rPr kumimoji="1" lang="en-US" altLang="ko-KR" sz="1100" b="1" kern="0" spc="-5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6</a:t>
            </a:r>
            <a:r>
              <a:rPr kumimoji="1" lang="ko-KR" altLang="en-US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절 평가</a:t>
            </a:r>
            <a:r>
              <a:rPr kumimoji="1" lang="en-US" altLang="ko-KR" sz="1100" b="1" kern="0" spc="-5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·</a:t>
            </a:r>
            <a:r>
              <a:rPr kumimoji="1" lang="ko-KR" altLang="en-US" sz="1100" b="1" kern="0" spc="-5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검증 단계</a:t>
            </a:r>
            <a:endParaRPr kumimoji="1" lang="en" altLang="ko-KR" sz="1100" b="1" i="0" u="none" strike="noStrike" kern="0" cap="none" spc="-5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579E430B-E3B7-0E5C-0484-A854971CD262}"/>
              </a:ext>
            </a:extLst>
          </p:cNvPr>
          <p:cNvSpPr/>
          <p:nvPr/>
        </p:nvSpPr>
        <p:spPr>
          <a:xfrm>
            <a:off x="9094115" y="4548582"/>
            <a:ext cx="2797847" cy="201718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90000" tIns="0" rIns="0" bIns="18000" rtlCol="0" anchor="ctr"/>
          <a:lstStyle/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제</a:t>
            </a:r>
            <a:r>
              <a:rPr kumimoji="1" lang="en-US" altLang="ko-KR" sz="1100" b="1" kern="0" spc="-5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7</a:t>
            </a:r>
            <a:r>
              <a:rPr kumimoji="1" lang="ko-KR" altLang="en-US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절 도입</a:t>
            </a:r>
            <a:r>
              <a:rPr kumimoji="1" lang="en-US" altLang="ko-KR" sz="1100" b="1" kern="0" spc="-5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·</a:t>
            </a:r>
            <a:r>
              <a:rPr kumimoji="1" lang="ko-KR" altLang="en-US" sz="1100" b="1" kern="0" spc="-5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운영</a:t>
            </a:r>
            <a:r>
              <a:rPr kumimoji="1" lang="en-US" altLang="ko-KR" sz="1100" b="1" kern="0" spc="-5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·</a:t>
            </a:r>
            <a:r>
              <a:rPr kumimoji="1" lang="ko-KR" altLang="en-US" sz="1100" b="1" kern="0" spc="-5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모니터링 단계</a:t>
            </a:r>
            <a:endParaRPr kumimoji="1" lang="en" altLang="ko-KR" sz="1100" b="1" i="0" u="none" strike="noStrike" kern="0" cap="none" spc="-5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46108AD7-1868-4DA3-D21E-F2B357E2C1BC}"/>
              </a:ext>
            </a:extLst>
          </p:cNvPr>
          <p:cNvSpPr/>
          <p:nvPr/>
        </p:nvSpPr>
        <p:spPr>
          <a:xfrm>
            <a:off x="8975506" y="4802305"/>
            <a:ext cx="2916456" cy="201718"/>
          </a:xfrm>
          <a:prstGeom prst="roundRect">
            <a:avLst>
              <a:gd name="adj" fmla="val 0"/>
            </a:avLst>
          </a:prstGeom>
          <a:solidFill>
            <a:srgbClr val="FBE5D6"/>
          </a:solidFill>
          <a:ln w="25400" cap="flat" cmpd="sng" algn="ctr">
            <a:noFill/>
            <a:prstDash val="solid"/>
          </a:ln>
          <a:effectLst/>
        </p:spPr>
        <p:txBody>
          <a:bodyPr lIns="90000" tIns="0" rIns="0" bIns="18000" rtlCol="0" anchor="ctr"/>
          <a:lstStyle/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100" b="1" kern="0" spc="-5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제</a:t>
            </a:r>
            <a:r>
              <a:rPr kumimoji="1" lang="en-US" altLang="ko-KR" sz="1100" b="1" kern="0" spc="-5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4</a:t>
            </a:r>
            <a:r>
              <a:rPr kumimoji="1" lang="ko-KR" altLang="en-US" sz="1100" b="1" kern="0" spc="-5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장 </a:t>
            </a:r>
            <a:r>
              <a:rPr kumimoji="1" lang="en" altLang="ko-KR" sz="1100" b="1" kern="0" spc="-5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AI</a:t>
            </a:r>
            <a:r>
              <a:rPr kumimoji="1" lang="ko-KR" altLang="en-US" sz="1100" b="1" kern="0" spc="-5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서비스 개발</a:t>
            </a:r>
            <a:r>
              <a:rPr kumimoji="1" lang="en-US" altLang="ko-KR" sz="1100" b="1" kern="0" spc="-5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·</a:t>
            </a:r>
            <a:r>
              <a:rPr kumimoji="1" lang="ko-KR" altLang="en-US" sz="1100" b="1" kern="0" spc="-5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활용 관련 보안 대책</a:t>
            </a:r>
            <a:endParaRPr kumimoji="1" lang="en" altLang="ko-KR" sz="1100" b="1" kern="0" spc="-5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+mn-ea"/>
            </a:endParaRP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AEC3D871-F0BC-A1C6-C5FA-EC052AC1CD75}"/>
              </a:ext>
            </a:extLst>
          </p:cNvPr>
          <p:cNvSpPr/>
          <p:nvPr/>
        </p:nvSpPr>
        <p:spPr>
          <a:xfrm>
            <a:off x="5916216" y="3785674"/>
            <a:ext cx="2797844" cy="201718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wrap="none" lIns="91440" tIns="0" rIns="0" bIns="18000" rtlCol="0" anchor="ctr"/>
          <a:lstStyle/>
          <a:p>
            <a:pPr marL="0" marR="0" lvl="0" indent="0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100" b="1" kern="0" spc="-5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제</a:t>
            </a:r>
            <a:r>
              <a:rPr kumimoji="1" lang="en-US" altLang="ko-KR" sz="1100" b="1" kern="0" spc="-5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1</a:t>
            </a:r>
            <a:r>
              <a:rPr kumimoji="1" lang="ko-KR" altLang="en-US" sz="1100" b="1" kern="0" spc="-5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절 </a:t>
            </a:r>
            <a:r>
              <a:rPr kumimoji="1" lang="en-US" altLang="ko-KR" sz="1100" b="1" kern="0" spc="-5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AX</a:t>
            </a:r>
            <a:r>
              <a:rPr kumimoji="1" lang="ko-KR" altLang="en-US" sz="1100" b="1" kern="0" spc="-5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팀</a:t>
            </a:r>
            <a:endParaRPr kumimoji="1" lang="en" altLang="ko-KR" sz="1100" b="1" i="0" u="none" strike="noStrike" kern="0" cap="none" spc="-5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94D0D531-7C56-E69C-8155-C01B974544C1}"/>
              </a:ext>
            </a:extLst>
          </p:cNvPr>
          <p:cNvSpPr/>
          <p:nvPr/>
        </p:nvSpPr>
        <p:spPr>
          <a:xfrm>
            <a:off x="5916216" y="3278229"/>
            <a:ext cx="2797844" cy="201718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wrap="none" lIns="91440" tIns="0" rIns="0" bIns="18000" rtlCol="0" anchor="ctr"/>
          <a:lstStyle/>
          <a:p>
            <a:pPr marL="0" marR="0" lvl="0" indent="0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제</a:t>
            </a:r>
            <a:r>
              <a:rPr kumimoji="1" lang="en-US" altLang="ko-KR" sz="1100" b="1" kern="0" spc="-5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3</a:t>
            </a:r>
            <a:r>
              <a:rPr kumimoji="1" lang="ko-KR" altLang="en-US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절 임직원 윤리 교육</a:t>
            </a:r>
            <a:endParaRPr kumimoji="1" lang="en" altLang="ko-KR" sz="1100" b="1" i="0" u="none" strike="noStrike" kern="0" cap="none" spc="-5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AF70A1D0-9416-8D3C-A1C7-FDE87DD8D9D0}"/>
              </a:ext>
            </a:extLst>
          </p:cNvPr>
          <p:cNvSpPr/>
          <p:nvPr/>
        </p:nvSpPr>
        <p:spPr>
          <a:xfrm>
            <a:off x="5797605" y="2265079"/>
            <a:ext cx="2916456" cy="201718"/>
          </a:xfrm>
          <a:prstGeom prst="roundRect">
            <a:avLst>
              <a:gd name="adj" fmla="val 0"/>
            </a:avLst>
          </a:prstGeom>
          <a:solidFill>
            <a:srgbClr val="FBE5D6"/>
          </a:solidFill>
          <a:ln w="25400" cap="flat" cmpd="sng" algn="ctr">
            <a:noFill/>
            <a:prstDash val="solid"/>
          </a:ln>
          <a:effectLst/>
        </p:spPr>
        <p:txBody>
          <a:bodyPr lIns="91440" tIns="0" rIns="0" bIns="18000" rtlCol="0" anchor="ctr"/>
          <a:lstStyle/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제</a:t>
            </a:r>
            <a:r>
              <a:rPr kumimoji="1" lang="en-US" altLang="ko-KR" sz="1100" b="1" kern="0" spc="-5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1</a:t>
            </a:r>
            <a:r>
              <a:rPr kumimoji="1" lang="ko-KR" altLang="en-US" sz="1100" b="1" kern="0" spc="-5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장 총칙</a:t>
            </a:r>
            <a:endParaRPr kumimoji="1" lang="en" altLang="ko-KR" sz="1100" b="1" i="0" u="none" strike="noStrike" kern="0" cap="none" spc="-5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C71424D3-5D23-712F-7C4E-82B7772C9C6F}"/>
              </a:ext>
            </a:extLst>
          </p:cNvPr>
          <p:cNvSpPr/>
          <p:nvPr/>
        </p:nvSpPr>
        <p:spPr>
          <a:xfrm>
            <a:off x="5797605" y="2518802"/>
            <a:ext cx="2916456" cy="201718"/>
          </a:xfrm>
          <a:prstGeom prst="roundRect">
            <a:avLst>
              <a:gd name="adj" fmla="val 0"/>
            </a:avLst>
          </a:prstGeom>
          <a:solidFill>
            <a:srgbClr val="FBE5D6"/>
          </a:solidFill>
          <a:ln w="25400" cap="flat" cmpd="sng" algn="ctr">
            <a:noFill/>
            <a:prstDash val="solid"/>
          </a:ln>
          <a:effectLst/>
        </p:spPr>
        <p:txBody>
          <a:bodyPr lIns="91440" tIns="0" rIns="0" bIns="18000" rtlCol="0" anchor="ctr"/>
          <a:lstStyle/>
          <a:p>
            <a:pPr marL="0" marR="0" lvl="0" indent="0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제</a:t>
            </a:r>
            <a:r>
              <a:rPr kumimoji="1" lang="en-US" altLang="ko-KR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2</a:t>
            </a:r>
            <a:r>
              <a:rPr kumimoji="1" lang="ko-KR" altLang="en-US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장 일반지침</a:t>
            </a:r>
            <a:endParaRPr kumimoji="1" lang="en" altLang="ko-KR" sz="1100" b="1" i="0" u="none" strike="noStrike" kern="0" cap="none" spc="-5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2A861CC3-866E-AEE8-030F-704631D6AA7C}"/>
              </a:ext>
            </a:extLst>
          </p:cNvPr>
          <p:cNvSpPr/>
          <p:nvPr/>
        </p:nvSpPr>
        <p:spPr>
          <a:xfrm>
            <a:off x="5916216" y="2772523"/>
            <a:ext cx="2797844" cy="201718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wrap="none" lIns="91440" tIns="0" rIns="0" bIns="18000" rtlCol="0" anchor="ctr"/>
          <a:lstStyle/>
          <a:p>
            <a:pPr marL="0" marR="0" lvl="0" indent="0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제</a:t>
            </a:r>
            <a:r>
              <a:rPr kumimoji="1" lang="en-US" altLang="ko-KR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1</a:t>
            </a:r>
            <a:r>
              <a:rPr kumimoji="1" lang="ko-KR" altLang="en-US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절 </a:t>
            </a:r>
            <a:r>
              <a:rPr kumimoji="1" lang="en-US" altLang="ko-KR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AI</a:t>
            </a:r>
            <a:r>
              <a:rPr kumimoji="1" lang="ko-KR" altLang="en-US" sz="1100" b="1" kern="0" spc="-5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 서비스 </a:t>
            </a:r>
            <a:r>
              <a:rPr kumimoji="1" lang="ko-KR" altLang="en-US" sz="1100" b="1" kern="0" spc="-5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위수탁</a:t>
            </a:r>
            <a:endParaRPr kumimoji="1" lang="en" altLang="ko-KR" sz="1100" b="1" i="0" u="none" strike="noStrike" kern="0" cap="none" spc="-5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DB440F95-4ACA-3546-52D3-D0535A47D04A}"/>
              </a:ext>
            </a:extLst>
          </p:cNvPr>
          <p:cNvSpPr/>
          <p:nvPr/>
        </p:nvSpPr>
        <p:spPr>
          <a:xfrm>
            <a:off x="5797605" y="3531952"/>
            <a:ext cx="2916456" cy="201718"/>
          </a:xfrm>
          <a:prstGeom prst="roundRect">
            <a:avLst>
              <a:gd name="adj" fmla="val 0"/>
            </a:avLst>
          </a:prstGeom>
          <a:solidFill>
            <a:srgbClr val="FBE5D6"/>
          </a:solidFill>
          <a:ln w="25400" cap="flat" cmpd="sng" algn="ctr">
            <a:noFill/>
            <a:prstDash val="solid"/>
          </a:ln>
          <a:effectLst/>
        </p:spPr>
        <p:txBody>
          <a:bodyPr lIns="91440" tIns="0" rIns="0" bIns="18000" rtlCol="0" anchor="ctr"/>
          <a:lstStyle/>
          <a:p>
            <a:pPr marL="0" marR="0" lvl="0" indent="0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제</a:t>
            </a:r>
            <a:r>
              <a:rPr kumimoji="1" lang="en-US" altLang="ko-KR" sz="1100" b="1" kern="0" spc="-5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3</a:t>
            </a:r>
            <a:r>
              <a:rPr kumimoji="1" lang="ko-KR" altLang="en-US" sz="1100" b="1" kern="0" spc="-5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장 </a:t>
            </a:r>
            <a:r>
              <a:rPr kumimoji="1" lang="en-US" altLang="ko-KR" sz="1100" b="1" kern="0" spc="-5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AI</a:t>
            </a:r>
            <a:r>
              <a:rPr kumimoji="1" lang="ko-KR" altLang="en-US" sz="1100" b="1" kern="0" spc="-5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솔루션본부</a:t>
            </a:r>
            <a:endParaRPr kumimoji="1" lang="en" altLang="ko-KR" sz="1100" b="1" i="0" u="none" strike="noStrike" kern="0" cap="none" spc="-5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82145A74-6588-6648-B7B5-38E0F98418A3}"/>
              </a:ext>
            </a:extLst>
          </p:cNvPr>
          <p:cNvSpPr/>
          <p:nvPr/>
        </p:nvSpPr>
        <p:spPr>
          <a:xfrm>
            <a:off x="5916216" y="4039397"/>
            <a:ext cx="2797844" cy="201718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wrap="none" lIns="91440" tIns="0" rIns="0" bIns="18000" rtlCol="0" anchor="ctr"/>
          <a:lstStyle/>
          <a:p>
            <a:pPr marL="0" marR="0" lvl="0" indent="0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제</a:t>
            </a:r>
            <a:r>
              <a:rPr kumimoji="1" lang="en-US" altLang="ko-KR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2</a:t>
            </a:r>
            <a:r>
              <a:rPr kumimoji="1" lang="ko-KR" altLang="en-US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절 </a:t>
            </a:r>
            <a:r>
              <a:rPr kumimoji="1" lang="en-US" altLang="ko-KR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AI</a:t>
            </a:r>
            <a:r>
              <a:rPr kumimoji="1" lang="ko-KR" altLang="en-US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거버넌스 담당</a:t>
            </a:r>
            <a:r>
              <a:rPr kumimoji="1" lang="en-US" altLang="ko-KR" sz="1100" b="1" kern="0" spc="-5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(</a:t>
            </a:r>
            <a:r>
              <a:rPr kumimoji="1" lang="ko-KR" altLang="en-US" sz="1100" b="1" kern="0" spc="-5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팀</a:t>
            </a:r>
            <a:r>
              <a:rPr kumimoji="1" lang="en-US" altLang="ko-KR" sz="1100" b="1" kern="0" spc="-5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)</a:t>
            </a:r>
            <a:endParaRPr kumimoji="1" lang="en" altLang="ko-KR" sz="1100" b="1" i="0" u="none" strike="noStrike" kern="0" cap="none" spc="-5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4AB93676-BBAB-D198-A0B2-9D6241733A79}"/>
              </a:ext>
            </a:extLst>
          </p:cNvPr>
          <p:cNvSpPr/>
          <p:nvPr/>
        </p:nvSpPr>
        <p:spPr>
          <a:xfrm>
            <a:off x="5916216" y="4293120"/>
            <a:ext cx="2797844" cy="201718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wrap="none" lIns="91440" tIns="0" rIns="0" bIns="18000" rtlCol="0" anchor="ctr"/>
          <a:lstStyle/>
          <a:p>
            <a:pPr marL="0" marR="0" lvl="0" indent="0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제</a:t>
            </a:r>
            <a:r>
              <a:rPr kumimoji="1" lang="en-US" altLang="ko-KR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3</a:t>
            </a:r>
            <a:r>
              <a:rPr kumimoji="1" lang="ko-KR" altLang="en-US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절 </a:t>
            </a:r>
            <a:r>
              <a:rPr kumimoji="1" lang="en-US" altLang="ko-KR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AI</a:t>
            </a:r>
            <a:r>
              <a:rPr kumimoji="1" lang="ko-KR" altLang="en-US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거버넌스 협의체</a:t>
            </a:r>
            <a:endParaRPr kumimoji="1" lang="en" altLang="ko-KR" sz="1100" b="1" i="0" u="none" strike="noStrike" kern="0" cap="none" spc="-5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0188E195-EF7D-531C-2D9A-68EBF82EBA6A}"/>
              </a:ext>
            </a:extLst>
          </p:cNvPr>
          <p:cNvSpPr/>
          <p:nvPr/>
        </p:nvSpPr>
        <p:spPr>
          <a:xfrm>
            <a:off x="5797605" y="4546842"/>
            <a:ext cx="2916456" cy="201718"/>
          </a:xfrm>
          <a:prstGeom prst="roundRect">
            <a:avLst>
              <a:gd name="adj" fmla="val 0"/>
            </a:avLst>
          </a:prstGeom>
          <a:solidFill>
            <a:srgbClr val="FBE5D6"/>
          </a:solidFill>
          <a:ln w="25400" cap="flat" cmpd="sng" algn="ctr">
            <a:noFill/>
            <a:prstDash val="solid"/>
          </a:ln>
          <a:effectLst/>
        </p:spPr>
        <p:txBody>
          <a:bodyPr lIns="91440" tIns="0" rIns="0" bIns="18000" rtlCol="0" anchor="ctr"/>
          <a:lstStyle/>
          <a:p>
            <a:pPr marL="0" marR="0" lvl="0" indent="0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100" b="1" kern="0" spc="-5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제</a:t>
            </a:r>
            <a:r>
              <a:rPr kumimoji="1" lang="en-US" altLang="ko-KR" sz="1100" b="1" kern="0" spc="-5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4</a:t>
            </a:r>
            <a:r>
              <a:rPr kumimoji="1" lang="ko-KR" altLang="en-US" sz="1100" b="1" kern="0" spc="-5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장 </a:t>
            </a:r>
            <a:r>
              <a:rPr kumimoji="1" lang="en-US" altLang="ko-KR" sz="1100" b="1" kern="0" spc="-5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AI </a:t>
            </a:r>
            <a:r>
              <a:rPr kumimoji="1" lang="ko-KR" altLang="en-US" sz="1100" b="1" kern="0" spc="-5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위험관리지침</a:t>
            </a:r>
            <a:endParaRPr kumimoji="1" lang="en" altLang="ko-KR" sz="1100" b="1" i="0" u="none" strike="noStrike" kern="0" cap="none" spc="-5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5C8AAB4B-5D2C-146B-CD84-364BAD7B0B95}"/>
              </a:ext>
            </a:extLst>
          </p:cNvPr>
          <p:cNvSpPr/>
          <p:nvPr/>
        </p:nvSpPr>
        <p:spPr>
          <a:xfrm>
            <a:off x="5916216" y="4800565"/>
            <a:ext cx="2797844" cy="201718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wrap="none" lIns="91440" tIns="0" rIns="0" bIns="18000" rtlCol="0" anchor="ctr"/>
          <a:lstStyle/>
          <a:p>
            <a:pPr lvl="0" defTabSz="45720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제</a:t>
            </a:r>
            <a:r>
              <a:rPr kumimoji="1" lang="en-US" altLang="ko-KR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1</a:t>
            </a:r>
            <a:r>
              <a:rPr kumimoji="1" lang="ko-KR" altLang="en-US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절 원칙 및 기준</a:t>
            </a:r>
            <a:endParaRPr kumimoji="1" lang="en" altLang="ko-KR" sz="1100" b="1" i="0" u="none" strike="noStrike" kern="0" cap="none" spc="-5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9AF8A639-BBCB-EC1F-C538-54495A67AB4D}"/>
              </a:ext>
            </a:extLst>
          </p:cNvPr>
          <p:cNvSpPr/>
          <p:nvPr/>
        </p:nvSpPr>
        <p:spPr>
          <a:xfrm>
            <a:off x="5916216" y="5561733"/>
            <a:ext cx="2797844" cy="201718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wrap="none" lIns="91440" tIns="0" rIns="0" bIns="18000" rtlCol="0" anchor="ctr"/>
          <a:lstStyle/>
          <a:p>
            <a:pPr lvl="0" defTabSz="45720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제</a:t>
            </a:r>
            <a:r>
              <a:rPr kumimoji="1" lang="en-US" altLang="ko-KR" sz="1100" b="1" kern="0" spc="-5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4</a:t>
            </a:r>
            <a:r>
              <a:rPr kumimoji="1" lang="ko-KR" altLang="en-US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절 기획</a:t>
            </a:r>
            <a:r>
              <a:rPr kumimoji="1" lang="en-US" altLang="ko-KR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·</a:t>
            </a:r>
            <a:r>
              <a:rPr kumimoji="1" lang="ko-KR" altLang="en-US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설계 단계</a:t>
            </a:r>
            <a:endParaRPr kumimoji="1" lang="en" altLang="ko-KR" sz="1100" b="1" i="0" u="none" strike="noStrike" kern="0" cap="none" spc="-5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8EC769EE-CB1C-481C-A94B-3394C34E6520}"/>
              </a:ext>
            </a:extLst>
          </p:cNvPr>
          <p:cNvSpPr/>
          <p:nvPr/>
        </p:nvSpPr>
        <p:spPr>
          <a:xfrm>
            <a:off x="5916216" y="6322907"/>
            <a:ext cx="2797844" cy="201718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wrap="none" lIns="91440" tIns="0" rIns="0" bIns="18000" rtlCol="0" anchor="ctr"/>
          <a:lstStyle/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제</a:t>
            </a:r>
            <a:r>
              <a:rPr kumimoji="1" lang="en-US" altLang="ko-KR" sz="1100" b="1" kern="0" spc="-5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7</a:t>
            </a:r>
            <a:r>
              <a:rPr kumimoji="1" lang="ko-KR" altLang="en-US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절 도입</a:t>
            </a:r>
            <a:r>
              <a:rPr kumimoji="1" lang="en-US" altLang="ko-KR" sz="1100" b="1" kern="0" spc="-5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·</a:t>
            </a:r>
            <a:r>
              <a:rPr kumimoji="1" lang="ko-KR" altLang="en-US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운영</a:t>
            </a:r>
            <a:r>
              <a:rPr kumimoji="1" lang="en-US" altLang="ko-KR" sz="1100" b="1" kern="0" spc="-5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·</a:t>
            </a:r>
            <a:r>
              <a:rPr kumimoji="1" lang="ko-KR" altLang="en-US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모니터링 단계</a:t>
            </a:r>
            <a:endParaRPr kumimoji="1" lang="en" altLang="ko-KR" sz="1100" b="1" i="0" u="none" strike="noStrike" kern="0" cap="none" spc="-5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ECE878FA-778E-D49E-1EDA-28CC806B502A}"/>
              </a:ext>
            </a:extLst>
          </p:cNvPr>
          <p:cNvSpPr/>
          <p:nvPr/>
        </p:nvSpPr>
        <p:spPr>
          <a:xfrm>
            <a:off x="5916216" y="5815456"/>
            <a:ext cx="2797844" cy="201718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wrap="none" lIns="91440" tIns="0" rIns="0" bIns="18000" rtlCol="0" anchor="ctr"/>
          <a:lstStyle/>
          <a:p>
            <a:pPr lvl="0" defTabSz="45720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제</a:t>
            </a:r>
            <a:r>
              <a:rPr kumimoji="1" lang="en-US" altLang="ko-KR" sz="1100" b="1" kern="0" spc="-5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5</a:t>
            </a:r>
            <a:r>
              <a:rPr kumimoji="1" lang="ko-KR" altLang="en-US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절 개발 단계</a:t>
            </a:r>
            <a:endParaRPr kumimoji="1" lang="en" altLang="ko-KR" sz="1100" b="1" i="0" u="none" strike="noStrike" kern="0" cap="none" spc="-5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79B4C3D1-F144-94AC-2C7E-1E776C7B2FD1}"/>
              </a:ext>
            </a:extLst>
          </p:cNvPr>
          <p:cNvSpPr/>
          <p:nvPr/>
        </p:nvSpPr>
        <p:spPr>
          <a:xfrm>
            <a:off x="5916216" y="6069178"/>
            <a:ext cx="2797844" cy="201718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wrap="none" lIns="91440" tIns="0" rIns="0" bIns="18000" rtlCol="0" anchor="ctr"/>
          <a:lstStyle/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제</a:t>
            </a:r>
            <a:r>
              <a:rPr kumimoji="1" lang="en-US" altLang="ko-KR" sz="1100" b="1" kern="0" spc="-5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6</a:t>
            </a:r>
            <a:r>
              <a:rPr kumimoji="1" lang="ko-KR" altLang="en-US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절 평가</a:t>
            </a:r>
            <a:r>
              <a:rPr kumimoji="1" lang="en-US" altLang="ko-KR" sz="1100" b="1" kern="0" spc="-5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·</a:t>
            </a:r>
            <a:r>
              <a:rPr kumimoji="1" lang="ko-KR" altLang="en-US" sz="1100" b="1" kern="0" spc="-5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검증</a:t>
            </a:r>
            <a:r>
              <a:rPr kumimoji="1" lang="ko-KR" altLang="en-US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 단계</a:t>
            </a:r>
            <a:endParaRPr kumimoji="1" lang="en" altLang="ko-KR" sz="1100" b="1" i="0" u="none" strike="noStrike" kern="0" cap="none" spc="-5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D8C468FD-3AE9-1D95-316A-63637B90833E}"/>
              </a:ext>
            </a:extLst>
          </p:cNvPr>
          <p:cNvSpPr/>
          <p:nvPr/>
        </p:nvSpPr>
        <p:spPr>
          <a:xfrm>
            <a:off x="2738316" y="3533691"/>
            <a:ext cx="2797844" cy="201718"/>
          </a:xfrm>
          <a:prstGeom prst="roundRect">
            <a:avLst>
              <a:gd name="adj" fmla="val 0"/>
            </a:avLst>
          </a:prstGeom>
          <a:solidFill>
            <a:schemeClr val="accent5">
              <a:lumMod val="40000"/>
              <a:lumOff val="60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91440" tIns="0" rIns="0" bIns="18000" rtlCol="0" anchor="ctr"/>
          <a:lstStyle/>
          <a:p>
            <a:pPr marL="0" marR="0" lvl="0" indent="0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제</a:t>
            </a:r>
            <a:r>
              <a:rPr kumimoji="1" lang="en-US" altLang="ko-KR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4</a:t>
            </a:r>
            <a:r>
              <a:rPr kumimoji="1" lang="ko-KR" altLang="en-US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절 </a:t>
            </a:r>
            <a:r>
              <a:rPr kumimoji="1" lang="ko-KR" altLang="en-US" sz="1100" b="1" i="0" u="none" strike="noStrike" kern="0" cap="none" spc="-50" normalizeH="0" baseline="0" noProof="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고영향</a:t>
            </a:r>
            <a:r>
              <a:rPr kumimoji="1" lang="ko-KR" altLang="en-US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 </a:t>
            </a:r>
            <a:r>
              <a:rPr kumimoji="1" lang="en-US" altLang="ko-KR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AI</a:t>
            </a:r>
            <a:r>
              <a:rPr kumimoji="1" lang="ko-KR" altLang="en-US" sz="1100" b="1" kern="0" spc="-5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 관리</a:t>
            </a:r>
            <a:endParaRPr kumimoji="1" lang="en" altLang="ko-KR" sz="1100" b="1" i="0" u="none" strike="noStrike" kern="0" cap="none" spc="-5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91B79747-EE48-327A-843B-D706AEF7E70D}"/>
              </a:ext>
            </a:extLst>
          </p:cNvPr>
          <p:cNvSpPr/>
          <p:nvPr/>
        </p:nvSpPr>
        <p:spPr>
          <a:xfrm>
            <a:off x="2738316" y="3787414"/>
            <a:ext cx="2797844" cy="201718"/>
          </a:xfrm>
          <a:prstGeom prst="roundRect">
            <a:avLst>
              <a:gd name="adj" fmla="val 0"/>
            </a:avLst>
          </a:prstGeom>
          <a:solidFill>
            <a:schemeClr val="accent5">
              <a:lumMod val="40000"/>
              <a:lumOff val="60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91440" tIns="0" rIns="0" bIns="18000" rtlCol="0" anchor="ctr"/>
          <a:lstStyle/>
          <a:p>
            <a:pPr marL="0" marR="0" lvl="0" indent="0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제</a:t>
            </a:r>
            <a:r>
              <a:rPr kumimoji="1" lang="en-US" altLang="ko-KR" sz="1100" b="1" kern="0" spc="-5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5</a:t>
            </a:r>
            <a:r>
              <a:rPr kumimoji="1" lang="ko-KR" altLang="en-US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절 </a:t>
            </a:r>
            <a:r>
              <a:rPr kumimoji="1" lang="en-US" altLang="ko-KR" sz="1100" b="1" kern="0" spc="-5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AI</a:t>
            </a:r>
            <a:r>
              <a:rPr kumimoji="1" lang="ko-KR" altLang="en-US" sz="1100" b="1" kern="0" spc="-5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 안전성 확보</a:t>
            </a:r>
            <a:endParaRPr kumimoji="1" lang="en" altLang="ko-KR" sz="1100" b="1" i="0" u="none" strike="noStrike" kern="0" cap="none" spc="-5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80210DA2-31F3-786E-0E23-85DBE75F2F75}"/>
              </a:ext>
            </a:extLst>
          </p:cNvPr>
          <p:cNvSpPr/>
          <p:nvPr/>
        </p:nvSpPr>
        <p:spPr>
          <a:xfrm>
            <a:off x="5918199" y="5054288"/>
            <a:ext cx="2795861" cy="201718"/>
          </a:xfrm>
          <a:prstGeom prst="roundRect">
            <a:avLst>
              <a:gd name="adj" fmla="val 0"/>
            </a:avLst>
          </a:prstGeom>
          <a:solidFill>
            <a:schemeClr val="accent5">
              <a:lumMod val="40000"/>
              <a:lumOff val="60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wrap="none" lIns="91440" tIns="0" rIns="0" bIns="18000" rtlCol="0" anchor="ctr"/>
          <a:lstStyle/>
          <a:p>
            <a:pPr lvl="0" defTabSz="45720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제</a:t>
            </a:r>
            <a:r>
              <a:rPr kumimoji="1" lang="en-US" altLang="ko-KR" sz="1100" b="1" kern="0" spc="-5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2</a:t>
            </a:r>
            <a:r>
              <a:rPr kumimoji="1" lang="ko-KR" altLang="en-US" sz="1100" b="1" kern="0" spc="-5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절</a:t>
            </a:r>
            <a:r>
              <a:rPr kumimoji="1" lang="ko-KR" altLang="en-US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 </a:t>
            </a:r>
            <a:r>
              <a:rPr kumimoji="1" lang="ko-KR" altLang="en-US" sz="1100" b="1" kern="0" spc="-5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고영향</a:t>
            </a:r>
            <a:r>
              <a:rPr kumimoji="1" lang="ko-KR" altLang="en-US" sz="1100" b="1" kern="0" spc="-5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 </a:t>
            </a:r>
            <a:r>
              <a:rPr kumimoji="1" lang="en-US" altLang="ko-KR" sz="1100" b="1" kern="0" spc="-5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AI</a:t>
            </a:r>
            <a:r>
              <a:rPr kumimoji="1" lang="ko-KR" altLang="en-US" sz="1100" b="1" kern="0" spc="-5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 관리</a:t>
            </a:r>
            <a:endParaRPr kumimoji="1" lang="en" altLang="ko-KR" sz="1100" b="1" i="0" u="none" strike="noStrike" kern="0" cap="none" spc="-5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16AC37AE-F761-17D5-8E34-BB4A992A9BE3}"/>
              </a:ext>
            </a:extLst>
          </p:cNvPr>
          <p:cNvSpPr/>
          <p:nvPr/>
        </p:nvSpPr>
        <p:spPr>
          <a:xfrm>
            <a:off x="5918199" y="5308010"/>
            <a:ext cx="2795861" cy="201718"/>
          </a:xfrm>
          <a:prstGeom prst="roundRect">
            <a:avLst>
              <a:gd name="adj" fmla="val 0"/>
            </a:avLst>
          </a:prstGeom>
          <a:solidFill>
            <a:schemeClr val="accent5">
              <a:lumMod val="40000"/>
              <a:lumOff val="60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wrap="none" lIns="91440" tIns="0" rIns="0" bIns="18000" rtlCol="0" anchor="ctr"/>
          <a:lstStyle/>
          <a:p>
            <a:pPr lvl="0" defTabSz="45720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제</a:t>
            </a:r>
            <a:r>
              <a:rPr kumimoji="1" lang="en-US" altLang="ko-KR" sz="1100" b="1" kern="0" spc="-5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3</a:t>
            </a:r>
            <a:r>
              <a:rPr kumimoji="1" lang="ko-KR" altLang="en-US" sz="1100" b="1" kern="0" spc="-5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절</a:t>
            </a:r>
            <a:r>
              <a:rPr kumimoji="1" lang="ko-KR" altLang="en-US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 </a:t>
            </a:r>
            <a:r>
              <a:rPr kumimoji="1" lang="en-US" altLang="ko-KR" sz="1100" b="1" kern="0" spc="-5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AI</a:t>
            </a:r>
            <a:r>
              <a:rPr kumimoji="1" lang="ko-KR" altLang="en-US" sz="1100" b="1" kern="0" spc="-5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 안전성 확보</a:t>
            </a:r>
            <a:endParaRPr kumimoji="1" lang="en" altLang="ko-KR" sz="1100" b="1" i="0" u="none" strike="noStrike" kern="0" cap="none" spc="-5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A22FC5A0-D767-A798-431F-D60CCFB91F90}"/>
              </a:ext>
            </a:extLst>
          </p:cNvPr>
          <p:cNvSpPr/>
          <p:nvPr/>
        </p:nvSpPr>
        <p:spPr>
          <a:xfrm>
            <a:off x="9093200" y="3279969"/>
            <a:ext cx="2798763" cy="201718"/>
          </a:xfrm>
          <a:prstGeom prst="roundRect">
            <a:avLst>
              <a:gd name="adj" fmla="val 0"/>
            </a:avLst>
          </a:prstGeom>
          <a:solidFill>
            <a:schemeClr val="accent5">
              <a:lumMod val="40000"/>
              <a:lumOff val="60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wrap="none" lIns="91440" tIns="0" rIns="0" bIns="18000" rtlCol="0" anchor="ctr"/>
          <a:lstStyle/>
          <a:p>
            <a:pPr lvl="0" defTabSz="45720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제</a:t>
            </a:r>
            <a:r>
              <a:rPr kumimoji="1" lang="en-US" altLang="ko-KR" sz="1100" b="1" kern="0" spc="-5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2</a:t>
            </a:r>
            <a:r>
              <a:rPr kumimoji="1" lang="ko-KR" altLang="en-US" sz="1100" b="1" kern="0" spc="-5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절</a:t>
            </a:r>
            <a:r>
              <a:rPr kumimoji="1" lang="ko-KR" altLang="en-US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 </a:t>
            </a:r>
            <a:r>
              <a:rPr kumimoji="1" lang="ko-KR" altLang="en-US" sz="1100" b="1" kern="0" spc="-50" err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고영향</a:t>
            </a:r>
            <a:r>
              <a:rPr kumimoji="1" lang="ko-KR" altLang="en-US" sz="1100" b="1" kern="0" spc="-5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 </a:t>
            </a:r>
            <a:r>
              <a:rPr kumimoji="1" lang="en-US" altLang="ko-KR" sz="1100" b="1" kern="0" spc="-5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AI</a:t>
            </a:r>
            <a:r>
              <a:rPr kumimoji="1" lang="ko-KR" altLang="en-US" sz="1100" b="1" kern="0" spc="-5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 관리</a:t>
            </a:r>
            <a:endParaRPr kumimoji="1" lang="en" altLang="ko-KR" sz="1100" b="1" i="0" u="none" strike="noStrike" kern="0" cap="none" spc="-5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16768A9D-8491-DA20-BB3A-E27188C588DA}"/>
              </a:ext>
            </a:extLst>
          </p:cNvPr>
          <p:cNvSpPr/>
          <p:nvPr/>
        </p:nvSpPr>
        <p:spPr>
          <a:xfrm>
            <a:off x="9093200" y="3533691"/>
            <a:ext cx="2798763" cy="201718"/>
          </a:xfrm>
          <a:prstGeom prst="roundRect">
            <a:avLst>
              <a:gd name="adj" fmla="val 0"/>
            </a:avLst>
          </a:prstGeom>
          <a:solidFill>
            <a:schemeClr val="accent5">
              <a:lumMod val="40000"/>
              <a:lumOff val="60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wrap="none" lIns="91440" tIns="0" rIns="0" bIns="18000" rtlCol="0" anchor="ctr"/>
          <a:lstStyle/>
          <a:p>
            <a:pPr lvl="0" defTabSz="457200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제</a:t>
            </a:r>
            <a:r>
              <a:rPr kumimoji="1" lang="en-US" altLang="ko-KR" sz="1100" b="1" kern="0" spc="-5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3</a:t>
            </a:r>
            <a:r>
              <a:rPr kumimoji="1" lang="ko-KR" altLang="en-US" sz="1100" b="1" kern="0" spc="-5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절</a:t>
            </a:r>
            <a:r>
              <a:rPr kumimoji="1" lang="ko-KR" altLang="en-US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 </a:t>
            </a:r>
            <a:r>
              <a:rPr kumimoji="1" lang="en-US" altLang="ko-KR" sz="1100" b="1" kern="0" spc="-5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AI</a:t>
            </a:r>
            <a:r>
              <a:rPr kumimoji="1" lang="ko-KR" altLang="en-US" sz="1100" b="1" kern="0" spc="-5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 안전성 확보</a:t>
            </a:r>
            <a:endParaRPr kumimoji="1" lang="en" altLang="ko-KR" sz="1100" b="1" i="0" u="none" strike="noStrike" kern="0" cap="none" spc="-5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65" name="사각형: 둥근 모서리 48">
            <a:extLst>
              <a:ext uri="{FF2B5EF4-FFF2-40B4-BE49-F238E27FC236}">
                <a16:creationId xmlns:a16="http://schemas.microsoft.com/office/drawing/2014/main" id="{F3FA5A8B-9927-7164-0C54-A6A5F0633CA9}"/>
              </a:ext>
            </a:extLst>
          </p:cNvPr>
          <p:cNvSpPr/>
          <p:nvPr/>
        </p:nvSpPr>
        <p:spPr>
          <a:xfrm>
            <a:off x="5916216" y="3026246"/>
            <a:ext cx="2797844" cy="201718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wrap="none" lIns="91440" tIns="0" rIns="0" bIns="18000" rtlCol="0" anchor="ctr"/>
          <a:lstStyle/>
          <a:p>
            <a:pPr marL="0" marR="0" lvl="0" indent="0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제</a:t>
            </a:r>
            <a:r>
              <a:rPr kumimoji="1" lang="en-US" altLang="ko-KR" sz="1100" b="1" kern="0" spc="-5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2</a:t>
            </a:r>
            <a:r>
              <a:rPr kumimoji="1" lang="ko-KR" altLang="en-US" sz="1100" b="1" i="0" u="none" strike="noStrike" kern="0" cap="none" spc="-5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절 이용자 </a:t>
            </a:r>
            <a:r>
              <a:rPr kumimoji="1" lang="ko-KR" altLang="en-US" sz="1100" b="1" kern="0" spc="-5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+mn-ea"/>
              </a:rPr>
              <a:t>및 금융소비자 보호</a:t>
            </a:r>
            <a:endParaRPr kumimoji="1" lang="en" altLang="ko-KR" sz="1100" b="1" i="0" u="none" strike="noStrike" kern="0" cap="none" spc="-50" normalizeH="0" baseline="0" noProof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24121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152C3B35-DE4F-C867-E4BD-A681C7A309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6C29192-394A-70B1-8842-6468C6604A0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[Back-up] </a:t>
            </a:r>
            <a:r>
              <a:rPr lang="ko-KR" altLang="en-US"/>
              <a:t>타사 </a:t>
            </a:r>
            <a:r>
              <a:rPr lang="en-US" altLang="ko-KR"/>
              <a:t>AI</a:t>
            </a:r>
            <a:r>
              <a:rPr lang="ko-KR" altLang="en-US"/>
              <a:t>거버넌스 주요 내용</a:t>
            </a:r>
            <a:r>
              <a:rPr lang="en-US" altLang="ko-KR"/>
              <a:t>_K</a:t>
            </a:r>
            <a:r>
              <a:rPr lang="ko-KR" altLang="en-US"/>
              <a:t>은행 </a:t>
            </a:r>
            <a:r>
              <a:rPr lang="en-US" altLang="ko-KR"/>
              <a:t>(1/3)</a:t>
            </a:r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A0C5309-479A-587A-CA27-F20C2E68081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/>
              <a:t>K</a:t>
            </a:r>
            <a:r>
              <a:rPr lang="ko-KR" altLang="en-US"/>
              <a:t>은행 </a:t>
            </a:r>
            <a:r>
              <a:rPr lang="en-US" altLang="ko-KR"/>
              <a:t>AI </a:t>
            </a:r>
            <a:r>
              <a:rPr lang="ko-KR" altLang="en-US"/>
              <a:t>위험관리 지침의 주요 내용은 다음과 같음</a:t>
            </a:r>
          </a:p>
        </p:txBody>
      </p:sp>
      <p:sp>
        <p:nvSpPr>
          <p:cNvPr id="6" name="사각형: 둥근 모서리 20">
            <a:extLst>
              <a:ext uri="{FF2B5EF4-FFF2-40B4-BE49-F238E27FC236}">
                <a16:creationId xmlns:a16="http://schemas.microsoft.com/office/drawing/2014/main" id="{02403C0F-95F1-4DB9-2B84-3CFEA40451B6}"/>
              </a:ext>
            </a:extLst>
          </p:cNvPr>
          <p:cNvSpPr/>
          <p:nvPr/>
        </p:nvSpPr>
        <p:spPr>
          <a:xfrm>
            <a:off x="4600839" y="1341439"/>
            <a:ext cx="2052000" cy="359621"/>
          </a:xfrm>
          <a:prstGeom prst="roundRect">
            <a:avLst>
              <a:gd name="adj" fmla="val 0"/>
            </a:avLst>
          </a:prstGeom>
          <a:solidFill>
            <a:schemeClr val="bg1">
              <a:lumMod val="75000"/>
            </a:schemeClr>
          </a:solidFill>
          <a:ln w="12700">
            <a:noFill/>
          </a:ln>
          <a:effectLst/>
        </p:spPr>
        <p:txBody>
          <a:bodyPr lIns="0" tIns="0" rIns="0" bIns="0" rtlCol="0" anchor="ctr" anchorCtr="0"/>
          <a:lstStyle/>
          <a:p>
            <a:pPr algn="ctr" defTabSz="914400"/>
            <a:r>
              <a:rPr lang="ko-KR" altLang="en-US" sz="1400" b="1" spc="-150">
                <a:solidFill>
                  <a:schemeClr val="bg1">
                    <a:lumMod val="95000"/>
                  </a:schemeClr>
                </a:solidFill>
                <a:latin typeface="+mn-ea"/>
                <a:cs typeface="Noto Sans" panose="020B0502040504020204" pitchFamily="34" charset="0"/>
              </a:rPr>
              <a:t>③ </a:t>
            </a:r>
            <a:r>
              <a:rPr lang="en-US" altLang="ko-KR" sz="1400" b="1" spc="-150">
                <a:solidFill>
                  <a:schemeClr val="bg1">
                    <a:lumMod val="95000"/>
                  </a:schemeClr>
                </a:solidFill>
                <a:latin typeface="+mn-ea"/>
                <a:cs typeface="Noto Sans" panose="020B0502040504020204" pitchFamily="34" charset="0"/>
              </a:rPr>
              <a:t>AI </a:t>
            </a:r>
            <a:r>
              <a:rPr lang="ko-KR" altLang="en-US" sz="1400" b="1" spc="-150">
                <a:solidFill>
                  <a:schemeClr val="bg1">
                    <a:lumMod val="95000"/>
                  </a:schemeClr>
                </a:solidFill>
                <a:latin typeface="+mn-ea"/>
                <a:cs typeface="Noto Sans" panose="020B0502040504020204" pitchFamily="34" charset="0"/>
              </a:rPr>
              <a:t>모델 개발안내서</a:t>
            </a:r>
          </a:p>
        </p:txBody>
      </p:sp>
      <p:sp>
        <p:nvSpPr>
          <p:cNvPr id="7" name="사각형: 둥근 모서리 20">
            <a:extLst>
              <a:ext uri="{FF2B5EF4-FFF2-40B4-BE49-F238E27FC236}">
                <a16:creationId xmlns:a16="http://schemas.microsoft.com/office/drawing/2014/main" id="{88A2B6AE-04FC-3B65-5EE9-5FED52ACAED7}"/>
              </a:ext>
            </a:extLst>
          </p:cNvPr>
          <p:cNvSpPr/>
          <p:nvPr/>
        </p:nvSpPr>
        <p:spPr>
          <a:xfrm>
            <a:off x="2504414" y="1341439"/>
            <a:ext cx="2052000" cy="359621"/>
          </a:xfrm>
          <a:prstGeom prst="roundRect">
            <a:avLst>
              <a:gd name="adj" fmla="val 0"/>
            </a:avLst>
          </a:prstGeom>
          <a:solidFill>
            <a:schemeClr val="bg1">
              <a:lumMod val="75000"/>
            </a:schemeClr>
          </a:solidFill>
          <a:ln w="12700">
            <a:noFill/>
          </a:ln>
          <a:effectLst/>
        </p:spPr>
        <p:txBody>
          <a:bodyPr lIns="0" tIns="0" rIns="0" bIns="0" rtlCol="0" anchor="ctr" anchorCtr="0"/>
          <a:lstStyle/>
          <a:p>
            <a:pPr algn="ctr" defTabSz="914400"/>
            <a:r>
              <a:rPr lang="ko-KR" altLang="en-US" sz="1400" b="1" spc="-150">
                <a:solidFill>
                  <a:schemeClr val="bg1">
                    <a:lumMod val="95000"/>
                  </a:schemeClr>
                </a:solidFill>
                <a:latin typeface="+mn-ea"/>
                <a:cs typeface="Noto Sans" panose="020B0502040504020204" pitchFamily="34" charset="0"/>
              </a:rPr>
              <a:t>② </a:t>
            </a:r>
            <a:r>
              <a:rPr lang="en-US" altLang="ko-KR" sz="1400" b="1" spc="-150">
                <a:solidFill>
                  <a:schemeClr val="bg1">
                    <a:lumMod val="95000"/>
                  </a:schemeClr>
                </a:solidFill>
                <a:latin typeface="+mn-ea"/>
                <a:cs typeface="Noto Sans" panose="020B0502040504020204" pitchFamily="34" charset="0"/>
              </a:rPr>
              <a:t>AI </a:t>
            </a:r>
            <a:r>
              <a:rPr lang="ko-KR" altLang="en-US" sz="1400" b="1" spc="-150">
                <a:solidFill>
                  <a:schemeClr val="bg1">
                    <a:lumMod val="95000"/>
                  </a:schemeClr>
                </a:solidFill>
                <a:latin typeface="+mn-ea"/>
                <a:cs typeface="Noto Sans" panose="020B0502040504020204" pitchFamily="34" charset="0"/>
              </a:rPr>
              <a:t>위험관리 업무매뉴얼</a:t>
            </a:r>
          </a:p>
        </p:txBody>
      </p:sp>
      <p:sp>
        <p:nvSpPr>
          <p:cNvPr id="8" name="사각형: 둥근 모서리 20">
            <a:extLst>
              <a:ext uri="{FF2B5EF4-FFF2-40B4-BE49-F238E27FC236}">
                <a16:creationId xmlns:a16="http://schemas.microsoft.com/office/drawing/2014/main" id="{E28FED9B-FDD4-07B3-7362-6DD568D48A82}"/>
              </a:ext>
            </a:extLst>
          </p:cNvPr>
          <p:cNvSpPr/>
          <p:nvPr/>
        </p:nvSpPr>
        <p:spPr>
          <a:xfrm>
            <a:off x="407987" y="1701060"/>
            <a:ext cx="11376025" cy="475212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accent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" altLang="ko-KR" sz="1400" b="1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lt1"/>
              </a:solidFill>
              <a:latin typeface="+mn-ea"/>
            </a:endParaRPr>
          </a:p>
        </p:txBody>
      </p:sp>
      <p:sp>
        <p:nvSpPr>
          <p:cNvPr id="9" name="Rectangle: Rounded Corners 46">
            <a:extLst>
              <a:ext uri="{FF2B5EF4-FFF2-40B4-BE49-F238E27FC236}">
                <a16:creationId xmlns:a16="http://schemas.microsoft.com/office/drawing/2014/main" id="{086325AE-968A-D457-CF0F-BBE15C67AF2D}"/>
              </a:ext>
            </a:extLst>
          </p:cNvPr>
          <p:cNvSpPr/>
          <p:nvPr/>
        </p:nvSpPr>
        <p:spPr>
          <a:xfrm>
            <a:off x="5277149" y="1840770"/>
            <a:ext cx="6259531" cy="4498908"/>
          </a:xfrm>
          <a:prstGeom prst="snip1Rect">
            <a:avLst/>
          </a:prstGeom>
          <a:pattFill prst="dkUpDiag">
            <a:fgClr>
              <a:schemeClr val="accent1">
                <a:lumMod val="20000"/>
                <a:lumOff val="80000"/>
              </a:schemeClr>
            </a:fgClr>
            <a:bgClr>
              <a:prstClr val="white"/>
            </a:bgClr>
          </a:pattFill>
          <a:ln w="3175" cap="flat" cmpd="sng" algn="ctr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 anchorCtr="0"/>
          <a:lstStyle/>
          <a:p>
            <a:pPr marL="0" marR="0" lvl="0" indent="0" algn="ctr" defTabSz="10428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1" i="0" u="none" strike="noStrike" kern="0" cap="none" spc="0" normalizeH="0" baseline="0" noProof="0">
              <a:ln>
                <a:solidFill>
                  <a:srgbClr val="A5C249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+mn-ea"/>
              <a:cs typeface="Pretendard SemiBold" panose="02000703000000020004" pitchFamily="50" charset="-127"/>
            </a:endParaRPr>
          </a:p>
        </p:txBody>
      </p:sp>
      <p:sp>
        <p:nvSpPr>
          <p:cNvPr id="10" name="사각형: 둥근 모서리 20">
            <a:extLst>
              <a:ext uri="{FF2B5EF4-FFF2-40B4-BE49-F238E27FC236}">
                <a16:creationId xmlns:a16="http://schemas.microsoft.com/office/drawing/2014/main" id="{6EF536E3-FFB2-3ADA-6E10-138AEE71E9AB}"/>
              </a:ext>
            </a:extLst>
          </p:cNvPr>
          <p:cNvSpPr/>
          <p:nvPr/>
        </p:nvSpPr>
        <p:spPr>
          <a:xfrm>
            <a:off x="407988" y="1341439"/>
            <a:ext cx="2052000" cy="359621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4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① </a:t>
            </a:r>
            <a:r>
              <a:rPr lang="en-US" altLang="ko-KR" sz="14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AI </a:t>
            </a:r>
            <a:r>
              <a:rPr lang="ko-KR" altLang="en-US" sz="14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 위험관리지침</a:t>
            </a:r>
            <a:endParaRPr lang="en" altLang="ko-KR" sz="1400" b="1" spc="-15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lt1"/>
              </a:solidFill>
              <a:latin typeface="+mn-ea"/>
            </a:endParaRPr>
          </a:p>
        </p:txBody>
      </p:sp>
      <p:sp>
        <p:nvSpPr>
          <p:cNvPr id="11" name="Rectangle: Rounded Corners 46">
            <a:extLst>
              <a:ext uri="{FF2B5EF4-FFF2-40B4-BE49-F238E27FC236}">
                <a16:creationId xmlns:a16="http://schemas.microsoft.com/office/drawing/2014/main" id="{4704649A-3C12-8937-ACE6-18B72B4A4951}"/>
              </a:ext>
            </a:extLst>
          </p:cNvPr>
          <p:cNvSpPr/>
          <p:nvPr/>
        </p:nvSpPr>
        <p:spPr>
          <a:xfrm>
            <a:off x="5479142" y="1926993"/>
            <a:ext cx="2052190" cy="379253"/>
          </a:xfrm>
          <a:prstGeom prst="roundRect">
            <a:avLst>
              <a:gd name="adj" fmla="val 11418"/>
            </a:avLst>
          </a:prstGeom>
          <a:noFill/>
          <a:ln w="3175" cap="flat" cmpd="sng" algn="ctr">
            <a:noFill/>
            <a:prstDash val="solid"/>
          </a:ln>
          <a:effectLst/>
        </p:spPr>
        <p:txBody>
          <a:bodyPr wrap="square" lIns="0" tIns="0" rIns="0" bIns="0" rtlCol="0" anchor="ctr" anchorCtr="0"/>
          <a:lstStyle/>
          <a:p>
            <a:pPr marL="0" marR="0" lvl="0" indent="0" defTabSz="10428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Contents</a:t>
            </a:r>
          </a:p>
        </p:txBody>
      </p:sp>
      <p:sp>
        <p:nvSpPr>
          <p:cNvPr id="12" name="Rectangle: Rounded Corners 46">
            <a:extLst>
              <a:ext uri="{FF2B5EF4-FFF2-40B4-BE49-F238E27FC236}">
                <a16:creationId xmlns:a16="http://schemas.microsoft.com/office/drawing/2014/main" id="{6934EA19-8F34-BCCD-AF02-51434FD70F59}"/>
              </a:ext>
            </a:extLst>
          </p:cNvPr>
          <p:cNvSpPr/>
          <p:nvPr/>
        </p:nvSpPr>
        <p:spPr>
          <a:xfrm>
            <a:off x="1943373" y="3019330"/>
            <a:ext cx="3250142" cy="601227"/>
          </a:xfrm>
          <a:prstGeom prst="roundRect">
            <a:avLst>
              <a:gd name="adj" fmla="val 11418"/>
            </a:avLst>
          </a:prstGeom>
          <a:solidFill>
            <a:schemeClr val="bg1">
              <a:lumMod val="95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wrap="square" lIns="90000" tIns="0" rIns="90000" bIns="0" rtlCol="0" anchor="ctr" anchorCtr="0"/>
          <a:lstStyle/>
          <a:p>
            <a:pPr marL="171450" marR="0" lvl="0" indent="-171450" defTabSz="10428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원칙 및 기준</a:t>
            </a:r>
            <a: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: AI </a:t>
            </a: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윤리기준</a:t>
            </a:r>
            <a: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, AI</a:t>
            </a: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위험관리정책</a:t>
            </a:r>
          </a:p>
        </p:txBody>
      </p:sp>
      <p:sp>
        <p:nvSpPr>
          <p:cNvPr id="13" name="Rectangle: Rounded Corners 46">
            <a:extLst>
              <a:ext uri="{FF2B5EF4-FFF2-40B4-BE49-F238E27FC236}">
                <a16:creationId xmlns:a16="http://schemas.microsoft.com/office/drawing/2014/main" id="{F61C3E70-46D5-DB9E-BAA9-E25322095469}"/>
              </a:ext>
            </a:extLst>
          </p:cNvPr>
          <p:cNvSpPr/>
          <p:nvPr/>
        </p:nvSpPr>
        <p:spPr>
          <a:xfrm>
            <a:off x="1943373" y="1840770"/>
            <a:ext cx="3250142" cy="930621"/>
          </a:xfrm>
          <a:prstGeom prst="roundRect">
            <a:avLst>
              <a:gd name="adj" fmla="val 11418"/>
            </a:avLst>
          </a:prstGeom>
          <a:solidFill>
            <a:schemeClr val="bg1">
              <a:lumMod val="95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wrap="square" lIns="90000" tIns="0" rIns="90000" bIns="0" rtlCol="0" anchor="ctr" anchorCtr="0"/>
          <a:lstStyle/>
          <a:p>
            <a:pPr defTabSz="1042873">
              <a:lnSpc>
                <a:spcPct val="130000"/>
              </a:lnSpc>
            </a:pPr>
            <a:r>
              <a:rPr lang="en-US" altLang="ko-KR" sz="1200" kern="0" spc="-7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AI </a:t>
            </a:r>
            <a:r>
              <a:rPr lang="ko-KR" altLang="en-US" sz="1200" kern="0" spc="-7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도입 및 활용과 관련한 위험을 관리하기 위한 사항을 정함</a:t>
            </a:r>
          </a:p>
        </p:txBody>
      </p:sp>
      <p:sp>
        <p:nvSpPr>
          <p:cNvPr id="14" name="Rectangle: Rounded Corners 46">
            <a:extLst>
              <a:ext uri="{FF2B5EF4-FFF2-40B4-BE49-F238E27FC236}">
                <a16:creationId xmlns:a16="http://schemas.microsoft.com/office/drawing/2014/main" id="{7513E5B5-15C4-4A4E-29D0-E259143401E8}"/>
              </a:ext>
            </a:extLst>
          </p:cNvPr>
          <p:cNvSpPr/>
          <p:nvPr/>
        </p:nvSpPr>
        <p:spPr>
          <a:xfrm>
            <a:off x="1943373" y="3692886"/>
            <a:ext cx="3250142" cy="601227"/>
          </a:xfrm>
          <a:prstGeom prst="roundRect">
            <a:avLst>
              <a:gd name="adj" fmla="val 11418"/>
            </a:avLst>
          </a:prstGeom>
          <a:solidFill>
            <a:schemeClr val="bg1">
              <a:lumMod val="95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wrap="square" lIns="90000" tIns="0" rIns="90000" bIns="0" rtlCol="0" anchor="ctr" anchorCtr="0"/>
          <a:lstStyle/>
          <a:p>
            <a:pPr marL="171450" marR="0" lvl="0" indent="-171450" defTabSz="10428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AI </a:t>
            </a: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윤리위원회</a:t>
            </a:r>
            <a:endParaRPr kumimoji="0" lang="en-US" altLang="ko-KR" sz="1200" i="0" u="none" strike="noStrike" kern="0" cap="none" spc="0" normalizeH="0" baseline="0" noProof="0">
              <a:ln>
                <a:solidFill>
                  <a:srgbClr val="A5C249">
                    <a:alpha val="0"/>
                  </a:srgbClr>
                </a:solidFill>
              </a:ln>
              <a:effectLst/>
              <a:uLnTx/>
              <a:uFillTx/>
              <a:latin typeface="+mn-ea"/>
              <a:cs typeface="Pretendard SemiBold" panose="02000703000000020004" pitchFamily="50" charset="-127"/>
            </a:endParaRPr>
          </a:p>
          <a:p>
            <a:pPr marL="171450" marR="0" lvl="0" indent="-171450" defTabSz="10428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sz="1200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AI </a:t>
            </a:r>
            <a:r>
              <a:rPr lang="ko-KR" altLang="en-US" sz="1200" kern="0" err="1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거버넌스팀</a:t>
            </a:r>
            <a:r>
              <a:rPr lang="en-US" altLang="ko-KR" sz="1200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(AI</a:t>
            </a:r>
            <a:r>
              <a:rPr lang="ko-KR" altLang="en-US" sz="1200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위험관리 전담조직</a:t>
            </a:r>
            <a:r>
              <a:rPr lang="en-US" altLang="ko-KR" sz="1200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)</a:t>
            </a:r>
            <a:endParaRPr kumimoji="0" lang="ko-KR" altLang="en-US" sz="1200" i="0" u="none" strike="noStrike" kern="0" cap="none" spc="0" normalizeH="0" baseline="0" noProof="0">
              <a:ln>
                <a:solidFill>
                  <a:srgbClr val="A5C249">
                    <a:alpha val="0"/>
                  </a:srgbClr>
                </a:solidFill>
              </a:ln>
              <a:effectLst/>
              <a:uLnTx/>
              <a:uFillTx/>
              <a:latin typeface="+mn-ea"/>
              <a:cs typeface="Pretendard SemiBold" panose="02000703000000020004" pitchFamily="50" charset="-127"/>
            </a:endParaRPr>
          </a:p>
        </p:txBody>
      </p:sp>
      <p:sp>
        <p:nvSpPr>
          <p:cNvPr id="15" name="Rectangle: Rounded Corners 46">
            <a:extLst>
              <a:ext uri="{FF2B5EF4-FFF2-40B4-BE49-F238E27FC236}">
                <a16:creationId xmlns:a16="http://schemas.microsoft.com/office/drawing/2014/main" id="{1A1445BF-6E36-AABD-EBE9-F8C066B098B5}"/>
              </a:ext>
            </a:extLst>
          </p:cNvPr>
          <p:cNvSpPr/>
          <p:nvPr/>
        </p:nvSpPr>
        <p:spPr>
          <a:xfrm>
            <a:off x="1943373" y="4366440"/>
            <a:ext cx="3250142" cy="1310160"/>
          </a:xfrm>
          <a:prstGeom prst="roundRect">
            <a:avLst>
              <a:gd name="adj" fmla="val 5596"/>
            </a:avLst>
          </a:prstGeom>
          <a:solidFill>
            <a:schemeClr val="bg1">
              <a:lumMod val="95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wrap="square" lIns="90000" tIns="0" rIns="90000" bIns="0" rtlCol="0" anchor="ctr" anchorCtr="0"/>
          <a:lstStyle/>
          <a:p>
            <a:pPr marL="171450" marR="0" lvl="0" indent="-171450" defTabSz="10428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AI </a:t>
            </a: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위험관리 정책</a:t>
            </a:r>
            <a: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: AI </a:t>
            </a: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위험관리 방안 및 정책</a:t>
            </a:r>
            <a: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, AI </a:t>
            </a: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위험등급 분류</a:t>
            </a:r>
            <a: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, AI </a:t>
            </a: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위험관리 프로세스</a:t>
            </a:r>
            <a: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, </a:t>
            </a: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금융소비자의 보호</a:t>
            </a:r>
            <a: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, AI</a:t>
            </a: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서비스의 </a:t>
            </a:r>
            <a:r>
              <a:rPr kumimoji="0" lang="ko-KR" altLang="en-US" sz="1200" i="0" u="none" strike="noStrike" kern="0" cap="none" spc="0" normalizeH="0" baseline="0" noProof="0" err="1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위</a:t>
            </a:r>
            <a:r>
              <a:rPr kumimoji="0" lang="ko-KR" altLang="en-US" sz="1200" i="0" u="none" strike="noStrike" kern="0" cap="none" spc="0" normalizeH="0" baseline="0" noProof="0" err="1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  <a:sym typeface="Wingdings 2" panose="05020102010507070707" pitchFamily="18" charset="2"/>
              </a:rPr>
              <a:t></a:t>
            </a:r>
            <a:r>
              <a:rPr kumimoji="0" lang="ko-KR" altLang="en-US" sz="1200" i="0" u="none" strike="noStrike" kern="0" cap="none" spc="0" normalizeH="0" baseline="0" noProof="0" err="1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수탁</a:t>
            </a:r>
            <a:endParaRPr kumimoji="0" lang="en-US" altLang="ko-KR" sz="1200" i="0" u="none" strike="noStrike" kern="0" cap="none" spc="0" normalizeH="0" baseline="0" noProof="0">
              <a:ln>
                <a:solidFill>
                  <a:srgbClr val="A5C249">
                    <a:alpha val="0"/>
                  </a:srgbClr>
                </a:solidFill>
              </a:ln>
              <a:effectLst/>
              <a:uLnTx/>
              <a:uFillTx/>
              <a:latin typeface="+mn-ea"/>
              <a:cs typeface="Pretendard SemiBold" panose="02000703000000020004" pitchFamily="50" charset="-127"/>
            </a:endParaRPr>
          </a:p>
        </p:txBody>
      </p:sp>
      <p:sp>
        <p:nvSpPr>
          <p:cNvPr id="16" name="Rectangle: Rounded Corners 46">
            <a:extLst>
              <a:ext uri="{FF2B5EF4-FFF2-40B4-BE49-F238E27FC236}">
                <a16:creationId xmlns:a16="http://schemas.microsoft.com/office/drawing/2014/main" id="{2F42FF20-F918-EFF5-CD67-4AE65CB7991D}"/>
              </a:ext>
            </a:extLst>
          </p:cNvPr>
          <p:cNvSpPr/>
          <p:nvPr/>
        </p:nvSpPr>
        <p:spPr>
          <a:xfrm>
            <a:off x="1943373" y="5790110"/>
            <a:ext cx="3250142" cy="549568"/>
          </a:xfrm>
          <a:prstGeom prst="roundRect">
            <a:avLst>
              <a:gd name="adj" fmla="val 11418"/>
            </a:avLst>
          </a:prstGeom>
          <a:solidFill>
            <a:schemeClr val="bg1">
              <a:lumMod val="95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wrap="square" lIns="90000" tIns="0" rIns="90000" bIns="0" rtlCol="0" anchor="ctr" anchorCtr="0"/>
          <a:lstStyle/>
          <a:p>
            <a:pPr lvl="0" algn="ctr" defTabSz="1042873">
              <a:defRPr/>
            </a:pPr>
            <a:r>
              <a:rPr lang="en-US" altLang="ko-KR" sz="1200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AI </a:t>
            </a:r>
            <a:r>
              <a:rPr lang="ko-KR" altLang="en-US" sz="1200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거버넌스</a:t>
            </a:r>
            <a:r>
              <a:rPr lang="en-US" altLang="ko-KR" sz="1200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(AI</a:t>
            </a:r>
            <a:r>
              <a:rPr lang="ko-KR" altLang="en-US" sz="1200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위험관리 전담조직</a:t>
            </a:r>
            <a:r>
              <a:rPr lang="en-US" altLang="ko-KR" sz="1200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), </a:t>
            </a:r>
            <a:br>
              <a:rPr lang="en-US" altLang="ko-KR" sz="1200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</a:br>
            <a: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AI </a:t>
            </a: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윤리위원회</a:t>
            </a:r>
            <a:endParaRPr kumimoji="0" lang="en-US" altLang="ko-KR" sz="1200" i="0" u="none" strike="noStrike" kern="0" cap="none" spc="0" normalizeH="0" baseline="0" noProof="0">
              <a:ln>
                <a:solidFill>
                  <a:srgbClr val="A5C249">
                    <a:alpha val="0"/>
                  </a:srgbClr>
                </a:solidFill>
              </a:ln>
              <a:effectLst/>
              <a:uLnTx/>
              <a:uFillTx/>
              <a:latin typeface="+mn-ea"/>
              <a:cs typeface="Pretendard SemiBold" panose="02000703000000020004" pitchFamily="50" charset="-127"/>
            </a:endParaRPr>
          </a:p>
        </p:txBody>
      </p:sp>
      <p:sp>
        <p:nvSpPr>
          <p:cNvPr id="17" name="직사각형 55">
            <a:extLst>
              <a:ext uri="{FF2B5EF4-FFF2-40B4-BE49-F238E27FC236}">
                <a16:creationId xmlns:a16="http://schemas.microsoft.com/office/drawing/2014/main" id="{326175FD-A075-3410-0CC3-BF6DDB0A4016}"/>
              </a:ext>
            </a:extLst>
          </p:cNvPr>
          <p:cNvSpPr/>
          <p:nvPr/>
        </p:nvSpPr>
        <p:spPr>
          <a:xfrm>
            <a:off x="5598487" y="3096198"/>
            <a:ext cx="236220" cy="2973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ko-KR" altLang="en-US"/>
          </a:p>
        </p:txBody>
      </p:sp>
      <p:sp>
        <p:nvSpPr>
          <p:cNvPr id="18" name="Rectangle: Rounded Corners 46">
            <a:extLst>
              <a:ext uri="{FF2B5EF4-FFF2-40B4-BE49-F238E27FC236}">
                <a16:creationId xmlns:a16="http://schemas.microsoft.com/office/drawing/2014/main" id="{13F4C4B8-B554-066C-E823-B95A2836B33D}"/>
              </a:ext>
            </a:extLst>
          </p:cNvPr>
          <p:cNvSpPr/>
          <p:nvPr/>
        </p:nvSpPr>
        <p:spPr>
          <a:xfrm>
            <a:off x="5598487" y="2356890"/>
            <a:ext cx="2588011" cy="483899"/>
          </a:xfrm>
          <a:prstGeom prst="roundRect">
            <a:avLst>
              <a:gd name="adj" fmla="val 11418"/>
            </a:avLst>
          </a:prstGeom>
          <a:solidFill>
            <a:srgbClr val="043B72"/>
          </a:solidFill>
          <a:ln w="3175" cap="flat" cmpd="sng" algn="ctr">
            <a:noFill/>
            <a:prstDash val="solid"/>
          </a:ln>
          <a:effectLst/>
        </p:spPr>
        <p:txBody>
          <a:bodyPr wrap="square" lIns="0" tIns="0" rIns="0" bIns="0" rtlCol="0" anchor="ctr" anchorCtr="0"/>
          <a:lstStyle/>
          <a:p>
            <a:pPr algn="ctr" defTabSz="1042873"/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제</a:t>
            </a:r>
            <a:r>
              <a: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1</a:t>
            </a:r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장</a:t>
            </a:r>
            <a:br>
              <a: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</a:br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총칙</a:t>
            </a:r>
            <a:endParaRPr lang="en-US" altLang="ko-KR" sz="1200" b="1" kern="0">
              <a:ln>
                <a:solidFill>
                  <a:srgbClr val="A5C249">
                    <a:alpha val="0"/>
                  </a:srgbClr>
                </a:solidFill>
              </a:ln>
              <a:solidFill>
                <a:prstClr val="white"/>
              </a:solidFill>
              <a:latin typeface="+mn-ea"/>
            </a:endParaRPr>
          </a:p>
        </p:txBody>
      </p:sp>
      <p:sp>
        <p:nvSpPr>
          <p:cNvPr id="19" name="Rectangle: Rounded Corners 46">
            <a:extLst>
              <a:ext uri="{FF2B5EF4-FFF2-40B4-BE49-F238E27FC236}">
                <a16:creationId xmlns:a16="http://schemas.microsoft.com/office/drawing/2014/main" id="{B58DB56C-548A-3701-038B-876D290EF527}"/>
              </a:ext>
            </a:extLst>
          </p:cNvPr>
          <p:cNvSpPr/>
          <p:nvPr/>
        </p:nvSpPr>
        <p:spPr>
          <a:xfrm>
            <a:off x="5935702" y="3549884"/>
            <a:ext cx="2250795" cy="390373"/>
          </a:xfrm>
          <a:prstGeom prst="roundRect">
            <a:avLst>
              <a:gd name="adj" fmla="val 11418"/>
            </a:avLst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spcFirstLastPara="1" wrap="square" lIns="45720" tIns="0" rIns="0" bIns="0" anchor="ctr" anchorCtr="0">
            <a:noAutofit/>
          </a:bodyPr>
          <a:lstStyle/>
          <a:p>
            <a:pPr defTabSz="914446">
              <a:buClr>
                <a:srgbClr val="FFFFFF"/>
              </a:buClr>
              <a:buSzPts val="1100"/>
            </a:pPr>
            <a:r>
              <a:rPr lang="ko-KR" altLang="en-US" sz="1100" b="1">
                <a:latin typeface="+mn-ea"/>
              </a:rPr>
              <a:t>제</a:t>
            </a:r>
            <a:r>
              <a:rPr lang="en-US" altLang="ko-KR" sz="1100" b="1">
                <a:latin typeface="+mn-ea"/>
              </a:rPr>
              <a:t>1</a:t>
            </a:r>
            <a:r>
              <a:rPr lang="ko-KR" altLang="en-US" sz="1100" b="1">
                <a:latin typeface="+mn-ea"/>
              </a:rPr>
              <a:t>조 </a:t>
            </a:r>
            <a:r>
              <a:rPr lang="en-US" altLang="ko-KR" sz="1100" b="1">
                <a:latin typeface="+mn-ea"/>
              </a:rPr>
              <a:t>AI </a:t>
            </a:r>
            <a:r>
              <a:rPr lang="ko-KR" altLang="en-US" sz="1100" b="1">
                <a:latin typeface="+mn-ea"/>
              </a:rPr>
              <a:t>윤리위원회</a:t>
            </a:r>
            <a:r>
              <a:rPr lang="en-US" altLang="ko-KR" sz="1100" b="1">
                <a:latin typeface="+mn-ea"/>
              </a:rPr>
              <a:t>*</a:t>
            </a:r>
          </a:p>
        </p:txBody>
      </p:sp>
      <p:sp>
        <p:nvSpPr>
          <p:cNvPr id="20" name="Rectangle: Rounded Corners 46">
            <a:extLst>
              <a:ext uri="{FF2B5EF4-FFF2-40B4-BE49-F238E27FC236}">
                <a16:creationId xmlns:a16="http://schemas.microsoft.com/office/drawing/2014/main" id="{57D1D8A6-7EC1-4B32-9384-4B5FF4B0D676}"/>
              </a:ext>
            </a:extLst>
          </p:cNvPr>
          <p:cNvSpPr/>
          <p:nvPr/>
        </p:nvSpPr>
        <p:spPr>
          <a:xfrm>
            <a:off x="5935702" y="4063843"/>
            <a:ext cx="2250795" cy="390373"/>
          </a:xfrm>
          <a:prstGeom prst="roundRect">
            <a:avLst>
              <a:gd name="adj" fmla="val 11418"/>
            </a:avLst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spcFirstLastPara="1" wrap="square" lIns="45720" tIns="0" rIns="0" bIns="0" anchor="ctr" anchorCtr="0">
            <a:noAutofit/>
          </a:bodyPr>
          <a:lstStyle/>
          <a:p>
            <a:pPr defTabSz="914446">
              <a:buClr>
                <a:srgbClr val="FFFFFF"/>
              </a:buClr>
              <a:buSzPts val="1100"/>
            </a:pPr>
            <a:r>
              <a:rPr lang="ko-KR" altLang="en-US" sz="1100" b="1">
                <a:latin typeface="+mn-ea"/>
              </a:rPr>
              <a:t>제</a:t>
            </a:r>
            <a:r>
              <a:rPr lang="en-US" altLang="ko-KR" sz="1100" b="1">
                <a:latin typeface="+mn-ea"/>
              </a:rPr>
              <a:t>2</a:t>
            </a:r>
            <a:r>
              <a:rPr lang="ko-KR" altLang="en-US" sz="1100" b="1">
                <a:latin typeface="+mn-ea"/>
              </a:rPr>
              <a:t>조 </a:t>
            </a:r>
            <a:r>
              <a:rPr lang="en-US" altLang="ko-KR" sz="1100" b="1">
                <a:latin typeface="+mn-ea"/>
              </a:rPr>
              <a:t>AI </a:t>
            </a:r>
            <a:r>
              <a:rPr lang="ko-KR" altLang="en-US" sz="1100" b="1">
                <a:latin typeface="+mn-ea"/>
              </a:rPr>
              <a:t>위험관리 전담조직 및 </a:t>
            </a:r>
            <a:br>
              <a:rPr lang="en-US" altLang="ko-KR" sz="1100" b="1">
                <a:latin typeface="+mn-ea"/>
              </a:rPr>
            </a:br>
            <a:r>
              <a:rPr lang="en-US" altLang="ko-KR" sz="1100" b="1">
                <a:latin typeface="+mn-ea"/>
              </a:rPr>
              <a:t>        </a:t>
            </a:r>
            <a:r>
              <a:rPr lang="ko-KR" altLang="en-US" sz="1100" b="1">
                <a:latin typeface="+mn-ea"/>
              </a:rPr>
              <a:t>인력</a:t>
            </a:r>
            <a:endParaRPr lang="en-US" altLang="ko-KR" sz="1100" b="1">
              <a:latin typeface="+mn-ea"/>
            </a:endParaRPr>
          </a:p>
        </p:txBody>
      </p:sp>
      <p:cxnSp>
        <p:nvCxnSpPr>
          <p:cNvPr id="21" name="연결선: 꺾임 64">
            <a:extLst>
              <a:ext uri="{FF2B5EF4-FFF2-40B4-BE49-F238E27FC236}">
                <a16:creationId xmlns:a16="http://schemas.microsoft.com/office/drawing/2014/main" id="{3F7EFA6E-CF71-CFF3-128F-10862E69F961}"/>
              </a:ext>
            </a:extLst>
          </p:cNvPr>
          <p:cNvCxnSpPr>
            <a:cxnSpLocks/>
            <a:stCxn id="17" idx="2"/>
            <a:endCxn id="19" idx="1"/>
          </p:cNvCxnSpPr>
          <p:nvPr/>
        </p:nvCxnSpPr>
        <p:spPr>
          <a:xfrm rot="16200000" flipH="1">
            <a:off x="5650383" y="3459752"/>
            <a:ext cx="351533" cy="219105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연결선: 꺾임 65">
            <a:extLst>
              <a:ext uri="{FF2B5EF4-FFF2-40B4-BE49-F238E27FC236}">
                <a16:creationId xmlns:a16="http://schemas.microsoft.com/office/drawing/2014/main" id="{67822BE3-DABA-A581-AC40-B878E7B08E53}"/>
              </a:ext>
            </a:extLst>
          </p:cNvPr>
          <p:cNvCxnSpPr>
            <a:cxnSpLocks/>
            <a:stCxn id="17" idx="2"/>
            <a:endCxn id="20" idx="1"/>
          </p:cNvCxnSpPr>
          <p:nvPr/>
        </p:nvCxnSpPr>
        <p:spPr>
          <a:xfrm rot="16200000" flipH="1">
            <a:off x="5393404" y="3716730"/>
            <a:ext cx="865492" cy="219105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: Rounded Corners 46">
            <a:extLst>
              <a:ext uri="{FF2B5EF4-FFF2-40B4-BE49-F238E27FC236}">
                <a16:creationId xmlns:a16="http://schemas.microsoft.com/office/drawing/2014/main" id="{7BD5CC80-C088-FC66-7442-E0B2BA1EB7DC}"/>
              </a:ext>
            </a:extLst>
          </p:cNvPr>
          <p:cNvSpPr/>
          <p:nvPr/>
        </p:nvSpPr>
        <p:spPr>
          <a:xfrm>
            <a:off x="5598487" y="2942399"/>
            <a:ext cx="2588011" cy="483899"/>
          </a:xfrm>
          <a:prstGeom prst="roundRect">
            <a:avLst>
              <a:gd name="adj" fmla="val 11418"/>
            </a:avLst>
          </a:prstGeom>
          <a:solidFill>
            <a:srgbClr val="043B72"/>
          </a:solidFill>
          <a:ln w="3175" cap="flat" cmpd="sng" algn="ctr">
            <a:noFill/>
            <a:prstDash val="solid"/>
          </a:ln>
          <a:effectLst/>
        </p:spPr>
        <p:txBody>
          <a:bodyPr wrap="square" lIns="0" tIns="0" rIns="0" bIns="0" rtlCol="0" anchor="ctr" anchorCtr="0"/>
          <a:lstStyle/>
          <a:p>
            <a:pPr algn="ctr" defTabSz="1042873"/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제</a:t>
            </a:r>
            <a:r>
              <a: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2</a:t>
            </a:r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장</a:t>
            </a:r>
            <a:endParaRPr lang="en-US" altLang="ko-KR" sz="1200" b="1" kern="0">
              <a:ln>
                <a:solidFill>
                  <a:srgbClr val="A5C249">
                    <a:alpha val="0"/>
                  </a:srgbClr>
                </a:solidFill>
              </a:ln>
              <a:solidFill>
                <a:prstClr val="white"/>
              </a:solidFill>
              <a:latin typeface="+mn-ea"/>
            </a:endParaRPr>
          </a:p>
          <a:p>
            <a:pPr algn="ctr" defTabSz="1042873"/>
            <a:r>
              <a: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AI </a:t>
            </a:r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위험관리 조직 및 인력</a:t>
            </a:r>
            <a:endParaRPr lang="en-US" altLang="ko-KR" sz="1200" b="1" kern="0">
              <a:ln>
                <a:solidFill>
                  <a:srgbClr val="A5C249">
                    <a:alpha val="0"/>
                  </a:srgbClr>
                </a:solidFill>
              </a:ln>
              <a:solidFill>
                <a:prstClr val="white"/>
              </a:solidFill>
              <a:latin typeface="+mn-ea"/>
            </a:endParaRPr>
          </a:p>
        </p:txBody>
      </p:sp>
      <p:sp>
        <p:nvSpPr>
          <p:cNvPr id="24" name="Rectangle: Rounded Corners 46">
            <a:extLst>
              <a:ext uri="{FF2B5EF4-FFF2-40B4-BE49-F238E27FC236}">
                <a16:creationId xmlns:a16="http://schemas.microsoft.com/office/drawing/2014/main" id="{D2002E21-FD59-4C81-351B-78C522ED4DFD}"/>
              </a:ext>
            </a:extLst>
          </p:cNvPr>
          <p:cNvSpPr/>
          <p:nvPr/>
        </p:nvSpPr>
        <p:spPr>
          <a:xfrm>
            <a:off x="8906961" y="2942399"/>
            <a:ext cx="2250795" cy="390373"/>
          </a:xfrm>
          <a:prstGeom prst="roundRect">
            <a:avLst>
              <a:gd name="adj" fmla="val 11418"/>
            </a:avLst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spcFirstLastPara="1" wrap="square" lIns="45720" tIns="0" rIns="0" bIns="0" anchor="ctr" anchorCtr="0">
            <a:noAutofit/>
          </a:bodyPr>
          <a:lstStyle/>
          <a:p>
            <a:pPr defTabSz="914446">
              <a:buClr>
                <a:srgbClr val="FFFFFF"/>
              </a:buClr>
              <a:buSzPts val="1100"/>
            </a:pPr>
            <a:r>
              <a:rPr lang="ko-KR" altLang="en-US" sz="1100" b="1">
                <a:latin typeface="+mn-ea"/>
              </a:rPr>
              <a:t>제</a:t>
            </a:r>
            <a:r>
              <a:rPr lang="en-US" altLang="ko-KR" sz="1100" b="1">
                <a:latin typeface="+mn-ea"/>
              </a:rPr>
              <a:t>1</a:t>
            </a:r>
            <a:r>
              <a:rPr lang="ko-KR" altLang="en-US" sz="1100" b="1">
                <a:latin typeface="+mn-ea"/>
              </a:rPr>
              <a:t>절 </a:t>
            </a:r>
            <a:r>
              <a:rPr lang="en-US" altLang="ko-KR" sz="1100" b="1">
                <a:latin typeface="+mn-ea"/>
              </a:rPr>
              <a:t>AI </a:t>
            </a:r>
            <a:r>
              <a:rPr lang="ko-KR" altLang="en-US" sz="1100" b="1">
                <a:latin typeface="+mn-ea"/>
              </a:rPr>
              <a:t>위험관리 방안 및 정책</a:t>
            </a:r>
            <a:endParaRPr lang="en-US" altLang="ko-KR" sz="1100" b="1">
              <a:latin typeface="+mn-ea"/>
            </a:endParaRPr>
          </a:p>
        </p:txBody>
      </p:sp>
      <p:sp>
        <p:nvSpPr>
          <p:cNvPr id="25" name="Rectangle: Rounded Corners 46">
            <a:extLst>
              <a:ext uri="{FF2B5EF4-FFF2-40B4-BE49-F238E27FC236}">
                <a16:creationId xmlns:a16="http://schemas.microsoft.com/office/drawing/2014/main" id="{5DB1E54F-4C35-2CD5-EAB2-4596FAB282F2}"/>
              </a:ext>
            </a:extLst>
          </p:cNvPr>
          <p:cNvSpPr/>
          <p:nvPr/>
        </p:nvSpPr>
        <p:spPr>
          <a:xfrm>
            <a:off x="8906961" y="3397302"/>
            <a:ext cx="2250795" cy="390373"/>
          </a:xfrm>
          <a:prstGeom prst="roundRect">
            <a:avLst>
              <a:gd name="adj" fmla="val 11418"/>
            </a:avLst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spcFirstLastPara="1" wrap="square" lIns="45720" tIns="0" rIns="0" bIns="0" anchor="ctr" anchorCtr="0">
            <a:noAutofit/>
          </a:bodyPr>
          <a:lstStyle/>
          <a:p>
            <a:pPr defTabSz="914446">
              <a:buClr>
                <a:srgbClr val="FFFFFF"/>
              </a:buClr>
              <a:buSzPts val="1100"/>
            </a:pPr>
            <a:r>
              <a:rPr lang="ko-KR" altLang="en-US" sz="1100" b="1">
                <a:latin typeface="+mn-ea"/>
              </a:rPr>
              <a:t>제</a:t>
            </a:r>
            <a:r>
              <a:rPr lang="en-US" altLang="ko-KR" sz="1100" b="1">
                <a:latin typeface="+mn-ea"/>
              </a:rPr>
              <a:t>2</a:t>
            </a:r>
            <a:r>
              <a:rPr lang="ko-KR" altLang="en-US" sz="1100" b="1">
                <a:latin typeface="+mn-ea"/>
              </a:rPr>
              <a:t>절 </a:t>
            </a:r>
            <a:r>
              <a:rPr lang="en-US" altLang="ko-KR" sz="1100" b="1">
                <a:latin typeface="+mn-ea"/>
              </a:rPr>
              <a:t>AI </a:t>
            </a:r>
            <a:r>
              <a:rPr lang="ko-KR" altLang="en-US" sz="1100" b="1">
                <a:latin typeface="+mn-ea"/>
              </a:rPr>
              <a:t>위험등급 분류</a:t>
            </a:r>
            <a:endParaRPr lang="en-US" altLang="ko-KR" sz="1100" b="1">
              <a:latin typeface="+mn-ea"/>
            </a:endParaRPr>
          </a:p>
        </p:txBody>
      </p:sp>
      <p:cxnSp>
        <p:nvCxnSpPr>
          <p:cNvPr id="26" name="연결선: 꺾임 65">
            <a:extLst>
              <a:ext uri="{FF2B5EF4-FFF2-40B4-BE49-F238E27FC236}">
                <a16:creationId xmlns:a16="http://schemas.microsoft.com/office/drawing/2014/main" id="{191767FF-ABDD-9D0B-B9FC-75C8063EF727}"/>
              </a:ext>
            </a:extLst>
          </p:cNvPr>
          <p:cNvCxnSpPr>
            <a:cxnSpLocks/>
            <a:stCxn id="32" idx="2"/>
            <a:endCxn id="25" idx="1"/>
          </p:cNvCxnSpPr>
          <p:nvPr/>
        </p:nvCxnSpPr>
        <p:spPr>
          <a:xfrm rot="16200000" flipH="1">
            <a:off x="8417625" y="3103153"/>
            <a:ext cx="759566" cy="219105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: Rounded Corners 46">
            <a:extLst>
              <a:ext uri="{FF2B5EF4-FFF2-40B4-BE49-F238E27FC236}">
                <a16:creationId xmlns:a16="http://schemas.microsoft.com/office/drawing/2014/main" id="{197F750A-4E9E-D502-F56B-943855D22A74}"/>
              </a:ext>
            </a:extLst>
          </p:cNvPr>
          <p:cNvSpPr/>
          <p:nvPr/>
        </p:nvSpPr>
        <p:spPr>
          <a:xfrm>
            <a:off x="8569746" y="2356890"/>
            <a:ext cx="2588011" cy="483899"/>
          </a:xfrm>
          <a:prstGeom prst="roundRect">
            <a:avLst>
              <a:gd name="adj" fmla="val 11418"/>
            </a:avLst>
          </a:prstGeom>
          <a:solidFill>
            <a:srgbClr val="043B72"/>
          </a:solidFill>
          <a:ln w="3175" cap="flat" cmpd="sng" algn="ctr">
            <a:noFill/>
            <a:prstDash val="solid"/>
          </a:ln>
          <a:effectLst/>
        </p:spPr>
        <p:txBody>
          <a:bodyPr wrap="square" lIns="0" tIns="0" rIns="0" bIns="0" rtlCol="0" anchor="ctr" anchorCtr="0"/>
          <a:lstStyle/>
          <a:p>
            <a:pPr algn="ctr" defTabSz="1042873"/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제</a:t>
            </a:r>
            <a:r>
              <a: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4</a:t>
            </a:r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장</a:t>
            </a:r>
            <a:endParaRPr lang="en-US" altLang="ko-KR" sz="1200" b="1" kern="0">
              <a:ln>
                <a:solidFill>
                  <a:srgbClr val="A5C249">
                    <a:alpha val="0"/>
                  </a:srgbClr>
                </a:solidFill>
              </a:ln>
              <a:solidFill>
                <a:prstClr val="white"/>
              </a:solidFill>
              <a:latin typeface="+mn-ea"/>
            </a:endParaRPr>
          </a:p>
          <a:p>
            <a:pPr algn="ctr" defTabSz="1042873"/>
            <a:r>
              <a: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AI </a:t>
            </a:r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위험관리</a:t>
            </a:r>
            <a:endParaRPr lang="en-US" altLang="ko-KR" sz="1200" b="1" kern="0">
              <a:ln>
                <a:solidFill>
                  <a:srgbClr val="A5C249">
                    <a:alpha val="0"/>
                  </a:srgbClr>
                </a:solidFill>
              </a:ln>
              <a:solidFill>
                <a:prstClr val="white"/>
              </a:solidFill>
              <a:latin typeface="+mn-ea"/>
            </a:endParaRPr>
          </a:p>
        </p:txBody>
      </p:sp>
      <p:sp>
        <p:nvSpPr>
          <p:cNvPr id="28" name="Rectangle: Rounded Corners 46">
            <a:extLst>
              <a:ext uri="{FF2B5EF4-FFF2-40B4-BE49-F238E27FC236}">
                <a16:creationId xmlns:a16="http://schemas.microsoft.com/office/drawing/2014/main" id="{36B9A1BB-C09D-3604-26EB-EE06C75AB3B9}"/>
              </a:ext>
            </a:extLst>
          </p:cNvPr>
          <p:cNvSpPr/>
          <p:nvPr/>
        </p:nvSpPr>
        <p:spPr>
          <a:xfrm>
            <a:off x="8906961" y="3852205"/>
            <a:ext cx="2250795" cy="390373"/>
          </a:xfrm>
          <a:prstGeom prst="roundRect">
            <a:avLst>
              <a:gd name="adj" fmla="val 11418"/>
            </a:avLst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spcFirstLastPara="1" wrap="square" lIns="45720" tIns="0" rIns="0" bIns="0" anchor="ctr" anchorCtr="0">
            <a:noAutofit/>
          </a:bodyPr>
          <a:lstStyle/>
          <a:p>
            <a:pPr defTabSz="914446">
              <a:buClr>
                <a:srgbClr val="FFFFFF"/>
              </a:buClr>
              <a:buSzPts val="1100"/>
            </a:pPr>
            <a:r>
              <a:rPr lang="ko-KR" altLang="en-US" sz="1100" b="1">
                <a:latin typeface="+mn-ea"/>
              </a:rPr>
              <a:t>제</a:t>
            </a:r>
            <a:r>
              <a:rPr lang="en-US" altLang="ko-KR" sz="1100" b="1">
                <a:latin typeface="+mn-ea"/>
              </a:rPr>
              <a:t>3</a:t>
            </a:r>
            <a:r>
              <a:rPr lang="ko-KR" altLang="en-US" sz="1100" b="1">
                <a:latin typeface="+mn-ea"/>
              </a:rPr>
              <a:t>절 </a:t>
            </a:r>
            <a:r>
              <a:rPr lang="en-US" altLang="ko-KR" sz="1100" b="1">
                <a:latin typeface="+mn-ea"/>
              </a:rPr>
              <a:t>AI </a:t>
            </a:r>
            <a:r>
              <a:rPr lang="ko-KR" altLang="en-US" sz="1100" b="1">
                <a:latin typeface="+mn-ea"/>
              </a:rPr>
              <a:t>위험관리 프로세스</a:t>
            </a:r>
            <a:endParaRPr lang="en-US" altLang="ko-KR" sz="1100" b="1">
              <a:latin typeface="+mn-ea"/>
            </a:endParaRPr>
          </a:p>
        </p:txBody>
      </p:sp>
      <p:sp>
        <p:nvSpPr>
          <p:cNvPr id="29" name="Rectangle: Rounded Corners 46">
            <a:extLst>
              <a:ext uri="{FF2B5EF4-FFF2-40B4-BE49-F238E27FC236}">
                <a16:creationId xmlns:a16="http://schemas.microsoft.com/office/drawing/2014/main" id="{C50E42A7-BC99-78DD-42DB-47A3F2D1A3A9}"/>
              </a:ext>
            </a:extLst>
          </p:cNvPr>
          <p:cNvSpPr/>
          <p:nvPr/>
        </p:nvSpPr>
        <p:spPr>
          <a:xfrm>
            <a:off x="8906961" y="4307109"/>
            <a:ext cx="2250795" cy="390373"/>
          </a:xfrm>
          <a:prstGeom prst="roundRect">
            <a:avLst>
              <a:gd name="adj" fmla="val 11418"/>
            </a:avLst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spcFirstLastPara="1" wrap="square" lIns="45720" tIns="0" rIns="0" bIns="0" anchor="ctr" anchorCtr="0">
            <a:noAutofit/>
          </a:bodyPr>
          <a:lstStyle/>
          <a:p>
            <a:pPr defTabSz="914446">
              <a:buClr>
                <a:srgbClr val="FFFFFF"/>
              </a:buClr>
              <a:buSzPts val="1100"/>
            </a:pPr>
            <a:r>
              <a:rPr lang="ko-KR" altLang="en-US" sz="1100" b="1">
                <a:latin typeface="+mn-ea"/>
              </a:rPr>
              <a:t>제</a:t>
            </a:r>
            <a:r>
              <a:rPr lang="en-US" altLang="ko-KR" sz="1100" b="1">
                <a:latin typeface="+mn-ea"/>
              </a:rPr>
              <a:t>4</a:t>
            </a:r>
            <a:r>
              <a:rPr lang="ko-KR" altLang="en-US" sz="1100" b="1">
                <a:latin typeface="+mn-ea"/>
              </a:rPr>
              <a:t>절 금융소비자의 보호</a:t>
            </a:r>
            <a:endParaRPr lang="en-US" altLang="ko-KR" sz="1100" b="1">
              <a:latin typeface="+mn-ea"/>
            </a:endParaRPr>
          </a:p>
        </p:txBody>
      </p:sp>
      <p:cxnSp>
        <p:nvCxnSpPr>
          <p:cNvPr id="30" name="연결선: 꺾임 64">
            <a:extLst>
              <a:ext uri="{FF2B5EF4-FFF2-40B4-BE49-F238E27FC236}">
                <a16:creationId xmlns:a16="http://schemas.microsoft.com/office/drawing/2014/main" id="{A5E6A214-009A-65C9-1EAF-B2A4799EDCAE}"/>
              </a:ext>
            </a:extLst>
          </p:cNvPr>
          <p:cNvCxnSpPr>
            <a:cxnSpLocks/>
            <a:stCxn id="32" idx="2"/>
            <a:endCxn id="28" idx="1"/>
          </p:cNvCxnSpPr>
          <p:nvPr/>
        </p:nvCxnSpPr>
        <p:spPr>
          <a:xfrm rot="16200000" flipH="1">
            <a:off x="8190173" y="3330605"/>
            <a:ext cx="1214469" cy="219105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연결선: 꺾임 65">
            <a:extLst>
              <a:ext uri="{FF2B5EF4-FFF2-40B4-BE49-F238E27FC236}">
                <a16:creationId xmlns:a16="http://schemas.microsoft.com/office/drawing/2014/main" id="{0E3BA14E-3A01-BB55-5880-7FA033CA3F9E}"/>
              </a:ext>
            </a:extLst>
          </p:cNvPr>
          <p:cNvCxnSpPr>
            <a:cxnSpLocks/>
            <a:stCxn id="32" idx="2"/>
            <a:endCxn id="29" idx="1"/>
          </p:cNvCxnSpPr>
          <p:nvPr/>
        </p:nvCxnSpPr>
        <p:spPr>
          <a:xfrm rot="16200000" flipH="1">
            <a:off x="7962722" y="3558056"/>
            <a:ext cx="1669373" cy="219105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55">
            <a:extLst>
              <a:ext uri="{FF2B5EF4-FFF2-40B4-BE49-F238E27FC236}">
                <a16:creationId xmlns:a16="http://schemas.microsoft.com/office/drawing/2014/main" id="{B9607CC3-349B-F62F-BBE0-E56F691BD9A8}"/>
              </a:ext>
            </a:extLst>
          </p:cNvPr>
          <p:cNvSpPr/>
          <p:nvPr/>
        </p:nvSpPr>
        <p:spPr>
          <a:xfrm>
            <a:off x="8569746" y="2535583"/>
            <a:ext cx="236220" cy="2973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ko-KR" altLang="en-US"/>
          </a:p>
        </p:txBody>
      </p:sp>
      <p:cxnSp>
        <p:nvCxnSpPr>
          <p:cNvPr id="33" name="연결선: 꺾임 64">
            <a:extLst>
              <a:ext uri="{FF2B5EF4-FFF2-40B4-BE49-F238E27FC236}">
                <a16:creationId xmlns:a16="http://schemas.microsoft.com/office/drawing/2014/main" id="{11630B08-36BF-C2BF-7F09-400539B4CB21}"/>
              </a:ext>
            </a:extLst>
          </p:cNvPr>
          <p:cNvCxnSpPr>
            <a:cxnSpLocks/>
            <a:stCxn id="32" idx="2"/>
            <a:endCxn id="24" idx="1"/>
          </p:cNvCxnSpPr>
          <p:nvPr/>
        </p:nvCxnSpPr>
        <p:spPr>
          <a:xfrm rot="16200000" flipH="1">
            <a:off x="8645077" y="2875702"/>
            <a:ext cx="304663" cy="219105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: Rounded Corners 46">
            <a:extLst>
              <a:ext uri="{FF2B5EF4-FFF2-40B4-BE49-F238E27FC236}">
                <a16:creationId xmlns:a16="http://schemas.microsoft.com/office/drawing/2014/main" id="{944E63DD-CCBD-5CDE-3E32-54DA1BAFA329}"/>
              </a:ext>
            </a:extLst>
          </p:cNvPr>
          <p:cNvSpPr/>
          <p:nvPr/>
        </p:nvSpPr>
        <p:spPr>
          <a:xfrm>
            <a:off x="8906961" y="4762013"/>
            <a:ext cx="2250795" cy="390373"/>
          </a:xfrm>
          <a:prstGeom prst="roundRect">
            <a:avLst>
              <a:gd name="adj" fmla="val 11418"/>
            </a:avLst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spcFirstLastPara="1" wrap="square" lIns="45720" tIns="0" rIns="0" bIns="0" anchor="ctr" anchorCtr="0">
            <a:noAutofit/>
          </a:bodyPr>
          <a:lstStyle/>
          <a:p>
            <a:pPr defTabSz="914446">
              <a:buClr>
                <a:srgbClr val="FFFFFF"/>
              </a:buClr>
              <a:buSzPts val="1100"/>
            </a:pPr>
            <a:r>
              <a:rPr lang="ko-KR" altLang="en-US" sz="1100" b="1">
                <a:latin typeface="+mn-ea"/>
              </a:rPr>
              <a:t>제</a:t>
            </a:r>
            <a:r>
              <a:rPr lang="en-US" altLang="ko-KR" sz="1100" b="1">
                <a:latin typeface="+mn-ea"/>
              </a:rPr>
              <a:t>5</a:t>
            </a:r>
            <a:r>
              <a:rPr lang="ko-KR" altLang="en-US" sz="1100" b="1">
                <a:latin typeface="+mn-ea"/>
              </a:rPr>
              <a:t>절 </a:t>
            </a:r>
            <a:r>
              <a:rPr lang="en-US" altLang="ko-KR" sz="1100" b="1">
                <a:latin typeface="+mn-ea"/>
              </a:rPr>
              <a:t>AI</a:t>
            </a:r>
            <a:r>
              <a:rPr lang="ko-KR" altLang="en-US" sz="1100" b="1">
                <a:latin typeface="+mn-ea"/>
              </a:rPr>
              <a:t>서비스의 위</a:t>
            </a:r>
            <a:r>
              <a:rPr lang="en-US" altLang="ko-KR" sz="1100" b="1">
                <a:latin typeface="+mn-ea"/>
              </a:rPr>
              <a:t>·</a:t>
            </a:r>
            <a:r>
              <a:rPr lang="ko-KR" altLang="en-US" sz="1100" b="1">
                <a:latin typeface="+mn-ea"/>
              </a:rPr>
              <a:t>수탁</a:t>
            </a:r>
            <a:endParaRPr lang="en-US" altLang="ko-KR" sz="1100" b="1">
              <a:latin typeface="+mn-ea"/>
            </a:endParaRPr>
          </a:p>
        </p:txBody>
      </p:sp>
      <p:cxnSp>
        <p:nvCxnSpPr>
          <p:cNvPr id="35" name="연결선: 꺾임 65">
            <a:extLst>
              <a:ext uri="{FF2B5EF4-FFF2-40B4-BE49-F238E27FC236}">
                <a16:creationId xmlns:a16="http://schemas.microsoft.com/office/drawing/2014/main" id="{3FE1DBF4-DB5C-E6CB-7F01-B494F631C646}"/>
              </a:ext>
            </a:extLst>
          </p:cNvPr>
          <p:cNvCxnSpPr>
            <a:cxnSpLocks/>
            <a:stCxn id="32" idx="2"/>
            <a:endCxn id="34" idx="1"/>
          </p:cNvCxnSpPr>
          <p:nvPr/>
        </p:nvCxnSpPr>
        <p:spPr>
          <a:xfrm rot="16200000" flipH="1">
            <a:off x="7735270" y="3785508"/>
            <a:ext cx="2124277" cy="219105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직사각형 55">
            <a:extLst>
              <a:ext uri="{FF2B5EF4-FFF2-40B4-BE49-F238E27FC236}">
                <a16:creationId xmlns:a16="http://schemas.microsoft.com/office/drawing/2014/main" id="{E1710E4B-3C8B-0E7F-409A-FEEC5DCE4C34}"/>
              </a:ext>
            </a:extLst>
          </p:cNvPr>
          <p:cNvSpPr/>
          <p:nvPr/>
        </p:nvSpPr>
        <p:spPr>
          <a:xfrm>
            <a:off x="5598487" y="4762066"/>
            <a:ext cx="236220" cy="2973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ko-KR" altLang="en-US"/>
          </a:p>
        </p:txBody>
      </p:sp>
      <p:sp>
        <p:nvSpPr>
          <p:cNvPr id="37" name="Rectangle: Rounded Corners 46">
            <a:extLst>
              <a:ext uri="{FF2B5EF4-FFF2-40B4-BE49-F238E27FC236}">
                <a16:creationId xmlns:a16="http://schemas.microsoft.com/office/drawing/2014/main" id="{E4B50ADD-EFF6-807F-B88F-B777E11D3109}"/>
              </a:ext>
            </a:extLst>
          </p:cNvPr>
          <p:cNvSpPr/>
          <p:nvPr/>
        </p:nvSpPr>
        <p:spPr>
          <a:xfrm>
            <a:off x="5935702" y="5215752"/>
            <a:ext cx="2250795" cy="390373"/>
          </a:xfrm>
          <a:prstGeom prst="roundRect">
            <a:avLst>
              <a:gd name="adj" fmla="val 11418"/>
            </a:avLst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spcFirstLastPara="1" wrap="square" lIns="45720" tIns="0" rIns="0" bIns="0" anchor="ctr" anchorCtr="0">
            <a:noAutofit/>
          </a:bodyPr>
          <a:lstStyle/>
          <a:p>
            <a:pPr defTabSz="914446">
              <a:buClr>
                <a:srgbClr val="FFFFFF"/>
              </a:buClr>
              <a:buSzPts val="1100"/>
            </a:pPr>
            <a:r>
              <a:rPr lang="ko-KR" altLang="en-US" sz="1100" b="1">
                <a:latin typeface="+mn-ea"/>
              </a:rPr>
              <a:t>제</a:t>
            </a:r>
            <a:r>
              <a:rPr lang="en-US" altLang="ko-KR" sz="1100" b="1">
                <a:latin typeface="+mn-ea"/>
              </a:rPr>
              <a:t>1</a:t>
            </a:r>
            <a:r>
              <a:rPr lang="ko-KR" altLang="en-US" sz="1100" b="1">
                <a:latin typeface="+mn-ea"/>
              </a:rPr>
              <a:t>조 </a:t>
            </a:r>
            <a:r>
              <a:rPr lang="en-US" altLang="ko-KR" sz="1100" b="1">
                <a:latin typeface="+mn-ea"/>
              </a:rPr>
              <a:t>AI </a:t>
            </a:r>
            <a:r>
              <a:rPr lang="ko-KR" altLang="en-US" sz="1100" b="1">
                <a:latin typeface="+mn-ea"/>
              </a:rPr>
              <a:t>윤리기준의 수립</a:t>
            </a:r>
            <a:endParaRPr lang="en-US" altLang="ko-KR" sz="1100" b="1">
              <a:latin typeface="+mn-ea"/>
            </a:endParaRPr>
          </a:p>
        </p:txBody>
      </p:sp>
      <p:sp>
        <p:nvSpPr>
          <p:cNvPr id="38" name="Rectangle: Rounded Corners 46">
            <a:extLst>
              <a:ext uri="{FF2B5EF4-FFF2-40B4-BE49-F238E27FC236}">
                <a16:creationId xmlns:a16="http://schemas.microsoft.com/office/drawing/2014/main" id="{44112DDE-FFB3-1F80-D557-884265739186}"/>
              </a:ext>
            </a:extLst>
          </p:cNvPr>
          <p:cNvSpPr/>
          <p:nvPr/>
        </p:nvSpPr>
        <p:spPr>
          <a:xfrm>
            <a:off x="5935702" y="5729711"/>
            <a:ext cx="2250795" cy="390373"/>
          </a:xfrm>
          <a:prstGeom prst="roundRect">
            <a:avLst>
              <a:gd name="adj" fmla="val 11418"/>
            </a:avLst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spcFirstLastPara="1" wrap="square" lIns="45720" tIns="0" rIns="0" bIns="0" anchor="ctr" anchorCtr="0">
            <a:noAutofit/>
          </a:bodyPr>
          <a:lstStyle/>
          <a:p>
            <a:pPr defTabSz="914446">
              <a:buClr>
                <a:srgbClr val="FFFFFF"/>
              </a:buClr>
              <a:buSzPts val="1100"/>
            </a:pPr>
            <a:r>
              <a:rPr lang="ko-KR" altLang="en-US" sz="1100" b="1">
                <a:latin typeface="+mn-ea"/>
              </a:rPr>
              <a:t>제</a:t>
            </a:r>
            <a:r>
              <a:rPr lang="en-US" altLang="ko-KR" sz="1100" b="1">
                <a:latin typeface="+mn-ea"/>
              </a:rPr>
              <a:t>2</a:t>
            </a:r>
            <a:r>
              <a:rPr lang="ko-KR" altLang="en-US" sz="1100" b="1">
                <a:latin typeface="+mn-ea"/>
              </a:rPr>
              <a:t>조 실천서약 및 교육</a:t>
            </a:r>
            <a:endParaRPr lang="en-US" altLang="ko-KR" sz="1100" b="1">
              <a:latin typeface="+mn-ea"/>
            </a:endParaRPr>
          </a:p>
        </p:txBody>
      </p:sp>
      <p:cxnSp>
        <p:nvCxnSpPr>
          <p:cNvPr id="39" name="연결선: 꺾임 64">
            <a:extLst>
              <a:ext uri="{FF2B5EF4-FFF2-40B4-BE49-F238E27FC236}">
                <a16:creationId xmlns:a16="http://schemas.microsoft.com/office/drawing/2014/main" id="{5B709F94-4F0A-BFF3-93F6-A79B3276BF5B}"/>
              </a:ext>
            </a:extLst>
          </p:cNvPr>
          <p:cNvCxnSpPr>
            <a:cxnSpLocks/>
            <a:stCxn id="36" idx="2"/>
            <a:endCxn id="37" idx="1"/>
          </p:cNvCxnSpPr>
          <p:nvPr/>
        </p:nvCxnSpPr>
        <p:spPr>
          <a:xfrm rot="16200000" flipH="1">
            <a:off x="5650383" y="5125620"/>
            <a:ext cx="351533" cy="219105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연결선: 꺾임 65">
            <a:extLst>
              <a:ext uri="{FF2B5EF4-FFF2-40B4-BE49-F238E27FC236}">
                <a16:creationId xmlns:a16="http://schemas.microsoft.com/office/drawing/2014/main" id="{0C6137B2-05F6-E8ED-75B7-D3698AB59AD1}"/>
              </a:ext>
            </a:extLst>
          </p:cNvPr>
          <p:cNvCxnSpPr>
            <a:cxnSpLocks/>
            <a:stCxn id="36" idx="2"/>
            <a:endCxn id="38" idx="1"/>
          </p:cNvCxnSpPr>
          <p:nvPr/>
        </p:nvCxnSpPr>
        <p:spPr>
          <a:xfrm rot="16200000" flipH="1">
            <a:off x="5393404" y="5382598"/>
            <a:ext cx="865492" cy="219105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: Rounded Corners 46">
            <a:extLst>
              <a:ext uri="{FF2B5EF4-FFF2-40B4-BE49-F238E27FC236}">
                <a16:creationId xmlns:a16="http://schemas.microsoft.com/office/drawing/2014/main" id="{18AF056D-4B4F-0A4E-00CF-1EE0D6CA76B1}"/>
              </a:ext>
            </a:extLst>
          </p:cNvPr>
          <p:cNvSpPr/>
          <p:nvPr/>
        </p:nvSpPr>
        <p:spPr>
          <a:xfrm>
            <a:off x="5598487" y="4608267"/>
            <a:ext cx="2588011" cy="483899"/>
          </a:xfrm>
          <a:prstGeom prst="roundRect">
            <a:avLst>
              <a:gd name="adj" fmla="val 11418"/>
            </a:avLst>
          </a:prstGeom>
          <a:solidFill>
            <a:srgbClr val="043B72"/>
          </a:solidFill>
          <a:ln w="3175" cap="flat" cmpd="sng" algn="ctr">
            <a:noFill/>
            <a:prstDash val="solid"/>
          </a:ln>
          <a:effectLst/>
        </p:spPr>
        <p:txBody>
          <a:bodyPr wrap="square" lIns="0" tIns="0" rIns="0" bIns="0" rtlCol="0" anchor="ctr" anchorCtr="0"/>
          <a:lstStyle/>
          <a:p>
            <a:pPr algn="ctr" defTabSz="1042873"/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제</a:t>
            </a:r>
            <a:r>
              <a: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3</a:t>
            </a:r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장</a:t>
            </a:r>
            <a:endParaRPr lang="en-US" altLang="ko-KR" sz="1200" b="1" kern="0">
              <a:ln>
                <a:solidFill>
                  <a:srgbClr val="A5C249">
                    <a:alpha val="0"/>
                  </a:srgbClr>
                </a:solidFill>
              </a:ln>
              <a:solidFill>
                <a:prstClr val="white"/>
              </a:solidFill>
              <a:latin typeface="+mn-ea"/>
            </a:endParaRPr>
          </a:p>
          <a:p>
            <a:pPr algn="ctr" defTabSz="1042873"/>
            <a:r>
              <a: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AI </a:t>
            </a:r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윤리기준</a:t>
            </a:r>
            <a:endParaRPr lang="en-US" altLang="ko-KR" sz="1200" b="1" kern="0">
              <a:ln>
                <a:solidFill>
                  <a:srgbClr val="A5C249">
                    <a:alpha val="0"/>
                  </a:srgbClr>
                </a:solidFill>
              </a:ln>
              <a:solidFill>
                <a:prstClr val="white"/>
              </a:solidFill>
              <a:latin typeface="+mn-ea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74EDB0B-F817-37A7-CCAD-A8FC261DD62C}"/>
              </a:ext>
            </a:extLst>
          </p:cNvPr>
          <p:cNvSpPr txBox="1"/>
          <p:nvPr/>
        </p:nvSpPr>
        <p:spPr>
          <a:xfrm>
            <a:off x="6368818" y="3899353"/>
            <a:ext cx="1885920" cy="2053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600"/>
              <a:t>* AI </a:t>
            </a:r>
            <a:r>
              <a:rPr lang="ko-KR" altLang="en-US" sz="600"/>
              <a:t>윤리위원회운영지침 별도 정의</a:t>
            </a:r>
          </a:p>
        </p:txBody>
      </p:sp>
      <p:sp>
        <p:nvSpPr>
          <p:cNvPr id="43" name="Rectangle: Rounded Corners 46">
            <a:extLst>
              <a:ext uri="{FF2B5EF4-FFF2-40B4-BE49-F238E27FC236}">
                <a16:creationId xmlns:a16="http://schemas.microsoft.com/office/drawing/2014/main" id="{331B4DB8-CBE4-2B26-078B-9C02E32C43EA}"/>
              </a:ext>
            </a:extLst>
          </p:cNvPr>
          <p:cNvSpPr/>
          <p:nvPr/>
        </p:nvSpPr>
        <p:spPr>
          <a:xfrm>
            <a:off x="522288" y="1840770"/>
            <a:ext cx="1204912" cy="930621"/>
          </a:xfrm>
          <a:prstGeom prst="roundRect">
            <a:avLst>
              <a:gd name="adj" fmla="val 11418"/>
            </a:avLst>
          </a:prstGeom>
          <a:solidFill>
            <a:srgbClr val="F4B183"/>
          </a:solidFill>
          <a:ln>
            <a:solidFill>
              <a:schemeClr val="bg1"/>
            </a:solidFill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cs typeface="Pretendard" panose="02000503000000020004" pitchFamily="50" charset="-127"/>
              </a:rPr>
              <a:t>목적</a:t>
            </a:r>
            <a:endParaRPr kumimoji="0" lang="en-US" altLang="ko-KR" sz="14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44" name="Rectangle: Rounded Corners 46">
            <a:extLst>
              <a:ext uri="{FF2B5EF4-FFF2-40B4-BE49-F238E27FC236}">
                <a16:creationId xmlns:a16="http://schemas.microsoft.com/office/drawing/2014/main" id="{35B0F6C6-DE66-220A-50AA-9249BACE0DB2}"/>
              </a:ext>
            </a:extLst>
          </p:cNvPr>
          <p:cNvSpPr/>
          <p:nvPr/>
        </p:nvSpPr>
        <p:spPr>
          <a:xfrm>
            <a:off x="522289" y="2906401"/>
            <a:ext cx="1204912" cy="2833165"/>
          </a:xfrm>
          <a:prstGeom prst="roundRect">
            <a:avLst>
              <a:gd name="adj" fmla="val 6675"/>
            </a:avLst>
          </a:prstGeom>
          <a:solidFill>
            <a:srgbClr val="F4B183"/>
          </a:solidFill>
          <a:ln>
            <a:solidFill>
              <a:schemeClr val="bg1"/>
            </a:solidFill>
          </a:ln>
        </p:spPr>
        <p:txBody>
          <a:bodyPr spcFirstLastPara="1" wrap="square" lIns="0" tIns="0" rIns="504000" bIns="0" anchor="ctr" anchorCtr="0">
            <a:noAutofit/>
          </a:bodyPr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cs typeface="Pretendard" panose="02000503000000020004" pitchFamily="50" charset="-127"/>
              </a:rPr>
              <a:t>주요 </a:t>
            </a:r>
            <a:endParaRPr kumimoji="0" lang="en-US" altLang="ko-KR" sz="14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+mn-ea"/>
              <a:cs typeface="Pretendard" panose="02000503000000020004" pitchFamily="50" charset="-127"/>
            </a:endParaRPr>
          </a:p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cs typeface="Pretendard" panose="02000503000000020004" pitchFamily="50" charset="-127"/>
              </a:rPr>
              <a:t>내용</a:t>
            </a:r>
            <a:endParaRPr kumimoji="0" lang="en-US" altLang="ko-KR" sz="14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+mn-ea"/>
              <a:cs typeface="Pretendard" panose="02000503000000020004" pitchFamily="50" charset="-127"/>
            </a:endParaRPr>
          </a:p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cs typeface="Pretendard" panose="02000503000000020004" pitchFamily="50" charset="-127"/>
              </a:rPr>
              <a:t>(</a:t>
            </a: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cs typeface="Pretendard" panose="02000503000000020004" pitchFamily="50" charset="-127"/>
              </a:rPr>
              <a:t>문서 목차</a:t>
            </a: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cs typeface="Pretendard" panose="02000503000000020004" pitchFamily="50" charset="-127"/>
              </a:rPr>
              <a:t>*)</a:t>
            </a:r>
          </a:p>
        </p:txBody>
      </p:sp>
      <p:sp>
        <p:nvSpPr>
          <p:cNvPr id="45" name="Rectangle: Rounded Corners 46">
            <a:extLst>
              <a:ext uri="{FF2B5EF4-FFF2-40B4-BE49-F238E27FC236}">
                <a16:creationId xmlns:a16="http://schemas.microsoft.com/office/drawing/2014/main" id="{EFE0A16E-F2D0-6907-7648-6D56C1E53BE0}"/>
              </a:ext>
            </a:extLst>
          </p:cNvPr>
          <p:cNvSpPr/>
          <p:nvPr/>
        </p:nvSpPr>
        <p:spPr>
          <a:xfrm>
            <a:off x="522289" y="5790110"/>
            <a:ext cx="1204912" cy="549568"/>
          </a:xfrm>
          <a:prstGeom prst="roundRect">
            <a:avLst>
              <a:gd name="adj" fmla="val 22435"/>
            </a:avLst>
          </a:prstGeom>
          <a:solidFill>
            <a:srgbClr val="F4B183"/>
          </a:solidFill>
          <a:ln>
            <a:solidFill>
              <a:schemeClr val="bg1"/>
            </a:solidFill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cs typeface="Pretendard" panose="02000503000000020004" pitchFamily="50" charset="-127"/>
              </a:rPr>
              <a:t>사용자</a:t>
            </a:r>
            <a:endParaRPr kumimoji="0" lang="en-US" altLang="ko-KR" sz="14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46" name="Rectangle: Rounded Corners 46">
            <a:extLst>
              <a:ext uri="{FF2B5EF4-FFF2-40B4-BE49-F238E27FC236}">
                <a16:creationId xmlns:a16="http://schemas.microsoft.com/office/drawing/2014/main" id="{12824C9A-6253-E16D-692F-FC263F0BBA54}"/>
              </a:ext>
            </a:extLst>
          </p:cNvPr>
          <p:cNvSpPr/>
          <p:nvPr/>
        </p:nvSpPr>
        <p:spPr>
          <a:xfrm>
            <a:off x="1228725" y="3019331"/>
            <a:ext cx="582110" cy="601229"/>
          </a:xfrm>
          <a:prstGeom prst="roundRect">
            <a:avLst>
              <a:gd name="adj" fmla="val 11418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bg1"/>
            </a:solidFill>
            <a:prstDash val="solid"/>
          </a:ln>
          <a:effectLst/>
        </p:spPr>
        <p:txBody>
          <a:bodyPr wrap="square" lIns="0" tIns="0" rIns="0" bIns="0" rtlCol="0" anchor="ctr" anchorCtr="0"/>
          <a:lstStyle/>
          <a:p>
            <a:pPr algn="ctr" defTabSz="1042873"/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원칙</a:t>
            </a:r>
            <a:r>
              <a: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/</a:t>
            </a:r>
          </a:p>
          <a:p>
            <a:pPr algn="ctr" defTabSz="1042873"/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기준</a:t>
            </a:r>
            <a:endParaRPr lang="en-US" altLang="ko-KR" sz="1200" b="1" kern="0">
              <a:ln>
                <a:solidFill>
                  <a:srgbClr val="A5C249">
                    <a:alpha val="0"/>
                  </a:srgbClr>
                </a:solidFill>
              </a:ln>
              <a:latin typeface="+mn-ea"/>
              <a:cs typeface="Pretendard SemiBold" panose="02000703000000020004" pitchFamily="50" charset="-127"/>
            </a:endParaRP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9A829203-86C3-B426-354D-17298855672D}"/>
              </a:ext>
            </a:extLst>
          </p:cNvPr>
          <p:cNvSpPr/>
          <p:nvPr/>
        </p:nvSpPr>
        <p:spPr>
          <a:xfrm>
            <a:off x="1228725" y="3692886"/>
            <a:ext cx="582110" cy="601229"/>
          </a:xfrm>
          <a:prstGeom prst="roundRect">
            <a:avLst>
              <a:gd name="adj" fmla="val 11418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bg1"/>
            </a:solidFill>
            <a:prstDash val="solid"/>
          </a:ln>
          <a:effectLst/>
        </p:spPr>
        <p:txBody>
          <a:bodyPr wrap="square" lIns="0" tIns="0" rIns="0" bIns="0" rtlCol="0" anchor="ctr" anchorCtr="0"/>
          <a:lstStyle/>
          <a:p>
            <a:pPr algn="ctr" defTabSz="1042873"/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조직</a:t>
            </a:r>
            <a:endParaRPr lang="en-US" altLang="ko-KR" sz="1200" b="1" kern="0">
              <a:ln>
                <a:solidFill>
                  <a:srgbClr val="A5C249">
                    <a:alpha val="0"/>
                  </a:srgbClr>
                </a:solidFill>
              </a:ln>
              <a:latin typeface="+mn-ea"/>
              <a:cs typeface="Pretendard SemiBold" panose="02000703000000020004" pitchFamily="50" charset="-127"/>
            </a:endParaRPr>
          </a:p>
        </p:txBody>
      </p:sp>
      <p:sp>
        <p:nvSpPr>
          <p:cNvPr id="48" name="Rectangle: Rounded Corners 46">
            <a:extLst>
              <a:ext uri="{FF2B5EF4-FFF2-40B4-BE49-F238E27FC236}">
                <a16:creationId xmlns:a16="http://schemas.microsoft.com/office/drawing/2014/main" id="{8611C3E8-D49D-99DA-82B5-573F6E5C6B0C}"/>
              </a:ext>
            </a:extLst>
          </p:cNvPr>
          <p:cNvSpPr/>
          <p:nvPr/>
        </p:nvSpPr>
        <p:spPr>
          <a:xfrm>
            <a:off x="1228725" y="4366440"/>
            <a:ext cx="582110" cy="1310160"/>
          </a:xfrm>
          <a:prstGeom prst="roundRect">
            <a:avLst>
              <a:gd name="adj" fmla="val 11418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bg1"/>
            </a:solidFill>
            <a:prstDash val="solid"/>
          </a:ln>
          <a:effectLst/>
        </p:spPr>
        <p:txBody>
          <a:bodyPr wrap="square" lIns="0" tIns="0" rIns="0" bIns="0" rtlCol="0" anchor="ctr" anchorCtr="0"/>
          <a:lstStyle/>
          <a:p>
            <a:pPr algn="ctr" defTabSz="1042873"/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개발</a:t>
            </a:r>
            <a:r>
              <a: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·</a:t>
            </a:r>
            <a:br>
              <a: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</a:br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운영 관리 체계</a:t>
            </a:r>
            <a:endParaRPr lang="en-US" altLang="ko-KR" sz="1200" b="1" kern="0">
              <a:ln>
                <a:solidFill>
                  <a:srgbClr val="A5C249">
                    <a:alpha val="0"/>
                  </a:srgbClr>
                </a:solidFill>
              </a:ln>
              <a:latin typeface="+mn-ea"/>
              <a:cs typeface="Pretendard SemiBold" panose="02000703000000020004" pitchFamily="50" charset="-127"/>
            </a:endParaRPr>
          </a:p>
        </p:txBody>
      </p:sp>
      <p:sp>
        <p:nvSpPr>
          <p:cNvPr id="49" name="Rectangle: Rounded Corners 46">
            <a:extLst>
              <a:ext uri="{FF2B5EF4-FFF2-40B4-BE49-F238E27FC236}">
                <a16:creationId xmlns:a16="http://schemas.microsoft.com/office/drawing/2014/main" id="{515C7D7B-48CC-AB5E-5D99-85D4B3F81ADE}"/>
              </a:ext>
            </a:extLst>
          </p:cNvPr>
          <p:cNvSpPr/>
          <p:nvPr/>
        </p:nvSpPr>
        <p:spPr>
          <a:xfrm>
            <a:off x="8906961" y="5933421"/>
            <a:ext cx="2250795" cy="305110"/>
          </a:xfrm>
          <a:prstGeom prst="roundRect">
            <a:avLst>
              <a:gd name="adj" fmla="val 11418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  <a:prstDash val="dash"/>
          </a:ln>
        </p:spPr>
        <p:txBody>
          <a:bodyPr spcFirstLastPara="1" wrap="square" lIns="45720" tIns="0" rIns="0" bIns="0" anchor="ctr" anchorCtr="0">
            <a:noAutofit/>
          </a:bodyPr>
          <a:lstStyle/>
          <a:p>
            <a:pPr defTabSz="914446">
              <a:buClr>
                <a:srgbClr val="FFFFFF"/>
              </a:buClr>
              <a:buSzPts val="1100"/>
            </a:pPr>
            <a:r>
              <a:rPr lang="en-US" altLang="ko-KR" sz="1100" b="1" spc="-50">
                <a:latin typeface="+mn-ea"/>
              </a:rPr>
              <a:t>AI</a:t>
            </a:r>
            <a:r>
              <a:rPr lang="ko-KR" altLang="en-US" sz="1100" b="1" spc="-50">
                <a:latin typeface="+mn-ea"/>
              </a:rPr>
              <a:t> 윤리위원회 구성 및 결의사항 등</a:t>
            </a:r>
            <a:endParaRPr lang="en-US" altLang="ko-KR" sz="1100" b="1" spc="-50">
              <a:latin typeface="+mn-ea"/>
            </a:endParaRPr>
          </a:p>
        </p:txBody>
      </p:sp>
      <p:cxnSp>
        <p:nvCxnSpPr>
          <p:cNvPr id="50" name="연결선: 꺾임 64">
            <a:extLst>
              <a:ext uri="{FF2B5EF4-FFF2-40B4-BE49-F238E27FC236}">
                <a16:creationId xmlns:a16="http://schemas.microsoft.com/office/drawing/2014/main" id="{C4034BA7-A633-65F7-FC76-1BF8CB8F6575}"/>
              </a:ext>
            </a:extLst>
          </p:cNvPr>
          <p:cNvCxnSpPr>
            <a:cxnSpLocks/>
            <a:endCxn id="49" idx="1"/>
          </p:cNvCxnSpPr>
          <p:nvPr/>
        </p:nvCxnSpPr>
        <p:spPr>
          <a:xfrm rot="16200000" flipH="1">
            <a:off x="8666157" y="5845171"/>
            <a:ext cx="262503" cy="219106"/>
          </a:xfrm>
          <a:prstGeom prst="bentConnector2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: Rounded Corners 77">
            <a:extLst>
              <a:ext uri="{FF2B5EF4-FFF2-40B4-BE49-F238E27FC236}">
                <a16:creationId xmlns:a16="http://schemas.microsoft.com/office/drawing/2014/main" id="{F9094EE6-8512-C06D-1B70-4D8A7800E99D}"/>
              </a:ext>
            </a:extLst>
          </p:cNvPr>
          <p:cNvSpPr/>
          <p:nvPr/>
        </p:nvSpPr>
        <p:spPr>
          <a:xfrm>
            <a:off x="8569746" y="5401516"/>
            <a:ext cx="2588011" cy="429823"/>
          </a:xfrm>
          <a:prstGeom prst="roundRect">
            <a:avLst>
              <a:gd name="adj" fmla="val 11418"/>
            </a:avLst>
          </a:prstGeom>
          <a:solidFill>
            <a:schemeClr val="bg1">
              <a:lumMod val="95000"/>
            </a:schemeClr>
          </a:solidFill>
          <a:ln w="3175" cap="flat" cmpd="sng" algn="ctr">
            <a:solidFill>
              <a:schemeClr val="bg1">
                <a:lumMod val="65000"/>
              </a:schemeClr>
            </a:solidFill>
            <a:prstDash val="dashDot"/>
          </a:ln>
          <a:effectLst/>
        </p:spPr>
        <p:txBody>
          <a:bodyPr wrap="square" lIns="0" tIns="0" rIns="0" bIns="0" rtlCol="0" anchor="ctr" anchorCtr="0"/>
          <a:lstStyle/>
          <a:p>
            <a:pPr algn="ctr" defTabSz="1042873">
              <a:defRPr/>
            </a:pPr>
            <a:r>
              <a: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</a:rPr>
              <a:t>AI</a:t>
            </a:r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</a:rPr>
              <a:t>윤리위원회 운영지침</a:t>
            </a:r>
            <a:endParaRPr lang="en-US" altLang="ko-KR" sz="1200" b="1" kern="0">
              <a:ln>
                <a:solidFill>
                  <a:srgbClr val="A5C249">
                    <a:alpha val="0"/>
                  </a:srgbClr>
                </a:solidFill>
              </a:ln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038937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64165A1B-7AD2-E188-21E0-54EFB6856AC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64A5D7D-3AEA-C4F0-5360-04C19A1C5A1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[Back-up] </a:t>
            </a:r>
            <a:r>
              <a:rPr lang="ko-KR" altLang="en-US"/>
              <a:t>타사 </a:t>
            </a:r>
            <a:r>
              <a:rPr lang="en-US" altLang="ko-KR"/>
              <a:t>AI</a:t>
            </a:r>
            <a:r>
              <a:rPr lang="ko-KR" altLang="en-US"/>
              <a:t>거버넌스 주요 내용</a:t>
            </a:r>
            <a:r>
              <a:rPr lang="en-US" altLang="ko-KR"/>
              <a:t>_K</a:t>
            </a:r>
            <a:r>
              <a:rPr lang="ko-KR" altLang="en-US"/>
              <a:t>은행 </a:t>
            </a:r>
            <a:r>
              <a:rPr lang="en-US" altLang="ko-KR"/>
              <a:t>(2/3)</a:t>
            </a:r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AA7002A-38E8-9415-9F2E-3B9CB643053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/>
              <a:t>K</a:t>
            </a:r>
            <a:r>
              <a:rPr lang="ko-KR" altLang="en-US"/>
              <a:t>은행 </a:t>
            </a:r>
            <a:r>
              <a:rPr lang="en-US" altLang="ko-KR"/>
              <a:t>AI </a:t>
            </a:r>
            <a:r>
              <a:rPr lang="ko-KR" altLang="en-US"/>
              <a:t>위험관리 업무매뉴얼의 주요 내용은 다음과 같음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DD9B970E-9487-08DC-296B-F6529D56E29D}"/>
              </a:ext>
            </a:extLst>
          </p:cNvPr>
          <p:cNvGrpSpPr/>
          <p:nvPr/>
        </p:nvGrpSpPr>
        <p:grpSpPr>
          <a:xfrm>
            <a:off x="407987" y="1341439"/>
            <a:ext cx="11376025" cy="5111750"/>
            <a:chOff x="407987" y="1917701"/>
            <a:chExt cx="11376025" cy="4595901"/>
          </a:xfrm>
        </p:grpSpPr>
        <p:sp>
          <p:nvSpPr>
            <p:cNvPr id="6" name="사각형: 둥근 모서리 20">
              <a:extLst>
                <a:ext uri="{FF2B5EF4-FFF2-40B4-BE49-F238E27FC236}">
                  <a16:creationId xmlns:a16="http://schemas.microsoft.com/office/drawing/2014/main" id="{9A957164-3838-1B64-74F9-E10C8561BEBA}"/>
                </a:ext>
              </a:extLst>
            </p:cNvPr>
            <p:cNvSpPr/>
            <p:nvPr/>
          </p:nvSpPr>
          <p:spPr>
            <a:xfrm>
              <a:off x="4600839" y="1917701"/>
              <a:ext cx="2052000" cy="323330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75000"/>
              </a:schemeClr>
            </a:solidFill>
            <a:ln w="12700">
              <a:noFill/>
            </a:ln>
            <a:effectLst/>
          </p:spPr>
          <p:txBody>
            <a:bodyPr lIns="0" tIns="0" rIns="0" bIns="0" rtlCol="0" anchor="ctr" anchorCtr="0"/>
            <a:lstStyle/>
            <a:p>
              <a:pPr algn="ctr" defTabSz="914400"/>
              <a:r>
                <a:rPr lang="ko-KR" altLang="en-US" sz="1400" b="1" spc="-150">
                  <a:solidFill>
                    <a:schemeClr val="bg1">
                      <a:lumMod val="95000"/>
                    </a:schemeClr>
                  </a:solidFill>
                  <a:latin typeface="+mn-ea"/>
                  <a:cs typeface="Noto Sans" panose="020B0502040504020204" pitchFamily="34" charset="0"/>
                </a:rPr>
                <a:t>③ </a:t>
              </a:r>
              <a:r>
                <a:rPr lang="en-US" altLang="ko-KR" sz="1400" b="1" spc="-150">
                  <a:solidFill>
                    <a:schemeClr val="bg1">
                      <a:lumMod val="95000"/>
                    </a:schemeClr>
                  </a:solidFill>
                  <a:latin typeface="+mn-ea"/>
                  <a:cs typeface="Noto Sans" panose="020B0502040504020204" pitchFamily="34" charset="0"/>
                </a:rPr>
                <a:t>AI</a:t>
              </a:r>
              <a:r>
                <a:rPr lang="ko-KR" altLang="en-US" sz="1400" b="1" spc="-150">
                  <a:solidFill>
                    <a:schemeClr val="bg1">
                      <a:lumMod val="95000"/>
                    </a:schemeClr>
                  </a:solidFill>
                  <a:latin typeface="+mn-ea"/>
                  <a:cs typeface="Noto Sans" panose="020B0502040504020204" pitchFamily="34" charset="0"/>
                </a:rPr>
                <a:t> 모델 개발안내서</a:t>
              </a:r>
            </a:p>
          </p:txBody>
        </p:sp>
        <p:sp>
          <p:nvSpPr>
            <p:cNvPr id="7" name="사각형: 둥근 모서리 20">
              <a:extLst>
                <a:ext uri="{FF2B5EF4-FFF2-40B4-BE49-F238E27FC236}">
                  <a16:creationId xmlns:a16="http://schemas.microsoft.com/office/drawing/2014/main" id="{193E4CF7-A076-A000-2412-544CC26DE205}"/>
                </a:ext>
              </a:extLst>
            </p:cNvPr>
            <p:cNvSpPr/>
            <p:nvPr/>
          </p:nvSpPr>
          <p:spPr>
            <a:xfrm>
              <a:off x="407988" y="1917701"/>
              <a:ext cx="2052000" cy="323330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75000"/>
              </a:schemeClr>
            </a:solidFill>
            <a:ln w="12700">
              <a:noFill/>
            </a:ln>
            <a:effectLst/>
          </p:spPr>
          <p:txBody>
            <a:bodyPr lIns="0" tIns="0" rIns="0" bIns="0" rtlCol="0" anchor="ctr" anchorCtr="0"/>
            <a:lstStyle/>
            <a:p>
              <a:pPr algn="ctr" defTabSz="914400"/>
              <a:r>
                <a:rPr lang="ko-KR" altLang="en-US" sz="1400" b="1" spc="-150">
                  <a:solidFill>
                    <a:schemeClr val="bg1">
                      <a:lumMod val="95000"/>
                    </a:schemeClr>
                  </a:solidFill>
                  <a:latin typeface="+mn-ea"/>
                  <a:cs typeface="Noto Sans" panose="020B0502040504020204" pitchFamily="34" charset="0"/>
                </a:rPr>
                <a:t>① </a:t>
              </a:r>
              <a:r>
                <a:rPr lang="en-US" altLang="ko-KR" sz="1400" b="1" spc="-150">
                  <a:solidFill>
                    <a:schemeClr val="bg1">
                      <a:lumMod val="95000"/>
                    </a:schemeClr>
                  </a:solidFill>
                  <a:latin typeface="+mn-ea"/>
                  <a:cs typeface="Noto Sans" panose="020B0502040504020204" pitchFamily="34" charset="0"/>
                </a:rPr>
                <a:t>AI  </a:t>
              </a:r>
              <a:r>
                <a:rPr lang="ko-KR" altLang="en-US" sz="1400" b="1" spc="-150">
                  <a:solidFill>
                    <a:schemeClr val="bg1">
                      <a:lumMod val="95000"/>
                    </a:schemeClr>
                  </a:solidFill>
                  <a:latin typeface="+mn-ea"/>
                  <a:cs typeface="Noto Sans" panose="020B0502040504020204" pitchFamily="34" charset="0"/>
                </a:rPr>
                <a:t>위험관리지침</a:t>
              </a:r>
            </a:p>
          </p:txBody>
        </p:sp>
        <p:sp>
          <p:nvSpPr>
            <p:cNvPr id="8" name="사각형: 둥근 모서리 20">
              <a:extLst>
                <a:ext uri="{FF2B5EF4-FFF2-40B4-BE49-F238E27FC236}">
                  <a16:creationId xmlns:a16="http://schemas.microsoft.com/office/drawing/2014/main" id="{6B122F8D-E43C-1A00-3EDB-3C5CABA39A50}"/>
                </a:ext>
              </a:extLst>
            </p:cNvPr>
            <p:cNvSpPr/>
            <p:nvPr/>
          </p:nvSpPr>
          <p:spPr>
            <a:xfrm>
              <a:off x="407987" y="2241031"/>
              <a:ext cx="11376025" cy="4272571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accent2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" altLang="ko-KR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endParaRPr>
            </a:p>
          </p:txBody>
        </p:sp>
        <p:sp>
          <p:nvSpPr>
            <p:cNvPr id="9" name="Rectangle: Rounded Corners 46">
              <a:extLst>
                <a:ext uri="{FF2B5EF4-FFF2-40B4-BE49-F238E27FC236}">
                  <a16:creationId xmlns:a16="http://schemas.microsoft.com/office/drawing/2014/main" id="{2881E366-19FF-06EC-49D8-82F80F213218}"/>
                </a:ext>
              </a:extLst>
            </p:cNvPr>
            <p:cNvSpPr/>
            <p:nvPr/>
          </p:nvSpPr>
          <p:spPr>
            <a:xfrm>
              <a:off x="5277149" y="2366642"/>
              <a:ext cx="6259531" cy="4044904"/>
            </a:xfrm>
            <a:prstGeom prst="snip1Rect">
              <a:avLst/>
            </a:prstGeom>
            <a:pattFill prst="dkUpDiag">
              <a:fgClr>
                <a:schemeClr val="accent1">
                  <a:lumMod val="20000"/>
                  <a:lumOff val="80000"/>
                </a:schemeClr>
              </a:fgClr>
              <a:bgClr>
                <a:prstClr val="white"/>
              </a:bgClr>
            </a:pattFill>
            <a:ln w="3175" cap="flat" cmpd="sng" algn="ctr">
              <a:noFill/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lIns="0" tIns="0" rIns="0" bIns="0" rtlCol="0" anchor="ctr" anchorCtr="0"/>
            <a:lstStyle/>
            <a:p>
              <a:pPr marL="0" marR="0" lvl="0" indent="0" algn="ctr" defTabSz="10428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Pretendard SemiBold" panose="02000703000000020004" pitchFamily="50" charset="-127"/>
              </a:endParaRPr>
            </a:p>
          </p:txBody>
        </p:sp>
        <p:grpSp>
          <p:nvGrpSpPr>
            <p:cNvPr id="10" name="Group 52">
              <a:extLst>
                <a:ext uri="{FF2B5EF4-FFF2-40B4-BE49-F238E27FC236}">
                  <a16:creationId xmlns:a16="http://schemas.microsoft.com/office/drawing/2014/main" id="{EE47751E-E2F3-83AF-D4A7-A1D7687E1CB1}"/>
                </a:ext>
              </a:extLst>
            </p:cNvPr>
            <p:cNvGrpSpPr/>
            <p:nvPr/>
          </p:nvGrpSpPr>
          <p:grpSpPr>
            <a:xfrm>
              <a:off x="5598487" y="2830678"/>
              <a:ext cx="2588011" cy="1603669"/>
              <a:chOff x="8569746" y="2830678"/>
              <a:chExt cx="2588011" cy="1603669"/>
            </a:xfrm>
          </p:grpSpPr>
          <p:sp>
            <p:nvSpPr>
              <p:cNvPr id="40" name="Rectangle: Rounded Corners 46">
                <a:extLst>
                  <a:ext uri="{FF2B5EF4-FFF2-40B4-BE49-F238E27FC236}">
                    <a16:creationId xmlns:a16="http://schemas.microsoft.com/office/drawing/2014/main" id="{30AAD764-F5A3-079A-5551-02BC588E6157}"/>
                  </a:ext>
                </a:extLst>
              </p:cNvPr>
              <p:cNvSpPr/>
              <p:nvPr/>
            </p:nvSpPr>
            <p:spPr>
              <a:xfrm>
                <a:off x="8906961" y="3725741"/>
                <a:ext cx="2250795" cy="319072"/>
              </a:xfrm>
              <a:prstGeom prst="roundRect">
                <a:avLst>
                  <a:gd name="adj" fmla="val 11418"/>
                </a:avLst>
              </a:prstGeom>
              <a:solidFill>
                <a:schemeClr val="bg1"/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txBody>
              <a:bodyPr spcFirstLastPara="1" wrap="square" lIns="108000" tIns="0" rIns="0" bIns="0" anchor="ctr" anchorCtr="0">
                <a:noAutofit/>
              </a:bodyPr>
              <a:lstStyle/>
              <a:p>
                <a:pPr defTabSz="914446">
                  <a:buClr>
                    <a:srgbClr val="FFFFFF"/>
                  </a:buClr>
                  <a:buSzPts val="1100"/>
                </a:pPr>
                <a:r>
                  <a:rPr lang="ko-KR" altLang="en-US" sz="1100" b="1">
                    <a:latin typeface="+mn-ea"/>
                    <a:cs typeface="Pretendard" panose="02000503000000020004" pitchFamily="50" charset="-127"/>
                  </a:rPr>
                  <a:t>제</a:t>
                </a:r>
                <a:r>
                  <a:rPr lang="en-US" altLang="ko-KR" sz="1100" b="1">
                    <a:latin typeface="+mn-ea"/>
                    <a:cs typeface="Pretendard" panose="02000503000000020004" pitchFamily="50" charset="-127"/>
                  </a:rPr>
                  <a:t>2</a:t>
                </a:r>
                <a:r>
                  <a:rPr lang="ko-KR" altLang="en-US" sz="1100" b="1">
                    <a:latin typeface="+mn-ea"/>
                    <a:cs typeface="Pretendard" panose="02000503000000020004" pitchFamily="50" charset="-127"/>
                  </a:rPr>
                  <a:t>절 업무 수행 주체</a:t>
                </a:r>
                <a:endParaRPr lang="en-US" altLang="ko-KR" sz="1100" b="1">
                  <a:latin typeface="+mn-ea"/>
                  <a:cs typeface="Pretendard" panose="02000503000000020004" pitchFamily="50" charset="-127"/>
                </a:endParaRPr>
              </a:p>
            </p:txBody>
          </p:sp>
          <p:sp>
            <p:nvSpPr>
              <p:cNvPr id="41" name="Rectangle: Rounded Corners 46">
                <a:extLst>
                  <a:ext uri="{FF2B5EF4-FFF2-40B4-BE49-F238E27FC236}">
                    <a16:creationId xmlns:a16="http://schemas.microsoft.com/office/drawing/2014/main" id="{94BA420A-EE1F-FAE5-E232-C279953E6AB1}"/>
                  </a:ext>
                </a:extLst>
              </p:cNvPr>
              <p:cNvSpPr/>
              <p:nvPr/>
            </p:nvSpPr>
            <p:spPr>
              <a:xfrm>
                <a:off x="8906961" y="4115275"/>
                <a:ext cx="2250795" cy="319072"/>
              </a:xfrm>
              <a:prstGeom prst="roundRect">
                <a:avLst>
                  <a:gd name="adj" fmla="val 11418"/>
                </a:avLst>
              </a:prstGeom>
              <a:solidFill>
                <a:schemeClr val="bg1"/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txBody>
              <a:bodyPr spcFirstLastPara="1" wrap="square" lIns="108000" tIns="0" rIns="0" bIns="0" anchor="ctr" anchorCtr="0">
                <a:noAutofit/>
              </a:bodyPr>
              <a:lstStyle/>
              <a:p>
                <a:pPr defTabSz="914446">
                  <a:buClr>
                    <a:srgbClr val="FFFFFF"/>
                  </a:buClr>
                  <a:buSzPts val="1100"/>
                </a:pPr>
                <a:r>
                  <a:rPr lang="ko-KR" altLang="en-US" sz="1100" b="1">
                    <a:latin typeface="+mn-ea"/>
                    <a:cs typeface="Pretendard" panose="02000503000000020004" pitchFamily="50" charset="-127"/>
                  </a:rPr>
                  <a:t>제</a:t>
                </a:r>
                <a:r>
                  <a:rPr lang="en-US" altLang="ko-KR" sz="1100" b="1">
                    <a:latin typeface="+mn-ea"/>
                    <a:cs typeface="Pretendard" panose="02000503000000020004" pitchFamily="50" charset="-127"/>
                  </a:rPr>
                  <a:t>3</a:t>
                </a:r>
                <a:r>
                  <a:rPr lang="ko-KR" altLang="en-US" sz="1100" b="1">
                    <a:latin typeface="+mn-ea"/>
                    <a:cs typeface="Pretendard" panose="02000503000000020004" pitchFamily="50" charset="-127"/>
                  </a:rPr>
                  <a:t>절 임직원 교육</a:t>
                </a:r>
                <a:endParaRPr lang="en-US" altLang="ko-KR" sz="1100" b="1">
                  <a:latin typeface="+mn-ea"/>
                  <a:cs typeface="Pretendard" panose="02000503000000020004" pitchFamily="50" charset="-127"/>
                </a:endParaRPr>
              </a:p>
            </p:txBody>
          </p:sp>
          <p:sp>
            <p:nvSpPr>
              <p:cNvPr id="42" name="Rectangle: Rounded Corners 46">
                <a:extLst>
                  <a:ext uri="{FF2B5EF4-FFF2-40B4-BE49-F238E27FC236}">
                    <a16:creationId xmlns:a16="http://schemas.microsoft.com/office/drawing/2014/main" id="{00F1F8E1-B13D-C325-F16E-69082145312A}"/>
                  </a:ext>
                </a:extLst>
              </p:cNvPr>
              <p:cNvSpPr/>
              <p:nvPr/>
            </p:nvSpPr>
            <p:spPr>
              <a:xfrm>
                <a:off x="8906961" y="3336207"/>
                <a:ext cx="2250795" cy="319072"/>
              </a:xfrm>
              <a:prstGeom prst="roundRect">
                <a:avLst>
                  <a:gd name="adj" fmla="val 11418"/>
                </a:avLst>
              </a:prstGeom>
              <a:solidFill>
                <a:schemeClr val="bg1"/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txBody>
              <a:bodyPr spcFirstLastPara="1" wrap="square" lIns="108000" tIns="0" rIns="0" bIns="0" anchor="ctr" anchorCtr="0">
                <a:noAutofit/>
              </a:bodyPr>
              <a:lstStyle/>
              <a:p>
                <a:pPr defTabSz="914446">
                  <a:buClr>
                    <a:srgbClr val="FFFFFF"/>
                  </a:buClr>
                  <a:buSzPts val="1100"/>
                </a:pPr>
                <a:r>
                  <a:rPr lang="ko-KR" altLang="en-US" sz="1100" b="1">
                    <a:latin typeface="+mn-ea"/>
                    <a:cs typeface="Pretendard" panose="02000503000000020004" pitchFamily="50" charset="-127"/>
                  </a:rPr>
                  <a:t>제</a:t>
                </a:r>
                <a:r>
                  <a:rPr lang="en-US" altLang="ko-KR" sz="1100" b="1">
                    <a:latin typeface="+mn-ea"/>
                    <a:cs typeface="Pretendard" panose="02000503000000020004" pitchFamily="50" charset="-127"/>
                  </a:rPr>
                  <a:t>1</a:t>
                </a:r>
                <a:r>
                  <a:rPr lang="ko-KR" altLang="en-US" sz="1100" b="1">
                    <a:latin typeface="+mn-ea"/>
                    <a:cs typeface="Pretendard" panose="02000503000000020004" pitchFamily="50" charset="-127"/>
                  </a:rPr>
                  <a:t>절 </a:t>
                </a:r>
                <a:r>
                  <a:rPr lang="en-US" altLang="ko-KR" sz="1100" b="1">
                    <a:latin typeface="+mn-ea"/>
                    <a:cs typeface="Pretendard" panose="02000503000000020004" pitchFamily="50" charset="-127"/>
                  </a:rPr>
                  <a:t>AI </a:t>
                </a:r>
                <a:r>
                  <a:rPr lang="ko-KR" altLang="en-US" sz="1100" b="1">
                    <a:latin typeface="+mn-ea"/>
                    <a:cs typeface="Pretendard" panose="02000503000000020004" pitchFamily="50" charset="-127"/>
                  </a:rPr>
                  <a:t>위험관리 업무 개요</a:t>
                </a:r>
                <a:endParaRPr lang="en-US" altLang="ko-KR" sz="1100" b="1">
                  <a:latin typeface="+mn-ea"/>
                  <a:cs typeface="Pretendard" panose="02000503000000020004" pitchFamily="50" charset="-127"/>
                </a:endParaRPr>
              </a:p>
            </p:txBody>
          </p:sp>
          <p:cxnSp>
            <p:nvCxnSpPr>
              <p:cNvPr id="43" name="연결선: 꺾임 42">
                <a:extLst>
                  <a:ext uri="{FF2B5EF4-FFF2-40B4-BE49-F238E27FC236}">
                    <a16:creationId xmlns:a16="http://schemas.microsoft.com/office/drawing/2014/main" id="{DD5EB72A-1534-5E1B-7E93-3FC9889EB2F5}"/>
                  </a:ext>
                </a:extLst>
              </p:cNvPr>
              <p:cNvCxnSpPr>
                <a:cxnSpLocks/>
                <a:stCxn id="45" idx="2"/>
                <a:endCxn id="40" idx="1"/>
              </p:cNvCxnSpPr>
              <p:nvPr/>
            </p:nvCxnSpPr>
            <p:spPr>
              <a:xfrm rot="16200000" flipH="1">
                <a:off x="8424183" y="3402499"/>
                <a:ext cx="746450" cy="219105"/>
              </a:xfrm>
              <a:prstGeom prst="bentConnector2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연결선: 꺾임 43">
                <a:extLst>
                  <a:ext uri="{FF2B5EF4-FFF2-40B4-BE49-F238E27FC236}">
                    <a16:creationId xmlns:a16="http://schemas.microsoft.com/office/drawing/2014/main" id="{4EEE15E2-840A-AB98-577F-69845706A2C1}"/>
                  </a:ext>
                </a:extLst>
              </p:cNvPr>
              <p:cNvCxnSpPr>
                <a:cxnSpLocks/>
                <a:endCxn id="41" idx="1"/>
              </p:cNvCxnSpPr>
              <p:nvPr/>
            </p:nvCxnSpPr>
            <p:spPr>
              <a:xfrm rot="16200000" flipH="1">
                <a:off x="8247048" y="3614898"/>
                <a:ext cx="1100718" cy="219108"/>
              </a:xfrm>
              <a:prstGeom prst="bentConnector2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" name="직사각형 44">
                <a:extLst>
                  <a:ext uri="{FF2B5EF4-FFF2-40B4-BE49-F238E27FC236}">
                    <a16:creationId xmlns:a16="http://schemas.microsoft.com/office/drawing/2014/main" id="{700E7482-CDF3-FBDC-7EDE-3ACCCDBB0E1C}"/>
                  </a:ext>
                </a:extLst>
              </p:cNvPr>
              <p:cNvSpPr/>
              <p:nvPr/>
            </p:nvSpPr>
            <p:spPr>
              <a:xfrm>
                <a:off x="8569746" y="2871493"/>
                <a:ext cx="236220" cy="26733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latinLnBrk="0"/>
                <a:endParaRPr lang="ko-KR" altLang="en-US">
                  <a:latin typeface="+mn-ea"/>
                </a:endParaRPr>
              </a:p>
            </p:txBody>
          </p:sp>
          <p:cxnSp>
            <p:nvCxnSpPr>
              <p:cNvPr id="46" name="연결선: 꺾임 45">
                <a:extLst>
                  <a:ext uri="{FF2B5EF4-FFF2-40B4-BE49-F238E27FC236}">
                    <a16:creationId xmlns:a16="http://schemas.microsoft.com/office/drawing/2014/main" id="{2946685A-0534-06E7-F394-BABCB3879400}"/>
                  </a:ext>
                </a:extLst>
              </p:cNvPr>
              <p:cNvCxnSpPr>
                <a:cxnSpLocks/>
                <a:stCxn id="45" idx="2"/>
                <a:endCxn id="42" idx="1"/>
              </p:cNvCxnSpPr>
              <p:nvPr/>
            </p:nvCxnSpPr>
            <p:spPr>
              <a:xfrm rot="16200000" flipH="1">
                <a:off x="8618950" y="3207732"/>
                <a:ext cx="356916" cy="219105"/>
              </a:xfrm>
              <a:prstGeom prst="bentConnector2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Rectangle: Rounded Corners 46">
                <a:extLst>
                  <a:ext uri="{FF2B5EF4-FFF2-40B4-BE49-F238E27FC236}">
                    <a16:creationId xmlns:a16="http://schemas.microsoft.com/office/drawing/2014/main" id="{B9D8BBD3-567A-8AC1-14AD-86D6C2E6FA57}"/>
                  </a:ext>
                </a:extLst>
              </p:cNvPr>
              <p:cNvSpPr/>
              <p:nvPr/>
            </p:nvSpPr>
            <p:spPr>
              <a:xfrm>
                <a:off x="8569746" y="2830678"/>
                <a:ext cx="2588011" cy="435067"/>
              </a:xfrm>
              <a:prstGeom prst="roundRect">
                <a:avLst>
                  <a:gd name="adj" fmla="val 11418"/>
                </a:avLst>
              </a:prstGeom>
              <a:solidFill>
                <a:srgbClr val="043B72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wrap="square" lIns="0" tIns="0" rIns="0" bIns="0" rtlCol="0" anchor="ctr" anchorCtr="0"/>
              <a:lstStyle/>
              <a:p>
                <a:pPr algn="ctr" defTabSz="1042873" latinLnBrk="0">
                  <a:defRPr/>
                </a:pPr>
                <a:r>
                  <a:rPr lang="ko-KR" altLang="en-US" sz="1200" b="1" kern="0">
                    <a:ln>
                      <a:solidFill>
                        <a:srgbClr val="A5C249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+mn-ea"/>
                  </a:rPr>
                  <a:t>제</a:t>
                </a:r>
                <a:r>
                  <a:rPr lang="en-US" altLang="ko-KR" sz="1200" b="1" kern="0">
                    <a:ln>
                      <a:solidFill>
                        <a:srgbClr val="A5C249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+mn-ea"/>
                  </a:rPr>
                  <a:t>1</a:t>
                </a:r>
                <a:r>
                  <a:rPr lang="ko-KR" altLang="en-US" sz="1200" b="1" kern="0">
                    <a:ln>
                      <a:solidFill>
                        <a:srgbClr val="A5C249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+mn-ea"/>
                  </a:rPr>
                  <a:t>장</a:t>
                </a:r>
                <a:endParaRPr lang="en-US" altLang="ko-KR" sz="1200" b="1" kern="0">
                  <a:ln>
                    <a:solidFill>
                      <a:srgbClr val="A5C249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+mn-ea"/>
                </a:endParaRPr>
              </a:p>
              <a:p>
                <a:pPr algn="ctr" defTabSz="1042873" latinLnBrk="0">
                  <a:defRPr/>
                </a:pPr>
                <a:r>
                  <a:rPr lang="en-US" altLang="ko-KR" sz="1200" b="1" kern="0">
                    <a:ln>
                      <a:solidFill>
                        <a:srgbClr val="A5C249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+mn-ea"/>
                  </a:rPr>
                  <a:t>AI </a:t>
                </a:r>
                <a:r>
                  <a:rPr lang="ko-KR" altLang="en-US" sz="1200" b="1" kern="0">
                    <a:ln>
                      <a:solidFill>
                        <a:srgbClr val="A5C249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+mn-ea"/>
                  </a:rPr>
                  <a:t>위험관리 개요</a:t>
                </a:r>
                <a:endParaRPr lang="en-US" altLang="ko-KR" sz="1200" b="1" kern="0">
                  <a:ln>
                    <a:solidFill>
                      <a:srgbClr val="A5C249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+mn-ea"/>
                </a:endParaRPr>
              </a:p>
            </p:txBody>
          </p:sp>
        </p:grpSp>
        <p:sp>
          <p:nvSpPr>
            <p:cNvPr id="11" name="사각형: 둥근 모서리 20">
              <a:extLst>
                <a:ext uri="{FF2B5EF4-FFF2-40B4-BE49-F238E27FC236}">
                  <a16:creationId xmlns:a16="http://schemas.microsoft.com/office/drawing/2014/main" id="{1B33F02C-D294-55E6-99D2-A9DE4294B94C}"/>
                </a:ext>
              </a:extLst>
            </p:cNvPr>
            <p:cNvSpPr/>
            <p:nvPr/>
          </p:nvSpPr>
          <p:spPr>
            <a:xfrm>
              <a:off x="2504414" y="1917701"/>
              <a:ext cx="2052000" cy="323330"/>
            </a:xfrm>
            <a:prstGeom prst="roundRect">
              <a:avLst>
                <a:gd name="adj" fmla="val 0"/>
              </a:avLst>
            </a:prstGeom>
            <a:solidFill>
              <a:schemeClr val="accent2"/>
            </a:solidFill>
            <a:ln>
              <a:solidFill>
                <a:schemeClr val="accent2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1400" b="1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lt1"/>
                  </a:solidFill>
                  <a:latin typeface="+mn-ea"/>
                </a:rPr>
                <a:t>② </a:t>
              </a:r>
              <a:r>
                <a:rPr lang="en-US" altLang="ko-KR" sz="1400" b="1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lt1"/>
                  </a:solidFill>
                  <a:latin typeface="+mn-ea"/>
                </a:rPr>
                <a:t>AI </a:t>
              </a:r>
              <a:r>
                <a:rPr lang="ko-KR" altLang="en-US" sz="1400" b="1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lt1"/>
                  </a:solidFill>
                  <a:latin typeface="+mn-ea"/>
                </a:rPr>
                <a:t>위험관리 업무매뉴얼</a:t>
              </a:r>
            </a:p>
          </p:txBody>
        </p:sp>
        <p:sp>
          <p:nvSpPr>
            <p:cNvPr id="12" name="Rectangle: Rounded Corners 46">
              <a:extLst>
                <a:ext uri="{FF2B5EF4-FFF2-40B4-BE49-F238E27FC236}">
                  <a16:creationId xmlns:a16="http://schemas.microsoft.com/office/drawing/2014/main" id="{7B4F5067-F07F-9AA8-37DB-6832D3F4294F}"/>
                </a:ext>
              </a:extLst>
            </p:cNvPr>
            <p:cNvSpPr/>
            <p:nvPr/>
          </p:nvSpPr>
          <p:spPr>
            <a:xfrm>
              <a:off x="5479142" y="2444164"/>
              <a:ext cx="2052190" cy="340981"/>
            </a:xfrm>
            <a:prstGeom prst="roundRect">
              <a:avLst>
                <a:gd name="adj" fmla="val 11418"/>
              </a:avLst>
            </a:prstGeom>
            <a:noFill/>
            <a:ln w="3175" cap="flat" cmpd="sng" algn="ctr">
              <a:noFill/>
              <a:prstDash val="solid"/>
            </a:ln>
            <a:effectLst/>
          </p:spPr>
          <p:txBody>
            <a:bodyPr wrap="square" lIns="0" tIns="0" rIns="0" bIns="0" rtlCol="0" anchor="ctr" anchorCtr="0"/>
            <a:lstStyle/>
            <a:p>
              <a:pPr marL="0" marR="0" lvl="0" indent="0" defTabSz="10428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1" i="0" u="none" strike="noStrike" kern="0" cap="none" spc="0" normalizeH="0" baseline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Contents</a:t>
              </a:r>
            </a:p>
          </p:txBody>
        </p:sp>
        <p:sp>
          <p:nvSpPr>
            <p:cNvPr id="13" name="Rectangle: Rounded Corners 46">
              <a:extLst>
                <a:ext uri="{FF2B5EF4-FFF2-40B4-BE49-F238E27FC236}">
                  <a16:creationId xmlns:a16="http://schemas.microsoft.com/office/drawing/2014/main" id="{3A67FF22-8228-55B6-E049-9A58DE56658B}"/>
                </a:ext>
              </a:extLst>
            </p:cNvPr>
            <p:cNvSpPr/>
            <p:nvPr/>
          </p:nvSpPr>
          <p:spPr>
            <a:xfrm>
              <a:off x="1943373" y="3426269"/>
              <a:ext cx="3250142" cy="540555"/>
            </a:xfrm>
            <a:prstGeom prst="roundRect">
              <a:avLst>
                <a:gd name="adj" fmla="val 11418"/>
              </a:avLst>
            </a:prstGeom>
            <a:solidFill>
              <a:schemeClr val="bg1">
                <a:lumMod val="95000"/>
              </a:schemeClr>
            </a:solidFill>
            <a:ln w="3175" cap="flat" cmpd="sng" algn="ctr">
              <a:noFill/>
              <a:prstDash val="solid"/>
            </a:ln>
            <a:effectLst/>
          </p:spPr>
          <p:txBody>
            <a:bodyPr wrap="square" lIns="90000" tIns="0" rIns="90000" bIns="0" rtlCol="0" anchor="ctr" anchorCtr="0"/>
            <a:lstStyle/>
            <a:p>
              <a:pPr marL="171450" lvl="0" indent="-171450" defTabSz="1042873">
                <a:buFont typeface="Arial" panose="020B0604020202020204" pitchFamily="34" charset="0"/>
                <a:buChar char="•"/>
                <a:defRPr/>
              </a:pPr>
              <a:r>
                <a:rPr kumimoji="0" lang="ko-KR" altLang="en-US" sz="1200" i="0" u="none" strike="noStrike" kern="0" cap="none" spc="0" normalizeH="0" baseline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일반 지침</a:t>
              </a:r>
              <a:r>
                <a:rPr kumimoji="0" lang="en-US" altLang="ko-KR" sz="1200" i="0" u="none" strike="noStrike" kern="0" cap="none" spc="0" normalizeH="0" baseline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: </a:t>
              </a:r>
              <a:r>
                <a:rPr kumimoji="0" lang="ko-KR" altLang="en-US" sz="1200" i="0" u="none" strike="noStrike" kern="0" cap="none" spc="0" normalizeH="0" baseline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임직원 윤리 교육</a:t>
              </a:r>
              <a:r>
                <a:rPr kumimoji="0" lang="en-US" altLang="ko-KR" sz="1200" i="0" u="none" strike="noStrike" kern="0" cap="none" spc="0" normalizeH="0" baseline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, AI </a:t>
              </a:r>
              <a:r>
                <a:rPr kumimoji="0" lang="ko-KR" altLang="en-US" sz="1200" i="0" u="none" strike="noStrike" kern="0" cap="none" spc="0" normalizeH="0" baseline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서비스 위</a:t>
              </a:r>
              <a:r>
                <a:rPr lang="en-US" altLang="ko-KR" sz="1200" b="1">
                  <a:latin typeface="+mn-ea"/>
                  <a:cs typeface="Pretendard" panose="02000503000000020004" pitchFamily="50" charset="-127"/>
                </a:rPr>
                <a:t>·</a:t>
              </a:r>
              <a:r>
                <a:rPr kumimoji="0" lang="ko-KR" altLang="en-US" sz="1200" i="0" u="none" strike="noStrike" kern="0" cap="none" spc="0" normalizeH="0" baseline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수탁 정책 </a:t>
              </a:r>
            </a:p>
          </p:txBody>
        </p:sp>
        <p:sp>
          <p:nvSpPr>
            <p:cNvPr id="14" name="Rectangle: Rounded Corners 46">
              <a:extLst>
                <a:ext uri="{FF2B5EF4-FFF2-40B4-BE49-F238E27FC236}">
                  <a16:creationId xmlns:a16="http://schemas.microsoft.com/office/drawing/2014/main" id="{9A5FD854-3F76-732D-D92F-B806161165A0}"/>
                </a:ext>
              </a:extLst>
            </p:cNvPr>
            <p:cNvSpPr/>
            <p:nvPr/>
          </p:nvSpPr>
          <p:spPr>
            <a:xfrm>
              <a:off x="1943373" y="2366642"/>
              <a:ext cx="3250142" cy="836708"/>
            </a:xfrm>
            <a:prstGeom prst="roundRect">
              <a:avLst>
                <a:gd name="adj" fmla="val 11418"/>
              </a:avLst>
            </a:prstGeom>
            <a:solidFill>
              <a:schemeClr val="bg1">
                <a:lumMod val="95000"/>
              </a:schemeClr>
            </a:solidFill>
            <a:ln w="3175" cap="flat" cmpd="sng" algn="ctr">
              <a:noFill/>
              <a:prstDash val="solid"/>
            </a:ln>
            <a:effectLst/>
          </p:spPr>
          <p:txBody>
            <a:bodyPr wrap="square" lIns="90000" tIns="0" rIns="90000" bIns="0" rtlCol="0" anchor="ctr" anchorCtr="0"/>
            <a:lstStyle/>
            <a:p>
              <a:pPr defTabSz="1042873">
                <a:lnSpc>
                  <a:spcPct val="130000"/>
                </a:lnSpc>
              </a:pPr>
              <a:r>
                <a:rPr lang="en-US" altLang="ko-KR" sz="1200" kern="0" spc="-7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AI</a:t>
              </a:r>
              <a:r>
                <a:rPr lang="ko-KR" altLang="en-US" sz="1200" kern="0" spc="-7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를 도입 및 활용하는 과정에서 발생할 수 있는 위험을 관리하고 경감하는 것을 목적으로 방안 제공</a:t>
              </a:r>
            </a:p>
          </p:txBody>
        </p:sp>
        <p:sp>
          <p:nvSpPr>
            <p:cNvPr id="15" name="Rectangle: Rounded Corners 46">
              <a:extLst>
                <a:ext uri="{FF2B5EF4-FFF2-40B4-BE49-F238E27FC236}">
                  <a16:creationId xmlns:a16="http://schemas.microsoft.com/office/drawing/2014/main" id="{F27CF423-28D5-9E1F-7FDF-79E18EC01871}"/>
                </a:ext>
              </a:extLst>
            </p:cNvPr>
            <p:cNvSpPr/>
            <p:nvPr/>
          </p:nvSpPr>
          <p:spPr>
            <a:xfrm>
              <a:off x="1943373" y="4031853"/>
              <a:ext cx="3250142" cy="540555"/>
            </a:xfrm>
            <a:prstGeom prst="roundRect">
              <a:avLst>
                <a:gd name="adj" fmla="val 11418"/>
              </a:avLst>
            </a:prstGeom>
            <a:solidFill>
              <a:schemeClr val="bg1">
                <a:lumMod val="95000"/>
              </a:schemeClr>
            </a:solidFill>
            <a:ln w="3175" cap="flat" cmpd="sng" algn="ctr">
              <a:noFill/>
              <a:prstDash val="solid"/>
            </a:ln>
            <a:effectLst/>
          </p:spPr>
          <p:txBody>
            <a:bodyPr wrap="square" lIns="90000" tIns="0" rIns="90000" bIns="0" rtlCol="0" anchor="ctr" anchorCtr="0"/>
            <a:lstStyle/>
            <a:p>
              <a:pPr marL="171450" marR="0" lvl="0" indent="-171450" defTabSz="10428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ko-KR" sz="1200" i="0" u="none" strike="noStrike" kern="0" cap="none" spc="0" normalizeH="0" baseline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AI </a:t>
              </a:r>
              <a:r>
                <a:rPr kumimoji="0" lang="ko-KR" altLang="en-US" sz="1200" i="0" u="none" strike="noStrike" kern="0" cap="none" spc="0" normalizeH="0" baseline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서비스 기획</a:t>
              </a:r>
              <a:r>
                <a:rPr kumimoji="0" lang="en-US" altLang="ko-KR" sz="1200" i="0" u="none" strike="noStrike" kern="0" cap="none" spc="0" normalizeH="0" baseline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/</a:t>
              </a:r>
              <a:r>
                <a:rPr kumimoji="0" lang="ko-KR" altLang="en-US" sz="1200" i="0" u="none" strike="noStrike" kern="0" cap="none" spc="0" normalizeH="0" baseline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개발</a:t>
              </a:r>
              <a:r>
                <a:rPr kumimoji="0" lang="en-US" altLang="ko-KR" sz="1200" i="0" u="none" strike="noStrike" kern="0" cap="none" spc="0" normalizeH="0" baseline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/</a:t>
              </a:r>
              <a:r>
                <a:rPr kumimoji="0" lang="ko-KR" altLang="en-US" sz="1200" i="0" u="none" strike="noStrike" kern="0" cap="none" spc="0" normalizeH="0" baseline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운영</a:t>
              </a:r>
              <a:r>
                <a:rPr kumimoji="0" lang="en-US" altLang="ko-KR" sz="1200" i="0" u="none" strike="noStrike" kern="0" cap="none" spc="0" normalizeH="0" baseline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, AI</a:t>
              </a:r>
              <a:r>
                <a:rPr kumimoji="0" lang="ko-KR" altLang="en-US" sz="1200" i="0" u="none" strike="noStrike" kern="0" cap="none" spc="0" normalizeH="0" baseline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위험관리 전담조직</a:t>
              </a:r>
              <a:r>
                <a:rPr kumimoji="0" lang="en-US" altLang="ko-KR" sz="1200" i="0" u="none" strike="noStrike" kern="0" cap="none" spc="0" normalizeH="0" baseline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, AI</a:t>
              </a:r>
              <a:r>
                <a:rPr kumimoji="0" lang="ko-KR" altLang="en-US" sz="1200" i="0" u="none" strike="noStrike" kern="0" cap="none" spc="0" normalizeH="0" baseline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윤리위원회</a:t>
              </a:r>
            </a:p>
          </p:txBody>
        </p:sp>
        <p:sp>
          <p:nvSpPr>
            <p:cNvPr id="16" name="Rectangle: Rounded Corners 46">
              <a:extLst>
                <a:ext uri="{FF2B5EF4-FFF2-40B4-BE49-F238E27FC236}">
                  <a16:creationId xmlns:a16="http://schemas.microsoft.com/office/drawing/2014/main" id="{FAEC5057-D637-BEB0-C005-20CF25F0DC92}"/>
                </a:ext>
              </a:extLst>
            </p:cNvPr>
            <p:cNvSpPr/>
            <p:nvPr/>
          </p:nvSpPr>
          <p:spPr>
            <a:xfrm>
              <a:off x="1943373" y="4637436"/>
              <a:ext cx="3250142" cy="1177946"/>
            </a:xfrm>
            <a:prstGeom prst="roundRect">
              <a:avLst>
                <a:gd name="adj" fmla="val 5596"/>
              </a:avLst>
            </a:prstGeom>
            <a:solidFill>
              <a:schemeClr val="bg1">
                <a:lumMod val="95000"/>
              </a:schemeClr>
            </a:solidFill>
            <a:ln w="3175" cap="flat" cmpd="sng" algn="ctr">
              <a:noFill/>
              <a:prstDash val="solid"/>
            </a:ln>
            <a:effectLst/>
          </p:spPr>
          <p:txBody>
            <a:bodyPr wrap="square" lIns="90000" tIns="0" rIns="90000" bIns="0" rtlCol="0" anchor="ctr" anchorCtr="0"/>
            <a:lstStyle/>
            <a:p>
              <a:pPr marL="171450" marR="0" lvl="0" indent="-171450" defTabSz="10428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ko-KR" sz="1200" i="0" u="none" strike="noStrike" kern="0" cap="none" spc="0" normalizeH="0" baseline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AI</a:t>
              </a:r>
              <a:r>
                <a:rPr kumimoji="0" lang="ko-KR" altLang="en-US" sz="1200" i="0" u="none" strike="noStrike" kern="0" cap="none" spc="0" normalizeH="0" baseline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위험관리 지침</a:t>
              </a:r>
              <a:r>
                <a:rPr kumimoji="0" lang="en-US" altLang="ko-KR" sz="1200" i="0" u="none" strike="noStrike" kern="0" cap="none" spc="0" normalizeH="0" baseline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: </a:t>
              </a:r>
              <a:r>
                <a:rPr kumimoji="0" lang="ko-KR" altLang="en-US" sz="1200" i="0" u="none" strike="noStrike" kern="0" cap="none" spc="0" normalizeH="0" baseline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생애주기별 정책</a:t>
              </a:r>
              <a:r>
                <a:rPr lang="en-US" altLang="ko-KR" sz="1200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(</a:t>
              </a:r>
              <a:r>
                <a:rPr lang="ko-KR" altLang="en-US" sz="1200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기획 단계</a:t>
              </a:r>
              <a:r>
                <a:rPr lang="en-US" altLang="ko-KR" sz="1200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, </a:t>
              </a:r>
              <a:r>
                <a:rPr lang="ko-KR" altLang="en-US" sz="1200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개발 단계</a:t>
              </a:r>
              <a:r>
                <a:rPr lang="en-US" altLang="ko-KR" sz="1200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, </a:t>
              </a:r>
              <a:r>
                <a:rPr kumimoji="0" lang="ko-KR" altLang="en-US" sz="1200" i="0" u="none" strike="noStrike" kern="0" cap="none" spc="0" normalizeH="0" baseline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평가</a:t>
              </a:r>
              <a:r>
                <a:rPr kumimoji="0" lang="en-US" altLang="ko-KR" sz="1200" i="0" u="none" strike="noStrike" kern="0" cap="none" spc="0" normalizeH="0" baseline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·</a:t>
              </a:r>
              <a:r>
                <a:rPr kumimoji="0" lang="ko-KR" altLang="en-US" sz="1200" i="0" u="none" strike="noStrike" kern="0" cap="none" spc="0" normalizeH="0" baseline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검증 단계</a:t>
              </a:r>
              <a:r>
                <a:rPr kumimoji="0" lang="en-US" altLang="ko-KR" sz="1200" i="0" u="none" strike="noStrike" kern="0" cap="none" spc="0" normalizeH="0" baseline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, </a:t>
              </a:r>
              <a:r>
                <a:rPr kumimoji="0" lang="ko-KR" altLang="en-US" sz="1200" i="0" u="none" strike="noStrike" kern="0" cap="none" spc="0" normalizeH="0" baseline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운영</a:t>
              </a:r>
              <a:r>
                <a:rPr kumimoji="0" lang="en-US" altLang="ko-KR" sz="1200" i="0" u="none" strike="noStrike" kern="0" cap="none" spc="0" normalizeH="0" baseline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·</a:t>
              </a:r>
              <a:r>
                <a:rPr kumimoji="0" lang="ko-KR" altLang="en-US" sz="1200" i="0" u="none" strike="noStrike" kern="0" cap="none" spc="0" normalizeH="0" baseline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사후관리 단계</a:t>
              </a:r>
            </a:p>
          </p:txBody>
        </p:sp>
        <p:sp>
          <p:nvSpPr>
            <p:cNvPr id="17" name="Rectangle: Rounded Corners 46">
              <a:extLst>
                <a:ext uri="{FF2B5EF4-FFF2-40B4-BE49-F238E27FC236}">
                  <a16:creationId xmlns:a16="http://schemas.microsoft.com/office/drawing/2014/main" id="{D5E2F387-1957-6E4D-CF7C-FEA0AC15478F}"/>
                </a:ext>
              </a:extLst>
            </p:cNvPr>
            <p:cNvSpPr/>
            <p:nvPr/>
          </p:nvSpPr>
          <p:spPr>
            <a:xfrm>
              <a:off x="1943373" y="5917437"/>
              <a:ext cx="3250142" cy="494109"/>
            </a:xfrm>
            <a:prstGeom prst="roundRect">
              <a:avLst>
                <a:gd name="adj" fmla="val 11418"/>
              </a:avLst>
            </a:prstGeom>
            <a:solidFill>
              <a:schemeClr val="bg1">
                <a:lumMod val="95000"/>
              </a:schemeClr>
            </a:solidFill>
            <a:ln w="3175" cap="flat" cmpd="sng" algn="ctr">
              <a:noFill/>
              <a:prstDash val="solid"/>
            </a:ln>
            <a:effectLst/>
          </p:spPr>
          <p:txBody>
            <a:bodyPr wrap="square" lIns="90000" tIns="0" rIns="90000" bIns="0" rtlCol="0" anchor="ctr" anchorCtr="0"/>
            <a:lstStyle/>
            <a:p>
              <a:pPr algn="ctr" defTabSz="1042873" latinLnBrk="0">
                <a:defRPr/>
              </a:pPr>
              <a:r>
                <a:rPr lang="en-US" altLang="ko-KR" sz="1200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AI </a:t>
              </a:r>
              <a:r>
                <a:rPr lang="ko-KR" altLang="en-US" sz="1200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서비스 기획</a:t>
              </a:r>
              <a:r>
                <a:rPr lang="en-US" altLang="ko-KR" sz="1200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/</a:t>
              </a:r>
              <a:r>
                <a:rPr lang="ko-KR" altLang="en-US" sz="1200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개발</a:t>
              </a:r>
              <a:r>
                <a:rPr lang="en-US" altLang="ko-KR" sz="1200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/</a:t>
              </a:r>
              <a:r>
                <a:rPr lang="ko-KR" altLang="en-US" sz="1200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운영</a:t>
              </a:r>
              <a:r>
                <a:rPr lang="en-US" altLang="ko-KR" sz="1200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, AI</a:t>
              </a:r>
              <a:r>
                <a:rPr lang="ko-KR" altLang="en-US" sz="1200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위험관리 전담조직</a:t>
              </a:r>
              <a:r>
                <a:rPr lang="en-US" altLang="ko-KR" sz="1200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, AI</a:t>
              </a:r>
              <a:r>
                <a:rPr lang="ko-KR" altLang="en-US" sz="1200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윤리위원회</a:t>
              </a:r>
              <a:endPara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endParaRPr>
            </a:p>
          </p:txBody>
        </p:sp>
        <p:grpSp>
          <p:nvGrpSpPr>
            <p:cNvPr id="18" name="Group 63">
              <a:extLst>
                <a:ext uri="{FF2B5EF4-FFF2-40B4-BE49-F238E27FC236}">
                  <a16:creationId xmlns:a16="http://schemas.microsoft.com/office/drawing/2014/main" id="{90C6E033-5226-21FB-1855-741CEC7C32D0}"/>
                </a:ext>
              </a:extLst>
            </p:cNvPr>
            <p:cNvGrpSpPr/>
            <p:nvPr/>
          </p:nvGrpSpPr>
          <p:grpSpPr>
            <a:xfrm>
              <a:off x="5598487" y="4613951"/>
              <a:ext cx="2588011" cy="820295"/>
              <a:chOff x="5598487" y="4682546"/>
              <a:chExt cx="2588011" cy="820295"/>
            </a:xfrm>
          </p:grpSpPr>
          <p:sp>
            <p:nvSpPr>
              <p:cNvPr id="36" name="Rectangle: Rounded Corners 46">
                <a:extLst>
                  <a:ext uri="{FF2B5EF4-FFF2-40B4-BE49-F238E27FC236}">
                    <a16:creationId xmlns:a16="http://schemas.microsoft.com/office/drawing/2014/main" id="{48DDC058-4047-E07D-C936-FE13D23C663D}"/>
                  </a:ext>
                </a:extLst>
              </p:cNvPr>
              <p:cNvSpPr/>
              <p:nvPr/>
            </p:nvSpPr>
            <p:spPr>
              <a:xfrm>
                <a:off x="5935702" y="5183769"/>
                <a:ext cx="2250795" cy="319072"/>
              </a:xfrm>
              <a:prstGeom prst="roundRect">
                <a:avLst>
                  <a:gd name="adj" fmla="val 11418"/>
                </a:avLst>
              </a:prstGeom>
              <a:solidFill>
                <a:schemeClr val="bg1"/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txBody>
              <a:bodyPr spcFirstLastPara="1" wrap="square" lIns="108000" tIns="0" rIns="0" bIns="0" anchor="ctr" anchorCtr="0">
                <a:noAutofit/>
              </a:bodyPr>
              <a:lstStyle/>
              <a:p>
                <a:pPr defTabSz="914446">
                  <a:buClr>
                    <a:srgbClr val="FFFFFF"/>
                  </a:buClr>
                  <a:buSzPts val="1100"/>
                </a:pPr>
                <a:r>
                  <a:rPr lang="ko-KR" altLang="en-US" sz="1100" b="1">
                    <a:latin typeface="+mn-ea"/>
                    <a:cs typeface="Pretendard" panose="02000503000000020004" pitchFamily="50" charset="-127"/>
                  </a:rPr>
                  <a:t>제</a:t>
                </a:r>
                <a:r>
                  <a:rPr lang="en-US" altLang="ko-KR" sz="1100" b="1">
                    <a:latin typeface="+mn-ea"/>
                    <a:cs typeface="Pretendard" panose="02000503000000020004" pitchFamily="50" charset="-127"/>
                  </a:rPr>
                  <a:t>1</a:t>
                </a:r>
                <a:r>
                  <a:rPr lang="ko-KR" altLang="en-US" sz="1100" b="1">
                    <a:latin typeface="+mn-ea"/>
                    <a:cs typeface="Pretendard" panose="02000503000000020004" pitchFamily="50" charset="-127"/>
                  </a:rPr>
                  <a:t>절 </a:t>
                </a:r>
                <a:r>
                  <a:rPr lang="en-US" altLang="ko-KR" sz="1100" b="1">
                    <a:latin typeface="+mn-ea"/>
                    <a:cs typeface="Pretendard" panose="02000503000000020004" pitchFamily="50" charset="-127"/>
                  </a:rPr>
                  <a:t>AI</a:t>
                </a:r>
                <a:r>
                  <a:rPr lang="ko-KR" altLang="en-US" sz="1100" b="1">
                    <a:latin typeface="+mn-ea"/>
                    <a:cs typeface="Pretendard" panose="02000503000000020004" pitchFamily="50" charset="-127"/>
                  </a:rPr>
                  <a:t> 서비스의 위</a:t>
                </a:r>
                <a:r>
                  <a:rPr lang="en-US" altLang="ko-KR" sz="1100" b="1">
                    <a:latin typeface="+mn-ea"/>
                    <a:cs typeface="Pretendard" panose="02000503000000020004" pitchFamily="50" charset="-127"/>
                  </a:rPr>
                  <a:t>·</a:t>
                </a:r>
                <a:r>
                  <a:rPr lang="ko-KR" altLang="en-US" sz="1100" b="1">
                    <a:latin typeface="+mn-ea"/>
                    <a:cs typeface="Pretendard" panose="02000503000000020004" pitchFamily="50" charset="-127"/>
                  </a:rPr>
                  <a:t>수탁</a:t>
                </a:r>
                <a:endParaRPr lang="en-US" altLang="ko-KR" sz="1100" b="1">
                  <a:latin typeface="+mn-ea"/>
                  <a:cs typeface="Pretendard" panose="02000503000000020004" pitchFamily="50" charset="-127"/>
                </a:endParaRPr>
              </a:p>
            </p:txBody>
          </p:sp>
          <p:sp>
            <p:nvSpPr>
              <p:cNvPr id="37" name="직사각형 45">
                <a:extLst>
                  <a:ext uri="{FF2B5EF4-FFF2-40B4-BE49-F238E27FC236}">
                    <a16:creationId xmlns:a16="http://schemas.microsoft.com/office/drawing/2014/main" id="{5A84F5D7-9FE0-F2A3-1241-9E399AF3464D}"/>
                  </a:ext>
                </a:extLst>
              </p:cNvPr>
              <p:cNvSpPr/>
              <p:nvPr/>
            </p:nvSpPr>
            <p:spPr>
              <a:xfrm>
                <a:off x="5598487" y="4729240"/>
                <a:ext cx="236220" cy="26733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latinLnBrk="0"/>
                <a:endParaRPr lang="ko-KR" altLang="en-US">
                  <a:latin typeface="+mn-ea"/>
                </a:endParaRPr>
              </a:p>
            </p:txBody>
          </p:sp>
          <p:cxnSp>
            <p:nvCxnSpPr>
              <p:cNvPr id="38" name="연결선: 꺾임 46">
                <a:extLst>
                  <a:ext uri="{FF2B5EF4-FFF2-40B4-BE49-F238E27FC236}">
                    <a16:creationId xmlns:a16="http://schemas.microsoft.com/office/drawing/2014/main" id="{94697C20-6607-DE8C-6786-1D517B67B662}"/>
                  </a:ext>
                </a:extLst>
              </p:cNvPr>
              <p:cNvCxnSpPr>
                <a:cxnSpLocks/>
                <a:stCxn id="37" idx="2"/>
                <a:endCxn id="36" idx="1"/>
              </p:cNvCxnSpPr>
              <p:nvPr/>
            </p:nvCxnSpPr>
            <p:spPr>
              <a:xfrm rot="16200000" flipH="1">
                <a:off x="5652784" y="5060386"/>
                <a:ext cx="346731" cy="219105"/>
              </a:xfrm>
              <a:prstGeom prst="bentConnector2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Rectangle: Rounded Corners 46">
                <a:extLst>
                  <a:ext uri="{FF2B5EF4-FFF2-40B4-BE49-F238E27FC236}">
                    <a16:creationId xmlns:a16="http://schemas.microsoft.com/office/drawing/2014/main" id="{FFA91897-04E9-B0B2-6DB0-D4041C4A6117}"/>
                  </a:ext>
                </a:extLst>
              </p:cNvPr>
              <p:cNvSpPr/>
              <p:nvPr/>
            </p:nvSpPr>
            <p:spPr>
              <a:xfrm>
                <a:off x="5598487" y="4682546"/>
                <a:ext cx="2588011" cy="435067"/>
              </a:xfrm>
              <a:prstGeom prst="roundRect">
                <a:avLst>
                  <a:gd name="adj" fmla="val 11418"/>
                </a:avLst>
              </a:prstGeom>
              <a:solidFill>
                <a:srgbClr val="043B72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wrap="square" lIns="0" tIns="0" rIns="0" bIns="0" rtlCol="0" anchor="ctr" anchorCtr="0"/>
              <a:lstStyle/>
              <a:p>
                <a:pPr algn="ctr" defTabSz="1042873" latinLnBrk="0">
                  <a:defRPr/>
                </a:pPr>
                <a:r>
                  <a:rPr lang="ko-KR" altLang="en-US" sz="1200" b="1" kern="0">
                    <a:ln>
                      <a:solidFill>
                        <a:srgbClr val="A5C249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+mn-ea"/>
                  </a:rPr>
                  <a:t>제</a:t>
                </a:r>
                <a:r>
                  <a:rPr lang="en-US" altLang="ko-KR" sz="1200" b="1" kern="0">
                    <a:ln>
                      <a:solidFill>
                        <a:srgbClr val="A5C249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+mn-ea"/>
                  </a:rPr>
                  <a:t>3</a:t>
                </a:r>
                <a:r>
                  <a:rPr lang="ko-KR" altLang="en-US" sz="1200" b="1" kern="0">
                    <a:ln>
                      <a:solidFill>
                        <a:srgbClr val="A5C249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+mn-ea"/>
                  </a:rPr>
                  <a:t>장 </a:t>
                </a:r>
                <a:br>
                  <a:rPr lang="en-US" altLang="ko-KR" sz="1200" b="1" kern="0">
                    <a:ln>
                      <a:solidFill>
                        <a:srgbClr val="A5C249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+mn-ea"/>
                  </a:rPr>
                </a:br>
                <a:r>
                  <a:rPr lang="en-US" altLang="ko-KR" sz="1200" b="1" kern="0">
                    <a:ln>
                      <a:solidFill>
                        <a:srgbClr val="A5C249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+mn-ea"/>
                  </a:rPr>
                  <a:t>AI</a:t>
                </a:r>
                <a:r>
                  <a:rPr lang="ko-KR" altLang="en-US" sz="1200" b="1" kern="0">
                    <a:ln>
                      <a:solidFill>
                        <a:srgbClr val="A5C249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+mn-ea"/>
                  </a:rPr>
                  <a:t> 서비스 위</a:t>
                </a:r>
                <a:r>
                  <a:rPr lang="en-US" altLang="ko-KR" sz="1200" b="1" kern="0">
                    <a:ln>
                      <a:solidFill>
                        <a:srgbClr val="A5C249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+mn-ea"/>
                  </a:rPr>
                  <a:t>·</a:t>
                </a:r>
                <a:r>
                  <a:rPr lang="ko-KR" altLang="en-US" sz="1200" b="1" kern="0">
                    <a:ln>
                      <a:solidFill>
                        <a:srgbClr val="A5C249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+mn-ea"/>
                  </a:rPr>
                  <a:t>수탁</a:t>
                </a:r>
                <a:endParaRPr lang="en-US" altLang="ko-KR" sz="1200" b="1" kern="0">
                  <a:ln>
                    <a:solidFill>
                      <a:srgbClr val="A5C249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+mn-ea"/>
                </a:endParaRPr>
              </a:p>
            </p:txBody>
          </p:sp>
        </p:grpSp>
        <p:grpSp>
          <p:nvGrpSpPr>
            <p:cNvPr id="19" name="Group 84">
              <a:extLst>
                <a:ext uri="{FF2B5EF4-FFF2-40B4-BE49-F238E27FC236}">
                  <a16:creationId xmlns:a16="http://schemas.microsoft.com/office/drawing/2014/main" id="{CED4CAC8-249D-9A44-94B8-16237D1B3E11}"/>
                </a:ext>
              </a:extLst>
            </p:cNvPr>
            <p:cNvGrpSpPr/>
            <p:nvPr/>
          </p:nvGrpSpPr>
          <p:grpSpPr>
            <a:xfrm>
              <a:off x="8569746" y="2830678"/>
              <a:ext cx="2588011" cy="2000806"/>
              <a:chOff x="8569746" y="2830678"/>
              <a:chExt cx="2588011" cy="2000806"/>
            </a:xfrm>
          </p:grpSpPr>
          <p:sp>
            <p:nvSpPr>
              <p:cNvPr id="26" name="Rectangle: Rounded Corners 46">
                <a:extLst>
                  <a:ext uri="{FF2B5EF4-FFF2-40B4-BE49-F238E27FC236}">
                    <a16:creationId xmlns:a16="http://schemas.microsoft.com/office/drawing/2014/main" id="{E87F8FD2-7757-BC34-66AF-81E6E2A02432}"/>
                  </a:ext>
                </a:extLst>
              </p:cNvPr>
              <p:cNvSpPr/>
              <p:nvPr/>
            </p:nvSpPr>
            <p:spPr>
              <a:xfrm>
                <a:off x="8906961" y="3331901"/>
                <a:ext cx="2250795" cy="319072"/>
              </a:xfrm>
              <a:prstGeom prst="roundRect">
                <a:avLst>
                  <a:gd name="adj" fmla="val 11418"/>
                </a:avLst>
              </a:prstGeom>
              <a:solidFill>
                <a:schemeClr val="bg1"/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txBody>
              <a:bodyPr spcFirstLastPara="1" wrap="square" lIns="108000" tIns="0" rIns="0" bIns="0" anchor="ctr" anchorCtr="0">
                <a:noAutofit/>
              </a:bodyPr>
              <a:lstStyle/>
              <a:p>
                <a:pPr defTabSz="914446">
                  <a:buClr>
                    <a:srgbClr val="FFFFFF"/>
                  </a:buClr>
                  <a:buSzPts val="1100"/>
                </a:pPr>
                <a:r>
                  <a:rPr lang="ko-KR" altLang="en-US" sz="1100" b="1">
                    <a:latin typeface="+mn-ea"/>
                    <a:cs typeface="Pretendard" panose="02000503000000020004" pitchFamily="50" charset="-127"/>
                  </a:rPr>
                  <a:t>제</a:t>
                </a:r>
                <a:r>
                  <a:rPr lang="en-US" altLang="ko-KR" sz="1100" b="1">
                    <a:latin typeface="+mn-ea"/>
                    <a:cs typeface="Pretendard" panose="02000503000000020004" pitchFamily="50" charset="-127"/>
                  </a:rPr>
                  <a:t>1</a:t>
                </a:r>
                <a:r>
                  <a:rPr lang="ko-KR" altLang="en-US" sz="1100" b="1">
                    <a:latin typeface="+mn-ea"/>
                    <a:cs typeface="Pretendard" panose="02000503000000020004" pitchFamily="50" charset="-127"/>
                  </a:rPr>
                  <a:t>절 기획 단계</a:t>
                </a:r>
                <a:endParaRPr lang="en-US" altLang="ko-KR" sz="1100" b="1">
                  <a:latin typeface="+mn-ea"/>
                  <a:cs typeface="Pretendard" panose="02000503000000020004" pitchFamily="50" charset="-127"/>
                </a:endParaRPr>
              </a:p>
            </p:txBody>
          </p:sp>
          <p:cxnSp>
            <p:nvCxnSpPr>
              <p:cNvPr id="27" name="연결선: 꺾임 26">
                <a:extLst>
                  <a:ext uri="{FF2B5EF4-FFF2-40B4-BE49-F238E27FC236}">
                    <a16:creationId xmlns:a16="http://schemas.microsoft.com/office/drawing/2014/main" id="{B5B1E421-C07D-5A1A-DDDC-2B79F343F39C}"/>
                  </a:ext>
                </a:extLst>
              </p:cNvPr>
              <p:cNvCxnSpPr>
                <a:cxnSpLocks/>
                <a:stCxn id="32" idx="2"/>
                <a:endCxn id="26" idx="1"/>
              </p:cNvCxnSpPr>
              <p:nvPr/>
            </p:nvCxnSpPr>
            <p:spPr>
              <a:xfrm rot="16200000" flipH="1">
                <a:off x="8624043" y="3208518"/>
                <a:ext cx="346731" cy="219105"/>
              </a:xfrm>
              <a:prstGeom prst="bentConnector2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Rectangle: Rounded Corners 46">
                <a:extLst>
                  <a:ext uri="{FF2B5EF4-FFF2-40B4-BE49-F238E27FC236}">
                    <a16:creationId xmlns:a16="http://schemas.microsoft.com/office/drawing/2014/main" id="{217BD694-8013-0752-8529-FAF8B1E778C2}"/>
                  </a:ext>
                </a:extLst>
              </p:cNvPr>
              <p:cNvSpPr/>
              <p:nvPr/>
            </p:nvSpPr>
            <p:spPr>
              <a:xfrm>
                <a:off x="8906961" y="3725405"/>
                <a:ext cx="2250795" cy="319072"/>
              </a:xfrm>
              <a:prstGeom prst="roundRect">
                <a:avLst>
                  <a:gd name="adj" fmla="val 11418"/>
                </a:avLst>
              </a:prstGeom>
              <a:solidFill>
                <a:schemeClr val="bg1"/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txBody>
              <a:bodyPr spcFirstLastPara="1" wrap="square" lIns="108000" tIns="0" rIns="0" bIns="0" anchor="ctr" anchorCtr="0">
                <a:noAutofit/>
              </a:bodyPr>
              <a:lstStyle/>
              <a:p>
                <a:pPr defTabSz="914446">
                  <a:buClr>
                    <a:srgbClr val="FFFFFF"/>
                  </a:buClr>
                  <a:buSzPts val="1100"/>
                </a:pPr>
                <a:r>
                  <a:rPr lang="ko-KR" altLang="en-US" sz="1100" b="1">
                    <a:latin typeface="+mn-ea"/>
                    <a:cs typeface="Pretendard" panose="02000503000000020004" pitchFamily="50" charset="-127"/>
                  </a:rPr>
                  <a:t>제</a:t>
                </a:r>
                <a:r>
                  <a:rPr lang="en-US" altLang="ko-KR" sz="1100" b="1">
                    <a:latin typeface="+mn-ea"/>
                    <a:cs typeface="Pretendard" panose="02000503000000020004" pitchFamily="50" charset="-127"/>
                  </a:rPr>
                  <a:t>2</a:t>
                </a:r>
                <a:r>
                  <a:rPr lang="ko-KR" altLang="en-US" sz="1100" b="1">
                    <a:latin typeface="+mn-ea"/>
                    <a:cs typeface="Pretendard" panose="02000503000000020004" pitchFamily="50" charset="-127"/>
                  </a:rPr>
                  <a:t>절 개발 단계</a:t>
                </a:r>
                <a:endParaRPr lang="en-US" altLang="ko-KR" sz="1100" b="1">
                  <a:latin typeface="+mn-ea"/>
                  <a:cs typeface="Pretendard" panose="02000503000000020004" pitchFamily="50" charset="-127"/>
                </a:endParaRPr>
              </a:p>
            </p:txBody>
          </p:sp>
          <p:sp>
            <p:nvSpPr>
              <p:cNvPr id="29" name="Rectangle: Rounded Corners 46">
                <a:extLst>
                  <a:ext uri="{FF2B5EF4-FFF2-40B4-BE49-F238E27FC236}">
                    <a16:creationId xmlns:a16="http://schemas.microsoft.com/office/drawing/2014/main" id="{4558CFC0-A65A-8135-9642-C1A603580B82}"/>
                  </a:ext>
                </a:extLst>
              </p:cNvPr>
              <p:cNvSpPr/>
              <p:nvPr/>
            </p:nvSpPr>
            <p:spPr>
              <a:xfrm>
                <a:off x="8906961" y="4118909"/>
                <a:ext cx="2250795" cy="319072"/>
              </a:xfrm>
              <a:prstGeom prst="roundRect">
                <a:avLst>
                  <a:gd name="adj" fmla="val 11418"/>
                </a:avLst>
              </a:prstGeom>
              <a:solidFill>
                <a:schemeClr val="bg1"/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txBody>
              <a:bodyPr spcFirstLastPara="1" wrap="square" lIns="108000" tIns="0" rIns="0" bIns="0" anchor="ctr" anchorCtr="0">
                <a:noAutofit/>
              </a:bodyPr>
              <a:lstStyle/>
              <a:p>
                <a:pPr defTabSz="914446">
                  <a:buClr>
                    <a:srgbClr val="FFFFFF"/>
                  </a:buClr>
                  <a:buSzPts val="1100"/>
                </a:pPr>
                <a:r>
                  <a:rPr lang="ko-KR" altLang="en-US" sz="1100" b="1">
                    <a:latin typeface="+mn-ea"/>
                    <a:cs typeface="Pretendard" panose="02000503000000020004" pitchFamily="50" charset="-127"/>
                  </a:rPr>
                  <a:t>제</a:t>
                </a:r>
                <a:r>
                  <a:rPr lang="en-US" altLang="ko-KR" sz="1100" b="1">
                    <a:latin typeface="+mn-ea"/>
                    <a:cs typeface="Pretendard" panose="02000503000000020004" pitchFamily="50" charset="-127"/>
                  </a:rPr>
                  <a:t>3</a:t>
                </a:r>
                <a:r>
                  <a:rPr lang="ko-KR" altLang="en-US" sz="1100" b="1">
                    <a:latin typeface="+mn-ea"/>
                    <a:cs typeface="Pretendard" panose="02000503000000020004" pitchFamily="50" charset="-127"/>
                  </a:rPr>
                  <a:t>절 평가</a:t>
                </a:r>
                <a:r>
                  <a:rPr lang="en-US" altLang="ko-KR" sz="1100" b="1">
                    <a:latin typeface="+mn-ea"/>
                    <a:cs typeface="Pretendard" panose="02000503000000020004" pitchFamily="50" charset="-127"/>
                  </a:rPr>
                  <a:t>·</a:t>
                </a:r>
                <a:r>
                  <a:rPr lang="ko-KR" altLang="en-US" sz="1100" b="1">
                    <a:latin typeface="+mn-ea"/>
                    <a:cs typeface="Pretendard" panose="02000503000000020004" pitchFamily="50" charset="-127"/>
                  </a:rPr>
                  <a:t>검증 단계</a:t>
                </a:r>
                <a:endParaRPr lang="en-US" altLang="ko-KR" sz="1100" b="1">
                  <a:latin typeface="+mn-ea"/>
                  <a:cs typeface="Pretendard" panose="02000503000000020004" pitchFamily="50" charset="-127"/>
                </a:endParaRPr>
              </a:p>
            </p:txBody>
          </p:sp>
          <p:sp>
            <p:nvSpPr>
              <p:cNvPr id="30" name="Rectangle: Rounded Corners 46">
                <a:extLst>
                  <a:ext uri="{FF2B5EF4-FFF2-40B4-BE49-F238E27FC236}">
                    <a16:creationId xmlns:a16="http://schemas.microsoft.com/office/drawing/2014/main" id="{0B35D737-EC33-90FE-FEEB-823A32414566}"/>
                  </a:ext>
                </a:extLst>
              </p:cNvPr>
              <p:cNvSpPr/>
              <p:nvPr/>
            </p:nvSpPr>
            <p:spPr>
              <a:xfrm>
                <a:off x="8906961" y="4512412"/>
                <a:ext cx="2250795" cy="319072"/>
              </a:xfrm>
              <a:prstGeom prst="roundRect">
                <a:avLst>
                  <a:gd name="adj" fmla="val 11418"/>
                </a:avLst>
              </a:prstGeom>
              <a:solidFill>
                <a:schemeClr val="bg1"/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txBody>
              <a:bodyPr spcFirstLastPara="1" wrap="square" lIns="108000" tIns="0" rIns="0" bIns="0" anchor="ctr" anchorCtr="0">
                <a:noAutofit/>
              </a:bodyPr>
              <a:lstStyle/>
              <a:p>
                <a:pPr defTabSz="914446">
                  <a:buClr>
                    <a:srgbClr val="FFFFFF"/>
                  </a:buClr>
                  <a:buSzPts val="1100"/>
                </a:pPr>
                <a:r>
                  <a:rPr lang="ko-KR" altLang="en-US" sz="1100" b="1">
                    <a:latin typeface="+mn-ea"/>
                    <a:cs typeface="Pretendard" panose="02000503000000020004" pitchFamily="50" charset="-127"/>
                  </a:rPr>
                  <a:t>제</a:t>
                </a:r>
                <a:r>
                  <a:rPr lang="en-US" altLang="ko-KR" sz="1100" b="1">
                    <a:latin typeface="+mn-ea"/>
                    <a:cs typeface="Pretendard" panose="02000503000000020004" pitchFamily="50" charset="-127"/>
                  </a:rPr>
                  <a:t>4</a:t>
                </a:r>
                <a:r>
                  <a:rPr lang="ko-KR" altLang="en-US" sz="1100" b="1">
                    <a:latin typeface="+mn-ea"/>
                    <a:cs typeface="Pretendard" panose="02000503000000020004" pitchFamily="50" charset="-127"/>
                  </a:rPr>
                  <a:t>절 운영</a:t>
                </a:r>
                <a:r>
                  <a:rPr lang="en-US" altLang="ko-KR" sz="1100" b="1">
                    <a:latin typeface="+mn-ea"/>
                    <a:cs typeface="Pretendard" panose="02000503000000020004" pitchFamily="50" charset="-127"/>
                  </a:rPr>
                  <a:t>·</a:t>
                </a:r>
                <a:r>
                  <a:rPr lang="ko-KR" altLang="en-US" sz="1100" b="1">
                    <a:latin typeface="+mn-ea"/>
                    <a:cs typeface="Pretendard" panose="02000503000000020004" pitchFamily="50" charset="-127"/>
                  </a:rPr>
                  <a:t>사후관리 단계</a:t>
                </a:r>
                <a:endParaRPr lang="en-US" altLang="ko-KR" sz="1100" b="1">
                  <a:latin typeface="+mn-ea"/>
                  <a:cs typeface="Pretendard" panose="02000503000000020004" pitchFamily="50" charset="-127"/>
                </a:endParaRPr>
              </a:p>
            </p:txBody>
          </p:sp>
          <p:cxnSp>
            <p:nvCxnSpPr>
              <p:cNvPr id="31" name="연결선: 꺾임 46">
                <a:extLst>
                  <a:ext uri="{FF2B5EF4-FFF2-40B4-BE49-F238E27FC236}">
                    <a16:creationId xmlns:a16="http://schemas.microsoft.com/office/drawing/2014/main" id="{E59E142F-A58A-FEBA-C9B0-2AE03B0A109A}"/>
                  </a:ext>
                </a:extLst>
              </p:cNvPr>
              <p:cNvCxnSpPr>
                <a:cxnSpLocks/>
                <a:stCxn id="32" idx="2"/>
                <a:endCxn id="28" idx="1"/>
              </p:cNvCxnSpPr>
              <p:nvPr/>
            </p:nvCxnSpPr>
            <p:spPr>
              <a:xfrm rot="16200000" flipH="1">
                <a:off x="8427291" y="3405270"/>
                <a:ext cx="740235" cy="219105"/>
              </a:xfrm>
              <a:prstGeom prst="bentConnector2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직사각형 31">
                <a:extLst>
                  <a:ext uri="{FF2B5EF4-FFF2-40B4-BE49-F238E27FC236}">
                    <a16:creationId xmlns:a16="http://schemas.microsoft.com/office/drawing/2014/main" id="{C90364B6-C4B4-A5FE-1BCE-E13D86302A54}"/>
                  </a:ext>
                </a:extLst>
              </p:cNvPr>
              <p:cNvSpPr/>
              <p:nvPr/>
            </p:nvSpPr>
            <p:spPr>
              <a:xfrm>
                <a:off x="8569746" y="2877372"/>
                <a:ext cx="236220" cy="26733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latinLnBrk="0"/>
                <a:endParaRPr lang="ko-KR" altLang="en-US">
                  <a:latin typeface="+mn-ea"/>
                </a:endParaRPr>
              </a:p>
            </p:txBody>
          </p:sp>
          <p:cxnSp>
            <p:nvCxnSpPr>
              <p:cNvPr id="33" name="연결선: 꺾임 46">
                <a:extLst>
                  <a:ext uri="{FF2B5EF4-FFF2-40B4-BE49-F238E27FC236}">
                    <a16:creationId xmlns:a16="http://schemas.microsoft.com/office/drawing/2014/main" id="{B4ABC9A6-2F2E-572F-6AAC-C528E39F6BC6}"/>
                  </a:ext>
                </a:extLst>
              </p:cNvPr>
              <p:cNvCxnSpPr>
                <a:cxnSpLocks/>
                <a:stCxn id="32" idx="2"/>
                <a:endCxn id="29" idx="1"/>
              </p:cNvCxnSpPr>
              <p:nvPr/>
            </p:nvCxnSpPr>
            <p:spPr>
              <a:xfrm rot="16200000" flipH="1">
                <a:off x="8230539" y="3602022"/>
                <a:ext cx="1133739" cy="219105"/>
              </a:xfrm>
              <a:prstGeom prst="bentConnector2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연결선: 꺾임 46">
                <a:extLst>
                  <a:ext uri="{FF2B5EF4-FFF2-40B4-BE49-F238E27FC236}">
                    <a16:creationId xmlns:a16="http://schemas.microsoft.com/office/drawing/2014/main" id="{CF06B20A-0AA9-1EC9-27E4-8F0B3D5D6384}"/>
                  </a:ext>
                </a:extLst>
              </p:cNvPr>
              <p:cNvCxnSpPr>
                <a:cxnSpLocks/>
                <a:stCxn id="32" idx="2"/>
                <a:endCxn id="30" idx="1"/>
              </p:cNvCxnSpPr>
              <p:nvPr/>
            </p:nvCxnSpPr>
            <p:spPr>
              <a:xfrm rot="16200000" flipH="1">
                <a:off x="8033787" y="3798774"/>
                <a:ext cx="1527242" cy="219105"/>
              </a:xfrm>
              <a:prstGeom prst="bentConnector2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Rectangle: Rounded Corners 46">
                <a:extLst>
                  <a:ext uri="{FF2B5EF4-FFF2-40B4-BE49-F238E27FC236}">
                    <a16:creationId xmlns:a16="http://schemas.microsoft.com/office/drawing/2014/main" id="{12572EF7-19BA-0B66-D56D-4AE4C2E8933B}"/>
                  </a:ext>
                </a:extLst>
              </p:cNvPr>
              <p:cNvSpPr/>
              <p:nvPr/>
            </p:nvSpPr>
            <p:spPr>
              <a:xfrm>
                <a:off x="8569746" y="2830678"/>
                <a:ext cx="2588011" cy="435067"/>
              </a:xfrm>
              <a:prstGeom prst="roundRect">
                <a:avLst>
                  <a:gd name="adj" fmla="val 11418"/>
                </a:avLst>
              </a:prstGeom>
              <a:solidFill>
                <a:srgbClr val="043B72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wrap="square" lIns="0" tIns="0" rIns="0" bIns="0" rtlCol="0" anchor="ctr" anchorCtr="0"/>
              <a:lstStyle/>
              <a:p>
                <a:pPr algn="ctr" defTabSz="1042873" latinLnBrk="0">
                  <a:defRPr/>
                </a:pPr>
                <a:r>
                  <a:rPr lang="ko-KR" altLang="en-US" sz="1200" b="1" kern="0">
                    <a:ln>
                      <a:solidFill>
                        <a:srgbClr val="A5C249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+mn-ea"/>
                  </a:rPr>
                  <a:t>제</a:t>
                </a:r>
                <a:r>
                  <a:rPr lang="en-US" altLang="ko-KR" sz="1200" b="1" kern="0">
                    <a:ln>
                      <a:solidFill>
                        <a:srgbClr val="A5C249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+mn-ea"/>
                  </a:rPr>
                  <a:t>2</a:t>
                </a:r>
                <a:r>
                  <a:rPr lang="ko-KR" altLang="en-US" sz="1200" b="1" kern="0">
                    <a:ln>
                      <a:solidFill>
                        <a:srgbClr val="A5C249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+mn-ea"/>
                  </a:rPr>
                  <a:t>장 </a:t>
                </a:r>
                <a:br>
                  <a:rPr lang="en-US" altLang="ko-KR" sz="1200" b="1" kern="0">
                    <a:ln>
                      <a:solidFill>
                        <a:srgbClr val="A5C249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+mn-ea"/>
                  </a:rPr>
                </a:br>
                <a:r>
                  <a:rPr lang="en-US" altLang="ko-KR" sz="1200" b="1" kern="0">
                    <a:ln>
                      <a:solidFill>
                        <a:srgbClr val="A5C249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+mn-ea"/>
                  </a:rPr>
                  <a:t>AI</a:t>
                </a:r>
                <a:r>
                  <a:rPr lang="ko-KR" altLang="en-US" sz="1200" b="1" kern="0">
                    <a:ln>
                      <a:solidFill>
                        <a:srgbClr val="A5C249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+mn-ea"/>
                  </a:rPr>
                  <a:t> 서비스 생애주기별 업무처리 방법</a:t>
                </a:r>
                <a:endParaRPr lang="en-US" altLang="ko-KR" sz="1200" b="1" kern="0">
                  <a:ln>
                    <a:solidFill>
                      <a:srgbClr val="A5C249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+mn-ea"/>
                </a:endParaRPr>
              </a:p>
            </p:txBody>
          </p:sp>
        </p:grpSp>
        <p:sp>
          <p:nvSpPr>
            <p:cNvPr id="20" name="Rectangle: Rounded Corners 46">
              <a:extLst>
                <a:ext uri="{FF2B5EF4-FFF2-40B4-BE49-F238E27FC236}">
                  <a16:creationId xmlns:a16="http://schemas.microsoft.com/office/drawing/2014/main" id="{F04E31A6-BC46-D890-2739-6C26EB437F59}"/>
                </a:ext>
              </a:extLst>
            </p:cNvPr>
            <p:cNvSpPr/>
            <p:nvPr/>
          </p:nvSpPr>
          <p:spPr>
            <a:xfrm>
              <a:off x="522288" y="2366642"/>
              <a:ext cx="1204912" cy="836708"/>
            </a:xfrm>
            <a:prstGeom prst="roundRect">
              <a:avLst>
                <a:gd name="adj" fmla="val 11418"/>
              </a:avLst>
            </a:prstGeom>
            <a:solidFill>
              <a:srgbClr val="F4B183"/>
            </a:solidFill>
            <a:ln>
              <a:solidFill>
                <a:schemeClr val="bg1"/>
              </a:solidFill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9144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Tx/>
                <a:buNone/>
                <a:tabLst/>
                <a:defRPr/>
              </a:pPr>
              <a:r>
                <a:rPr kumimoji="0" lang="ko-KR" altLang="en-US" sz="1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+mn-ea"/>
                  <a:cs typeface="Pretendard" panose="02000503000000020004" pitchFamily="50" charset="-127"/>
                </a:rPr>
                <a:t>목적</a:t>
              </a:r>
              <a:endParaRPr kumimoji="0" lang="en-US" altLang="ko-KR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cs typeface="Pretendard" panose="02000503000000020004" pitchFamily="50" charset="-127"/>
              </a:endParaRPr>
            </a:p>
          </p:txBody>
        </p:sp>
        <p:sp>
          <p:nvSpPr>
            <p:cNvPr id="21" name="Rectangle: Rounded Corners 46">
              <a:extLst>
                <a:ext uri="{FF2B5EF4-FFF2-40B4-BE49-F238E27FC236}">
                  <a16:creationId xmlns:a16="http://schemas.microsoft.com/office/drawing/2014/main" id="{B1F2A6E4-3E42-39B4-1287-0240F52F1F1F}"/>
                </a:ext>
              </a:extLst>
            </p:cNvPr>
            <p:cNvSpPr/>
            <p:nvPr/>
          </p:nvSpPr>
          <p:spPr>
            <a:xfrm>
              <a:off x="522289" y="3324736"/>
              <a:ext cx="1204912" cy="2547258"/>
            </a:xfrm>
            <a:prstGeom prst="roundRect">
              <a:avLst>
                <a:gd name="adj" fmla="val 6675"/>
              </a:avLst>
            </a:prstGeom>
            <a:solidFill>
              <a:srgbClr val="F4B183"/>
            </a:solidFill>
            <a:ln>
              <a:solidFill>
                <a:schemeClr val="bg1"/>
              </a:solidFill>
            </a:ln>
          </p:spPr>
          <p:txBody>
            <a:bodyPr spcFirstLastPara="1" wrap="square" lIns="0" tIns="0" rIns="504000" bIns="0" anchor="ctr" anchorCtr="0">
              <a:noAutofit/>
            </a:bodyPr>
            <a:lstStyle/>
            <a:p>
              <a:pPr marL="0" marR="0" lvl="0" indent="0" algn="ctr" defTabSz="9144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Tx/>
                <a:buNone/>
                <a:tabLst/>
                <a:defRPr/>
              </a:pPr>
              <a:r>
                <a:rPr kumimoji="0" lang="ko-KR" altLang="en-US" sz="1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+mn-ea"/>
                  <a:cs typeface="Pretendard" panose="02000503000000020004" pitchFamily="50" charset="-127"/>
                </a:rPr>
                <a:t>주요 </a:t>
              </a:r>
              <a:endParaRPr kumimoji="0" lang="en-US" altLang="ko-KR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cs typeface="Pretendard" panose="02000503000000020004" pitchFamily="50" charset="-127"/>
              </a:endParaRPr>
            </a:p>
            <a:p>
              <a:pPr marL="0" marR="0" lvl="0" indent="0" algn="ctr" defTabSz="9144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Tx/>
                <a:buNone/>
                <a:tabLst/>
                <a:defRPr/>
              </a:pPr>
              <a:r>
                <a:rPr kumimoji="0" lang="ko-KR" altLang="en-US" sz="1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+mn-ea"/>
                  <a:cs typeface="Pretendard" panose="02000503000000020004" pitchFamily="50" charset="-127"/>
                </a:rPr>
                <a:t>내용</a:t>
              </a:r>
              <a:endParaRPr kumimoji="0" lang="en-US" altLang="ko-KR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cs typeface="Pretendard" panose="02000503000000020004" pitchFamily="50" charset="-127"/>
              </a:endParaRPr>
            </a:p>
            <a:p>
              <a:pPr marL="0" marR="0" lvl="0" indent="0" algn="ctr" defTabSz="9144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+mn-ea"/>
                  <a:cs typeface="Pretendard" panose="02000503000000020004" pitchFamily="50" charset="-127"/>
                </a:rPr>
                <a:t>(</a:t>
              </a:r>
              <a:r>
                <a:rPr kumimoji="0" lang="ko-KR" altLang="en-US" sz="9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+mn-ea"/>
                  <a:cs typeface="Pretendard" panose="02000503000000020004" pitchFamily="50" charset="-127"/>
                </a:rPr>
                <a:t>문서 목차</a:t>
              </a:r>
              <a:r>
                <a:rPr kumimoji="0" lang="en-US" altLang="ko-KR" sz="9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+mn-ea"/>
                  <a:cs typeface="Pretendard" panose="02000503000000020004" pitchFamily="50" charset="-127"/>
                </a:rPr>
                <a:t>*)</a:t>
              </a:r>
            </a:p>
          </p:txBody>
        </p:sp>
        <p:sp>
          <p:nvSpPr>
            <p:cNvPr id="22" name="Rectangle: Rounded Corners 46">
              <a:extLst>
                <a:ext uri="{FF2B5EF4-FFF2-40B4-BE49-F238E27FC236}">
                  <a16:creationId xmlns:a16="http://schemas.microsoft.com/office/drawing/2014/main" id="{B315FAF6-C224-267B-78CF-5D6963CB1CA6}"/>
                </a:ext>
              </a:extLst>
            </p:cNvPr>
            <p:cNvSpPr/>
            <p:nvPr/>
          </p:nvSpPr>
          <p:spPr>
            <a:xfrm>
              <a:off x="522289" y="5917437"/>
              <a:ext cx="1204912" cy="494109"/>
            </a:xfrm>
            <a:prstGeom prst="roundRect">
              <a:avLst>
                <a:gd name="adj" fmla="val 22435"/>
              </a:avLst>
            </a:prstGeom>
            <a:solidFill>
              <a:srgbClr val="F4B183"/>
            </a:solidFill>
            <a:ln>
              <a:solidFill>
                <a:schemeClr val="bg1"/>
              </a:solidFill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9144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Tx/>
                <a:buNone/>
                <a:tabLst/>
                <a:defRPr/>
              </a:pPr>
              <a:r>
                <a:rPr kumimoji="0" lang="ko-KR" altLang="en-US" sz="1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+mn-ea"/>
                  <a:cs typeface="Pretendard" panose="02000503000000020004" pitchFamily="50" charset="-127"/>
                </a:rPr>
                <a:t>사용자</a:t>
              </a:r>
              <a:endParaRPr kumimoji="0" lang="en-US" altLang="ko-KR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cs typeface="Pretendard" panose="02000503000000020004" pitchFamily="50" charset="-127"/>
              </a:endParaRPr>
            </a:p>
          </p:txBody>
        </p:sp>
        <p:sp>
          <p:nvSpPr>
            <p:cNvPr id="23" name="Rectangle: Rounded Corners 46">
              <a:extLst>
                <a:ext uri="{FF2B5EF4-FFF2-40B4-BE49-F238E27FC236}">
                  <a16:creationId xmlns:a16="http://schemas.microsoft.com/office/drawing/2014/main" id="{5290F4DC-1CFB-155B-0BF6-790AB015A3A8}"/>
                </a:ext>
              </a:extLst>
            </p:cNvPr>
            <p:cNvSpPr/>
            <p:nvPr/>
          </p:nvSpPr>
          <p:spPr>
            <a:xfrm>
              <a:off x="1228725" y="3426270"/>
              <a:ext cx="582110" cy="540556"/>
            </a:xfrm>
            <a:prstGeom prst="roundRect">
              <a:avLst>
                <a:gd name="adj" fmla="val 11418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12700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wrap="square" lIns="0" tIns="0" rIns="0" bIns="0" rtlCol="0" anchor="ctr" anchorCtr="0"/>
            <a:lstStyle/>
            <a:p>
              <a:pPr algn="ctr" defTabSz="1042873"/>
              <a:r>
                <a:rPr lang="ko-KR" altLang="en-US" sz="1200" b="1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원칙</a:t>
              </a:r>
              <a:r>
                <a:rPr lang="en-US" altLang="ko-KR" sz="1200" b="1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/</a:t>
              </a:r>
            </a:p>
            <a:p>
              <a:pPr algn="ctr" defTabSz="1042873"/>
              <a:r>
                <a:rPr lang="ko-KR" altLang="en-US" sz="1200" b="1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기준</a:t>
              </a:r>
              <a:endPara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endParaRPr>
            </a:p>
          </p:txBody>
        </p:sp>
        <p:sp>
          <p:nvSpPr>
            <p:cNvPr id="24" name="Rectangle: Rounded Corners 46">
              <a:extLst>
                <a:ext uri="{FF2B5EF4-FFF2-40B4-BE49-F238E27FC236}">
                  <a16:creationId xmlns:a16="http://schemas.microsoft.com/office/drawing/2014/main" id="{EF89A730-BB76-9C84-9269-314F1FD475B9}"/>
                </a:ext>
              </a:extLst>
            </p:cNvPr>
            <p:cNvSpPr/>
            <p:nvPr/>
          </p:nvSpPr>
          <p:spPr>
            <a:xfrm>
              <a:off x="1228725" y="4031853"/>
              <a:ext cx="582110" cy="540556"/>
            </a:xfrm>
            <a:prstGeom prst="roundRect">
              <a:avLst>
                <a:gd name="adj" fmla="val 11418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12700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wrap="square" lIns="0" tIns="0" rIns="0" bIns="0" rtlCol="0" anchor="ctr" anchorCtr="0"/>
            <a:lstStyle/>
            <a:p>
              <a:pPr algn="ctr" defTabSz="1042873"/>
              <a:r>
                <a:rPr lang="ko-KR" altLang="en-US" sz="1200" b="1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조직</a:t>
              </a:r>
              <a:endPara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endParaRPr>
            </a:p>
          </p:txBody>
        </p:sp>
        <p:sp>
          <p:nvSpPr>
            <p:cNvPr id="25" name="Rectangle: Rounded Corners 46">
              <a:extLst>
                <a:ext uri="{FF2B5EF4-FFF2-40B4-BE49-F238E27FC236}">
                  <a16:creationId xmlns:a16="http://schemas.microsoft.com/office/drawing/2014/main" id="{41B2BCFB-8E66-140C-E2D8-65AF076C4F7C}"/>
                </a:ext>
              </a:extLst>
            </p:cNvPr>
            <p:cNvSpPr/>
            <p:nvPr/>
          </p:nvSpPr>
          <p:spPr>
            <a:xfrm>
              <a:off x="1228725" y="4637436"/>
              <a:ext cx="582110" cy="1177946"/>
            </a:xfrm>
            <a:prstGeom prst="roundRect">
              <a:avLst>
                <a:gd name="adj" fmla="val 11418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12700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wrap="square" lIns="0" tIns="0" rIns="0" bIns="0" rtlCol="0" anchor="ctr" anchorCtr="0"/>
            <a:lstStyle/>
            <a:p>
              <a:pPr algn="ctr" defTabSz="1042873"/>
              <a:r>
                <a:rPr lang="ko-KR" altLang="en-US" sz="1200" b="1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개발</a:t>
              </a:r>
              <a:r>
                <a:rPr lang="en-US" altLang="ko-KR" sz="1200" b="1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·</a:t>
              </a:r>
              <a:br>
                <a:rPr lang="en-US" altLang="ko-KR" sz="1200" b="1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</a:br>
              <a:r>
                <a:rPr lang="ko-KR" altLang="en-US" sz="1200" b="1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운영 관리 체계</a:t>
              </a:r>
              <a:endPara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857086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2DFBAA8D-59A7-D265-4E73-31B03DAF529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37E849E-F81C-1B16-4C59-351E0C59D8F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[Back-up] </a:t>
            </a:r>
            <a:r>
              <a:rPr lang="ko-KR" altLang="en-US"/>
              <a:t>타사 </a:t>
            </a:r>
            <a:r>
              <a:rPr lang="en-US" altLang="ko-KR"/>
              <a:t>AI</a:t>
            </a:r>
            <a:r>
              <a:rPr lang="ko-KR" altLang="en-US"/>
              <a:t>거버넌스 주요 내용</a:t>
            </a:r>
            <a:r>
              <a:rPr lang="en-US" altLang="ko-KR"/>
              <a:t>_K</a:t>
            </a:r>
            <a:r>
              <a:rPr lang="ko-KR" altLang="en-US"/>
              <a:t>은행 </a:t>
            </a:r>
            <a:r>
              <a:rPr lang="en-US" altLang="ko-KR"/>
              <a:t>(3/3)</a:t>
            </a:r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8D34FAD-5DE6-A0F7-0401-5EE848DE1A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/>
              <a:t>K</a:t>
            </a:r>
            <a:r>
              <a:rPr lang="ko-KR" altLang="en-US"/>
              <a:t>은행 </a:t>
            </a:r>
            <a:r>
              <a:rPr lang="en-US" altLang="ko-KR"/>
              <a:t>AI </a:t>
            </a:r>
            <a:r>
              <a:rPr lang="ko-KR" altLang="en-US"/>
              <a:t>모델</a:t>
            </a:r>
            <a:r>
              <a:rPr lang="en-US" altLang="ko-KR"/>
              <a:t> </a:t>
            </a:r>
            <a:r>
              <a:rPr lang="ko-KR" altLang="en-US"/>
              <a:t>개발 안내서의 주요 내용은 다음과 같음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6739F977-D0CE-0FDB-0DAE-47C963409734}"/>
              </a:ext>
            </a:extLst>
          </p:cNvPr>
          <p:cNvGrpSpPr/>
          <p:nvPr/>
        </p:nvGrpSpPr>
        <p:grpSpPr>
          <a:xfrm>
            <a:off x="407987" y="1341439"/>
            <a:ext cx="11376025" cy="5111750"/>
            <a:chOff x="407987" y="1917701"/>
            <a:chExt cx="11376025" cy="4595901"/>
          </a:xfrm>
        </p:grpSpPr>
        <p:sp>
          <p:nvSpPr>
            <p:cNvPr id="6" name="사각형: 둥근 모서리 20">
              <a:extLst>
                <a:ext uri="{FF2B5EF4-FFF2-40B4-BE49-F238E27FC236}">
                  <a16:creationId xmlns:a16="http://schemas.microsoft.com/office/drawing/2014/main" id="{B9808BA6-D271-5401-FB27-203797F9159A}"/>
                </a:ext>
              </a:extLst>
            </p:cNvPr>
            <p:cNvSpPr/>
            <p:nvPr/>
          </p:nvSpPr>
          <p:spPr>
            <a:xfrm>
              <a:off x="407988" y="1917701"/>
              <a:ext cx="2052000" cy="323330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75000"/>
              </a:schemeClr>
            </a:solidFill>
            <a:ln w="12700">
              <a:noFill/>
            </a:ln>
            <a:effectLst/>
          </p:spPr>
          <p:txBody>
            <a:bodyPr lIns="0" tIns="0" rIns="0" bIns="0" rtlCol="0" anchor="ctr" anchorCtr="0"/>
            <a:lstStyle/>
            <a:p>
              <a:pPr algn="ctr" defTabSz="914400"/>
              <a:r>
                <a:rPr lang="ko-KR" altLang="en-US" sz="1400" b="1" spc="-150">
                  <a:solidFill>
                    <a:schemeClr val="bg1">
                      <a:lumMod val="95000"/>
                    </a:schemeClr>
                  </a:solidFill>
                  <a:latin typeface="+mn-ea"/>
                  <a:cs typeface="Noto Sans" panose="020B0502040504020204" pitchFamily="34" charset="0"/>
                </a:rPr>
                <a:t>① </a:t>
              </a:r>
              <a:r>
                <a:rPr lang="en-US" altLang="ko-KR" sz="1400" b="1" spc="-150">
                  <a:solidFill>
                    <a:schemeClr val="bg1">
                      <a:lumMod val="95000"/>
                    </a:schemeClr>
                  </a:solidFill>
                  <a:latin typeface="+mn-ea"/>
                  <a:cs typeface="Noto Sans" panose="020B0502040504020204" pitchFamily="34" charset="0"/>
                </a:rPr>
                <a:t>AI  </a:t>
              </a:r>
              <a:r>
                <a:rPr lang="ko-KR" altLang="en-US" sz="1400" b="1" spc="-150">
                  <a:solidFill>
                    <a:schemeClr val="bg1">
                      <a:lumMod val="95000"/>
                    </a:schemeClr>
                  </a:solidFill>
                  <a:latin typeface="+mn-ea"/>
                  <a:cs typeface="Noto Sans" panose="020B0502040504020204" pitchFamily="34" charset="0"/>
                </a:rPr>
                <a:t>위험관리지침</a:t>
              </a:r>
            </a:p>
          </p:txBody>
        </p:sp>
        <p:sp>
          <p:nvSpPr>
            <p:cNvPr id="7" name="사각형: 둥근 모서리 20">
              <a:extLst>
                <a:ext uri="{FF2B5EF4-FFF2-40B4-BE49-F238E27FC236}">
                  <a16:creationId xmlns:a16="http://schemas.microsoft.com/office/drawing/2014/main" id="{5449AAC0-325F-00B3-07B8-D67DEB6B5501}"/>
                </a:ext>
              </a:extLst>
            </p:cNvPr>
            <p:cNvSpPr/>
            <p:nvPr/>
          </p:nvSpPr>
          <p:spPr>
            <a:xfrm>
              <a:off x="2504414" y="1917701"/>
              <a:ext cx="2052000" cy="323330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75000"/>
              </a:schemeClr>
            </a:solidFill>
            <a:ln w="12700">
              <a:noFill/>
            </a:ln>
            <a:effectLst/>
          </p:spPr>
          <p:txBody>
            <a:bodyPr lIns="0" tIns="0" rIns="0" bIns="0" rtlCol="0" anchor="ctr" anchorCtr="0"/>
            <a:lstStyle/>
            <a:p>
              <a:pPr algn="ctr" defTabSz="914400"/>
              <a:r>
                <a:rPr lang="ko-KR" altLang="en-US" sz="1400" b="1" spc="-150">
                  <a:solidFill>
                    <a:schemeClr val="bg1">
                      <a:lumMod val="95000"/>
                    </a:schemeClr>
                  </a:solidFill>
                  <a:latin typeface="+mn-ea"/>
                  <a:cs typeface="Noto Sans" panose="020B0502040504020204" pitchFamily="34" charset="0"/>
                </a:rPr>
                <a:t>② </a:t>
              </a:r>
              <a:r>
                <a:rPr lang="en-US" altLang="ko-KR" sz="1400" b="1" spc="-150">
                  <a:solidFill>
                    <a:schemeClr val="bg1">
                      <a:lumMod val="95000"/>
                    </a:schemeClr>
                  </a:solidFill>
                  <a:latin typeface="+mn-ea"/>
                  <a:cs typeface="Noto Sans" panose="020B0502040504020204" pitchFamily="34" charset="0"/>
                </a:rPr>
                <a:t>AI </a:t>
              </a:r>
              <a:r>
                <a:rPr lang="ko-KR" altLang="en-US" sz="1400" b="1" spc="-150">
                  <a:solidFill>
                    <a:schemeClr val="bg1">
                      <a:lumMod val="95000"/>
                    </a:schemeClr>
                  </a:solidFill>
                  <a:latin typeface="+mn-ea"/>
                  <a:cs typeface="Noto Sans" panose="020B0502040504020204" pitchFamily="34" charset="0"/>
                </a:rPr>
                <a:t>위험관리 업무매뉴얼</a:t>
              </a:r>
            </a:p>
          </p:txBody>
        </p:sp>
        <p:sp>
          <p:nvSpPr>
            <p:cNvPr id="8" name="사각형: 둥근 모서리 20">
              <a:extLst>
                <a:ext uri="{FF2B5EF4-FFF2-40B4-BE49-F238E27FC236}">
                  <a16:creationId xmlns:a16="http://schemas.microsoft.com/office/drawing/2014/main" id="{5D696184-DE18-F01C-6E4B-F7F838A6C6D3}"/>
                </a:ext>
              </a:extLst>
            </p:cNvPr>
            <p:cNvSpPr/>
            <p:nvPr/>
          </p:nvSpPr>
          <p:spPr>
            <a:xfrm>
              <a:off x="407987" y="2241031"/>
              <a:ext cx="11376025" cy="4272571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accent2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" altLang="ko-KR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endParaRPr>
            </a:p>
          </p:txBody>
        </p:sp>
        <p:sp>
          <p:nvSpPr>
            <p:cNvPr id="9" name="Rectangle: Rounded Corners 46">
              <a:extLst>
                <a:ext uri="{FF2B5EF4-FFF2-40B4-BE49-F238E27FC236}">
                  <a16:creationId xmlns:a16="http://schemas.microsoft.com/office/drawing/2014/main" id="{6F09D1D7-53C7-689B-D5FB-E969CCE3EA49}"/>
                </a:ext>
              </a:extLst>
            </p:cNvPr>
            <p:cNvSpPr/>
            <p:nvPr/>
          </p:nvSpPr>
          <p:spPr>
            <a:xfrm>
              <a:off x="5277149" y="2366642"/>
              <a:ext cx="6259531" cy="4044904"/>
            </a:xfrm>
            <a:prstGeom prst="snip1Rect">
              <a:avLst/>
            </a:prstGeom>
            <a:pattFill prst="dkUpDiag">
              <a:fgClr>
                <a:schemeClr val="accent1">
                  <a:lumMod val="20000"/>
                  <a:lumOff val="80000"/>
                </a:schemeClr>
              </a:fgClr>
              <a:bgClr>
                <a:prstClr val="white"/>
              </a:bgClr>
            </a:pattFill>
            <a:ln w="3175" cap="flat" cmpd="sng" algn="ctr">
              <a:noFill/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lIns="0" tIns="0" rIns="0" bIns="0" rtlCol="0" anchor="ctr" anchorCtr="0"/>
            <a:lstStyle/>
            <a:p>
              <a:pPr marL="0" marR="0" lvl="0" indent="0" algn="ctr" defTabSz="10428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Pretendard SemiBold" panose="02000703000000020004" pitchFamily="50" charset="-127"/>
              </a:endParaRPr>
            </a:p>
          </p:txBody>
        </p:sp>
        <p:sp>
          <p:nvSpPr>
            <p:cNvPr id="10" name="사각형: 둥근 모서리 20">
              <a:extLst>
                <a:ext uri="{FF2B5EF4-FFF2-40B4-BE49-F238E27FC236}">
                  <a16:creationId xmlns:a16="http://schemas.microsoft.com/office/drawing/2014/main" id="{B98E6046-65BB-4530-3E0E-BECD80F44C8C}"/>
                </a:ext>
              </a:extLst>
            </p:cNvPr>
            <p:cNvSpPr/>
            <p:nvPr/>
          </p:nvSpPr>
          <p:spPr>
            <a:xfrm>
              <a:off x="4600839" y="1917701"/>
              <a:ext cx="2052000" cy="323330"/>
            </a:xfrm>
            <a:prstGeom prst="roundRect">
              <a:avLst>
                <a:gd name="adj" fmla="val 0"/>
              </a:avLst>
            </a:prstGeom>
            <a:solidFill>
              <a:schemeClr val="accent2"/>
            </a:solidFill>
            <a:ln>
              <a:solidFill>
                <a:schemeClr val="accent2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 defTabSz="914400"/>
              <a:r>
                <a:rPr lang="ko-KR" altLang="en-US" sz="1400" b="1" spc="-150">
                  <a:solidFill>
                    <a:schemeClr val="bg1">
                      <a:lumMod val="95000"/>
                    </a:schemeClr>
                  </a:solidFill>
                  <a:latin typeface="+mn-ea"/>
                  <a:cs typeface="Noto Sans" panose="020B0502040504020204" pitchFamily="34" charset="0"/>
                </a:rPr>
                <a:t>③ </a:t>
              </a:r>
              <a:r>
                <a:rPr lang="en-US" altLang="ko-KR" sz="1400" b="1" spc="-150">
                  <a:solidFill>
                    <a:schemeClr val="bg1">
                      <a:lumMod val="95000"/>
                    </a:schemeClr>
                  </a:solidFill>
                  <a:latin typeface="+mn-ea"/>
                  <a:cs typeface="Noto Sans" panose="020B0502040504020204" pitchFamily="34" charset="0"/>
                </a:rPr>
                <a:t>AI</a:t>
              </a:r>
              <a:r>
                <a:rPr lang="ko-KR" altLang="en-US" sz="1400" b="1" spc="-150">
                  <a:solidFill>
                    <a:schemeClr val="bg1">
                      <a:lumMod val="95000"/>
                    </a:schemeClr>
                  </a:solidFill>
                  <a:latin typeface="+mn-ea"/>
                  <a:cs typeface="Noto Sans" panose="020B0502040504020204" pitchFamily="34" charset="0"/>
                </a:rPr>
                <a:t> 모델 개발안내서</a:t>
              </a:r>
            </a:p>
          </p:txBody>
        </p:sp>
        <p:sp>
          <p:nvSpPr>
            <p:cNvPr id="11" name="Rectangle: Rounded Corners 46">
              <a:extLst>
                <a:ext uri="{FF2B5EF4-FFF2-40B4-BE49-F238E27FC236}">
                  <a16:creationId xmlns:a16="http://schemas.microsoft.com/office/drawing/2014/main" id="{4E46EE5F-9D19-89DF-F451-35F5EABE7BC4}"/>
                </a:ext>
              </a:extLst>
            </p:cNvPr>
            <p:cNvSpPr/>
            <p:nvPr/>
          </p:nvSpPr>
          <p:spPr>
            <a:xfrm>
              <a:off x="5479142" y="2444164"/>
              <a:ext cx="2052190" cy="340981"/>
            </a:xfrm>
            <a:prstGeom prst="roundRect">
              <a:avLst>
                <a:gd name="adj" fmla="val 11418"/>
              </a:avLst>
            </a:prstGeom>
            <a:noFill/>
            <a:ln w="3175" cap="flat" cmpd="sng" algn="ctr">
              <a:noFill/>
              <a:prstDash val="solid"/>
            </a:ln>
            <a:effectLst/>
          </p:spPr>
          <p:txBody>
            <a:bodyPr wrap="square" lIns="0" tIns="0" rIns="0" bIns="0" rtlCol="0" anchor="ctr" anchorCtr="0"/>
            <a:lstStyle/>
            <a:p>
              <a:pPr marL="0" marR="0" lvl="0" indent="0" defTabSz="10428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1" i="0" u="none" strike="noStrike" kern="0" cap="none" spc="0" normalizeH="0" baseline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Contents</a:t>
              </a:r>
            </a:p>
          </p:txBody>
        </p:sp>
        <p:sp>
          <p:nvSpPr>
            <p:cNvPr id="12" name="Rectangle: Rounded Corners 46">
              <a:extLst>
                <a:ext uri="{FF2B5EF4-FFF2-40B4-BE49-F238E27FC236}">
                  <a16:creationId xmlns:a16="http://schemas.microsoft.com/office/drawing/2014/main" id="{A26C02A5-F72C-A76B-3E4F-AD37E8C5C545}"/>
                </a:ext>
              </a:extLst>
            </p:cNvPr>
            <p:cNvSpPr/>
            <p:nvPr/>
          </p:nvSpPr>
          <p:spPr>
            <a:xfrm>
              <a:off x="1943373" y="3426269"/>
              <a:ext cx="3250142" cy="540555"/>
            </a:xfrm>
            <a:prstGeom prst="roundRect">
              <a:avLst>
                <a:gd name="adj" fmla="val 11418"/>
              </a:avLst>
            </a:prstGeom>
            <a:solidFill>
              <a:schemeClr val="bg1">
                <a:lumMod val="95000"/>
              </a:schemeClr>
            </a:solidFill>
            <a:ln w="3175" cap="flat" cmpd="sng" algn="ctr">
              <a:noFill/>
              <a:prstDash val="solid"/>
            </a:ln>
            <a:effectLst/>
          </p:spPr>
          <p:txBody>
            <a:bodyPr wrap="square" lIns="90000" tIns="0" rIns="90000" bIns="0" rtlCol="0" anchor="ctr" anchorCtr="0"/>
            <a:lstStyle/>
            <a:p>
              <a:pPr marL="171450" marR="0" lvl="0" indent="-171450" defTabSz="10428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ko-KR" sz="1200" i="0" u="none" strike="noStrike" kern="0" cap="none" spc="0" normalizeH="0" baseline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AI </a:t>
              </a:r>
              <a:r>
                <a:rPr kumimoji="0" lang="ko-KR" altLang="en-US" sz="1200" i="0" u="none" strike="noStrike" kern="0" cap="none" spc="0" normalizeH="0" baseline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모델 개발 조직 및 업무 프로세스</a:t>
              </a:r>
              <a:endPara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endParaRPr>
            </a:p>
            <a:p>
              <a:pPr marL="171450" marR="0" lvl="0" indent="-171450" defTabSz="10428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1200" i="0" u="none" strike="noStrike" kern="0" cap="none" spc="0" normalizeH="0" baseline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기록관리 및 보관 대상 정의</a:t>
              </a:r>
            </a:p>
          </p:txBody>
        </p:sp>
        <p:sp>
          <p:nvSpPr>
            <p:cNvPr id="13" name="Rectangle: Rounded Corners 46">
              <a:extLst>
                <a:ext uri="{FF2B5EF4-FFF2-40B4-BE49-F238E27FC236}">
                  <a16:creationId xmlns:a16="http://schemas.microsoft.com/office/drawing/2014/main" id="{D0677270-93B3-2FEB-8EAA-B673887A9236}"/>
                </a:ext>
              </a:extLst>
            </p:cNvPr>
            <p:cNvSpPr/>
            <p:nvPr/>
          </p:nvSpPr>
          <p:spPr>
            <a:xfrm>
              <a:off x="1943373" y="2366642"/>
              <a:ext cx="3250142" cy="836708"/>
            </a:xfrm>
            <a:prstGeom prst="roundRect">
              <a:avLst>
                <a:gd name="adj" fmla="val 11418"/>
              </a:avLst>
            </a:prstGeom>
            <a:solidFill>
              <a:schemeClr val="bg1">
                <a:lumMod val="95000"/>
              </a:schemeClr>
            </a:solidFill>
            <a:ln w="3175" cap="flat" cmpd="sng" algn="ctr">
              <a:noFill/>
              <a:prstDash val="solid"/>
            </a:ln>
            <a:effectLst/>
          </p:spPr>
          <p:txBody>
            <a:bodyPr wrap="square" lIns="90000" tIns="0" rIns="90000" bIns="0" rtlCol="0" anchor="ctr" anchorCtr="0"/>
            <a:lstStyle/>
            <a:p>
              <a:pPr defTabSz="1042873">
                <a:lnSpc>
                  <a:spcPct val="130000"/>
                </a:lnSpc>
              </a:pPr>
              <a:r>
                <a:rPr lang="en-US" altLang="ko-KR" sz="1200" kern="0" spc="-7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AI </a:t>
              </a:r>
              <a:r>
                <a:rPr lang="ko-KR" altLang="en-US" sz="1200" kern="0" spc="-7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도입 및 활용하는 과정에서 발생할 수 있는 위험을 </a:t>
              </a:r>
              <a:r>
                <a:rPr lang="en-US" altLang="ko-KR" sz="1200" kern="0" spc="-7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AI </a:t>
              </a:r>
              <a:r>
                <a:rPr lang="ko-KR" altLang="en-US" sz="1200" kern="0" spc="-7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모델 개발단계에서 관리 및 경감하는 것을 목적으로 업무처리 방안 제공</a:t>
              </a:r>
            </a:p>
          </p:txBody>
        </p:sp>
        <p:sp>
          <p:nvSpPr>
            <p:cNvPr id="14" name="Rectangle: Rounded Corners 46">
              <a:extLst>
                <a:ext uri="{FF2B5EF4-FFF2-40B4-BE49-F238E27FC236}">
                  <a16:creationId xmlns:a16="http://schemas.microsoft.com/office/drawing/2014/main" id="{CD9F8473-78C4-745D-D854-A04E8EC5CE16}"/>
                </a:ext>
              </a:extLst>
            </p:cNvPr>
            <p:cNvSpPr/>
            <p:nvPr/>
          </p:nvSpPr>
          <p:spPr>
            <a:xfrm>
              <a:off x="1943373" y="4031853"/>
              <a:ext cx="3250142" cy="540555"/>
            </a:xfrm>
            <a:prstGeom prst="roundRect">
              <a:avLst>
                <a:gd name="adj" fmla="val 11418"/>
              </a:avLst>
            </a:prstGeom>
            <a:solidFill>
              <a:schemeClr val="bg1">
                <a:lumMod val="95000"/>
              </a:schemeClr>
            </a:solidFill>
            <a:ln w="3175" cap="flat" cmpd="sng" algn="ctr">
              <a:noFill/>
              <a:prstDash val="solid"/>
            </a:ln>
            <a:effectLst/>
          </p:spPr>
          <p:txBody>
            <a:bodyPr wrap="square" lIns="90000" tIns="0" rIns="90000" bIns="0" rtlCol="0" anchor="ctr" anchorCtr="0"/>
            <a:lstStyle/>
            <a:p>
              <a:pPr marL="171450" indent="-171450" defTabSz="1042873">
                <a:buFont typeface="Arial" panose="020B0604020202020204" pitchFamily="34" charset="0"/>
                <a:buChar char="•"/>
                <a:defRPr/>
              </a:pPr>
              <a:r>
                <a:rPr lang="en-US" altLang="ko-KR" sz="1200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</a:rPr>
                <a:t>AI </a:t>
              </a:r>
              <a:r>
                <a:rPr lang="ko-KR" altLang="en-US" sz="1200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</a:rPr>
                <a:t>모델 개발 단계별 수행 주체 및 역할 </a:t>
              </a:r>
            </a:p>
          </p:txBody>
        </p:sp>
        <p:sp>
          <p:nvSpPr>
            <p:cNvPr id="15" name="Rectangle: Rounded Corners 46">
              <a:extLst>
                <a:ext uri="{FF2B5EF4-FFF2-40B4-BE49-F238E27FC236}">
                  <a16:creationId xmlns:a16="http://schemas.microsoft.com/office/drawing/2014/main" id="{1222B25C-A2F7-B030-8110-36AD8D282B09}"/>
                </a:ext>
              </a:extLst>
            </p:cNvPr>
            <p:cNvSpPr/>
            <p:nvPr/>
          </p:nvSpPr>
          <p:spPr>
            <a:xfrm>
              <a:off x="1943373" y="4637436"/>
              <a:ext cx="3250142" cy="1177946"/>
            </a:xfrm>
            <a:prstGeom prst="roundRect">
              <a:avLst>
                <a:gd name="adj" fmla="val 5596"/>
              </a:avLst>
            </a:prstGeom>
            <a:solidFill>
              <a:schemeClr val="bg1">
                <a:lumMod val="95000"/>
              </a:schemeClr>
            </a:solidFill>
            <a:ln w="3175" cap="flat" cmpd="sng" algn="ctr">
              <a:noFill/>
              <a:prstDash val="solid"/>
            </a:ln>
            <a:effectLst/>
          </p:spPr>
          <p:txBody>
            <a:bodyPr wrap="square" lIns="90000" tIns="0" rIns="90000" bIns="0" rtlCol="0" anchor="ctr" anchorCtr="0"/>
            <a:lstStyle/>
            <a:p>
              <a:pPr marL="171450" marR="0" lvl="0" indent="-171450" defTabSz="10428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ko-KR" sz="1200" i="0" u="none" strike="noStrike" kern="0" cap="none" spc="0" normalizeH="0" baseline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AI </a:t>
              </a:r>
              <a:r>
                <a:rPr kumimoji="0" lang="ko-KR" altLang="en-US" sz="1200" i="0" u="none" strike="noStrike" kern="0" cap="none" spc="0" normalizeH="0" baseline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모델 개발 및 운영 관련 보안 대책</a:t>
              </a:r>
            </a:p>
          </p:txBody>
        </p:sp>
        <p:sp>
          <p:nvSpPr>
            <p:cNvPr id="16" name="Rectangle: Rounded Corners 46">
              <a:extLst>
                <a:ext uri="{FF2B5EF4-FFF2-40B4-BE49-F238E27FC236}">
                  <a16:creationId xmlns:a16="http://schemas.microsoft.com/office/drawing/2014/main" id="{0EC45492-FD63-2E38-A2E3-DB8DA20C0D3D}"/>
                </a:ext>
              </a:extLst>
            </p:cNvPr>
            <p:cNvSpPr/>
            <p:nvPr/>
          </p:nvSpPr>
          <p:spPr>
            <a:xfrm>
              <a:off x="1943373" y="5917437"/>
              <a:ext cx="3250142" cy="494109"/>
            </a:xfrm>
            <a:prstGeom prst="roundRect">
              <a:avLst>
                <a:gd name="adj" fmla="val 11418"/>
              </a:avLst>
            </a:prstGeom>
            <a:solidFill>
              <a:schemeClr val="bg1">
                <a:lumMod val="95000"/>
              </a:schemeClr>
            </a:solidFill>
            <a:ln w="3175" cap="flat" cmpd="sng" algn="ctr">
              <a:noFill/>
              <a:prstDash val="solid"/>
            </a:ln>
            <a:effectLst/>
          </p:spPr>
          <p:txBody>
            <a:bodyPr wrap="square" lIns="90000" tIns="0" rIns="90000" bIns="0" rtlCol="0" anchor="ctr" anchorCtr="0"/>
            <a:lstStyle/>
            <a:p>
              <a:pPr algn="ctr" defTabSz="1042873">
                <a:defRPr/>
              </a:pPr>
              <a:r>
                <a:rPr lang="en-US" altLang="ko-KR" sz="1200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AI </a:t>
              </a:r>
              <a:r>
                <a:rPr lang="ko-KR" altLang="en-US" sz="1200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서비스 기획</a:t>
              </a:r>
              <a:r>
                <a:rPr lang="en-US" altLang="ko-KR" sz="1200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/</a:t>
              </a:r>
              <a:r>
                <a:rPr lang="ko-KR" altLang="en-US" sz="1200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개발</a:t>
              </a:r>
              <a:r>
                <a:rPr lang="en-US" altLang="ko-KR" sz="1200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/</a:t>
              </a:r>
              <a:r>
                <a:rPr lang="ko-KR" altLang="en-US" sz="1200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운영</a:t>
              </a:r>
              <a:r>
                <a:rPr lang="en-US" altLang="ko-KR" sz="1200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,</a:t>
              </a:r>
            </a:p>
            <a:p>
              <a:pPr algn="ctr" defTabSz="1042873">
                <a:defRPr/>
              </a:pPr>
              <a:r>
                <a:rPr lang="en-US" altLang="ko-KR" sz="1200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AI</a:t>
              </a:r>
              <a:r>
                <a:rPr lang="ko-KR" altLang="en-US" sz="1200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위험관리 전담조직</a:t>
              </a:r>
              <a:endParaRPr lang="en-US" altLang="ko-KR" sz="1200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endParaRPr>
            </a:p>
          </p:txBody>
        </p:sp>
        <p:grpSp>
          <p:nvGrpSpPr>
            <p:cNvPr id="17" name="Group 38">
              <a:extLst>
                <a:ext uri="{FF2B5EF4-FFF2-40B4-BE49-F238E27FC236}">
                  <a16:creationId xmlns:a16="http://schemas.microsoft.com/office/drawing/2014/main" id="{7A223E39-AAE9-A2AF-E4B9-6115F06BD76B}"/>
                </a:ext>
              </a:extLst>
            </p:cNvPr>
            <p:cNvGrpSpPr/>
            <p:nvPr/>
          </p:nvGrpSpPr>
          <p:grpSpPr>
            <a:xfrm>
              <a:off x="5598487" y="2830678"/>
              <a:ext cx="2588011" cy="1214135"/>
              <a:chOff x="8569746" y="2830678"/>
              <a:chExt cx="2588011" cy="1214135"/>
            </a:xfrm>
          </p:grpSpPr>
          <p:sp>
            <p:nvSpPr>
              <p:cNvPr id="54" name="Rectangle: Rounded Corners 46">
                <a:extLst>
                  <a:ext uri="{FF2B5EF4-FFF2-40B4-BE49-F238E27FC236}">
                    <a16:creationId xmlns:a16="http://schemas.microsoft.com/office/drawing/2014/main" id="{67D403F9-5AC6-0FAD-833F-F751A2CB7D0C}"/>
                  </a:ext>
                </a:extLst>
              </p:cNvPr>
              <p:cNvSpPr/>
              <p:nvPr/>
            </p:nvSpPr>
            <p:spPr>
              <a:xfrm>
                <a:off x="8906961" y="3725741"/>
                <a:ext cx="2250795" cy="319072"/>
              </a:xfrm>
              <a:prstGeom prst="roundRect">
                <a:avLst>
                  <a:gd name="adj" fmla="val 11418"/>
                </a:avLst>
              </a:prstGeom>
              <a:solidFill>
                <a:schemeClr val="bg1"/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txBody>
              <a:bodyPr spcFirstLastPara="1" wrap="square" lIns="108000" tIns="0" rIns="0" bIns="0" anchor="ctr" anchorCtr="0">
                <a:noAutofit/>
              </a:bodyPr>
              <a:lstStyle/>
              <a:p>
                <a:pPr defTabSz="914446">
                  <a:buClr>
                    <a:srgbClr val="FFFFFF"/>
                  </a:buClr>
                  <a:buSzPts val="1100"/>
                </a:pPr>
                <a:r>
                  <a:rPr lang="ko-KR" altLang="en-US" sz="1100" b="1">
                    <a:latin typeface="+mn-ea"/>
                    <a:cs typeface="Pretendard" panose="02000503000000020004" pitchFamily="50" charset="-127"/>
                  </a:rPr>
                  <a:t>제</a:t>
                </a:r>
                <a:r>
                  <a:rPr lang="en-US" altLang="ko-KR" sz="1100" b="1">
                    <a:latin typeface="+mn-ea"/>
                    <a:cs typeface="Pretendard" panose="02000503000000020004" pitchFamily="50" charset="-127"/>
                  </a:rPr>
                  <a:t>2</a:t>
                </a:r>
                <a:r>
                  <a:rPr lang="ko-KR" altLang="en-US" sz="1100" b="1">
                    <a:latin typeface="+mn-ea"/>
                    <a:cs typeface="Pretendard" panose="02000503000000020004" pitchFamily="50" charset="-127"/>
                  </a:rPr>
                  <a:t>절 기본 준수사항</a:t>
                </a:r>
                <a:endParaRPr lang="en-US" altLang="ko-KR" sz="1100" b="1">
                  <a:latin typeface="+mn-ea"/>
                  <a:cs typeface="Pretendard" panose="02000503000000020004" pitchFamily="50" charset="-127"/>
                </a:endParaRPr>
              </a:p>
            </p:txBody>
          </p:sp>
          <p:sp>
            <p:nvSpPr>
              <p:cNvPr id="55" name="Rectangle: Rounded Corners 46">
                <a:extLst>
                  <a:ext uri="{FF2B5EF4-FFF2-40B4-BE49-F238E27FC236}">
                    <a16:creationId xmlns:a16="http://schemas.microsoft.com/office/drawing/2014/main" id="{8431A3D2-105E-6D20-3E10-21E845BAAD48}"/>
                  </a:ext>
                </a:extLst>
              </p:cNvPr>
              <p:cNvSpPr/>
              <p:nvPr/>
            </p:nvSpPr>
            <p:spPr>
              <a:xfrm>
                <a:off x="8906961" y="3336207"/>
                <a:ext cx="2250795" cy="319072"/>
              </a:xfrm>
              <a:prstGeom prst="roundRect">
                <a:avLst>
                  <a:gd name="adj" fmla="val 11418"/>
                </a:avLst>
              </a:prstGeom>
              <a:solidFill>
                <a:schemeClr val="bg1"/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txBody>
              <a:bodyPr spcFirstLastPara="1" wrap="square" lIns="108000" tIns="0" rIns="0" bIns="0" anchor="ctr" anchorCtr="0">
                <a:noAutofit/>
              </a:bodyPr>
              <a:lstStyle/>
              <a:p>
                <a:pPr defTabSz="914446">
                  <a:buClr>
                    <a:srgbClr val="FFFFFF"/>
                  </a:buClr>
                  <a:buSzPts val="1100"/>
                </a:pPr>
                <a:r>
                  <a:rPr lang="ko-KR" altLang="en-US" sz="1100" b="1">
                    <a:latin typeface="+mn-ea"/>
                    <a:cs typeface="Pretendard" panose="02000503000000020004" pitchFamily="50" charset="-127"/>
                  </a:rPr>
                  <a:t>제</a:t>
                </a:r>
                <a:r>
                  <a:rPr lang="en-US" altLang="ko-KR" sz="1100" b="1">
                    <a:latin typeface="+mn-ea"/>
                    <a:cs typeface="Pretendard" panose="02000503000000020004" pitchFamily="50" charset="-127"/>
                  </a:rPr>
                  <a:t>1</a:t>
                </a:r>
                <a:r>
                  <a:rPr lang="ko-KR" altLang="en-US" sz="1100" b="1">
                    <a:latin typeface="+mn-ea"/>
                    <a:cs typeface="Pretendard" panose="02000503000000020004" pitchFamily="50" charset="-127"/>
                  </a:rPr>
                  <a:t>절 </a:t>
                </a:r>
                <a:r>
                  <a:rPr lang="en-US" altLang="ko-KR" sz="1100" b="1">
                    <a:latin typeface="+mn-ea"/>
                    <a:cs typeface="Pretendard" panose="02000503000000020004" pitchFamily="50" charset="-127"/>
                  </a:rPr>
                  <a:t>AI </a:t>
                </a:r>
                <a:r>
                  <a:rPr lang="ko-KR" altLang="en-US" sz="1100" b="1">
                    <a:latin typeface="+mn-ea"/>
                    <a:cs typeface="Pretendard" panose="02000503000000020004" pitchFamily="50" charset="-127"/>
                  </a:rPr>
                  <a:t>모델 개발 안내서 개요</a:t>
                </a:r>
                <a:endParaRPr lang="en-US" altLang="ko-KR" sz="1100" b="1">
                  <a:latin typeface="+mn-ea"/>
                  <a:cs typeface="Pretendard" panose="02000503000000020004" pitchFamily="50" charset="-127"/>
                </a:endParaRPr>
              </a:p>
            </p:txBody>
          </p:sp>
          <p:cxnSp>
            <p:nvCxnSpPr>
              <p:cNvPr id="56" name="연결선: 꺾임 38">
                <a:extLst>
                  <a:ext uri="{FF2B5EF4-FFF2-40B4-BE49-F238E27FC236}">
                    <a16:creationId xmlns:a16="http://schemas.microsoft.com/office/drawing/2014/main" id="{2CD668FF-3451-186A-1835-67B9F9F416B5}"/>
                  </a:ext>
                </a:extLst>
              </p:cNvPr>
              <p:cNvCxnSpPr>
                <a:cxnSpLocks/>
                <a:stCxn id="57" idx="2"/>
                <a:endCxn id="54" idx="1"/>
              </p:cNvCxnSpPr>
              <p:nvPr/>
            </p:nvCxnSpPr>
            <p:spPr>
              <a:xfrm rot="16200000" flipH="1">
                <a:off x="8424183" y="3402499"/>
                <a:ext cx="746450" cy="219105"/>
              </a:xfrm>
              <a:prstGeom prst="bentConnector2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7" name="직사각형 40">
                <a:extLst>
                  <a:ext uri="{FF2B5EF4-FFF2-40B4-BE49-F238E27FC236}">
                    <a16:creationId xmlns:a16="http://schemas.microsoft.com/office/drawing/2014/main" id="{CC0037F9-17DF-5371-45C4-805ED03D46F9}"/>
                  </a:ext>
                </a:extLst>
              </p:cNvPr>
              <p:cNvSpPr/>
              <p:nvPr/>
            </p:nvSpPr>
            <p:spPr>
              <a:xfrm>
                <a:off x="8569746" y="2871493"/>
                <a:ext cx="236220" cy="26733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latinLnBrk="0"/>
                <a:endParaRPr lang="ko-KR" altLang="en-US">
                  <a:latin typeface="+mn-ea"/>
                </a:endParaRPr>
              </a:p>
            </p:txBody>
          </p:sp>
          <p:cxnSp>
            <p:nvCxnSpPr>
              <p:cNvPr id="58" name="연결선: 꺾임 41">
                <a:extLst>
                  <a:ext uri="{FF2B5EF4-FFF2-40B4-BE49-F238E27FC236}">
                    <a16:creationId xmlns:a16="http://schemas.microsoft.com/office/drawing/2014/main" id="{16693614-F754-1EC8-6BC2-272533A0FB50}"/>
                  </a:ext>
                </a:extLst>
              </p:cNvPr>
              <p:cNvCxnSpPr>
                <a:cxnSpLocks/>
                <a:stCxn id="57" idx="2"/>
                <a:endCxn id="55" idx="1"/>
              </p:cNvCxnSpPr>
              <p:nvPr/>
            </p:nvCxnSpPr>
            <p:spPr>
              <a:xfrm rot="16200000" flipH="1">
                <a:off x="8618950" y="3207732"/>
                <a:ext cx="356916" cy="219105"/>
              </a:xfrm>
              <a:prstGeom prst="bentConnector2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9" name="Rectangle: Rounded Corners 46">
                <a:extLst>
                  <a:ext uri="{FF2B5EF4-FFF2-40B4-BE49-F238E27FC236}">
                    <a16:creationId xmlns:a16="http://schemas.microsoft.com/office/drawing/2014/main" id="{988791EC-4E7F-3BB1-F140-BA33F65F515E}"/>
                  </a:ext>
                </a:extLst>
              </p:cNvPr>
              <p:cNvSpPr/>
              <p:nvPr/>
            </p:nvSpPr>
            <p:spPr>
              <a:xfrm>
                <a:off x="8569746" y="2830678"/>
                <a:ext cx="2588011" cy="435067"/>
              </a:xfrm>
              <a:prstGeom prst="roundRect">
                <a:avLst>
                  <a:gd name="adj" fmla="val 11418"/>
                </a:avLst>
              </a:prstGeom>
              <a:solidFill>
                <a:srgbClr val="043B72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wrap="square" lIns="0" tIns="0" rIns="0" bIns="0" rtlCol="0" anchor="ctr" anchorCtr="0"/>
              <a:lstStyle/>
              <a:p>
                <a:pPr algn="ctr" defTabSz="1042873" latinLnBrk="0">
                  <a:defRPr/>
                </a:pPr>
                <a:r>
                  <a:rPr lang="ko-KR" altLang="en-US" sz="1200" b="1" kern="0">
                    <a:ln>
                      <a:solidFill>
                        <a:srgbClr val="A5C249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+mn-ea"/>
                  </a:rPr>
                  <a:t>제</a:t>
                </a:r>
                <a:r>
                  <a:rPr lang="en-US" altLang="ko-KR" sz="1200" b="1" kern="0">
                    <a:ln>
                      <a:solidFill>
                        <a:srgbClr val="A5C249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+mn-ea"/>
                  </a:rPr>
                  <a:t>1</a:t>
                </a:r>
                <a:r>
                  <a:rPr lang="ko-KR" altLang="en-US" sz="1200" b="1" kern="0">
                    <a:ln>
                      <a:solidFill>
                        <a:srgbClr val="A5C249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+mn-ea"/>
                  </a:rPr>
                  <a:t>장</a:t>
                </a:r>
                <a:endParaRPr lang="en-US" altLang="ko-KR" sz="1200" b="1" kern="0">
                  <a:ln>
                    <a:solidFill>
                      <a:srgbClr val="A5C249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+mn-ea"/>
                </a:endParaRPr>
              </a:p>
              <a:p>
                <a:pPr algn="ctr" defTabSz="1042873" latinLnBrk="0">
                  <a:defRPr/>
                </a:pPr>
                <a:r>
                  <a:rPr lang="ko-KR" altLang="en-US" sz="1200" b="1" kern="0">
                    <a:ln>
                      <a:solidFill>
                        <a:srgbClr val="A5C249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+mn-ea"/>
                  </a:rPr>
                  <a:t>개요</a:t>
                </a:r>
                <a:endParaRPr lang="en-US" altLang="ko-KR" sz="1200" b="1" kern="0">
                  <a:ln>
                    <a:solidFill>
                      <a:srgbClr val="A5C249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+mn-ea"/>
                </a:endParaRPr>
              </a:p>
            </p:txBody>
          </p:sp>
        </p:grpSp>
        <p:grpSp>
          <p:nvGrpSpPr>
            <p:cNvPr id="18" name="Group 59">
              <a:extLst>
                <a:ext uri="{FF2B5EF4-FFF2-40B4-BE49-F238E27FC236}">
                  <a16:creationId xmlns:a16="http://schemas.microsoft.com/office/drawing/2014/main" id="{43B14020-25AF-7BDE-74E4-37C9FD3353B7}"/>
                </a:ext>
              </a:extLst>
            </p:cNvPr>
            <p:cNvGrpSpPr/>
            <p:nvPr/>
          </p:nvGrpSpPr>
          <p:grpSpPr>
            <a:xfrm>
              <a:off x="5598487" y="4125976"/>
              <a:ext cx="2588011" cy="2204407"/>
              <a:chOff x="8569746" y="2830678"/>
              <a:chExt cx="2588011" cy="2204407"/>
            </a:xfrm>
          </p:grpSpPr>
          <p:sp>
            <p:nvSpPr>
              <p:cNvPr id="44" name="Rectangle: Rounded Corners 46">
                <a:extLst>
                  <a:ext uri="{FF2B5EF4-FFF2-40B4-BE49-F238E27FC236}">
                    <a16:creationId xmlns:a16="http://schemas.microsoft.com/office/drawing/2014/main" id="{EDD0F60D-DB92-4EA2-832A-AC605640F56D}"/>
                  </a:ext>
                </a:extLst>
              </p:cNvPr>
              <p:cNvSpPr/>
              <p:nvPr/>
            </p:nvSpPr>
            <p:spPr>
              <a:xfrm>
                <a:off x="8906961" y="3357101"/>
                <a:ext cx="2250795" cy="350979"/>
              </a:xfrm>
              <a:prstGeom prst="roundRect">
                <a:avLst>
                  <a:gd name="adj" fmla="val 11418"/>
                </a:avLst>
              </a:prstGeom>
              <a:solidFill>
                <a:schemeClr val="bg1"/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txBody>
              <a:bodyPr spcFirstLastPara="1" wrap="square" lIns="45720" tIns="0" rIns="0" bIns="0" anchor="ctr" anchorCtr="0">
                <a:noAutofit/>
              </a:bodyPr>
              <a:lstStyle/>
              <a:p>
                <a:pPr defTabSz="914446">
                  <a:buClr>
                    <a:srgbClr val="FFFFFF"/>
                  </a:buClr>
                  <a:buSzPts val="1100"/>
                </a:pPr>
                <a:r>
                  <a:rPr lang="ko-KR" altLang="en-US" sz="1100" b="1">
                    <a:latin typeface="+mn-ea"/>
                  </a:rPr>
                  <a:t>제</a:t>
                </a:r>
                <a:r>
                  <a:rPr lang="en-US" altLang="ko-KR" sz="1100" b="1">
                    <a:latin typeface="+mn-ea"/>
                  </a:rPr>
                  <a:t>1</a:t>
                </a:r>
                <a:r>
                  <a:rPr lang="ko-KR" altLang="en-US" sz="1100" b="1">
                    <a:latin typeface="+mn-ea"/>
                  </a:rPr>
                  <a:t>절 서비스 기획 단계</a:t>
                </a:r>
                <a:endParaRPr lang="en-US" altLang="ko-KR" sz="1100" b="1">
                  <a:latin typeface="+mn-ea"/>
                </a:endParaRPr>
              </a:p>
            </p:txBody>
          </p:sp>
          <p:sp>
            <p:nvSpPr>
              <p:cNvPr id="45" name="Rectangle: Rounded Corners 46">
                <a:extLst>
                  <a:ext uri="{FF2B5EF4-FFF2-40B4-BE49-F238E27FC236}">
                    <a16:creationId xmlns:a16="http://schemas.microsoft.com/office/drawing/2014/main" id="{15BA2545-D0BC-E9DF-8F7C-03539CB9A6F4}"/>
                  </a:ext>
                </a:extLst>
              </p:cNvPr>
              <p:cNvSpPr/>
              <p:nvPr/>
            </p:nvSpPr>
            <p:spPr>
              <a:xfrm>
                <a:off x="8906961" y="3799436"/>
                <a:ext cx="2250795" cy="350979"/>
              </a:xfrm>
              <a:prstGeom prst="roundRect">
                <a:avLst>
                  <a:gd name="adj" fmla="val 11418"/>
                </a:avLst>
              </a:prstGeom>
              <a:solidFill>
                <a:schemeClr val="bg1"/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txBody>
              <a:bodyPr spcFirstLastPara="1" wrap="square" lIns="45720" tIns="0" rIns="0" bIns="0" anchor="ctr" anchorCtr="0">
                <a:noAutofit/>
              </a:bodyPr>
              <a:lstStyle/>
              <a:p>
                <a:pPr defTabSz="914446">
                  <a:buClr>
                    <a:srgbClr val="FFFFFF"/>
                  </a:buClr>
                  <a:buSzPts val="1100"/>
                </a:pPr>
                <a:r>
                  <a:rPr lang="ko-KR" altLang="en-US" sz="1100" b="1">
                    <a:latin typeface="+mn-ea"/>
                  </a:rPr>
                  <a:t>제</a:t>
                </a:r>
                <a:r>
                  <a:rPr lang="en-US" altLang="ko-KR" sz="1100" b="1">
                    <a:latin typeface="+mn-ea"/>
                  </a:rPr>
                  <a:t>2</a:t>
                </a:r>
                <a:r>
                  <a:rPr lang="ko-KR" altLang="en-US" sz="1100" b="1">
                    <a:latin typeface="+mn-ea"/>
                  </a:rPr>
                  <a:t>절 개발 단계</a:t>
                </a:r>
                <a:endParaRPr lang="en-US" altLang="ko-KR" sz="1100" b="1">
                  <a:latin typeface="+mn-ea"/>
                </a:endParaRPr>
              </a:p>
            </p:txBody>
          </p:sp>
          <p:cxnSp>
            <p:nvCxnSpPr>
              <p:cNvPr id="46" name="연결선: 꺾임 65">
                <a:extLst>
                  <a:ext uri="{FF2B5EF4-FFF2-40B4-BE49-F238E27FC236}">
                    <a16:creationId xmlns:a16="http://schemas.microsoft.com/office/drawing/2014/main" id="{068C38D2-79D3-8021-E8E1-71A94FFE6FE1}"/>
                  </a:ext>
                </a:extLst>
              </p:cNvPr>
              <p:cNvCxnSpPr>
                <a:cxnSpLocks/>
                <a:stCxn id="52" idx="2"/>
                <a:endCxn id="45" idx="1"/>
              </p:cNvCxnSpPr>
              <p:nvPr/>
            </p:nvCxnSpPr>
            <p:spPr>
              <a:xfrm rot="16200000" flipH="1">
                <a:off x="8439282" y="3507246"/>
                <a:ext cx="716253" cy="219105"/>
              </a:xfrm>
              <a:prstGeom prst="bentConnector2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Rectangle: Rounded Corners 46">
                <a:extLst>
                  <a:ext uri="{FF2B5EF4-FFF2-40B4-BE49-F238E27FC236}">
                    <a16:creationId xmlns:a16="http://schemas.microsoft.com/office/drawing/2014/main" id="{3B10E629-52B6-42B4-EA92-98383189949C}"/>
                  </a:ext>
                </a:extLst>
              </p:cNvPr>
              <p:cNvSpPr/>
              <p:nvPr/>
            </p:nvSpPr>
            <p:spPr>
              <a:xfrm>
                <a:off x="8569746" y="2830678"/>
                <a:ext cx="2588011" cy="435067"/>
              </a:xfrm>
              <a:prstGeom prst="roundRect">
                <a:avLst>
                  <a:gd name="adj" fmla="val 11418"/>
                </a:avLst>
              </a:prstGeom>
              <a:solidFill>
                <a:srgbClr val="043B72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wrap="square" lIns="0" tIns="0" rIns="0" bIns="0" rtlCol="0" anchor="ctr" anchorCtr="0"/>
              <a:lstStyle/>
              <a:p>
                <a:pPr algn="ctr" defTabSz="1042873">
                  <a:defRPr/>
                </a:pPr>
                <a:r>
                  <a:rPr lang="ko-KR" altLang="en-US" sz="1200" b="1" kern="0">
                    <a:ln>
                      <a:solidFill>
                        <a:srgbClr val="A5C249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+mn-ea"/>
                  </a:rPr>
                  <a:t>제</a:t>
                </a:r>
                <a:r>
                  <a:rPr lang="en-US" altLang="ko-KR" sz="1200" b="1" kern="0">
                    <a:ln>
                      <a:solidFill>
                        <a:srgbClr val="A5C249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+mn-ea"/>
                  </a:rPr>
                  <a:t>2</a:t>
                </a:r>
                <a:r>
                  <a:rPr lang="ko-KR" altLang="en-US" sz="1200" b="1" kern="0">
                    <a:ln>
                      <a:solidFill>
                        <a:srgbClr val="A5C249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+mn-ea"/>
                  </a:rPr>
                  <a:t>장</a:t>
                </a:r>
                <a:br>
                  <a:rPr lang="en-US" altLang="ko-KR" sz="1200" b="1" kern="0">
                    <a:ln>
                      <a:solidFill>
                        <a:srgbClr val="A5C249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+mn-ea"/>
                  </a:rPr>
                </a:br>
                <a:r>
                  <a:rPr lang="en-US" altLang="ko-KR" sz="1200" b="1" kern="0" spc="-70">
                    <a:ln>
                      <a:solidFill>
                        <a:srgbClr val="A5C249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+mn-ea"/>
                  </a:rPr>
                  <a:t>AI </a:t>
                </a:r>
                <a:r>
                  <a:rPr lang="ko-KR" altLang="en-US" sz="1200" b="1" kern="0" spc="-70">
                    <a:ln>
                      <a:solidFill>
                        <a:srgbClr val="A5C249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+mn-ea"/>
                  </a:rPr>
                  <a:t>모델 개발 프로세스</a:t>
                </a:r>
                <a:endParaRPr lang="en-US" altLang="ko-KR" sz="1200" b="1" kern="0" spc="-70">
                  <a:ln>
                    <a:solidFill>
                      <a:srgbClr val="A5C249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+mn-ea"/>
                </a:endParaRPr>
              </a:p>
            </p:txBody>
          </p:sp>
          <p:sp>
            <p:nvSpPr>
              <p:cNvPr id="48" name="Rectangle: Rounded Corners 46">
                <a:extLst>
                  <a:ext uri="{FF2B5EF4-FFF2-40B4-BE49-F238E27FC236}">
                    <a16:creationId xmlns:a16="http://schemas.microsoft.com/office/drawing/2014/main" id="{D7903065-0C50-BF7F-C4FF-ABE1682D33E7}"/>
                  </a:ext>
                </a:extLst>
              </p:cNvPr>
              <p:cNvSpPr/>
              <p:nvPr/>
            </p:nvSpPr>
            <p:spPr>
              <a:xfrm>
                <a:off x="8906961" y="4241771"/>
                <a:ext cx="2250795" cy="350979"/>
              </a:xfrm>
              <a:prstGeom prst="roundRect">
                <a:avLst>
                  <a:gd name="adj" fmla="val 11418"/>
                </a:avLst>
              </a:prstGeom>
              <a:solidFill>
                <a:schemeClr val="bg1"/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txBody>
              <a:bodyPr spcFirstLastPara="1" wrap="square" lIns="45720" tIns="0" rIns="0" bIns="0" anchor="ctr" anchorCtr="0">
                <a:noAutofit/>
              </a:bodyPr>
              <a:lstStyle/>
              <a:p>
                <a:pPr defTabSz="914446">
                  <a:buClr>
                    <a:srgbClr val="FFFFFF"/>
                  </a:buClr>
                  <a:buSzPts val="1100"/>
                </a:pPr>
                <a:r>
                  <a:rPr lang="ko-KR" altLang="en-US" sz="1100" b="1">
                    <a:latin typeface="+mn-ea"/>
                    <a:cs typeface="Pretendard" panose="02000503000000020004" pitchFamily="50" charset="-127"/>
                  </a:rPr>
                  <a:t>제</a:t>
                </a:r>
                <a:r>
                  <a:rPr lang="en-US" altLang="ko-KR" sz="1100" b="1">
                    <a:latin typeface="+mn-ea"/>
                    <a:cs typeface="Pretendard" panose="02000503000000020004" pitchFamily="50" charset="-127"/>
                  </a:rPr>
                  <a:t>3</a:t>
                </a:r>
                <a:r>
                  <a:rPr lang="ko-KR" altLang="en-US" sz="1100" b="1">
                    <a:latin typeface="+mn-ea"/>
                    <a:cs typeface="Pretendard" panose="02000503000000020004" pitchFamily="50" charset="-127"/>
                  </a:rPr>
                  <a:t>절 평가</a:t>
                </a:r>
                <a:r>
                  <a:rPr lang="en-US" altLang="ko-KR" sz="1100" b="1">
                    <a:latin typeface="+mn-ea"/>
                    <a:cs typeface="Pretendard" panose="02000503000000020004" pitchFamily="50" charset="-127"/>
                  </a:rPr>
                  <a:t>·</a:t>
                </a:r>
                <a:r>
                  <a:rPr lang="ko-KR" altLang="en-US" sz="1100" b="1">
                    <a:latin typeface="+mn-ea"/>
                    <a:cs typeface="Pretendard" panose="02000503000000020004" pitchFamily="50" charset="-127"/>
                  </a:rPr>
                  <a:t>검증 단계</a:t>
                </a:r>
                <a:endParaRPr lang="en-US" altLang="ko-KR" sz="1100" b="1">
                  <a:latin typeface="+mn-ea"/>
                  <a:cs typeface="Pretendard" panose="02000503000000020004" pitchFamily="50" charset="-127"/>
                </a:endParaRPr>
              </a:p>
            </p:txBody>
          </p:sp>
          <p:sp>
            <p:nvSpPr>
              <p:cNvPr id="49" name="Rectangle: Rounded Corners 46">
                <a:extLst>
                  <a:ext uri="{FF2B5EF4-FFF2-40B4-BE49-F238E27FC236}">
                    <a16:creationId xmlns:a16="http://schemas.microsoft.com/office/drawing/2014/main" id="{468FC68B-34C9-0795-1E52-4188105FA76E}"/>
                  </a:ext>
                </a:extLst>
              </p:cNvPr>
              <p:cNvSpPr/>
              <p:nvPr/>
            </p:nvSpPr>
            <p:spPr>
              <a:xfrm>
                <a:off x="8906961" y="4684106"/>
                <a:ext cx="2250795" cy="350979"/>
              </a:xfrm>
              <a:prstGeom prst="roundRect">
                <a:avLst>
                  <a:gd name="adj" fmla="val 11418"/>
                </a:avLst>
              </a:prstGeom>
              <a:solidFill>
                <a:schemeClr val="bg1"/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txBody>
              <a:bodyPr spcFirstLastPara="1" wrap="square" lIns="45720" tIns="0" rIns="0" bIns="0" anchor="ctr" anchorCtr="0">
                <a:noAutofit/>
              </a:bodyPr>
              <a:lstStyle/>
              <a:p>
                <a:pPr defTabSz="914446">
                  <a:buClr>
                    <a:srgbClr val="FFFFFF"/>
                  </a:buClr>
                  <a:buSzPts val="1100"/>
                </a:pPr>
                <a:r>
                  <a:rPr lang="ko-KR" altLang="en-US" sz="1100" b="1">
                    <a:latin typeface="+mn-ea"/>
                    <a:cs typeface="Pretendard" panose="02000503000000020004" pitchFamily="50" charset="-127"/>
                  </a:rPr>
                  <a:t>제</a:t>
                </a:r>
                <a:r>
                  <a:rPr lang="en-US" altLang="ko-KR" sz="1100" b="1">
                    <a:latin typeface="+mn-ea"/>
                    <a:cs typeface="Pretendard" panose="02000503000000020004" pitchFamily="50" charset="-127"/>
                  </a:rPr>
                  <a:t>4</a:t>
                </a:r>
                <a:r>
                  <a:rPr lang="ko-KR" altLang="en-US" sz="1100" b="1">
                    <a:latin typeface="+mn-ea"/>
                    <a:cs typeface="Pretendard" panose="02000503000000020004" pitchFamily="50" charset="-127"/>
                  </a:rPr>
                  <a:t>절 운영</a:t>
                </a:r>
                <a:r>
                  <a:rPr lang="en-US" altLang="ko-KR" sz="1100" b="1">
                    <a:latin typeface="+mn-ea"/>
                    <a:cs typeface="Pretendard" panose="02000503000000020004" pitchFamily="50" charset="-127"/>
                  </a:rPr>
                  <a:t>·</a:t>
                </a:r>
                <a:r>
                  <a:rPr lang="ko-KR" altLang="en-US" sz="1100" b="1">
                    <a:latin typeface="+mn-ea"/>
                    <a:cs typeface="Pretendard" panose="02000503000000020004" pitchFamily="50" charset="-127"/>
                  </a:rPr>
                  <a:t>사후관리 단계</a:t>
                </a:r>
                <a:endParaRPr lang="en-US" altLang="ko-KR" sz="1100" b="1">
                  <a:latin typeface="+mn-ea"/>
                  <a:cs typeface="Pretendard" panose="02000503000000020004" pitchFamily="50" charset="-127"/>
                </a:endParaRPr>
              </a:p>
            </p:txBody>
          </p:sp>
          <p:cxnSp>
            <p:nvCxnSpPr>
              <p:cNvPr id="50" name="연결선: 꺾임 64">
                <a:extLst>
                  <a:ext uri="{FF2B5EF4-FFF2-40B4-BE49-F238E27FC236}">
                    <a16:creationId xmlns:a16="http://schemas.microsoft.com/office/drawing/2014/main" id="{280D8EC4-1012-ED74-2671-299F48C69101}"/>
                  </a:ext>
                </a:extLst>
              </p:cNvPr>
              <p:cNvCxnSpPr>
                <a:cxnSpLocks/>
                <a:stCxn id="52" idx="2"/>
                <a:endCxn id="48" idx="1"/>
              </p:cNvCxnSpPr>
              <p:nvPr/>
            </p:nvCxnSpPr>
            <p:spPr>
              <a:xfrm rot="16200000" flipH="1">
                <a:off x="8218114" y="3728414"/>
                <a:ext cx="1158588" cy="219105"/>
              </a:xfrm>
              <a:prstGeom prst="bentConnector2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연결선: 꺾임 65">
                <a:extLst>
                  <a:ext uri="{FF2B5EF4-FFF2-40B4-BE49-F238E27FC236}">
                    <a16:creationId xmlns:a16="http://schemas.microsoft.com/office/drawing/2014/main" id="{5FABFFCC-0987-C30E-0165-2086537D7C53}"/>
                  </a:ext>
                </a:extLst>
              </p:cNvPr>
              <p:cNvCxnSpPr>
                <a:cxnSpLocks/>
                <a:stCxn id="52" idx="2"/>
                <a:endCxn id="49" idx="1"/>
              </p:cNvCxnSpPr>
              <p:nvPr/>
            </p:nvCxnSpPr>
            <p:spPr>
              <a:xfrm rot="16200000" flipH="1">
                <a:off x="7996947" y="3949581"/>
                <a:ext cx="1600923" cy="219105"/>
              </a:xfrm>
              <a:prstGeom prst="bentConnector2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2" name="직사각형 51">
                <a:extLst>
                  <a:ext uri="{FF2B5EF4-FFF2-40B4-BE49-F238E27FC236}">
                    <a16:creationId xmlns:a16="http://schemas.microsoft.com/office/drawing/2014/main" id="{83FC2F7B-53CB-560D-23C0-8DFBC26AC2DF}"/>
                  </a:ext>
                </a:extLst>
              </p:cNvPr>
              <p:cNvSpPr/>
              <p:nvPr/>
            </p:nvSpPr>
            <p:spPr>
              <a:xfrm>
                <a:off x="8569746" y="2991339"/>
                <a:ext cx="236220" cy="26733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latinLnBrk="0"/>
                <a:endParaRPr lang="ko-KR" altLang="en-US"/>
              </a:p>
            </p:txBody>
          </p:sp>
          <p:cxnSp>
            <p:nvCxnSpPr>
              <p:cNvPr id="53" name="연결선: 꺾임 64">
                <a:extLst>
                  <a:ext uri="{FF2B5EF4-FFF2-40B4-BE49-F238E27FC236}">
                    <a16:creationId xmlns:a16="http://schemas.microsoft.com/office/drawing/2014/main" id="{E60D668C-5601-859D-E782-92AFC9070304}"/>
                  </a:ext>
                </a:extLst>
              </p:cNvPr>
              <p:cNvCxnSpPr>
                <a:cxnSpLocks/>
                <a:stCxn id="52" idx="2"/>
                <a:endCxn id="44" idx="1"/>
              </p:cNvCxnSpPr>
              <p:nvPr/>
            </p:nvCxnSpPr>
            <p:spPr>
              <a:xfrm rot="16200000" flipH="1">
                <a:off x="8660449" y="3286079"/>
                <a:ext cx="273918" cy="219105"/>
              </a:xfrm>
              <a:prstGeom prst="bentConnector2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" name="Group 96">
              <a:extLst>
                <a:ext uri="{FF2B5EF4-FFF2-40B4-BE49-F238E27FC236}">
                  <a16:creationId xmlns:a16="http://schemas.microsoft.com/office/drawing/2014/main" id="{62A0CCDB-7FA5-DFF4-3398-98943A1EA081}"/>
                </a:ext>
              </a:extLst>
            </p:cNvPr>
            <p:cNvGrpSpPr/>
            <p:nvPr/>
          </p:nvGrpSpPr>
          <p:grpSpPr>
            <a:xfrm>
              <a:off x="8569746" y="2830678"/>
              <a:ext cx="2588011" cy="2590850"/>
              <a:chOff x="8569746" y="2871493"/>
              <a:chExt cx="2588011" cy="2590850"/>
            </a:xfrm>
          </p:grpSpPr>
          <p:sp>
            <p:nvSpPr>
              <p:cNvPr id="30" name="Rectangle: Rounded Corners 46">
                <a:extLst>
                  <a:ext uri="{FF2B5EF4-FFF2-40B4-BE49-F238E27FC236}">
                    <a16:creationId xmlns:a16="http://schemas.microsoft.com/office/drawing/2014/main" id="{66DEDA09-B484-EFB4-BCB4-DD239BE6D771}"/>
                  </a:ext>
                </a:extLst>
              </p:cNvPr>
              <p:cNvSpPr/>
              <p:nvPr/>
            </p:nvSpPr>
            <p:spPr>
              <a:xfrm>
                <a:off x="8906961" y="3357525"/>
                <a:ext cx="2250795" cy="274320"/>
              </a:xfrm>
              <a:prstGeom prst="roundRect">
                <a:avLst>
                  <a:gd name="adj" fmla="val 11418"/>
                </a:avLst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txBody>
              <a:bodyPr spcFirstLastPara="1" wrap="square" lIns="45720" tIns="0" rIns="0" bIns="0" anchor="ctr" anchorCtr="0">
                <a:noAutofit/>
              </a:bodyPr>
              <a:lstStyle/>
              <a:p>
                <a:pPr defTabSz="914446">
                  <a:buClr>
                    <a:srgbClr val="FFFFFF"/>
                  </a:buClr>
                  <a:buSzPts val="1100"/>
                </a:pPr>
                <a:r>
                  <a:rPr lang="en-US" altLang="ko-KR" sz="1100" b="1">
                    <a:latin typeface="+mn-ea"/>
                  </a:rPr>
                  <a:t>1</a:t>
                </a:r>
                <a:r>
                  <a:rPr lang="ko-KR" altLang="en-US" sz="1100" b="1">
                    <a:latin typeface="+mn-ea"/>
                  </a:rPr>
                  <a:t>장 </a:t>
                </a:r>
                <a:r>
                  <a:rPr lang="ko-KR" altLang="en-US" sz="1100" b="1" spc="-50">
                    <a:latin typeface="+mn-ea"/>
                  </a:rPr>
                  <a:t>데이터 정제 방안 및 처리 기법</a:t>
                </a:r>
                <a:endParaRPr lang="en-US" altLang="ko-KR" sz="1100" b="1" spc="-50">
                  <a:latin typeface="+mn-ea"/>
                </a:endParaRPr>
              </a:p>
            </p:txBody>
          </p:sp>
          <p:sp>
            <p:nvSpPr>
              <p:cNvPr id="31" name="Rectangle: Rounded Corners 46">
                <a:extLst>
                  <a:ext uri="{FF2B5EF4-FFF2-40B4-BE49-F238E27FC236}">
                    <a16:creationId xmlns:a16="http://schemas.microsoft.com/office/drawing/2014/main" id="{A359EC46-E770-A9CB-43B1-B7909D230A58}"/>
                  </a:ext>
                </a:extLst>
              </p:cNvPr>
              <p:cNvSpPr/>
              <p:nvPr/>
            </p:nvSpPr>
            <p:spPr>
              <a:xfrm>
                <a:off x="8906961" y="3723625"/>
                <a:ext cx="2250795" cy="274320"/>
              </a:xfrm>
              <a:prstGeom prst="roundRect">
                <a:avLst>
                  <a:gd name="adj" fmla="val 11418"/>
                </a:avLst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txBody>
              <a:bodyPr spcFirstLastPara="1" wrap="square" lIns="45720" tIns="0" rIns="0" bIns="0" anchor="ctr" anchorCtr="0">
                <a:noAutofit/>
              </a:bodyPr>
              <a:lstStyle/>
              <a:p>
                <a:pPr defTabSz="914446">
                  <a:buClr>
                    <a:srgbClr val="FFFFFF"/>
                  </a:buClr>
                  <a:buSzPts val="1100"/>
                </a:pPr>
                <a:r>
                  <a:rPr lang="en-US" altLang="ko-KR" sz="1100" b="1">
                    <a:latin typeface="+mn-ea"/>
                  </a:rPr>
                  <a:t>2</a:t>
                </a:r>
                <a:r>
                  <a:rPr lang="ko-KR" altLang="en-US" sz="1100" b="1">
                    <a:latin typeface="+mn-ea"/>
                  </a:rPr>
                  <a:t>장 </a:t>
                </a:r>
                <a:r>
                  <a:rPr lang="en-US" altLang="ko-KR" sz="1100" b="1">
                    <a:latin typeface="+mn-ea"/>
                  </a:rPr>
                  <a:t>AI </a:t>
                </a:r>
                <a:r>
                  <a:rPr lang="ko-KR" altLang="en-US" sz="1100" b="1">
                    <a:latin typeface="+mn-ea"/>
                  </a:rPr>
                  <a:t>모델링 적용 기법</a:t>
                </a:r>
                <a:endParaRPr lang="en-US" altLang="ko-KR" sz="1100" b="1">
                  <a:latin typeface="+mn-ea"/>
                </a:endParaRPr>
              </a:p>
            </p:txBody>
          </p:sp>
          <p:cxnSp>
            <p:nvCxnSpPr>
              <p:cNvPr id="32" name="연결선: 꺾임 65">
                <a:extLst>
                  <a:ext uri="{FF2B5EF4-FFF2-40B4-BE49-F238E27FC236}">
                    <a16:creationId xmlns:a16="http://schemas.microsoft.com/office/drawing/2014/main" id="{24E24C90-33BD-D213-A9CB-4FDAD0C41A9D}"/>
                  </a:ext>
                </a:extLst>
              </p:cNvPr>
              <p:cNvCxnSpPr>
                <a:cxnSpLocks/>
                <a:endCxn id="31" idx="1"/>
              </p:cNvCxnSpPr>
              <p:nvPr/>
            </p:nvCxnSpPr>
            <p:spPr>
              <a:xfrm rot="16200000" flipH="1">
                <a:off x="8496351" y="3450175"/>
                <a:ext cx="602114" cy="219106"/>
              </a:xfrm>
              <a:prstGeom prst="bentConnector2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" name="Rectangle: Rounded Corners 46">
                <a:extLst>
                  <a:ext uri="{FF2B5EF4-FFF2-40B4-BE49-F238E27FC236}">
                    <a16:creationId xmlns:a16="http://schemas.microsoft.com/office/drawing/2014/main" id="{589C9F76-9AB2-E39C-7582-C81FF622199A}"/>
                  </a:ext>
                </a:extLst>
              </p:cNvPr>
              <p:cNvSpPr/>
              <p:nvPr/>
            </p:nvSpPr>
            <p:spPr>
              <a:xfrm>
                <a:off x="8906961" y="4089725"/>
                <a:ext cx="2250795" cy="274320"/>
              </a:xfrm>
              <a:prstGeom prst="roundRect">
                <a:avLst>
                  <a:gd name="adj" fmla="val 11418"/>
                </a:avLst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txBody>
              <a:bodyPr spcFirstLastPara="1" wrap="square" lIns="45720" tIns="0" rIns="0" bIns="0" anchor="ctr" anchorCtr="0">
                <a:noAutofit/>
              </a:bodyPr>
              <a:lstStyle/>
              <a:p>
                <a:pPr defTabSz="914446">
                  <a:buClr>
                    <a:srgbClr val="FFFFFF"/>
                  </a:buClr>
                  <a:buSzPts val="1100"/>
                </a:pPr>
                <a:r>
                  <a:rPr lang="en-US" altLang="ko-KR" sz="1100" b="1">
                    <a:latin typeface="+mn-ea"/>
                  </a:rPr>
                  <a:t>3</a:t>
                </a:r>
                <a:r>
                  <a:rPr lang="ko-KR" altLang="en-US" sz="1100" b="1">
                    <a:latin typeface="+mn-ea"/>
                  </a:rPr>
                  <a:t>장 보안 점검 세부 처리방안</a:t>
                </a:r>
                <a:endParaRPr lang="en-US" altLang="ko-KR" sz="1100" b="1">
                  <a:latin typeface="+mn-ea"/>
                </a:endParaRPr>
              </a:p>
            </p:txBody>
          </p:sp>
          <p:sp>
            <p:nvSpPr>
              <p:cNvPr id="34" name="Rectangle: Rounded Corners 46">
                <a:extLst>
                  <a:ext uri="{FF2B5EF4-FFF2-40B4-BE49-F238E27FC236}">
                    <a16:creationId xmlns:a16="http://schemas.microsoft.com/office/drawing/2014/main" id="{8017A5E3-3DA9-CE50-357C-A4CD388E09F7}"/>
                  </a:ext>
                </a:extLst>
              </p:cNvPr>
              <p:cNvSpPr/>
              <p:nvPr/>
            </p:nvSpPr>
            <p:spPr>
              <a:xfrm>
                <a:off x="8906961" y="4455825"/>
                <a:ext cx="2250795" cy="274320"/>
              </a:xfrm>
              <a:prstGeom prst="roundRect">
                <a:avLst>
                  <a:gd name="adj" fmla="val 11418"/>
                </a:avLst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txBody>
              <a:bodyPr spcFirstLastPara="1" wrap="square" lIns="45720" tIns="0" rIns="0" bIns="0" anchor="ctr" anchorCtr="0">
                <a:noAutofit/>
              </a:bodyPr>
              <a:lstStyle/>
              <a:p>
                <a:pPr defTabSz="914446">
                  <a:buClr>
                    <a:srgbClr val="FFFFFF"/>
                  </a:buClr>
                  <a:buSzPts val="1100"/>
                </a:pPr>
                <a:r>
                  <a:rPr lang="en-US" altLang="ko-KR" sz="1100" b="1">
                    <a:latin typeface="+mn-ea"/>
                  </a:rPr>
                  <a:t>4</a:t>
                </a:r>
                <a:r>
                  <a:rPr lang="ko-KR" altLang="en-US" sz="1100" b="1">
                    <a:latin typeface="+mn-ea"/>
                  </a:rPr>
                  <a:t>장 설명가능성 확보방안</a:t>
                </a:r>
                <a:endParaRPr lang="en-US" altLang="ko-KR" sz="1100" b="1">
                  <a:latin typeface="+mn-ea"/>
                </a:endParaRPr>
              </a:p>
            </p:txBody>
          </p:sp>
          <p:cxnSp>
            <p:nvCxnSpPr>
              <p:cNvPr id="35" name="연결선: 꺾임 64">
                <a:extLst>
                  <a:ext uri="{FF2B5EF4-FFF2-40B4-BE49-F238E27FC236}">
                    <a16:creationId xmlns:a16="http://schemas.microsoft.com/office/drawing/2014/main" id="{E3785D1D-272F-A56E-99A8-93FA6316EEA9}"/>
                  </a:ext>
                </a:extLst>
              </p:cNvPr>
              <p:cNvCxnSpPr>
                <a:cxnSpLocks/>
                <a:endCxn id="33" idx="1"/>
              </p:cNvCxnSpPr>
              <p:nvPr/>
            </p:nvCxnSpPr>
            <p:spPr>
              <a:xfrm rot="16200000" flipH="1">
                <a:off x="8313302" y="3633225"/>
                <a:ext cx="968213" cy="219106"/>
              </a:xfrm>
              <a:prstGeom prst="bentConnector2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연결선: 꺾임 65">
                <a:extLst>
                  <a:ext uri="{FF2B5EF4-FFF2-40B4-BE49-F238E27FC236}">
                    <a16:creationId xmlns:a16="http://schemas.microsoft.com/office/drawing/2014/main" id="{CE264179-718A-3E34-5F57-E30879218347}"/>
                  </a:ext>
                </a:extLst>
              </p:cNvPr>
              <p:cNvCxnSpPr>
                <a:cxnSpLocks/>
                <a:endCxn id="34" idx="1"/>
              </p:cNvCxnSpPr>
              <p:nvPr/>
            </p:nvCxnSpPr>
            <p:spPr>
              <a:xfrm rot="16200000" flipH="1">
                <a:off x="8130251" y="3816275"/>
                <a:ext cx="1334314" cy="219106"/>
              </a:xfrm>
              <a:prstGeom prst="bentConnector2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연결선: 꺾임 64">
                <a:extLst>
                  <a:ext uri="{FF2B5EF4-FFF2-40B4-BE49-F238E27FC236}">
                    <a16:creationId xmlns:a16="http://schemas.microsoft.com/office/drawing/2014/main" id="{FFCA69DC-A70B-40A1-6E5D-BEE47D5F8DC7}"/>
                  </a:ext>
                </a:extLst>
              </p:cNvPr>
              <p:cNvCxnSpPr>
                <a:cxnSpLocks/>
                <a:endCxn id="30" idx="1"/>
              </p:cNvCxnSpPr>
              <p:nvPr/>
            </p:nvCxnSpPr>
            <p:spPr>
              <a:xfrm rot="16200000" flipH="1">
                <a:off x="8679402" y="3267125"/>
                <a:ext cx="236013" cy="219106"/>
              </a:xfrm>
              <a:prstGeom prst="bentConnector2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Rectangle: Rounded Corners 46">
                <a:extLst>
                  <a:ext uri="{FF2B5EF4-FFF2-40B4-BE49-F238E27FC236}">
                    <a16:creationId xmlns:a16="http://schemas.microsoft.com/office/drawing/2014/main" id="{B6D8F23A-99B5-3B80-BF7B-CFED0ECAF957}"/>
                  </a:ext>
                </a:extLst>
              </p:cNvPr>
              <p:cNvSpPr/>
              <p:nvPr/>
            </p:nvSpPr>
            <p:spPr>
              <a:xfrm>
                <a:off x="8906961" y="4821925"/>
                <a:ext cx="2250795" cy="274320"/>
              </a:xfrm>
              <a:prstGeom prst="roundRect">
                <a:avLst>
                  <a:gd name="adj" fmla="val 11418"/>
                </a:avLst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txBody>
              <a:bodyPr spcFirstLastPara="1" wrap="square" lIns="45720" tIns="0" rIns="0" bIns="0" anchor="ctr" anchorCtr="0">
                <a:noAutofit/>
              </a:bodyPr>
              <a:lstStyle/>
              <a:p>
                <a:pPr defTabSz="914446">
                  <a:buClr>
                    <a:srgbClr val="FFFFFF"/>
                  </a:buClr>
                  <a:buSzPts val="1100"/>
                </a:pPr>
                <a:r>
                  <a:rPr lang="en-US" altLang="ko-KR" sz="1100" b="1">
                    <a:latin typeface="+mn-ea"/>
                  </a:rPr>
                  <a:t>5</a:t>
                </a:r>
                <a:r>
                  <a:rPr lang="ko-KR" altLang="en-US" sz="1100" b="1">
                    <a:latin typeface="+mn-ea"/>
                  </a:rPr>
                  <a:t>장 </a:t>
                </a:r>
                <a:r>
                  <a:rPr lang="en-US" altLang="ko-KR" sz="1100" b="1">
                    <a:latin typeface="+mn-ea"/>
                  </a:rPr>
                  <a:t>AI </a:t>
                </a:r>
                <a:r>
                  <a:rPr lang="ko-KR" altLang="en-US" sz="1100" b="1">
                    <a:latin typeface="+mn-ea"/>
                  </a:rPr>
                  <a:t>모델 성능평가 지표</a:t>
                </a:r>
                <a:endParaRPr lang="en-US" altLang="ko-KR" sz="1100" b="1">
                  <a:latin typeface="+mn-ea"/>
                </a:endParaRPr>
              </a:p>
            </p:txBody>
          </p:sp>
          <p:cxnSp>
            <p:nvCxnSpPr>
              <p:cNvPr id="39" name="연결선: 꺾임 65">
                <a:extLst>
                  <a:ext uri="{FF2B5EF4-FFF2-40B4-BE49-F238E27FC236}">
                    <a16:creationId xmlns:a16="http://schemas.microsoft.com/office/drawing/2014/main" id="{C2E840E9-459D-99BC-6BA2-B674387A96A4}"/>
                  </a:ext>
                </a:extLst>
              </p:cNvPr>
              <p:cNvCxnSpPr>
                <a:cxnSpLocks/>
                <a:endCxn id="38" idx="1"/>
              </p:cNvCxnSpPr>
              <p:nvPr/>
            </p:nvCxnSpPr>
            <p:spPr>
              <a:xfrm rot="16200000" flipH="1">
                <a:off x="7947201" y="3999324"/>
                <a:ext cx="1700415" cy="219106"/>
              </a:xfrm>
              <a:prstGeom prst="bentConnector2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" name="Rectangle: Rounded Corners 46">
                <a:extLst>
                  <a:ext uri="{FF2B5EF4-FFF2-40B4-BE49-F238E27FC236}">
                    <a16:creationId xmlns:a16="http://schemas.microsoft.com/office/drawing/2014/main" id="{8A87BA65-890F-B761-6E56-BD9099CC7418}"/>
                  </a:ext>
                </a:extLst>
              </p:cNvPr>
              <p:cNvSpPr/>
              <p:nvPr/>
            </p:nvSpPr>
            <p:spPr>
              <a:xfrm>
                <a:off x="8906961" y="5188023"/>
                <a:ext cx="2250795" cy="274320"/>
              </a:xfrm>
              <a:prstGeom prst="roundRect">
                <a:avLst>
                  <a:gd name="adj" fmla="val 11418"/>
                </a:avLst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txBody>
              <a:bodyPr spcFirstLastPara="1" wrap="square" lIns="45720" tIns="0" rIns="0" bIns="0" anchor="ctr" anchorCtr="0">
                <a:noAutofit/>
              </a:bodyPr>
              <a:lstStyle/>
              <a:p>
                <a:pPr defTabSz="914446">
                  <a:buClr>
                    <a:srgbClr val="FFFFFF"/>
                  </a:buClr>
                  <a:buSzPts val="1100"/>
                </a:pPr>
                <a:r>
                  <a:rPr lang="en-US" altLang="ko-KR" sz="1100" b="1">
                    <a:latin typeface="+mn-ea"/>
                  </a:rPr>
                  <a:t>6</a:t>
                </a:r>
                <a:r>
                  <a:rPr lang="ko-KR" altLang="en-US" sz="1100" b="1">
                    <a:latin typeface="+mn-ea"/>
                  </a:rPr>
                  <a:t>장 편향 완화 방안</a:t>
                </a:r>
                <a:endParaRPr lang="en-US" altLang="ko-KR" sz="1100" b="1">
                  <a:latin typeface="+mn-ea"/>
                </a:endParaRPr>
              </a:p>
            </p:txBody>
          </p:sp>
          <p:cxnSp>
            <p:nvCxnSpPr>
              <p:cNvPr id="41" name="연결선: 꺾임 65">
                <a:extLst>
                  <a:ext uri="{FF2B5EF4-FFF2-40B4-BE49-F238E27FC236}">
                    <a16:creationId xmlns:a16="http://schemas.microsoft.com/office/drawing/2014/main" id="{91D627CF-DFF0-BD13-E2D9-1E0221247C0D}"/>
                  </a:ext>
                </a:extLst>
              </p:cNvPr>
              <p:cNvCxnSpPr>
                <a:cxnSpLocks/>
                <a:stCxn id="42" idx="2"/>
                <a:endCxn id="40" idx="1"/>
              </p:cNvCxnSpPr>
              <p:nvPr/>
            </p:nvCxnSpPr>
            <p:spPr>
              <a:xfrm rot="16200000" flipH="1">
                <a:off x="7704230" y="4122452"/>
                <a:ext cx="2186356" cy="219105"/>
              </a:xfrm>
              <a:prstGeom prst="bentConnector2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" name="직사각형 40">
                <a:extLst>
                  <a:ext uri="{FF2B5EF4-FFF2-40B4-BE49-F238E27FC236}">
                    <a16:creationId xmlns:a16="http://schemas.microsoft.com/office/drawing/2014/main" id="{45735D72-3B4B-80A1-7E32-D1D1E85B98F8}"/>
                  </a:ext>
                </a:extLst>
              </p:cNvPr>
              <p:cNvSpPr/>
              <p:nvPr/>
            </p:nvSpPr>
            <p:spPr>
              <a:xfrm>
                <a:off x="8569746" y="2871493"/>
                <a:ext cx="236220" cy="26733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latinLnBrk="0"/>
                <a:endParaRPr lang="ko-KR" altLang="en-US">
                  <a:latin typeface="+mn-ea"/>
                </a:endParaRPr>
              </a:p>
            </p:txBody>
          </p:sp>
          <p:sp>
            <p:nvSpPr>
              <p:cNvPr id="43" name="Rectangle: Rounded Corners 66">
                <a:extLst>
                  <a:ext uri="{FF2B5EF4-FFF2-40B4-BE49-F238E27FC236}">
                    <a16:creationId xmlns:a16="http://schemas.microsoft.com/office/drawing/2014/main" id="{14751775-B76C-1360-CCA8-7C7DDCE8F980}"/>
                  </a:ext>
                </a:extLst>
              </p:cNvPr>
              <p:cNvSpPr/>
              <p:nvPr/>
            </p:nvSpPr>
            <p:spPr>
              <a:xfrm>
                <a:off x="8569746" y="2879297"/>
                <a:ext cx="2588011" cy="386448"/>
              </a:xfrm>
              <a:prstGeom prst="roundRect">
                <a:avLst>
                  <a:gd name="adj" fmla="val 11418"/>
                </a:avLst>
              </a:prstGeom>
              <a:solidFill>
                <a:schemeClr val="bg1">
                  <a:lumMod val="95000"/>
                </a:schemeClr>
              </a:solidFill>
              <a:ln w="3175" cap="flat" cmpd="sng" algn="ctr">
                <a:solidFill>
                  <a:schemeClr val="bg1">
                    <a:lumMod val="65000"/>
                  </a:schemeClr>
                </a:solidFill>
                <a:prstDash val="dashDot"/>
              </a:ln>
              <a:effectLst/>
            </p:spPr>
            <p:txBody>
              <a:bodyPr wrap="square" lIns="0" tIns="0" rIns="0" bIns="0" rtlCol="0" anchor="ctr" anchorCtr="0"/>
              <a:lstStyle/>
              <a:p>
                <a:pPr algn="ctr" defTabSz="1042873" latinLnBrk="0">
                  <a:defRPr/>
                </a:pPr>
                <a:r>
                  <a:rPr lang="ko-KR" altLang="en-US" sz="1200" b="1" kern="0">
                    <a:ln>
                      <a:solidFill>
                        <a:srgbClr val="A5C249">
                          <a:alpha val="0"/>
                        </a:srgbClr>
                      </a:solidFill>
                    </a:ln>
                    <a:latin typeface="+mn-ea"/>
                  </a:rPr>
                  <a:t>별첨</a:t>
                </a:r>
                <a:r>
                  <a:rPr lang="en-US" altLang="ko-KR" sz="1200" b="1" kern="0">
                    <a:ln>
                      <a:solidFill>
                        <a:srgbClr val="A5C249">
                          <a:alpha val="0"/>
                        </a:srgbClr>
                      </a:solidFill>
                    </a:ln>
                    <a:latin typeface="+mn-ea"/>
                  </a:rPr>
                  <a:t>. AI </a:t>
                </a:r>
                <a:r>
                  <a:rPr lang="ko-KR" altLang="en-US" sz="1200" b="1" kern="0">
                    <a:ln>
                      <a:solidFill>
                        <a:srgbClr val="A5C249">
                          <a:alpha val="0"/>
                        </a:srgbClr>
                      </a:solidFill>
                    </a:ln>
                    <a:latin typeface="+mn-ea"/>
                  </a:rPr>
                  <a:t>모델개발안내서</a:t>
                </a:r>
                <a:endParaRPr lang="en-US" altLang="ko-KR" sz="1200" b="1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</a:endParaRPr>
              </a:p>
            </p:txBody>
          </p:sp>
        </p:grpSp>
        <p:grpSp>
          <p:nvGrpSpPr>
            <p:cNvPr id="20" name="Group 97">
              <a:extLst>
                <a:ext uri="{FF2B5EF4-FFF2-40B4-BE49-F238E27FC236}">
                  <a16:creationId xmlns:a16="http://schemas.microsoft.com/office/drawing/2014/main" id="{B1C13BDE-2FA4-3D87-557A-FC6E2456C5BB}"/>
                </a:ext>
              </a:extLst>
            </p:cNvPr>
            <p:cNvGrpSpPr/>
            <p:nvPr/>
          </p:nvGrpSpPr>
          <p:grpSpPr>
            <a:xfrm>
              <a:off x="8569746" y="5568058"/>
              <a:ext cx="2588011" cy="752548"/>
              <a:chOff x="8569746" y="5568058"/>
              <a:chExt cx="2588011" cy="752548"/>
            </a:xfrm>
          </p:grpSpPr>
          <p:sp>
            <p:nvSpPr>
              <p:cNvPr id="27" name="Rectangle: Rounded Corners 46">
                <a:extLst>
                  <a:ext uri="{FF2B5EF4-FFF2-40B4-BE49-F238E27FC236}">
                    <a16:creationId xmlns:a16="http://schemas.microsoft.com/office/drawing/2014/main" id="{736935BE-C9EE-BF06-38F0-8F275AC73C9A}"/>
                  </a:ext>
                </a:extLst>
              </p:cNvPr>
              <p:cNvSpPr/>
              <p:nvPr/>
            </p:nvSpPr>
            <p:spPr>
              <a:xfrm>
                <a:off x="8906961" y="6046286"/>
                <a:ext cx="2250795" cy="274320"/>
              </a:xfrm>
              <a:prstGeom prst="roundRect">
                <a:avLst>
                  <a:gd name="adj" fmla="val 11418"/>
                </a:avLst>
              </a:prstGeom>
              <a:solidFill>
                <a:schemeClr val="bg1"/>
              </a:solidFill>
              <a:ln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txBody>
              <a:bodyPr spcFirstLastPara="1" wrap="square" lIns="45720" tIns="0" rIns="0" bIns="0" anchor="ctr" anchorCtr="0">
                <a:noAutofit/>
              </a:bodyPr>
              <a:lstStyle/>
              <a:p>
                <a:pPr defTabSz="914446">
                  <a:buClr>
                    <a:srgbClr val="FFFFFF"/>
                  </a:buClr>
                  <a:buSzPts val="1100"/>
                </a:pPr>
                <a:r>
                  <a:rPr lang="ko-KR" altLang="en-US" sz="1100" b="1" spc="-50">
                    <a:latin typeface="+mn-ea"/>
                  </a:rPr>
                  <a:t>평가검증 대상</a:t>
                </a:r>
                <a:r>
                  <a:rPr lang="en-US" altLang="ko-KR" sz="1100" b="1" spc="-50">
                    <a:latin typeface="+mn-ea"/>
                  </a:rPr>
                  <a:t>, </a:t>
                </a:r>
                <a:r>
                  <a:rPr lang="ko-KR" altLang="en-US" sz="1100" b="1" spc="-50">
                    <a:latin typeface="+mn-ea"/>
                  </a:rPr>
                  <a:t>방안</a:t>
                </a:r>
                <a:r>
                  <a:rPr lang="en-US" altLang="ko-KR" sz="1100" b="1" spc="-50">
                    <a:latin typeface="+mn-ea"/>
                  </a:rPr>
                  <a:t> </a:t>
                </a:r>
                <a:r>
                  <a:rPr lang="ko-KR" altLang="en-US" sz="1100" b="1" spc="-50">
                    <a:latin typeface="+mn-ea"/>
                  </a:rPr>
                  <a:t>및 프로세스 등</a:t>
                </a:r>
                <a:endParaRPr lang="en-US" altLang="ko-KR" sz="1100" b="1" spc="-50">
                  <a:latin typeface="+mn-ea"/>
                </a:endParaRPr>
              </a:p>
            </p:txBody>
          </p:sp>
          <p:cxnSp>
            <p:nvCxnSpPr>
              <p:cNvPr id="28" name="연결선: 꺾임 64">
                <a:extLst>
                  <a:ext uri="{FF2B5EF4-FFF2-40B4-BE49-F238E27FC236}">
                    <a16:creationId xmlns:a16="http://schemas.microsoft.com/office/drawing/2014/main" id="{696BFD5C-CC11-409D-9B66-EC0891818269}"/>
                  </a:ext>
                </a:extLst>
              </p:cNvPr>
              <p:cNvCxnSpPr>
                <a:cxnSpLocks/>
                <a:endCxn id="27" idx="1"/>
              </p:cNvCxnSpPr>
              <p:nvPr/>
            </p:nvCxnSpPr>
            <p:spPr>
              <a:xfrm rot="16200000" flipH="1">
                <a:off x="8679402" y="5955886"/>
                <a:ext cx="236013" cy="219106"/>
              </a:xfrm>
              <a:prstGeom prst="bentConnector2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Rectangle: Rounded Corners 95">
                <a:extLst>
                  <a:ext uri="{FF2B5EF4-FFF2-40B4-BE49-F238E27FC236}">
                    <a16:creationId xmlns:a16="http://schemas.microsoft.com/office/drawing/2014/main" id="{F3084054-E0E2-56D5-D6A7-9606037A82E6}"/>
                  </a:ext>
                </a:extLst>
              </p:cNvPr>
              <p:cNvSpPr/>
              <p:nvPr/>
            </p:nvSpPr>
            <p:spPr>
              <a:xfrm>
                <a:off x="8569746" y="5568058"/>
                <a:ext cx="2588011" cy="386448"/>
              </a:xfrm>
              <a:prstGeom prst="roundRect">
                <a:avLst>
                  <a:gd name="adj" fmla="val 11418"/>
                </a:avLst>
              </a:prstGeom>
              <a:solidFill>
                <a:schemeClr val="bg1">
                  <a:lumMod val="95000"/>
                </a:schemeClr>
              </a:solidFill>
              <a:ln w="3175" cap="flat" cmpd="sng" algn="ctr">
                <a:solidFill>
                  <a:schemeClr val="bg1">
                    <a:lumMod val="65000"/>
                  </a:schemeClr>
                </a:solidFill>
                <a:prstDash val="dashDot"/>
              </a:ln>
              <a:effectLst/>
            </p:spPr>
            <p:txBody>
              <a:bodyPr wrap="square" lIns="0" tIns="0" rIns="0" bIns="0" rtlCol="0" anchor="ctr" anchorCtr="0"/>
              <a:lstStyle/>
              <a:p>
                <a:pPr algn="ctr" defTabSz="1042873" latinLnBrk="0">
                  <a:defRPr/>
                </a:pPr>
                <a:r>
                  <a:rPr lang="ko-KR" altLang="en-US" sz="1200" b="1" kern="0">
                    <a:ln>
                      <a:solidFill>
                        <a:srgbClr val="A5C249">
                          <a:alpha val="0"/>
                        </a:srgbClr>
                      </a:solidFill>
                    </a:ln>
                    <a:latin typeface="+mn-ea"/>
                  </a:rPr>
                  <a:t>별첨</a:t>
                </a:r>
                <a:r>
                  <a:rPr lang="en-US" altLang="ko-KR" sz="1200" b="1" kern="0">
                    <a:ln>
                      <a:solidFill>
                        <a:srgbClr val="A5C249">
                          <a:alpha val="0"/>
                        </a:srgbClr>
                      </a:solidFill>
                    </a:ln>
                    <a:latin typeface="+mn-ea"/>
                  </a:rPr>
                  <a:t>. AI </a:t>
                </a:r>
                <a:r>
                  <a:rPr lang="ko-KR" altLang="en-US" sz="1200" b="1" kern="0">
                    <a:ln>
                      <a:solidFill>
                        <a:srgbClr val="A5C249">
                          <a:alpha val="0"/>
                        </a:srgbClr>
                      </a:solidFill>
                    </a:ln>
                    <a:latin typeface="+mn-ea"/>
                  </a:rPr>
                  <a:t>평가검증업무매뉴얼</a:t>
                </a:r>
                <a:endParaRPr lang="en-US" altLang="ko-KR" sz="1200" b="1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</a:endParaRPr>
              </a:p>
            </p:txBody>
          </p:sp>
        </p:grpSp>
        <p:sp>
          <p:nvSpPr>
            <p:cNvPr id="21" name="Rectangle: Rounded Corners 46">
              <a:extLst>
                <a:ext uri="{FF2B5EF4-FFF2-40B4-BE49-F238E27FC236}">
                  <a16:creationId xmlns:a16="http://schemas.microsoft.com/office/drawing/2014/main" id="{4E1C2517-A8C0-E7B2-28EC-FA6556445173}"/>
                </a:ext>
              </a:extLst>
            </p:cNvPr>
            <p:cNvSpPr/>
            <p:nvPr/>
          </p:nvSpPr>
          <p:spPr>
            <a:xfrm>
              <a:off x="522288" y="2366642"/>
              <a:ext cx="1204912" cy="836708"/>
            </a:xfrm>
            <a:prstGeom prst="roundRect">
              <a:avLst>
                <a:gd name="adj" fmla="val 11418"/>
              </a:avLst>
            </a:prstGeom>
            <a:solidFill>
              <a:srgbClr val="F4B183"/>
            </a:solidFill>
            <a:ln>
              <a:solidFill>
                <a:schemeClr val="bg1"/>
              </a:solidFill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9144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Tx/>
                <a:buNone/>
                <a:tabLst/>
                <a:defRPr/>
              </a:pPr>
              <a:r>
                <a:rPr kumimoji="0" lang="ko-KR" altLang="en-US" sz="1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+mn-ea"/>
                  <a:cs typeface="Pretendard" panose="02000503000000020004" pitchFamily="50" charset="-127"/>
                </a:rPr>
                <a:t>목적</a:t>
              </a:r>
              <a:endParaRPr kumimoji="0" lang="en-US" altLang="ko-KR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cs typeface="Pretendard" panose="02000503000000020004" pitchFamily="50" charset="-127"/>
              </a:endParaRPr>
            </a:p>
          </p:txBody>
        </p:sp>
        <p:sp>
          <p:nvSpPr>
            <p:cNvPr id="22" name="Rectangle: Rounded Corners 46">
              <a:extLst>
                <a:ext uri="{FF2B5EF4-FFF2-40B4-BE49-F238E27FC236}">
                  <a16:creationId xmlns:a16="http://schemas.microsoft.com/office/drawing/2014/main" id="{461B5A08-30F1-38D9-8B18-54DC813C6FFD}"/>
                </a:ext>
              </a:extLst>
            </p:cNvPr>
            <p:cNvSpPr/>
            <p:nvPr/>
          </p:nvSpPr>
          <p:spPr>
            <a:xfrm>
              <a:off x="522289" y="3324736"/>
              <a:ext cx="1204912" cy="2547258"/>
            </a:xfrm>
            <a:prstGeom prst="roundRect">
              <a:avLst>
                <a:gd name="adj" fmla="val 6675"/>
              </a:avLst>
            </a:prstGeom>
            <a:solidFill>
              <a:srgbClr val="F4B183"/>
            </a:solidFill>
            <a:ln>
              <a:solidFill>
                <a:schemeClr val="bg1"/>
              </a:solidFill>
            </a:ln>
          </p:spPr>
          <p:txBody>
            <a:bodyPr spcFirstLastPara="1" wrap="square" lIns="0" tIns="0" rIns="504000" bIns="0" anchor="ctr" anchorCtr="0">
              <a:noAutofit/>
            </a:bodyPr>
            <a:lstStyle/>
            <a:p>
              <a:pPr marL="0" marR="0" lvl="0" indent="0" algn="ctr" defTabSz="9144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Tx/>
                <a:buNone/>
                <a:tabLst/>
                <a:defRPr/>
              </a:pPr>
              <a:r>
                <a:rPr kumimoji="0" lang="ko-KR" altLang="en-US" sz="1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+mn-ea"/>
                  <a:cs typeface="Pretendard" panose="02000503000000020004" pitchFamily="50" charset="-127"/>
                </a:rPr>
                <a:t>주요 </a:t>
              </a:r>
              <a:endParaRPr kumimoji="0" lang="en-US" altLang="ko-KR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cs typeface="Pretendard" panose="02000503000000020004" pitchFamily="50" charset="-127"/>
              </a:endParaRPr>
            </a:p>
            <a:p>
              <a:pPr marL="0" marR="0" lvl="0" indent="0" algn="ctr" defTabSz="9144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Tx/>
                <a:buNone/>
                <a:tabLst/>
                <a:defRPr/>
              </a:pPr>
              <a:r>
                <a:rPr kumimoji="0" lang="ko-KR" altLang="en-US" sz="1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+mn-ea"/>
                  <a:cs typeface="Pretendard" panose="02000503000000020004" pitchFamily="50" charset="-127"/>
                </a:rPr>
                <a:t>내용</a:t>
              </a:r>
              <a:endParaRPr kumimoji="0" lang="en-US" altLang="ko-KR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cs typeface="Pretendard" panose="02000503000000020004" pitchFamily="50" charset="-127"/>
              </a:endParaRPr>
            </a:p>
            <a:p>
              <a:pPr marL="0" marR="0" lvl="0" indent="0" algn="ctr" defTabSz="9144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+mn-ea"/>
                  <a:cs typeface="Pretendard" panose="02000503000000020004" pitchFamily="50" charset="-127"/>
                </a:rPr>
                <a:t>(</a:t>
              </a:r>
              <a:r>
                <a:rPr kumimoji="0" lang="ko-KR" altLang="en-US" sz="9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+mn-ea"/>
                  <a:cs typeface="Pretendard" panose="02000503000000020004" pitchFamily="50" charset="-127"/>
                </a:rPr>
                <a:t>문서 목차</a:t>
              </a:r>
              <a:r>
                <a:rPr kumimoji="0" lang="en-US" altLang="ko-KR" sz="9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+mn-ea"/>
                  <a:cs typeface="Pretendard" panose="02000503000000020004" pitchFamily="50" charset="-127"/>
                </a:rPr>
                <a:t>*)</a:t>
              </a:r>
            </a:p>
          </p:txBody>
        </p:sp>
        <p:sp>
          <p:nvSpPr>
            <p:cNvPr id="23" name="Rectangle: Rounded Corners 46">
              <a:extLst>
                <a:ext uri="{FF2B5EF4-FFF2-40B4-BE49-F238E27FC236}">
                  <a16:creationId xmlns:a16="http://schemas.microsoft.com/office/drawing/2014/main" id="{A94E06B8-1B1D-C708-CB31-58FB1CDC93FB}"/>
                </a:ext>
              </a:extLst>
            </p:cNvPr>
            <p:cNvSpPr/>
            <p:nvPr/>
          </p:nvSpPr>
          <p:spPr>
            <a:xfrm>
              <a:off x="522289" y="5917437"/>
              <a:ext cx="1204912" cy="494109"/>
            </a:xfrm>
            <a:prstGeom prst="roundRect">
              <a:avLst>
                <a:gd name="adj" fmla="val 22435"/>
              </a:avLst>
            </a:prstGeom>
            <a:solidFill>
              <a:srgbClr val="F4B183"/>
            </a:solidFill>
            <a:ln>
              <a:solidFill>
                <a:schemeClr val="bg1"/>
              </a:solidFill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9144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Tx/>
                <a:buNone/>
                <a:tabLst/>
                <a:defRPr/>
              </a:pPr>
              <a:r>
                <a:rPr kumimoji="0" lang="ko-KR" altLang="en-US" sz="1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+mn-ea"/>
                  <a:cs typeface="Pretendard" panose="02000503000000020004" pitchFamily="50" charset="-127"/>
                </a:rPr>
                <a:t>사용자</a:t>
              </a:r>
              <a:endParaRPr kumimoji="0" lang="en-US" altLang="ko-KR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cs typeface="Pretendard" panose="02000503000000020004" pitchFamily="50" charset="-127"/>
              </a:endParaRPr>
            </a:p>
          </p:txBody>
        </p:sp>
        <p:sp>
          <p:nvSpPr>
            <p:cNvPr id="24" name="Rectangle: Rounded Corners 46">
              <a:extLst>
                <a:ext uri="{FF2B5EF4-FFF2-40B4-BE49-F238E27FC236}">
                  <a16:creationId xmlns:a16="http://schemas.microsoft.com/office/drawing/2014/main" id="{43535DA7-60C7-BBAC-06B9-D771DED51CE2}"/>
                </a:ext>
              </a:extLst>
            </p:cNvPr>
            <p:cNvSpPr/>
            <p:nvPr/>
          </p:nvSpPr>
          <p:spPr>
            <a:xfrm>
              <a:off x="1228725" y="3426270"/>
              <a:ext cx="582110" cy="540556"/>
            </a:xfrm>
            <a:prstGeom prst="roundRect">
              <a:avLst>
                <a:gd name="adj" fmla="val 11418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12700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wrap="square" lIns="0" tIns="0" rIns="0" bIns="0" rtlCol="0" anchor="ctr" anchorCtr="0"/>
            <a:lstStyle/>
            <a:p>
              <a:pPr algn="ctr" defTabSz="1042873"/>
              <a:r>
                <a:rPr lang="ko-KR" altLang="en-US" sz="1200" b="1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원칙</a:t>
              </a:r>
              <a:r>
                <a:rPr lang="en-US" altLang="ko-KR" sz="1200" b="1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/</a:t>
              </a:r>
            </a:p>
            <a:p>
              <a:pPr algn="ctr" defTabSz="1042873"/>
              <a:r>
                <a:rPr lang="ko-KR" altLang="en-US" sz="1200" b="1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기준</a:t>
              </a:r>
              <a:endPara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endParaRPr>
            </a:p>
          </p:txBody>
        </p:sp>
        <p:sp>
          <p:nvSpPr>
            <p:cNvPr id="25" name="Rectangle: Rounded Corners 46">
              <a:extLst>
                <a:ext uri="{FF2B5EF4-FFF2-40B4-BE49-F238E27FC236}">
                  <a16:creationId xmlns:a16="http://schemas.microsoft.com/office/drawing/2014/main" id="{D238070A-D6C8-E587-95B4-670E3C6EDE97}"/>
                </a:ext>
              </a:extLst>
            </p:cNvPr>
            <p:cNvSpPr/>
            <p:nvPr/>
          </p:nvSpPr>
          <p:spPr>
            <a:xfrm>
              <a:off x="1228725" y="4031853"/>
              <a:ext cx="582110" cy="540556"/>
            </a:xfrm>
            <a:prstGeom prst="roundRect">
              <a:avLst>
                <a:gd name="adj" fmla="val 11418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12700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wrap="square" lIns="0" tIns="0" rIns="0" bIns="0" rtlCol="0" anchor="ctr" anchorCtr="0"/>
            <a:lstStyle/>
            <a:p>
              <a:pPr algn="ctr" defTabSz="1042873"/>
              <a:r>
                <a:rPr lang="ko-KR" altLang="en-US" sz="1200" b="1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조직</a:t>
              </a:r>
              <a:endPara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endParaRPr>
            </a:p>
          </p:txBody>
        </p:sp>
        <p:sp>
          <p:nvSpPr>
            <p:cNvPr id="26" name="Rectangle: Rounded Corners 46">
              <a:extLst>
                <a:ext uri="{FF2B5EF4-FFF2-40B4-BE49-F238E27FC236}">
                  <a16:creationId xmlns:a16="http://schemas.microsoft.com/office/drawing/2014/main" id="{9255D0C6-20C6-3AB7-7F85-01408A2680A9}"/>
                </a:ext>
              </a:extLst>
            </p:cNvPr>
            <p:cNvSpPr/>
            <p:nvPr/>
          </p:nvSpPr>
          <p:spPr>
            <a:xfrm>
              <a:off x="1228725" y="4637436"/>
              <a:ext cx="582110" cy="1177946"/>
            </a:xfrm>
            <a:prstGeom prst="roundRect">
              <a:avLst>
                <a:gd name="adj" fmla="val 11418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12700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wrap="square" lIns="0" tIns="0" rIns="0" bIns="0" rtlCol="0" anchor="ctr" anchorCtr="0"/>
            <a:lstStyle/>
            <a:p>
              <a:pPr algn="ctr" defTabSz="1042873"/>
              <a:r>
                <a:rPr lang="ko-KR" altLang="en-US" sz="1200" b="1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개발</a:t>
              </a:r>
              <a:r>
                <a:rPr lang="en-US" altLang="ko-KR" sz="1200" b="1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·</a:t>
              </a:r>
              <a:br>
                <a:rPr lang="en-US" altLang="ko-KR" sz="1200" b="1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</a:br>
              <a:r>
                <a:rPr lang="ko-KR" altLang="en-US" sz="1200" b="1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운영 관리 체계</a:t>
              </a:r>
              <a:endPara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111788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B8513071-F90B-FA36-EA0D-4303241EFD9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918B357-A425-F433-7F08-F2B58942038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[Back-up] </a:t>
            </a:r>
            <a:r>
              <a:rPr lang="ko-KR" altLang="en-US"/>
              <a:t>타사 </a:t>
            </a:r>
            <a:r>
              <a:rPr lang="en-US" altLang="ko-KR"/>
              <a:t>AI</a:t>
            </a:r>
            <a:r>
              <a:rPr lang="ko-KR" altLang="en-US"/>
              <a:t>거버넌스 주요 내용</a:t>
            </a:r>
            <a:r>
              <a:rPr lang="en-US" altLang="ko-KR"/>
              <a:t>_N</a:t>
            </a:r>
            <a:r>
              <a:rPr lang="ko-KR" altLang="en-US"/>
              <a:t>은행 </a:t>
            </a:r>
            <a:r>
              <a:rPr lang="en-US" altLang="ko-KR"/>
              <a:t>(1/3)</a:t>
            </a:r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5CBFD37-3AFB-52C8-4E13-0ED4C8FB98F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/>
              <a:t>N</a:t>
            </a:r>
            <a:r>
              <a:rPr lang="ko-KR" altLang="en-US"/>
              <a:t>은행 </a:t>
            </a:r>
            <a:r>
              <a:rPr lang="en-US" altLang="ko-KR"/>
              <a:t>AI </a:t>
            </a:r>
            <a:r>
              <a:rPr lang="ko-KR" altLang="en-US"/>
              <a:t>거버넌스 업무규정의 주요 내용은 다음과 같음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F1ACE02A-DF05-A6BA-771B-0221160F06AC}"/>
              </a:ext>
            </a:extLst>
          </p:cNvPr>
          <p:cNvGrpSpPr/>
          <p:nvPr/>
        </p:nvGrpSpPr>
        <p:grpSpPr>
          <a:xfrm>
            <a:off x="407987" y="1341439"/>
            <a:ext cx="11376025" cy="5111750"/>
            <a:chOff x="407987" y="1917701"/>
            <a:chExt cx="11376025" cy="4595901"/>
          </a:xfrm>
        </p:grpSpPr>
        <p:sp>
          <p:nvSpPr>
            <p:cNvPr id="6" name="사각형: 둥근 모서리 20">
              <a:extLst>
                <a:ext uri="{FF2B5EF4-FFF2-40B4-BE49-F238E27FC236}">
                  <a16:creationId xmlns:a16="http://schemas.microsoft.com/office/drawing/2014/main" id="{4AB6036B-CF9B-EFC8-0642-121240F0DECF}"/>
                </a:ext>
              </a:extLst>
            </p:cNvPr>
            <p:cNvSpPr/>
            <p:nvPr/>
          </p:nvSpPr>
          <p:spPr>
            <a:xfrm>
              <a:off x="4600839" y="1917701"/>
              <a:ext cx="2052000" cy="323330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75000"/>
              </a:schemeClr>
            </a:solidFill>
            <a:ln w="12700">
              <a:noFill/>
            </a:ln>
            <a:effectLst/>
          </p:spPr>
          <p:txBody>
            <a:bodyPr lIns="0" tIns="0" rIns="0" bIns="0" rtlCol="0" anchor="ctr" anchorCtr="0"/>
            <a:lstStyle/>
            <a:p>
              <a:pPr algn="ctr" defTabSz="914400"/>
              <a:r>
                <a:rPr lang="ko-KR" altLang="en-US" sz="1400" b="1" spc="-150">
                  <a:solidFill>
                    <a:schemeClr val="bg1">
                      <a:lumMod val="95000"/>
                    </a:schemeClr>
                  </a:solidFill>
                  <a:latin typeface="+mn-ea"/>
                  <a:cs typeface="Noto Sans" panose="020B0502040504020204" pitchFamily="34" charset="0"/>
                </a:rPr>
                <a:t>③ </a:t>
              </a:r>
              <a:r>
                <a:rPr lang="en-US" altLang="ko-KR" sz="1400" b="1" spc="-150">
                  <a:solidFill>
                    <a:schemeClr val="bg1">
                      <a:lumMod val="95000"/>
                    </a:schemeClr>
                  </a:solidFill>
                  <a:latin typeface="+mn-ea"/>
                  <a:cs typeface="Noto Sans" panose="020B0502040504020204" pitchFamily="34" charset="0"/>
                </a:rPr>
                <a:t>AI</a:t>
              </a:r>
              <a:r>
                <a:rPr lang="ko-KR" altLang="en-US" sz="1400" b="1" spc="-150">
                  <a:solidFill>
                    <a:schemeClr val="bg1">
                      <a:lumMod val="95000"/>
                    </a:schemeClr>
                  </a:solidFill>
                  <a:latin typeface="+mn-ea"/>
                  <a:cs typeface="Noto Sans" panose="020B0502040504020204" pitchFamily="34" charset="0"/>
                </a:rPr>
                <a:t> 거버넌스 업무방법</a:t>
              </a:r>
            </a:p>
          </p:txBody>
        </p:sp>
        <p:sp>
          <p:nvSpPr>
            <p:cNvPr id="7" name="사각형: 둥근 모서리 20">
              <a:extLst>
                <a:ext uri="{FF2B5EF4-FFF2-40B4-BE49-F238E27FC236}">
                  <a16:creationId xmlns:a16="http://schemas.microsoft.com/office/drawing/2014/main" id="{A1CB82D4-64AF-D6D6-BCA2-93B87DB9373B}"/>
                </a:ext>
              </a:extLst>
            </p:cNvPr>
            <p:cNvSpPr/>
            <p:nvPr/>
          </p:nvSpPr>
          <p:spPr>
            <a:xfrm>
              <a:off x="2504414" y="1917701"/>
              <a:ext cx="2052000" cy="323330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75000"/>
              </a:schemeClr>
            </a:solidFill>
            <a:ln w="12700">
              <a:noFill/>
            </a:ln>
            <a:effectLst/>
          </p:spPr>
          <p:txBody>
            <a:bodyPr lIns="0" tIns="0" rIns="0" bIns="0" rtlCol="0" anchor="ctr" anchorCtr="0"/>
            <a:lstStyle/>
            <a:p>
              <a:pPr algn="ctr" defTabSz="914400"/>
              <a:r>
                <a:rPr lang="ko-KR" altLang="en-US" sz="1400" b="1" spc="-150">
                  <a:solidFill>
                    <a:schemeClr val="bg1">
                      <a:lumMod val="95000"/>
                    </a:schemeClr>
                  </a:solidFill>
                  <a:latin typeface="+mn-ea"/>
                  <a:cs typeface="Noto Sans" panose="020B0502040504020204" pitchFamily="34" charset="0"/>
                </a:rPr>
                <a:t>② </a:t>
              </a:r>
              <a:r>
                <a:rPr lang="en-US" altLang="ko-KR" sz="1400" b="1" spc="-150">
                  <a:solidFill>
                    <a:schemeClr val="bg1">
                      <a:lumMod val="95000"/>
                    </a:schemeClr>
                  </a:solidFill>
                  <a:latin typeface="+mn-ea"/>
                  <a:cs typeface="Noto Sans" panose="020B0502040504020204" pitchFamily="34" charset="0"/>
                </a:rPr>
                <a:t>AI </a:t>
              </a:r>
              <a:r>
                <a:rPr lang="ko-KR" altLang="en-US" sz="1400" b="1" spc="-150">
                  <a:solidFill>
                    <a:schemeClr val="bg1">
                      <a:lumMod val="95000"/>
                    </a:schemeClr>
                  </a:solidFill>
                  <a:latin typeface="+mn-ea"/>
                  <a:cs typeface="Noto Sans" panose="020B0502040504020204" pitchFamily="34" charset="0"/>
                </a:rPr>
                <a:t>거버넌스 업무준칙</a:t>
              </a:r>
            </a:p>
          </p:txBody>
        </p:sp>
        <p:sp>
          <p:nvSpPr>
            <p:cNvPr id="8" name="사각형: 둥근 모서리 20">
              <a:extLst>
                <a:ext uri="{FF2B5EF4-FFF2-40B4-BE49-F238E27FC236}">
                  <a16:creationId xmlns:a16="http://schemas.microsoft.com/office/drawing/2014/main" id="{726197CE-097E-DCE3-FC52-F409421B805D}"/>
                </a:ext>
              </a:extLst>
            </p:cNvPr>
            <p:cNvSpPr/>
            <p:nvPr/>
          </p:nvSpPr>
          <p:spPr>
            <a:xfrm>
              <a:off x="407987" y="2241031"/>
              <a:ext cx="11376025" cy="4272571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accent2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" altLang="ko-KR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endParaRPr>
            </a:p>
          </p:txBody>
        </p:sp>
        <p:sp>
          <p:nvSpPr>
            <p:cNvPr id="9" name="Rectangle: Rounded Corners 46">
              <a:extLst>
                <a:ext uri="{FF2B5EF4-FFF2-40B4-BE49-F238E27FC236}">
                  <a16:creationId xmlns:a16="http://schemas.microsoft.com/office/drawing/2014/main" id="{F7BD3473-284B-D70C-6347-701B3B075785}"/>
                </a:ext>
              </a:extLst>
            </p:cNvPr>
            <p:cNvSpPr/>
            <p:nvPr/>
          </p:nvSpPr>
          <p:spPr>
            <a:xfrm>
              <a:off x="5277149" y="2366642"/>
              <a:ext cx="6259531" cy="4044904"/>
            </a:xfrm>
            <a:prstGeom prst="snip1Rect">
              <a:avLst/>
            </a:prstGeom>
            <a:pattFill prst="dkUpDiag">
              <a:fgClr>
                <a:schemeClr val="accent1">
                  <a:lumMod val="20000"/>
                  <a:lumOff val="80000"/>
                </a:schemeClr>
              </a:fgClr>
              <a:bgClr>
                <a:prstClr val="white"/>
              </a:bgClr>
            </a:pattFill>
            <a:ln w="3175" cap="flat" cmpd="sng" algn="ctr">
              <a:noFill/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lIns="0" tIns="0" rIns="0" bIns="0" rtlCol="0" anchor="ctr" anchorCtr="0"/>
            <a:lstStyle/>
            <a:p>
              <a:pPr marL="0" marR="0" lvl="0" indent="0" algn="ctr" defTabSz="10428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Pretendard SemiBold" panose="02000703000000020004" pitchFamily="50" charset="-127"/>
              </a:endParaRPr>
            </a:p>
          </p:txBody>
        </p:sp>
        <p:sp>
          <p:nvSpPr>
            <p:cNvPr id="10" name="사각형: 둥근 모서리 20">
              <a:extLst>
                <a:ext uri="{FF2B5EF4-FFF2-40B4-BE49-F238E27FC236}">
                  <a16:creationId xmlns:a16="http://schemas.microsoft.com/office/drawing/2014/main" id="{254FED01-5809-BF8B-5BB3-3DD131889BA2}"/>
                </a:ext>
              </a:extLst>
            </p:cNvPr>
            <p:cNvSpPr/>
            <p:nvPr/>
          </p:nvSpPr>
          <p:spPr>
            <a:xfrm>
              <a:off x="407988" y="1917701"/>
              <a:ext cx="2052000" cy="323330"/>
            </a:xfrm>
            <a:prstGeom prst="roundRect">
              <a:avLst>
                <a:gd name="adj" fmla="val 0"/>
              </a:avLst>
            </a:prstGeom>
            <a:solidFill>
              <a:schemeClr val="accent2"/>
            </a:solidFill>
            <a:ln>
              <a:solidFill>
                <a:schemeClr val="accent2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1400" b="1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lt1"/>
                  </a:solidFill>
                  <a:latin typeface="+mn-ea"/>
                </a:rPr>
                <a:t>① </a:t>
              </a:r>
              <a:r>
                <a:rPr lang="en-US" altLang="ko-KR" sz="1400" b="1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lt1"/>
                  </a:solidFill>
                  <a:latin typeface="+mn-ea"/>
                </a:rPr>
                <a:t>AI </a:t>
              </a:r>
              <a:r>
                <a:rPr lang="ko-KR" altLang="en-US" sz="1400" b="1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lt1"/>
                  </a:solidFill>
                  <a:latin typeface="+mn-ea"/>
                </a:rPr>
                <a:t>거버넌스  업무규정</a:t>
              </a:r>
              <a:endParaRPr lang="en" altLang="ko-KR" sz="14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endParaRPr>
            </a:p>
          </p:txBody>
        </p:sp>
        <p:sp>
          <p:nvSpPr>
            <p:cNvPr id="11" name="Rectangle: Rounded Corners 46">
              <a:extLst>
                <a:ext uri="{FF2B5EF4-FFF2-40B4-BE49-F238E27FC236}">
                  <a16:creationId xmlns:a16="http://schemas.microsoft.com/office/drawing/2014/main" id="{5E900DFC-001F-9F0C-EF79-892028367987}"/>
                </a:ext>
              </a:extLst>
            </p:cNvPr>
            <p:cNvSpPr/>
            <p:nvPr/>
          </p:nvSpPr>
          <p:spPr>
            <a:xfrm>
              <a:off x="5479142" y="2444164"/>
              <a:ext cx="2052190" cy="340981"/>
            </a:xfrm>
            <a:prstGeom prst="roundRect">
              <a:avLst>
                <a:gd name="adj" fmla="val 11418"/>
              </a:avLst>
            </a:prstGeom>
            <a:noFill/>
            <a:ln w="3175" cap="flat" cmpd="sng" algn="ctr">
              <a:noFill/>
              <a:prstDash val="solid"/>
            </a:ln>
            <a:effectLst/>
          </p:spPr>
          <p:txBody>
            <a:bodyPr wrap="square" lIns="0" tIns="0" rIns="0" bIns="0" rtlCol="0" anchor="ctr" anchorCtr="0"/>
            <a:lstStyle/>
            <a:p>
              <a:pPr marL="0" marR="0" lvl="0" indent="0" defTabSz="10428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1" i="0" u="none" strike="noStrike" kern="0" cap="none" spc="0" normalizeH="0" baseline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Contents</a:t>
              </a:r>
            </a:p>
          </p:txBody>
        </p:sp>
        <p:sp>
          <p:nvSpPr>
            <p:cNvPr id="12" name="Rectangle: Rounded Corners 46">
              <a:extLst>
                <a:ext uri="{FF2B5EF4-FFF2-40B4-BE49-F238E27FC236}">
                  <a16:creationId xmlns:a16="http://schemas.microsoft.com/office/drawing/2014/main" id="{B2335743-C4D0-A40B-3B4C-A83DF5796077}"/>
                </a:ext>
              </a:extLst>
            </p:cNvPr>
            <p:cNvSpPr/>
            <p:nvPr/>
          </p:nvSpPr>
          <p:spPr>
            <a:xfrm>
              <a:off x="1943373" y="3426269"/>
              <a:ext cx="3250142" cy="540555"/>
            </a:xfrm>
            <a:prstGeom prst="roundRect">
              <a:avLst>
                <a:gd name="adj" fmla="val 11418"/>
              </a:avLst>
            </a:prstGeom>
            <a:solidFill>
              <a:schemeClr val="bg1">
                <a:lumMod val="95000"/>
              </a:schemeClr>
            </a:solidFill>
            <a:ln w="3175" cap="flat" cmpd="sng" algn="ctr">
              <a:noFill/>
              <a:prstDash val="solid"/>
            </a:ln>
            <a:effectLst/>
          </p:spPr>
          <p:txBody>
            <a:bodyPr wrap="square" lIns="90000" tIns="0" rIns="90000" bIns="0" rtlCol="0" anchor="ctr" anchorCtr="0"/>
            <a:lstStyle/>
            <a:p>
              <a:pPr marL="171450" marR="0" lvl="0" indent="-171450" defTabSz="10428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1200" i="0" u="none" strike="noStrike" kern="0" cap="none" spc="0" normalizeH="0" baseline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원칙 및 기준</a:t>
              </a:r>
              <a:r>
                <a:rPr kumimoji="0" lang="en-US" altLang="ko-KR" sz="1200" i="0" u="none" strike="noStrike" kern="0" cap="none" spc="0" normalizeH="0" baseline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: </a:t>
              </a:r>
              <a:r>
                <a:rPr kumimoji="0" lang="ko-KR" altLang="en-US" sz="1200" i="0" u="none" strike="noStrike" kern="0" cap="none" spc="0" normalizeH="0" baseline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윤리원칙</a:t>
              </a:r>
            </a:p>
          </p:txBody>
        </p:sp>
        <p:sp>
          <p:nvSpPr>
            <p:cNvPr id="13" name="Rectangle: Rounded Corners 46">
              <a:extLst>
                <a:ext uri="{FF2B5EF4-FFF2-40B4-BE49-F238E27FC236}">
                  <a16:creationId xmlns:a16="http://schemas.microsoft.com/office/drawing/2014/main" id="{0E49AEE1-F43D-3A48-E9C4-80E2A662FF3C}"/>
                </a:ext>
              </a:extLst>
            </p:cNvPr>
            <p:cNvSpPr/>
            <p:nvPr/>
          </p:nvSpPr>
          <p:spPr>
            <a:xfrm>
              <a:off x="1943373" y="2366642"/>
              <a:ext cx="3250142" cy="836708"/>
            </a:xfrm>
            <a:prstGeom prst="roundRect">
              <a:avLst>
                <a:gd name="adj" fmla="val 11418"/>
              </a:avLst>
            </a:prstGeom>
            <a:solidFill>
              <a:schemeClr val="bg1">
                <a:lumMod val="95000"/>
              </a:schemeClr>
            </a:solidFill>
            <a:ln w="3175" cap="flat" cmpd="sng" algn="ctr">
              <a:noFill/>
              <a:prstDash val="solid"/>
            </a:ln>
            <a:effectLst/>
          </p:spPr>
          <p:txBody>
            <a:bodyPr wrap="square" lIns="90000" tIns="0" rIns="90000" bIns="0" rtlCol="0" anchor="ctr" anchorCtr="0"/>
            <a:lstStyle/>
            <a:p>
              <a:pPr defTabSz="1042873">
                <a:lnSpc>
                  <a:spcPct val="130000"/>
                </a:lnSpc>
              </a:pPr>
              <a:r>
                <a:rPr lang="en-US" altLang="ko-KR" sz="1200" kern="0" spc="-7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AI </a:t>
              </a:r>
              <a:r>
                <a:rPr lang="ko-KR" altLang="en-US" sz="1200" kern="0" spc="-7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활용을 활성하고 </a:t>
              </a:r>
              <a:r>
                <a:rPr lang="en-US" altLang="ko-KR" sz="1200" kern="0" spc="-7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AI </a:t>
              </a:r>
              <a:r>
                <a:rPr lang="ko-KR" altLang="en-US" sz="1200" kern="0" spc="-7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기반 금융서비스에 대한 고객 신뢰를 제공하기 위해 </a:t>
              </a:r>
              <a:r>
                <a:rPr lang="en-US" altLang="ko-KR" sz="1200" kern="0" spc="-7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AI </a:t>
              </a:r>
              <a:r>
                <a:rPr lang="ko-KR" altLang="en-US" sz="1200" kern="0" spc="-7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윤리원칙과 </a:t>
              </a:r>
              <a:r>
                <a:rPr lang="en-US" altLang="ko-KR" sz="1200" kern="0" spc="-7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AI </a:t>
              </a:r>
              <a:r>
                <a:rPr lang="ko-KR" altLang="en-US" sz="1200" kern="0" spc="-7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거버넌스 업무 운영에 관한 사항을 규정</a:t>
              </a:r>
            </a:p>
          </p:txBody>
        </p:sp>
        <p:sp>
          <p:nvSpPr>
            <p:cNvPr id="14" name="Rectangle: Rounded Corners 46">
              <a:extLst>
                <a:ext uri="{FF2B5EF4-FFF2-40B4-BE49-F238E27FC236}">
                  <a16:creationId xmlns:a16="http://schemas.microsoft.com/office/drawing/2014/main" id="{976E45AE-DF94-ADD4-A6F6-C1554D2073FE}"/>
                </a:ext>
              </a:extLst>
            </p:cNvPr>
            <p:cNvSpPr/>
            <p:nvPr/>
          </p:nvSpPr>
          <p:spPr>
            <a:xfrm>
              <a:off x="1943373" y="4031853"/>
              <a:ext cx="3250142" cy="540555"/>
            </a:xfrm>
            <a:prstGeom prst="roundRect">
              <a:avLst>
                <a:gd name="adj" fmla="val 11418"/>
              </a:avLst>
            </a:prstGeom>
            <a:solidFill>
              <a:schemeClr val="bg1">
                <a:lumMod val="95000"/>
              </a:schemeClr>
            </a:solidFill>
            <a:ln w="3175" cap="flat" cmpd="sng" algn="ctr">
              <a:noFill/>
              <a:prstDash val="solid"/>
            </a:ln>
            <a:effectLst/>
          </p:spPr>
          <p:txBody>
            <a:bodyPr wrap="square" lIns="90000" tIns="0" rIns="90000" bIns="0" rtlCol="0" anchor="ctr" anchorCtr="0"/>
            <a:lstStyle/>
            <a:p>
              <a:pPr marL="171450" marR="0" lvl="0" indent="-171450" defTabSz="10428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ko-KR" sz="1200" i="0" u="none" strike="noStrike" kern="0" cap="none" spc="0" normalizeH="0" baseline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AI </a:t>
              </a:r>
              <a:r>
                <a:rPr kumimoji="0" lang="ko-KR" altLang="en-US" sz="1200" i="0" u="none" strike="noStrike" kern="0" cap="none" spc="0" normalizeH="0" baseline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거버넌스 최고책임자</a:t>
              </a:r>
              <a:r>
                <a:rPr kumimoji="0" lang="en-US" altLang="ko-KR" sz="1200" i="0" u="none" strike="noStrike" kern="0" cap="none" spc="0" normalizeH="0" baseline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, AI </a:t>
              </a:r>
              <a:r>
                <a:rPr kumimoji="0" lang="ko-KR" altLang="en-US" sz="1200" i="0" u="none" strike="noStrike" kern="0" cap="none" spc="0" normalizeH="0" baseline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거버넌스 총괄부서</a:t>
              </a:r>
              <a:r>
                <a:rPr kumimoji="0" lang="en-US" altLang="ko-KR" sz="1200" i="0" u="none" strike="noStrike" kern="0" cap="none" spc="0" normalizeH="0" baseline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, AI </a:t>
              </a:r>
              <a:r>
                <a:rPr kumimoji="0" lang="ko-KR" altLang="en-US" sz="1200" i="0" u="none" strike="noStrike" kern="0" cap="none" spc="0" normalizeH="0" baseline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서비스 관리부서</a:t>
              </a:r>
              <a:r>
                <a:rPr kumimoji="0" lang="en-US" altLang="ko-KR" sz="1200" i="0" u="none" strike="noStrike" kern="0" cap="none" spc="0" normalizeH="0" baseline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, AI </a:t>
              </a:r>
              <a:r>
                <a:rPr kumimoji="0" lang="ko-KR" altLang="en-US" sz="1200" i="0" u="none" strike="noStrike" kern="0" cap="none" spc="0" normalizeH="0" baseline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시스템 관리부서</a:t>
              </a:r>
              <a:r>
                <a:rPr kumimoji="0" lang="en-US" altLang="ko-KR" sz="1200" i="0" u="none" strike="noStrike" kern="0" cap="none" spc="0" normalizeH="0" baseline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, AI </a:t>
              </a:r>
              <a:r>
                <a:rPr kumimoji="0" lang="ko-KR" altLang="en-US" sz="1200" i="0" u="none" strike="noStrike" kern="0" cap="none" spc="0" normalizeH="0" baseline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거버넌스 협의회</a:t>
              </a:r>
            </a:p>
          </p:txBody>
        </p:sp>
        <p:sp>
          <p:nvSpPr>
            <p:cNvPr id="15" name="Rectangle: Rounded Corners 46">
              <a:extLst>
                <a:ext uri="{FF2B5EF4-FFF2-40B4-BE49-F238E27FC236}">
                  <a16:creationId xmlns:a16="http://schemas.microsoft.com/office/drawing/2014/main" id="{B182A8D4-A59C-7539-B9EB-07C4E5037654}"/>
                </a:ext>
              </a:extLst>
            </p:cNvPr>
            <p:cNvSpPr/>
            <p:nvPr/>
          </p:nvSpPr>
          <p:spPr>
            <a:xfrm>
              <a:off x="1943373" y="4637436"/>
              <a:ext cx="3250142" cy="1177946"/>
            </a:xfrm>
            <a:prstGeom prst="roundRect">
              <a:avLst>
                <a:gd name="adj" fmla="val 5596"/>
              </a:avLst>
            </a:prstGeom>
            <a:solidFill>
              <a:schemeClr val="bg1">
                <a:lumMod val="95000"/>
              </a:schemeClr>
            </a:solidFill>
            <a:ln w="3175" cap="flat" cmpd="sng" algn="ctr">
              <a:noFill/>
              <a:prstDash val="solid"/>
            </a:ln>
            <a:effectLst/>
          </p:spPr>
          <p:txBody>
            <a:bodyPr wrap="square" lIns="90000" tIns="0" rIns="90000" bIns="0" rtlCol="0" anchor="ctr" anchorCtr="0"/>
            <a:lstStyle/>
            <a:p>
              <a:pPr marL="171450" marR="0" lvl="0" indent="-171450" defTabSz="10428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ko-KR" sz="1200" i="0" u="none" strike="noStrike" kern="0" cap="none" spc="0" normalizeH="0" baseline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AI </a:t>
              </a:r>
              <a:r>
                <a:rPr kumimoji="0" lang="ko-KR" altLang="en-US" sz="1200" i="0" u="none" strike="noStrike" kern="0" cap="none" spc="0" normalizeH="0" baseline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위험 수준 평가</a:t>
              </a:r>
              <a:r>
                <a:rPr kumimoji="0" lang="en-US" altLang="ko-KR" sz="1200" i="0" u="none" strike="noStrike" kern="0" cap="none" spc="0" normalizeH="0" baseline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: </a:t>
              </a:r>
              <a:r>
                <a:rPr kumimoji="0" lang="ko-KR" altLang="en-US" sz="1200" i="0" u="none" strike="noStrike" kern="0" cap="none" spc="0" normalizeH="0" baseline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평가</a:t>
              </a:r>
              <a:r>
                <a:rPr kumimoji="0" lang="en-US" altLang="ko-KR" sz="1200" i="0" u="none" strike="noStrike" kern="0" cap="none" spc="0" normalizeH="0" baseline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, </a:t>
              </a:r>
              <a:r>
                <a:rPr kumimoji="0" lang="ko-KR" altLang="en-US" sz="1200" i="0" u="none" strike="noStrike" kern="0" cap="none" spc="0" normalizeH="0" baseline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내부통제 절차</a:t>
              </a:r>
              <a:endPara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endParaRPr>
            </a:p>
            <a:p>
              <a:pPr marL="171450" lvl="0" indent="-171450" defTabSz="1042873">
                <a:buFont typeface="Arial" panose="020B0604020202020204" pitchFamily="34" charset="0"/>
                <a:buChar char="•"/>
                <a:defRPr/>
              </a:pPr>
              <a:r>
                <a:rPr lang="ko-KR" altLang="en-US" sz="1200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개발</a:t>
              </a:r>
              <a:r>
                <a:rPr lang="en-US" altLang="ko-KR" sz="1200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·</a:t>
              </a:r>
              <a:r>
                <a:rPr lang="ko-KR" altLang="en-US" sz="1200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운영 준수사항</a:t>
              </a:r>
              <a:r>
                <a:rPr lang="en-US" altLang="ko-KR" sz="1200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: </a:t>
              </a:r>
              <a:r>
                <a:rPr lang="ko-KR" altLang="en-US" sz="1200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단계별 준수사항 마련</a:t>
              </a:r>
              <a:r>
                <a:rPr lang="en-US" altLang="ko-KR" sz="1200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/</a:t>
              </a:r>
              <a:r>
                <a:rPr lang="ko-KR" altLang="en-US" sz="1200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점검</a:t>
              </a:r>
              <a:r>
                <a:rPr lang="en-US" altLang="ko-KR" sz="1200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(</a:t>
              </a:r>
              <a:r>
                <a:rPr lang="ko-KR" altLang="en-US" sz="1200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기획</a:t>
              </a:r>
              <a:r>
                <a:rPr lang="en-US" altLang="ko-KR" sz="1200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·</a:t>
              </a:r>
              <a:r>
                <a:rPr lang="ko-KR" altLang="en-US" sz="1200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설계</a:t>
              </a:r>
              <a:r>
                <a:rPr lang="en-US" altLang="ko-KR" sz="1200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, </a:t>
              </a:r>
              <a:r>
                <a:rPr lang="ko-KR" altLang="en-US" sz="1200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개발</a:t>
              </a:r>
              <a:r>
                <a:rPr lang="en-US" altLang="ko-KR" sz="1200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, </a:t>
              </a:r>
              <a:r>
                <a:rPr lang="ko-KR" altLang="en-US" sz="1200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평가</a:t>
              </a:r>
              <a:r>
                <a:rPr lang="en-US" altLang="ko-KR" sz="1200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·</a:t>
              </a:r>
              <a:r>
                <a:rPr lang="ko-KR" altLang="en-US" sz="1200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검증</a:t>
              </a:r>
              <a:r>
                <a:rPr lang="en-US" altLang="ko-KR" sz="1200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, </a:t>
              </a:r>
              <a:r>
                <a:rPr lang="ko-KR" altLang="en-US" sz="1200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도입</a:t>
              </a:r>
              <a:r>
                <a:rPr lang="en-US" altLang="ko-KR" sz="1200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·</a:t>
              </a:r>
              <a:r>
                <a:rPr lang="ko-KR" altLang="en-US" sz="1200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운영</a:t>
              </a:r>
              <a:r>
                <a:rPr lang="en-US" altLang="ko-KR" sz="1200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·</a:t>
              </a:r>
              <a:r>
                <a:rPr lang="ko-KR" altLang="en-US" sz="1200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모니터링</a:t>
              </a:r>
              <a:r>
                <a:rPr lang="en-US" altLang="ko-KR" sz="1200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)</a:t>
              </a:r>
            </a:p>
            <a:p>
              <a:pPr marL="171450" lvl="0" indent="-171450" defTabSz="1042873">
                <a:buFont typeface="Arial" panose="020B0604020202020204" pitchFamily="34" charset="0"/>
                <a:buChar char="•"/>
                <a:defRPr/>
              </a:pPr>
              <a:r>
                <a:rPr kumimoji="0" lang="en-US" altLang="ko-KR" sz="1200" i="0" u="none" strike="noStrike" kern="0" cap="none" spc="0" normalizeH="0" baseline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AI </a:t>
              </a:r>
              <a:r>
                <a:rPr lang="ko-KR" altLang="en-US" sz="1200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거버넌스 교육</a:t>
              </a:r>
              <a:r>
                <a:rPr lang="en-US" altLang="ko-KR" sz="1200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: AI </a:t>
              </a:r>
              <a:r>
                <a:rPr lang="ko-KR" altLang="en-US" sz="1200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윤리원칙</a:t>
              </a:r>
              <a:r>
                <a:rPr lang="en-US" altLang="ko-KR" sz="1200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, AI </a:t>
              </a:r>
              <a:r>
                <a:rPr lang="ko-KR" altLang="en-US" sz="1200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거버넌스 관리체계</a:t>
              </a:r>
              <a:r>
                <a:rPr lang="en-US" altLang="ko-KR" sz="1200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, </a:t>
              </a:r>
              <a:r>
                <a:rPr lang="ko-KR" altLang="en-US" sz="1200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개발</a:t>
              </a:r>
              <a:r>
                <a:rPr lang="en-US" altLang="ko-KR" sz="1200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·</a:t>
              </a:r>
              <a:r>
                <a:rPr lang="ko-KR" altLang="en-US" sz="1200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운영 준수사항</a:t>
              </a:r>
              <a:endPara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endParaRPr>
            </a:p>
          </p:txBody>
        </p:sp>
        <p:sp>
          <p:nvSpPr>
            <p:cNvPr id="16" name="Rectangle: Rounded Corners 46">
              <a:extLst>
                <a:ext uri="{FF2B5EF4-FFF2-40B4-BE49-F238E27FC236}">
                  <a16:creationId xmlns:a16="http://schemas.microsoft.com/office/drawing/2014/main" id="{B65120C1-600D-DFD5-9182-5925A2D06956}"/>
                </a:ext>
              </a:extLst>
            </p:cNvPr>
            <p:cNvSpPr/>
            <p:nvPr/>
          </p:nvSpPr>
          <p:spPr>
            <a:xfrm>
              <a:off x="1943373" y="5917437"/>
              <a:ext cx="3250142" cy="494109"/>
            </a:xfrm>
            <a:prstGeom prst="roundRect">
              <a:avLst>
                <a:gd name="adj" fmla="val 11418"/>
              </a:avLst>
            </a:prstGeom>
            <a:solidFill>
              <a:schemeClr val="bg1">
                <a:lumMod val="95000"/>
              </a:schemeClr>
            </a:solidFill>
            <a:ln w="3175" cap="flat" cmpd="sng" algn="ctr">
              <a:noFill/>
              <a:prstDash val="solid"/>
            </a:ln>
            <a:effectLst/>
          </p:spPr>
          <p:txBody>
            <a:bodyPr wrap="square" lIns="90000" tIns="0" rIns="90000" bIns="0" rtlCol="0" anchor="ctr" anchorCtr="0"/>
            <a:lstStyle/>
            <a:p>
              <a:pPr marL="0" marR="0" lvl="0" indent="0" algn="ctr" defTabSz="10428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i="0" u="none" strike="noStrike" kern="0" cap="none" spc="0" normalizeH="0" baseline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AI </a:t>
              </a:r>
              <a:r>
                <a:rPr kumimoji="0" lang="ko-KR" altLang="en-US" sz="1200" i="0" u="none" strike="noStrike" kern="0" cap="none" spc="0" normalizeH="0" baseline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서비스 및 시스템 개발</a:t>
              </a:r>
              <a:r>
                <a:rPr kumimoji="0" lang="en-US" altLang="ko-KR" sz="1200" i="0" u="none" strike="noStrike" kern="0" cap="none" spc="0" normalizeH="0" baseline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/</a:t>
              </a:r>
              <a:r>
                <a:rPr kumimoji="0" lang="ko-KR" altLang="en-US" sz="1200" i="0" u="none" strike="noStrike" kern="0" cap="none" spc="0" normalizeH="0" baseline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운영</a:t>
              </a:r>
              <a:endPara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7971703C-CF13-DA93-35DC-229A04C7A954}"/>
                </a:ext>
              </a:extLst>
            </p:cNvPr>
            <p:cNvSpPr/>
            <p:nvPr/>
          </p:nvSpPr>
          <p:spPr>
            <a:xfrm>
              <a:off x="5598487" y="3622380"/>
              <a:ext cx="236220" cy="26733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endParaRPr lang="ko-KR" altLang="en-US">
                <a:latin typeface="+mn-ea"/>
              </a:endParaRPr>
            </a:p>
          </p:txBody>
        </p:sp>
        <p:sp>
          <p:nvSpPr>
            <p:cNvPr id="18" name="Rectangle: Rounded Corners 46">
              <a:extLst>
                <a:ext uri="{FF2B5EF4-FFF2-40B4-BE49-F238E27FC236}">
                  <a16:creationId xmlns:a16="http://schemas.microsoft.com/office/drawing/2014/main" id="{1A5684D0-DA88-4E4B-EBB6-87697CFA9365}"/>
                </a:ext>
              </a:extLst>
            </p:cNvPr>
            <p:cNvSpPr/>
            <p:nvPr/>
          </p:nvSpPr>
          <p:spPr>
            <a:xfrm>
              <a:off x="5935702" y="5637478"/>
              <a:ext cx="2250795" cy="350979"/>
            </a:xfrm>
            <a:prstGeom prst="roundRect">
              <a:avLst>
                <a:gd name="adj" fmla="val 11418"/>
              </a:avLst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txBody>
            <a:bodyPr spcFirstLastPara="1" wrap="square" lIns="108000" tIns="0" rIns="0" bIns="0" anchor="ctr" anchorCtr="0">
              <a:noAutofit/>
            </a:bodyPr>
            <a:lstStyle/>
            <a:p>
              <a:pPr defTabSz="914446">
                <a:buClr>
                  <a:srgbClr val="FFFFFF"/>
                </a:buClr>
                <a:buSzPts val="1100"/>
              </a:pPr>
              <a:r>
                <a:rPr lang="ko-KR" altLang="en-US" sz="1100" b="1">
                  <a:latin typeface="+mn-ea"/>
                  <a:cs typeface="Pretendard" panose="02000503000000020004" pitchFamily="50" charset="-127"/>
                </a:rPr>
                <a:t>제</a:t>
              </a:r>
              <a:r>
                <a:rPr lang="en-US" altLang="ko-KR" sz="1100" b="1">
                  <a:latin typeface="+mn-ea"/>
                  <a:cs typeface="Pretendard" panose="02000503000000020004" pitchFamily="50" charset="-127"/>
                </a:rPr>
                <a:t>5</a:t>
              </a:r>
              <a:r>
                <a:rPr lang="ko-KR" altLang="en-US" sz="1100" b="1">
                  <a:latin typeface="+mn-ea"/>
                  <a:cs typeface="Pretendard" panose="02000503000000020004" pitchFamily="50" charset="-127"/>
                </a:rPr>
                <a:t>조</a:t>
              </a:r>
              <a:r>
                <a:rPr lang="en-US" altLang="ko-KR" sz="1100" b="1">
                  <a:latin typeface="+mn-ea"/>
                  <a:cs typeface="Pretendard" panose="02000503000000020004" pitchFamily="50" charset="-127"/>
                </a:rPr>
                <a:t> AI </a:t>
              </a:r>
              <a:r>
                <a:rPr lang="ko-KR" altLang="en-US" sz="1100" b="1">
                  <a:latin typeface="+mn-ea"/>
                  <a:cs typeface="Pretendard" panose="02000503000000020004" pitchFamily="50" charset="-127"/>
                </a:rPr>
                <a:t>윤리원칙</a:t>
              </a:r>
              <a:endParaRPr lang="en-US" altLang="ko-KR" sz="1100" b="1">
                <a:latin typeface="+mn-ea"/>
                <a:cs typeface="Pretendard" panose="02000503000000020004" pitchFamily="50" charset="-127"/>
              </a:endParaRPr>
            </a:p>
          </p:txBody>
        </p:sp>
        <p:cxnSp>
          <p:nvCxnSpPr>
            <p:cNvPr id="19" name="연결선: 꺾임 18">
              <a:extLst>
                <a:ext uri="{FF2B5EF4-FFF2-40B4-BE49-F238E27FC236}">
                  <a16:creationId xmlns:a16="http://schemas.microsoft.com/office/drawing/2014/main" id="{C8851C49-9127-36D4-0883-71D41AD4CF7F}"/>
                </a:ext>
              </a:extLst>
            </p:cNvPr>
            <p:cNvCxnSpPr>
              <a:cxnSpLocks/>
              <a:stCxn id="17" idx="2"/>
              <a:endCxn id="18" idx="1"/>
            </p:cNvCxnSpPr>
            <p:nvPr/>
          </p:nvCxnSpPr>
          <p:spPr>
            <a:xfrm rot="16200000" flipH="1">
              <a:off x="5636881" y="5514147"/>
              <a:ext cx="378536" cy="219105"/>
            </a:xfrm>
            <a:prstGeom prst="bentConnector2">
              <a:avLst/>
            </a:prstGeom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ectangle: Rounded Corners 46">
              <a:extLst>
                <a:ext uri="{FF2B5EF4-FFF2-40B4-BE49-F238E27FC236}">
                  <a16:creationId xmlns:a16="http://schemas.microsoft.com/office/drawing/2014/main" id="{C025FCA3-F880-BAD9-86ED-9C08C0969F9D}"/>
                </a:ext>
              </a:extLst>
            </p:cNvPr>
            <p:cNvSpPr/>
            <p:nvPr/>
          </p:nvSpPr>
          <p:spPr>
            <a:xfrm>
              <a:off x="8906961" y="3725741"/>
              <a:ext cx="2250795" cy="319072"/>
            </a:xfrm>
            <a:prstGeom prst="roundRect">
              <a:avLst>
                <a:gd name="adj" fmla="val 11418"/>
              </a:avLst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txBody>
            <a:bodyPr spcFirstLastPara="1" wrap="square" lIns="108000" tIns="0" rIns="0" bIns="0" anchor="ctr" anchorCtr="0">
              <a:noAutofit/>
            </a:bodyPr>
            <a:lstStyle/>
            <a:p>
              <a:pPr defTabSz="914446">
                <a:buClr>
                  <a:srgbClr val="FFFFFF"/>
                </a:buClr>
                <a:buSzPts val="1100"/>
              </a:pPr>
              <a:r>
                <a:rPr lang="ko-KR" altLang="en-US" sz="1100" b="1">
                  <a:latin typeface="+mn-ea"/>
                  <a:cs typeface="Pretendard" panose="02000503000000020004" pitchFamily="50" charset="-127"/>
                </a:rPr>
                <a:t>제</a:t>
              </a:r>
              <a:r>
                <a:rPr lang="en-US" altLang="ko-KR" sz="1100" b="1">
                  <a:latin typeface="+mn-ea"/>
                  <a:cs typeface="Pretendard" panose="02000503000000020004" pitchFamily="50" charset="-127"/>
                </a:rPr>
                <a:t>7</a:t>
              </a:r>
              <a:r>
                <a:rPr lang="ko-KR" altLang="en-US" sz="1100" b="1">
                  <a:latin typeface="+mn-ea"/>
                  <a:cs typeface="Pretendard" panose="02000503000000020004" pitchFamily="50" charset="-127"/>
                </a:rPr>
                <a:t>조 업무 위탁</a:t>
              </a:r>
              <a:endParaRPr lang="en-US" altLang="ko-KR" sz="1100" b="1">
                <a:latin typeface="+mn-ea"/>
                <a:cs typeface="Pretendard" panose="02000503000000020004" pitchFamily="50" charset="-127"/>
              </a:endParaRPr>
            </a:p>
          </p:txBody>
        </p:sp>
        <p:sp>
          <p:nvSpPr>
            <p:cNvPr id="21" name="Rectangle: Rounded Corners 46">
              <a:extLst>
                <a:ext uri="{FF2B5EF4-FFF2-40B4-BE49-F238E27FC236}">
                  <a16:creationId xmlns:a16="http://schemas.microsoft.com/office/drawing/2014/main" id="{01C51BB8-5907-5EA3-1282-B3D8550FF9F1}"/>
                </a:ext>
              </a:extLst>
            </p:cNvPr>
            <p:cNvSpPr/>
            <p:nvPr/>
          </p:nvSpPr>
          <p:spPr>
            <a:xfrm>
              <a:off x="8906961" y="3336207"/>
              <a:ext cx="2250795" cy="319072"/>
            </a:xfrm>
            <a:prstGeom prst="roundRect">
              <a:avLst>
                <a:gd name="adj" fmla="val 11418"/>
              </a:avLst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txBody>
            <a:bodyPr spcFirstLastPara="1" wrap="square" lIns="108000" tIns="0" rIns="0" bIns="0" anchor="ctr" anchorCtr="0">
              <a:noAutofit/>
            </a:bodyPr>
            <a:lstStyle/>
            <a:p>
              <a:pPr defTabSz="914446">
                <a:buClr>
                  <a:srgbClr val="FFFFFF"/>
                </a:buClr>
                <a:buSzPts val="1100"/>
              </a:pPr>
              <a:r>
                <a:rPr lang="ko-KR" altLang="en-US" sz="1100" b="1">
                  <a:latin typeface="+mn-ea"/>
                  <a:cs typeface="Pretendard" panose="02000503000000020004" pitchFamily="50" charset="-127"/>
                </a:rPr>
                <a:t>제</a:t>
              </a:r>
              <a:r>
                <a:rPr lang="en-US" altLang="ko-KR" sz="1100" b="1">
                  <a:latin typeface="+mn-ea"/>
                  <a:cs typeface="Pretendard" panose="02000503000000020004" pitchFamily="50" charset="-127"/>
                </a:rPr>
                <a:t>6</a:t>
              </a:r>
              <a:r>
                <a:rPr lang="ko-KR" altLang="en-US" sz="1100" b="1">
                  <a:latin typeface="+mn-ea"/>
                  <a:cs typeface="Pretendard" panose="02000503000000020004" pitchFamily="50" charset="-127"/>
                </a:rPr>
                <a:t>조 조직체계</a:t>
              </a:r>
              <a:endParaRPr lang="en-US" altLang="ko-KR" sz="1100" b="1">
                <a:latin typeface="+mn-ea"/>
                <a:cs typeface="Pretendard" panose="02000503000000020004" pitchFamily="50" charset="-127"/>
              </a:endParaRPr>
            </a:p>
          </p:txBody>
        </p:sp>
        <p:cxnSp>
          <p:nvCxnSpPr>
            <p:cNvPr id="22" name="연결선: 꺾임 21">
              <a:extLst>
                <a:ext uri="{FF2B5EF4-FFF2-40B4-BE49-F238E27FC236}">
                  <a16:creationId xmlns:a16="http://schemas.microsoft.com/office/drawing/2014/main" id="{6FEB2ED1-7352-DBD0-4153-1A3F69439709}"/>
                </a:ext>
              </a:extLst>
            </p:cNvPr>
            <p:cNvCxnSpPr>
              <a:cxnSpLocks/>
              <a:stCxn id="23" idx="2"/>
              <a:endCxn id="20" idx="1"/>
            </p:cNvCxnSpPr>
            <p:nvPr/>
          </p:nvCxnSpPr>
          <p:spPr>
            <a:xfrm rot="16200000" flipH="1">
              <a:off x="8424183" y="3402499"/>
              <a:ext cx="746450" cy="219105"/>
            </a:xfrm>
            <a:prstGeom prst="bentConnector2">
              <a:avLst/>
            </a:prstGeom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3CC03ACB-D68B-27BB-F05E-B36EFCF26634}"/>
                </a:ext>
              </a:extLst>
            </p:cNvPr>
            <p:cNvSpPr/>
            <p:nvPr/>
          </p:nvSpPr>
          <p:spPr>
            <a:xfrm>
              <a:off x="8569746" y="2871493"/>
              <a:ext cx="236220" cy="26733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endParaRPr lang="ko-KR" altLang="en-US">
                <a:latin typeface="+mn-ea"/>
              </a:endParaRPr>
            </a:p>
          </p:txBody>
        </p:sp>
        <p:cxnSp>
          <p:nvCxnSpPr>
            <p:cNvPr id="24" name="연결선: 꺾임 23">
              <a:extLst>
                <a:ext uri="{FF2B5EF4-FFF2-40B4-BE49-F238E27FC236}">
                  <a16:creationId xmlns:a16="http://schemas.microsoft.com/office/drawing/2014/main" id="{E5D71252-AFAF-39D3-420E-2F1ED65DE98C}"/>
                </a:ext>
              </a:extLst>
            </p:cNvPr>
            <p:cNvCxnSpPr>
              <a:cxnSpLocks/>
              <a:stCxn id="23" idx="2"/>
              <a:endCxn id="21" idx="1"/>
            </p:cNvCxnSpPr>
            <p:nvPr/>
          </p:nvCxnSpPr>
          <p:spPr>
            <a:xfrm rot="16200000" flipH="1">
              <a:off x="8618950" y="3207732"/>
              <a:ext cx="356916" cy="219105"/>
            </a:xfrm>
            <a:prstGeom prst="bentConnector2">
              <a:avLst/>
            </a:prstGeom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Rectangle: Rounded Corners 46">
              <a:extLst>
                <a:ext uri="{FF2B5EF4-FFF2-40B4-BE49-F238E27FC236}">
                  <a16:creationId xmlns:a16="http://schemas.microsoft.com/office/drawing/2014/main" id="{8DFD3CEE-F37C-D2C3-6584-347900B55C54}"/>
                </a:ext>
              </a:extLst>
            </p:cNvPr>
            <p:cNvSpPr/>
            <p:nvPr/>
          </p:nvSpPr>
          <p:spPr>
            <a:xfrm>
              <a:off x="8906960" y="5279851"/>
              <a:ext cx="2250795" cy="319072"/>
            </a:xfrm>
            <a:prstGeom prst="roundRect">
              <a:avLst>
                <a:gd name="adj" fmla="val 11418"/>
              </a:avLst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txBody>
            <a:bodyPr spcFirstLastPara="1" wrap="square" lIns="108000" tIns="0" rIns="0" bIns="0" anchor="ctr" anchorCtr="0">
              <a:noAutofit/>
            </a:bodyPr>
            <a:lstStyle/>
            <a:p>
              <a:pPr defTabSz="914446">
                <a:buClr>
                  <a:srgbClr val="FFFFFF"/>
                </a:buClr>
                <a:buSzPts val="1100"/>
              </a:pPr>
              <a:r>
                <a:rPr lang="ko-KR" altLang="en-US" sz="1100" b="1">
                  <a:latin typeface="+mn-ea"/>
                  <a:cs typeface="Pretendard" panose="02000503000000020004" pitchFamily="50" charset="-127"/>
                </a:rPr>
                <a:t>제</a:t>
              </a:r>
              <a:r>
                <a:rPr lang="en-US" altLang="ko-KR" sz="1100" b="1">
                  <a:latin typeface="+mn-ea"/>
                  <a:cs typeface="Pretendard" panose="02000503000000020004" pitchFamily="50" charset="-127"/>
                </a:rPr>
                <a:t>9</a:t>
              </a:r>
              <a:r>
                <a:rPr lang="ko-KR" altLang="en-US" sz="1100" b="1">
                  <a:latin typeface="+mn-ea"/>
                  <a:cs typeface="Pretendard" panose="02000503000000020004" pitchFamily="50" charset="-127"/>
                </a:rPr>
                <a:t>조 개발</a:t>
              </a:r>
              <a:r>
                <a:rPr lang="en-US" altLang="ko-KR" sz="1100" b="1">
                  <a:latin typeface="+mn-ea"/>
                  <a:cs typeface="Pretendard" panose="02000503000000020004" pitchFamily="50" charset="-127"/>
                </a:rPr>
                <a:t>·</a:t>
              </a:r>
              <a:r>
                <a:rPr lang="ko-KR" altLang="en-US" sz="1100" b="1">
                  <a:latin typeface="+mn-ea"/>
                  <a:cs typeface="Pretendard" panose="02000503000000020004" pitchFamily="50" charset="-127"/>
                </a:rPr>
                <a:t>운영 준수사항</a:t>
              </a:r>
              <a:endParaRPr lang="en-US" altLang="ko-KR" sz="1100" b="1">
                <a:latin typeface="+mn-ea"/>
                <a:cs typeface="Pretendard" panose="02000503000000020004" pitchFamily="50" charset="-127"/>
              </a:endParaRPr>
            </a:p>
          </p:txBody>
        </p:sp>
        <p:sp>
          <p:nvSpPr>
            <p:cNvPr id="26" name="Rectangle: Rounded Corners 46">
              <a:extLst>
                <a:ext uri="{FF2B5EF4-FFF2-40B4-BE49-F238E27FC236}">
                  <a16:creationId xmlns:a16="http://schemas.microsoft.com/office/drawing/2014/main" id="{50583E8C-02EC-68A4-D0F6-1A7CFC7B025D}"/>
                </a:ext>
              </a:extLst>
            </p:cNvPr>
            <p:cNvSpPr/>
            <p:nvPr/>
          </p:nvSpPr>
          <p:spPr>
            <a:xfrm>
              <a:off x="8906960" y="5669385"/>
              <a:ext cx="2250795" cy="319072"/>
            </a:xfrm>
            <a:prstGeom prst="roundRect">
              <a:avLst>
                <a:gd name="adj" fmla="val 11418"/>
              </a:avLst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txBody>
            <a:bodyPr spcFirstLastPara="1" wrap="square" lIns="108000" tIns="0" rIns="0" bIns="0" anchor="ctr" anchorCtr="0">
              <a:noAutofit/>
            </a:bodyPr>
            <a:lstStyle/>
            <a:p>
              <a:pPr defTabSz="914446">
                <a:buClr>
                  <a:srgbClr val="FFFFFF"/>
                </a:buClr>
                <a:buSzPts val="1100"/>
              </a:pPr>
              <a:r>
                <a:rPr lang="ko-KR" altLang="en-US" sz="1100" b="1">
                  <a:latin typeface="+mn-ea"/>
                  <a:cs typeface="Pretendard" panose="02000503000000020004" pitchFamily="50" charset="-127"/>
                </a:rPr>
                <a:t>제</a:t>
              </a:r>
              <a:r>
                <a:rPr lang="en-US" altLang="ko-KR" sz="1100" b="1">
                  <a:latin typeface="+mn-ea"/>
                  <a:cs typeface="Pretendard" panose="02000503000000020004" pitchFamily="50" charset="-127"/>
                </a:rPr>
                <a:t>10</a:t>
              </a:r>
              <a:r>
                <a:rPr lang="ko-KR" altLang="en-US" sz="1100" b="1">
                  <a:latin typeface="+mn-ea"/>
                  <a:cs typeface="Pretendard" panose="02000503000000020004" pitchFamily="50" charset="-127"/>
                </a:rPr>
                <a:t>조 </a:t>
              </a:r>
              <a:r>
                <a:rPr lang="en-US" altLang="ko-KR" sz="1100" b="1">
                  <a:latin typeface="+mn-ea"/>
                  <a:cs typeface="Pretendard" panose="02000503000000020004" pitchFamily="50" charset="-127"/>
                </a:rPr>
                <a:t>AI </a:t>
              </a:r>
              <a:r>
                <a:rPr lang="ko-KR" altLang="en-US" sz="1100" b="1">
                  <a:latin typeface="+mn-ea"/>
                  <a:cs typeface="Pretendard" panose="02000503000000020004" pitchFamily="50" charset="-127"/>
                </a:rPr>
                <a:t>거버넌스 교육</a:t>
              </a:r>
              <a:endParaRPr lang="en-US" altLang="ko-KR" sz="1100" b="1">
                <a:latin typeface="+mn-ea"/>
                <a:cs typeface="Pretendard" panose="02000503000000020004" pitchFamily="50" charset="-127"/>
              </a:endParaRPr>
            </a:p>
          </p:txBody>
        </p:sp>
        <p:sp>
          <p:nvSpPr>
            <p:cNvPr id="27" name="Rectangle: Rounded Corners 46">
              <a:extLst>
                <a:ext uri="{FF2B5EF4-FFF2-40B4-BE49-F238E27FC236}">
                  <a16:creationId xmlns:a16="http://schemas.microsoft.com/office/drawing/2014/main" id="{451D656E-D529-6DBC-E327-0B74998251B4}"/>
                </a:ext>
              </a:extLst>
            </p:cNvPr>
            <p:cNvSpPr/>
            <p:nvPr/>
          </p:nvSpPr>
          <p:spPr>
            <a:xfrm>
              <a:off x="8906960" y="4890317"/>
              <a:ext cx="2250795" cy="319072"/>
            </a:xfrm>
            <a:prstGeom prst="roundRect">
              <a:avLst>
                <a:gd name="adj" fmla="val 11418"/>
              </a:avLst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txBody>
            <a:bodyPr spcFirstLastPara="1" wrap="square" lIns="108000" tIns="0" rIns="0" bIns="0" anchor="ctr" anchorCtr="0">
              <a:noAutofit/>
            </a:bodyPr>
            <a:lstStyle/>
            <a:p>
              <a:pPr defTabSz="914446">
                <a:buClr>
                  <a:srgbClr val="FFFFFF"/>
                </a:buClr>
                <a:buSzPts val="1100"/>
              </a:pPr>
              <a:r>
                <a:rPr lang="ko-KR" altLang="en-US" sz="1100" b="1">
                  <a:latin typeface="+mn-ea"/>
                  <a:cs typeface="Pretendard" panose="02000503000000020004" pitchFamily="50" charset="-127"/>
                </a:rPr>
                <a:t>제</a:t>
              </a:r>
              <a:r>
                <a:rPr lang="en-US" altLang="ko-KR" sz="1100" b="1">
                  <a:latin typeface="+mn-ea"/>
                  <a:cs typeface="Pretendard" panose="02000503000000020004" pitchFamily="50" charset="-127"/>
                </a:rPr>
                <a:t>8</a:t>
              </a:r>
              <a:r>
                <a:rPr lang="ko-KR" altLang="en-US" sz="1100" b="1">
                  <a:latin typeface="+mn-ea"/>
                  <a:cs typeface="Pretendard" panose="02000503000000020004" pitchFamily="50" charset="-127"/>
                </a:rPr>
                <a:t>조 위험 수준 평가</a:t>
              </a:r>
              <a:endParaRPr lang="en-US" altLang="ko-KR" sz="1100" b="1">
                <a:latin typeface="+mn-ea"/>
                <a:cs typeface="Pretendard" panose="02000503000000020004" pitchFamily="50" charset="-127"/>
              </a:endParaRPr>
            </a:p>
          </p:txBody>
        </p:sp>
        <p:cxnSp>
          <p:nvCxnSpPr>
            <p:cNvPr id="28" name="연결선: 꺾임 27">
              <a:extLst>
                <a:ext uri="{FF2B5EF4-FFF2-40B4-BE49-F238E27FC236}">
                  <a16:creationId xmlns:a16="http://schemas.microsoft.com/office/drawing/2014/main" id="{3D74CC52-BFC4-5680-3059-5B4A9E250982}"/>
                </a:ext>
              </a:extLst>
            </p:cNvPr>
            <p:cNvCxnSpPr>
              <a:cxnSpLocks/>
              <a:endCxn id="25" idx="1"/>
            </p:cNvCxnSpPr>
            <p:nvPr/>
          </p:nvCxnSpPr>
          <p:spPr>
            <a:xfrm rot="16200000" flipH="1">
              <a:off x="8424182" y="4956609"/>
              <a:ext cx="746450" cy="219105"/>
            </a:xfrm>
            <a:prstGeom prst="bentConnector2">
              <a:avLst/>
            </a:prstGeom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연결선: 꺾임 28">
              <a:extLst>
                <a:ext uri="{FF2B5EF4-FFF2-40B4-BE49-F238E27FC236}">
                  <a16:creationId xmlns:a16="http://schemas.microsoft.com/office/drawing/2014/main" id="{A3975154-3650-CF12-EBD9-DD0477932A5E}"/>
                </a:ext>
              </a:extLst>
            </p:cNvPr>
            <p:cNvCxnSpPr>
              <a:cxnSpLocks/>
              <a:endCxn id="26" idx="1"/>
            </p:cNvCxnSpPr>
            <p:nvPr/>
          </p:nvCxnSpPr>
          <p:spPr>
            <a:xfrm rot="16200000" flipH="1">
              <a:off x="8247047" y="5169008"/>
              <a:ext cx="1100718" cy="219108"/>
            </a:xfrm>
            <a:prstGeom prst="bentConnector2">
              <a:avLst/>
            </a:prstGeom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연결선: 꺾임 29">
              <a:extLst>
                <a:ext uri="{FF2B5EF4-FFF2-40B4-BE49-F238E27FC236}">
                  <a16:creationId xmlns:a16="http://schemas.microsoft.com/office/drawing/2014/main" id="{D3F93B90-F5C5-7DD7-2BCD-C332D9F35AF1}"/>
                </a:ext>
              </a:extLst>
            </p:cNvPr>
            <p:cNvCxnSpPr>
              <a:cxnSpLocks/>
              <a:endCxn id="27" idx="1"/>
            </p:cNvCxnSpPr>
            <p:nvPr/>
          </p:nvCxnSpPr>
          <p:spPr>
            <a:xfrm rot="16200000" flipH="1">
              <a:off x="8618949" y="4761842"/>
              <a:ext cx="356916" cy="219105"/>
            </a:xfrm>
            <a:prstGeom prst="bentConnector2">
              <a:avLst/>
            </a:prstGeom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Rectangle: Rounded Corners 46">
              <a:extLst>
                <a:ext uri="{FF2B5EF4-FFF2-40B4-BE49-F238E27FC236}">
                  <a16:creationId xmlns:a16="http://schemas.microsoft.com/office/drawing/2014/main" id="{7D0F9F40-3242-1B28-97D4-478FD8A8650D}"/>
                </a:ext>
              </a:extLst>
            </p:cNvPr>
            <p:cNvSpPr/>
            <p:nvPr/>
          </p:nvSpPr>
          <p:spPr>
            <a:xfrm>
              <a:off x="5935702" y="3717954"/>
              <a:ext cx="2250795" cy="319072"/>
            </a:xfrm>
            <a:prstGeom prst="roundRect">
              <a:avLst>
                <a:gd name="adj" fmla="val 11418"/>
              </a:avLst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txBody>
            <a:bodyPr spcFirstLastPara="1" wrap="square" lIns="108000" tIns="0" rIns="0" bIns="0" anchor="ctr" anchorCtr="0">
              <a:noAutofit/>
            </a:bodyPr>
            <a:lstStyle/>
            <a:p>
              <a:pPr defTabSz="914446">
                <a:buClr>
                  <a:srgbClr val="FFFFFF"/>
                </a:buClr>
                <a:buSzPts val="1100"/>
              </a:pPr>
              <a:r>
                <a:rPr lang="ko-KR" altLang="en-US" sz="1100" b="1">
                  <a:latin typeface="+mn-ea"/>
                  <a:cs typeface="Pretendard" panose="02000503000000020004" pitchFamily="50" charset="-127"/>
                </a:rPr>
                <a:t>제</a:t>
              </a:r>
              <a:r>
                <a:rPr lang="en-US" altLang="ko-KR" sz="1100" b="1">
                  <a:latin typeface="+mn-ea"/>
                  <a:cs typeface="Pretendard" panose="02000503000000020004" pitchFamily="50" charset="-127"/>
                </a:rPr>
                <a:t>2</a:t>
              </a:r>
              <a:r>
                <a:rPr lang="ko-KR" altLang="en-US" sz="1100" b="1">
                  <a:latin typeface="+mn-ea"/>
                  <a:cs typeface="Pretendard" panose="02000503000000020004" pitchFamily="50" charset="-127"/>
                </a:rPr>
                <a:t>조 적용 범위</a:t>
              </a:r>
              <a:endParaRPr lang="en-US" altLang="ko-KR" sz="1100" b="1">
                <a:latin typeface="+mn-ea"/>
                <a:cs typeface="Pretendard" panose="02000503000000020004" pitchFamily="50" charset="-127"/>
              </a:endParaRPr>
            </a:p>
          </p:txBody>
        </p:sp>
        <p:sp>
          <p:nvSpPr>
            <p:cNvPr id="32" name="Rectangle: Rounded Corners 46">
              <a:extLst>
                <a:ext uri="{FF2B5EF4-FFF2-40B4-BE49-F238E27FC236}">
                  <a16:creationId xmlns:a16="http://schemas.microsoft.com/office/drawing/2014/main" id="{34082FDF-36CB-AAFF-7DFA-A210087B85F2}"/>
                </a:ext>
              </a:extLst>
            </p:cNvPr>
            <p:cNvSpPr/>
            <p:nvPr/>
          </p:nvSpPr>
          <p:spPr>
            <a:xfrm>
              <a:off x="5935702" y="4107488"/>
              <a:ext cx="2250795" cy="319072"/>
            </a:xfrm>
            <a:prstGeom prst="roundRect">
              <a:avLst>
                <a:gd name="adj" fmla="val 11418"/>
              </a:avLst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txBody>
            <a:bodyPr spcFirstLastPara="1" wrap="square" lIns="108000" tIns="0" rIns="0" bIns="0" anchor="ctr" anchorCtr="0">
              <a:noAutofit/>
            </a:bodyPr>
            <a:lstStyle/>
            <a:p>
              <a:pPr defTabSz="914446">
                <a:buClr>
                  <a:srgbClr val="FFFFFF"/>
                </a:buClr>
                <a:buSzPts val="1100"/>
              </a:pPr>
              <a:r>
                <a:rPr lang="ko-KR" altLang="en-US" sz="1100" b="1">
                  <a:latin typeface="+mn-ea"/>
                  <a:cs typeface="Pretendard" panose="02000503000000020004" pitchFamily="50" charset="-127"/>
                </a:rPr>
                <a:t>제</a:t>
              </a:r>
              <a:r>
                <a:rPr lang="en-US" altLang="ko-KR" sz="1100" b="1">
                  <a:latin typeface="+mn-ea"/>
                  <a:cs typeface="Pretendard" panose="02000503000000020004" pitchFamily="50" charset="-127"/>
                </a:rPr>
                <a:t>3</a:t>
              </a:r>
              <a:r>
                <a:rPr lang="ko-KR" altLang="en-US" sz="1100" b="1">
                  <a:latin typeface="+mn-ea"/>
                  <a:cs typeface="Pretendard" panose="02000503000000020004" pitchFamily="50" charset="-127"/>
                </a:rPr>
                <a:t>조 용어 정의</a:t>
              </a:r>
              <a:endParaRPr lang="en-US" altLang="ko-KR" sz="1100" b="1">
                <a:latin typeface="+mn-ea"/>
                <a:cs typeface="Pretendard" panose="02000503000000020004" pitchFamily="50" charset="-127"/>
              </a:endParaRPr>
            </a:p>
          </p:txBody>
        </p:sp>
        <p:sp>
          <p:nvSpPr>
            <p:cNvPr id="33" name="Rectangle: Rounded Corners 46">
              <a:extLst>
                <a:ext uri="{FF2B5EF4-FFF2-40B4-BE49-F238E27FC236}">
                  <a16:creationId xmlns:a16="http://schemas.microsoft.com/office/drawing/2014/main" id="{EBA11325-3772-49F5-0DEC-B756D30BD3D5}"/>
                </a:ext>
              </a:extLst>
            </p:cNvPr>
            <p:cNvSpPr/>
            <p:nvPr/>
          </p:nvSpPr>
          <p:spPr>
            <a:xfrm>
              <a:off x="5935702" y="3328420"/>
              <a:ext cx="2250795" cy="319072"/>
            </a:xfrm>
            <a:prstGeom prst="roundRect">
              <a:avLst>
                <a:gd name="adj" fmla="val 11418"/>
              </a:avLst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txBody>
            <a:bodyPr spcFirstLastPara="1" wrap="square" lIns="108000" tIns="0" rIns="0" bIns="0" anchor="ctr" anchorCtr="0">
              <a:noAutofit/>
            </a:bodyPr>
            <a:lstStyle/>
            <a:p>
              <a:pPr defTabSz="914446">
                <a:buClr>
                  <a:srgbClr val="FFFFFF"/>
                </a:buClr>
                <a:buSzPts val="1100"/>
              </a:pPr>
              <a:r>
                <a:rPr lang="ko-KR" altLang="en-US" sz="1100" b="1">
                  <a:latin typeface="+mn-ea"/>
                  <a:cs typeface="Pretendard" panose="02000503000000020004" pitchFamily="50" charset="-127"/>
                </a:rPr>
                <a:t>제</a:t>
              </a:r>
              <a:r>
                <a:rPr lang="en-US" altLang="ko-KR" sz="1100" b="1">
                  <a:latin typeface="+mn-ea"/>
                  <a:cs typeface="Pretendard" panose="02000503000000020004" pitchFamily="50" charset="-127"/>
                </a:rPr>
                <a:t>1</a:t>
              </a:r>
              <a:r>
                <a:rPr lang="ko-KR" altLang="en-US" sz="1100" b="1">
                  <a:latin typeface="+mn-ea"/>
                  <a:cs typeface="Pretendard" panose="02000503000000020004" pitchFamily="50" charset="-127"/>
                </a:rPr>
                <a:t>조 목적</a:t>
              </a:r>
              <a:endParaRPr lang="en-US" altLang="ko-KR" sz="1100" b="1">
                <a:latin typeface="+mn-ea"/>
                <a:cs typeface="Pretendard" panose="02000503000000020004" pitchFamily="50" charset="-127"/>
              </a:endParaRPr>
            </a:p>
          </p:txBody>
        </p:sp>
        <p:cxnSp>
          <p:nvCxnSpPr>
            <p:cNvPr id="34" name="연결선: 꺾임 33">
              <a:extLst>
                <a:ext uri="{FF2B5EF4-FFF2-40B4-BE49-F238E27FC236}">
                  <a16:creationId xmlns:a16="http://schemas.microsoft.com/office/drawing/2014/main" id="{532F5193-4C8A-4A7F-8979-F0668338CC68}"/>
                </a:ext>
              </a:extLst>
            </p:cNvPr>
            <p:cNvCxnSpPr>
              <a:cxnSpLocks/>
              <a:endCxn id="31" idx="1"/>
            </p:cNvCxnSpPr>
            <p:nvPr/>
          </p:nvCxnSpPr>
          <p:spPr>
            <a:xfrm rot="16200000" flipH="1">
              <a:off x="5452924" y="3394712"/>
              <a:ext cx="746450" cy="219105"/>
            </a:xfrm>
            <a:prstGeom prst="bentConnector2">
              <a:avLst/>
            </a:prstGeom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연결선: 꺾임 34">
              <a:extLst>
                <a:ext uri="{FF2B5EF4-FFF2-40B4-BE49-F238E27FC236}">
                  <a16:creationId xmlns:a16="http://schemas.microsoft.com/office/drawing/2014/main" id="{590B5821-3019-8A4F-F9C5-2FE55132EB51}"/>
                </a:ext>
              </a:extLst>
            </p:cNvPr>
            <p:cNvCxnSpPr>
              <a:cxnSpLocks/>
              <a:endCxn id="32" idx="1"/>
            </p:cNvCxnSpPr>
            <p:nvPr/>
          </p:nvCxnSpPr>
          <p:spPr>
            <a:xfrm rot="16200000" flipH="1">
              <a:off x="5275789" y="3607111"/>
              <a:ext cx="1100718" cy="219108"/>
            </a:xfrm>
            <a:prstGeom prst="bentConnector2">
              <a:avLst/>
            </a:prstGeom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연결선: 꺾임 35">
              <a:extLst>
                <a:ext uri="{FF2B5EF4-FFF2-40B4-BE49-F238E27FC236}">
                  <a16:creationId xmlns:a16="http://schemas.microsoft.com/office/drawing/2014/main" id="{5579B5AD-4C91-06F5-369B-109632871D9E}"/>
                </a:ext>
              </a:extLst>
            </p:cNvPr>
            <p:cNvCxnSpPr>
              <a:cxnSpLocks/>
              <a:endCxn id="33" idx="1"/>
            </p:cNvCxnSpPr>
            <p:nvPr/>
          </p:nvCxnSpPr>
          <p:spPr>
            <a:xfrm rot="16200000" flipH="1">
              <a:off x="5647691" y="3199945"/>
              <a:ext cx="356916" cy="219105"/>
            </a:xfrm>
            <a:prstGeom prst="bentConnector2">
              <a:avLst/>
            </a:prstGeom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Rectangle: Rounded Corners 46">
              <a:extLst>
                <a:ext uri="{FF2B5EF4-FFF2-40B4-BE49-F238E27FC236}">
                  <a16:creationId xmlns:a16="http://schemas.microsoft.com/office/drawing/2014/main" id="{829F9128-2877-801A-16C1-C26B12DD4809}"/>
                </a:ext>
              </a:extLst>
            </p:cNvPr>
            <p:cNvSpPr/>
            <p:nvPr/>
          </p:nvSpPr>
          <p:spPr>
            <a:xfrm>
              <a:off x="5935702" y="4505631"/>
              <a:ext cx="2250795" cy="319072"/>
            </a:xfrm>
            <a:prstGeom prst="roundRect">
              <a:avLst>
                <a:gd name="adj" fmla="val 11418"/>
              </a:avLst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txBody>
            <a:bodyPr spcFirstLastPara="1" wrap="square" lIns="108000" tIns="0" rIns="0" bIns="0" anchor="ctr" anchorCtr="0">
              <a:noAutofit/>
            </a:bodyPr>
            <a:lstStyle/>
            <a:p>
              <a:pPr defTabSz="914446">
                <a:buClr>
                  <a:srgbClr val="FFFFFF"/>
                </a:buClr>
                <a:buSzPts val="1100"/>
              </a:pPr>
              <a:r>
                <a:rPr lang="ko-KR" altLang="en-US" sz="1100" b="1">
                  <a:latin typeface="+mn-ea"/>
                  <a:cs typeface="Pretendard" panose="02000503000000020004" pitchFamily="50" charset="-127"/>
                </a:rPr>
                <a:t>제</a:t>
              </a:r>
              <a:r>
                <a:rPr lang="en-US" altLang="ko-KR" sz="1100" b="1">
                  <a:latin typeface="+mn-ea"/>
                  <a:cs typeface="Pretendard" panose="02000503000000020004" pitchFamily="50" charset="-127"/>
                </a:rPr>
                <a:t>4</a:t>
              </a:r>
              <a:r>
                <a:rPr lang="ko-KR" altLang="en-US" sz="1100" b="1">
                  <a:latin typeface="+mn-ea"/>
                  <a:cs typeface="Pretendard" panose="02000503000000020004" pitchFamily="50" charset="-127"/>
                </a:rPr>
                <a:t>조 준칙</a:t>
              </a:r>
              <a:endParaRPr lang="en-US" altLang="ko-KR" sz="1100" b="1">
                <a:latin typeface="+mn-ea"/>
                <a:cs typeface="Pretendard" panose="02000503000000020004" pitchFamily="50" charset="-127"/>
              </a:endParaRPr>
            </a:p>
          </p:txBody>
        </p:sp>
        <p:cxnSp>
          <p:nvCxnSpPr>
            <p:cNvPr id="38" name="연결선: 꺾임 37">
              <a:extLst>
                <a:ext uri="{FF2B5EF4-FFF2-40B4-BE49-F238E27FC236}">
                  <a16:creationId xmlns:a16="http://schemas.microsoft.com/office/drawing/2014/main" id="{3398E58F-0257-2CED-0DD6-4B29BB42E8AA}"/>
                </a:ext>
              </a:extLst>
            </p:cNvPr>
            <p:cNvCxnSpPr>
              <a:cxnSpLocks/>
              <a:endCxn id="37" idx="1"/>
            </p:cNvCxnSpPr>
            <p:nvPr/>
          </p:nvCxnSpPr>
          <p:spPr>
            <a:xfrm rot="16200000" flipH="1">
              <a:off x="5275789" y="4005254"/>
              <a:ext cx="1100718" cy="219108"/>
            </a:xfrm>
            <a:prstGeom prst="bentConnector2">
              <a:avLst/>
            </a:prstGeom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Rectangle: Rounded Corners 46">
              <a:extLst>
                <a:ext uri="{FF2B5EF4-FFF2-40B4-BE49-F238E27FC236}">
                  <a16:creationId xmlns:a16="http://schemas.microsoft.com/office/drawing/2014/main" id="{8B932437-79D9-371A-2E10-8AB2344B5CA7}"/>
                </a:ext>
              </a:extLst>
            </p:cNvPr>
            <p:cNvSpPr/>
            <p:nvPr/>
          </p:nvSpPr>
          <p:spPr>
            <a:xfrm>
              <a:off x="8569746" y="2830677"/>
              <a:ext cx="2588011" cy="435067"/>
            </a:xfrm>
            <a:prstGeom prst="roundRect">
              <a:avLst>
                <a:gd name="adj" fmla="val 11418"/>
              </a:avLst>
            </a:prstGeom>
            <a:solidFill>
              <a:srgbClr val="595959"/>
            </a:solidFill>
            <a:ln w="3175" cap="flat" cmpd="sng" algn="ctr">
              <a:noFill/>
              <a:prstDash val="solid"/>
            </a:ln>
            <a:effectLst/>
          </p:spPr>
          <p:txBody>
            <a:bodyPr wrap="square" lIns="0" tIns="0" rIns="0" bIns="0" rtlCol="0" anchor="ctr" anchorCtr="0"/>
            <a:lstStyle/>
            <a:p>
              <a:pPr algn="ctr" defTabSz="1042873" latinLnBrk="0">
                <a:defRPr/>
              </a:pPr>
              <a:r>
                <a:rPr lang="ko-KR" altLang="en-US" sz="1200" b="1" kern="0">
                  <a:ln>
                    <a:solidFill>
                      <a:srgbClr val="A5C249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+mn-ea"/>
                </a:rPr>
                <a:t>제</a:t>
              </a:r>
              <a:r>
                <a:rPr lang="en-US" altLang="ko-KR" sz="1200" b="1" kern="0">
                  <a:ln>
                    <a:solidFill>
                      <a:srgbClr val="A5C249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+mn-ea"/>
                </a:rPr>
                <a:t>3</a:t>
              </a:r>
              <a:r>
                <a:rPr lang="ko-KR" altLang="en-US" sz="1200" b="1" kern="0">
                  <a:ln>
                    <a:solidFill>
                      <a:srgbClr val="A5C249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+mn-ea"/>
                </a:rPr>
                <a:t>장 </a:t>
              </a:r>
              <a:br>
                <a:rPr lang="en-US" altLang="ko-KR" sz="1200" b="1" kern="0">
                  <a:ln>
                    <a:solidFill>
                      <a:srgbClr val="A5C249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+mn-ea"/>
                </a:rPr>
              </a:br>
              <a:r>
                <a:rPr lang="en-US" altLang="ko-KR" sz="1200" b="1" kern="0">
                  <a:ln>
                    <a:solidFill>
                      <a:srgbClr val="A5C249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+mn-ea"/>
                </a:rPr>
                <a:t>AI </a:t>
              </a:r>
              <a:r>
                <a:rPr lang="ko-KR" altLang="en-US" sz="1200" b="1" kern="0">
                  <a:ln>
                    <a:solidFill>
                      <a:srgbClr val="A5C249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+mn-ea"/>
                </a:rPr>
                <a:t>거버넌스 관리체계</a:t>
              </a:r>
              <a:endPara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endParaRPr>
            </a:p>
          </p:txBody>
        </p:sp>
        <p:sp>
          <p:nvSpPr>
            <p:cNvPr id="40" name="Rectangle: Rounded Corners 46">
              <a:extLst>
                <a:ext uri="{FF2B5EF4-FFF2-40B4-BE49-F238E27FC236}">
                  <a16:creationId xmlns:a16="http://schemas.microsoft.com/office/drawing/2014/main" id="{AAAF14B7-FB0B-EC43-38FE-CD226B345A2B}"/>
                </a:ext>
              </a:extLst>
            </p:cNvPr>
            <p:cNvSpPr/>
            <p:nvPr/>
          </p:nvSpPr>
          <p:spPr>
            <a:xfrm>
              <a:off x="5598487" y="2830678"/>
              <a:ext cx="2588011" cy="435067"/>
            </a:xfrm>
            <a:prstGeom prst="roundRect">
              <a:avLst>
                <a:gd name="adj" fmla="val 11418"/>
              </a:avLst>
            </a:prstGeom>
            <a:solidFill>
              <a:srgbClr val="043B72"/>
            </a:solidFill>
            <a:ln w="3175" cap="flat" cmpd="sng" algn="ctr">
              <a:noFill/>
              <a:prstDash val="solid"/>
            </a:ln>
            <a:effectLst/>
          </p:spPr>
          <p:txBody>
            <a:bodyPr wrap="square" lIns="0" tIns="0" rIns="0" bIns="0" rtlCol="0" anchor="ctr" anchorCtr="0"/>
            <a:lstStyle/>
            <a:p>
              <a:pPr marL="0" marR="0" lvl="0" indent="0" algn="ctr" defTabSz="10428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0" cap="none" spc="0" normalizeH="0" baseline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제</a:t>
              </a:r>
              <a:r>
                <a:rPr kumimoji="0" lang="en-US" altLang="ko-KR" sz="1200" b="1" i="0" u="none" strike="noStrike" kern="0" cap="none" spc="0" normalizeH="0" baseline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1</a:t>
              </a:r>
              <a:r>
                <a:rPr kumimoji="0" lang="ko-KR" altLang="en-US" sz="1200" b="1" i="0" u="none" strike="noStrike" kern="0" cap="none" spc="0" normalizeH="0" baseline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장</a:t>
              </a:r>
              <a:br>
                <a:rPr kumimoji="0" lang="en-US" altLang="ko-KR" sz="1200" b="1" i="0" u="none" strike="noStrike" kern="0" cap="none" spc="0" normalizeH="0" baseline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</a:br>
              <a:r>
                <a:rPr kumimoji="0" lang="ko-KR" altLang="en-US" sz="1200" b="1" i="0" u="none" strike="noStrike" kern="0" cap="none" spc="0" normalizeH="0" baseline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총칙</a:t>
              </a:r>
              <a:endParaRPr kumimoji="0" lang="en-US" altLang="ko-KR" sz="1200" b="1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Pretendard SemiBold" panose="02000703000000020004" pitchFamily="50" charset="-127"/>
              </a:endParaRPr>
            </a:p>
          </p:txBody>
        </p:sp>
        <p:sp>
          <p:nvSpPr>
            <p:cNvPr id="41" name="Rectangle: Rounded Corners 46">
              <a:extLst>
                <a:ext uri="{FF2B5EF4-FFF2-40B4-BE49-F238E27FC236}">
                  <a16:creationId xmlns:a16="http://schemas.microsoft.com/office/drawing/2014/main" id="{40B15B13-C77E-F93A-658E-2E42AAEA4BB9}"/>
                </a:ext>
              </a:extLst>
            </p:cNvPr>
            <p:cNvSpPr/>
            <p:nvPr/>
          </p:nvSpPr>
          <p:spPr>
            <a:xfrm>
              <a:off x="5598487" y="5006437"/>
              <a:ext cx="2588011" cy="435067"/>
            </a:xfrm>
            <a:prstGeom prst="roundRect">
              <a:avLst>
                <a:gd name="adj" fmla="val 11418"/>
              </a:avLst>
            </a:prstGeom>
            <a:solidFill>
              <a:srgbClr val="043B72"/>
            </a:solidFill>
            <a:ln w="3175" cap="flat" cmpd="sng" algn="ctr">
              <a:noFill/>
              <a:prstDash val="solid"/>
            </a:ln>
            <a:effectLst/>
          </p:spPr>
          <p:txBody>
            <a:bodyPr wrap="square" lIns="0" tIns="0" rIns="0" bIns="0" rtlCol="0" anchor="ctr" anchorCtr="0"/>
            <a:lstStyle/>
            <a:p>
              <a:pPr algn="ctr" defTabSz="1042873" latinLnBrk="0">
                <a:defRPr/>
              </a:pPr>
              <a:r>
                <a:rPr lang="ko-KR" altLang="en-US" sz="1200" b="1" kern="0">
                  <a:ln>
                    <a:solidFill>
                      <a:srgbClr val="A5C249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+mn-ea"/>
                </a:rPr>
                <a:t>제</a:t>
              </a:r>
              <a:r>
                <a:rPr lang="en-US" altLang="ko-KR" sz="1200" b="1" kern="0">
                  <a:ln>
                    <a:solidFill>
                      <a:srgbClr val="A5C249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+mn-ea"/>
                </a:rPr>
                <a:t>2</a:t>
              </a:r>
              <a:r>
                <a:rPr lang="ko-KR" altLang="en-US" sz="1200" b="1" kern="0">
                  <a:ln>
                    <a:solidFill>
                      <a:srgbClr val="A5C249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+mn-ea"/>
                </a:rPr>
                <a:t>장</a:t>
              </a:r>
              <a:br>
                <a:rPr lang="en-US" altLang="ko-KR" sz="1200" b="1" kern="0">
                  <a:ln>
                    <a:solidFill>
                      <a:srgbClr val="A5C249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+mn-ea"/>
                </a:rPr>
              </a:br>
              <a:r>
                <a:rPr lang="en-US" altLang="ko-KR" sz="1200" b="1" kern="0">
                  <a:ln>
                    <a:solidFill>
                      <a:srgbClr val="A5C249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+mn-ea"/>
                </a:rPr>
                <a:t>AI </a:t>
              </a:r>
              <a:r>
                <a:rPr lang="ko-KR" altLang="en-US" sz="1200" b="1" kern="0">
                  <a:ln>
                    <a:solidFill>
                      <a:srgbClr val="A5C249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+mn-ea"/>
                </a:rPr>
                <a:t>윤리원칙</a:t>
              </a:r>
              <a:endPara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endParaRPr>
            </a:p>
          </p:txBody>
        </p:sp>
        <p:sp>
          <p:nvSpPr>
            <p:cNvPr id="42" name="Rectangle: Rounded Corners 46">
              <a:extLst>
                <a:ext uri="{FF2B5EF4-FFF2-40B4-BE49-F238E27FC236}">
                  <a16:creationId xmlns:a16="http://schemas.microsoft.com/office/drawing/2014/main" id="{3D0267A4-F3C7-A6F8-85AF-3164A87A4197}"/>
                </a:ext>
              </a:extLst>
            </p:cNvPr>
            <p:cNvSpPr/>
            <p:nvPr/>
          </p:nvSpPr>
          <p:spPr>
            <a:xfrm>
              <a:off x="8569745" y="4364973"/>
              <a:ext cx="2588011" cy="435067"/>
            </a:xfrm>
            <a:prstGeom prst="roundRect">
              <a:avLst>
                <a:gd name="adj" fmla="val 11418"/>
              </a:avLst>
            </a:prstGeom>
            <a:solidFill>
              <a:srgbClr val="043B72"/>
            </a:solidFill>
            <a:ln w="3175" cap="flat" cmpd="sng" algn="ctr">
              <a:noFill/>
              <a:prstDash val="solid"/>
            </a:ln>
            <a:effectLst/>
          </p:spPr>
          <p:txBody>
            <a:bodyPr wrap="square" lIns="0" tIns="0" rIns="0" bIns="0" rtlCol="0" anchor="ctr" anchorCtr="0"/>
            <a:lstStyle/>
            <a:p>
              <a:pPr algn="ctr" defTabSz="1042873" latinLnBrk="0">
                <a:defRPr/>
              </a:pPr>
              <a:r>
                <a:rPr lang="ko-KR" altLang="en-US" sz="1200" b="1" kern="0">
                  <a:ln>
                    <a:solidFill>
                      <a:srgbClr val="A5C249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+mn-ea"/>
                </a:rPr>
                <a:t>제</a:t>
              </a:r>
              <a:r>
                <a:rPr lang="en-US" altLang="ko-KR" sz="1200" b="1" kern="0">
                  <a:ln>
                    <a:solidFill>
                      <a:srgbClr val="A5C249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+mn-ea"/>
                </a:rPr>
                <a:t>4</a:t>
              </a:r>
              <a:r>
                <a:rPr lang="ko-KR" altLang="en-US" sz="1200" b="1" kern="0">
                  <a:ln>
                    <a:solidFill>
                      <a:srgbClr val="A5C249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+mn-ea"/>
                </a:rPr>
                <a:t>장</a:t>
              </a:r>
              <a:br>
                <a:rPr lang="en-US" altLang="ko-KR" sz="1200" b="1" kern="0">
                  <a:ln>
                    <a:solidFill>
                      <a:srgbClr val="A5C249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+mn-ea"/>
                </a:rPr>
              </a:br>
              <a:r>
                <a:rPr lang="en-US" altLang="ko-KR" sz="1200" b="1" kern="0">
                  <a:ln>
                    <a:solidFill>
                      <a:srgbClr val="A5C249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+mn-ea"/>
                </a:rPr>
                <a:t>AI </a:t>
              </a:r>
              <a:r>
                <a:rPr lang="ko-KR" altLang="en-US" sz="1200" b="1" kern="0">
                  <a:ln>
                    <a:solidFill>
                      <a:srgbClr val="A5C249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+mn-ea"/>
                </a:rPr>
                <a:t>거버넌스 관리업무</a:t>
              </a:r>
              <a:endPara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endParaRPr>
            </a:p>
          </p:txBody>
        </p:sp>
        <p:sp>
          <p:nvSpPr>
            <p:cNvPr id="43" name="Rectangle: Rounded Corners 46">
              <a:extLst>
                <a:ext uri="{FF2B5EF4-FFF2-40B4-BE49-F238E27FC236}">
                  <a16:creationId xmlns:a16="http://schemas.microsoft.com/office/drawing/2014/main" id="{C47B03E7-7355-C15A-39A9-F17BD43CB0AB}"/>
                </a:ext>
              </a:extLst>
            </p:cNvPr>
            <p:cNvSpPr/>
            <p:nvPr/>
          </p:nvSpPr>
          <p:spPr>
            <a:xfrm>
              <a:off x="8569746" y="2830678"/>
              <a:ext cx="2588011" cy="435067"/>
            </a:xfrm>
            <a:prstGeom prst="roundRect">
              <a:avLst>
                <a:gd name="adj" fmla="val 11418"/>
              </a:avLst>
            </a:prstGeom>
            <a:solidFill>
              <a:srgbClr val="043B72"/>
            </a:solidFill>
            <a:ln w="3175" cap="flat" cmpd="sng" algn="ctr">
              <a:noFill/>
              <a:prstDash val="solid"/>
            </a:ln>
            <a:effectLst/>
          </p:spPr>
          <p:txBody>
            <a:bodyPr wrap="square" lIns="0" tIns="0" rIns="0" bIns="0" rtlCol="0" anchor="ctr" anchorCtr="0"/>
            <a:lstStyle/>
            <a:p>
              <a:pPr algn="ctr" defTabSz="1042873" latinLnBrk="0">
                <a:defRPr/>
              </a:pPr>
              <a:r>
                <a:rPr lang="ko-KR" altLang="en-US" sz="1200" b="1" kern="0">
                  <a:ln>
                    <a:solidFill>
                      <a:srgbClr val="A5C249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+mn-ea"/>
                </a:rPr>
                <a:t>제</a:t>
              </a:r>
              <a:r>
                <a:rPr lang="en-US" altLang="ko-KR" sz="1200" b="1" kern="0">
                  <a:ln>
                    <a:solidFill>
                      <a:srgbClr val="A5C249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+mn-ea"/>
                </a:rPr>
                <a:t>3</a:t>
              </a:r>
              <a:r>
                <a:rPr lang="ko-KR" altLang="en-US" sz="1200" b="1" kern="0">
                  <a:ln>
                    <a:solidFill>
                      <a:srgbClr val="A5C249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+mn-ea"/>
                </a:rPr>
                <a:t>장</a:t>
              </a:r>
              <a:br>
                <a:rPr lang="en-US" altLang="ko-KR" sz="1200" b="1" kern="0">
                  <a:ln>
                    <a:solidFill>
                      <a:srgbClr val="A5C249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+mn-ea"/>
                </a:rPr>
              </a:br>
              <a:r>
                <a:rPr lang="en-US" altLang="ko-KR" sz="1200" b="1" kern="0">
                  <a:ln>
                    <a:solidFill>
                      <a:srgbClr val="A5C249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+mn-ea"/>
                </a:rPr>
                <a:t>AI </a:t>
              </a:r>
              <a:r>
                <a:rPr lang="ko-KR" altLang="en-US" sz="1200" b="1" kern="0">
                  <a:ln>
                    <a:solidFill>
                      <a:srgbClr val="A5C249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+mn-ea"/>
                </a:rPr>
                <a:t>거버넌스 관리체계</a:t>
              </a:r>
              <a:endPara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endParaRPr>
            </a:p>
          </p:txBody>
        </p:sp>
        <p:sp>
          <p:nvSpPr>
            <p:cNvPr id="44" name="Rectangle: Rounded Corners 46">
              <a:extLst>
                <a:ext uri="{FF2B5EF4-FFF2-40B4-BE49-F238E27FC236}">
                  <a16:creationId xmlns:a16="http://schemas.microsoft.com/office/drawing/2014/main" id="{61D693FC-FCD5-680D-7F99-81998724783B}"/>
                </a:ext>
              </a:extLst>
            </p:cNvPr>
            <p:cNvSpPr/>
            <p:nvPr/>
          </p:nvSpPr>
          <p:spPr>
            <a:xfrm>
              <a:off x="522288" y="2366642"/>
              <a:ext cx="1204912" cy="836708"/>
            </a:xfrm>
            <a:prstGeom prst="roundRect">
              <a:avLst>
                <a:gd name="adj" fmla="val 11418"/>
              </a:avLst>
            </a:prstGeom>
            <a:solidFill>
              <a:srgbClr val="F4B183"/>
            </a:solidFill>
            <a:ln>
              <a:solidFill>
                <a:schemeClr val="bg1"/>
              </a:solidFill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9144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Tx/>
                <a:buNone/>
                <a:tabLst/>
                <a:defRPr/>
              </a:pPr>
              <a:r>
                <a:rPr kumimoji="0" lang="ko-KR" altLang="en-US" sz="1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+mn-ea"/>
                  <a:cs typeface="Pretendard" panose="02000503000000020004" pitchFamily="50" charset="-127"/>
                </a:rPr>
                <a:t>목적</a:t>
              </a:r>
              <a:endParaRPr kumimoji="0" lang="en-US" altLang="ko-KR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cs typeface="Pretendard" panose="02000503000000020004" pitchFamily="50" charset="-127"/>
              </a:endParaRPr>
            </a:p>
          </p:txBody>
        </p:sp>
        <p:sp>
          <p:nvSpPr>
            <p:cNvPr id="45" name="Rectangle: Rounded Corners 46">
              <a:extLst>
                <a:ext uri="{FF2B5EF4-FFF2-40B4-BE49-F238E27FC236}">
                  <a16:creationId xmlns:a16="http://schemas.microsoft.com/office/drawing/2014/main" id="{4A71AF2F-4C8C-E7B1-E986-116218C685C0}"/>
                </a:ext>
              </a:extLst>
            </p:cNvPr>
            <p:cNvSpPr/>
            <p:nvPr/>
          </p:nvSpPr>
          <p:spPr>
            <a:xfrm>
              <a:off x="522289" y="3324736"/>
              <a:ext cx="1204912" cy="2547258"/>
            </a:xfrm>
            <a:prstGeom prst="roundRect">
              <a:avLst>
                <a:gd name="adj" fmla="val 6675"/>
              </a:avLst>
            </a:prstGeom>
            <a:solidFill>
              <a:srgbClr val="F4B183"/>
            </a:solidFill>
            <a:ln>
              <a:solidFill>
                <a:schemeClr val="bg1"/>
              </a:solidFill>
            </a:ln>
          </p:spPr>
          <p:txBody>
            <a:bodyPr spcFirstLastPara="1" wrap="square" lIns="0" tIns="0" rIns="504000" bIns="0" anchor="ctr" anchorCtr="0">
              <a:noAutofit/>
            </a:bodyPr>
            <a:lstStyle/>
            <a:p>
              <a:pPr marL="0" marR="0" lvl="0" indent="0" algn="ctr" defTabSz="9144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Tx/>
                <a:buNone/>
                <a:tabLst/>
                <a:defRPr/>
              </a:pPr>
              <a:r>
                <a:rPr kumimoji="0" lang="ko-KR" altLang="en-US" sz="1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+mn-ea"/>
                  <a:cs typeface="Pretendard" panose="02000503000000020004" pitchFamily="50" charset="-127"/>
                </a:rPr>
                <a:t>주요 </a:t>
              </a:r>
              <a:endParaRPr kumimoji="0" lang="en-US" altLang="ko-KR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cs typeface="Pretendard" panose="02000503000000020004" pitchFamily="50" charset="-127"/>
              </a:endParaRPr>
            </a:p>
            <a:p>
              <a:pPr marL="0" marR="0" lvl="0" indent="0" algn="ctr" defTabSz="9144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Tx/>
                <a:buNone/>
                <a:tabLst/>
                <a:defRPr/>
              </a:pPr>
              <a:r>
                <a:rPr kumimoji="0" lang="ko-KR" altLang="en-US" sz="1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+mn-ea"/>
                  <a:cs typeface="Pretendard" panose="02000503000000020004" pitchFamily="50" charset="-127"/>
                </a:rPr>
                <a:t>내용</a:t>
              </a:r>
              <a:endParaRPr kumimoji="0" lang="en-US" altLang="ko-KR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cs typeface="Pretendard" panose="02000503000000020004" pitchFamily="50" charset="-127"/>
              </a:endParaRPr>
            </a:p>
            <a:p>
              <a:pPr marL="0" marR="0" lvl="0" indent="0" algn="ctr" defTabSz="9144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+mn-ea"/>
                  <a:cs typeface="Pretendard" panose="02000503000000020004" pitchFamily="50" charset="-127"/>
                </a:rPr>
                <a:t>(</a:t>
              </a:r>
              <a:r>
                <a:rPr kumimoji="0" lang="ko-KR" altLang="en-US" sz="9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+mn-ea"/>
                  <a:cs typeface="Pretendard" panose="02000503000000020004" pitchFamily="50" charset="-127"/>
                </a:rPr>
                <a:t>문서 목차</a:t>
              </a:r>
              <a:r>
                <a:rPr kumimoji="0" lang="en-US" altLang="ko-KR" sz="9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+mn-ea"/>
                  <a:cs typeface="Pretendard" panose="02000503000000020004" pitchFamily="50" charset="-127"/>
                </a:rPr>
                <a:t>*)</a:t>
              </a:r>
            </a:p>
          </p:txBody>
        </p:sp>
        <p:sp>
          <p:nvSpPr>
            <p:cNvPr id="46" name="Rectangle: Rounded Corners 46">
              <a:extLst>
                <a:ext uri="{FF2B5EF4-FFF2-40B4-BE49-F238E27FC236}">
                  <a16:creationId xmlns:a16="http://schemas.microsoft.com/office/drawing/2014/main" id="{2C2B01BF-E781-5B20-877F-2B2AFC053C99}"/>
                </a:ext>
              </a:extLst>
            </p:cNvPr>
            <p:cNvSpPr/>
            <p:nvPr/>
          </p:nvSpPr>
          <p:spPr>
            <a:xfrm>
              <a:off x="522289" y="5917437"/>
              <a:ext cx="1204912" cy="494109"/>
            </a:xfrm>
            <a:prstGeom prst="roundRect">
              <a:avLst>
                <a:gd name="adj" fmla="val 22435"/>
              </a:avLst>
            </a:prstGeom>
            <a:solidFill>
              <a:srgbClr val="F4B183"/>
            </a:solidFill>
            <a:ln>
              <a:solidFill>
                <a:schemeClr val="bg1"/>
              </a:solidFill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9144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Tx/>
                <a:buNone/>
                <a:tabLst/>
                <a:defRPr/>
              </a:pPr>
              <a:r>
                <a:rPr kumimoji="0" lang="ko-KR" altLang="en-US" sz="1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+mn-ea"/>
                  <a:cs typeface="Pretendard" panose="02000503000000020004" pitchFamily="50" charset="-127"/>
                </a:rPr>
                <a:t>사용자</a:t>
              </a:r>
              <a:endParaRPr kumimoji="0" lang="en-US" altLang="ko-KR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cs typeface="Pretendard" panose="02000503000000020004" pitchFamily="50" charset="-127"/>
              </a:endParaRPr>
            </a:p>
          </p:txBody>
        </p:sp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FE6AFDFE-D7FC-04BF-2340-8007370C7CC5}"/>
                </a:ext>
              </a:extLst>
            </p:cNvPr>
            <p:cNvSpPr/>
            <p:nvPr/>
          </p:nvSpPr>
          <p:spPr>
            <a:xfrm>
              <a:off x="1228725" y="3426270"/>
              <a:ext cx="582110" cy="540556"/>
            </a:xfrm>
            <a:prstGeom prst="roundRect">
              <a:avLst>
                <a:gd name="adj" fmla="val 11418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12700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wrap="square" lIns="0" tIns="0" rIns="0" bIns="0" rtlCol="0" anchor="ctr" anchorCtr="0"/>
            <a:lstStyle/>
            <a:p>
              <a:pPr algn="ctr" defTabSz="1042873"/>
              <a:r>
                <a:rPr lang="ko-KR" altLang="en-US" sz="1200" b="1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원칙</a:t>
              </a:r>
              <a:r>
                <a:rPr lang="en-US" altLang="ko-KR" sz="1200" b="1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/</a:t>
              </a:r>
            </a:p>
            <a:p>
              <a:pPr algn="ctr" defTabSz="1042873"/>
              <a:r>
                <a:rPr lang="ko-KR" altLang="en-US" sz="1200" b="1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기준</a:t>
              </a:r>
              <a:endPara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endParaRPr>
            </a:p>
          </p:txBody>
        </p:sp>
        <p:sp>
          <p:nvSpPr>
            <p:cNvPr id="48" name="Rectangle: Rounded Corners 46">
              <a:extLst>
                <a:ext uri="{FF2B5EF4-FFF2-40B4-BE49-F238E27FC236}">
                  <a16:creationId xmlns:a16="http://schemas.microsoft.com/office/drawing/2014/main" id="{D179F061-AE07-D009-F5F1-93DF47F2156B}"/>
                </a:ext>
              </a:extLst>
            </p:cNvPr>
            <p:cNvSpPr/>
            <p:nvPr/>
          </p:nvSpPr>
          <p:spPr>
            <a:xfrm>
              <a:off x="1228725" y="4031853"/>
              <a:ext cx="582110" cy="540556"/>
            </a:xfrm>
            <a:prstGeom prst="roundRect">
              <a:avLst>
                <a:gd name="adj" fmla="val 11418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12700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wrap="square" lIns="0" tIns="0" rIns="0" bIns="0" rtlCol="0" anchor="ctr" anchorCtr="0"/>
            <a:lstStyle/>
            <a:p>
              <a:pPr algn="ctr" defTabSz="1042873"/>
              <a:r>
                <a:rPr lang="ko-KR" altLang="en-US" sz="1200" b="1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조직</a:t>
              </a:r>
              <a:endPara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endParaRPr>
            </a:p>
          </p:txBody>
        </p:sp>
        <p:sp>
          <p:nvSpPr>
            <p:cNvPr id="49" name="Rectangle: Rounded Corners 46">
              <a:extLst>
                <a:ext uri="{FF2B5EF4-FFF2-40B4-BE49-F238E27FC236}">
                  <a16:creationId xmlns:a16="http://schemas.microsoft.com/office/drawing/2014/main" id="{93F6E959-D0E6-C517-0140-AEA25755AA56}"/>
                </a:ext>
              </a:extLst>
            </p:cNvPr>
            <p:cNvSpPr/>
            <p:nvPr/>
          </p:nvSpPr>
          <p:spPr>
            <a:xfrm>
              <a:off x="1228725" y="4637436"/>
              <a:ext cx="582110" cy="1177946"/>
            </a:xfrm>
            <a:prstGeom prst="roundRect">
              <a:avLst>
                <a:gd name="adj" fmla="val 11418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12700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wrap="square" lIns="0" tIns="0" rIns="0" bIns="0" rtlCol="0" anchor="ctr" anchorCtr="0"/>
            <a:lstStyle/>
            <a:p>
              <a:pPr algn="ctr" defTabSz="1042873"/>
              <a:r>
                <a:rPr lang="ko-KR" altLang="en-US" sz="1200" b="1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개발</a:t>
              </a:r>
              <a:r>
                <a:rPr lang="en-US" altLang="ko-KR" sz="1200" b="1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·</a:t>
              </a:r>
              <a:br>
                <a:rPr lang="en-US" altLang="ko-KR" sz="1200" b="1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</a:br>
              <a:r>
                <a:rPr lang="ko-KR" altLang="en-US" sz="1200" b="1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운영 관리 체계</a:t>
              </a:r>
              <a:endPara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158183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9E281C0-43CF-DEE4-C951-BCEE4AB3E4D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7E43ECF-6B29-54EF-1625-9FACA208B3B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[Back-up] </a:t>
            </a:r>
            <a:r>
              <a:rPr lang="ko-KR" altLang="en-US"/>
              <a:t>타사 </a:t>
            </a:r>
            <a:r>
              <a:rPr lang="en-US" altLang="ko-KR"/>
              <a:t>AI</a:t>
            </a:r>
            <a:r>
              <a:rPr lang="ko-KR" altLang="en-US"/>
              <a:t>거버넌스 주요 내용</a:t>
            </a:r>
            <a:r>
              <a:rPr lang="en-US" altLang="ko-KR"/>
              <a:t>_N</a:t>
            </a:r>
            <a:r>
              <a:rPr lang="ko-KR" altLang="en-US"/>
              <a:t>은행 </a:t>
            </a:r>
            <a:r>
              <a:rPr lang="en-US" altLang="ko-KR"/>
              <a:t>(2/3)</a:t>
            </a:r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157E631-DDE9-F82D-BD4B-B92B69E1203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/>
              <a:t>N</a:t>
            </a:r>
            <a:r>
              <a:rPr lang="ko-KR" altLang="en-US"/>
              <a:t>은행 </a:t>
            </a:r>
            <a:r>
              <a:rPr lang="en-US" altLang="ko-KR"/>
              <a:t>AI </a:t>
            </a:r>
            <a:r>
              <a:rPr lang="ko-KR" altLang="en-US"/>
              <a:t>거버넌스 업무준칙의 주요 내용은 다음과 같음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20DB9892-7645-695D-16D4-95F16E11D696}"/>
              </a:ext>
            </a:extLst>
          </p:cNvPr>
          <p:cNvGrpSpPr/>
          <p:nvPr/>
        </p:nvGrpSpPr>
        <p:grpSpPr>
          <a:xfrm>
            <a:off x="407987" y="1341439"/>
            <a:ext cx="11376025" cy="5111750"/>
            <a:chOff x="407987" y="1917701"/>
            <a:chExt cx="11376025" cy="4595901"/>
          </a:xfrm>
        </p:grpSpPr>
        <p:sp>
          <p:nvSpPr>
            <p:cNvPr id="6" name="사각형: 둥근 모서리 20">
              <a:extLst>
                <a:ext uri="{FF2B5EF4-FFF2-40B4-BE49-F238E27FC236}">
                  <a16:creationId xmlns:a16="http://schemas.microsoft.com/office/drawing/2014/main" id="{33945C48-3EB0-9D9C-96D0-08AD954B61D9}"/>
                </a:ext>
              </a:extLst>
            </p:cNvPr>
            <p:cNvSpPr/>
            <p:nvPr/>
          </p:nvSpPr>
          <p:spPr>
            <a:xfrm>
              <a:off x="4600839" y="1917701"/>
              <a:ext cx="2052000" cy="323330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75000"/>
              </a:schemeClr>
            </a:solidFill>
            <a:ln w="12700">
              <a:noFill/>
            </a:ln>
            <a:effectLst/>
          </p:spPr>
          <p:txBody>
            <a:bodyPr lIns="0" tIns="0" rIns="0" bIns="0" rtlCol="0" anchor="ctr" anchorCtr="0"/>
            <a:lstStyle/>
            <a:p>
              <a:pPr algn="ctr" defTabSz="914400"/>
              <a:r>
                <a:rPr lang="ko-KR" altLang="en-US" sz="1400" b="1" spc="-150">
                  <a:solidFill>
                    <a:schemeClr val="bg1">
                      <a:lumMod val="95000"/>
                    </a:schemeClr>
                  </a:solidFill>
                  <a:latin typeface="+mn-ea"/>
                  <a:cs typeface="Noto Sans" panose="020B0502040504020204" pitchFamily="34" charset="0"/>
                </a:rPr>
                <a:t>③ </a:t>
              </a:r>
              <a:r>
                <a:rPr lang="en-US" altLang="ko-KR" sz="1400" b="1" spc="-150">
                  <a:solidFill>
                    <a:schemeClr val="bg1">
                      <a:lumMod val="95000"/>
                    </a:schemeClr>
                  </a:solidFill>
                  <a:latin typeface="+mn-ea"/>
                  <a:cs typeface="Noto Sans" panose="020B0502040504020204" pitchFamily="34" charset="0"/>
                </a:rPr>
                <a:t>AI</a:t>
              </a:r>
              <a:r>
                <a:rPr lang="ko-KR" altLang="en-US" sz="1400" b="1" spc="-150">
                  <a:solidFill>
                    <a:schemeClr val="bg1">
                      <a:lumMod val="95000"/>
                    </a:schemeClr>
                  </a:solidFill>
                  <a:latin typeface="+mn-ea"/>
                  <a:cs typeface="Noto Sans" panose="020B0502040504020204" pitchFamily="34" charset="0"/>
                </a:rPr>
                <a:t> 거버넌스 업무방법</a:t>
              </a:r>
            </a:p>
          </p:txBody>
        </p:sp>
        <p:sp>
          <p:nvSpPr>
            <p:cNvPr id="7" name="사각형: 둥근 모서리 20">
              <a:extLst>
                <a:ext uri="{FF2B5EF4-FFF2-40B4-BE49-F238E27FC236}">
                  <a16:creationId xmlns:a16="http://schemas.microsoft.com/office/drawing/2014/main" id="{C165E3BB-3CC4-CDD2-FD69-615D8FBD55CA}"/>
                </a:ext>
              </a:extLst>
            </p:cNvPr>
            <p:cNvSpPr/>
            <p:nvPr/>
          </p:nvSpPr>
          <p:spPr>
            <a:xfrm>
              <a:off x="407988" y="1917701"/>
              <a:ext cx="2052000" cy="323330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75000"/>
              </a:schemeClr>
            </a:solidFill>
            <a:ln w="12700">
              <a:noFill/>
            </a:ln>
            <a:effectLst/>
          </p:spPr>
          <p:txBody>
            <a:bodyPr lIns="0" tIns="0" rIns="0" bIns="0" rtlCol="0" anchor="ctr" anchorCtr="0"/>
            <a:lstStyle/>
            <a:p>
              <a:pPr algn="ctr"/>
              <a:r>
                <a:rPr lang="ko-KR" altLang="en-US" sz="1400" b="1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lt1"/>
                  </a:solidFill>
                  <a:latin typeface="+mn-ea"/>
                </a:rPr>
                <a:t>① </a:t>
              </a:r>
              <a:r>
                <a:rPr lang="en-US" altLang="ko-KR" sz="1400" b="1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lt1"/>
                  </a:solidFill>
                  <a:latin typeface="+mn-ea"/>
                </a:rPr>
                <a:t>AI </a:t>
              </a:r>
              <a:r>
                <a:rPr lang="ko-KR" altLang="en-US" sz="1400" b="1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lt1"/>
                  </a:solidFill>
                  <a:latin typeface="+mn-ea"/>
                </a:rPr>
                <a:t>거버넌스  업무규정</a:t>
              </a:r>
              <a:endParaRPr lang="en" altLang="ko-KR" sz="14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endParaRPr>
            </a:p>
          </p:txBody>
        </p:sp>
        <p:sp>
          <p:nvSpPr>
            <p:cNvPr id="8" name="사각형: 둥근 모서리 20">
              <a:extLst>
                <a:ext uri="{FF2B5EF4-FFF2-40B4-BE49-F238E27FC236}">
                  <a16:creationId xmlns:a16="http://schemas.microsoft.com/office/drawing/2014/main" id="{BFDAB346-2313-A056-ECDD-EB8440291D56}"/>
                </a:ext>
              </a:extLst>
            </p:cNvPr>
            <p:cNvSpPr/>
            <p:nvPr/>
          </p:nvSpPr>
          <p:spPr>
            <a:xfrm>
              <a:off x="407987" y="2241031"/>
              <a:ext cx="11376025" cy="4272571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accent2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" altLang="ko-KR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endParaRPr>
            </a:p>
          </p:txBody>
        </p:sp>
        <p:sp>
          <p:nvSpPr>
            <p:cNvPr id="9" name="Rectangle: Rounded Corners 46">
              <a:extLst>
                <a:ext uri="{FF2B5EF4-FFF2-40B4-BE49-F238E27FC236}">
                  <a16:creationId xmlns:a16="http://schemas.microsoft.com/office/drawing/2014/main" id="{C13341EE-5EB0-1C81-66E9-278576A96446}"/>
                </a:ext>
              </a:extLst>
            </p:cNvPr>
            <p:cNvSpPr/>
            <p:nvPr/>
          </p:nvSpPr>
          <p:spPr>
            <a:xfrm>
              <a:off x="5277149" y="2366642"/>
              <a:ext cx="6259531" cy="4044904"/>
            </a:xfrm>
            <a:prstGeom prst="snip1Rect">
              <a:avLst/>
            </a:prstGeom>
            <a:pattFill prst="dkUpDiag">
              <a:fgClr>
                <a:schemeClr val="accent1">
                  <a:lumMod val="20000"/>
                  <a:lumOff val="80000"/>
                </a:schemeClr>
              </a:fgClr>
              <a:bgClr>
                <a:prstClr val="white"/>
              </a:bgClr>
            </a:pattFill>
            <a:ln w="3175" cap="flat" cmpd="sng" algn="ctr">
              <a:noFill/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lIns="0" tIns="0" rIns="0" bIns="0" rtlCol="0" anchor="ctr" anchorCtr="0"/>
            <a:lstStyle/>
            <a:p>
              <a:pPr marL="0" marR="0" lvl="0" indent="0" algn="ctr" defTabSz="10428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Pretendard SemiBold" panose="02000703000000020004" pitchFamily="50" charset="-127"/>
              </a:endParaRPr>
            </a:p>
          </p:txBody>
        </p:sp>
        <p:sp>
          <p:nvSpPr>
            <p:cNvPr id="10" name="사각형: 둥근 모서리 20">
              <a:extLst>
                <a:ext uri="{FF2B5EF4-FFF2-40B4-BE49-F238E27FC236}">
                  <a16:creationId xmlns:a16="http://schemas.microsoft.com/office/drawing/2014/main" id="{266CA034-9B77-8636-874A-7E186BFBC8D9}"/>
                </a:ext>
              </a:extLst>
            </p:cNvPr>
            <p:cNvSpPr/>
            <p:nvPr/>
          </p:nvSpPr>
          <p:spPr>
            <a:xfrm>
              <a:off x="2504414" y="1917701"/>
              <a:ext cx="2052000" cy="323330"/>
            </a:xfrm>
            <a:prstGeom prst="roundRect">
              <a:avLst>
                <a:gd name="adj" fmla="val 0"/>
              </a:avLst>
            </a:prstGeom>
            <a:solidFill>
              <a:schemeClr val="accent2"/>
            </a:solidFill>
            <a:ln>
              <a:solidFill>
                <a:schemeClr val="accent2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1400" b="1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lt1"/>
                  </a:solidFill>
                  <a:latin typeface="+mn-ea"/>
                </a:rPr>
                <a:t>② </a:t>
              </a:r>
              <a:r>
                <a:rPr lang="en-US" altLang="ko-KR" sz="1400" b="1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lt1"/>
                  </a:solidFill>
                  <a:latin typeface="+mn-ea"/>
                </a:rPr>
                <a:t>AI </a:t>
              </a:r>
              <a:r>
                <a:rPr lang="ko-KR" altLang="en-US" sz="1400" b="1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lt1"/>
                  </a:solidFill>
                  <a:latin typeface="+mn-ea"/>
                </a:rPr>
                <a:t>거버넌스 업무준칙</a:t>
              </a:r>
            </a:p>
          </p:txBody>
        </p:sp>
        <p:sp>
          <p:nvSpPr>
            <p:cNvPr id="11" name="Rectangle: Rounded Corners 46">
              <a:extLst>
                <a:ext uri="{FF2B5EF4-FFF2-40B4-BE49-F238E27FC236}">
                  <a16:creationId xmlns:a16="http://schemas.microsoft.com/office/drawing/2014/main" id="{C2ACE280-E57E-82E1-BE0B-6CAE5E548142}"/>
                </a:ext>
              </a:extLst>
            </p:cNvPr>
            <p:cNvSpPr/>
            <p:nvPr/>
          </p:nvSpPr>
          <p:spPr>
            <a:xfrm>
              <a:off x="5479142" y="2444164"/>
              <a:ext cx="2052190" cy="340981"/>
            </a:xfrm>
            <a:prstGeom prst="roundRect">
              <a:avLst>
                <a:gd name="adj" fmla="val 11418"/>
              </a:avLst>
            </a:prstGeom>
            <a:noFill/>
            <a:ln w="3175" cap="flat" cmpd="sng" algn="ctr">
              <a:noFill/>
              <a:prstDash val="solid"/>
            </a:ln>
            <a:effectLst/>
          </p:spPr>
          <p:txBody>
            <a:bodyPr wrap="square" lIns="0" tIns="0" rIns="0" bIns="0" rtlCol="0" anchor="ctr" anchorCtr="0"/>
            <a:lstStyle/>
            <a:p>
              <a:pPr marL="0" marR="0" lvl="0" indent="0" defTabSz="10428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1" i="0" u="none" strike="noStrike" kern="0" cap="none" spc="0" normalizeH="0" baseline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Contents</a:t>
              </a:r>
            </a:p>
          </p:txBody>
        </p:sp>
        <p:sp>
          <p:nvSpPr>
            <p:cNvPr id="12" name="Rectangle: Rounded Corners 46">
              <a:extLst>
                <a:ext uri="{FF2B5EF4-FFF2-40B4-BE49-F238E27FC236}">
                  <a16:creationId xmlns:a16="http://schemas.microsoft.com/office/drawing/2014/main" id="{C23416A0-94D3-7D51-6599-045F9ADB88C8}"/>
                </a:ext>
              </a:extLst>
            </p:cNvPr>
            <p:cNvSpPr/>
            <p:nvPr/>
          </p:nvSpPr>
          <p:spPr>
            <a:xfrm>
              <a:off x="1943373" y="3426269"/>
              <a:ext cx="3250142" cy="540555"/>
            </a:xfrm>
            <a:prstGeom prst="roundRect">
              <a:avLst>
                <a:gd name="adj" fmla="val 11418"/>
              </a:avLst>
            </a:prstGeom>
            <a:solidFill>
              <a:schemeClr val="bg1">
                <a:lumMod val="95000"/>
              </a:schemeClr>
            </a:solidFill>
            <a:ln w="3175" cap="flat" cmpd="sng" algn="ctr">
              <a:noFill/>
              <a:prstDash val="solid"/>
            </a:ln>
            <a:effectLst/>
          </p:spPr>
          <p:txBody>
            <a:bodyPr wrap="square" lIns="90000" tIns="0" rIns="90000" bIns="0" rtlCol="0" anchor="ctr" anchorCtr="0"/>
            <a:lstStyle/>
            <a:p>
              <a:pPr marL="171450" lvl="0" indent="-171450" defTabSz="1042873">
                <a:buFont typeface="Arial" panose="020B0604020202020204" pitchFamily="34" charset="0"/>
                <a:buChar char="•"/>
                <a:defRPr/>
              </a:pPr>
              <a:r>
                <a:rPr lang="en-US" altLang="ko-KR" sz="1200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AI </a:t>
              </a:r>
              <a:r>
                <a:rPr lang="ko-KR" altLang="en-US" sz="1200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거버넌스 관리체계 및 관련 업무</a:t>
              </a:r>
            </a:p>
          </p:txBody>
        </p:sp>
        <p:sp>
          <p:nvSpPr>
            <p:cNvPr id="13" name="Rectangle: Rounded Corners 46">
              <a:extLst>
                <a:ext uri="{FF2B5EF4-FFF2-40B4-BE49-F238E27FC236}">
                  <a16:creationId xmlns:a16="http://schemas.microsoft.com/office/drawing/2014/main" id="{1FED1048-AE36-524D-D200-5F99F0CC83F7}"/>
                </a:ext>
              </a:extLst>
            </p:cNvPr>
            <p:cNvSpPr/>
            <p:nvPr/>
          </p:nvSpPr>
          <p:spPr>
            <a:xfrm>
              <a:off x="1943373" y="2366642"/>
              <a:ext cx="3250142" cy="836708"/>
            </a:xfrm>
            <a:prstGeom prst="roundRect">
              <a:avLst>
                <a:gd name="adj" fmla="val 11418"/>
              </a:avLst>
            </a:prstGeom>
            <a:solidFill>
              <a:schemeClr val="bg1">
                <a:lumMod val="95000"/>
              </a:schemeClr>
            </a:solidFill>
            <a:ln w="3175" cap="flat" cmpd="sng" algn="ctr">
              <a:noFill/>
              <a:prstDash val="solid"/>
            </a:ln>
            <a:effectLst/>
          </p:spPr>
          <p:txBody>
            <a:bodyPr wrap="square" lIns="90000" tIns="0" rIns="90000" bIns="0" rtlCol="0" anchor="ctr" anchorCtr="0"/>
            <a:lstStyle/>
            <a:p>
              <a:pPr defTabSz="1042873">
                <a:lnSpc>
                  <a:spcPct val="130000"/>
                </a:lnSpc>
              </a:pPr>
              <a:r>
                <a:rPr lang="en-US" altLang="ko-KR" sz="1200" kern="0" spc="-7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AI</a:t>
              </a:r>
              <a:r>
                <a:rPr lang="ko-KR" altLang="en-US" sz="1200" kern="0" spc="-7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 거버넌스 업무규정에서 정한 사항의 세부적인 기준이나 업무처리 내용 및 절차를 규정</a:t>
              </a:r>
            </a:p>
          </p:txBody>
        </p:sp>
        <p:sp>
          <p:nvSpPr>
            <p:cNvPr id="14" name="Rectangle: Rounded Corners 46">
              <a:extLst>
                <a:ext uri="{FF2B5EF4-FFF2-40B4-BE49-F238E27FC236}">
                  <a16:creationId xmlns:a16="http://schemas.microsoft.com/office/drawing/2014/main" id="{93DDAA61-ED9C-90D8-D1CF-1CE6DE57304A}"/>
                </a:ext>
              </a:extLst>
            </p:cNvPr>
            <p:cNvSpPr/>
            <p:nvPr/>
          </p:nvSpPr>
          <p:spPr>
            <a:xfrm>
              <a:off x="1943373" y="4031853"/>
              <a:ext cx="3250142" cy="540555"/>
            </a:xfrm>
            <a:prstGeom prst="roundRect">
              <a:avLst>
                <a:gd name="adj" fmla="val 11418"/>
              </a:avLst>
            </a:prstGeom>
            <a:solidFill>
              <a:schemeClr val="bg1">
                <a:lumMod val="95000"/>
              </a:schemeClr>
            </a:solidFill>
            <a:ln w="3175" cap="flat" cmpd="sng" algn="ctr">
              <a:noFill/>
              <a:prstDash val="solid"/>
            </a:ln>
            <a:effectLst/>
          </p:spPr>
          <p:txBody>
            <a:bodyPr wrap="square" lIns="90000" tIns="0" rIns="90000" bIns="0" rtlCol="0" anchor="ctr" anchorCtr="0"/>
            <a:lstStyle/>
            <a:p>
              <a:pPr marL="171450" lvl="0" indent="-171450" defTabSz="1042873">
                <a:buFont typeface="Arial" panose="020B0604020202020204" pitchFamily="34" charset="0"/>
                <a:buChar char="•"/>
                <a:defRPr/>
              </a:pPr>
              <a:r>
                <a:rPr lang="en-US" altLang="ko-KR" sz="1200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AI </a:t>
              </a:r>
              <a:r>
                <a:rPr lang="ko-KR" altLang="en-US" sz="1200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거버넌스 최고책임자</a:t>
              </a:r>
              <a:r>
                <a:rPr lang="en-US" altLang="ko-KR" sz="1200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/</a:t>
              </a:r>
              <a:r>
                <a:rPr lang="ko-KR" altLang="en-US" sz="1200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총괄부서</a:t>
              </a:r>
              <a:r>
                <a:rPr lang="en-US" altLang="ko-KR" sz="1200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, AI </a:t>
              </a:r>
              <a:r>
                <a:rPr lang="ko-KR" altLang="en-US" sz="1200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서비스 관리부서</a:t>
              </a:r>
              <a:r>
                <a:rPr lang="en-US" altLang="ko-KR" sz="1200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, AI </a:t>
              </a:r>
              <a:r>
                <a:rPr lang="ko-KR" altLang="en-US" sz="1200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시스템 관리부서</a:t>
              </a:r>
              <a:r>
                <a:rPr lang="en-US" altLang="ko-KR" sz="1200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, AI </a:t>
              </a:r>
              <a:r>
                <a:rPr lang="ko-KR" altLang="en-US" sz="1200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거버넌스 협의회</a:t>
              </a:r>
              <a:r>
                <a:rPr lang="en-US" altLang="ko-KR" sz="1200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, </a:t>
              </a:r>
              <a:r>
                <a:rPr lang="ko-KR" altLang="en-US" sz="1200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수탁자</a:t>
              </a:r>
            </a:p>
          </p:txBody>
        </p:sp>
        <p:sp>
          <p:nvSpPr>
            <p:cNvPr id="15" name="Rectangle: Rounded Corners 46">
              <a:extLst>
                <a:ext uri="{FF2B5EF4-FFF2-40B4-BE49-F238E27FC236}">
                  <a16:creationId xmlns:a16="http://schemas.microsoft.com/office/drawing/2014/main" id="{89541774-EFD4-7705-7978-204D766B1E75}"/>
                </a:ext>
              </a:extLst>
            </p:cNvPr>
            <p:cNvSpPr/>
            <p:nvPr/>
          </p:nvSpPr>
          <p:spPr>
            <a:xfrm>
              <a:off x="1943373" y="4637436"/>
              <a:ext cx="3250142" cy="1177946"/>
            </a:xfrm>
            <a:prstGeom prst="roundRect">
              <a:avLst>
                <a:gd name="adj" fmla="val 5596"/>
              </a:avLst>
            </a:prstGeom>
            <a:solidFill>
              <a:schemeClr val="bg1">
                <a:lumMod val="95000"/>
              </a:schemeClr>
            </a:solidFill>
            <a:ln w="3175" cap="flat" cmpd="sng" algn="ctr">
              <a:noFill/>
              <a:prstDash val="solid"/>
            </a:ln>
            <a:effectLst/>
          </p:spPr>
          <p:txBody>
            <a:bodyPr wrap="square" lIns="90000" tIns="0" rIns="36000" bIns="0" rtlCol="0" anchor="ctr" anchorCtr="0"/>
            <a:lstStyle/>
            <a:p>
              <a:pPr marL="171450" marR="0" lvl="0" indent="-171450" defTabSz="10428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1200" i="0" u="none" strike="noStrike" kern="0" cap="none" spc="0" normalizeH="0" baseline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위험 수준 평가</a:t>
              </a:r>
              <a:r>
                <a:rPr kumimoji="0" lang="en-US" altLang="ko-KR" sz="1200" i="0" u="none" strike="noStrike" kern="0" cap="none" spc="0" normalizeH="0" baseline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: </a:t>
              </a:r>
              <a:r>
                <a:rPr kumimoji="0" lang="ko-KR" altLang="en-US" sz="1200" i="0" u="none" strike="noStrike" kern="0" cap="none" spc="0" normalizeH="0" baseline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평가</a:t>
              </a:r>
              <a:r>
                <a:rPr kumimoji="0" lang="en-US" altLang="ko-KR" sz="1200" i="0" u="none" strike="noStrike" kern="0" cap="none" spc="0" normalizeH="0" baseline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 </a:t>
              </a:r>
              <a:r>
                <a:rPr kumimoji="0" lang="ko-KR" altLang="en-US" sz="1200" i="0" u="none" strike="noStrike" kern="0" cap="none" spc="0" normalizeH="0" baseline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기준</a:t>
              </a:r>
              <a:r>
                <a:rPr kumimoji="0" lang="en-US" altLang="ko-KR" sz="1200" i="0" u="none" strike="noStrike" kern="0" cap="none" spc="0" normalizeH="0" baseline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(</a:t>
              </a:r>
              <a:r>
                <a:rPr kumimoji="0" lang="ko-KR" altLang="en-US" sz="1200" i="0" u="none" strike="noStrike" kern="0" cap="none" spc="0" normalizeH="0" baseline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고위험</a:t>
              </a:r>
              <a:r>
                <a:rPr lang="en-US" altLang="ko-KR" sz="1200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/</a:t>
              </a:r>
              <a:r>
                <a:rPr kumimoji="0" lang="ko-KR" altLang="en-US" sz="1200" i="0" u="none" strike="noStrike" kern="0" cap="none" spc="0" normalizeH="0" baseline="0" noProof="0" err="1">
                  <a:ln>
                    <a:solidFill>
                      <a:srgbClr val="A5C249">
                        <a:alpha val="0"/>
                      </a:srgbClr>
                    </a:solidFill>
                  </a:ln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중위험</a:t>
              </a:r>
              <a:r>
                <a:rPr lang="en-US" altLang="ko-KR" sz="1200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/ </a:t>
              </a:r>
              <a:r>
                <a:rPr kumimoji="0" lang="ko-KR" altLang="en-US" sz="1200" i="0" u="none" strike="noStrike" kern="0" cap="none" spc="0" normalizeH="0" baseline="0" noProof="0" err="1">
                  <a:ln>
                    <a:solidFill>
                      <a:srgbClr val="A5C249">
                        <a:alpha val="0"/>
                      </a:srgbClr>
                    </a:solidFill>
                  </a:ln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저위험</a:t>
              </a:r>
              <a:r>
                <a:rPr kumimoji="0" lang="en-US" altLang="ko-KR" sz="1200" i="0" u="none" strike="noStrike" kern="0" cap="none" spc="0" normalizeH="0" baseline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), </a:t>
              </a:r>
              <a:r>
                <a:rPr kumimoji="0" lang="ko-KR" altLang="en-US" sz="1200" i="0" u="none" strike="noStrike" kern="0" cap="none" spc="0" normalizeH="0" baseline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평가 절차</a:t>
              </a:r>
              <a:r>
                <a:rPr kumimoji="0" lang="en-US" altLang="ko-KR" sz="1200" i="0" u="none" strike="noStrike" kern="0" cap="none" spc="0" normalizeH="0" baseline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(</a:t>
              </a:r>
              <a:r>
                <a:rPr kumimoji="0" lang="ko-KR" altLang="en-US" sz="1200" i="0" u="none" strike="noStrike" kern="0" cap="none" spc="0" normalizeH="0" baseline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평가</a:t>
              </a:r>
              <a:r>
                <a:rPr lang="en-US" altLang="ko-KR" sz="1200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-</a:t>
              </a:r>
              <a:r>
                <a:rPr kumimoji="0" lang="ko-KR" altLang="en-US" sz="1200" i="0" u="none" strike="noStrike" kern="0" cap="none" spc="0" normalizeH="0" baseline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협의 요청</a:t>
              </a:r>
              <a:r>
                <a:rPr lang="en-US" altLang="ko-KR" sz="1200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-</a:t>
              </a:r>
              <a:r>
                <a:rPr kumimoji="0" lang="ko-KR" altLang="en-US" sz="1200" i="0" u="none" strike="noStrike" kern="0" cap="none" spc="0" normalizeH="0" baseline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재평가</a:t>
              </a:r>
              <a:r>
                <a:rPr kumimoji="0" lang="en-US" altLang="ko-KR" sz="1200" i="0" u="none" strike="noStrike" kern="0" cap="none" spc="0" normalizeH="0" baseline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), </a:t>
              </a:r>
              <a:r>
                <a:rPr kumimoji="0" lang="ko-KR" altLang="en-US" sz="1200" i="0" u="none" strike="noStrike" kern="0" cap="none" spc="0" normalizeH="0" baseline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고위험 </a:t>
              </a:r>
              <a:r>
                <a:rPr kumimoji="0" lang="en-US" altLang="ko-KR" sz="1200" i="0" u="none" strike="noStrike" kern="0" cap="none" spc="0" normalizeH="0" baseline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AI </a:t>
              </a:r>
              <a:r>
                <a:rPr kumimoji="0" lang="ko-KR" altLang="en-US" sz="1200" i="0" u="none" strike="noStrike" kern="0" cap="none" spc="0" normalizeH="0" baseline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서비스 내부통제</a:t>
              </a:r>
              <a:endPara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endParaRPr>
            </a:p>
            <a:p>
              <a:pPr marL="171450" lvl="0" indent="-171450" defTabSz="1042873">
                <a:buFont typeface="Arial" panose="020B0604020202020204" pitchFamily="34" charset="0"/>
                <a:buChar char="•"/>
                <a:defRPr/>
              </a:pPr>
              <a:r>
                <a:rPr lang="ko-KR" altLang="en-US" sz="1200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개발</a:t>
              </a:r>
              <a:r>
                <a:rPr lang="en-US" altLang="ko-KR" sz="1200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·</a:t>
              </a:r>
              <a:r>
                <a:rPr lang="ko-KR" altLang="en-US" sz="1200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운영</a:t>
              </a:r>
              <a:r>
                <a:rPr lang="en-US" altLang="ko-KR" sz="1200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/</a:t>
              </a:r>
              <a:r>
                <a:rPr lang="ko-KR" altLang="en-US" sz="1200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위험 수준별 준수사항</a:t>
              </a:r>
              <a:r>
                <a:rPr lang="en-US" altLang="ko-KR" sz="1200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: </a:t>
              </a:r>
              <a:r>
                <a:rPr lang="ko-KR" altLang="en-US" sz="1200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기획</a:t>
              </a:r>
              <a:r>
                <a:rPr lang="en-US" altLang="ko-KR" sz="1200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·</a:t>
              </a:r>
              <a:r>
                <a:rPr lang="ko-KR" altLang="en-US" sz="1200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설계</a:t>
              </a:r>
              <a:r>
                <a:rPr lang="en-US" altLang="ko-KR" sz="1200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, </a:t>
              </a:r>
              <a:r>
                <a:rPr lang="ko-KR" altLang="en-US" sz="1200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개발</a:t>
              </a:r>
              <a:r>
                <a:rPr lang="en-US" altLang="ko-KR" sz="1200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, </a:t>
              </a:r>
              <a:r>
                <a:rPr lang="ko-KR" altLang="en-US" sz="1200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평가</a:t>
              </a:r>
              <a:r>
                <a:rPr lang="en-US" altLang="ko-KR" sz="1200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 ·</a:t>
              </a:r>
              <a:r>
                <a:rPr lang="ko-KR" altLang="en-US" sz="1200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검증</a:t>
              </a:r>
              <a:r>
                <a:rPr lang="en-US" altLang="ko-KR" sz="1200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, </a:t>
              </a:r>
              <a:r>
                <a:rPr lang="ko-KR" altLang="en-US" sz="1200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도입</a:t>
              </a:r>
              <a:r>
                <a:rPr lang="en-US" altLang="ko-KR" sz="1200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·</a:t>
              </a:r>
              <a:r>
                <a:rPr lang="ko-KR" altLang="en-US" sz="1200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운영</a:t>
              </a:r>
              <a:r>
                <a:rPr lang="en-US" altLang="ko-KR" sz="1200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·</a:t>
              </a:r>
              <a:r>
                <a:rPr lang="ko-KR" altLang="en-US" sz="1200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모니터링 단계</a:t>
              </a:r>
              <a:endParaRPr lang="en-US" altLang="ko-KR" sz="1200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endParaRPr>
            </a:p>
            <a:p>
              <a:pPr marL="171450" marR="0" lvl="0" indent="-171450" defTabSz="10428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ko-KR" sz="1200" i="0" u="none" strike="noStrike" kern="0" cap="none" spc="0" normalizeH="0" baseline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AI </a:t>
              </a:r>
              <a:r>
                <a:rPr kumimoji="0" lang="ko-KR" altLang="en-US" sz="1200" i="0" u="none" strike="noStrike" kern="0" cap="none" spc="0" normalizeH="0" baseline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거버넌스 교육</a:t>
              </a:r>
              <a:r>
                <a:rPr kumimoji="0" lang="en-US" altLang="ko-KR" sz="1200" i="0" u="none" strike="noStrike" kern="0" cap="none" spc="0" normalizeH="0" baseline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: </a:t>
              </a:r>
              <a:r>
                <a:rPr kumimoji="0" lang="ko-KR" altLang="en-US" sz="1200" i="0" u="none" strike="noStrike" kern="0" cap="none" spc="0" normalizeH="0" baseline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임직원 교육</a:t>
              </a:r>
            </a:p>
          </p:txBody>
        </p:sp>
        <p:sp>
          <p:nvSpPr>
            <p:cNvPr id="16" name="Rectangle: Rounded Corners 46">
              <a:extLst>
                <a:ext uri="{FF2B5EF4-FFF2-40B4-BE49-F238E27FC236}">
                  <a16:creationId xmlns:a16="http://schemas.microsoft.com/office/drawing/2014/main" id="{77B7338F-6667-4940-4A97-DC3468D8C53F}"/>
                </a:ext>
              </a:extLst>
            </p:cNvPr>
            <p:cNvSpPr/>
            <p:nvPr/>
          </p:nvSpPr>
          <p:spPr>
            <a:xfrm>
              <a:off x="1943373" y="5917437"/>
              <a:ext cx="3250142" cy="494109"/>
            </a:xfrm>
            <a:prstGeom prst="roundRect">
              <a:avLst>
                <a:gd name="adj" fmla="val 11418"/>
              </a:avLst>
            </a:prstGeom>
            <a:solidFill>
              <a:schemeClr val="bg1">
                <a:lumMod val="95000"/>
              </a:schemeClr>
            </a:solidFill>
            <a:ln w="3175" cap="flat" cmpd="sng" algn="ctr">
              <a:noFill/>
              <a:prstDash val="solid"/>
            </a:ln>
            <a:effectLst/>
          </p:spPr>
          <p:txBody>
            <a:bodyPr wrap="square" lIns="90000" tIns="0" rIns="90000" bIns="0" rtlCol="0" anchor="ctr" anchorCtr="0"/>
            <a:lstStyle/>
            <a:p>
              <a:pPr algn="ctr" defTabSz="1042873" latinLnBrk="0">
                <a:defRPr/>
              </a:pPr>
              <a:r>
                <a:rPr lang="ko-KR" altLang="en-US" sz="1200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고객에게 미치는 영향이 있는 </a:t>
              </a:r>
              <a:r>
                <a:rPr lang="en-US" altLang="ko-KR" sz="1200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AI </a:t>
              </a:r>
              <a:r>
                <a:rPr lang="ko-KR" altLang="en-US" sz="1200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서비스 및 시스템 관리</a:t>
              </a:r>
              <a:endPara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C23768F5-35AD-D384-89AB-570B203170E7}"/>
                </a:ext>
              </a:extLst>
            </p:cNvPr>
            <p:cNvSpPr/>
            <p:nvPr/>
          </p:nvSpPr>
          <p:spPr>
            <a:xfrm>
              <a:off x="5598487" y="4729240"/>
              <a:ext cx="236220" cy="26733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endParaRPr lang="ko-KR" altLang="en-US">
                <a:latin typeface="+mn-ea"/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A8EA10E4-3067-9E17-6CAC-F750361C0F77}"/>
                </a:ext>
              </a:extLst>
            </p:cNvPr>
            <p:cNvSpPr/>
            <p:nvPr/>
          </p:nvSpPr>
          <p:spPr>
            <a:xfrm>
              <a:off x="5598487" y="3622380"/>
              <a:ext cx="236220" cy="26733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endParaRPr lang="ko-KR" altLang="en-US">
                <a:latin typeface="+mn-ea"/>
              </a:endParaRPr>
            </a:p>
          </p:txBody>
        </p:sp>
        <p:sp>
          <p:nvSpPr>
            <p:cNvPr id="19" name="Rectangle: Rounded Corners 46">
              <a:extLst>
                <a:ext uri="{FF2B5EF4-FFF2-40B4-BE49-F238E27FC236}">
                  <a16:creationId xmlns:a16="http://schemas.microsoft.com/office/drawing/2014/main" id="{5921FB4C-3F9E-8090-CB9D-067F78A84D17}"/>
                </a:ext>
              </a:extLst>
            </p:cNvPr>
            <p:cNvSpPr/>
            <p:nvPr/>
          </p:nvSpPr>
          <p:spPr>
            <a:xfrm>
              <a:off x="5935702" y="3717954"/>
              <a:ext cx="2250795" cy="319072"/>
            </a:xfrm>
            <a:prstGeom prst="roundRect">
              <a:avLst>
                <a:gd name="adj" fmla="val 11418"/>
              </a:avLst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txBody>
            <a:bodyPr spcFirstLastPara="1" wrap="square" lIns="108000" tIns="0" rIns="0" bIns="0" anchor="ctr" anchorCtr="0">
              <a:noAutofit/>
            </a:bodyPr>
            <a:lstStyle/>
            <a:p>
              <a:pPr defTabSz="914446">
                <a:buClr>
                  <a:srgbClr val="FFFFFF"/>
                </a:buClr>
                <a:buSzPts val="1100"/>
              </a:pPr>
              <a:r>
                <a:rPr lang="ko-KR" altLang="en-US" sz="1100" b="1">
                  <a:latin typeface="+mn-ea"/>
                  <a:cs typeface="Pretendard" panose="02000503000000020004" pitchFamily="50" charset="-127"/>
                </a:rPr>
                <a:t>제</a:t>
              </a:r>
              <a:r>
                <a:rPr lang="en-US" altLang="ko-KR" sz="1100" b="1">
                  <a:latin typeface="+mn-ea"/>
                  <a:cs typeface="Pretendard" panose="02000503000000020004" pitchFamily="50" charset="-127"/>
                </a:rPr>
                <a:t>2</a:t>
              </a:r>
              <a:r>
                <a:rPr lang="ko-KR" altLang="en-US" sz="1100" b="1">
                  <a:latin typeface="+mn-ea"/>
                  <a:cs typeface="Pretendard" panose="02000503000000020004" pitchFamily="50" charset="-127"/>
                </a:rPr>
                <a:t>조 적용 범위</a:t>
              </a:r>
              <a:endParaRPr lang="en-US" altLang="ko-KR" sz="1100" b="1">
                <a:latin typeface="+mn-ea"/>
                <a:cs typeface="Pretendard" panose="02000503000000020004" pitchFamily="50" charset="-127"/>
              </a:endParaRPr>
            </a:p>
          </p:txBody>
        </p:sp>
        <p:sp>
          <p:nvSpPr>
            <p:cNvPr id="20" name="Rectangle: Rounded Corners 46">
              <a:extLst>
                <a:ext uri="{FF2B5EF4-FFF2-40B4-BE49-F238E27FC236}">
                  <a16:creationId xmlns:a16="http://schemas.microsoft.com/office/drawing/2014/main" id="{4A2EB8AE-6005-828F-8BB2-EF113E2590FB}"/>
                </a:ext>
              </a:extLst>
            </p:cNvPr>
            <p:cNvSpPr/>
            <p:nvPr/>
          </p:nvSpPr>
          <p:spPr>
            <a:xfrm>
              <a:off x="5935702" y="4107488"/>
              <a:ext cx="2250795" cy="319072"/>
            </a:xfrm>
            <a:prstGeom prst="roundRect">
              <a:avLst>
                <a:gd name="adj" fmla="val 11418"/>
              </a:avLst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txBody>
            <a:bodyPr spcFirstLastPara="1" wrap="square" lIns="108000" tIns="0" rIns="0" bIns="0" anchor="ctr" anchorCtr="0">
              <a:noAutofit/>
            </a:bodyPr>
            <a:lstStyle/>
            <a:p>
              <a:pPr defTabSz="914446">
                <a:buClr>
                  <a:srgbClr val="FFFFFF"/>
                </a:buClr>
                <a:buSzPts val="1100"/>
              </a:pPr>
              <a:r>
                <a:rPr lang="ko-KR" altLang="en-US" sz="1100" b="1">
                  <a:latin typeface="+mn-ea"/>
                  <a:cs typeface="Pretendard" panose="02000503000000020004" pitchFamily="50" charset="-127"/>
                </a:rPr>
                <a:t>제</a:t>
              </a:r>
              <a:r>
                <a:rPr lang="en-US" altLang="ko-KR" sz="1100" b="1">
                  <a:latin typeface="+mn-ea"/>
                  <a:cs typeface="Pretendard" panose="02000503000000020004" pitchFamily="50" charset="-127"/>
                </a:rPr>
                <a:t>3</a:t>
              </a:r>
              <a:r>
                <a:rPr lang="ko-KR" altLang="en-US" sz="1100" b="1">
                  <a:latin typeface="+mn-ea"/>
                  <a:cs typeface="Pretendard" panose="02000503000000020004" pitchFamily="50" charset="-127"/>
                </a:rPr>
                <a:t>조 업무 방법</a:t>
              </a:r>
              <a:endParaRPr lang="en-US" altLang="ko-KR" sz="1100" b="1">
                <a:latin typeface="+mn-ea"/>
                <a:cs typeface="Pretendard" panose="02000503000000020004" pitchFamily="50" charset="-127"/>
              </a:endParaRPr>
            </a:p>
          </p:txBody>
        </p:sp>
        <p:sp>
          <p:nvSpPr>
            <p:cNvPr id="21" name="Rectangle: Rounded Corners 46">
              <a:extLst>
                <a:ext uri="{FF2B5EF4-FFF2-40B4-BE49-F238E27FC236}">
                  <a16:creationId xmlns:a16="http://schemas.microsoft.com/office/drawing/2014/main" id="{9C47EB77-B697-DB69-F2F1-69FEA5CB81B7}"/>
                </a:ext>
              </a:extLst>
            </p:cNvPr>
            <p:cNvSpPr/>
            <p:nvPr/>
          </p:nvSpPr>
          <p:spPr>
            <a:xfrm>
              <a:off x="5935702" y="3328420"/>
              <a:ext cx="2250795" cy="319072"/>
            </a:xfrm>
            <a:prstGeom prst="roundRect">
              <a:avLst>
                <a:gd name="adj" fmla="val 11418"/>
              </a:avLst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txBody>
            <a:bodyPr spcFirstLastPara="1" wrap="square" lIns="108000" tIns="0" rIns="0" bIns="0" anchor="ctr" anchorCtr="0">
              <a:noAutofit/>
            </a:bodyPr>
            <a:lstStyle/>
            <a:p>
              <a:pPr defTabSz="914446">
                <a:buClr>
                  <a:srgbClr val="FFFFFF"/>
                </a:buClr>
                <a:buSzPts val="1100"/>
              </a:pPr>
              <a:r>
                <a:rPr lang="ko-KR" altLang="en-US" sz="1100" b="1">
                  <a:latin typeface="+mn-ea"/>
                  <a:cs typeface="Pretendard" panose="02000503000000020004" pitchFamily="50" charset="-127"/>
                </a:rPr>
                <a:t>제</a:t>
              </a:r>
              <a:r>
                <a:rPr lang="en-US" altLang="ko-KR" sz="1100" b="1">
                  <a:latin typeface="+mn-ea"/>
                  <a:cs typeface="Pretendard" panose="02000503000000020004" pitchFamily="50" charset="-127"/>
                </a:rPr>
                <a:t>1</a:t>
              </a:r>
              <a:r>
                <a:rPr lang="ko-KR" altLang="en-US" sz="1100" b="1">
                  <a:latin typeface="+mn-ea"/>
                  <a:cs typeface="Pretendard" panose="02000503000000020004" pitchFamily="50" charset="-127"/>
                </a:rPr>
                <a:t>조 목적</a:t>
              </a:r>
              <a:endParaRPr lang="en-US" altLang="ko-KR" sz="1100" b="1">
                <a:latin typeface="+mn-ea"/>
                <a:cs typeface="Pretendard" panose="02000503000000020004" pitchFamily="50" charset="-127"/>
              </a:endParaRPr>
            </a:p>
          </p:txBody>
        </p:sp>
        <p:cxnSp>
          <p:nvCxnSpPr>
            <p:cNvPr id="22" name="연결선: 꺾임 21">
              <a:extLst>
                <a:ext uri="{FF2B5EF4-FFF2-40B4-BE49-F238E27FC236}">
                  <a16:creationId xmlns:a16="http://schemas.microsoft.com/office/drawing/2014/main" id="{1B72492A-ADDB-6FCA-4B42-F33D83A2F748}"/>
                </a:ext>
              </a:extLst>
            </p:cNvPr>
            <p:cNvCxnSpPr>
              <a:cxnSpLocks/>
              <a:endCxn id="20" idx="1"/>
            </p:cNvCxnSpPr>
            <p:nvPr/>
          </p:nvCxnSpPr>
          <p:spPr>
            <a:xfrm rot="16200000" flipH="1">
              <a:off x="5275789" y="3607111"/>
              <a:ext cx="1100718" cy="219108"/>
            </a:xfrm>
            <a:prstGeom prst="bentConnector2">
              <a:avLst/>
            </a:prstGeom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연결선: 꺾임 22">
              <a:extLst>
                <a:ext uri="{FF2B5EF4-FFF2-40B4-BE49-F238E27FC236}">
                  <a16:creationId xmlns:a16="http://schemas.microsoft.com/office/drawing/2014/main" id="{876056A8-A8EE-66C3-E9A2-905E9E57A5ED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5452924" y="3394712"/>
              <a:ext cx="746450" cy="219105"/>
            </a:xfrm>
            <a:prstGeom prst="bentConnector2">
              <a:avLst/>
            </a:prstGeom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연결선: 꺾임 23">
              <a:extLst>
                <a:ext uri="{FF2B5EF4-FFF2-40B4-BE49-F238E27FC236}">
                  <a16:creationId xmlns:a16="http://schemas.microsoft.com/office/drawing/2014/main" id="{9B5C88AD-5DF7-C8A5-D369-D7353E55A766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5647691" y="3199945"/>
              <a:ext cx="356916" cy="219105"/>
            </a:xfrm>
            <a:prstGeom prst="bentConnector2">
              <a:avLst/>
            </a:prstGeom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52BAE269-5A81-A696-5B9A-1DDC05FEC2CA}"/>
                </a:ext>
              </a:extLst>
            </p:cNvPr>
            <p:cNvSpPr/>
            <p:nvPr/>
          </p:nvSpPr>
          <p:spPr>
            <a:xfrm>
              <a:off x="8567582" y="5378985"/>
              <a:ext cx="236220" cy="26733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endParaRPr lang="ko-KR" altLang="en-US">
                <a:latin typeface="+mn-ea"/>
              </a:endParaRPr>
            </a:p>
          </p:txBody>
        </p:sp>
        <p:sp>
          <p:nvSpPr>
            <p:cNvPr id="26" name="Rectangle: Rounded Corners 46">
              <a:extLst>
                <a:ext uri="{FF2B5EF4-FFF2-40B4-BE49-F238E27FC236}">
                  <a16:creationId xmlns:a16="http://schemas.microsoft.com/office/drawing/2014/main" id="{69FC4264-F001-364F-AD7E-18D2912C2034}"/>
                </a:ext>
              </a:extLst>
            </p:cNvPr>
            <p:cNvSpPr/>
            <p:nvPr/>
          </p:nvSpPr>
          <p:spPr>
            <a:xfrm>
              <a:off x="8904797" y="5474559"/>
              <a:ext cx="2250795" cy="319072"/>
            </a:xfrm>
            <a:prstGeom prst="roundRect">
              <a:avLst>
                <a:gd name="adj" fmla="val 11418"/>
              </a:avLst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txBody>
            <a:bodyPr spcFirstLastPara="1" wrap="square" lIns="108000" tIns="0" rIns="0" bIns="0" anchor="ctr" anchorCtr="0">
              <a:noAutofit/>
            </a:bodyPr>
            <a:lstStyle/>
            <a:p>
              <a:pPr defTabSz="914446">
                <a:buClr>
                  <a:srgbClr val="FFFFFF"/>
                </a:buClr>
                <a:buSzPts val="1100"/>
              </a:pPr>
              <a:r>
                <a:rPr lang="ko-KR" altLang="en-US" sz="1100" b="1">
                  <a:latin typeface="+mn-ea"/>
                  <a:cs typeface="Pretendard" panose="02000503000000020004" pitchFamily="50" charset="-127"/>
                </a:rPr>
                <a:t>제</a:t>
              </a:r>
              <a:r>
                <a:rPr lang="en-US" altLang="ko-KR" sz="1100" b="1">
                  <a:latin typeface="+mn-ea"/>
                  <a:cs typeface="Pretendard" panose="02000503000000020004" pitchFamily="50" charset="-127"/>
                </a:rPr>
                <a:t>15</a:t>
              </a:r>
              <a:r>
                <a:rPr lang="ko-KR" altLang="en-US" sz="1100" b="1">
                  <a:latin typeface="+mn-ea"/>
                  <a:cs typeface="Pretendard" panose="02000503000000020004" pitchFamily="50" charset="-127"/>
                </a:rPr>
                <a:t>조 위험 수준별 준수사항</a:t>
              </a:r>
              <a:endParaRPr lang="en-US" altLang="ko-KR" sz="1100" b="1">
                <a:latin typeface="+mn-ea"/>
                <a:cs typeface="Pretendard" panose="02000503000000020004" pitchFamily="50" charset="-127"/>
              </a:endParaRPr>
            </a:p>
          </p:txBody>
        </p:sp>
        <p:sp>
          <p:nvSpPr>
            <p:cNvPr id="27" name="Rectangle: Rounded Corners 46">
              <a:extLst>
                <a:ext uri="{FF2B5EF4-FFF2-40B4-BE49-F238E27FC236}">
                  <a16:creationId xmlns:a16="http://schemas.microsoft.com/office/drawing/2014/main" id="{393FAEC8-7318-A14A-4E2A-E61CCB281E46}"/>
                </a:ext>
              </a:extLst>
            </p:cNvPr>
            <p:cNvSpPr/>
            <p:nvPr/>
          </p:nvSpPr>
          <p:spPr>
            <a:xfrm>
              <a:off x="8904797" y="5085025"/>
              <a:ext cx="2250795" cy="319072"/>
            </a:xfrm>
            <a:prstGeom prst="roundRect">
              <a:avLst>
                <a:gd name="adj" fmla="val 11418"/>
              </a:avLst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txBody>
            <a:bodyPr spcFirstLastPara="1" wrap="square" lIns="108000" tIns="0" rIns="0" bIns="0" anchor="ctr" anchorCtr="0">
              <a:noAutofit/>
            </a:bodyPr>
            <a:lstStyle/>
            <a:p>
              <a:pPr defTabSz="914446">
                <a:buClr>
                  <a:srgbClr val="FFFFFF"/>
                </a:buClr>
                <a:buSzPts val="1100"/>
              </a:pPr>
              <a:r>
                <a:rPr lang="ko-KR" altLang="en-US" sz="1100" b="1">
                  <a:latin typeface="+mn-ea"/>
                  <a:cs typeface="Pretendard" panose="02000503000000020004" pitchFamily="50" charset="-127"/>
                </a:rPr>
                <a:t>제</a:t>
              </a:r>
              <a:r>
                <a:rPr lang="en-US" altLang="ko-KR" sz="1100" b="1">
                  <a:latin typeface="+mn-ea"/>
                  <a:cs typeface="Pretendard" panose="02000503000000020004" pitchFamily="50" charset="-127"/>
                </a:rPr>
                <a:t>14</a:t>
              </a:r>
              <a:r>
                <a:rPr lang="ko-KR" altLang="en-US" sz="1100" b="1">
                  <a:latin typeface="+mn-ea"/>
                  <a:cs typeface="Pretendard" panose="02000503000000020004" pitchFamily="50" charset="-127"/>
                </a:rPr>
                <a:t>조 개발</a:t>
              </a:r>
              <a:r>
                <a:rPr lang="en-US" altLang="ko-KR" sz="1100" b="1">
                  <a:latin typeface="+mn-ea"/>
                  <a:cs typeface="Pretendard" panose="02000503000000020004" pitchFamily="50" charset="-127"/>
                </a:rPr>
                <a:t>·</a:t>
              </a:r>
              <a:r>
                <a:rPr lang="ko-KR" altLang="en-US" sz="1100" b="1">
                  <a:latin typeface="+mn-ea"/>
                  <a:cs typeface="Pretendard" panose="02000503000000020004" pitchFamily="50" charset="-127"/>
                </a:rPr>
                <a:t>운영 준수사항</a:t>
              </a:r>
              <a:endParaRPr lang="en-US" altLang="ko-KR" sz="1100" b="1">
                <a:latin typeface="+mn-ea"/>
                <a:cs typeface="Pretendard" panose="02000503000000020004" pitchFamily="50" charset="-127"/>
              </a:endParaRPr>
            </a:p>
          </p:txBody>
        </p:sp>
        <p:cxnSp>
          <p:nvCxnSpPr>
            <p:cNvPr id="28" name="연결선: 꺾임 27">
              <a:extLst>
                <a:ext uri="{FF2B5EF4-FFF2-40B4-BE49-F238E27FC236}">
                  <a16:creationId xmlns:a16="http://schemas.microsoft.com/office/drawing/2014/main" id="{D2D98747-02F9-02EF-997B-D22CA24908F6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8422019" y="5151317"/>
              <a:ext cx="746450" cy="219105"/>
            </a:xfrm>
            <a:prstGeom prst="bentConnector2">
              <a:avLst/>
            </a:prstGeom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연결선: 꺾임 28">
              <a:extLst>
                <a:ext uri="{FF2B5EF4-FFF2-40B4-BE49-F238E27FC236}">
                  <a16:creationId xmlns:a16="http://schemas.microsoft.com/office/drawing/2014/main" id="{2C9F529D-DA8A-4323-D6F8-2DBE876198B8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8616786" y="4956550"/>
              <a:ext cx="356916" cy="219105"/>
            </a:xfrm>
            <a:prstGeom prst="bentConnector2">
              <a:avLst/>
            </a:prstGeom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Rectangle: Rounded Corners 46">
              <a:extLst>
                <a:ext uri="{FF2B5EF4-FFF2-40B4-BE49-F238E27FC236}">
                  <a16:creationId xmlns:a16="http://schemas.microsoft.com/office/drawing/2014/main" id="{5C9681D7-B617-A384-B07D-547812429AD6}"/>
                </a:ext>
              </a:extLst>
            </p:cNvPr>
            <p:cNvSpPr/>
            <p:nvPr/>
          </p:nvSpPr>
          <p:spPr>
            <a:xfrm>
              <a:off x="8899558" y="3717953"/>
              <a:ext cx="2250795" cy="319072"/>
            </a:xfrm>
            <a:prstGeom prst="roundRect">
              <a:avLst>
                <a:gd name="adj" fmla="val 11418"/>
              </a:avLst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txBody>
            <a:bodyPr spcFirstLastPara="1" wrap="square" lIns="108000" tIns="0" rIns="0" bIns="0" anchor="ctr" anchorCtr="0">
              <a:noAutofit/>
            </a:bodyPr>
            <a:lstStyle/>
            <a:p>
              <a:pPr defTabSz="914446">
                <a:buClr>
                  <a:srgbClr val="FFFFFF"/>
                </a:buClr>
                <a:buSzPts val="1100"/>
              </a:pPr>
              <a:r>
                <a:rPr lang="ko-KR" altLang="en-US" sz="1100" b="1">
                  <a:latin typeface="+mn-ea"/>
                  <a:cs typeface="Pretendard" panose="02000503000000020004" pitchFamily="50" charset="-127"/>
                </a:rPr>
                <a:t>제</a:t>
              </a:r>
              <a:r>
                <a:rPr lang="en-US" altLang="ko-KR" sz="1100" b="1">
                  <a:latin typeface="+mn-ea"/>
                  <a:cs typeface="Pretendard" panose="02000503000000020004" pitchFamily="50" charset="-127"/>
                </a:rPr>
                <a:t>12</a:t>
              </a:r>
              <a:r>
                <a:rPr lang="ko-KR" altLang="en-US" sz="1100" b="1">
                  <a:latin typeface="+mn-ea"/>
                  <a:cs typeface="Pretendard" panose="02000503000000020004" pitchFamily="50" charset="-127"/>
                </a:rPr>
                <a:t>조 위험 수준 평가 결과</a:t>
              </a:r>
              <a:endParaRPr lang="en-US" altLang="ko-KR" sz="1100" b="1">
                <a:latin typeface="+mn-ea"/>
                <a:cs typeface="Pretendard" panose="02000503000000020004" pitchFamily="50" charset="-127"/>
              </a:endParaRPr>
            </a:p>
          </p:txBody>
        </p:sp>
        <p:sp>
          <p:nvSpPr>
            <p:cNvPr id="31" name="Rectangle: Rounded Corners 46">
              <a:extLst>
                <a:ext uri="{FF2B5EF4-FFF2-40B4-BE49-F238E27FC236}">
                  <a16:creationId xmlns:a16="http://schemas.microsoft.com/office/drawing/2014/main" id="{1D99D85C-BE17-2D06-33A7-3057BB4B2A63}"/>
                </a:ext>
              </a:extLst>
            </p:cNvPr>
            <p:cNvSpPr/>
            <p:nvPr/>
          </p:nvSpPr>
          <p:spPr>
            <a:xfrm>
              <a:off x="8899558" y="4107487"/>
              <a:ext cx="2250795" cy="319072"/>
            </a:xfrm>
            <a:prstGeom prst="roundRect">
              <a:avLst>
                <a:gd name="adj" fmla="val 11418"/>
              </a:avLst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txBody>
            <a:bodyPr spcFirstLastPara="1" wrap="square" lIns="108000" tIns="0" rIns="0" bIns="0" anchor="ctr" anchorCtr="0">
              <a:noAutofit/>
            </a:bodyPr>
            <a:lstStyle/>
            <a:p>
              <a:pPr defTabSz="914446">
                <a:buClr>
                  <a:srgbClr val="FFFFFF"/>
                </a:buClr>
                <a:buSzPts val="1100"/>
              </a:pPr>
              <a:r>
                <a:rPr lang="ko-KR" altLang="en-US" sz="1100" b="1">
                  <a:latin typeface="+mn-ea"/>
                  <a:cs typeface="Pretendard" panose="02000503000000020004" pitchFamily="50" charset="-127"/>
                </a:rPr>
                <a:t>제</a:t>
              </a:r>
              <a:r>
                <a:rPr lang="en-US" altLang="ko-KR" sz="1100" b="1">
                  <a:latin typeface="+mn-ea"/>
                  <a:cs typeface="Pretendard" panose="02000503000000020004" pitchFamily="50" charset="-127"/>
                </a:rPr>
                <a:t>13</a:t>
              </a:r>
              <a:r>
                <a:rPr lang="ko-KR" altLang="en-US" sz="1100" b="1">
                  <a:latin typeface="+mn-ea"/>
                  <a:cs typeface="Pretendard" panose="02000503000000020004" pitchFamily="50" charset="-127"/>
                </a:rPr>
                <a:t>조 고위험 </a:t>
              </a:r>
              <a:r>
                <a:rPr lang="en-US" altLang="ko-KR" sz="1100" b="1">
                  <a:latin typeface="+mn-ea"/>
                  <a:cs typeface="Pretendard" panose="02000503000000020004" pitchFamily="50" charset="-127"/>
                </a:rPr>
                <a:t>AI </a:t>
              </a:r>
              <a:r>
                <a:rPr lang="ko-KR" altLang="en-US" sz="1100" b="1">
                  <a:latin typeface="+mn-ea"/>
                  <a:cs typeface="Pretendard" panose="02000503000000020004" pitchFamily="50" charset="-127"/>
                </a:rPr>
                <a:t>서비스</a:t>
              </a:r>
              <a:br>
                <a:rPr lang="en-US" altLang="ko-KR" sz="1100" b="1">
                  <a:latin typeface="+mn-ea"/>
                  <a:cs typeface="Pretendard" panose="02000503000000020004" pitchFamily="50" charset="-127"/>
                </a:rPr>
              </a:br>
              <a:r>
                <a:rPr lang="en-US" altLang="ko-KR" sz="1100" b="1">
                  <a:latin typeface="+mn-ea"/>
                  <a:cs typeface="Pretendard" panose="02000503000000020004" pitchFamily="50" charset="-127"/>
                </a:rPr>
                <a:t>         </a:t>
              </a:r>
              <a:r>
                <a:rPr lang="ko-KR" altLang="en-US" sz="1100" b="1">
                  <a:latin typeface="+mn-ea"/>
                  <a:cs typeface="Pretendard" panose="02000503000000020004" pitchFamily="50" charset="-127"/>
                </a:rPr>
                <a:t> 내부통제</a:t>
              </a:r>
              <a:endParaRPr lang="en-US" altLang="ko-KR" sz="1100" b="1">
                <a:latin typeface="+mn-ea"/>
                <a:cs typeface="Pretendard" panose="02000503000000020004" pitchFamily="50" charset="-127"/>
              </a:endParaRPr>
            </a:p>
          </p:txBody>
        </p:sp>
        <p:sp>
          <p:nvSpPr>
            <p:cNvPr id="32" name="Rectangle: Rounded Corners 46">
              <a:extLst>
                <a:ext uri="{FF2B5EF4-FFF2-40B4-BE49-F238E27FC236}">
                  <a16:creationId xmlns:a16="http://schemas.microsoft.com/office/drawing/2014/main" id="{23F66D9D-A62B-C2F4-5E3A-5B5536A4EAC4}"/>
                </a:ext>
              </a:extLst>
            </p:cNvPr>
            <p:cNvSpPr/>
            <p:nvPr/>
          </p:nvSpPr>
          <p:spPr>
            <a:xfrm>
              <a:off x="8899558" y="3328419"/>
              <a:ext cx="2250795" cy="319072"/>
            </a:xfrm>
            <a:prstGeom prst="roundRect">
              <a:avLst>
                <a:gd name="adj" fmla="val 11418"/>
              </a:avLst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txBody>
            <a:bodyPr spcFirstLastPara="1" wrap="square" lIns="108000" tIns="0" rIns="0" bIns="0" anchor="ctr" anchorCtr="0">
              <a:noAutofit/>
            </a:bodyPr>
            <a:lstStyle/>
            <a:p>
              <a:pPr defTabSz="914446">
                <a:buClr>
                  <a:srgbClr val="FFFFFF"/>
                </a:buClr>
                <a:buSzPts val="1100"/>
              </a:pPr>
              <a:r>
                <a:rPr lang="ko-KR" altLang="en-US" sz="1100" b="1">
                  <a:latin typeface="+mn-ea"/>
                  <a:cs typeface="Pretendard" panose="02000503000000020004" pitchFamily="50" charset="-127"/>
                </a:rPr>
                <a:t>제</a:t>
              </a:r>
              <a:r>
                <a:rPr lang="en-US" altLang="ko-KR" sz="1100" b="1">
                  <a:latin typeface="+mn-ea"/>
                  <a:cs typeface="Pretendard" panose="02000503000000020004" pitchFamily="50" charset="-127"/>
                </a:rPr>
                <a:t>11</a:t>
              </a:r>
              <a:r>
                <a:rPr lang="ko-KR" altLang="en-US" sz="1100" b="1">
                  <a:latin typeface="+mn-ea"/>
                  <a:cs typeface="Pretendard" panose="02000503000000020004" pitchFamily="50" charset="-127"/>
                </a:rPr>
                <a:t>조 위험 수준 평가 기준</a:t>
              </a:r>
              <a:endParaRPr lang="en-US" altLang="ko-KR" sz="1100" b="1">
                <a:latin typeface="+mn-ea"/>
                <a:cs typeface="Pretendard" panose="02000503000000020004" pitchFamily="50" charset="-127"/>
              </a:endParaRPr>
            </a:p>
          </p:txBody>
        </p:sp>
        <p:cxnSp>
          <p:nvCxnSpPr>
            <p:cNvPr id="33" name="연결선: 꺾임 32">
              <a:extLst>
                <a:ext uri="{FF2B5EF4-FFF2-40B4-BE49-F238E27FC236}">
                  <a16:creationId xmlns:a16="http://schemas.microsoft.com/office/drawing/2014/main" id="{43917E58-938E-D644-C40E-31BB431E7622}"/>
                </a:ext>
              </a:extLst>
            </p:cNvPr>
            <p:cNvCxnSpPr>
              <a:cxnSpLocks/>
              <a:endCxn id="31" idx="1"/>
            </p:cNvCxnSpPr>
            <p:nvPr/>
          </p:nvCxnSpPr>
          <p:spPr>
            <a:xfrm rot="16200000" flipH="1">
              <a:off x="8239645" y="3607110"/>
              <a:ext cx="1100718" cy="219108"/>
            </a:xfrm>
            <a:prstGeom prst="bentConnector2">
              <a:avLst/>
            </a:prstGeom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연결선: 꺾임 33">
              <a:extLst>
                <a:ext uri="{FF2B5EF4-FFF2-40B4-BE49-F238E27FC236}">
                  <a16:creationId xmlns:a16="http://schemas.microsoft.com/office/drawing/2014/main" id="{ABCB5E63-D5A6-D8C3-981D-A505E0F475A0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8416780" y="3394711"/>
              <a:ext cx="746450" cy="219105"/>
            </a:xfrm>
            <a:prstGeom prst="bentConnector2">
              <a:avLst/>
            </a:prstGeom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연결선: 꺾임 34">
              <a:extLst>
                <a:ext uri="{FF2B5EF4-FFF2-40B4-BE49-F238E27FC236}">
                  <a16:creationId xmlns:a16="http://schemas.microsoft.com/office/drawing/2014/main" id="{A191BA32-8D50-951D-22C3-0147C763E876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8611547" y="3199944"/>
              <a:ext cx="356916" cy="219105"/>
            </a:xfrm>
            <a:prstGeom prst="bentConnector2">
              <a:avLst/>
            </a:prstGeom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Rectangle: Rounded Corners 46">
              <a:extLst>
                <a:ext uri="{FF2B5EF4-FFF2-40B4-BE49-F238E27FC236}">
                  <a16:creationId xmlns:a16="http://schemas.microsoft.com/office/drawing/2014/main" id="{BAFABD87-08C9-40AE-BA67-F1AC8AC177FE}"/>
                </a:ext>
              </a:extLst>
            </p:cNvPr>
            <p:cNvSpPr/>
            <p:nvPr/>
          </p:nvSpPr>
          <p:spPr>
            <a:xfrm>
              <a:off x="5944261" y="5474558"/>
              <a:ext cx="2250795" cy="319072"/>
            </a:xfrm>
            <a:prstGeom prst="roundRect">
              <a:avLst>
                <a:gd name="adj" fmla="val 11418"/>
              </a:avLst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txBody>
            <a:bodyPr spcFirstLastPara="1" wrap="square" lIns="108000" tIns="0" rIns="0" bIns="0" anchor="ctr" anchorCtr="0">
              <a:noAutofit/>
            </a:bodyPr>
            <a:lstStyle/>
            <a:p>
              <a:pPr defTabSz="914446">
                <a:buClr>
                  <a:srgbClr val="FFFFFF"/>
                </a:buClr>
                <a:buSzPts val="1100"/>
              </a:pPr>
              <a:r>
                <a:rPr lang="ko-KR" altLang="en-US" sz="1100" b="1">
                  <a:latin typeface="+mn-ea"/>
                  <a:cs typeface="Pretendard" panose="02000503000000020004" pitchFamily="50" charset="-127"/>
                </a:rPr>
                <a:t>제</a:t>
              </a:r>
              <a:r>
                <a:rPr lang="en-US" altLang="ko-KR" sz="1100" b="1">
                  <a:latin typeface="+mn-ea"/>
                  <a:cs typeface="Pretendard" panose="02000503000000020004" pitchFamily="50" charset="-127"/>
                </a:rPr>
                <a:t>9</a:t>
              </a:r>
              <a:r>
                <a:rPr lang="ko-KR" altLang="en-US" sz="1100" b="1">
                  <a:latin typeface="+mn-ea"/>
                  <a:cs typeface="Pretendard" panose="02000503000000020004" pitchFamily="50" charset="-127"/>
                </a:rPr>
                <a:t>조 수탁자 관리</a:t>
              </a:r>
              <a:endParaRPr lang="en-US" altLang="ko-KR" sz="1100" b="1">
                <a:latin typeface="+mn-ea"/>
                <a:cs typeface="Pretendard" panose="02000503000000020004" pitchFamily="50" charset="-127"/>
              </a:endParaRPr>
            </a:p>
          </p:txBody>
        </p:sp>
        <p:sp>
          <p:nvSpPr>
            <p:cNvPr id="37" name="Rectangle: Rounded Corners 46">
              <a:extLst>
                <a:ext uri="{FF2B5EF4-FFF2-40B4-BE49-F238E27FC236}">
                  <a16:creationId xmlns:a16="http://schemas.microsoft.com/office/drawing/2014/main" id="{F0DE05F3-8BA7-A706-23C5-C2665FB85899}"/>
                </a:ext>
              </a:extLst>
            </p:cNvPr>
            <p:cNvSpPr/>
            <p:nvPr/>
          </p:nvSpPr>
          <p:spPr>
            <a:xfrm>
              <a:off x="5944261" y="5864092"/>
              <a:ext cx="2250795" cy="319072"/>
            </a:xfrm>
            <a:prstGeom prst="roundRect">
              <a:avLst>
                <a:gd name="adj" fmla="val 11418"/>
              </a:avLst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txBody>
            <a:bodyPr spcFirstLastPara="1" wrap="square" lIns="108000" tIns="0" rIns="0" bIns="0" anchor="ctr" anchorCtr="0">
              <a:noAutofit/>
            </a:bodyPr>
            <a:lstStyle/>
            <a:p>
              <a:pPr defTabSz="914446">
                <a:buClr>
                  <a:srgbClr val="FFFFFF"/>
                </a:buClr>
                <a:buSzPts val="1100"/>
              </a:pPr>
              <a:r>
                <a:rPr lang="ko-KR" altLang="en-US" sz="1100" b="1">
                  <a:latin typeface="+mn-ea"/>
                  <a:cs typeface="Pretendard" panose="02000503000000020004" pitchFamily="50" charset="-127"/>
                </a:rPr>
                <a:t>제</a:t>
              </a:r>
              <a:r>
                <a:rPr lang="en-US" altLang="ko-KR" sz="1100" b="1">
                  <a:latin typeface="+mn-ea"/>
                  <a:cs typeface="Pretendard" panose="02000503000000020004" pitchFamily="50" charset="-127"/>
                </a:rPr>
                <a:t>10</a:t>
              </a:r>
              <a:r>
                <a:rPr lang="ko-KR" altLang="en-US" sz="1100" b="1">
                  <a:latin typeface="+mn-ea"/>
                  <a:cs typeface="Pretendard" panose="02000503000000020004" pitchFamily="50" charset="-127"/>
                </a:rPr>
                <a:t>조 관련 업무</a:t>
              </a:r>
              <a:endParaRPr lang="en-US" altLang="ko-KR" sz="1100" b="1">
                <a:latin typeface="+mn-ea"/>
                <a:cs typeface="Pretendard" panose="02000503000000020004" pitchFamily="50" charset="-127"/>
              </a:endParaRPr>
            </a:p>
          </p:txBody>
        </p:sp>
        <p:sp>
          <p:nvSpPr>
            <p:cNvPr id="38" name="Rectangle: Rounded Corners 46">
              <a:extLst>
                <a:ext uri="{FF2B5EF4-FFF2-40B4-BE49-F238E27FC236}">
                  <a16:creationId xmlns:a16="http://schemas.microsoft.com/office/drawing/2014/main" id="{50EAFE68-89E1-3B52-A63B-428F4B31D58A}"/>
                </a:ext>
              </a:extLst>
            </p:cNvPr>
            <p:cNvSpPr/>
            <p:nvPr/>
          </p:nvSpPr>
          <p:spPr>
            <a:xfrm>
              <a:off x="5944261" y="5085024"/>
              <a:ext cx="2250795" cy="319072"/>
            </a:xfrm>
            <a:prstGeom prst="roundRect">
              <a:avLst>
                <a:gd name="adj" fmla="val 11418"/>
              </a:avLst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</p:spPr>
          <p:txBody>
            <a:bodyPr spcFirstLastPara="1" wrap="square" lIns="108000" tIns="0" rIns="0" bIns="0" anchor="ctr" anchorCtr="0">
              <a:noAutofit/>
            </a:bodyPr>
            <a:lstStyle/>
            <a:p>
              <a:pPr defTabSz="914446">
                <a:buClr>
                  <a:srgbClr val="FFFFFF"/>
                </a:buClr>
                <a:buSzPts val="1100"/>
              </a:pPr>
              <a:r>
                <a:rPr lang="ko-KR" altLang="en-US" sz="1100" b="1">
                  <a:latin typeface="+mn-ea"/>
                  <a:cs typeface="Pretendard" panose="02000503000000020004" pitchFamily="50" charset="-127"/>
                </a:rPr>
                <a:t>제</a:t>
              </a:r>
              <a:r>
                <a:rPr lang="en-US" altLang="ko-KR" sz="1100" b="1">
                  <a:latin typeface="+mn-ea"/>
                  <a:cs typeface="Pretendard" panose="02000503000000020004" pitchFamily="50" charset="-127"/>
                </a:rPr>
                <a:t>4~8</a:t>
              </a:r>
              <a:r>
                <a:rPr lang="ko-KR" altLang="en-US" sz="1100" b="1">
                  <a:latin typeface="+mn-ea"/>
                  <a:cs typeface="Pretendard" panose="02000503000000020004" pitchFamily="50" charset="-127"/>
                </a:rPr>
                <a:t>조 </a:t>
              </a:r>
              <a:r>
                <a:rPr lang="en-US" altLang="ko-KR" sz="1100" b="1">
                  <a:latin typeface="+mn-ea"/>
                  <a:cs typeface="Pretendard" panose="02000503000000020004" pitchFamily="50" charset="-127"/>
                </a:rPr>
                <a:t>AI </a:t>
              </a:r>
              <a:r>
                <a:rPr lang="ko-KR" altLang="en-US" sz="1100" b="1">
                  <a:latin typeface="+mn-ea"/>
                  <a:cs typeface="Pretendard" panose="02000503000000020004" pitchFamily="50" charset="-127"/>
                </a:rPr>
                <a:t>거버넌스 조직</a:t>
              </a:r>
              <a:endParaRPr lang="en-US" altLang="ko-KR" sz="1100" b="1">
                <a:latin typeface="+mn-ea"/>
                <a:cs typeface="Pretendard" panose="02000503000000020004" pitchFamily="50" charset="-127"/>
              </a:endParaRPr>
            </a:p>
          </p:txBody>
        </p:sp>
        <p:cxnSp>
          <p:nvCxnSpPr>
            <p:cNvPr id="39" name="연결선: 꺾임 38">
              <a:extLst>
                <a:ext uri="{FF2B5EF4-FFF2-40B4-BE49-F238E27FC236}">
                  <a16:creationId xmlns:a16="http://schemas.microsoft.com/office/drawing/2014/main" id="{9D3EAAEF-2212-477F-7A9A-589206CA871D}"/>
                </a:ext>
              </a:extLst>
            </p:cNvPr>
            <p:cNvCxnSpPr>
              <a:cxnSpLocks/>
              <a:endCxn id="37" idx="1"/>
            </p:cNvCxnSpPr>
            <p:nvPr/>
          </p:nvCxnSpPr>
          <p:spPr>
            <a:xfrm rot="16200000" flipH="1">
              <a:off x="5284348" y="5363715"/>
              <a:ext cx="1100718" cy="219108"/>
            </a:xfrm>
            <a:prstGeom prst="bentConnector2">
              <a:avLst/>
            </a:prstGeom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연결선: 꺾임 39">
              <a:extLst>
                <a:ext uri="{FF2B5EF4-FFF2-40B4-BE49-F238E27FC236}">
                  <a16:creationId xmlns:a16="http://schemas.microsoft.com/office/drawing/2014/main" id="{587B2585-B847-DDA2-4F70-EBDD2457DE85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5461483" y="5151316"/>
              <a:ext cx="746450" cy="219105"/>
            </a:xfrm>
            <a:prstGeom prst="bentConnector2">
              <a:avLst/>
            </a:prstGeom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연결선: 꺾임 40">
              <a:extLst>
                <a:ext uri="{FF2B5EF4-FFF2-40B4-BE49-F238E27FC236}">
                  <a16:creationId xmlns:a16="http://schemas.microsoft.com/office/drawing/2014/main" id="{E89D256A-9541-0C13-FDB6-4E8C2696AD3C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5656250" y="4956549"/>
              <a:ext cx="356916" cy="219105"/>
            </a:xfrm>
            <a:prstGeom prst="bentConnector2">
              <a:avLst/>
            </a:prstGeom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Rectangle: Rounded Corners 46">
              <a:extLst>
                <a:ext uri="{FF2B5EF4-FFF2-40B4-BE49-F238E27FC236}">
                  <a16:creationId xmlns:a16="http://schemas.microsoft.com/office/drawing/2014/main" id="{790DB255-EC2B-DF03-EB4B-AEBEDC0FFF59}"/>
                </a:ext>
              </a:extLst>
            </p:cNvPr>
            <p:cNvSpPr/>
            <p:nvPr/>
          </p:nvSpPr>
          <p:spPr>
            <a:xfrm>
              <a:off x="8562342" y="5873945"/>
              <a:ext cx="2588011" cy="435067"/>
            </a:xfrm>
            <a:prstGeom prst="roundRect">
              <a:avLst>
                <a:gd name="adj" fmla="val 11418"/>
              </a:avLst>
            </a:prstGeom>
            <a:solidFill>
              <a:srgbClr val="043B72"/>
            </a:solidFill>
            <a:ln w="3175" cap="flat" cmpd="sng" algn="ctr">
              <a:noFill/>
              <a:prstDash val="solid"/>
            </a:ln>
            <a:effectLst/>
          </p:spPr>
          <p:txBody>
            <a:bodyPr wrap="square" lIns="0" tIns="0" rIns="0" bIns="0" rtlCol="0" anchor="ctr" anchorCtr="0"/>
            <a:lstStyle/>
            <a:p>
              <a:pPr algn="ctr" defTabSz="1042873" latinLnBrk="0">
                <a:defRPr/>
              </a:pPr>
              <a:r>
                <a:rPr lang="ko-KR" altLang="en-US" sz="1200" b="1" kern="0">
                  <a:ln>
                    <a:solidFill>
                      <a:srgbClr val="A5C249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+mn-ea"/>
                </a:rPr>
                <a:t>제</a:t>
              </a:r>
              <a:r>
                <a:rPr lang="en-US" altLang="ko-KR" sz="1200" b="1" kern="0">
                  <a:ln>
                    <a:solidFill>
                      <a:srgbClr val="A5C249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+mn-ea"/>
                </a:rPr>
                <a:t>5</a:t>
              </a:r>
              <a:r>
                <a:rPr lang="ko-KR" altLang="en-US" sz="1200" b="1" kern="0">
                  <a:ln>
                    <a:solidFill>
                      <a:srgbClr val="A5C249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+mn-ea"/>
                </a:rPr>
                <a:t>장</a:t>
              </a:r>
              <a:br>
                <a:rPr lang="en-US" altLang="ko-KR" sz="1200" b="1" kern="0">
                  <a:ln>
                    <a:solidFill>
                      <a:srgbClr val="A5C249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+mn-ea"/>
                </a:rPr>
              </a:br>
              <a:r>
                <a:rPr lang="en-US" altLang="ko-KR" sz="1200" b="1" kern="0">
                  <a:ln>
                    <a:solidFill>
                      <a:srgbClr val="A5C249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+mn-ea"/>
                </a:rPr>
                <a:t>AI </a:t>
              </a:r>
              <a:r>
                <a:rPr lang="ko-KR" altLang="en-US" sz="1200" b="1" kern="0">
                  <a:ln>
                    <a:solidFill>
                      <a:srgbClr val="A5C249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+mn-ea"/>
                </a:rPr>
                <a:t>거버넌스 교육</a:t>
              </a:r>
              <a:endPara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endParaRPr>
            </a:p>
          </p:txBody>
        </p:sp>
        <p:sp>
          <p:nvSpPr>
            <p:cNvPr id="43" name="Rectangle: Rounded Corners 46">
              <a:extLst>
                <a:ext uri="{FF2B5EF4-FFF2-40B4-BE49-F238E27FC236}">
                  <a16:creationId xmlns:a16="http://schemas.microsoft.com/office/drawing/2014/main" id="{580E44DC-3D5A-903F-34FD-D5A11FFD8F0A}"/>
                </a:ext>
              </a:extLst>
            </p:cNvPr>
            <p:cNvSpPr/>
            <p:nvPr/>
          </p:nvSpPr>
          <p:spPr>
            <a:xfrm>
              <a:off x="5598486" y="4518954"/>
              <a:ext cx="2588011" cy="435067"/>
            </a:xfrm>
            <a:prstGeom prst="roundRect">
              <a:avLst>
                <a:gd name="adj" fmla="val 11418"/>
              </a:avLst>
            </a:prstGeom>
            <a:solidFill>
              <a:srgbClr val="043B72"/>
            </a:solidFill>
            <a:ln w="3175" cap="flat" cmpd="sng" algn="ctr">
              <a:noFill/>
              <a:prstDash val="solid"/>
            </a:ln>
            <a:effectLst/>
          </p:spPr>
          <p:txBody>
            <a:bodyPr wrap="square" lIns="0" tIns="0" rIns="0" bIns="0" rtlCol="0" anchor="ctr" anchorCtr="0"/>
            <a:lstStyle/>
            <a:p>
              <a:pPr algn="ctr" defTabSz="1042873" latinLnBrk="0">
                <a:defRPr/>
              </a:pPr>
              <a:r>
                <a:rPr lang="ko-KR" altLang="en-US" sz="1200" b="1" kern="0">
                  <a:ln>
                    <a:solidFill>
                      <a:srgbClr val="A5C249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+mn-ea"/>
                </a:rPr>
                <a:t>제</a:t>
              </a:r>
              <a:r>
                <a:rPr lang="en-US" altLang="ko-KR" sz="1200" b="1" kern="0">
                  <a:ln>
                    <a:solidFill>
                      <a:srgbClr val="A5C249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+mn-ea"/>
                </a:rPr>
                <a:t>2</a:t>
              </a:r>
              <a:r>
                <a:rPr lang="ko-KR" altLang="en-US" sz="1200" b="1" kern="0">
                  <a:ln>
                    <a:solidFill>
                      <a:srgbClr val="A5C249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+mn-ea"/>
                </a:rPr>
                <a:t>장</a:t>
              </a:r>
              <a:br>
                <a:rPr lang="en-US" altLang="ko-KR" sz="1200" b="1" kern="0">
                  <a:ln>
                    <a:solidFill>
                      <a:srgbClr val="A5C249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+mn-ea"/>
                </a:rPr>
              </a:br>
              <a:r>
                <a:rPr lang="en-US" altLang="ko-KR" sz="1200" b="1" kern="0">
                  <a:ln>
                    <a:solidFill>
                      <a:srgbClr val="A5C249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+mn-ea"/>
                </a:rPr>
                <a:t>AI </a:t>
              </a:r>
              <a:r>
                <a:rPr lang="ko-KR" altLang="en-US" sz="1200" b="1" kern="0">
                  <a:ln>
                    <a:solidFill>
                      <a:srgbClr val="A5C249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+mn-ea"/>
                </a:rPr>
                <a:t>거버넌스 관리체계</a:t>
              </a:r>
              <a:endPara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endParaRPr>
            </a:p>
          </p:txBody>
        </p:sp>
        <p:sp>
          <p:nvSpPr>
            <p:cNvPr id="44" name="Rectangle: Rounded Corners 46">
              <a:extLst>
                <a:ext uri="{FF2B5EF4-FFF2-40B4-BE49-F238E27FC236}">
                  <a16:creationId xmlns:a16="http://schemas.microsoft.com/office/drawing/2014/main" id="{E37B4C0A-9F5B-221E-780D-B66FA4871D3D}"/>
                </a:ext>
              </a:extLst>
            </p:cNvPr>
            <p:cNvSpPr/>
            <p:nvPr/>
          </p:nvSpPr>
          <p:spPr>
            <a:xfrm>
              <a:off x="8567583" y="4518954"/>
              <a:ext cx="2588011" cy="435067"/>
            </a:xfrm>
            <a:prstGeom prst="roundRect">
              <a:avLst>
                <a:gd name="adj" fmla="val 11418"/>
              </a:avLst>
            </a:prstGeom>
            <a:solidFill>
              <a:srgbClr val="043B72"/>
            </a:solidFill>
            <a:ln w="3175" cap="flat" cmpd="sng" algn="ctr">
              <a:noFill/>
              <a:prstDash val="solid"/>
            </a:ln>
            <a:effectLst/>
          </p:spPr>
          <p:txBody>
            <a:bodyPr wrap="square" lIns="0" tIns="0" rIns="0" bIns="0" rtlCol="0" anchor="ctr" anchorCtr="0"/>
            <a:lstStyle/>
            <a:p>
              <a:pPr algn="ctr" defTabSz="1042873" latinLnBrk="0">
                <a:defRPr/>
              </a:pPr>
              <a:r>
                <a:rPr lang="ko-KR" altLang="en-US" sz="1200" b="1" kern="0">
                  <a:ln>
                    <a:solidFill>
                      <a:srgbClr val="A5C249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+mn-ea"/>
                </a:rPr>
                <a:t>제</a:t>
              </a:r>
              <a:r>
                <a:rPr lang="en-US" altLang="ko-KR" sz="1200" b="1" kern="0">
                  <a:ln>
                    <a:solidFill>
                      <a:srgbClr val="A5C249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+mn-ea"/>
                </a:rPr>
                <a:t>4</a:t>
              </a:r>
              <a:r>
                <a:rPr lang="ko-KR" altLang="en-US" sz="1200" b="1" kern="0">
                  <a:ln>
                    <a:solidFill>
                      <a:srgbClr val="A5C249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+mn-ea"/>
                </a:rPr>
                <a:t>장</a:t>
              </a:r>
              <a:br>
                <a:rPr lang="en-US" altLang="ko-KR" sz="1200" b="1" kern="0">
                  <a:ln>
                    <a:solidFill>
                      <a:srgbClr val="A5C249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+mn-ea"/>
                </a:rPr>
              </a:br>
              <a:r>
                <a:rPr lang="ko-KR" altLang="en-US" sz="1200" b="1" kern="0">
                  <a:ln>
                    <a:solidFill>
                      <a:srgbClr val="A5C249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+mn-ea"/>
                </a:rPr>
                <a:t>개발</a:t>
              </a:r>
              <a:r>
                <a:rPr lang="en-US" altLang="ko-KR" sz="1200" b="1" kern="0">
                  <a:ln>
                    <a:solidFill>
                      <a:srgbClr val="A5C249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+mn-ea"/>
                </a:rPr>
                <a:t>·</a:t>
              </a:r>
              <a:r>
                <a:rPr lang="ko-KR" altLang="en-US" sz="1200" b="1" kern="0">
                  <a:ln>
                    <a:solidFill>
                      <a:srgbClr val="A5C249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+mn-ea"/>
                </a:rPr>
                <a:t>운영 준수사항</a:t>
              </a:r>
              <a:endPara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endParaRPr>
            </a:p>
          </p:txBody>
        </p:sp>
        <p:sp>
          <p:nvSpPr>
            <p:cNvPr id="45" name="Rectangle: Rounded Corners 46">
              <a:extLst>
                <a:ext uri="{FF2B5EF4-FFF2-40B4-BE49-F238E27FC236}">
                  <a16:creationId xmlns:a16="http://schemas.microsoft.com/office/drawing/2014/main" id="{A23BC93B-09AF-D47A-C01C-587E6C8424DB}"/>
                </a:ext>
              </a:extLst>
            </p:cNvPr>
            <p:cNvSpPr/>
            <p:nvPr/>
          </p:nvSpPr>
          <p:spPr>
            <a:xfrm>
              <a:off x="8562342" y="2830677"/>
              <a:ext cx="2588011" cy="435067"/>
            </a:xfrm>
            <a:prstGeom prst="roundRect">
              <a:avLst>
                <a:gd name="adj" fmla="val 11418"/>
              </a:avLst>
            </a:prstGeom>
            <a:solidFill>
              <a:srgbClr val="043B72"/>
            </a:solidFill>
            <a:ln w="3175" cap="flat" cmpd="sng" algn="ctr">
              <a:noFill/>
              <a:prstDash val="solid"/>
            </a:ln>
            <a:effectLst/>
          </p:spPr>
          <p:txBody>
            <a:bodyPr wrap="square" lIns="0" tIns="0" rIns="0" bIns="0" rtlCol="0" anchor="ctr" anchorCtr="0"/>
            <a:lstStyle/>
            <a:p>
              <a:pPr algn="ctr" defTabSz="1042873" latinLnBrk="0">
                <a:defRPr/>
              </a:pPr>
              <a:r>
                <a:rPr lang="ko-KR" altLang="en-US" sz="1200" b="1" kern="0">
                  <a:ln>
                    <a:solidFill>
                      <a:srgbClr val="A5C249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+mn-ea"/>
                </a:rPr>
                <a:t>제</a:t>
              </a:r>
              <a:r>
                <a:rPr lang="en-US" altLang="ko-KR" sz="1200" b="1" kern="0">
                  <a:ln>
                    <a:solidFill>
                      <a:srgbClr val="A5C249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+mn-ea"/>
                </a:rPr>
                <a:t>3</a:t>
              </a:r>
              <a:r>
                <a:rPr lang="ko-KR" altLang="en-US" sz="1200" b="1" kern="0">
                  <a:ln>
                    <a:solidFill>
                      <a:srgbClr val="A5C249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+mn-ea"/>
                </a:rPr>
                <a:t>장 </a:t>
              </a:r>
              <a:br>
                <a:rPr lang="en-US" altLang="ko-KR" sz="1200" b="1" kern="0">
                  <a:ln>
                    <a:solidFill>
                      <a:srgbClr val="A5C249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+mn-ea"/>
                </a:rPr>
              </a:br>
              <a:r>
                <a:rPr lang="ko-KR" altLang="en-US" sz="1200" b="1" kern="0">
                  <a:ln>
                    <a:solidFill>
                      <a:srgbClr val="A5C249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+mn-ea"/>
                </a:rPr>
                <a:t>위험 수준 평가</a:t>
              </a:r>
              <a:endPara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endParaRPr>
            </a:p>
          </p:txBody>
        </p:sp>
        <p:sp>
          <p:nvSpPr>
            <p:cNvPr id="46" name="Rectangle: Rounded Corners 46">
              <a:extLst>
                <a:ext uri="{FF2B5EF4-FFF2-40B4-BE49-F238E27FC236}">
                  <a16:creationId xmlns:a16="http://schemas.microsoft.com/office/drawing/2014/main" id="{315A4859-934A-08E8-222A-7B363DD84081}"/>
                </a:ext>
              </a:extLst>
            </p:cNvPr>
            <p:cNvSpPr/>
            <p:nvPr/>
          </p:nvSpPr>
          <p:spPr>
            <a:xfrm>
              <a:off x="5598487" y="2830678"/>
              <a:ext cx="2588011" cy="435067"/>
            </a:xfrm>
            <a:prstGeom prst="roundRect">
              <a:avLst>
                <a:gd name="adj" fmla="val 11418"/>
              </a:avLst>
            </a:prstGeom>
            <a:solidFill>
              <a:srgbClr val="043B72"/>
            </a:solidFill>
            <a:ln w="3175" cap="flat" cmpd="sng" algn="ctr">
              <a:noFill/>
              <a:prstDash val="solid"/>
            </a:ln>
            <a:effectLst/>
          </p:spPr>
          <p:txBody>
            <a:bodyPr wrap="square" lIns="0" tIns="0" rIns="0" bIns="0" rtlCol="0" anchor="ctr" anchorCtr="0"/>
            <a:lstStyle/>
            <a:p>
              <a:pPr marL="0" marR="0" lvl="0" indent="0" algn="ctr" defTabSz="10428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0" cap="none" spc="0" normalizeH="0" baseline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제</a:t>
              </a:r>
              <a:r>
                <a:rPr kumimoji="0" lang="en-US" altLang="ko-KR" sz="1200" b="1" i="0" u="none" strike="noStrike" kern="0" cap="none" spc="0" normalizeH="0" baseline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1</a:t>
              </a:r>
              <a:r>
                <a:rPr kumimoji="0" lang="ko-KR" altLang="en-US" sz="1200" b="1" i="0" u="none" strike="noStrike" kern="0" cap="none" spc="0" normalizeH="0" baseline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장</a:t>
              </a:r>
              <a:br>
                <a:rPr kumimoji="0" lang="en-US" altLang="ko-KR" sz="1200" b="1" i="0" u="none" strike="noStrike" kern="0" cap="none" spc="0" normalizeH="0" baseline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</a:br>
              <a:r>
                <a:rPr kumimoji="0" lang="ko-KR" altLang="en-US" sz="1200" b="1" i="0" u="none" strike="noStrike" kern="0" cap="none" spc="0" normalizeH="0" baseline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총칙</a:t>
              </a:r>
              <a:endParaRPr kumimoji="0" lang="en-US" altLang="ko-KR" sz="1200" b="1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Pretendard SemiBold" panose="02000703000000020004" pitchFamily="50" charset="-127"/>
              </a:endParaRPr>
            </a:p>
          </p:txBody>
        </p:sp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01C0DA1D-3AD8-F7FD-2D13-DCB5E6E865D1}"/>
                </a:ext>
              </a:extLst>
            </p:cNvPr>
            <p:cNvSpPr/>
            <p:nvPr/>
          </p:nvSpPr>
          <p:spPr>
            <a:xfrm>
              <a:off x="522288" y="2366642"/>
              <a:ext cx="1204912" cy="836708"/>
            </a:xfrm>
            <a:prstGeom prst="roundRect">
              <a:avLst>
                <a:gd name="adj" fmla="val 11418"/>
              </a:avLst>
            </a:prstGeom>
            <a:solidFill>
              <a:srgbClr val="F4B183"/>
            </a:solidFill>
            <a:ln>
              <a:solidFill>
                <a:schemeClr val="bg1"/>
              </a:solidFill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9144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Tx/>
                <a:buNone/>
                <a:tabLst/>
                <a:defRPr/>
              </a:pPr>
              <a:r>
                <a:rPr kumimoji="0" lang="ko-KR" altLang="en-US" sz="1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+mn-ea"/>
                  <a:cs typeface="Pretendard" panose="02000503000000020004" pitchFamily="50" charset="-127"/>
                </a:rPr>
                <a:t>목적</a:t>
              </a:r>
              <a:endParaRPr kumimoji="0" lang="en-US" altLang="ko-KR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cs typeface="Pretendard" panose="02000503000000020004" pitchFamily="50" charset="-127"/>
              </a:endParaRPr>
            </a:p>
          </p:txBody>
        </p:sp>
        <p:sp>
          <p:nvSpPr>
            <p:cNvPr id="48" name="Rectangle: Rounded Corners 46">
              <a:extLst>
                <a:ext uri="{FF2B5EF4-FFF2-40B4-BE49-F238E27FC236}">
                  <a16:creationId xmlns:a16="http://schemas.microsoft.com/office/drawing/2014/main" id="{FFF1E66F-918C-7B74-A45D-005110794B26}"/>
                </a:ext>
              </a:extLst>
            </p:cNvPr>
            <p:cNvSpPr/>
            <p:nvPr/>
          </p:nvSpPr>
          <p:spPr>
            <a:xfrm>
              <a:off x="522289" y="3324736"/>
              <a:ext cx="1204912" cy="2547258"/>
            </a:xfrm>
            <a:prstGeom prst="roundRect">
              <a:avLst>
                <a:gd name="adj" fmla="val 6675"/>
              </a:avLst>
            </a:prstGeom>
            <a:solidFill>
              <a:srgbClr val="F4B183"/>
            </a:solidFill>
            <a:ln>
              <a:solidFill>
                <a:schemeClr val="bg1"/>
              </a:solidFill>
            </a:ln>
          </p:spPr>
          <p:txBody>
            <a:bodyPr spcFirstLastPara="1" wrap="square" lIns="0" tIns="0" rIns="504000" bIns="0" anchor="ctr" anchorCtr="0">
              <a:noAutofit/>
            </a:bodyPr>
            <a:lstStyle/>
            <a:p>
              <a:pPr marL="0" marR="0" lvl="0" indent="0" algn="ctr" defTabSz="9144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Tx/>
                <a:buNone/>
                <a:tabLst/>
                <a:defRPr/>
              </a:pPr>
              <a:r>
                <a:rPr kumimoji="0" lang="ko-KR" altLang="en-US" sz="1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+mn-ea"/>
                  <a:cs typeface="Pretendard" panose="02000503000000020004" pitchFamily="50" charset="-127"/>
                </a:rPr>
                <a:t>주요 </a:t>
              </a:r>
              <a:endParaRPr kumimoji="0" lang="en-US" altLang="ko-KR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cs typeface="Pretendard" panose="02000503000000020004" pitchFamily="50" charset="-127"/>
              </a:endParaRPr>
            </a:p>
            <a:p>
              <a:pPr marL="0" marR="0" lvl="0" indent="0" algn="ctr" defTabSz="9144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Tx/>
                <a:buNone/>
                <a:tabLst/>
                <a:defRPr/>
              </a:pPr>
              <a:r>
                <a:rPr kumimoji="0" lang="ko-KR" altLang="en-US" sz="1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+mn-ea"/>
                  <a:cs typeface="Pretendard" panose="02000503000000020004" pitchFamily="50" charset="-127"/>
                </a:rPr>
                <a:t>내용</a:t>
              </a:r>
              <a:endParaRPr kumimoji="0" lang="en-US" altLang="ko-KR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cs typeface="Pretendard" panose="02000503000000020004" pitchFamily="50" charset="-127"/>
              </a:endParaRPr>
            </a:p>
            <a:p>
              <a:pPr marL="0" marR="0" lvl="0" indent="0" algn="ctr" defTabSz="9144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+mn-ea"/>
                  <a:cs typeface="Pretendard" panose="02000503000000020004" pitchFamily="50" charset="-127"/>
                </a:rPr>
                <a:t>(</a:t>
              </a:r>
              <a:r>
                <a:rPr kumimoji="0" lang="ko-KR" altLang="en-US" sz="9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+mn-ea"/>
                  <a:cs typeface="Pretendard" panose="02000503000000020004" pitchFamily="50" charset="-127"/>
                </a:rPr>
                <a:t>문서 목차</a:t>
              </a:r>
              <a:r>
                <a:rPr kumimoji="0" lang="en-US" altLang="ko-KR" sz="9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+mn-ea"/>
                  <a:cs typeface="Pretendard" panose="02000503000000020004" pitchFamily="50" charset="-127"/>
                </a:rPr>
                <a:t>*)</a:t>
              </a:r>
            </a:p>
          </p:txBody>
        </p:sp>
        <p:sp>
          <p:nvSpPr>
            <p:cNvPr id="49" name="Rectangle: Rounded Corners 46">
              <a:extLst>
                <a:ext uri="{FF2B5EF4-FFF2-40B4-BE49-F238E27FC236}">
                  <a16:creationId xmlns:a16="http://schemas.microsoft.com/office/drawing/2014/main" id="{F8993FDC-F0BB-2C25-48C7-EF732FF516C5}"/>
                </a:ext>
              </a:extLst>
            </p:cNvPr>
            <p:cNvSpPr/>
            <p:nvPr/>
          </p:nvSpPr>
          <p:spPr>
            <a:xfrm>
              <a:off x="522289" y="5917437"/>
              <a:ext cx="1204912" cy="494109"/>
            </a:xfrm>
            <a:prstGeom prst="roundRect">
              <a:avLst>
                <a:gd name="adj" fmla="val 22435"/>
              </a:avLst>
            </a:prstGeom>
            <a:solidFill>
              <a:srgbClr val="F4B183"/>
            </a:solidFill>
            <a:ln>
              <a:solidFill>
                <a:schemeClr val="bg1"/>
              </a:solidFill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9144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Tx/>
                <a:buNone/>
                <a:tabLst/>
                <a:defRPr/>
              </a:pPr>
              <a:r>
                <a:rPr kumimoji="0" lang="ko-KR" altLang="en-US" sz="1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+mn-ea"/>
                  <a:cs typeface="Pretendard" panose="02000503000000020004" pitchFamily="50" charset="-127"/>
                </a:rPr>
                <a:t>사용자</a:t>
              </a:r>
              <a:endParaRPr kumimoji="0" lang="en-US" altLang="ko-KR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cs typeface="Pretendard" panose="02000503000000020004" pitchFamily="50" charset="-127"/>
              </a:endParaRPr>
            </a:p>
          </p:txBody>
        </p:sp>
        <p:sp>
          <p:nvSpPr>
            <p:cNvPr id="50" name="Rectangle: Rounded Corners 46">
              <a:extLst>
                <a:ext uri="{FF2B5EF4-FFF2-40B4-BE49-F238E27FC236}">
                  <a16:creationId xmlns:a16="http://schemas.microsoft.com/office/drawing/2014/main" id="{23DA59BA-6FED-AD49-5CE6-BFEB2473DF70}"/>
                </a:ext>
              </a:extLst>
            </p:cNvPr>
            <p:cNvSpPr/>
            <p:nvPr/>
          </p:nvSpPr>
          <p:spPr>
            <a:xfrm>
              <a:off x="1228725" y="3426270"/>
              <a:ext cx="582110" cy="540556"/>
            </a:xfrm>
            <a:prstGeom prst="roundRect">
              <a:avLst>
                <a:gd name="adj" fmla="val 11418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12700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wrap="square" lIns="0" tIns="0" rIns="0" bIns="0" rtlCol="0" anchor="ctr" anchorCtr="0"/>
            <a:lstStyle/>
            <a:p>
              <a:pPr algn="ctr" defTabSz="1042873"/>
              <a:r>
                <a:rPr lang="ko-KR" altLang="en-US" sz="1200" b="1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원칙</a:t>
              </a:r>
              <a:r>
                <a:rPr lang="en-US" altLang="ko-KR" sz="1200" b="1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/</a:t>
              </a:r>
            </a:p>
            <a:p>
              <a:pPr algn="ctr" defTabSz="1042873"/>
              <a:r>
                <a:rPr lang="ko-KR" altLang="en-US" sz="1200" b="1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기준</a:t>
              </a:r>
              <a:endPara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endParaRPr>
            </a:p>
          </p:txBody>
        </p:sp>
        <p:sp>
          <p:nvSpPr>
            <p:cNvPr id="51" name="Rectangle: Rounded Corners 46">
              <a:extLst>
                <a:ext uri="{FF2B5EF4-FFF2-40B4-BE49-F238E27FC236}">
                  <a16:creationId xmlns:a16="http://schemas.microsoft.com/office/drawing/2014/main" id="{B89D2DD0-3D90-1EB0-3C5B-5C34F5924297}"/>
                </a:ext>
              </a:extLst>
            </p:cNvPr>
            <p:cNvSpPr/>
            <p:nvPr/>
          </p:nvSpPr>
          <p:spPr>
            <a:xfrm>
              <a:off x="1228725" y="4031853"/>
              <a:ext cx="582110" cy="540556"/>
            </a:xfrm>
            <a:prstGeom prst="roundRect">
              <a:avLst>
                <a:gd name="adj" fmla="val 11418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12700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wrap="square" lIns="0" tIns="0" rIns="0" bIns="0" rtlCol="0" anchor="ctr" anchorCtr="0"/>
            <a:lstStyle/>
            <a:p>
              <a:pPr algn="ctr" defTabSz="1042873"/>
              <a:r>
                <a:rPr lang="ko-KR" altLang="en-US" sz="1200" b="1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조직</a:t>
              </a:r>
              <a:endPara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endParaRPr>
            </a:p>
          </p:txBody>
        </p:sp>
        <p:sp>
          <p:nvSpPr>
            <p:cNvPr id="52" name="Rectangle: Rounded Corners 46">
              <a:extLst>
                <a:ext uri="{FF2B5EF4-FFF2-40B4-BE49-F238E27FC236}">
                  <a16:creationId xmlns:a16="http://schemas.microsoft.com/office/drawing/2014/main" id="{3A53B256-9A58-47E2-44F6-F7A4DE01411C}"/>
                </a:ext>
              </a:extLst>
            </p:cNvPr>
            <p:cNvSpPr/>
            <p:nvPr/>
          </p:nvSpPr>
          <p:spPr>
            <a:xfrm>
              <a:off x="1228725" y="4637436"/>
              <a:ext cx="582110" cy="1177946"/>
            </a:xfrm>
            <a:prstGeom prst="roundRect">
              <a:avLst>
                <a:gd name="adj" fmla="val 11418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12700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wrap="square" lIns="0" tIns="0" rIns="0" bIns="0" rtlCol="0" anchor="ctr" anchorCtr="0"/>
            <a:lstStyle/>
            <a:p>
              <a:pPr algn="ctr" defTabSz="1042873"/>
              <a:r>
                <a:rPr lang="ko-KR" altLang="en-US" sz="1200" b="1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개발</a:t>
              </a:r>
              <a:r>
                <a:rPr lang="en-US" altLang="ko-KR" sz="1200" b="1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·</a:t>
              </a:r>
              <a:br>
                <a:rPr lang="en-US" altLang="ko-KR" sz="1200" b="1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</a:br>
              <a:r>
                <a:rPr lang="ko-KR" altLang="en-US" sz="1200" b="1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운영 관리 체계</a:t>
              </a:r>
              <a:endPara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33420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90A91A88-1E58-7D96-2524-ABBA7E91FB3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C559CBA-84F3-21C1-2F24-8AE6D16312C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[Back-up] </a:t>
            </a:r>
            <a:r>
              <a:rPr lang="ko-KR" altLang="en-US"/>
              <a:t>타사 </a:t>
            </a:r>
            <a:r>
              <a:rPr lang="en-US" altLang="ko-KR"/>
              <a:t>AI</a:t>
            </a:r>
            <a:r>
              <a:rPr lang="ko-KR" altLang="en-US"/>
              <a:t>거버넌스 주요 내용</a:t>
            </a:r>
            <a:r>
              <a:rPr lang="en-US" altLang="ko-KR"/>
              <a:t>_N</a:t>
            </a:r>
            <a:r>
              <a:rPr lang="ko-KR" altLang="en-US"/>
              <a:t>은행 </a:t>
            </a:r>
            <a:r>
              <a:rPr lang="en-US" altLang="ko-KR"/>
              <a:t>(3/3)</a:t>
            </a:r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66341BD-8BFB-5352-1D67-E3B40323C70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/>
              <a:t>N</a:t>
            </a:r>
            <a:r>
              <a:rPr lang="ko-KR" altLang="en-US"/>
              <a:t>은행 </a:t>
            </a:r>
            <a:r>
              <a:rPr lang="en-US" altLang="ko-KR"/>
              <a:t>AI </a:t>
            </a:r>
            <a:r>
              <a:rPr lang="ko-KR" altLang="en-US"/>
              <a:t>거버넌스 업무방법의 주요 내용은 다음과 같음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7D98DC2F-A732-BE04-D6F4-4D6E6FB0521C}"/>
              </a:ext>
            </a:extLst>
          </p:cNvPr>
          <p:cNvGrpSpPr/>
          <p:nvPr/>
        </p:nvGrpSpPr>
        <p:grpSpPr>
          <a:xfrm>
            <a:off x="407987" y="1341439"/>
            <a:ext cx="11376025" cy="5111750"/>
            <a:chOff x="407987" y="1917701"/>
            <a:chExt cx="11376025" cy="4595901"/>
          </a:xfrm>
        </p:grpSpPr>
        <p:sp>
          <p:nvSpPr>
            <p:cNvPr id="6" name="사각형: 둥근 모서리 20">
              <a:extLst>
                <a:ext uri="{FF2B5EF4-FFF2-40B4-BE49-F238E27FC236}">
                  <a16:creationId xmlns:a16="http://schemas.microsoft.com/office/drawing/2014/main" id="{1B7F9159-402B-20A7-BC47-DEB76CD6CE74}"/>
                </a:ext>
              </a:extLst>
            </p:cNvPr>
            <p:cNvSpPr/>
            <p:nvPr/>
          </p:nvSpPr>
          <p:spPr>
            <a:xfrm>
              <a:off x="407988" y="1917701"/>
              <a:ext cx="2052000" cy="323330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75000"/>
              </a:schemeClr>
            </a:solidFill>
            <a:ln w="12700">
              <a:noFill/>
            </a:ln>
            <a:effectLst/>
          </p:spPr>
          <p:txBody>
            <a:bodyPr lIns="0" tIns="0" rIns="0" bIns="0" rtlCol="0" anchor="ctr" anchorCtr="0"/>
            <a:lstStyle/>
            <a:p>
              <a:pPr algn="ctr"/>
              <a:r>
                <a:rPr lang="ko-KR" altLang="en-US" sz="1400" b="1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lt1"/>
                  </a:solidFill>
                  <a:latin typeface="+mn-ea"/>
                </a:rPr>
                <a:t>① </a:t>
              </a:r>
              <a:r>
                <a:rPr lang="en-US" altLang="ko-KR" sz="1400" b="1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lt1"/>
                  </a:solidFill>
                  <a:latin typeface="+mn-ea"/>
                </a:rPr>
                <a:t>AI </a:t>
              </a:r>
              <a:r>
                <a:rPr lang="ko-KR" altLang="en-US" sz="1400" b="1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lt1"/>
                  </a:solidFill>
                  <a:latin typeface="+mn-ea"/>
                </a:rPr>
                <a:t>거버넌스  업무규정</a:t>
              </a:r>
              <a:endParaRPr lang="en" altLang="ko-KR" sz="14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endParaRPr>
            </a:p>
          </p:txBody>
        </p:sp>
        <p:sp>
          <p:nvSpPr>
            <p:cNvPr id="7" name="사각형: 둥근 모서리 20">
              <a:extLst>
                <a:ext uri="{FF2B5EF4-FFF2-40B4-BE49-F238E27FC236}">
                  <a16:creationId xmlns:a16="http://schemas.microsoft.com/office/drawing/2014/main" id="{6EE07096-46F9-6CA7-24B9-EE796AF9ECD5}"/>
                </a:ext>
              </a:extLst>
            </p:cNvPr>
            <p:cNvSpPr/>
            <p:nvPr/>
          </p:nvSpPr>
          <p:spPr>
            <a:xfrm>
              <a:off x="2504414" y="1917701"/>
              <a:ext cx="2052000" cy="323330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75000"/>
              </a:schemeClr>
            </a:solidFill>
            <a:ln w="12700">
              <a:noFill/>
            </a:ln>
            <a:effectLst/>
          </p:spPr>
          <p:txBody>
            <a:bodyPr lIns="0" tIns="0" rIns="0" bIns="0" rtlCol="0" anchor="ctr" anchorCtr="0"/>
            <a:lstStyle/>
            <a:p>
              <a:pPr algn="ctr" defTabSz="914400"/>
              <a:r>
                <a:rPr lang="ko-KR" altLang="en-US" sz="1400" b="1" spc="-150">
                  <a:solidFill>
                    <a:schemeClr val="bg1">
                      <a:lumMod val="95000"/>
                    </a:schemeClr>
                  </a:solidFill>
                  <a:latin typeface="+mn-ea"/>
                  <a:cs typeface="Noto Sans" panose="020B0502040504020204" pitchFamily="34" charset="0"/>
                </a:rPr>
                <a:t>② </a:t>
              </a:r>
              <a:r>
                <a:rPr lang="en-US" altLang="ko-KR" sz="1400" b="1" spc="-150">
                  <a:solidFill>
                    <a:schemeClr val="bg1">
                      <a:lumMod val="95000"/>
                    </a:schemeClr>
                  </a:solidFill>
                  <a:latin typeface="+mn-ea"/>
                  <a:cs typeface="Noto Sans" panose="020B0502040504020204" pitchFamily="34" charset="0"/>
                </a:rPr>
                <a:t>AI </a:t>
              </a:r>
              <a:r>
                <a:rPr lang="ko-KR" altLang="en-US" sz="1400" b="1" spc="-150">
                  <a:solidFill>
                    <a:schemeClr val="bg1">
                      <a:lumMod val="95000"/>
                    </a:schemeClr>
                  </a:solidFill>
                  <a:latin typeface="+mn-ea"/>
                  <a:cs typeface="Noto Sans" panose="020B0502040504020204" pitchFamily="34" charset="0"/>
                </a:rPr>
                <a:t>거버넌스 업무준칙</a:t>
              </a:r>
            </a:p>
          </p:txBody>
        </p:sp>
        <p:sp>
          <p:nvSpPr>
            <p:cNvPr id="8" name="사각형: 둥근 모서리 20">
              <a:extLst>
                <a:ext uri="{FF2B5EF4-FFF2-40B4-BE49-F238E27FC236}">
                  <a16:creationId xmlns:a16="http://schemas.microsoft.com/office/drawing/2014/main" id="{A3F733B9-AC03-FAA7-6B7D-851131FB2E47}"/>
                </a:ext>
              </a:extLst>
            </p:cNvPr>
            <p:cNvSpPr/>
            <p:nvPr/>
          </p:nvSpPr>
          <p:spPr>
            <a:xfrm>
              <a:off x="407987" y="2241031"/>
              <a:ext cx="11376025" cy="4272571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>
              <a:solidFill>
                <a:schemeClr val="accent2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" altLang="ko-KR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endParaRPr>
            </a:p>
          </p:txBody>
        </p:sp>
        <p:sp>
          <p:nvSpPr>
            <p:cNvPr id="9" name="Rectangle: Rounded Corners 46">
              <a:extLst>
                <a:ext uri="{FF2B5EF4-FFF2-40B4-BE49-F238E27FC236}">
                  <a16:creationId xmlns:a16="http://schemas.microsoft.com/office/drawing/2014/main" id="{BC36DEA8-E43F-F0B3-4219-FD13A50698E6}"/>
                </a:ext>
              </a:extLst>
            </p:cNvPr>
            <p:cNvSpPr/>
            <p:nvPr/>
          </p:nvSpPr>
          <p:spPr>
            <a:xfrm>
              <a:off x="5277149" y="2366642"/>
              <a:ext cx="6259531" cy="4044904"/>
            </a:xfrm>
            <a:prstGeom prst="snip1Rect">
              <a:avLst/>
            </a:prstGeom>
            <a:pattFill prst="dkUpDiag">
              <a:fgClr>
                <a:schemeClr val="accent1">
                  <a:lumMod val="20000"/>
                  <a:lumOff val="80000"/>
                </a:schemeClr>
              </a:fgClr>
              <a:bgClr>
                <a:prstClr val="white"/>
              </a:bgClr>
            </a:pattFill>
            <a:ln w="3175" cap="flat" cmpd="sng" algn="ctr">
              <a:noFill/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lIns="0" tIns="0" rIns="0" bIns="0" rtlCol="0" anchor="ctr" anchorCtr="0"/>
            <a:lstStyle/>
            <a:p>
              <a:pPr marL="0" marR="0" lvl="0" indent="0" algn="ctr" defTabSz="10428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Pretendard SemiBold" panose="02000703000000020004" pitchFamily="50" charset="-127"/>
              </a:endParaRPr>
            </a:p>
          </p:txBody>
        </p:sp>
        <p:sp>
          <p:nvSpPr>
            <p:cNvPr id="10" name="사각형: 둥근 모서리 20">
              <a:extLst>
                <a:ext uri="{FF2B5EF4-FFF2-40B4-BE49-F238E27FC236}">
                  <a16:creationId xmlns:a16="http://schemas.microsoft.com/office/drawing/2014/main" id="{76509268-D08C-EC3C-CBA4-6737C0844D25}"/>
                </a:ext>
              </a:extLst>
            </p:cNvPr>
            <p:cNvSpPr/>
            <p:nvPr/>
          </p:nvSpPr>
          <p:spPr>
            <a:xfrm>
              <a:off x="4600839" y="1917701"/>
              <a:ext cx="2052000" cy="323330"/>
            </a:xfrm>
            <a:prstGeom prst="roundRect">
              <a:avLst>
                <a:gd name="adj" fmla="val 0"/>
              </a:avLst>
            </a:prstGeom>
            <a:solidFill>
              <a:schemeClr val="accent2"/>
            </a:solidFill>
            <a:ln>
              <a:solidFill>
                <a:schemeClr val="accent2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1400" b="1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lt1"/>
                  </a:solidFill>
                  <a:latin typeface="+mn-ea"/>
                </a:rPr>
                <a:t>③ </a:t>
              </a:r>
              <a:r>
                <a:rPr lang="en-US" altLang="ko-KR" sz="1400" b="1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lt1"/>
                  </a:solidFill>
                  <a:latin typeface="+mn-ea"/>
                </a:rPr>
                <a:t>AI</a:t>
              </a:r>
              <a:r>
                <a:rPr lang="ko-KR" altLang="en-US" sz="1400" b="1" spc="-15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lt1"/>
                  </a:solidFill>
                  <a:latin typeface="+mn-ea"/>
                </a:rPr>
                <a:t> 거버넌스 업무방법</a:t>
              </a:r>
            </a:p>
          </p:txBody>
        </p:sp>
        <p:sp>
          <p:nvSpPr>
            <p:cNvPr id="11" name="Rectangle: Rounded Corners 46">
              <a:extLst>
                <a:ext uri="{FF2B5EF4-FFF2-40B4-BE49-F238E27FC236}">
                  <a16:creationId xmlns:a16="http://schemas.microsoft.com/office/drawing/2014/main" id="{EB0F2C1B-7568-2B63-1C0E-D894DD39320E}"/>
                </a:ext>
              </a:extLst>
            </p:cNvPr>
            <p:cNvSpPr/>
            <p:nvPr/>
          </p:nvSpPr>
          <p:spPr>
            <a:xfrm>
              <a:off x="5479142" y="2444164"/>
              <a:ext cx="2052190" cy="340981"/>
            </a:xfrm>
            <a:prstGeom prst="roundRect">
              <a:avLst>
                <a:gd name="adj" fmla="val 11418"/>
              </a:avLst>
            </a:prstGeom>
            <a:noFill/>
            <a:ln w="3175" cap="flat" cmpd="sng" algn="ctr">
              <a:noFill/>
              <a:prstDash val="solid"/>
            </a:ln>
            <a:effectLst/>
          </p:spPr>
          <p:txBody>
            <a:bodyPr wrap="square" lIns="0" tIns="0" rIns="0" bIns="0" rtlCol="0" anchor="ctr" anchorCtr="0"/>
            <a:lstStyle/>
            <a:p>
              <a:pPr marL="0" marR="0" lvl="0" indent="0" defTabSz="10428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1" i="0" u="none" strike="noStrike" kern="0" cap="none" spc="0" normalizeH="0" baseline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Contents</a:t>
              </a:r>
            </a:p>
          </p:txBody>
        </p:sp>
        <p:sp>
          <p:nvSpPr>
            <p:cNvPr id="12" name="Rectangle: Rounded Corners 46">
              <a:extLst>
                <a:ext uri="{FF2B5EF4-FFF2-40B4-BE49-F238E27FC236}">
                  <a16:creationId xmlns:a16="http://schemas.microsoft.com/office/drawing/2014/main" id="{521E65F5-620A-9946-C4B7-2888EAE3410A}"/>
                </a:ext>
              </a:extLst>
            </p:cNvPr>
            <p:cNvSpPr/>
            <p:nvPr/>
          </p:nvSpPr>
          <p:spPr>
            <a:xfrm>
              <a:off x="1943373" y="3426269"/>
              <a:ext cx="3250142" cy="540555"/>
            </a:xfrm>
            <a:prstGeom prst="roundRect">
              <a:avLst>
                <a:gd name="adj" fmla="val 11418"/>
              </a:avLst>
            </a:prstGeom>
            <a:solidFill>
              <a:schemeClr val="bg1">
                <a:lumMod val="95000"/>
              </a:schemeClr>
            </a:solidFill>
            <a:ln w="3175" cap="flat" cmpd="sng" algn="ctr">
              <a:noFill/>
              <a:prstDash val="solid"/>
            </a:ln>
            <a:effectLst/>
          </p:spPr>
          <p:txBody>
            <a:bodyPr wrap="square" lIns="90000" tIns="0" rIns="90000" bIns="0" rtlCol="0" anchor="ctr" anchorCtr="0"/>
            <a:lstStyle/>
            <a:p>
              <a:pPr marL="171450" lvl="0" indent="-171450" defTabSz="1042873">
                <a:buFont typeface="Arial" panose="020B0604020202020204" pitchFamily="34" charset="0"/>
                <a:buChar char="•"/>
                <a:defRPr/>
              </a:pPr>
              <a:r>
                <a:rPr kumimoji="0" lang="ko-KR" altLang="en-US" sz="1200" i="0" u="none" strike="noStrike" kern="0" cap="none" spc="0" normalizeH="0" baseline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개발</a:t>
              </a:r>
              <a:r>
                <a:rPr lang="en-US" altLang="ko-KR" sz="1200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·</a:t>
              </a:r>
              <a:r>
                <a:rPr kumimoji="0" lang="ko-KR" altLang="en-US" sz="1200" i="0" u="none" strike="noStrike" kern="0" cap="none" spc="0" normalizeH="0" baseline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운영 준수사항</a:t>
              </a:r>
              <a:endParaRPr lang="en-US" altLang="ko-KR" sz="1200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endParaRPr>
            </a:p>
            <a:p>
              <a:pPr marL="171450" lvl="0" indent="-171450" defTabSz="1042873">
                <a:buFont typeface="Arial" panose="020B0604020202020204" pitchFamily="34" charset="0"/>
                <a:buChar char="•"/>
                <a:defRPr/>
              </a:pPr>
              <a:r>
                <a:rPr kumimoji="0" lang="ko-KR" altLang="en-US" sz="1200" i="0" u="none" strike="noStrike" kern="0" cap="none" spc="0" normalizeH="0" baseline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위험 수준별 준수사항</a:t>
              </a:r>
            </a:p>
          </p:txBody>
        </p:sp>
        <p:sp>
          <p:nvSpPr>
            <p:cNvPr id="13" name="Rectangle: Rounded Corners 46">
              <a:extLst>
                <a:ext uri="{FF2B5EF4-FFF2-40B4-BE49-F238E27FC236}">
                  <a16:creationId xmlns:a16="http://schemas.microsoft.com/office/drawing/2014/main" id="{3F133D41-4C0D-746E-D41A-3F5BEF5B0A20}"/>
                </a:ext>
              </a:extLst>
            </p:cNvPr>
            <p:cNvSpPr/>
            <p:nvPr/>
          </p:nvSpPr>
          <p:spPr>
            <a:xfrm>
              <a:off x="1943373" y="2366642"/>
              <a:ext cx="3250142" cy="836708"/>
            </a:xfrm>
            <a:prstGeom prst="roundRect">
              <a:avLst>
                <a:gd name="adj" fmla="val 11418"/>
              </a:avLst>
            </a:prstGeom>
            <a:solidFill>
              <a:schemeClr val="bg1">
                <a:lumMod val="95000"/>
              </a:schemeClr>
            </a:solidFill>
            <a:ln w="3175" cap="flat" cmpd="sng" algn="ctr">
              <a:noFill/>
              <a:prstDash val="solid"/>
            </a:ln>
            <a:effectLst/>
          </p:spPr>
          <p:txBody>
            <a:bodyPr wrap="square" lIns="90000" tIns="0" rIns="90000" bIns="0" rtlCol="0" anchor="ctr" anchorCtr="0"/>
            <a:lstStyle/>
            <a:p>
              <a:pPr defTabSz="1042873">
                <a:lnSpc>
                  <a:spcPct val="130000"/>
                </a:lnSpc>
              </a:pPr>
              <a:r>
                <a:rPr lang="ko-KR" altLang="en-US" sz="1200" kern="0" spc="-7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위험 수준 평가</a:t>
              </a:r>
              <a:r>
                <a:rPr lang="en-US" altLang="ko-KR" sz="1200" kern="0" spc="-7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, </a:t>
              </a:r>
              <a:r>
                <a:rPr lang="ko-KR" altLang="en-US" sz="1200" kern="0" spc="-7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개발</a:t>
              </a:r>
              <a:r>
                <a:rPr lang="en-US" altLang="ko-KR" sz="1200" kern="0" spc="-7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·</a:t>
              </a:r>
              <a:r>
                <a:rPr lang="ko-KR" altLang="en-US" sz="1200" kern="0" spc="-7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운영 준수사항</a:t>
              </a:r>
              <a:r>
                <a:rPr lang="en-US" altLang="ko-KR" sz="1200" kern="0" spc="-7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, </a:t>
              </a:r>
              <a:r>
                <a:rPr lang="ko-KR" altLang="en-US" sz="1200" kern="0" spc="-7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핵심속성 및 학습데이터 관리</a:t>
              </a:r>
              <a:r>
                <a:rPr lang="en-US" altLang="ko-KR" sz="1200" kern="0" spc="-7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, </a:t>
              </a:r>
              <a:r>
                <a:rPr lang="ko-KR" altLang="en-US" sz="1200" kern="0" spc="-7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수탁자 관리를 이행하기 위한 구체적인 기준 설정</a:t>
              </a:r>
            </a:p>
          </p:txBody>
        </p:sp>
        <p:sp>
          <p:nvSpPr>
            <p:cNvPr id="14" name="Rectangle: Rounded Corners 46">
              <a:extLst>
                <a:ext uri="{FF2B5EF4-FFF2-40B4-BE49-F238E27FC236}">
                  <a16:creationId xmlns:a16="http://schemas.microsoft.com/office/drawing/2014/main" id="{407770B8-D0C6-E7CB-CDF5-1D324E9FA1DB}"/>
                </a:ext>
              </a:extLst>
            </p:cNvPr>
            <p:cNvSpPr/>
            <p:nvPr/>
          </p:nvSpPr>
          <p:spPr>
            <a:xfrm>
              <a:off x="1943373" y="4031853"/>
              <a:ext cx="3250142" cy="540555"/>
            </a:xfrm>
            <a:prstGeom prst="roundRect">
              <a:avLst>
                <a:gd name="adj" fmla="val 11418"/>
              </a:avLst>
            </a:prstGeom>
            <a:solidFill>
              <a:schemeClr val="bg1">
                <a:lumMod val="95000"/>
              </a:schemeClr>
            </a:solidFill>
            <a:ln w="3175" cap="flat" cmpd="sng" algn="ctr">
              <a:noFill/>
              <a:prstDash val="solid"/>
            </a:ln>
            <a:effectLst/>
          </p:spPr>
          <p:txBody>
            <a:bodyPr wrap="square" lIns="90000" tIns="0" rIns="90000" bIns="0" rtlCol="0" anchor="ctr" anchorCtr="0"/>
            <a:lstStyle/>
            <a:p>
              <a:pPr marL="171450" marR="0" lvl="0" indent="-171450" defTabSz="10428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altLang="ko-KR" sz="1200" i="0" u="none" strike="noStrike" kern="0" cap="none" spc="-100" normalizeH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AI </a:t>
              </a:r>
              <a:r>
                <a:rPr kumimoji="0" lang="ko-KR" altLang="en-US" sz="1200" i="0" u="none" strike="noStrike" kern="0" cap="none" spc="-100" normalizeH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기획</a:t>
              </a:r>
              <a:r>
                <a:rPr kumimoji="0" lang="en-US" altLang="ko-KR" sz="1200" i="0" u="none" strike="noStrike" kern="0" cap="none" spc="-100" normalizeH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·</a:t>
              </a:r>
              <a:r>
                <a:rPr kumimoji="0" lang="ko-KR" altLang="en-US" sz="1200" i="0" u="none" strike="noStrike" kern="0" cap="none" spc="-100" normalizeH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설계</a:t>
              </a:r>
              <a:r>
                <a:rPr kumimoji="0" lang="en-US" altLang="ko-KR" sz="1200" i="0" u="none" strike="noStrike" kern="0" cap="none" spc="-100" normalizeH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, </a:t>
              </a:r>
              <a:r>
                <a:rPr kumimoji="0" lang="ko-KR" altLang="en-US" sz="1200" i="0" u="none" strike="noStrike" kern="0" cap="none" spc="-100" normalizeH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개발</a:t>
              </a:r>
              <a:r>
                <a:rPr kumimoji="0" lang="en-US" altLang="ko-KR" sz="1200" i="0" u="none" strike="noStrike" kern="0" cap="none" spc="-100" normalizeH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, </a:t>
              </a:r>
              <a:r>
                <a:rPr kumimoji="0" lang="ko-KR" altLang="en-US" sz="1200" i="0" u="none" strike="noStrike" kern="0" cap="none" spc="-100" normalizeH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평가</a:t>
              </a:r>
              <a:r>
                <a:rPr kumimoji="0" lang="en-US" altLang="ko-KR" sz="1200" i="0" u="none" strike="noStrike" kern="0" cap="none" spc="-100" normalizeH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·</a:t>
              </a:r>
              <a:r>
                <a:rPr kumimoji="0" lang="ko-KR" altLang="en-US" sz="1200" i="0" u="none" strike="noStrike" kern="0" cap="none" spc="-100" normalizeH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검증</a:t>
              </a:r>
              <a:r>
                <a:rPr kumimoji="0" lang="en-US" altLang="ko-KR" sz="1200" i="0" u="none" strike="noStrike" kern="0" cap="none" spc="-100" normalizeH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, </a:t>
              </a:r>
              <a:r>
                <a:rPr kumimoji="0" lang="ko-KR" altLang="en-US" sz="1200" i="0" u="none" strike="noStrike" kern="0" cap="none" spc="-100" normalizeH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도입</a:t>
              </a:r>
              <a:r>
                <a:rPr kumimoji="0" lang="en-US" altLang="ko-KR" sz="1200" i="0" u="none" strike="noStrike" kern="0" cap="none" spc="-100" normalizeH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·</a:t>
              </a:r>
              <a:r>
                <a:rPr kumimoji="0" lang="ko-KR" altLang="en-US" sz="1200" i="0" u="none" strike="noStrike" kern="0" cap="none" spc="-100" normalizeH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운영</a:t>
              </a:r>
              <a:r>
                <a:rPr kumimoji="0" lang="en-US" altLang="ko-KR" sz="1200" i="0" u="none" strike="noStrike" kern="0" cap="none" spc="-100" normalizeH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·</a:t>
              </a:r>
              <a:r>
                <a:rPr kumimoji="0" lang="ko-KR" altLang="en-US" sz="1200" i="0" u="none" strike="noStrike" kern="0" cap="none" spc="-100" normalizeH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모니터링</a:t>
              </a:r>
            </a:p>
          </p:txBody>
        </p:sp>
        <p:sp>
          <p:nvSpPr>
            <p:cNvPr id="15" name="Rectangle: Rounded Corners 46">
              <a:extLst>
                <a:ext uri="{FF2B5EF4-FFF2-40B4-BE49-F238E27FC236}">
                  <a16:creationId xmlns:a16="http://schemas.microsoft.com/office/drawing/2014/main" id="{4A399E3C-73A5-9726-7D87-1FC654451C8E}"/>
                </a:ext>
              </a:extLst>
            </p:cNvPr>
            <p:cNvSpPr/>
            <p:nvPr/>
          </p:nvSpPr>
          <p:spPr>
            <a:xfrm>
              <a:off x="1943373" y="4637436"/>
              <a:ext cx="3250142" cy="1177946"/>
            </a:xfrm>
            <a:prstGeom prst="roundRect">
              <a:avLst>
                <a:gd name="adj" fmla="val 5596"/>
              </a:avLst>
            </a:prstGeom>
            <a:solidFill>
              <a:schemeClr val="bg1">
                <a:lumMod val="95000"/>
              </a:schemeClr>
            </a:solidFill>
            <a:ln w="3175" cap="flat" cmpd="sng" algn="ctr">
              <a:noFill/>
              <a:prstDash val="solid"/>
            </a:ln>
            <a:effectLst/>
          </p:spPr>
          <p:txBody>
            <a:bodyPr wrap="square" lIns="90000" tIns="0" rIns="0" bIns="0" rtlCol="0" anchor="ctr" anchorCtr="0"/>
            <a:lstStyle/>
            <a:p>
              <a:pPr marL="171450" marR="0" lvl="0" indent="-171450" defTabSz="10428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1200" i="0" u="none" strike="noStrike" kern="0" cap="none" spc="0" normalizeH="0" baseline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핵심 속성별 관리 기준</a:t>
              </a:r>
              <a:r>
                <a:rPr kumimoji="0" lang="en-US" altLang="ko-KR" sz="1200" i="0" u="none" strike="noStrike" kern="0" cap="none" spc="0" normalizeH="0" baseline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: </a:t>
              </a:r>
              <a:r>
                <a:rPr kumimoji="0" lang="ko-KR" altLang="en-US" sz="1200" i="0" u="none" strike="noStrike" kern="0" cap="none" spc="0" normalizeH="0" baseline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성능</a:t>
              </a:r>
              <a:r>
                <a:rPr kumimoji="0" lang="en-US" altLang="ko-KR" sz="1200" i="0" u="none" strike="noStrike" kern="0" cap="none" spc="0" normalizeH="0" baseline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, </a:t>
              </a:r>
              <a:r>
                <a:rPr kumimoji="0" lang="ko-KR" altLang="en-US" sz="1200" i="0" u="none" strike="noStrike" kern="0" cap="none" spc="0" normalizeH="0" baseline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공정성</a:t>
              </a:r>
              <a:r>
                <a:rPr kumimoji="0" lang="en-US" altLang="ko-KR" sz="1200" i="0" u="none" strike="noStrike" kern="0" cap="none" spc="0" normalizeH="0" baseline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, </a:t>
              </a:r>
              <a:r>
                <a:rPr kumimoji="0" lang="ko-KR" altLang="en-US" sz="1200" i="0" u="none" strike="noStrike" kern="0" cap="none" spc="0" normalizeH="0" baseline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설명가능성</a:t>
              </a:r>
              <a:r>
                <a:rPr kumimoji="0" lang="en-US" altLang="ko-KR" sz="1200" i="0" u="none" strike="noStrike" kern="0" cap="none" spc="0" normalizeH="0" baseline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, </a:t>
              </a:r>
              <a:r>
                <a:rPr lang="ko-KR" altLang="en-US" sz="1200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개인</a:t>
              </a:r>
              <a:r>
                <a:rPr kumimoji="0" lang="ko-KR" altLang="en-US" sz="1200" i="0" u="none" strike="noStrike" kern="0" cap="none" spc="0" normalizeH="0" baseline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정보 보호</a:t>
              </a:r>
              <a:r>
                <a:rPr kumimoji="0" lang="en-US" altLang="ko-KR" sz="1200" i="0" u="none" strike="noStrike" kern="0" cap="none" spc="0" normalizeH="0" baseline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, </a:t>
              </a:r>
              <a:r>
                <a:rPr kumimoji="0" lang="ko-KR" altLang="en-US" sz="1200" i="0" u="none" strike="noStrike" kern="0" cap="none" spc="0" normalizeH="0" baseline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보안</a:t>
              </a:r>
              <a:r>
                <a:rPr kumimoji="0" lang="en-US" altLang="ko-KR" sz="1200" i="0" u="none" strike="noStrike" kern="0" cap="none" spc="0" normalizeH="0" baseline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, </a:t>
              </a:r>
              <a:r>
                <a:rPr kumimoji="0" lang="ko-KR" altLang="en-US" sz="1200" i="0" u="none" strike="noStrike" kern="0" cap="none" spc="0" normalizeH="0" baseline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고객보호</a:t>
              </a:r>
              <a:endPara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endParaRPr>
            </a:p>
            <a:p>
              <a:pPr marL="171450" marR="0" lvl="0" indent="-171450" defTabSz="10428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ko-KR" altLang="en-US" sz="1200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학습 데이터 관리</a:t>
              </a:r>
              <a:r>
                <a:rPr lang="en-US" altLang="ko-KR" sz="1200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: </a:t>
              </a:r>
              <a:r>
                <a:rPr lang="ko-KR" altLang="en-US" sz="1200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관리 주체</a:t>
              </a:r>
              <a:r>
                <a:rPr lang="en-US" altLang="ko-KR" sz="1200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, </a:t>
              </a:r>
              <a:r>
                <a:rPr lang="ko-KR" altLang="en-US" sz="1200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계획</a:t>
              </a:r>
              <a:r>
                <a:rPr lang="en-US" altLang="ko-KR" sz="1200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, </a:t>
              </a:r>
              <a:r>
                <a:rPr lang="ko-KR" altLang="en-US" sz="1200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편향성 관리</a:t>
              </a:r>
              <a:r>
                <a:rPr lang="en-US" altLang="ko-KR" sz="1200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, </a:t>
              </a:r>
              <a:r>
                <a:rPr lang="ko-KR" altLang="en-US" sz="1200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품질 관리</a:t>
              </a:r>
              <a:r>
                <a:rPr lang="en-US" altLang="ko-KR" sz="1200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, </a:t>
              </a:r>
              <a:r>
                <a:rPr kumimoji="0" lang="ko-KR" altLang="en-US" sz="1200" i="0" u="none" strike="noStrike" kern="0" cap="none" spc="0" normalizeH="0" baseline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데이터 수집방안 마련</a:t>
              </a:r>
              <a:r>
                <a:rPr kumimoji="0" lang="en-US" altLang="ko-KR" sz="1200" i="0" u="none" strike="noStrike" kern="0" cap="none" spc="0" normalizeH="0" baseline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, </a:t>
              </a:r>
              <a:r>
                <a:rPr kumimoji="0" lang="ko-KR" altLang="en-US" sz="1200" i="0" u="none" strike="noStrike" kern="0" cap="none" spc="0" normalizeH="0" baseline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학습데이터 분할 및 갱신</a:t>
              </a:r>
              <a:endPara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endParaRPr>
            </a:p>
            <a:p>
              <a:pPr marL="171450" marR="0" lvl="0" indent="-171450" defTabSz="10428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1200" i="0" u="none" strike="noStrike" kern="0" cap="none" spc="0" normalizeH="0" baseline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수탁자 관리</a:t>
              </a:r>
              <a:r>
                <a:rPr kumimoji="0" lang="en-US" altLang="ko-KR" sz="1200" i="0" u="none" strike="noStrike" kern="0" cap="none" spc="0" normalizeH="0" baseline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: </a:t>
              </a:r>
              <a:r>
                <a:rPr kumimoji="0" lang="ko-KR" altLang="en-US" sz="1200" i="0" u="none" strike="noStrike" kern="0" cap="none" spc="0" normalizeH="0" baseline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선정</a:t>
              </a:r>
              <a:r>
                <a:rPr kumimoji="0" lang="en-US" altLang="ko-KR" sz="1200" i="0" u="none" strike="noStrike" kern="0" cap="none" spc="0" normalizeH="0" baseline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, </a:t>
              </a:r>
              <a:r>
                <a:rPr kumimoji="0" lang="ko-KR" altLang="en-US" sz="1200" i="0" u="none" strike="noStrike" kern="0" cap="none" spc="0" normalizeH="0" baseline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계약 체결</a:t>
              </a:r>
              <a:r>
                <a:rPr kumimoji="0" lang="en-US" altLang="ko-KR" sz="1200" i="0" u="none" strike="noStrike" kern="0" cap="none" spc="0" normalizeH="0" baseline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, </a:t>
              </a:r>
              <a:r>
                <a:rPr kumimoji="0" lang="ko-KR" altLang="en-US" sz="1200" i="0" u="none" strike="noStrike" kern="0" cap="none" spc="0" normalizeH="0" baseline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관리감독</a:t>
              </a:r>
            </a:p>
          </p:txBody>
        </p:sp>
        <p:sp>
          <p:nvSpPr>
            <p:cNvPr id="16" name="Rectangle: Rounded Corners 46">
              <a:extLst>
                <a:ext uri="{FF2B5EF4-FFF2-40B4-BE49-F238E27FC236}">
                  <a16:creationId xmlns:a16="http://schemas.microsoft.com/office/drawing/2014/main" id="{64EE0678-3AB6-6A38-2547-91B69AFF9A28}"/>
                </a:ext>
              </a:extLst>
            </p:cNvPr>
            <p:cNvSpPr/>
            <p:nvPr/>
          </p:nvSpPr>
          <p:spPr>
            <a:xfrm>
              <a:off x="1943373" y="5917437"/>
              <a:ext cx="3250142" cy="494109"/>
            </a:xfrm>
            <a:prstGeom prst="roundRect">
              <a:avLst>
                <a:gd name="adj" fmla="val 11418"/>
              </a:avLst>
            </a:prstGeom>
            <a:solidFill>
              <a:schemeClr val="bg1">
                <a:lumMod val="95000"/>
              </a:schemeClr>
            </a:solidFill>
            <a:ln w="3175" cap="flat" cmpd="sng" algn="ctr">
              <a:noFill/>
              <a:prstDash val="solid"/>
            </a:ln>
            <a:effectLst/>
          </p:spPr>
          <p:txBody>
            <a:bodyPr wrap="square" lIns="90000" tIns="0" rIns="90000" bIns="0" rtlCol="0" anchor="ctr" anchorCtr="0"/>
            <a:lstStyle/>
            <a:p>
              <a:pPr algn="ctr" defTabSz="1042873">
                <a:defRPr/>
              </a:pPr>
              <a:r>
                <a:rPr lang="en-US" altLang="ko-KR" sz="1200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AI </a:t>
              </a:r>
              <a:r>
                <a:rPr lang="ko-KR" altLang="en-US" sz="1200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거버넌스 업무 운영</a:t>
              </a:r>
            </a:p>
          </p:txBody>
        </p:sp>
        <p:sp>
          <p:nvSpPr>
            <p:cNvPr id="17" name="Rectangle: Rounded Corners 46">
              <a:extLst>
                <a:ext uri="{FF2B5EF4-FFF2-40B4-BE49-F238E27FC236}">
                  <a16:creationId xmlns:a16="http://schemas.microsoft.com/office/drawing/2014/main" id="{09DF9F31-D6D1-2D5E-FD5A-9CC7459D35AD}"/>
                </a:ext>
              </a:extLst>
            </p:cNvPr>
            <p:cNvSpPr/>
            <p:nvPr/>
          </p:nvSpPr>
          <p:spPr>
            <a:xfrm>
              <a:off x="8567582" y="5685296"/>
              <a:ext cx="2588011" cy="435600"/>
            </a:xfrm>
            <a:prstGeom prst="roundRect">
              <a:avLst>
                <a:gd name="adj" fmla="val 11418"/>
              </a:avLst>
            </a:prstGeom>
            <a:solidFill>
              <a:srgbClr val="043B72"/>
            </a:solidFill>
            <a:ln w="3175" cap="flat" cmpd="sng" algn="ctr">
              <a:noFill/>
              <a:prstDash val="solid"/>
            </a:ln>
            <a:effectLst/>
          </p:spPr>
          <p:txBody>
            <a:bodyPr wrap="square" lIns="0" tIns="0" rIns="0" bIns="0" rtlCol="0" anchor="ctr" anchorCtr="0"/>
            <a:lstStyle/>
            <a:p>
              <a:pPr algn="ctr" defTabSz="1042873" latinLnBrk="0">
                <a:defRPr/>
              </a:pPr>
              <a:r>
                <a:rPr lang="ko-KR" altLang="en-US" sz="1200" b="1" kern="0">
                  <a:ln>
                    <a:solidFill>
                      <a:srgbClr val="A5C249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+mn-ea"/>
                </a:rPr>
                <a:t>제</a:t>
              </a:r>
              <a:r>
                <a:rPr lang="en-US" altLang="ko-KR" sz="1200" b="1" kern="0">
                  <a:ln>
                    <a:solidFill>
                      <a:srgbClr val="A5C249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+mn-ea"/>
                </a:rPr>
                <a:t>6</a:t>
              </a:r>
              <a:r>
                <a:rPr lang="ko-KR" altLang="en-US" sz="1200" b="1" kern="0">
                  <a:ln>
                    <a:solidFill>
                      <a:srgbClr val="A5C249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+mn-ea"/>
                </a:rPr>
                <a:t>편</a:t>
              </a:r>
              <a:br>
                <a:rPr lang="en-US" altLang="ko-KR" sz="1200" b="1" kern="0">
                  <a:ln>
                    <a:solidFill>
                      <a:srgbClr val="A5C249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+mn-ea"/>
                </a:rPr>
              </a:br>
              <a:r>
                <a:rPr lang="ko-KR" altLang="en-US" sz="1200" b="1" kern="0" spc="-70">
                  <a:ln>
                    <a:solidFill>
                      <a:srgbClr val="A5C249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+mn-ea"/>
                </a:rPr>
                <a:t>수탁자 관리</a:t>
              </a:r>
              <a:endParaRPr lang="en-US" altLang="ko-KR" sz="1200" b="1" kern="0" spc="-7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39DF41B3-E1DD-4880-27C5-5C6AF0978101}"/>
                </a:ext>
              </a:extLst>
            </p:cNvPr>
            <p:cNvSpPr/>
            <p:nvPr/>
          </p:nvSpPr>
          <p:spPr>
            <a:xfrm>
              <a:off x="5598486" y="4120748"/>
              <a:ext cx="236220" cy="26733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endParaRPr lang="ko-KR" altLang="en-US">
                <a:latin typeface="+mn-ea"/>
              </a:endParaRPr>
            </a:p>
          </p:txBody>
        </p: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B2BA70DE-20F3-44A6-2D48-38A346BAED5A}"/>
                </a:ext>
              </a:extLst>
            </p:cNvPr>
            <p:cNvGrpSpPr/>
            <p:nvPr/>
          </p:nvGrpSpPr>
          <p:grpSpPr>
            <a:xfrm>
              <a:off x="8567583" y="4379415"/>
              <a:ext cx="2588010" cy="905986"/>
              <a:chOff x="5598487" y="5188440"/>
              <a:chExt cx="2588010" cy="905986"/>
            </a:xfrm>
          </p:grpSpPr>
          <p:sp>
            <p:nvSpPr>
              <p:cNvPr id="47" name="직사각형 46">
                <a:extLst>
                  <a:ext uri="{FF2B5EF4-FFF2-40B4-BE49-F238E27FC236}">
                    <a16:creationId xmlns:a16="http://schemas.microsoft.com/office/drawing/2014/main" id="{6C37F0B6-7A37-AB19-7FBF-6429C46B844F}"/>
                  </a:ext>
                </a:extLst>
              </p:cNvPr>
              <p:cNvSpPr/>
              <p:nvPr/>
            </p:nvSpPr>
            <p:spPr>
              <a:xfrm>
                <a:off x="5598487" y="5679780"/>
                <a:ext cx="236220" cy="26733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latinLnBrk="0"/>
                <a:endParaRPr lang="ko-KR" altLang="en-US">
                  <a:latin typeface="+mn-ea"/>
                </a:endParaRPr>
              </a:p>
            </p:txBody>
          </p:sp>
          <p:sp>
            <p:nvSpPr>
              <p:cNvPr id="48" name="Rectangle: Rounded Corners 46">
                <a:extLst>
                  <a:ext uri="{FF2B5EF4-FFF2-40B4-BE49-F238E27FC236}">
                    <a16:creationId xmlns:a16="http://schemas.microsoft.com/office/drawing/2014/main" id="{EF971320-2550-9430-0877-8D25782EB0A2}"/>
                  </a:ext>
                </a:extLst>
              </p:cNvPr>
              <p:cNvSpPr/>
              <p:nvPr/>
            </p:nvSpPr>
            <p:spPr>
              <a:xfrm>
                <a:off x="5935702" y="5775354"/>
                <a:ext cx="2250795" cy="319072"/>
              </a:xfrm>
              <a:prstGeom prst="roundRect">
                <a:avLst>
                  <a:gd name="adj" fmla="val 11418"/>
                </a:avLst>
              </a:prstGeom>
              <a:solidFill>
                <a:schemeClr val="bg1"/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txBody>
              <a:bodyPr spcFirstLastPara="1" wrap="square" lIns="108000" tIns="0" rIns="0" bIns="0" anchor="ctr" anchorCtr="0">
                <a:noAutofit/>
              </a:bodyPr>
              <a:lstStyle/>
              <a:p>
                <a:pPr defTabSz="914446">
                  <a:buClr>
                    <a:srgbClr val="FFFFFF"/>
                  </a:buClr>
                  <a:buSzPts val="1100"/>
                </a:pPr>
                <a:r>
                  <a:rPr lang="ko-KR" altLang="en-US" sz="1100" b="1">
                    <a:latin typeface="+mn-ea"/>
                    <a:cs typeface="Pretendard" panose="02000503000000020004" pitchFamily="50" charset="-127"/>
                  </a:rPr>
                  <a:t>제</a:t>
                </a:r>
                <a:r>
                  <a:rPr lang="en-US" altLang="ko-KR" sz="1100" b="1">
                    <a:latin typeface="+mn-ea"/>
                    <a:cs typeface="Pretendard" panose="02000503000000020004" pitchFamily="50" charset="-127"/>
                  </a:rPr>
                  <a:t>2</a:t>
                </a:r>
                <a:r>
                  <a:rPr lang="ko-KR" altLang="en-US" sz="1100" b="1">
                    <a:latin typeface="+mn-ea"/>
                    <a:cs typeface="Pretendard" panose="02000503000000020004" pitchFamily="50" charset="-127"/>
                  </a:rPr>
                  <a:t>장 개발</a:t>
                </a:r>
                <a:r>
                  <a:rPr lang="en-US" altLang="ko-KR" sz="1100" b="1">
                    <a:latin typeface="+mn-ea"/>
                    <a:cs typeface="Pretendard" panose="02000503000000020004" pitchFamily="50" charset="-127"/>
                  </a:rPr>
                  <a:t>·</a:t>
                </a:r>
                <a:r>
                  <a:rPr lang="ko-KR" altLang="en-US" sz="1100" b="1">
                    <a:latin typeface="+mn-ea"/>
                    <a:cs typeface="Pretendard" panose="02000503000000020004" pitchFamily="50" charset="-127"/>
                  </a:rPr>
                  <a:t>운영 준수사항</a:t>
                </a:r>
                <a:endParaRPr lang="en-US" altLang="ko-KR" sz="1100" b="1">
                  <a:latin typeface="+mn-ea"/>
                  <a:cs typeface="Pretendard" panose="02000503000000020004" pitchFamily="50" charset="-127"/>
                </a:endParaRPr>
              </a:p>
            </p:txBody>
          </p:sp>
          <p:sp>
            <p:nvSpPr>
              <p:cNvPr id="49" name="Rectangle: Rounded Corners 46">
                <a:extLst>
                  <a:ext uri="{FF2B5EF4-FFF2-40B4-BE49-F238E27FC236}">
                    <a16:creationId xmlns:a16="http://schemas.microsoft.com/office/drawing/2014/main" id="{47189E7E-9221-40B6-6612-A1EEDFDE3CFE}"/>
                  </a:ext>
                </a:extLst>
              </p:cNvPr>
              <p:cNvSpPr/>
              <p:nvPr/>
            </p:nvSpPr>
            <p:spPr>
              <a:xfrm>
                <a:off x="5935702" y="5385820"/>
                <a:ext cx="2250795" cy="319072"/>
              </a:xfrm>
              <a:prstGeom prst="roundRect">
                <a:avLst>
                  <a:gd name="adj" fmla="val 11418"/>
                </a:avLst>
              </a:prstGeom>
              <a:solidFill>
                <a:schemeClr val="bg1"/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txBody>
              <a:bodyPr spcFirstLastPara="1" wrap="square" lIns="108000" tIns="0" rIns="0" bIns="0" anchor="ctr" anchorCtr="0">
                <a:noAutofit/>
              </a:bodyPr>
              <a:lstStyle/>
              <a:p>
                <a:pPr defTabSz="914446">
                  <a:buClr>
                    <a:srgbClr val="FFFFFF"/>
                  </a:buClr>
                  <a:buSzPts val="1100"/>
                </a:pPr>
                <a:r>
                  <a:rPr lang="ko-KR" altLang="en-US" sz="1100" b="1">
                    <a:latin typeface="+mn-ea"/>
                    <a:cs typeface="Pretendard" panose="02000503000000020004" pitchFamily="50" charset="-127"/>
                  </a:rPr>
                  <a:t>제</a:t>
                </a:r>
                <a:r>
                  <a:rPr lang="en-US" altLang="ko-KR" sz="1100" b="1">
                    <a:latin typeface="+mn-ea"/>
                    <a:cs typeface="Pretendard" panose="02000503000000020004" pitchFamily="50" charset="-127"/>
                  </a:rPr>
                  <a:t>1</a:t>
                </a:r>
                <a:r>
                  <a:rPr lang="ko-KR" altLang="en-US" sz="1100" b="1">
                    <a:latin typeface="+mn-ea"/>
                    <a:cs typeface="Pretendard" panose="02000503000000020004" pitchFamily="50" charset="-127"/>
                  </a:rPr>
                  <a:t>장 관리 계획</a:t>
                </a:r>
                <a:endParaRPr lang="en-US" altLang="ko-KR" sz="1100" b="1">
                  <a:latin typeface="+mn-ea"/>
                  <a:cs typeface="Pretendard" panose="02000503000000020004" pitchFamily="50" charset="-127"/>
                </a:endParaRPr>
              </a:p>
            </p:txBody>
          </p:sp>
          <p:cxnSp>
            <p:nvCxnSpPr>
              <p:cNvPr id="50" name="연결선: 꺾임 49">
                <a:extLst>
                  <a:ext uri="{FF2B5EF4-FFF2-40B4-BE49-F238E27FC236}">
                    <a16:creationId xmlns:a16="http://schemas.microsoft.com/office/drawing/2014/main" id="{8FB823F4-6085-8A2C-6597-858039ED16E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5452924" y="5452112"/>
                <a:ext cx="746450" cy="219105"/>
              </a:xfrm>
              <a:prstGeom prst="bentConnector2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연결선: 꺾임 50">
                <a:extLst>
                  <a:ext uri="{FF2B5EF4-FFF2-40B4-BE49-F238E27FC236}">
                    <a16:creationId xmlns:a16="http://schemas.microsoft.com/office/drawing/2014/main" id="{7FA76C64-AE23-2755-E6FF-51E7CB2CD1AC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5647691" y="5257345"/>
                <a:ext cx="356916" cy="219105"/>
              </a:xfrm>
              <a:prstGeom prst="bentConnector2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" name="Rectangle: Rounded Corners 46">
              <a:extLst>
                <a:ext uri="{FF2B5EF4-FFF2-40B4-BE49-F238E27FC236}">
                  <a16:creationId xmlns:a16="http://schemas.microsoft.com/office/drawing/2014/main" id="{CFFA21D8-37DD-E6B1-742B-6C96449ADDE5}"/>
                </a:ext>
              </a:extLst>
            </p:cNvPr>
            <p:cNvSpPr/>
            <p:nvPr/>
          </p:nvSpPr>
          <p:spPr>
            <a:xfrm>
              <a:off x="8567582" y="4059505"/>
              <a:ext cx="2588011" cy="435600"/>
            </a:xfrm>
            <a:prstGeom prst="roundRect">
              <a:avLst>
                <a:gd name="adj" fmla="val 11418"/>
              </a:avLst>
            </a:prstGeom>
            <a:solidFill>
              <a:srgbClr val="043B72"/>
            </a:solidFill>
            <a:ln w="3175" cap="flat" cmpd="sng" algn="ctr">
              <a:noFill/>
              <a:prstDash val="solid"/>
            </a:ln>
            <a:effectLst/>
          </p:spPr>
          <p:txBody>
            <a:bodyPr wrap="square" lIns="0" tIns="0" rIns="0" bIns="0" rtlCol="0" anchor="ctr" anchorCtr="0"/>
            <a:lstStyle/>
            <a:p>
              <a:pPr algn="ctr" defTabSz="1042873" latinLnBrk="0">
                <a:defRPr/>
              </a:pPr>
              <a:r>
                <a:rPr lang="ko-KR" altLang="en-US" sz="1200" b="1" kern="0">
                  <a:ln>
                    <a:solidFill>
                      <a:srgbClr val="A5C249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+mn-ea"/>
                </a:rPr>
                <a:t>제</a:t>
              </a:r>
              <a:r>
                <a:rPr lang="en-US" altLang="ko-KR" sz="1200" b="1" kern="0">
                  <a:ln>
                    <a:solidFill>
                      <a:srgbClr val="A5C249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+mn-ea"/>
                </a:rPr>
                <a:t>5</a:t>
              </a:r>
              <a:r>
                <a:rPr lang="ko-KR" altLang="en-US" sz="1200" b="1" kern="0">
                  <a:ln>
                    <a:solidFill>
                      <a:srgbClr val="A5C249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+mn-ea"/>
                </a:rPr>
                <a:t>편</a:t>
              </a:r>
              <a:br>
                <a:rPr lang="en-US" altLang="ko-KR" sz="1200" b="1" kern="0">
                  <a:ln>
                    <a:solidFill>
                      <a:srgbClr val="A5C249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+mn-ea"/>
                </a:rPr>
              </a:br>
              <a:r>
                <a:rPr lang="ko-KR" altLang="en-US" sz="1200" b="1" kern="0" spc="-70">
                  <a:ln>
                    <a:solidFill>
                      <a:srgbClr val="A5C249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+mn-ea"/>
                </a:rPr>
                <a:t>학습데이터 관리</a:t>
              </a:r>
              <a:endParaRPr lang="en-US" altLang="ko-KR" sz="1200" b="1" kern="0" spc="-7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05CC312E-B0C6-3E1C-6430-5E42E3767CE4}"/>
                </a:ext>
              </a:extLst>
            </p:cNvPr>
            <p:cNvSpPr/>
            <p:nvPr/>
          </p:nvSpPr>
          <p:spPr>
            <a:xfrm>
              <a:off x="5598487" y="4994645"/>
              <a:ext cx="236220" cy="26733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endParaRPr lang="ko-KR" altLang="en-US">
                <a:latin typeface="+mn-ea"/>
              </a:endParaRPr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38D6AF7A-E13C-DC14-E405-67B5A6E82ABF}"/>
                </a:ext>
              </a:extLst>
            </p:cNvPr>
            <p:cNvGrpSpPr/>
            <p:nvPr/>
          </p:nvGrpSpPr>
          <p:grpSpPr>
            <a:xfrm>
              <a:off x="5598487" y="5226691"/>
              <a:ext cx="2588010" cy="905986"/>
              <a:chOff x="5598487" y="5188440"/>
              <a:chExt cx="2588010" cy="905986"/>
            </a:xfrm>
          </p:grpSpPr>
          <p:sp>
            <p:nvSpPr>
              <p:cNvPr id="42" name="직사각형 41">
                <a:extLst>
                  <a:ext uri="{FF2B5EF4-FFF2-40B4-BE49-F238E27FC236}">
                    <a16:creationId xmlns:a16="http://schemas.microsoft.com/office/drawing/2014/main" id="{63E71FE6-EBF8-CCBA-EDFD-7FEF8228FAB8}"/>
                  </a:ext>
                </a:extLst>
              </p:cNvPr>
              <p:cNvSpPr/>
              <p:nvPr/>
            </p:nvSpPr>
            <p:spPr>
              <a:xfrm>
                <a:off x="5598487" y="5679780"/>
                <a:ext cx="236220" cy="26733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latinLnBrk="0"/>
                <a:endParaRPr lang="ko-KR" altLang="en-US">
                  <a:latin typeface="+mn-ea"/>
                </a:endParaRPr>
              </a:p>
            </p:txBody>
          </p:sp>
          <p:sp>
            <p:nvSpPr>
              <p:cNvPr id="43" name="Rectangle: Rounded Corners 46">
                <a:extLst>
                  <a:ext uri="{FF2B5EF4-FFF2-40B4-BE49-F238E27FC236}">
                    <a16:creationId xmlns:a16="http://schemas.microsoft.com/office/drawing/2014/main" id="{E73AD4C8-3B8F-7B4A-6BD7-F7FD2D3C32E9}"/>
                  </a:ext>
                </a:extLst>
              </p:cNvPr>
              <p:cNvSpPr/>
              <p:nvPr/>
            </p:nvSpPr>
            <p:spPr>
              <a:xfrm>
                <a:off x="5935702" y="5775354"/>
                <a:ext cx="2250795" cy="319072"/>
              </a:xfrm>
              <a:prstGeom prst="roundRect">
                <a:avLst>
                  <a:gd name="adj" fmla="val 11418"/>
                </a:avLst>
              </a:prstGeom>
              <a:solidFill>
                <a:schemeClr val="bg1"/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txBody>
              <a:bodyPr spcFirstLastPara="1" wrap="square" lIns="108000" tIns="0" rIns="0" bIns="0" anchor="ctr" anchorCtr="0">
                <a:noAutofit/>
              </a:bodyPr>
              <a:lstStyle/>
              <a:p>
                <a:pPr defTabSz="914446">
                  <a:buClr>
                    <a:srgbClr val="FFFFFF"/>
                  </a:buClr>
                  <a:buSzPts val="1100"/>
                </a:pPr>
                <a:r>
                  <a:rPr lang="ko-KR" altLang="en-US" sz="1100" b="1">
                    <a:latin typeface="+mn-ea"/>
                    <a:cs typeface="Pretendard" panose="02000503000000020004" pitchFamily="50" charset="-127"/>
                  </a:rPr>
                  <a:t>제</a:t>
                </a:r>
                <a:r>
                  <a:rPr lang="en-US" altLang="ko-KR" sz="1100" b="1">
                    <a:latin typeface="+mn-ea"/>
                    <a:cs typeface="Pretendard" panose="02000503000000020004" pitchFamily="50" charset="-127"/>
                  </a:rPr>
                  <a:t>2</a:t>
                </a:r>
                <a:r>
                  <a:rPr lang="ko-KR" altLang="en-US" sz="1100" b="1">
                    <a:latin typeface="+mn-ea"/>
                    <a:cs typeface="Pretendard" panose="02000503000000020004" pitchFamily="50" charset="-127"/>
                  </a:rPr>
                  <a:t>장 위험 수준별 준수사항</a:t>
                </a:r>
                <a:endParaRPr lang="en-US" altLang="ko-KR" sz="1100" b="1">
                  <a:latin typeface="+mn-ea"/>
                  <a:cs typeface="Pretendard" panose="02000503000000020004" pitchFamily="50" charset="-127"/>
                </a:endParaRPr>
              </a:p>
            </p:txBody>
          </p:sp>
          <p:sp>
            <p:nvSpPr>
              <p:cNvPr id="44" name="Rectangle: Rounded Corners 46">
                <a:extLst>
                  <a:ext uri="{FF2B5EF4-FFF2-40B4-BE49-F238E27FC236}">
                    <a16:creationId xmlns:a16="http://schemas.microsoft.com/office/drawing/2014/main" id="{656FBDB3-B212-57E6-6B32-3E8B3FEB244F}"/>
                  </a:ext>
                </a:extLst>
              </p:cNvPr>
              <p:cNvSpPr/>
              <p:nvPr/>
            </p:nvSpPr>
            <p:spPr>
              <a:xfrm>
                <a:off x="5935702" y="5385820"/>
                <a:ext cx="2250795" cy="319072"/>
              </a:xfrm>
              <a:prstGeom prst="roundRect">
                <a:avLst>
                  <a:gd name="adj" fmla="val 11418"/>
                </a:avLst>
              </a:prstGeom>
              <a:solidFill>
                <a:schemeClr val="bg1"/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txBody>
              <a:bodyPr spcFirstLastPara="1" wrap="square" lIns="108000" tIns="0" rIns="0" bIns="0" anchor="ctr" anchorCtr="0">
                <a:noAutofit/>
              </a:bodyPr>
              <a:lstStyle/>
              <a:p>
                <a:pPr defTabSz="914446">
                  <a:buClr>
                    <a:srgbClr val="FFFFFF"/>
                  </a:buClr>
                  <a:buSzPts val="1100"/>
                </a:pPr>
                <a:r>
                  <a:rPr lang="ko-KR" altLang="en-US" sz="1100" b="1">
                    <a:latin typeface="+mn-ea"/>
                    <a:cs typeface="Pretendard" panose="02000503000000020004" pitchFamily="50" charset="-127"/>
                  </a:rPr>
                  <a:t>제</a:t>
                </a:r>
                <a:r>
                  <a:rPr lang="en-US" altLang="ko-KR" sz="1100" b="1">
                    <a:latin typeface="+mn-ea"/>
                    <a:cs typeface="Pretendard" panose="02000503000000020004" pitchFamily="50" charset="-127"/>
                  </a:rPr>
                  <a:t>1</a:t>
                </a:r>
                <a:r>
                  <a:rPr lang="ko-KR" altLang="en-US" sz="1100" b="1">
                    <a:latin typeface="+mn-ea"/>
                    <a:cs typeface="Pretendard" panose="02000503000000020004" pitchFamily="50" charset="-127"/>
                  </a:rPr>
                  <a:t>장 개발</a:t>
                </a:r>
                <a:r>
                  <a:rPr lang="en-US" altLang="ko-KR" sz="1100" b="1">
                    <a:latin typeface="+mn-ea"/>
                    <a:cs typeface="Pretendard" panose="02000503000000020004" pitchFamily="50" charset="-127"/>
                  </a:rPr>
                  <a:t>·</a:t>
                </a:r>
                <a:r>
                  <a:rPr lang="ko-KR" altLang="en-US" sz="1100" b="1">
                    <a:latin typeface="+mn-ea"/>
                    <a:cs typeface="Pretendard" panose="02000503000000020004" pitchFamily="50" charset="-127"/>
                  </a:rPr>
                  <a:t>운영 준수사항</a:t>
                </a:r>
                <a:endParaRPr lang="en-US" altLang="ko-KR" sz="1100" b="1">
                  <a:latin typeface="+mn-ea"/>
                  <a:cs typeface="Pretendard" panose="02000503000000020004" pitchFamily="50" charset="-127"/>
                </a:endParaRPr>
              </a:p>
            </p:txBody>
          </p:sp>
          <p:cxnSp>
            <p:nvCxnSpPr>
              <p:cNvPr id="45" name="연결선: 꺾임 44">
                <a:extLst>
                  <a:ext uri="{FF2B5EF4-FFF2-40B4-BE49-F238E27FC236}">
                    <a16:creationId xmlns:a16="http://schemas.microsoft.com/office/drawing/2014/main" id="{0F3680C3-C50B-0ABD-538B-08B3C5A527A3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5452924" y="5452112"/>
                <a:ext cx="746450" cy="219105"/>
              </a:xfrm>
              <a:prstGeom prst="bentConnector2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연결선: 꺾임 45">
                <a:extLst>
                  <a:ext uri="{FF2B5EF4-FFF2-40B4-BE49-F238E27FC236}">
                    <a16:creationId xmlns:a16="http://schemas.microsoft.com/office/drawing/2014/main" id="{D6A9C551-E62E-75E6-C701-06D8CE9833EB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5647691" y="5257345"/>
                <a:ext cx="356916" cy="219105"/>
              </a:xfrm>
              <a:prstGeom prst="bentConnector2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" name="Rectangle: Rounded Corners 46">
              <a:extLst>
                <a:ext uri="{FF2B5EF4-FFF2-40B4-BE49-F238E27FC236}">
                  <a16:creationId xmlns:a16="http://schemas.microsoft.com/office/drawing/2014/main" id="{B5822E8A-2D99-9BFE-E167-5ECE7DF4E8F7}"/>
                </a:ext>
              </a:extLst>
            </p:cNvPr>
            <p:cNvSpPr/>
            <p:nvPr/>
          </p:nvSpPr>
          <p:spPr>
            <a:xfrm>
              <a:off x="5598487" y="4909582"/>
              <a:ext cx="2588011" cy="435600"/>
            </a:xfrm>
            <a:prstGeom prst="roundRect">
              <a:avLst>
                <a:gd name="adj" fmla="val 11418"/>
              </a:avLst>
            </a:prstGeom>
            <a:solidFill>
              <a:srgbClr val="043B72"/>
            </a:solidFill>
            <a:ln w="3175" cap="flat" cmpd="sng" algn="ctr">
              <a:noFill/>
              <a:prstDash val="solid"/>
            </a:ln>
            <a:effectLst/>
          </p:spPr>
          <p:txBody>
            <a:bodyPr wrap="square" lIns="0" tIns="0" rIns="0" bIns="0" rtlCol="0" anchor="ctr" anchorCtr="0"/>
            <a:lstStyle/>
            <a:p>
              <a:pPr algn="ctr" defTabSz="1042873" latinLnBrk="0">
                <a:defRPr/>
              </a:pPr>
              <a:r>
                <a:rPr lang="ko-KR" altLang="en-US" sz="1200" b="1" kern="0">
                  <a:ln>
                    <a:solidFill>
                      <a:srgbClr val="A5C249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+mn-ea"/>
                </a:rPr>
                <a:t>제</a:t>
              </a:r>
              <a:r>
                <a:rPr lang="en-US" altLang="ko-KR" sz="1200" b="1" kern="0">
                  <a:ln>
                    <a:solidFill>
                      <a:srgbClr val="A5C249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+mn-ea"/>
                </a:rPr>
                <a:t>3</a:t>
              </a:r>
              <a:r>
                <a:rPr lang="ko-KR" altLang="en-US" sz="1200" b="1" kern="0">
                  <a:ln>
                    <a:solidFill>
                      <a:srgbClr val="A5C249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+mn-ea"/>
                </a:rPr>
                <a:t>편</a:t>
              </a:r>
              <a:br>
                <a:rPr lang="en-US" altLang="ko-KR" sz="1200" b="1" kern="0">
                  <a:ln>
                    <a:solidFill>
                      <a:srgbClr val="A5C249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+mn-ea"/>
                </a:rPr>
              </a:br>
              <a:r>
                <a:rPr lang="ko-KR" altLang="en-US" sz="1200" b="1" kern="0">
                  <a:ln>
                    <a:solidFill>
                      <a:srgbClr val="A5C249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+mn-ea"/>
                </a:rPr>
                <a:t>개발</a:t>
              </a:r>
              <a:r>
                <a:rPr lang="en-US" altLang="ko-KR" sz="1200" b="1" kern="0">
                  <a:ln>
                    <a:solidFill>
                      <a:srgbClr val="A5C249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+mn-ea"/>
                </a:rPr>
                <a:t>·</a:t>
              </a:r>
              <a:r>
                <a:rPr lang="ko-KR" altLang="en-US" sz="1200" b="1" kern="0">
                  <a:ln>
                    <a:solidFill>
                      <a:srgbClr val="A5C249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+mn-ea"/>
                </a:rPr>
                <a:t>운영 준수사항</a:t>
              </a:r>
              <a:endPara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endParaRPr>
            </a:p>
          </p:txBody>
        </p:sp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104EDB29-A219-0A4E-C5CA-D1348951D88C}"/>
                </a:ext>
              </a:extLst>
            </p:cNvPr>
            <p:cNvGrpSpPr/>
            <p:nvPr/>
          </p:nvGrpSpPr>
          <p:grpSpPr>
            <a:xfrm>
              <a:off x="5598487" y="3480581"/>
              <a:ext cx="2588011" cy="1214698"/>
              <a:chOff x="5598487" y="3320696"/>
              <a:chExt cx="2588011" cy="1214698"/>
            </a:xfrm>
          </p:grpSpPr>
          <p:sp>
            <p:nvSpPr>
              <p:cNvPr id="37" name="Rectangle: Rounded Corners 46">
                <a:extLst>
                  <a:ext uri="{FF2B5EF4-FFF2-40B4-BE49-F238E27FC236}">
                    <a16:creationId xmlns:a16="http://schemas.microsoft.com/office/drawing/2014/main" id="{A428E553-56D7-A718-5BC2-DE829E5A0528}"/>
                  </a:ext>
                </a:extLst>
              </p:cNvPr>
              <p:cNvSpPr/>
              <p:nvPr/>
            </p:nvSpPr>
            <p:spPr>
              <a:xfrm>
                <a:off x="5935701" y="4216322"/>
                <a:ext cx="2250795" cy="319072"/>
              </a:xfrm>
              <a:prstGeom prst="roundRect">
                <a:avLst>
                  <a:gd name="adj" fmla="val 11418"/>
                </a:avLst>
              </a:prstGeom>
              <a:solidFill>
                <a:schemeClr val="bg1"/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txBody>
              <a:bodyPr spcFirstLastPara="1" wrap="square" lIns="108000" tIns="0" rIns="0" bIns="0" anchor="ctr" anchorCtr="0">
                <a:noAutofit/>
              </a:bodyPr>
              <a:lstStyle/>
              <a:p>
                <a:pPr defTabSz="914446">
                  <a:buClr>
                    <a:srgbClr val="FFFFFF"/>
                  </a:buClr>
                  <a:buSzPts val="1100"/>
                </a:pPr>
                <a:r>
                  <a:rPr lang="ko-KR" altLang="en-US" sz="1100" b="1">
                    <a:latin typeface="+mn-ea"/>
                    <a:cs typeface="Pretendard" panose="02000503000000020004" pitchFamily="50" charset="-127"/>
                  </a:rPr>
                  <a:t>제</a:t>
                </a:r>
                <a:r>
                  <a:rPr lang="en-US" altLang="ko-KR" sz="1100" b="1">
                    <a:latin typeface="+mn-ea"/>
                    <a:cs typeface="Pretendard" panose="02000503000000020004" pitchFamily="50" charset="-127"/>
                  </a:rPr>
                  <a:t>2</a:t>
                </a:r>
                <a:r>
                  <a:rPr lang="ko-KR" altLang="en-US" sz="1100" b="1">
                    <a:latin typeface="+mn-ea"/>
                    <a:cs typeface="Pretendard" panose="02000503000000020004" pitchFamily="50" charset="-127"/>
                  </a:rPr>
                  <a:t>장 평가 절차</a:t>
                </a:r>
                <a:endParaRPr lang="en-US" altLang="ko-KR" sz="1100" b="1">
                  <a:latin typeface="+mn-ea"/>
                  <a:cs typeface="Pretendard" panose="02000503000000020004" pitchFamily="50" charset="-127"/>
                </a:endParaRPr>
              </a:p>
            </p:txBody>
          </p:sp>
          <p:sp>
            <p:nvSpPr>
              <p:cNvPr id="38" name="Rectangle: Rounded Corners 46">
                <a:extLst>
                  <a:ext uri="{FF2B5EF4-FFF2-40B4-BE49-F238E27FC236}">
                    <a16:creationId xmlns:a16="http://schemas.microsoft.com/office/drawing/2014/main" id="{8F7E8600-21D6-FE4F-4324-51DA3C92A692}"/>
                  </a:ext>
                </a:extLst>
              </p:cNvPr>
              <p:cNvSpPr/>
              <p:nvPr/>
            </p:nvSpPr>
            <p:spPr>
              <a:xfrm>
                <a:off x="5935701" y="3826788"/>
                <a:ext cx="2250795" cy="319072"/>
              </a:xfrm>
              <a:prstGeom prst="roundRect">
                <a:avLst>
                  <a:gd name="adj" fmla="val 11418"/>
                </a:avLst>
              </a:prstGeom>
              <a:solidFill>
                <a:schemeClr val="bg1"/>
              </a:solidFill>
              <a:ln>
                <a:solidFill>
                  <a:schemeClr val="accent1">
                    <a:lumMod val="75000"/>
                  </a:schemeClr>
                </a:solidFill>
              </a:ln>
            </p:spPr>
            <p:txBody>
              <a:bodyPr spcFirstLastPara="1" wrap="square" lIns="108000" tIns="0" rIns="0" bIns="0" anchor="ctr" anchorCtr="0">
                <a:noAutofit/>
              </a:bodyPr>
              <a:lstStyle/>
              <a:p>
                <a:pPr defTabSz="914446">
                  <a:buClr>
                    <a:srgbClr val="FFFFFF"/>
                  </a:buClr>
                  <a:buSzPts val="1100"/>
                </a:pPr>
                <a:r>
                  <a:rPr lang="ko-KR" altLang="en-US" sz="1100" b="1">
                    <a:latin typeface="+mn-ea"/>
                    <a:cs typeface="Pretendard" panose="02000503000000020004" pitchFamily="50" charset="-127"/>
                  </a:rPr>
                  <a:t>제</a:t>
                </a:r>
                <a:r>
                  <a:rPr lang="en-US" altLang="ko-KR" sz="1100" b="1">
                    <a:latin typeface="+mn-ea"/>
                    <a:cs typeface="Pretendard" panose="02000503000000020004" pitchFamily="50" charset="-127"/>
                  </a:rPr>
                  <a:t>1</a:t>
                </a:r>
                <a:r>
                  <a:rPr lang="ko-KR" altLang="en-US" sz="1100" b="1">
                    <a:latin typeface="+mn-ea"/>
                    <a:cs typeface="Pretendard" panose="02000503000000020004" pitchFamily="50" charset="-127"/>
                  </a:rPr>
                  <a:t>장 평가 기준</a:t>
                </a:r>
                <a:endParaRPr lang="en-US" altLang="ko-KR" sz="1100" b="1">
                  <a:latin typeface="+mn-ea"/>
                  <a:cs typeface="Pretendard" panose="02000503000000020004" pitchFamily="50" charset="-127"/>
                </a:endParaRPr>
              </a:p>
            </p:txBody>
          </p:sp>
          <p:cxnSp>
            <p:nvCxnSpPr>
              <p:cNvPr id="39" name="연결선: 꺾임 38">
                <a:extLst>
                  <a:ext uri="{FF2B5EF4-FFF2-40B4-BE49-F238E27FC236}">
                    <a16:creationId xmlns:a16="http://schemas.microsoft.com/office/drawing/2014/main" id="{053D01BE-C1C0-5916-26A0-AE02751BB312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5452923" y="3893080"/>
                <a:ext cx="746450" cy="219105"/>
              </a:xfrm>
              <a:prstGeom prst="bentConnector2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연결선: 꺾임 39">
                <a:extLst>
                  <a:ext uri="{FF2B5EF4-FFF2-40B4-BE49-F238E27FC236}">
                    <a16:creationId xmlns:a16="http://schemas.microsoft.com/office/drawing/2014/main" id="{2C262956-AE49-80E3-F7BF-E4F1F08AD132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5647690" y="3698313"/>
                <a:ext cx="356916" cy="219105"/>
              </a:xfrm>
              <a:prstGeom prst="bentConnector2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" name="Rectangle: Rounded Corners 46">
                <a:extLst>
                  <a:ext uri="{FF2B5EF4-FFF2-40B4-BE49-F238E27FC236}">
                    <a16:creationId xmlns:a16="http://schemas.microsoft.com/office/drawing/2014/main" id="{5A7A30F7-06D3-C616-3F26-21916A2CF26A}"/>
                  </a:ext>
                </a:extLst>
              </p:cNvPr>
              <p:cNvSpPr/>
              <p:nvPr/>
            </p:nvSpPr>
            <p:spPr>
              <a:xfrm>
                <a:off x="5598487" y="3320696"/>
                <a:ext cx="2588011" cy="435600"/>
              </a:xfrm>
              <a:prstGeom prst="roundRect">
                <a:avLst>
                  <a:gd name="adj" fmla="val 11418"/>
                </a:avLst>
              </a:prstGeom>
              <a:solidFill>
                <a:srgbClr val="043B72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wrap="square" lIns="0" tIns="0" rIns="0" bIns="0" rtlCol="0" anchor="ctr" anchorCtr="0"/>
              <a:lstStyle/>
              <a:p>
                <a:pPr algn="ctr" defTabSz="1042873" latinLnBrk="0">
                  <a:defRPr/>
                </a:pPr>
                <a:r>
                  <a:rPr lang="ko-KR" altLang="en-US" sz="1200" b="1" kern="0">
                    <a:ln>
                      <a:solidFill>
                        <a:srgbClr val="A5C249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+mn-ea"/>
                  </a:rPr>
                  <a:t>제</a:t>
                </a:r>
                <a:r>
                  <a:rPr lang="en-US" altLang="ko-KR" sz="1200" b="1" kern="0">
                    <a:ln>
                      <a:solidFill>
                        <a:srgbClr val="A5C249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+mn-ea"/>
                  </a:rPr>
                  <a:t>2</a:t>
                </a:r>
                <a:r>
                  <a:rPr lang="ko-KR" altLang="en-US" sz="1200" b="1" kern="0">
                    <a:ln>
                      <a:solidFill>
                        <a:srgbClr val="A5C249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+mn-ea"/>
                  </a:rPr>
                  <a:t>편</a:t>
                </a:r>
                <a:br>
                  <a:rPr lang="en-US" altLang="ko-KR" sz="1200" b="1" kern="0">
                    <a:ln>
                      <a:solidFill>
                        <a:srgbClr val="A5C249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+mn-ea"/>
                  </a:rPr>
                </a:br>
                <a:r>
                  <a:rPr lang="ko-KR" altLang="en-US" sz="1200" b="1" kern="0">
                    <a:ln>
                      <a:solidFill>
                        <a:srgbClr val="A5C249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+mn-ea"/>
                  </a:rPr>
                  <a:t>위험 수준 평가</a:t>
                </a:r>
                <a:endParaRPr lang="en-US" altLang="ko-KR" sz="1200" b="1" kern="0">
                  <a:ln>
                    <a:solidFill>
                      <a:srgbClr val="A5C249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+mn-ea"/>
                </a:endParaRPr>
              </a:p>
            </p:txBody>
          </p:sp>
        </p:grpSp>
        <p:sp>
          <p:nvSpPr>
            <p:cNvPr id="25" name="Rectangle: Rounded Corners 46">
              <a:extLst>
                <a:ext uri="{FF2B5EF4-FFF2-40B4-BE49-F238E27FC236}">
                  <a16:creationId xmlns:a16="http://schemas.microsoft.com/office/drawing/2014/main" id="{05AE6458-7A46-279F-F143-C07A50696284}"/>
                </a:ext>
              </a:extLst>
            </p:cNvPr>
            <p:cNvSpPr/>
            <p:nvPr/>
          </p:nvSpPr>
          <p:spPr>
            <a:xfrm>
              <a:off x="5598487" y="2830678"/>
              <a:ext cx="2588011" cy="435600"/>
            </a:xfrm>
            <a:prstGeom prst="roundRect">
              <a:avLst>
                <a:gd name="adj" fmla="val 11418"/>
              </a:avLst>
            </a:prstGeom>
            <a:solidFill>
              <a:srgbClr val="043B72"/>
            </a:solidFill>
            <a:ln w="3175" cap="flat" cmpd="sng" algn="ctr">
              <a:noFill/>
              <a:prstDash val="solid"/>
            </a:ln>
            <a:effectLst/>
          </p:spPr>
          <p:txBody>
            <a:bodyPr wrap="square" lIns="0" tIns="0" rIns="0" bIns="0" rtlCol="0" anchor="ctr" anchorCtr="0"/>
            <a:lstStyle/>
            <a:p>
              <a:pPr marL="0" marR="0" lvl="0" indent="0" algn="ctr" defTabSz="104287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0" cap="none" spc="0" normalizeH="0" baseline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제</a:t>
              </a:r>
              <a:r>
                <a:rPr kumimoji="0" lang="en-US" altLang="ko-KR" sz="1200" b="1" i="0" u="none" strike="noStrike" kern="0" cap="none" spc="0" normalizeH="0" baseline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1</a:t>
              </a:r>
              <a:r>
                <a:rPr lang="ko-KR" altLang="en-US" sz="1200" b="1" kern="0">
                  <a:ln>
                    <a:solidFill>
                      <a:srgbClr val="A5C249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+mn-ea"/>
                  <a:cs typeface="Pretendard SemiBold" panose="02000703000000020004" pitchFamily="50" charset="-127"/>
                </a:rPr>
                <a:t>편</a:t>
              </a:r>
              <a:br>
                <a:rPr kumimoji="0" lang="en-US" altLang="ko-KR" sz="1200" b="1" i="0" u="none" strike="noStrike" kern="0" cap="none" spc="0" normalizeH="0" baseline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</a:br>
              <a:r>
                <a:rPr kumimoji="0" lang="ko-KR" altLang="en-US" sz="1200" b="1" i="0" u="none" strike="noStrike" kern="0" cap="none" spc="0" normalizeH="0" baseline="0" noProof="0">
                  <a:ln>
                    <a:solidFill>
                      <a:srgbClr val="A5C249">
                        <a:alpha val="0"/>
                      </a:srgb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  <a:cs typeface="Pretendard SemiBold" panose="02000703000000020004" pitchFamily="50" charset="-127"/>
                </a:rPr>
                <a:t>총론</a:t>
              </a:r>
              <a:endParaRPr kumimoji="0" lang="en-US" altLang="ko-KR" sz="1200" b="1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Pretendard SemiBold" panose="02000703000000020004" pitchFamily="50" charset="-127"/>
              </a:endParaRPr>
            </a:p>
          </p:txBody>
        </p:sp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3BBE3789-7880-D776-02DA-96DBE01BBD56}"/>
                </a:ext>
              </a:extLst>
            </p:cNvPr>
            <p:cNvGrpSpPr/>
            <p:nvPr/>
          </p:nvGrpSpPr>
          <p:grpSpPr>
            <a:xfrm>
              <a:off x="8567583" y="2830678"/>
              <a:ext cx="2588011" cy="828931"/>
              <a:chOff x="8567583" y="2830678"/>
              <a:chExt cx="2588011" cy="828931"/>
            </a:xfrm>
          </p:grpSpPr>
          <p:grpSp>
            <p:nvGrpSpPr>
              <p:cNvPr id="33" name="그룹 32">
                <a:extLst>
                  <a:ext uri="{FF2B5EF4-FFF2-40B4-BE49-F238E27FC236}">
                    <a16:creationId xmlns:a16="http://schemas.microsoft.com/office/drawing/2014/main" id="{7196E151-42FE-3DAE-75DB-D48E54E8DF2C}"/>
                  </a:ext>
                </a:extLst>
              </p:cNvPr>
              <p:cNvGrpSpPr/>
              <p:nvPr/>
            </p:nvGrpSpPr>
            <p:grpSpPr>
              <a:xfrm>
                <a:off x="8685691" y="3143157"/>
                <a:ext cx="2469901" cy="516452"/>
                <a:chOff x="8685691" y="3143157"/>
                <a:chExt cx="2469901" cy="516452"/>
              </a:xfrm>
            </p:grpSpPr>
            <p:sp>
              <p:nvSpPr>
                <p:cNvPr id="35" name="Rectangle: Rounded Corners 46">
                  <a:extLst>
                    <a:ext uri="{FF2B5EF4-FFF2-40B4-BE49-F238E27FC236}">
                      <a16:creationId xmlns:a16="http://schemas.microsoft.com/office/drawing/2014/main" id="{A62FC7AE-531D-A981-6BF1-40BC8F76D098}"/>
                    </a:ext>
                  </a:extLst>
                </p:cNvPr>
                <p:cNvSpPr/>
                <p:nvPr/>
              </p:nvSpPr>
              <p:spPr>
                <a:xfrm>
                  <a:off x="8904797" y="3340537"/>
                  <a:ext cx="2250795" cy="319072"/>
                </a:xfrm>
                <a:prstGeom prst="roundRect">
                  <a:avLst>
                    <a:gd name="adj" fmla="val 11418"/>
                  </a:avLst>
                </a:prstGeom>
                <a:solidFill>
                  <a:schemeClr val="bg1"/>
                </a:solidFill>
                <a:ln>
                  <a:solidFill>
                    <a:schemeClr val="accent1">
                      <a:lumMod val="75000"/>
                    </a:schemeClr>
                  </a:solidFill>
                </a:ln>
              </p:spPr>
              <p:txBody>
                <a:bodyPr spcFirstLastPara="1" wrap="square" lIns="108000" tIns="0" rIns="0" bIns="0" anchor="ctr" anchorCtr="0">
                  <a:noAutofit/>
                </a:bodyPr>
                <a:lstStyle/>
                <a:p>
                  <a:pPr defTabSz="914446">
                    <a:buClr>
                      <a:srgbClr val="FFFFFF"/>
                    </a:buClr>
                    <a:buSzPts val="1100"/>
                  </a:pPr>
                  <a:r>
                    <a:rPr lang="ko-KR" altLang="en-US" sz="1100" b="1">
                      <a:latin typeface="+mn-ea"/>
                      <a:cs typeface="Pretendard" panose="02000503000000020004" pitchFamily="50" charset="-127"/>
                    </a:rPr>
                    <a:t>제</a:t>
                  </a:r>
                  <a:r>
                    <a:rPr lang="en-US" altLang="ko-KR" sz="1100" b="1">
                      <a:latin typeface="+mn-ea"/>
                      <a:cs typeface="Pretendard" panose="02000503000000020004" pitchFamily="50" charset="-127"/>
                    </a:rPr>
                    <a:t>1~6</a:t>
                  </a:r>
                  <a:r>
                    <a:rPr lang="ko-KR" altLang="en-US" sz="1100" b="1">
                      <a:latin typeface="+mn-ea"/>
                      <a:cs typeface="Pretendard" panose="02000503000000020004" pitchFamily="50" charset="-127"/>
                    </a:rPr>
                    <a:t>장 관리 기준</a:t>
                  </a:r>
                  <a:endParaRPr lang="en-US" altLang="ko-KR" sz="1100" b="1">
                    <a:latin typeface="+mn-ea"/>
                    <a:cs typeface="Pretendard" panose="02000503000000020004" pitchFamily="50" charset="-127"/>
                  </a:endParaRPr>
                </a:p>
              </p:txBody>
            </p:sp>
            <p:cxnSp>
              <p:nvCxnSpPr>
                <p:cNvPr id="36" name="연결선: 꺾임 35">
                  <a:extLst>
                    <a:ext uri="{FF2B5EF4-FFF2-40B4-BE49-F238E27FC236}">
                      <a16:creationId xmlns:a16="http://schemas.microsoft.com/office/drawing/2014/main" id="{4E5DCAB8-6FBD-F41A-EAE4-6BAC71D31B1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8616786" y="3212062"/>
                  <a:ext cx="356916" cy="219105"/>
                </a:xfrm>
                <a:prstGeom prst="bentConnector2">
                  <a:avLst/>
                </a:prstGeom>
                <a:ln w="127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4" name="Rectangle: Rounded Corners 46">
                <a:extLst>
                  <a:ext uri="{FF2B5EF4-FFF2-40B4-BE49-F238E27FC236}">
                    <a16:creationId xmlns:a16="http://schemas.microsoft.com/office/drawing/2014/main" id="{06824300-6BD2-FCC3-4D65-5D6729987E82}"/>
                  </a:ext>
                </a:extLst>
              </p:cNvPr>
              <p:cNvSpPr/>
              <p:nvPr/>
            </p:nvSpPr>
            <p:spPr>
              <a:xfrm>
                <a:off x="8567583" y="2830678"/>
                <a:ext cx="2588011" cy="435600"/>
              </a:xfrm>
              <a:prstGeom prst="roundRect">
                <a:avLst>
                  <a:gd name="adj" fmla="val 11418"/>
                </a:avLst>
              </a:prstGeom>
              <a:solidFill>
                <a:srgbClr val="043B72"/>
              </a:solidFill>
              <a:ln w="3175" cap="flat" cmpd="sng" algn="ctr">
                <a:noFill/>
                <a:prstDash val="solid"/>
              </a:ln>
              <a:effectLst/>
            </p:spPr>
            <p:txBody>
              <a:bodyPr wrap="square" lIns="0" tIns="0" rIns="0" bIns="0" rtlCol="0" anchor="ctr" anchorCtr="0"/>
              <a:lstStyle/>
              <a:p>
                <a:pPr algn="ctr" defTabSz="1042873" latinLnBrk="0">
                  <a:defRPr/>
                </a:pPr>
                <a:r>
                  <a:rPr lang="ko-KR" altLang="en-US" sz="1200" b="1" kern="0">
                    <a:ln>
                      <a:solidFill>
                        <a:srgbClr val="A5C249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+mn-ea"/>
                  </a:rPr>
                  <a:t>제</a:t>
                </a:r>
                <a:r>
                  <a:rPr lang="en-US" altLang="ko-KR" sz="1200" b="1" kern="0">
                    <a:ln>
                      <a:solidFill>
                        <a:srgbClr val="A5C249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+mn-ea"/>
                  </a:rPr>
                  <a:t>4</a:t>
                </a:r>
                <a:r>
                  <a:rPr lang="ko-KR" altLang="en-US" sz="1200" b="1" kern="0">
                    <a:ln>
                      <a:solidFill>
                        <a:srgbClr val="A5C249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+mn-ea"/>
                  </a:rPr>
                  <a:t>편</a:t>
                </a:r>
                <a:br>
                  <a:rPr lang="en-US" altLang="ko-KR" sz="1200" b="1" kern="0">
                    <a:ln>
                      <a:solidFill>
                        <a:srgbClr val="A5C249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+mn-ea"/>
                  </a:rPr>
                </a:br>
                <a:r>
                  <a:rPr lang="ko-KR" altLang="en-US" sz="1200" b="1" kern="0" spc="-70">
                    <a:ln>
                      <a:solidFill>
                        <a:srgbClr val="A5C249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+mn-ea"/>
                  </a:rPr>
                  <a:t>핵심 속성별 관리 기준</a:t>
                </a:r>
                <a:endParaRPr lang="en-US" altLang="ko-KR" sz="1200" b="1" kern="0" spc="-70">
                  <a:ln>
                    <a:solidFill>
                      <a:srgbClr val="A5C249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+mn-ea"/>
                </a:endParaRPr>
              </a:p>
            </p:txBody>
          </p:sp>
        </p:grpSp>
        <p:sp>
          <p:nvSpPr>
            <p:cNvPr id="27" name="Rectangle: Rounded Corners 46">
              <a:extLst>
                <a:ext uri="{FF2B5EF4-FFF2-40B4-BE49-F238E27FC236}">
                  <a16:creationId xmlns:a16="http://schemas.microsoft.com/office/drawing/2014/main" id="{71A8B0B0-25AA-486F-5C71-52771F20D48C}"/>
                </a:ext>
              </a:extLst>
            </p:cNvPr>
            <p:cNvSpPr/>
            <p:nvPr/>
          </p:nvSpPr>
          <p:spPr>
            <a:xfrm>
              <a:off x="522288" y="2366642"/>
              <a:ext cx="1204912" cy="836708"/>
            </a:xfrm>
            <a:prstGeom prst="roundRect">
              <a:avLst>
                <a:gd name="adj" fmla="val 11418"/>
              </a:avLst>
            </a:prstGeom>
            <a:solidFill>
              <a:srgbClr val="F4B183"/>
            </a:solidFill>
            <a:ln>
              <a:solidFill>
                <a:schemeClr val="bg1"/>
              </a:solidFill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9144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Tx/>
                <a:buNone/>
                <a:tabLst/>
                <a:defRPr/>
              </a:pPr>
              <a:r>
                <a:rPr kumimoji="0" lang="ko-KR" altLang="en-US" sz="1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+mn-ea"/>
                  <a:cs typeface="Pretendard" panose="02000503000000020004" pitchFamily="50" charset="-127"/>
                </a:rPr>
                <a:t>목적</a:t>
              </a:r>
              <a:endParaRPr kumimoji="0" lang="en-US" altLang="ko-KR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cs typeface="Pretendard" panose="02000503000000020004" pitchFamily="50" charset="-127"/>
              </a:endParaRPr>
            </a:p>
          </p:txBody>
        </p:sp>
        <p:sp>
          <p:nvSpPr>
            <p:cNvPr id="28" name="Rectangle: Rounded Corners 46">
              <a:extLst>
                <a:ext uri="{FF2B5EF4-FFF2-40B4-BE49-F238E27FC236}">
                  <a16:creationId xmlns:a16="http://schemas.microsoft.com/office/drawing/2014/main" id="{0FF1CCBC-477A-3760-7843-EF1BE5DC45EA}"/>
                </a:ext>
              </a:extLst>
            </p:cNvPr>
            <p:cNvSpPr/>
            <p:nvPr/>
          </p:nvSpPr>
          <p:spPr>
            <a:xfrm>
              <a:off x="522289" y="3324736"/>
              <a:ext cx="1204912" cy="2547258"/>
            </a:xfrm>
            <a:prstGeom prst="roundRect">
              <a:avLst>
                <a:gd name="adj" fmla="val 6675"/>
              </a:avLst>
            </a:prstGeom>
            <a:solidFill>
              <a:srgbClr val="F4B183"/>
            </a:solidFill>
            <a:ln>
              <a:solidFill>
                <a:schemeClr val="bg1"/>
              </a:solidFill>
            </a:ln>
          </p:spPr>
          <p:txBody>
            <a:bodyPr spcFirstLastPara="1" wrap="square" lIns="0" tIns="0" rIns="504000" bIns="0" anchor="ctr" anchorCtr="0">
              <a:noAutofit/>
            </a:bodyPr>
            <a:lstStyle/>
            <a:p>
              <a:pPr marL="0" marR="0" lvl="0" indent="0" algn="ctr" defTabSz="9144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Tx/>
                <a:buNone/>
                <a:tabLst/>
                <a:defRPr/>
              </a:pPr>
              <a:r>
                <a:rPr kumimoji="0" lang="ko-KR" altLang="en-US" sz="1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+mn-ea"/>
                  <a:cs typeface="Pretendard" panose="02000503000000020004" pitchFamily="50" charset="-127"/>
                </a:rPr>
                <a:t>주요 </a:t>
              </a:r>
              <a:endParaRPr kumimoji="0" lang="en-US" altLang="ko-KR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cs typeface="Pretendard" panose="02000503000000020004" pitchFamily="50" charset="-127"/>
              </a:endParaRPr>
            </a:p>
            <a:p>
              <a:pPr marL="0" marR="0" lvl="0" indent="0" algn="ctr" defTabSz="9144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Tx/>
                <a:buNone/>
                <a:tabLst/>
                <a:defRPr/>
              </a:pPr>
              <a:r>
                <a:rPr kumimoji="0" lang="ko-KR" altLang="en-US" sz="1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+mn-ea"/>
                  <a:cs typeface="Pretendard" panose="02000503000000020004" pitchFamily="50" charset="-127"/>
                </a:rPr>
                <a:t>내용</a:t>
              </a:r>
              <a:endParaRPr kumimoji="0" lang="en-US" altLang="ko-KR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cs typeface="Pretendard" panose="02000503000000020004" pitchFamily="50" charset="-127"/>
              </a:endParaRPr>
            </a:p>
            <a:p>
              <a:pPr marL="0" marR="0" lvl="0" indent="0" algn="ctr" defTabSz="9144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+mn-ea"/>
                  <a:cs typeface="Pretendard" panose="02000503000000020004" pitchFamily="50" charset="-127"/>
                </a:rPr>
                <a:t>(</a:t>
              </a:r>
              <a:r>
                <a:rPr kumimoji="0" lang="ko-KR" altLang="en-US" sz="9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+mn-ea"/>
                  <a:cs typeface="Pretendard" panose="02000503000000020004" pitchFamily="50" charset="-127"/>
                </a:rPr>
                <a:t>문서 목차</a:t>
              </a:r>
              <a:r>
                <a:rPr kumimoji="0" lang="en-US" altLang="ko-KR" sz="9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+mn-ea"/>
                  <a:cs typeface="Pretendard" panose="02000503000000020004" pitchFamily="50" charset="-127"/>
                </a:rPr>
                <a:t>*)</a:t>
              </a:r>
            </a:p>
          </p:txBody>
        </p:sp>
        <p:sp>
          <p:nvSpPr>
            <p:cNvPr id="29" name="Rectangle: Rounded Corners 46">
              <a:extLst>
                <a:ext uri="{FF2B5EF4-FFF2-40B4-BE49-F238E27FC236}">
                  <a16:creationId xmlns:a16="http://schemas.microsoft.com/office/drawing/2014/main" id="{834EAAF1-BF45-80A9-6547-EC0891ABE170}"/>
                </a:ext>
              </a:extLst>
            </p:cNvPr>
            <p:cNvSpPr/>
            <p:nvPr/>
          </p:nvSpPr>
          <p:spPr>
            <a:xfrm>
              <a:off x="522289" y="5917437"/>
              <a:ext cx="1204912" cy="494109"/>
            </a:xfrm>
            <a:prstGeom prst="roundRect">
              <a:avLst>
                <a:gd name="adj" fmla="val 22435"/>
              </a:avLst>
            </a:prstGeom>
            <a:solidFill>
              <a:srgbClr val="F4B183"/>
            </a:solidFill>
            <a:ln>
              <a:solidFill>
                <a:schemeClr val="bg1"/>
              </a:solidFill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defTabSz="9144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Tx/>
                <a:buNone/>
                <a:tabLst/>
                <a:defRPr/>
              </a:pPr>
              <a:r>
                <a:rPr kumimoji="0" lang="ko-KR" altLang="en-US" sz="14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+mn-ea"/>
                  <a:cs typeface="Pretendard" panose="02000503000000020004" pitchFamily="50" charset="-127"/>
                </a:rPr>
                <a:t>사용자</a:t>
              </a:r>
              <a:endParaRPr kumimoji="0" lang="en-US" altLang="ko-KR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cs typeface="Pretendard" panose="02000503000000020004" pitchFamily="50" charset="-127"/>
              </a:endParaRPr>
            </a:p>
          </p:txBody>
        </p:sp>
        <p:sp>
          <p:nvSpPr>
            <p:cNvPr id="30" name="Rectangle: Rounded Corners 46">
              <a:extLst>
                <a:ext uri="{FF2B5EF4-FFF2-40B4-BE49-F238E27FC236}">
                  <a16:creationId xmlns:a16="http://schemas.microsoft.com/office/drawing/2014/main" id="{DC26CEAD-884B-ACAD-7061-79D1346EC097}"/>
                </a:ext>
              </a:extLst>
            </p:cNvPr>
            <p:cNvSpPr/>
            <p:nvPr/>
          </p:nvSpPr>
          <p:spPr>
            <a:xfrm>
              <a:off x="1228725" y="3426270"/>
              <a:ext cx="582110" cy="540556"/>
            </a:xfrm>
            <a:prstGeom prst="roundRect">
              <a:avLst>
                <a:gd name="adj" fmla="val 11418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12700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wrap="square" lIns="0" tIns="0" rIns="0" bIns="0" rtlCol="0" anchor="ctr" anchorCtr="0"/>
            <a:lstStyle/>
            <a:p>
              <a:pPr algn="ctr" defTabSz="1042873"/>
              <a:r>
                <a:rPr lang="ko-KR" altLang="en-US" sz="1200" b="1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원칙</a:t>
              </a:r>
              <a:r>
                <a:rPr lang="en-US" altLang="ko-KR" sz="1200" b="1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/</a:t>
              </a:r>
            </a:p>
            <a:p>
              <a:pPr algn="ctr" defTabSz="1042873"/>
              <a:r>
                <a:rPr lang="ko-KR" altLang="en-US" sz="1200" b="1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기준</a:t>
              </a:r>
              <a:endPara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endParaRPr>
            </a:p>
          </p:txBody>
        </p:sp>
        <p:sp>
          <p:nvSpPr>
            <p:cNvPr id="31" name="Rectangle: Rounded Corners 46">
              <a:extLst>
                <a:ext uri="{FF2B5EF4-FFF2-40B4-BE49-F238E27FC236}">
                  <a16:creationId xmlns:a16="http://schemas.microsoft.com/office/drawing/2014/main" id="{5B35AFF4-81FF-9D8C-E7E7-991AB4D00FB2}"/>
                </a:ext>
              </a:extLst>
            </p:cNvPr>
            <p:cNvSpPr/>
            <p:nvPr/>
          </p:nvSpPr>
          <p:spPr>
            <a:xfrm>
              <a:off x="1228725" y="4031853"/>
              <a:ext cx="582110" cy="540556"/>
            </a:xfrm>
            <a:prstGeom prst="roundRect">
              <a:avLst>
                <a:gd name="adj" fmla="val 11418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12700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wrap="square" lIns="0" tIns="0" rIns="0" bIns="0" rtlCol="0" anchor="ctr" anchorCtr="0"/>
            <a:lstStyle/>
            <a:p>
              <a:pPr algn="ctr" defTabSz="1042873"/>
              <a:r>
                <a:rPr lang="ko-KR" altLang="en-US" sz="1200" b="1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조직</a:t>
              </a:r>
              <a:endPara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endParaRPr>
            </a:p>
          </p:txBody>
        </p:sp>
        <p:sp>
          <p:nvSpPr>
            <p:cNvPr id="32" name="Rectangle: Rounded Corners 46">
              <a:extLst>
                <a:ext uri="{FF2B5EF4-FFF2-40B4-BE49-F238E27FC236}">
                  <a16:creationId xmlns:a16="http://schemas.microsoft.com/office/drawing/2014/main" id="{7EE5D042-970B-615F-163A-D471AB69A8C6}"/>
                </a:ext>
              </a:extLst>
            </p:cNvPr>
            <p:cNvSpPr/>
            <p:nvPr/>
          </p:nvSpPr>
          <p:spPr>
            <a:xfrm>
              <a:off x="1228725" y="4637436"/>
              <a:ext cx="582110" cy="1177946"/>
            </a:xfrm>
            <a:prstGeom prst="roundRect">
              <a:avLst>
                <a:gd name="adj" fmla="val 11418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12700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wrap="square" lIns="0" tIns="0" rIns="0" bIns="0" rtlCol="0" anchor="ctr" anchorCtr="0"/>
            <a:lstStyle/>
            <a:p>
              <a:pPr algn="ctr" defTabSz="1042873"/>
              <a:r>
                <a:rPr lang="ko-KR" altLang="en-US" sz="1200" b="1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개발</a:t>
              </a:r>
              <a:r>
                <a:rPr lang="en-US" altLang="ko-KR" sz="1200" b="1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·</a:t>
              </a:r>
              <a:br>
                <a:rPr lang="en-US" altLang="ko-KR" sz="1200" b="1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</a:br>
              <a:r>
                <a:rPr lang="ko-KR" altLang="en-US" sz="1200" b="1" kern="0">
                  <a:ln>
                    <a:solidFill>
                      <a:srgbClr val="A5C249">
                        <a:alpha val="0"/>
                      </a:srgbClr>
                    </a:solidFill>
                  </a:ln>
                  <a:latin typeface="+mn-ea"/>
                  <a:cs typeface="Pretendard SemiBold" panose="02000703000000020004" pitchFamily="50" charset="-127"/>
                </a:rPr>
                <a:t>운영 관리 체계</a:t>
              </a:r>
              <a:endPara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178711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2C838BB4-CB2E-B5CB-41EB-CA99A28EBE9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9CC5F88-F993-25C0-81CD-11F66624E24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[Back-up] </a:t>
            </a:r>
            <a:r>
              <a:rPr lang="ko-KR" altLang="en-US"/>
              <a:t>타사 </a:t>
            </a:r>
            <a:r>
              <a:rPr lang="en-US" altLang="ko-KR"/>
              <a:t>AI</a:t>
            </a:r>
            <a:r>
              <a:rPr lang="ko-KR" altLang="en-US"/>
              <a:t>거버넌스 주요 내용</a:t>
            </a:r>
            <a:r>
              <a:rPr lang="en-US" altLang="ko-KR"/>
              <a:t>_M</a:t>
            </a:r>
            <a:r>
              <a:rPr lang="ko-KR" altLang="en-US"/>
              <a:t>금고 </a:t>
            </a:r>
            <a:r>
              <a:rPr lang="en-US" altLang="ko-KR"/>
              <a:t>(1/3)</a:t>
            </a:r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F3E1687-18A8-E143-7333-C8491006916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/>
              <a:t>M</a:t>
            </a:r>
            <a:r>
              <a:rPr lang="ko-KR" altLang="en-US"/>
              <a:t>금고 </a:t>
            </a:r>
            <a:r>
              <a:rPr lang="en-US" altLang="ko-KR"/>
              <a:t>AI </a:t>
            </a:r>
            <a:r>
              <a:rPr lang="ko-KR" altLang="en-US"/>
              <a:t>거버넌스  규정</a:t>
            </a:r>
            <a:r>
              <a:rPr lang="en-US" altLang="ko-KR"/>
              <a:t>(</a:t>
            </a:r>
            <a:r>
              <a:rPr lang="ko-KR" altLang="en-US"/>
              <a:t>안</a:t>
            </a:r>
            <a:r>
              <a:rPr lang="en-US" altLang="ko-KR"/>
              <a:t>)</a:t>
            </a:r>
            <a:r>
              <a:rPr lang="ko-KR" altLang="en-US"/>
              <a:t>의 주요 내용은 다음과 같음</a:t>
            </a:r>
          </a:p>
        </p:txBody>
      </p:sp>
      <p:sp>
        <p:nvSpPr>
          <p:cNvPr id="6" name="사각형: 둥근 모서리 20">
            <a:extLst>
              <a:ext uri="{FF2B5EF4-FFF2-40B4-BE49-F238E27FC236}">
                <a16:creationId xmlns:a16="http://schemas.microsoft.com/office/drawing/2014/main" id="{E0C7F992-9238-F36E-D17A-A6F3CAB4DC67}"/>
              </a:ext>
            </a:extLst>
          </p:cNvPr>
          <p:cNvSpPr/>
          <p:nvPr/>
        </p:nvSpPr>
        <p:spPr>
          <a:xfrm>
            <a:off x="4600839" y="1341439"/>
            <a:ext cx="2052000" cy="359621"/>
          </a:xfrm>
          <a:prstGeom prst="roundRect">
            <a:avLst>
              <a:gd name="adj" fmla="val 0"/>
            </a:avLst>
          </a:prstGeom>
          <a:solidFill>
            <a:schemeClr val="bg1">
              <a:lumMod val="75000"/>
            </a:schemeClr>
          </a:solidFill>
          <a:ln w="12700">
            <a:noFill/>
          </a:ln>
          <a:effectLst/>
        </p:spPr>
        <p:txBody>
          <a:bodyPr lIns="0" tIns="0" rIns="0" bIns="0" rtlCol="0" anchor="ctr" anchorCtr="0"/>
          <a:lstStyle/>
          <a:p>
            <a:pPr algn="ctr" defTabSz="914400"/>
            <a:r>
              <a:rPr lang="ko-KR" altLang="en-US" sz="1400" b="1" spc="-150">
                <a:solidFill>
                  <a:schemeClr val="bg1">
                    <a:lumMod val="95000"/>
                  </a:schemeClr>
                </a:solidFill>
                <a:latin typeface="+mn-ea"/>
                <a:cs typeface="Noto Sans" panose="020B0502040504020204" pitchFamily="34" charset="0"/>
              </a:rPr>
              <a:t>③ </a:t>
            </a:r>
            <a:r>
              <a:rPr lang="en-US" altLang="ko-KR" sz="1400" b="1" spc="-150">
                <a:solidFill>
                  <a:schemeClr val="bg1">
                    <a:lumMod val="95000"/>
                  </a:schemeClr>
                </a:solidFill>
                <a:latin typeface="+mn-ea"/>
                <a:cs typeface="Noto Sans" panose="020B0502040504020204" pitchFamily="34" charset="0"/>
              </a:rPr>
              <a:t>AI</a:t>
            </a:r>
            <a:r>
              <a:rPr lang="ko-KR" altLang="en-US" sz="1400" b="1" spc="-150">
                <a:solidFill>
                  <a:schemeClr val="bg1">
                    <a:lumMod val="95000"/>
                  </a:schemeClr>
                </a:solidFill>
                <a:latin typeface="+mn-ea"/>
                <a:cs typeface="Noto Sans" panose="020B0502040504020204" pitchFamily="34" charset="0"/>
              </a:rPr>
              <a:t> 개발 운영 시행 세칙</a:t>
            </a:r>
          </a:p>
        </p:txBody>
      </p:sp>
      <p:sp>
        <p:nvSpPr>
          <p:cNvPr id="7" name="사각형: 둥근 모서리 20">
            <a:extLst>
              <a:ext uri="{FF2B5EF4-FFF2-40B4-BE49-F238E27FC236}">
                <a16:creationId xmlns:a16="http://schemas.microsoft.com/office/drawing/2014/main" id="{9D57FF04-E5B5-85C4-3AD3-0DA3DAA0BFE9}"/>
              </a:ext>
            </a:extLst>
          </p:cNvPr>
          <p:cNvSpPr/>
          <p:nvPr/>
        </p:nvSpPr>
        <p:spPr>
          <a:xfrm>
            <a:off x="2504414" y="1341439"/>
            <a:ext cx="2052000" cy="359621"/>
          </a:xfrm>
          <a:prstGeom prst="roundRect">
            <a:avLst>
              <a:gd name="adj" fmla="val 0"/>
            </a:avLst>
          </a:prstGeom>
          <a:solidFill>
            <a:schemeClr val="bg1">
              <a:lumMod val="75000"/>
            </a:schemeClr>
          </a:solidFill>
          <a:ln w="12700">
            <a:noFill/>
          </a:ln>
          <a:effectLst/>
        </p:spPr>
        <p:txBody>
          <a:bodyPr lIns="0" tIns="0" rIns="0" bIns="0" rtlCol="0" anchor="ctr" anchorCtr="0"/>
          <a:lstStyle/>
          <a:p>
            <a:pPr algn="ctr" defTabSz="914400"/>
            <a:r>
              <a:rPr lang="ko-KR" altLang="en-US" sz="1400" b="1" spc="-300">
                <a:solidFill>
                  <a:schemeClr val="bg1">
                    <a:lumMod val="95000"/>
                  </a:schemeClr>
                </a:solidFill>
                <a:latin typeface="+mn-ea"/>
                <a:cs typeface="Noto Sans" panose="020B0502040504020204" pitchFamily="34" charset="0"/>
              </a:rPr>
              <a:t>② </a:t>
            </a:r>
            <a:r>
              <a:rPr lang="en-US" altLang="ko-KR" sz="1400" b="1" spc="-300">
                <a:solidFill>
                  <a:schemeClr val="bg1">
                    <a:lumMod val="95000"/>
                  </a:schemeClr>
                </a:solidFill>
                <a:latin typeface="+mn-ea"/>
                <a:cs typeface="Noto Sans" panose="020B0502040504020204" pitchFamily="34" charset="0"/>
              </a:rPr>
              <a:t>AI </a:t>
            </a:r>
            <a:r>
              <a:rPr lang="ko-KR" altLang="en-US" sz="1400" b="1" spc="-300">
                <a:solidFill>
                  <a:schemeClr val="bg1">
                    <a:lumMod val="95000"/>
                  </a:schemeClr>
                </a:solidFill>
                <a:latin typeface="+mn-ea"/>
                <a:cs typeface="Noto Sans" panose="020B0502040504020204" pitchFamily="34" charset="0"/>
              </a:rPr>
              <a:t>거버넌스 규정 시행 세칙</a:t>
            </a:r>
          </a:p>
        </p:txBody>
      </p:sp>
      <p:sp>
        <p:nvSpPr>
          <p:cNvPr id="8" name="사각형: 둥근 모서리 20">
            <a:extLst>
              <a:ext uri="{FF2B5EF4-FFF2-40B4-BE49-F238E27FC236}">
                <a16:creationId xmlns:a16="http://schemas.microsoft.com/office/drawing/2014/main" id="{14BAC0FF-9A5D-0053-BFEA-2420820185DE}"/>
              </a:ext>
            </a:extLst>
          </p:cNvPr>
          <p:cNvSpPr/>
          <p:nvPr/>
        </p:nvSpPr>
        <p:spPr>
          <a:xfrm>
            <a:off x="407987" y="1701060"/>
            <a:ext cx="11376025" cy="475212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accent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" altLang="ko-KR" sz="1400" b="1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lt1"/>
              </a:solidFill>
              <a:latin typeface="+mn-ea"/>
            </a:endParaRPr>
          </a:p>
        </p:txBody>
      </p:sp>
      <p:sp>
        <p:nvSpPr>
          <p:cNvPr id="9" name="Rectangle: Rounded Corners 46">
            <a:extLst>
              <a:ext uri="{FF2B5EF4-FFF2-40B4-BE49-F238E27FC236}">
                <a16:creationId xmlns:a16="http://schemas.microsoft.com/office/drawing/2014/main" id="{7F158469-16D6-2B49-1D11-5F82F870920A}"/>
              </a:ext>
            </a:extLst>
          </p:cNvPr>
          <p:cNvSpPr/>
          <p:nvPr/>
        </p:nvSpPr>
        <p:spPr>
          <a:xfrm>
            <a:off x="5277149" y="1840770"/>
            <a:ext cx="6259531" cy="4498908"/>
          </a:xfrm>
          <a:prstGeom prst="snip1Rect">
            <a:avLst/>
          </a:prstGeom>
          <a:pattFill prst="dkUpDiag">
            <a:fgClr>
              <a:schemeClr val="accent1">
                <a:lumMod val="20000"/>
                <a:lumOff val="80000"/>
              </a:schemeClr>
            </a:fgClr>
            <a:bgClr>
              <a:prstClr val="white"/>
            </a:bgClr>
          </a:pattFill>
          <a:ln w="3175" cap="flat" cmpd="sng" algn="ctr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 anchorCtr="0"/>
          <a:lstStyle/>
          <a:p>
            <a:pPr marL="0" marR="0" lvl="0" indent="0" algn="ctr" defTabSz="10428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1" i="0" u="none" strike="noStrike" kern="0" cap="none" spc="0" normalizeH="0" baseline="0" noProof="0">
              <a:ln>
                <a:solidFill>
                  <a:srgbClr val="A5C249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+mn-ea"/>
              <a:cs typeface="Pretendard SemiBold" panose="02000703000000020004" pitchFamily="50" charset="-127"/>
            </a:endParaRPr>
          </a:p>
        </p:txBody>
      </p:sp>
      <p:sp>
        <p:nvSpPr>
          <p:cNvPr id="10" name="사각형: 둥근 모서리 20">
            <a:extLst>
              <a:ext uri="{FF2B5EF4-FFF2-40B4-BE49-F238E27FC236}">
                <a16:creationId xmlns:a16="http://schemas.microsoft.com/office/drawing/2014/main" id="{E83F44C0-F9BF-72C1-A5EA-ED64F5590096}"/>
              </a:ext>
            </a:extLst>
          </p:cNvPr>
          <p:cNvSpPr/>
          <p:nvPr/>
        </p:nvSpPr>
        <p:spPr>
          <a:xfrm>
            <a:off x="407988" y="1341439"/>
            <a:ext cx="2052000" cy="359621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4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① </a:t>
            </a:r>
            <a:r>
              <a:rPr lang="en-US" altLang="ko-KR" sz="14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AI </a:t>
            </a:r>
            <a:r>
              <a:rPr lang="ko-KR" altLang="en-US" sz="14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거버넌스  규정</a:t>
            </a:r>
            <a:endParaRPr lang="en" altLang="ko-KR" sz="1400" b="1" spc="-15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lt1"/>
              </a:solidFill>
              <a:latin typeface="+mn-ea"/>
            </a:endParaRPr>
          </a:p>
        </p:txBody>
      </p:sp>
      <p:sp>
        <p:nvSpPr>
          <p:cNvPr id="11" name="Rectangle: Rounded Corners 46">
            <a:extLst>
              <a:ext uri="{FF2B5EF4-FFF2-40B4-BE49-F238E27FC236}">
                <a16:creationId xmlns:a16="http://schemas.microsoft.com/office/drawing/2014/main" id="{B9391D6E-25C5-F170-1CAD-A3F023BE49A0}"/>
              </a:ext>
            </a:extLst>
          </p:cNvPr>
          <p:cNvSpPr/>
          <p:nvPr/>
        </p:nvSpPr>
        <p:spPr>
          <a:xfrm>
            <a:off x="5479142" y="1926993"/>
            <a:ext cx="2052190" cy="379253"/>
          </a:xfrm>
          <a:prstGeom prst="roundRect">
            <a:avLst>
              <a:gd name="adj" fmla="val 11418"/>
            </a:avLst>
          </a:prstGeom>
          <a:noFill/>
          <a:ln w="3175" cap="flat" cmpd="sng" algn="ctr">
            <a:noFill/>
            <a:prstDash val="solid"/>
          </a:ln>
          <a:effectLst/>
        </p:spPr>
        <p:txBody>
          <a:bodyPr wrap="square" lIns="0" tIns="0" rIns="0" bIns="0" rtlCol="0" anchor="ctr" anchorCtr="0"/>
          <a:lstStyle/>
          <a:p>
            <a:pPr marL="0" marR="0" lvl="0" indent="0" defTabSz="10428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Contents</a:t>
            </a:r>
          </a:p>
        </p:txBody>
      </p:sp>
      <p:sp>
        <p:nvSpPr>
          <p:cNvPr id="12" name="Rectangle: Rounded Corners 46">
            <a:extLst>
              <a:ext uri="{FF2B5EF4-FFF2-40B4-BE49-F238E27FC236}">
                <a16:creationId xmlns:a16="http://schemas.microsoft.com/office/drawing/2014/main" id="{7A539E11-0C73-3078-D664-EB226479A75C}"/>
              </a:ext>
            </a:extLst>
          </p:cNvPr>
          <p:cNvSpPr/>
          <p:nvPr/>
        </p:nvSpPr>
        <p:spPr>
          <a:xfrm>
            <a:off x="1943373" y="3019330"/>
            <a:ext cx="3250142" cy="601227"/>
          </a:xfrm>
          <a:prstGeom prst="roundRect">
            <a:avLst>
              <a:gd name="adj" fmla="val 11418"/>
            </a:avLst>
          </a:prstGeom>
          <a:solidFill>
            <a:schemeClr val="bg1">
              <a:lumMod val="95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wrap="square" lIns="90000" tIns="0" rIns="90000" bIns="0" rtlCol="0" anchor="ctr" anchorCtr="0"/>
          <a:lstStyle/>
          <a:p>
            <a:pPr marL="171450" marR="0" lvl="0" indent="-171450" defTabSz="10428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원칙 및 기준</a:t>
            </a:r>
            <a: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: </a:t>
            </a: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윤리원칙</a:t>
            </a:r>
            <a: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, AI </a:t>
            </a: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서비스 위</a:t>
            </a:r>
            <a: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·</a:t>
            </a: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수탁</a:t>
            </a:r>
            <a: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, </a:t>
            </a:r>
            <a:b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</a:b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금융소비자의 보호</a:t>
            </a:r>
          </a:p>
        </p:txBody>
      </p:sp>
      <p:sp>
        <p:nvSpPr>
          <p:cNvPr id="13" name="Rectangle: Rounded Corners 46">
            <a:extLst>
              <a:ext uri="{FF2B5EF4-FFF2-40B4-BE49-F238E27FC236}">
                <a16:creationId xmlns:a16="http://schemas.microsoft.com/office/drawing/2014/main" id="{F8936507-4961-DC43-D25F-2B2E69EBC3D9}"/>
              </a:ext>
            </a:extLst>
          </p:cNvPr>
          <p:cNvSpPr/>
          <p:nvPr/>
        </p:nvSpPr>
        <p:spPr>
          <a:xfrm>
            <a:off x="1943373" y="1840770"/>
            <a:ext cx="3250142" cy="930621"/>
          </a:xfrm>
          <a:prstGeom prst="roundRect">
            <a:avLst>
              <a:gd name="adj" fmla="val 11418"/>
            </a:avLst>
          </a:prstGeom>
          <a:solidFill>
            <a:schemeClr val="bg1">
              <a:lumMod val="95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wrap="square" lIns="90000" tIns="0" rIns="90000" bIns="0" rtlCol="0" anchor="ctr" anchorCtr="0"/>
          <a:lstStyle/>
          <a:p>
            <a:pPr defTabSz="1042873">
              <a:lnSpc>
                <a:spcPct val="130000"/>
              </a:lnSpc>
            </a:pPr>
            <a:r>
              <a:rPr lang="en-US" altLang="ko-KR" sz="1200" kern="0" spc="-7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AI </a:t>
            </a:r>
            <a:r>
              <a:rPr lang="ko-KR" altLang="en-US" sz="1200" kern="0" spc="-7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도입 및 활용과 관련한 위험을 체계적으로 관리 위해 내부 규정으로 정의</a:t>
            </a:r>
          </a:p>
        </p:txBody>
      </p:sp>
      <p:sp>
        <p:nvSpPr>
          <p:cNvPr id="14" name="Rectangle: Rounded Corners 46">
            <a:extLst>
              <a:ext uri="{FF2B5EF4-FFF2-40B4-BE49-F238E27FC236}">
                <a16:creationId xmlns:a16="http://schemas.microsoft.com/office/drawing/2014/main" id="{D94A4060-570C-51FD-4967-3ACFFD5CA421}"/>
              </a:ext>
            </a:extLst>
          </p:cNvPr>
          <p:cNvSpPr/>
          <p:nvPr/>
        </p:nvSpPr>
        <p:spPr>
          <a:xfrm>
            <a:off x="1943373" y="3692886"/>
            <a:ext cx="3250142" cy="601227"/>
          </a:xfrm>
          <a:prstGeom prst="roundRect">
            <a:avLst>
              <a:gd name="adj" fmla="val 11418"/>
            </a:avLst>
          </a:prstGeom>
          <a:solidFill>
            <a:schemeClr val="bg1">
              <a:lumMod val="95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wrap="square" lIns="90000" tIns="0" rIns="90000" bIns="0" rtlCol="0" anchor="ctr" anchorCtr="0"/>
          <a:lstStyle/>
          <a:p>
            <a:pPr marL="171450" marR="0" lvl="0" indent="-171450" defTabSz="10428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AI</a:t>
            </a: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거버넌스 조직 구성 및 역할 </a:t>
            </a:r>
          </a:p>
        </p:txBody>
      </p:sp>
      <p:sp>
        <p:nvSpPr>
          <p:cNvPr id="15" name="Rectangle: Rounded Corners 46">
            <a:extLst>
              <a:ext uri="{FF2B5EF4-FFF2-40B4-BE49-F238E27FC236}">
                <a16:creationId xmlns:a16="http://schemas.microsoft.com/office/drawing/2014/main" id="{92BF9BD8-0386-12C3-72F0-142E45F4BB22}"/>
              </a:ext>
            </a:extLst>
          </p:cNvPr>
          <p:cNvSpPr/>
          <p:nvPr/>
        </p:nvSpPr>
        <p:spPr>
          <a:xfrm>
            <a:off x="1943373" y="4366440"/>
            <a:ext cx="3250142" cy="1310160"/>
          </a:xfrm>
          <a:prstGeom prst="roundRect">
            <a:avLst>
              <a:gd name="adj" fmla="val 5596"/>
            </a:avLst>
          </a:prstGeom>
          <a:solidFill>
            <a:schemeClr val="bg1">
              <a:lumMod val="95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wrap="square" lIns="90000" tIns="0" rIns="90000" bIns="0" rtlCol="0" anchor="ctr" anchorCtr="0"/>
          <a:lstStyle/>
          <a:p>
            <a:pPr marL="171450" marR="0" lvl="0" indent="-171450" defTabSz="10428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AI </a:t>
            </a: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개발 및 운영</a:t>
            </a:r>
            <a: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(</a:t>
            </a: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일반 기준 및 원칙</a:t>
            </a:r>
            <a: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)</a:t>
            </a:r>
          </a:p>
          <a:p>
            <a:pPr marL="171450" marR="0" lvl="0" indent="-171450" defTabSz="10428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AI </a:t>
            </a: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위험관리 정책</a:t>
            </a:r>
            <a: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: </a:t>
            </a: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일반기준 및 원칙</a:t>
            </a:r>
            <a: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, </a:t>
            </a: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생애 주기별 정책 </a:t>
            </a:r>
            <a: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(</a:t>
            </a: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기획</a:t>
            </a:r>
            <a: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·</a:t>
            </a: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설계 단계</a:t>
            </a:r>
            <a: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, </a:t>
            </a: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개발 단계</a:t>
            </a:r>
            <a: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, </a:t>
            </a: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평가</a:t>
            </a:r>
            <a: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·</a:t>
            </a: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점검 단계</a:t>
            </a:r>
            <a: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, </a:t>
            </a: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도입</a:t>
            </a:r>
            <a: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·</a:t>
            </a: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운영</a:t>
            </a:r>
            <a: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·</a:t>
            </a: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모니터링 단계</a:t>
            </a:r>
            <a: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) </a:t>
            </a:r>
          </a:p>
        </p:txBody>
      </p:sp>
      <p:sp>
        <p:nvSpPr>
          <p:cNvPr id="16" name="Rectangle: Rounded Corners 46">
            <a:extLst>
              <a:ext uri="{FF2B5EF4-FFF2-40B4-BE49-F238E27FC236}">
                <a16:creationId xmlns:a16="http://schemas.microsoft.com/office/drawing/2014/main" id="{A26384AB-AFD0-EA0E-8C96-0137F7B4C10E}"/>
              </a:ext>
            </a:extLst>
          </p:cNvPr>
          <p:cNvSpPr/>
          <p:nvPr/>
        </p:nvSpPr>
        <p:spPr>
          <a:xfrm>
            <a:off x="1943373" y="5790110"/>
            <a:ext cx="3250142" cy="549568"/>
          </a:xfrm>
          <a:prstGeom prst="roundRect">
            <a:avLst>
              <a:gd name="adj" fmla="val 11418"/>
            </a:avLst>
          </a:prstGeom>
          <a:solidFill>
            <a:schemeClr val="bg1">
              <a:lumMod val="95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wrap="square" lIns="90000" tIns="0" rIns="90000" bIns="0" rtlCol="0" anchor="ctr" anchorCtr="0"/>
          <a:lstStyle/>
          <a:p>
            <a:pPr marL="0" marR="0" lvl="0" indent="0" algn="ctr" defTabSz="10428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전사</a:t>
            </a:r>
            <a:endParaRPr kumimoji="0" lang="en-US" altLang="ko-KR" sz="1200" i="0" u="none" strike="noStrike" kern="0" cap="none" spc="0" normalizeH="0" baseline="0" noProof="0">
              <a:ln>
                <a:solidFill>
                  <a:srgbClr val="A5C249">
                    <a:alpha val="0"/>
                  </a:srgbClr>
                </a:solidFill>
              </a:ln>
              <a:effectLst/>
              <a:uLnTx/>
              <a:uFillTx/>
              <a:latin typeface="+mn-ea"/>
              <a:cs typeface="Pretendard SemiBold" panose="02000703000000020004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11C087D-D71F-595D-B247-3199CF7F7EE6}"/>
              </a:ext>
            </a:extLst>
          </p:cNvPr>
          <p:cNvSpPr/>
          <p:nvPr/>
        </p:nvSpPr>
        <p:spPr>
          <a:xfrm>
            <a:off x="5598487" y="3237453"/>
            <a:ext cx="236220" cy="2973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ko-KR" altLang="en-US">
              <a:latin typeface="+mn-ea"/>
            </a:endParaRPr>
          </a:p>
        </p:txBody>
      </p:sp>
      <p:sp>
        <p:nvSpPr>
          <p:cNvPr id="18" name="Rectangle: Rounded Corners 46">
            <a:extLst>
              <a:ext uri="{FF2B5EF4-FFF2-40B4-BE49-F238E27FC236}">
                <a16:creationId xmlns:a16="http://schemas.microsoft.com/office/drawing/2014/main" id="{9C7E5891-FE42-54AC-1064-B596A2C953F7}"/>
              </a:ext>
            </a:extLst>
          </p:cNvPr>
          <p:cNvSpPr/>
          <p:nvPr/>
        </p:nvSpPr>
        <p:spPr>
          <a:xfrm>
            <a:off x="5598487" y="2356890"/>
            <a:ext cx="2588011" cy="483899"/>
          </a:xfrm>
          <a:prstGeom prst="roundRect">
            <a:avLst>
              <a:gd name="adj" fmla="val 11418"/>
            </a:avLst>
          </a:prstGeom>
          <a:solidFill>
            <a:srgbClr val="043B72"/>
          </a:solidFill>
          <a:ln w="3175" cap="flat" cmpd="sng" algn="ctr">
            <a:noFill/>
            <a:prstDash val="solid"/>
          </a:ln>
          <a:effectLst/>
        </p:spPr>
        <p:txBody>
          <a:bodyPr wrap="square" lIns="0" tIns="0" rIns="0" bIns="0" rtlCol="0" anchor="ctr" anchorCtr="0"/>
          <a:lstStyle/>
          <a:p>
            <a:pPr marL="0" marR="0" lvl="0" indent="0" algn="ctr" defTabSz="10428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제</a:t>
            </a:r>
            <a:r>
              <a:rPr kumimoji="0" lang="en-US" altLang="ko-KR" sz="1200" b="1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1</a:t>
            </a:r>
            <a:r>
              <a:rPr kumimoji="0" lang="ko-KR" altLang="en-US" sz="1200" b="1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장</a:t>
            </a:r>
            <a:br>
              <a:rPr kumimoji="0" lang="en-US" altLang="ko-KR" sz="1200" b="1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</a:br>
            <a:r>
              <a:rPr kumimoji="0" lang="ko-KR" altLang="en-US" sz="1200" b="1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총칙</a:t>
            </a:r>
            <a:endParaRPr kumimoji="0" lang="en-US" altLang="ko-KR" sz="1200" b="1" i="0" u="none" strike="noStrike" kern="0" cap="none" spc="0" normalizeH="0" baseline="0" noProof="0">
              <a:ln>
                <a:solidFill>
                  <a:srgbClr val="A5C249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+mn-ea"/>
              <a:cs typeface="Pretendard SemiBold" panose="02000703000000020004" pitchFamily="50" charset="-127"/>
            </a:endParaRPr>
          </a:p>
        </p:txBody>
      </p:sp>
      <p:sp>
        <p:nvSpPr>
          <p:cNvPr id="19" name="Rectangle: Rounded Corners 46">
            <a:extLst>
              <a:ext uri="{FF2B5EF4-FFF2-40B4-BE49-F238E27FC236}">
                <a16:creationId xmlns:a16="http://schemas.microsoft.com/office/drawing/2014/main" id="{F20957E3-6E29-F086-1E4C-829E1C75714A}"/>
              </a:ext>
            </a:extLst>
          </p:cNvPr>
          <p:cNvSpPr/>
          <p:nvPr/>
        </p:nvSpPr>
        <p:spPr>
          <a:xfrm>
            <a:off x="5598487" y="5585658"/>
            <a:ext cx="2588011" cy="483899"/>
          </a:xfrm>
          <a:prstGeom prst="roundRect">
            <a:avLst>
              <a:gd name="adj" fmla="val 11418"/>
            </a:avLst>
          </a:prstGeom>
          <a:solidFill>
            <a:srgbClr val="043B72"/>
          </a:solidFill>
          <a:ln w="3175" cap="flat" cmpd="sng" algn="ctr">
            <a:noFill/>
            <a:prstDash val="solid"/>
          </a:ln>
          <a:effectLst/>
        </p:spPr>
        <p:txBody>
          <a:bodyPr wrap="square" lIns="0" tIns="0" rIns="0" bIns="0" rtlCol="0" anchor="ctr" anchorCtr="0"/>
          <a:lstStyle/>
          <a:p>
            <a:pPr algn="ctr" defTabSz="1042873" latinLnBrk="0">
              <a:defRPr/>
            </a:pPr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제</a:t>
            </a:r>
            <a:r>
              <a: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3</a:t>
            </a:r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장 </a:t>
            </a:r>
            <a:br>
              <a: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</a:br>
            <a:r>
              <a: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AI </a:t>
            </a:r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거버넌스 및 </a:t>
            </a:r>
            <a:r>
              <a: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AI </a:t>
            </a:r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협의체</a:t>
            </a:r>
            <a:endParaRPr lang="en-US" altLang="ko-KR" sz="1200" b="1" kern="0">
              <a:ln>
                <a:solidFill>
                  <a:srgbClr val="A5C249">
                    <a:alpha val="0"/>
                  </a:srgbClr>
                </a:solidFill>
              </a:ln>
              <a:solidFill>
                <a:prstClr val="white"/>
              </a:solidFill>
              <a:latin typeface="+mn-ea"/>
            </a:endParaRPr>
          </a:p>
        </p:txBody>
      </p:sp>
      <p:sp>
        <p:nvSpPr>
          <p:cNvPr id="20" name="Rectangle: Rounded Corners 46">
            <a:extLst>
              <a:ext uri="{FF2B5EF4-FFF2-40B4-BE49-F238E27FC236}">
                <a16:creationId xmlns:a16="http://schemas.microsoft.com/office/drawing/2014/main" id="{F4A55122-E5B1-1BBC-D77F-4648CF3FCA29}"/>
              </a:ext>
            </a:extLst>
          </p:cNvPr>
          <p:cNvSpPr/>
          <p:nvPr/>
        </p:nvSpPr>
        <p:spPr>
          <a:xfrm>
            <a:off x="8569746" y="2356890"/>
            <a:ext cx="2588011" cy="483899"/>
          </a:xfrm>
          <a:prstGeom prst="roundRect">
            <a:avLst>
              <a:gd name="adj" fmla="val 11418"/>
            </a:avLst>
          </a:prstGeom>
          <a:solidFill>
            <a:srgbClr val="043B72"/>
          </a:solidFill>
          <a:ln w="3175" cap="flat" cmpd="sng" algn="ctr">
            <a:noFill/>
            <a:prstDash val="solid"/>
          </a:ln>
          <a:effectLst/>
        </p:spPr>
        <p:txBody>
          <a:bodyPr wrap="square" lIns="0" tIns="0" rIns="0" bIns="0" rtlCol="0" anchor="ctr" anchorCtr="0"/>
          <a:lstStyle/>
          <a:p>
            <a:pPr algn="ctr" defTabSz="1042873" latinLnBrk="0">
              <a:defRPr/>
            </a:pPr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제</a:t>
            </a:r>
            <a:r>
              <a: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4</a:t>
            </a:r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장</a:t>
            </a:r>
            <a:br>
              <a: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</a:br>
            <a:r>
              <a: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AI </a:t>
            </a:r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개발 및 운영</a:t>
            </a:r>
            <a:endParaRPr lang="en-US" altLang="ko-KR" sz="1200" b="1" kern="0">
              <a:ln>
                <a:solidFill>
                  <a:srgbClr val="A5C249">
                    <a:alpha val="0"/>
                  </a:srgbClr>
                </a:solidFill>
              </a:ln>
              <a:solidFill>
                <a:prstClr val="white"/>
              </a:solidFill>
              <a:latin typeface="+mn-ea"/>
            </a:endParaRPr>
          </a:p>
        </p:txBody>
      </p:sp>
      <p:sp>
        <p:nvSpPr>
          <p:cNvPr id="21" name="Rectangle: Rounded Corners 46">
            <a:extLst>
              <a:ext uri="{FF2B5EF4-FFF2-40B4-BE49-F238E27FC236}">
                <a16:creationId xmlns:a16="http://schemas.microsoft.com/office/drawing/2014/main" id="{BA5B27C5-1D76-0EF0-5D72-C2A27CE0A867}"/>
              </a:ext>
            </a:extLst>
          </p:cNvPr>
          <p:cNvSpPr/>
          <p:nvPr/>
        </p:nvSpPr>
        <p:spPr>
          <a:xfrm>
            <a:off x="5935702" y="3760629"/>
            <a:ext cx="2250795" cy="390373"/>
          </a:xfrm>
          <a:prstGeom prst="roundRect">
            <a:avLst>
              <a:gd name="adj" fmla="val 11418"/>
            </a:avLst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spcFirstLastPara="1" wrap="square" lIns="108000" tIns="0" rIns="0" bIns="0" anchor="ctr" anchorCtr="0">
            <a:noAutofit/>
          </a:bodyPr>
          <a:lstStyle/>
          <a:p>
            <a:pPr defTabSz="914446">
              <a:buClr>
                <a:srgbClr val="FFFFFF"/>
              </a:buClr>
              <a:buSzPts val="1100"/>
            </a:pP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제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1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절 윤리원칙</a:t>
            </a:r>
            <a:endParaRPr lang="en-US" altLang="ko-KR" sz="1100" b="1"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22" name="Rectangle: Rounded Corners 46">
            <a:extLst>
              <a:ext uri="{FF2B5EF4-FFF2-40B4-BE49-F238E27FC236}">
                <a16:creationId xmlns:a16="http://schemas.microsoft.com/office/drawing/2014/main" id="{2DF344AF-5DAE-DD82-04BB-E98B2B8B5FD0}"/>
              </a:ext>
            </a:extLst>
          </p:cNvPr>
          <p:cNvSpPr/>
          <p:nvPr/>
        </p:nvSpPr>
        <p:spPr>
          <a:xfrm>
            <a:off x="5935702" y="4368973"/>
            <a:ext cx="2250795" cy="390373"/>
          </a:xfrm>
          <a:prstGeom prst="roundRect">
            <a:avLst>
              <a:gd name="adj" fmla="val 11418"/>
            </a:avLst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spcFirstLastPara="1" wrap="square" lIns="108000" tIns="0" rIns="0" bIns="0" anchor="ctr" anchorCtr="0">
            <a:noAutofit/>
          </a:bodyPr>
          <a:lstStyle/>
          <a:p>
            <a:pPr defTabSz="914446">
              <a:buClr>
                <a:srgbClr val="FFFFFF"/>
              </a:buClr>
              <a:buSzPts val="1100"/>
            </a:pP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제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2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절 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AI 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서비스 위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·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수탁</a:t>
            </a:r>
            <a:endParaRPr lang="en-US" altLang="ko-KR" sz="1100" b="1"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23" name="Rectangle: Rounded Corners 46">
            <a:extLst>
              <a:ext uri="{FF2B5EF4-FFF2-40B4-BE49-F238E27FC236}">
                <a16:creationId xmlns:a16="http://schemas.microsoft.com/office/drawing/2014/main" id="{B40593F6-D3DE-A918-51D2-2F881D638233}"/>
              </a:ext>
            </a:extLst>
          </p:cNvPr>
          <p:cNvSpPr/>
          <p:nvPr/>
        </p:nvSpPr>
        <p:spPr>
          <a:xfrm>
            <a:off x="5935702" y="4977316"/>
            <a:ext cx="2250795" cy="390373"/>
          </a:xfrm>
          <a:prstGeom prst="roundRect">
            <a:avLst>
              <a:gd name="adj" fmla="val 11418"/>
            </a:avLst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spcFirstLastPara="1" wrap="square" lIns="108000" tIns="0" rIns="0" bIns="0" anchor="ctr" anchorCtr="0">
            <a:noAutofit/>
          </a:bodyPr>
          <a:lstStyle/>
          <a:p>
            <a:pPr defTabSz="914446">
              <a:buClr>
                <a:srgbClr val="FFFFFF"/>
              </a:buClr>
              <a:buSzPts val="1100"/>
            </a:pP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제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3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절 금융소비자의 보호</a:t>
            </a:r>
            <a:endParaRPr lang="en-US" altLang="ko-KR" sz="1100" b="1"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24" name="Rectangle: Rounded Corners 46">
            <a:extLst>
              <a:ext uri="{FF2B5EF4-FFF2-40B4-BE49-F238E27FC236}">
                <a16:creationId xmlns:a16="http://schemas.microsoft.com/office/drawing/2014/main" id="{8EE73717-54F7-4615-CA12-DF5AB22F5DBB}"/>
              </a:ext>
            </a:extLst>
          </p:cNvPr>
          <p:cNvSpPr/>
          <p:nvPr/>
        </p:nvSpPr>
        <p:spPr>
          <a:xfrm>
            <a:off x="8906961" y="3760629"/>
            <a:ext cx="2250795" cy="390373"/>
          </a:xfrm>
          <a:prstGeom prst="roundRect">
            <a:avLst>
              <a:gd name="adj" fmla="val 11418"/>
            </a:avLst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spcFirstLastPara="1" wrap="square" lIns="108000" tIns="0" rIns="0" bIns="0" anchor="ctr" anchorCtr="0">
            <a:noAutofit/>
          </a:bodyPr>
          <a:lstStyle/>
          <a:p>
            <a:pPr defTabSz="914446">
              <a:buClr>
                <a:srgbClr val="FFFFFF"/>
              </a:buClr>
              <a:buSzPts val="1100"/>
            </a:pP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제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1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절 공통</a:t>
            </a:r>
            <a:endParaRPr lang="en-US" altLang="ko-KR" sz="1100" b="1"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25" name="Rectangle: Rounded Corners 46">
            <a:extLst>
              <a:ext uri="{FF2B5EF4-FFF2-40B4-BE49-F238E27FC236}">
                <a16:creationId xmlns:a16="http://schemas.microsoft.com/office/drawing/2014/main" id="{F9679B32-F10E-B598-EDCF-44BD2E3B364A}"/>
              </a:ext>
            </a:extLst>
          </p:cNvPr>
          <p:cNvSpPr/>
          <p:nvPr/>
        </p:nvSpPr>
        <p:spPr>
          <a:xfrm>
            <a:off x="8906961" y="4368973"/>
            <a:ext cx="2250795" cy="390373"/>
          </a:xfrm>
          <a:prstGeom prst="roundRect">
            <a:avLst>
              <a:gd name="adj" fmla="val 11418"/>
            </a:avLst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spcFirstLastPara="1" wrap="square" lIns="108000" tIns="0" rIns="0" bIns="0" anchor="ctr" anchorCtr="0">
            <a:noAutofit/>
          </a:bodyPr>
          <a:lstStyle/>
          <a:p>
            <a:pPr defTabSz="914446">
              <a:buClr>
                <a:srgbClr val="FFFFFF"/>
              </a:buClr>
              <a:buSzPts val="1100"/>
            </a:pP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제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2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절 생애주기별 관리 정책</a:t>
            </a:r>
            <a:endParaRPr lang="en-US" altLang="ko-KR" sz="1100" b="1">
              <a:latin typeface="+mn-ea"/>
              <a:cs typeface="Pretendard" panose="02000503000000020004" pitchFamily="50" charset="-127"/>
            </a:endParaRPr>
          </a:p>
        </p:txBody>
      </p:sp>
      <p:cxnSp>
        <p:nvCxnSpPr>
          <p:cNvPr id="26" name="연결선: 꺾임 25">
            <a:extLst>
              <a:ext uri="{FF2B5EF4-FFF2-40B4-BE49-F238E27FC236}">
                <a16:creationId xmlns:a16="http://schemas.microsoft.com/office/drawing/2014/main" id="{DEC63840-1EA8-BAB6-B4B8-7E97D442CEC0}"/>
              </a:ext>
            </a:extLst>
          </p:cNvPr>
          <p:cNvCxnSpPr>
            <a:cxnSpLocks/>
            <a:stCxn id="17" idx="2"/>
            <a:endCxn id="21" idx="1"/>
          </p:cNvCxnSpPr>
          <p:nvPr/>
        </p:nvCxnSpPr>
        <p:spPr>
          <a:xfrm rot="16200000" flipH="1">
            <a:off x="5615637" y="3635752"/>
            <a:ext cx="421023" cy="219105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연결선: 꺾임 26">
            <a:extLst>
              <a:ext uri="{FF2B5EF4-FFF2-40B4-BE49-F238E27FC236}">
                <a16:creationId xmlns:a16="http://schemas.microsoft.com/office/drawing/2014/main" id="{1FBEE7BB-87DA-C813-942F-3A0AC5F01488}"/>
              </a:ext>
            </a:extLst>
          </p:cNvPr>
          <p:cNvCxnSpPr>
            <a:cxnSpLocks/>
            <a:stCxn id="17" idx="2"/>
            <a:endCxn id="22" idx="1"/>
          </p:cNvCxnSpPr>
          <p:nvPr/>
        </p:nvCxnSpPr>
        <p:spPr>
          <a:xfrm rot="16200000" flipH="1">
            <a:off x="5311466" y="3939923"/>
            <a:ext cx="1029367" cy="219105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연결선: 꺾임 27">
            <a:extLst>
              <a:ext uri="{FF2B5EF4-FFF2-40B4-BE49-F238E27FC236}">
                <a16:creationId xmlns:a16="http://schemas.microsoft.com/office/drawing/2014/main" id="{2A043E46-EAE3-D577-C61A-A92EF617F51C}"/>
              </a:ext>
            </a:extLst>
          </p:cNvPr>
          <p:cNvCxnSpPr>
            <a:cxnSpLocks/>
            <a:stCxn id="17" idx="2"/>
            <a:endCxn id="23" idx="1"/>
          </p:cNvCxnSpPr>
          <p:nvPr/>
        </p:nvCxnSpPr>
        <p:spPr>
          <a:xfrm rot="16200000" flipH="1">
            <a:off x="5007294" y="4244095"/>
            <a:ext cx="1637711" cy="219105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: Rounded Corners 46">
            <a:extLst>
              <a:ext uri="{FF2B5EF4-FFF2-40B4-BE49-F238E27FC236}">
                <a16:creationId xmlns:a16="http://schemas.microsoft.com/office/drawing/2014/main" id="{02980ED5-F471-32BF-7E59-1CEA39D3A56F}"/>
              </a:ext>
            </a:extLst>
          </p:cNvPr>
          <p:cNvSpPr/>
          <p:nvPr/>
        </p:nvSpPr>
        <p:spPr>
          <a:xfrm>
            <a:off x="5598487" y="3058759"/>
            <a:ext cx="2588011" cy="483899"/>
          </a:xfrm>
          <a:prstGeom prst="roundRect">
            <a:avLst>
              <a:gd name="adj" fmla="val 11418"/>
            </a:avLst>
          </a:prstGeom>
          <a:solidFill>
            <a:srgbClr val="043B72"/>
          </a:solidFill>
          <a:ln w="3175" cap="flat" cmpd="sng" algn="ctr">
            <a:noFill/>
            <a:prstDash val="solid"/>
          </a:ln>
          <a:effectLst/>
        </p:spPr>
        <p:txBody>
          <a:bodyPr wrap="square" lIns="0" tIns="0" rIns="0" bIns="0" rtlCol="0" anchor="ctr" anchorCtr="0"/>
          <a:lstStyle/>
          <a:p>
            <a:pPr algn="ctr" defTabSz="1042873" latinLnBrk="0">
              <a:defRPr/>
            </a:pPr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제</a:t>
            </a:r>
            <a:r>
              <a: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2</a:t>
            </a:r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장</a:t>
            </a:r>
            <a:br>
              <a: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</a:br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원칙 및 기준</a:t>
            </a:r>
            <a:endParaRPr lang="en-US" altLang="ko-KR" sz="1200" b="1" kern="0">
              <a:ln>
                <a:solidFill>
                  <a:srgbClr val="A5C249">
                    <a:alpha val="0"/>
                  </a:srgbClr>
                </a:solidFill>
              </a:ln>
              <a:solidFill>
                <a:prstClr val="white"/>
              </a:solidFill>
              <a:latin typeface="+mn-ea"/>
            </a:endParaRPr>
          </a:p>
        </p:txBody>
      </p:sp>
      <p:cxnSp>
        <p:nvCxnSpPr>
          <p:cNvPr id="30" name="연결선: 꺾임 29">
            <a:extLst>
              <a:ext uri="{FF2B5EF4-FFF2-40B4-BE49-F238E27FC236}">
                <a16:creationId xmlns:a16="http://schemas.microsoft.com/office/drawing/2014/main" id="{7AC482C1-A1AB-7551-D0AA-1718A5B7D7F4}"/>
              </a:ext>
            </a:extLst>
          </p:cNvPr>
          <p:cNvCxnSpPr>
            <a:cxnSpLocks/>
          </p:cNvCxnSpPr>
          <p:nvPr/>
        </p:nvCxnSpPr>
        <p:spPr>
          <a:xfrm rot="16200000" flipH="1">
            <a:off x="8563647" y="3659002"/>
            <a:ext cx="467522" cy="219105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연결선: 꺾임 30">
            <a:extLst>
              <a:ext uri="{FF2B5EF4-FFF2-40B4-BE49-F238E27FC236}">
                <a16:creationId xmlns:a16="http://schemas.microsoft.com/office/drawing/2014/main" id="{E0B7077A-599C-EA85-8682-6F6BE65C2DBF}"/>
              </a:ext>
            </a:extLst>
          </p:cNvPr>
          <p:cNvCxnSpPr>
            <a:cxnSpLocks/>
          </p:cNvCxnSpPr>
          <p:nvPr/>
        </p:nvCxnSpPr>
        <p:spPr>
          <a:xfrm rot="16200000" flipH="1">
            <a:off x="8304338" y="3918311"/>
            <a:ext cx="986140" cy="219105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: Rounded Corners 46">
            <a:extLst>
              <a:ext uri="{FF2B5EF4-FFF2-40B4-BE49-F238E27FC236}">
                <a16:creationId xmlns:a16="http://schemas.microsoft.com/office/drawing/2014/main" id="{EE017776-F566-5710-47D6-7EEDA643451F}"/>
              </a:ext>
            </a:extLst>
          </p:cNvPr>
          <p:cNvSpPr/>
          <p:nvPr/>
        </p:nvSpPr>
        <p:spPr>
          <a:xfrm>
            <a:off x="8569746" y="3058759"/>
            <a:ext cx="2588011" cy="483899"/>
          </a:xfrm>
          <a:prstGeom prst="roundRect">
            <a:avLst>
              <a:gd name="adj" fmla="val 11418"/>
            </a:avLst>
          </a:prstGeom>
          <a:solidFill>
            <a:srgbClr val="043B72"/>
          </a:solidFill>
          <a:ln w="3175" cap="flat" cmpd="sng" algn="ctr">
            <a:noFill/>
            <a:prstDash val="solid"/>
          </a:ln>
          <a:effectLst/>
        </p:spPr>
        <p:txBody>
          <a:bodyPr wrap="square" lIns="0" tIns="0" rIns="0" bIns="0" rtlCol="0" anchor="ctr" anchorCtr="0"/>
          <a:lstStyle/>
          <a:p>
            <a:pPr algn="ctr" defTabSz="1042873" latinLnBrk="0">
              <a:defRPr/>
            </a:pPr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제</a:t>
            </a:r>
            <a:r>
              <a: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5</a:t>
            </a:r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장</a:t>
            </a:r>
            <a:br>
              <a: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</a:br>
            <a:r>
              <a: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AI </a:t>
            </a:r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위험관리정책</a:t>
            </a:r>
            <a:endParaRPr lang="en-US" altLang="ko-KR" sz="1200" b="1" kern="0">
              <a:ln>
                <a:solidFill>
                  <a:srgbClr val="A5C249">
                    <a:alpha val="0"/>
                  </a:srgbClr>
                </a:solidFill>
              </a:ln>
              <a:solidFill>
                <a:prstClr val="white"/>
              </a:solidFill>
              <a:latin typeface="+mn-ea"/>
            </a:endParaRPr>
          </a:p>
        </p:txBody>
      </p:sp>
      <p:sp>
        <p:nvSpPr>
          <p:cNvPr id="33" name="Rectangle: Rounded Corners 46">
            <a:extLst>
              <a:ext uri="{FF2B5EF4-FFF2-40B4-BE49-F238E27FC236}">
                <a16:creationId xmlns:a16="http://schemas.microsoft.com/office/drawing/2014/main" id="{782AD4B5-9B4C-959A-85D8-EA3F7C559830}"/>
              </a:ext>
            </a:extLst>
          </p:cNvPr>
          <p:cNvSpPr/>
          <p:nvPr/>
        </p:nvSpPr>
        <p:spPr>
          <a:xfrm>
            <a:off x="522288" y="1840770"/>
            <a:ext cx="1204912" cy="930621"/>
          </a:xfrm>
          <a:prstGeom prst="roundRect">
            <a:avLst>
              <a:gd name="adj" fmla="val 11418"/>
            </a:avLst>
          </a:prstGeom>
          <a:solidFill>
            <a:srgbClr val="F4B183"/>
          </a:solidFill>
          <a:ln>
            <a:solidFill>
              <a:schemeClr val="bg1"/>
            </a:solidFill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cs typeface="Pretendard" panose="02000503000000020004" pitchFamily="50" charset="-127"/>
              </a:rPr>
              <a:t>목적</a:t>
            </a:r>
            <a:endParaRPr kumimoji="0" lang="en-US" altLang="ko-KR" sz="14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34" name="Rectangle: Rounded Corners 46">
            <a:extLst>
              <a:ext uri="{FF2B5EF4-FFF2-40B4-BE49-F238E27FC236}">
                <a16:creationId xmlns:a16="http://schemas.microsoft.com/office/drawing/2014/main" id="{7D5FECC9-96F8-04E0-D7D0-82164A19A35B}"/>
              </a:ext>
            </a:extLst>
          </p:cNvPr>
          <p:cNvSpPr/>
          <p:nvPr/>
        </p:nvSpPr>
        <p:spPr>
          <a:xfrm>
            <a:off x="522289" y="2906401"/>
            <a:ext cx="1204912" cy="2833165"/>
          </a:xfrm>
          <a:prstGeom prst="roundRect">
            <a:avLst>
              <a:gd name="adj" fmla="val 6675"/>
            </a:avLst>
          </a:prstGeom>
          <a:solidFill>
            <a:srgbClr val="F4B183"/>
          </a:solidFill>
          <a:ln>
            <a:solidFill>
              <a:schemeClr val="bg1"/>
            </a:solidFill>
          </a:ln>
        </p:spPr>
        <p:txBody>
          <a:bodyPr spcFirstLastPara="1" wrap="square" lIns="0" tIns="0" rIns="504000" bIns="0" anchor="ctr" anchorCtr="0">
            <a:noAutofit/>
          </a:bodyPr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cs typeface="Pretendard" panose="02000503000000020004" pitchFamily="50" charset="-127"/>
              </a:rPr>
              <a:t>주요 </a:t>
            </a:r>
            <a:endParaRPr kumimoji="0" lang="en-US" altLang="ko-KR" sz="14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+mn-ea"/>
              <a:cs typeface="Pretendard" panose="02000503000000020004" pitchFamily="50" charset="-127"/>
            </a:endParaRPr>
          </a:p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cs typeface="Pretendard" panose="02000503000000020004" pitchFamily="50" charset="-127"/>
              </a:rPr>
              <a:t>내용</a:t>
            </a:r>
            <a:endParaRPr kumimoji="0" lang="en-US" altLang="ko-KR" sz="14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+mn-ea"/>
              <a:cs typeface="Pretendard" panose="02000503000000020004" pitchFamily="50" charset="-127"/>
            </a:endParaRPr>
          </a:p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cs typeface="Pretendard" panose="02000503000000020004" pitchFamily="50" charset="-127"/>
              </a:rPr>
              <a:t>(</a:t>
            </a: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cs typeface="Pretendard" panose="02000503000000020004" pitchFamily="50" charset="-127"/>
              </a:rPr>
              <a:t>문서 목차</a:t>
            </a: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cs typeface="Pretendard" panose="02000503000000020004" pitchFamily="50" charset="-127"/>
              </a:rPr>
              <a:t>*)</a:t>
            </a:r>
          </a:p>
        </p:txBody>
      </p:sp>
      <p:sp>
        <p:nvSpPr>
          <p:cNvPr id="35" name="Rectangle: Rounded Corners 46">
            <a:extLst>
              <a:ext uri="{FF2B5EF4-FFF2-40B4-BE49-F238E27FC236}">
                <a16:creationId xmlns:a16="http://schemas.microsoft.com/office/drawing/2014/main" id="{6FA2D7C4-4FFF-8F11-9A48-D4D1E599A3C3}"/>
              </a:ext>
            </a:extLst>
          </p:cNvPr>
          <p:cNvSpPr/>
          <p:nvPr/>
        </p:nvSpPr>
        <p:spPr>
          <a:xfrm>
            <a:off x="522289" y="5790110"/>
            <a:ext cx="1204912" cy="549568"/>
          </a:xfrm>
          <a:prstGeom prst="roundRect">
            <a:avLst>
              <a:gd name="adj" fmla="val 22435"/>
            </a:avLst>
          </a:prstGeom>
          <a:solidFill>
            <a:srgbClr val="F4B183"/>
          </a:solidFill>
          <a:ln>
            <a:solidFill>
              <a:schemeClr val="bg1"/>
            </a:solidFill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cs typeface="Pretendard" panose="02000503000000020004" pitchFamily="50" charset="-127"/>
              </a:rPr>
              <a:t>사용자</a:t>
            </a:r>
            <a:endParaRPr kumimoji="0" lang="en-US" altLang="ko-KR" sz="14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36" name="Rectangle: Rounded Corners 46">
            <a:extLst>
              <a:ext uri="{FF2B5EF4-FFF2-40B4-BE49-F238E27FC236}">
                <a16:creationId xmlns:a16="http://schemas.microsoft.com/office/drawing/2014/main" id="{E8808C8E-DE0B-F6F1-B921-4374B662CAD8}"/>
              </a:ext>
            </a:extLst>
          </p:cNvPr>
          <p:cNvSpPr/>
          <p:nvPr/>
        </p:nvSpPr>
        <p:spPr>
          <a:xfrm>
            <a:off x="1228725" y="3019331"/>
            <a:ext cx="582110" cy="601229"/>
          </a:xfrm>
          <a:prstGeom prst="roundRect">
            <a:avLst>
              <a:gd name="adj" fmla="val 11418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bg1"/>
            </a:solidFill>
            <a:prstDash val="solid"/>
          </a:ln>
          <a:effectLst/>
        </p:spPr>
        <p:txBody>
          <a:bodyPr wrap="square" lIns="0" tIns="0" rIns="0" bIns="0" rtlCol="0" anchor="ctr" anchorCtr="0"/>
          <a:lstStyle/>
          <a:p>
            <a:pPr algn="ctr" defTabSz="1042873"/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원칙</a:t>
            </a:r>
            <a:r>
              <a: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/</a:t>
            </a:r>
          </a:p>
          <a:p>
            <a:pPr algn="ctr" defTabSz="1042873"/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기준</a:t>
            </a:r>
            <a:endParaRPr lang="en-US" altLang="ko-KR" sz="1200" b="1" kern="0">
              <a:ln>
                <a:solidFill>
                  <a:srgbClr val="A5C249">
                    <a:alpha val="0"/>
                  </a:srgbClr>
                </a:solidFill>
              </a:ln>
              <a:latin typeface="+mn-ea"/>
              <a:cs typeface="Pretendard SemiBold" panose="02000703000000020004" pitchFamily="50" charset="-127"/>
            </a:endParaRPr>
          </a:p>
        </p:txBody>
      </p:sp>
      <p:sp>
        <p:nvSpPr>
          <p:cNvPr id="37" name="Rectangle: Rounded Corners 46">
            <a:extLst>
              <a:ext uri="{FF2B5EF4-FFF2-40B4-BE49-F238E27FC236}">
                <a16:creationId xmlns:a16="http://schemas.microsoft.com/office/drawing/2014/main" id="{8CC02A2A-87C0-65EC-B00C-501EAF6F3231}"/>
              </a:ext>
            </a:extLst>
          </p:cNvPr>
          <p:cNvSpPr/>
          <p:nvPr/>
        </p:nvSpPr>
        <p:spPr>
          <a:xfrm>
            <a:off x="1228725" y="3692886"/>
            <a:ext cx="582110" cy="601229"/>
          </a:xfrm>
          <a:prstGeom prst="roundRect">
            <a:avLst>
              <a:gd name="adj" fmla="val 11418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bg1"/>
            </a:solidFill>
            <a:prstDash val="solid"/>
          </a:ln>
          <a:effectLst/>
        </p:spPr>
        <p:txBody>
          <a:bodyPr wrap="square" lIns="0" tIns="0" rIns="0" bIns="0" rtlCol="0" anchor="ctr" anchorCtr="0"/>
          <a:lstStyle/>
          <a:p>
            <a:pPr algn="ctr" defTabSz="1042873"/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조직</a:t>
            </a:r>
            <a:endParaRPr lang="en-US" altLang="ko-KR" sz="1200" b="1" kern="0">
              <a:ln>
                <a:solidFill>
                  <a:srgbClr val="A5C249">
                    <a:alpha val="0"/>
                  </a:srgbClr>
                </a:solidFill>
              </a:ln>
              <a:latin typeface="+mn-ea"/>
              <a:cs typeface="Pretendard SemiBold" panose="02000703000000020004" pitchFamily="50" charset="-127"/>
            </a:endParaRPr>
          </a:p>
        </p:txBody>
      </p:sp>
      <p:sp>
        <p:nvSpPr>
          <p:cNvPr id="38" name="Rectangle: Rounded Corners 46">
            <a:extLst>
              <a:ext uri="{FF2B5EF4-FFF2-40B4-BE49-F238E27FC236}">
                <a16:creationId xmlns:a16="http://schemas.microsoft.com/office/drawing/2014/main" id="{A45C5A77-AE82-64C6-59B1-66C7F8F85FFD}"/>
              </a:ext>
            </a:extLst>
          </p:cNvPr>
          <p:cNvSpPr/>
          <p:nvPr/>
        </p:nvSpPr>
        <p:spPr>
          <a:xfrm>
            <a:off x="1228725" y="4366440"/>
            <a:ext cx="582110" cy="1310160"/>
          </a:xfrm>
          <a:prstGeom prst="roundRect">
            <a:avLst>
              <a:gd name="adj" fmla="val 11418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bg1"/>
            </a:solidFill>
            <a:prstDash val="solid"/>
          </a:ln>
          <a:effectLst/>
        </p:spPr>
        <p:txBody>
          <a:bodyPr wrap="square" lIns="0" tIns="0" rIns="0" bIns="0" rtlCol="0" anchor="ctr" anchorCtr="0"/>
          <a:lstStyle/>
          <a:p>
            <a:pPr algn="ctr" defTabSz="1042873"/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개발</a:t>
            </a:r>
            <a:r>
              <a: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·</a:t>
            </a:r>
            <a:br>
              <a: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</a:br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운영 관리 체계</a:t>
            </a:r>
            <a:endParaRPr lang="en-US" altLang="ko-KR" sz="1200" b="1" kern="0">
              <a:ln>
                <a:solidFill>
                  <a:srgbClr val="A5C249">
                    <a:alpha val="0"/>
                  </a:srgbClr>
                </a:solidFill>
              </a:ln>
              <a:latin typeface="+mn-ea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974654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EF44E85-5228-7AC9-CA1B-DEEA186A440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67D4BAE-C10C-CE68-AA06-E98A9FEBB74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[Back-up] </a:t>
            </a:r>
            <a:r>
              <a:rPr lang="ko-KR" altLang="en-US"/>
              <a:t>타사 </a:t>
            </a:r>
            <a:r>
              <a:rPr lang="en-US" altLang="ko-KR"/>
              <a:t>AI</a:t>
            </a:r>
            <a:r>
              <a:rPr lang="ko-KR" altLang="en-US"/>
              <a:t>거버넌스 주요 내용</a:t>
            </a:r>
            <a:r>
              <a:rPr lang="en-US" altLang="ko-KR"/>
              <a:t>_M</a:t>
            </a:r>
            <a:r>
              <a:rPr lang="ko-KR" altLang="en-US"/>
              <a:t>금고 </a:t>
            </a:r>
            <a:r>
              <a:rPr lang="en-US" altLang="ko-KR"/>
              <a:t>(2/3)</a:t>
            </a:r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ED4832D-654D-75A3-739E-F8A0CFBD21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/>
              <a:t>M</a:t>
            </a:r>
            <a:r>
              <a:rPr lang="ko-KR" altLang="en-US"/>
              <a:t>금고 </a:t>
            </a:r>
            <a:r>
              <a:rPr lang="en-US" altLang="ko-KR"/>
              <a:t>AI </a:t>
            </a:r>
            <a:r>
              <a:rPr lang="ko-KR" altLang="en-US"/>
              <a:t>거버넌스 규정 시행 세칙</a:t>
            </a:r>
            <a:r>
              <a:rPr lang="en-US" altLang="ko-KR"/>
              <a:t>(</a:t>
            </a:r>
            <a:r>
              <a:rPr lang="ko-KR" altLang="en-US"/>
              <a:t>안</a:t>
            </a:r>
            <a:r>
              <a:rPr lang="en-US" altLang="ko-KR"/>
              <a:t>)</a:t>
            </a:r>
            <a:r>
              <a:rPr lang="ko-KR" altLang="en-US"/>
              <a:t>의 주요 내용은 다음과 같음</a:t>
            </a:r>
          </a:p>
        </p:txBody>
      </p:sp>
      <p:sp>
        <p:nvSpPr>
          <p:cNvPr id="6" name="사각형: 둥근 모서리 20">
            <a:extLst>
              <a:ext uri="{FF2B5EF4-FFF2-40B4-BE49-F238E27FC236}">
                <a16:creationId xmlns:a16="http://schemas.microsoft.com/office/drawing/2014/main" id="{55DE054D-21DD-DEB2-B02C-30A63C90E080}"/>
              </a:ext>
            </a:extLst>
          </p:cNvPr>
          <p:cNvSpPr/>
          <p:nvPr/>
        </p:nvSpPr>
        <p:spPr>
          <a:xfrm>
            <a:off x="4600839" y="1341439"/>
            <a:ext cx="2052000" cy="359621"/>
          </a:xfrm>
          <a:prstGeom prst="roundRect">
            <a:avLst>
              <a:gd name="adj" fmla="val 0"/>
            </a:avLst>
          </a:prstGeom>
          <a:solidFill>
            <a:schemeClr val="bg1">
              <a:lumMod val="75000"/>
            </a:schemeClr>
          </a:solidFill>
          <a:ln w="12700">
            <a:noFill/>
          </a:ln>
          <a:effectLst/>
        </p:spPr>
        <p:txBody>
          <a:bodyPr lIns="0" tIns="0" rIns="0" bIns="0" rtlCol="0" anchor="ctr" anchorCtr="0"/>
          <a:lstStyle/>
          <a:p>
            <a:pPr algn="ctr" defTabSz="914400"/>
            <a:r>
              <a:rPr lang="ko-KR" altLang="en-US" sz="1400" b="1" spc="-150">
                <a:solidFill>
                  <a:schemeClr val="bg1">
                    <a:lumMod val="95000"/>
                  </a:schemeClr>
                </a:solidFill>
                <a:latin typeface="+mn-ea"/>
                <a:cs typeface="Noto Sans" panose="020B0502040504020204" pitchFamily="34" charset="0"/>
              </a:rPr>
              <a:t>③ </a:t>
            </a:r>
            <a:r>
              <a:rPr lang="en-US" altLang="ko-KR" sz="1400" b="1" spc="-150">
                <a:solidFill>
                  <a:schemeClr val="bg1">
                    <a:lumMod val="95000"/>
                  </a:schemeClr>
                </a:solidFill>
                <a:latin typeface="+mn-ea"/>
                <a:cs typeface="Noto Sans" panose="020B0502040504020204" pitchFamily="34" charset="0"/>
              </a:rPr>
              <a:t>AI </a:t>
            </a:r>
            <a:r>
              <a:rPr lang="ko-KR" altLang="en-US" sz="1400" b="1" spc="-150">
                <a:solidFill>
                  <a:schemeClr val="bg1">
                    <a:lumMod val="95000"/>
                  </a:schemeClr>
                </a:solidFill>
                <a:latin typeface="+mn-ea"/>
                <a:cs typeface="Noto Sans" panose="020B0502040504020204" pitchFamily="34" charset="0"/>
              </a:rPr>
              <a:t>개발 운영 시행 세칙</a:t>
            </a:r>
          </a:p>
        </p:txBody>
      </p:sp>
      <p:sp>
        <p:nvSpPr>
          <p:cNvPr id="7" name="사각형: 둥근 모서리 20">
            <a:extLst>
              <a:ext uri="{FF2B5EF4-FFF2-40B4-BE49-F238E27FC236}">
                <a16:creationId xmlns:a16="http://schemas.microsoft.com/office/drawing/2014/main" id="{918A46F7-4303-3645-6ADE-69F71CDC7D45}"/>
              </a:ext>
            </a:extLst>
          </p:cNvPr>
          <p:cNvSpPr/>
          <p:nvPr/>
        </p:nvSpPr>
        <p:spPr>
          <a:xfrm>
            <a:off x="407988" y="1341439"/>
            <a:ext cx="2052000" cy="359621"/>
          </a:xfrm>
          <a:prstGeom prst="roundRect">
            <a:avLst>
              <a:gd name="adj" fmla="val 0"/>
            </a:avLst>
          </a:prstGeom>
          <a:solidFill>
            <a:schemeClr val="bg1">
              <a:lumMod val="75000"/>
            </a:schemeClr>
          </a:solidFill>
          <a:ln w="12700">
            <a:noFill/>
          </a:ln>
          <a:effectLst/>
        </p:spPr>
        <p:txBody>
          <a:bodyPr lIns="0" tIns="0" rIns="0" bIns="0" rtlCol="0" anchor="ctr" anchorCtr="0"/>
          <a:lstStyle/>
          <a:p>
            <a:pPr algn="ctr" defTabSz="914400"/>
            <a:r>
              <a:rPr lang="ko-KR" altLang="en-US" sz="1400" b="1" spc="-150">
                <a:solidFill>
                  <a:schemeClr val="bg1">
                    <a:lumMod val="95000"/>
                  </a:schemeClr>
                </a:solidFill>
                <a:latin typeface="+mn-ea"/>
                <a:cs typeface="Noto Sans" panose="020B0502040504020204" pitchFamily="34" charset="0"/>
              </a:rPr>
              <a:t>① </a:t>
            </a:r>
            <a:r>
              <a:rPr lang="en-US" altLang="ko-KR" sz="1400" b="1" spc="-150">
                <a:solidFill>
                  <a:schemeClr val="bg1">
                    <a:lumMod val="95000"/>
                  </a:schemeClr>
                </a:solidFill>
                <a:latin typeface="+mn-ea"/>
                <a:cs typeface="Noto Sans" panose="020B0502040504020204" pitchFamily="34" charset="0"/>
              </a:rPr>
              <a:t>AI </a:t>
            </a:r>
            <a:r>
              <a:rPr lang="ko-KR" altLang="en-US" sz="1400" b="1" spc="-150">
                <a:solidFill>
                  <a:schemeClr val="bg1">
                    <a:lumMod val="95000"/>
                  </a:schemeClr>
                </a:solidFill>
                <a:latin typeface="+mn-ea"/>
                <a:cs typeface="Noto Sans" panose="020B0502040504020204" pitchFamily="34" charset="0"/>
              </a:rPr>
              <a:t>거버넌스  규정</a:t>
            </a:r>
            <a:endParaRPr lang="en" altLang="ko-KR" sz="1400" b="1" spc="-150">
              <a:solidFill>
                <a:schemeClr val="bg1">
                  <a:lumMod val="95000"/>
                </a:schemeClr>
              </a:solidFill>
              <a:latin typeface="+mn-ea"/>
              <a:cs typeface="Noto Sans" panose="020B0502040504020204" pitchFamily="34" charset="0"/>
            </a:endParaRPr>
          </a:p>
        </p:txBody>
      </p:sp>
      <p:sp>
        <p:nvSpPr>
          <p:cNvPr id="8" name="사각형: 둥근 모서리 20">
            <a:extLst>
              <a:ext uri="{FF2B5EF4-FFF2-40B4-BE49-F238E27FC236}">
                <a16:creationId xmlns:a16="http://schemas.microsoft.com/office/drawing/2014/main" id="{B374565C-17E9-B991-F03A-439BA1D3EEFF}"/>
              </a:ext>
            </a:extLst>
          </p:cNvPr>
          <p:cNvSpPr/>
          <p:nvPr/>
        </p:nvSpPr>
        <p:spPr>
          <a:xfrm>
            <a:off x="407987" y="1701060"/>
            <a:ext cx="11376025" cy="475212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accent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" altLang="ko-KR" sz="1400" b="1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lt1"/>
              </a:solidFill>
              <a:latin typeface="+mn-ea"/>
            </a:endParaRPr>
          </a:p>
        </p:txBody>
      </p:sp>
      <p:sp>
        <p:nvSpPr>
          <p:cNvPr id="9" name="Rectangle: Rounded Corners 46">
            <a:extLst>
              <a:ext uri="{FF2B5EF4-FFF2-40B4-BE49-F238E27FC236}">
                <a16:creationId xmlns:a16="http://schemas.microsoft.com/office/drawing/2014/main" id="{61695D5B-7A9B-2970-F11A-2E2E727CBF59}"/>
              </a:ext>
            </a:extLst>
          </p:cNvPr>
          <p:cNvSpPr/>
          <p:nvPr/>
        </p:nvSpPr>
        <p:spPr>
          <a:xfrm>
            <a:off x="5277149" y="1840770"/>
            <a:ext cx="6259531" cy="4498908"/>
          </a:xfrm>
          <a:prstGeom prst="snip1Rect">
            <a:avLst/>
          </a:prstGeom>
          <a:pattFill prst="dkUpDiag">
            <a:fgClr>
              <a:schemeClr val="accent1">
                <a:lumMod val="20000"/>
                <a:lumOff val="80000"/>
              </a:schemeClr>
            </a:fgClr>
            <a:bgClr>
              <a:prstClr val="white"/>
            </a:bgClr>
          </a:pattFill>
          <a:ln w="3175" cap="flat" cmpd="sng" algn="ctr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 anchorCtr="0"/>
          <a:lstStyle/>
          <a:p>
            <a:pPr marL="0" marR="0" lvl="0" indent="0" algn="ctr" defTabSz="10428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1" i="0" u="none" strike="noStrike" kern="0" cap="none" spc="0" normalizeH="0" baseline="0" noProof="0">
              <a:ln>
                <a:solidFill>
                  <a:srgbClr val="A5C249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+mn-ea"/>
              <a:cs typeface="Pretendard SemiBold" panose="02000703000000020004" pitchFamily="50" charset="-127"/>
            </a:endParaRPr>
          </a:p>
        </p:txBody>
      </p:sp>
      <p:sp>
        <p:nvSpPr>
          <p:cNvPr id="10" name="사각형: 둥근 모서리 20">
            <a:extLst>
              <a:ext uri="{FF2B5EF4-FFF2-40B4-BE49-F238E27FC236}">
                <a16:creationId xmlns:a16="http://schemas.microsoft.com/office/drawing/2014/main" id="{AB4BE079-0DA6-538B-6B77-B97F18FD487B}"/>
              </a:ext>
            </a:extLst>
          </p:cNvPr>
          <p:cNvSpPr/>
          <p:nvPr/>
        </p:nvSpPr>
        <p:spPr>
          <a:xfrm>
            <a:off x="2504414" y="1341439"/>
            <a:ext cx="2052000" cy="359621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400" b="1" spc="-3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② </a:t>
            </a:r>
            <a:r>
              <a:rPr lang="en-US" altLang="ko-KR" sz="1400" b="1" spc="-3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AI </a:t>
            </a:r>
            <a:r>
              <a:rPr lang="ko-KR" altLang="en-US" sz="1400" b="1" spc="-3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거버넌스 규정 시행 세칙</a:t>
            </a:r>
          </a:p>
        </p:txBody>
      </p:sp>
      <p:sp>
        <p:nvSpPr>
          <p:cNvPr id="11" name="Rectangle: Rounded Corners 46">
            <a:extLst>
              <a:ext uri="{FF2B5EF4-FFF2-40B4-BE49-F238E27FC236}">
                <a16:creationId xmlns:a16="http://schemas.microsoft.com/office/drawing/2014/main" id="{76297EE8-9FE3-BDBF-198E-6B9A2DF6C0EE}"/>
              </a:ext>
            </a:extLst>
          </p:cNvPr>
          <p:cNvSpPr/>
          <p:nvPr/>
        </p:nvSpPr>
        <p:spPr>
          <a:xfrm>
            <a:off x="5479142" y="1926993"/>
            <a:ext cx="2052190" cy="379253"/>
          </a:xfrm>
          <a:prstGeom prst="roundRect">
            <a:avLst>
              <a:gd name="adj" fmla="val 11418"/>
            </a:avLst>
          </a:prstGeom>
          <a:noFill/>
          <a:ln w="3175" cap="flat" cmpd="sng" algn="ctr">
            <a:noFill/>
            <a:prstDash val="solid"/>
          </a:ln>
          <a:effectLst/>
        </p:spPr>
        <p:txBody>
          <a:bodyPr wrap="square" lIns="0" tIns="0" rIns="0" bIns="0" rtlCol="0" anchor="ctr" anchorCtr="0"/>
          <a:lstStyle/>
          <a:p>
            <a:pPr marL="0" marR="0" lvl="0" indent="0" defTabSz="10428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Contents</a:t>
            </a:r>
          </a:p>
        </p:txBody>
      </p:sp>
      <p:sp>
        <p:nvSpPr>
          <p:cNvPr id="12" name="Rectangle: Rounded Corners 46">
            <a:extLst>
              <a:ext uri="{FF2B5EF4-FFF2-40B4-BE49-F238E27FC236}">
                <a16:creationId xmlns:a16="http://schemas.microsoft.com/office/drawing/2014/main" id="{3FDCB3BC-480D-2D51-3364-D630DCBC2330}"/>
              </a:ext>
            </a:extLst>
          </p:cNvPr>
          <p:cNvSpPr/>
          <p:nvPr/>
        </p:nvSpPr>
        <p:spPr>
          <a:xfrm>
            <a:off x="1943373" y="3019330"/>
            <a:ext cx="3250142" cy="601227"/>
          </a:xfrm>
          <a:prstGeom prst="roundRect">
            <a:avLst>
              <a:gd name="adj" fmla="val 11418"/>
            </a:avLst>
          </a:prstGeom>
          <a:solidFill>
            <a:schemeClr val="bg1">
              <a:lumMod val="95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wrap="square" lIns="90000" tIns="0" rIns="90000" bIns="0" rtlCol="0" anchor="ctr" anchorCtr="0"/>
          <a:lstStyle/>
          <a:p>
            <a:pPr marL="171450" marR="0" lvl="0" indent="-171450" defTabSz="10428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일반 지침</a:t>
            </a:r>
            <a: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: AI</a:t>
            </a: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서비스 위</a:t>
            </a:r>
            <a: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·</a:t>
            </a: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수탁 및 금융소비자의 보호</a:t>
            </a:r>
            <a: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, </a:t>
            </a: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임직원 윤리 교육 </a:t>
            </a:r>
          </a:p>
        </p:txBody>
      </p:sp>
      <p:sp>
        <p:nvSpPr>
          <p:cNvPr id="13" name="Rectangle: Rounded Corners 46">
            <a:extLst>
              <a:ext uri="{FF2B5EF4-FFF2-40B4-BE49-F238E27FC236}">
                <a16:creationId xmlns:a16="http://schemas.microsoft.com/office/drawing/2014/main" id="{60E34B14-71FD-CBF0-73D3-82CB917EA454}"/>
              </a:ext>
            </a:extLst>
          </p:cNvPr>
          <p:cNvSpPr/>
          <p:nvPr/>
        </p:nvSpPr>
        <p:spPr>
          <a:xfrm>
            <a:off x="1943373" y="1840770"/>
            <a:ext cx="3250142" cy="930621"/>
          </a:xfrm>
          <a:prstGeom prst="roundRect">
            <a:avLst>
              <a:gd name="adj" fmla="val 11418"/>
            </a:avLst>
          </a:prstGeom>
          <a:solidFill>
            <a:schemeClr val="bg1">
              <a:lumMod val="95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wrap="square" lIns="90000" tIns="0" rIns="90000" bIns="0" rtlCol="0" anchor="ctr" anchorCtr="0"/>
          <a:lstStyle/>
          <a:p>
            <a:pPr marL="0" marR="0" lvl="0" indent="0" defTabSz="1042873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i="0" u="none" strike="noStrike" kern="0" cap="none" spc="-70" normalizeH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AI </a:t>
            </a:r>
            <a:r>
              <a:rPr kumimoji="0" lang="ko-KR" altLang="en-US" sz="1200" i="0" u="none" strike="noStrike" kern="0" cap="none" spc="-70" normalizeH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도입 및 활용하는 과정에서 발생할 수 있는 위험을 관리하고 경감하는 것을 목적으로 방안 제공</a:t>
            </a:r>
          </a:p>
        </p:txBody>
      </p:sp>
      <p:sp>
        <p:nvSpPr>
          <p:cNvPr id="14" name="Rectangle: Rounded Corners 46">
            <a:extLst>
              <a:ext uri="{FF2B5EF4-FFF2-40B4-BE49-F238E27FC236}">
                <a16:creationId xmlns:a16="http://schemas.microsoft.com/office/drawing/2014/main" id="{17ED1001-D582-361C-BC4A-03E62D1354A0}"/>
              </a:ext>
            </a:extLst>
          </p:cNvPr>
          <p:cNvSpPr/>
          <p:nvPr/>
        </p:nvSpPr>
        <p:spPr>
          <a:xfrm>
            <a:off x="1943373" y="3692886"/>
            <a:ext cx="3250142" cy="601227"/>
          </a:xfrm>
          <a:prstGeom prst="roundRect">
            <a:avLst>
              <a:gd name="adj" fmla="val 11418"/>
            </a:avLst>
          </a:prstGeom>
          <a:solidFill>
            <a:schemeClr val="bg1">
              <a:lumMod val="95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wrap="square" lIns="90000" tIns="0" rIns="90000" bIns="0" rtlCol="0" anchor="ctr" anchorCtr="0"/>
          <a:lstStyle/>
          <a:p>
            <a:pPr marL="171450" marR="0" lvl="0" indent="-171450" defTabSz="10428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AI </a:t>
            </a:r>
            <a:r>
              <a:rPr kumimoji="0" lang="ko-KR" altLang="en-US" sz="1200" i="0" u="none" strike="noStrike" kern="0" cap="none" spc="0" normalizeH="0" baseline="0" noProof="0" err="1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전략부</a:t>
            </a: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 조직</a:t>
            </a:r>
            <a: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: AI</a:t>
            </a: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전략</a:t>
            </a:r>
            <a: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(</a:t>
            </a: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본</a:t>
            </a:r>
            <a: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)</a:t>
            </a: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부</a:t>
            </a:r>
            <a: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, AI</a:t>
            </a: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거버넌스 담당 조직</a:t>
            </a:r>
            <a: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,  AI</a:t>
            </a: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협의체</a:t>
            </a:r>
          </a:p>
        </p:txBody>
      </p:sp>
      <p:sp>
        <p:nvSpPr>
          <p:cNvPr id="15" name="Rectangle: Rounded Corners 46">
            <a:extLst>
              <a:ext uri="{FF2B5EF4-FFF2-40B4-BE49-F238E27FC236}">
                <a16:creationId xmlns:a16="http://schemas.microsoft.com/office/drawing/2014/main" id="{BD17941F-0C18-5D28-79A3-45DF0ABD9B39}"/>
              </a:ext>
            </a:extLst>
          </p:cNvPr>
          <p:cNvSpPr/>
          <p:nvPr/>
        </p:nvSpPr>
        <p:spPr>
          <a:xfrm>
            <a:off x="1943373" y="4366440"/>
            <a:ext cx="3250142" cy="1310160"/>
          </a:xfrm>
          <a:prstGeom prst="roundRect">
            <a:avLst>
              <a:gd name="adj" fmla="val 5596"/>
            </a:avLst>
          </a:prstGeom>
          <a:solidFill>
            <a:schemeClr val="bg1">
              <a:lumMod val="95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wrap="square" lIns="90000" tIns="0" rIns="90000" bIns="0" rtlCol="0" anchor="ctr" anchorCtr="0"/>
          <a:lstStyle/>
          <a:p>
            <a:pPr marL="171450" marR="0" lvl="0" indent="-171450" defTabSz="10428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AI</a:t>
            </a: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위험관리 지침</a:t>
            </a:r>
            <a: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: </a:t>
            </a: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원칙 및 기준</a:t>
            </a:r>
            <a: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, </a:t>
            </a: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기획</a:t>
            </a:r>
            <a: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·</a:t>
            </a: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설계 단계</a:t>
            </a:r>
            <a: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, </a:t>
            </a: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개발 단계</a:t>
            </a:r>
            <a: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, </a:t>
            </a: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평가</a:t>
            </a:r>
            <a: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·</a:t>
            </a: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점검 단계</a:t>
            </a:r>
            <a: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, </a:t>
            </a: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도입</a:t>
            </a:r>
            <a: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·</a:t>
            </a: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운영</a:t>
            </a:r>
            <a: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·</a:t>
            </a: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모니터링 단계</a:t>
            </a:r>
          </a:p>
        </p:txBody>
      </p:sp>
      <p:sp>
        <p:nvSpPr>
          <p:cNvPr id="16" name="Rectangle: Rounded Corners 46">
            <a:extLst>
              <a:ext uri="{FF2B5EF4-FFF2-40B4-BE49-F238E27FC236}">
                <a16:creationId xmlns:a16="http://schemas.microsoft.com/office/drawing/2014/main" id="{DC449716-ECCF-4EB2-8204-0AC2DC902127}"/>
              </a:ext>
            </a:extLst>
          </p:cNvPr>
          <p:cNvSpPr/>
          <p:nvPr/>
        </p:nvSpPr>
        <p:spPr>
          <a:xfrm>
            <a:off x="1943373" y="5790110"/>
            <a:ext cx="3250142" cy="549568"/>
          </a:xfrm>
          <a:prstGeom prst="roundRect">
            <a:avLst>
              <a:gd name="adj" fmla="val 11418"/>
            </a:avLst>
          </a:prstGeom>
          <a:solidFill>
            <a:schemeClr val="bg1">
              <a:lumMod val="95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wrap="square" lIns="90000" tIns="0" rIns="90000" bIns="0" rtlCol="0" anchor="ctr" anchorCtr="0"/>
          <a:lstStyle/>
          <a:p>
            <a:pPr algn="ctr" defTabSz="1042873" latinLnBrk="0">
              <a:defRPr/>
            </a:pPr>
            <a:r>
              <a:rPr lang="en-US" altLang="ko-KR" sz="1200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AI </a:t>
            </a:r>
            <a:r>
              <a:rPr lang="ko-KR" altLang="en-US" sz="1200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서비스 기획</a:t>
            </a:r>
            <a:r>
              <a:rPr lang="en-US" altLang="ko-KR" sz="1200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/</a:t>
            </a:r>
            <a:r>
              <a:rPr lang="ko-KR" altLang="en-US" sz="1200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개발</a:t>
            </a:r>
            <a:r>
              <a:rPr lang="en-US" altLang="ko-KR" sz="1200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/</a:t>
            </a:r>
            <a:r>
              <a:rPr lang="ko-KR" altLang="en-US" sz="1200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운영</a:t>
            </a:r>
            <a:r>
              <a:rPr lang="en-US" altLang="ko-KR" sz="1200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, </a:t>
            </a:r>
            <a:r>
              <a:rPr lang="ko-KR" altLang="en-US" sz="1200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 </a:t>
            </a:r>
            <a:r>
              <a:rPr lang="en-US" altLang="ko-KR" sz="1200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AI</a:t>
            </a:r>
            <a:r>
              <a:rPr lang="ko-KR" altLang="en-US" sz="1200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거버넌스</a:t>
            </a:r>
            <a:endParaRPr kumimoji="0" lang="en-US" altLang="ko-KR" sz="1200" i="0" u="none" strike="noStrike" kern="0" cap="none" spc="0" normalizeH="0" baseline="0" noProof="0">
              <a:ln>
                <a:solidFill>
                  <a:srgbClr val="A5C249">
                    <a:alpha val="0"/>
                  </a:srgbClr>
                </a:solidFill>
              </a:ln>
              <a:effectLst/>
              <a:uLnTx/>
              <a:uFillTx/>
              <a:latin typeface="+mn-ea"/>
              <a:cs typeface="Pretendard SemiBold" panose="02000703000000020004" pitchFamily="50" charset="-127"/>
            </a:endParaRPr>
          </a:p>
        </p:txBody>
      </p:sp>
      <p:sp>
        <p:nvSpPr>
          <p:cNvPr id="17" name="Rectangle: Rounded Corners 46">
            <a:extLst>
              <a:ext uri="{FF2B5EF4-FFF2-40B4-BE49-F238E27FC236}">
                <a16:creationId xmlns:a16="http://schemas.microsoft.com/office/drawing/2014/main" id="{A93E0609-D687-5050-BACE-8F7586969F8D}"/>
              </a:ext>
            </a:extLst>
          </p:cNvPr>
          <p:cNvSpPr/>
          <p:nvPr/>
        </p:nvSpPr>
        <p:spPr>
          <a:xfrm>
            <a:off x="5598487" y="2356890"/>
            <a:ext cx="2588011" cy="483899"/>
          </a:xfrm>
          <a:prstGeom prst="roundRect">
            <a:avLst>
              <a:gd name="adj" fmla="val 11418"/>
            </a:avLst>
          </a:prstGeom>
          <a:solidFill>
            <a:srgbClr val="043B72"/>
          </a:solidFill>
          <a:ln w="3175" cap="flat" cmpd="sng" algn="ctr">
            <a:noFill/>
            <a:prstDash val="solid"/>
          </a:ln>
          <a:effectLst/>
        </p:spPr>
        <p:txBody>
          <a:bodyPr wrap="square" lIns="0" tIns="0" rIns="0" bIns="0" rtlCol="0" anchor="ctr" anchorCtr="0"/>
          <a:lstStyle/>
          <a:p>
            <a:pPr marL="0" marR="0" lvl="0" indent="0" algn="ctr" defTabSz="10428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제</a:t>
            </a:r>
            <a:r>
              <a:rPr kumimoji="0" lang="en-US" altLang="ko-KR" sz="1200" b="1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1</a:t>
            </a:r>
            <a:r>
              <a:rPr kumimoji="0" lang="ko-KR" altLang="en-US" sz="1200" b="1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장</a:t>
            </a:r>
            <a:br>
              <a:rPr kumimoji="0" lang="en-US" altLang="ko-KR" sz="1200" b="1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</a:br>
            <a:r>
              <a:rPr kumimoji="0" lang="ko-KR" altLang="en-US" sz="1200" b="1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총칙</a:t>
            </a:r>
            <a:endParaRPr kumimoji="0" lang="en-US" altLang="ko-KR" sz="1200" b="1" i="0" u="none" strike="noStrike" kern="0" cap="none" spc="0" normalizeH="0" baseline="0" noProof="0">
              <a:ln>
                <a:solidFill>
                  <a:srgbClr val="A5C249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+mn-ea"/>
              <a:cs typeface="Pretendard SemiBold" panose="02000703000000020004" pitchFamily="50" charset="-127"/>
            </a:endParaRPr>
          </a:p>
        </p:txBody>
      </p:sp>
      <p:sp>
        <p:nvSpPr>
          <p:cNvPr id="18" name="Rectangle: Rounded Corners 46">
            <a:extLst>
              <a:ext uri="{FF2B5EF4-FFF2-40B4-BE49-F238E27FC236}">
                <a16:creationId xmlns:a16="http://schemas.microsoft.com/office/drawing/2014/main" id="{6559E202-0578-5117-FA32-981385553956}"/>
              </a:ext>
            </a:extLst>
          </p:cNvPr>
          <p:cNvSpPr/>
          <p:nvPr/>
        </p:nvSpPr>
        <p:spPr>
          <a:xfrm>
            <a:off x="5935702" y="3471851"/>
            <a:ext cx="2250795" cy="442714"/>
          </a:xfrm>
          <a:prstGeom prst="roundRect">
            <a:avLst>
              <a:gd name="adj" fmla="val 11418"/>
            </a:avLst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spcFirstLastPara="1" wrap="square" lIns="108000" tIns="0" rIns="0" bIns="0" anchor="ctr" anchorCtr="0">
            <a:noAutofit/>
          </a:bodyPr>
          <a:lstStyle/>
          <a:p>
            <a:pPr defTabSz="914446">
              <a:buClr>
                <a:srgbClr val="FFFFFF"/>
              </a:buClr>
              <a:buSzPts val="1100"/>
            </a:pP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제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1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절 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AI 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서비스 위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·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수탁 및</a:t>
            </a:r>
            <a:br>
              <a:rPr lang="en-US" altLang="ko-KR" sz="1100" b="1">
                <a:latin typeface="+mn-ea"/>
                <a:cs typeface="Pretendard" panose="02000503000000020004" pitchFamily="50" charset="-127"/>
              </a:rPr>
            </a:b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       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 금융소비자 보호</a:t>
            </a:r>
            <a:endParaRPr lang="en-US" altLang="ko-KR" sz="1100" b="1"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19" name="Rectangle: Rounded Corners 46">
            <a:extLst>
              <a:ext uri="{FF2B5EF4-FFF2-40B4-BE49-F238E27FC236}">
                <a16:creationId xmlns:a16="http://schemas.microsoft.com/office/drawing/2014/main" id="{EC82DB84-8D50-A977-4F71-67378BBFB183}"/>
              </a:ext>
            </a:extLst>
          </p:cNvPr>
          <p:cNvSpPr/>
          <p:nvPr/>
        </p:nvSpPr>
        <p:spPr>
          <a:xfrm>
            <a:off x="5935702" y="3988147"/>
            <a:ext cx="2250795" cy="354885"/>
          </a:xfrm>
          <a:prstGeom prst="roundRect">
            <a:avLst>
              <a:gd name="adj" fmla="val 11418"/>
            </a:avLst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spcFirstLastPara="1" wrap="square" lIns="108000" tIns="0" rIns="0" bIns="0" anchor="ctr" anchorCtr="0">
            <a:noAutofit/>
          </a:bodyPr>
          <a:lstStyle/>
          <a:p>
            <a:pPr defTabSz="914446">
              <a:buClr>
                <a:srgbClr val="FFFFFF"/>
              </a:buClr>
              <a:buSzPts val="1100"/>
            </a:pP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제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2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절 임직원 윤리 교육</a:t>
            </a:r>
            <a:endParaRPr lang="en-US" altLang="ko-KR" sz="1100" b="1"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20" name="Rectangle: Rounded Corners 46">
            <a:extLst>
              <a:ext uri="{FF2B5EF4-FFF2-40B4-BE49-F238E27FC236}">
                <a16:creationId xmlns:a16="http://schemas.microsoft.com/office/drawing/2014/main" id="{D11DEF6B-5B12-2F8D-4CCA-90D5DF440D8B}"/>
              </a:ext>
            </a:extLst>
          </p:cNvPr>
          <p:cNvSpPr/>
          <p:nvPr/>
        </p:nvSpPr>
        <p:spPr>
          <a:xfrm>
            <a:off x="8906961" y="3352415"/>
            <a:ext cx="2250795" cy="354885"/>
          </a:xfrm>
          <a:prstGeom prst="roundRect">
            <a:avLst>
              <a:gd name="adj" fmla="val 11418"/>
            </a:avLst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spcFirstLastPara="1" wrap="square" lIns="108000" tIns="0" rIns="0" bIns="0" anchor="ctr" anchorCtr="0">
            <a:noAutofit/>
          </a:bodyPr>
          <a:lstStyle/>
          <a:p>
            <a:pPr defTabSz="914446">
              <a:buClr>
                <a:srgbClr val="FFFFFF"/>
              </a:buClr>
              <a:buSzPts val="1100"/>
            </a:pP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제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2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절 기획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·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설계 단계</a:t>
            </a:r>
            <a:endParaRPr lang="en-US" altLang="ko-KR" sz="1100" b="1"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21" name="Rectangle: Rounded Corners 46">
            <a:extLst>
              <a:ext uri="{FF2B5EF4-FFF2-40B4-BE49-F238E27FC236}">
                <a16:creationId xmlns:a16="http://schemas.microsoft.com/office/drawing/2014/main" id="{680B674B-031E-3F17-4133-49F943BFA743}"/>
              </a:ext>
            </a:extLst>
          </p:cNvPr>
          <p:cNvSpPr/>
          <p:nvPr/>
        </p:nvSpPr>
        <p:spPr>
          <a:xfrm>
            <a:off x="8906961" y="3785671"/>
            <a:ext cx="2250795" cy="354885"/>
          </a:xfrm>
          <a:prstGeom prst="roundRect">
            <a:avLst>
              <a:gd name="adj" fmla="val 11418"/>
            </a:avLst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spcFirstLastPara="1" wrap="square" lIns="108000" tIns="0" rIns="0" bIns="0" anchor="ctr" anchorCtr="0">
            <a:noAutofit/>
          </a:bodyPr>
          <a:lstStyle/>
          <a:p>
            <a:pPr defTabSz="914446">
              <a:buClr>
                <a:srgbClr val="FFFFFF"/>
              </a:buClr>
              <a:buSzPts val="1100"/>
            </a:pP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제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3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절 개발 단계</a:t>
            </a:r>
            <a:endParaRPr lang="en-US" altLang="ko-KR" sz="1100" b="1">
              <a:latin typeface="+mn-ea"/>
              <a:cs typeface="Pretendard" panose="02000503000000020004" pitchFamily="50" charset="-127"/>
            </a:endParaRP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796FA128-B8BB-E4C3-2B00-3AAB80CB55AE}"/>
              </a:ext>
            </a:extLst>
          </p:cNvPr>
          <p:cNvGrpSpPr/>
          <p:nvPr/>
        </p:nvGrpSpPr>
        <p:grpSpPr>
          <a:xfrm>
            <a:off x="5598487" y="2997453"/>
            <a:ext cx="337215" cy="1178731"/>
            <a:chOff x="5598487" y="3225624"/>
            <a:chExt cx="337215" cy="1059780"/>
          </a:xfrm>
        </p:grpSpPr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C223BDB9-6416-3D7C-8127-75634605BAD7}"/>
                </a:ext>
              </a:extLst>
            </p:cNvPr>
            <p:cNvSpPr/>
            <p:nvPr/>
          </p:nvSpPr>
          <p:spPr>
            <a:xfrm>
              <a:off x="5598487" y="3225624"/>
              <a:ext cx="236220" cy="26733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endParaRPr lang="ko-KR" altLang="en-US">
                <a:latin typeface="+mn-ea"/>
              </a:endParaRPr>
            </a:p>
          </p:txBody>
        </p:sp>
        <p:cxnSp>
          <p:nvCxnSpPr>
            <p:cNvPr id="49" name="연결선: 꺾임 48">
              <a:extLst>
                <a:ext uri="{FF2B5EF4-FFF2-40B4-BE49-F238E27FC236}">
                  <a16:creationId xmlns:a16="http://schemas.microsoft.com/office/drawing/2014/main" id="{BA6FA256-914D-5EB2-FAEB-D4A216B078F6}"/>
                </a:ext>
              </a:extLst>
            </p:cNvPr>
            <p:cNvCxnSpPr>
              <a:cxnSpLocks/>
              <a:stCxn id="48" idx="2"/>
              <a:endCxn id="18" idx="1"/>
            </p:cNvCxnSpPr>
            <p:nvPr/>
          </p:nvCxnSpPr>
          <p:spPr>
            <a:xfrm rot="16200000" flipH="1">
              <a:off x="5642282" y="3567272"/>
              <a:ext cx="367735" cy="219105"/>
            </a:xfrm>
            <a:prstGeom prst="bentConnector2">
              <a:avLst/>
            </a:prstGeom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연결선: 꺾임 49">
              <a:extLst>
                <a:ext uri="{FF2B5EF4-FFF2-40B4-BE49-F238E27FC236}">
                  <a16:creationId xmlns:a16="http://schemas.microsoft.com/office/drawing/2014/main" id="{2D839931-292D-CCF0-BA17-CDB18BB832BD}"/>
                </a:ext>
              </a:extLst>
            </p:cNvPr>
            <p:cNvCxnSpPr>
              <a:cxnSpLocks/>
              <a:stCxn id="48" idx="2"/>
              <a:endCxn id="19" idx="1"/>
            </p:cNvCxnSpPr>
            <p:nvPr/>
          </p:nvCxnSpPr>
          <p:spPr>
            <a:xfrm rot="16200000" flipH="1">
              <a:off x="5429926" y="3779628"/>
              <a:ext cx="792446" cy="219105"/>
            </a:xfrm>
            <a:prstGeom prst="bentConnector2">
              <a:avLst/>
            </a:prstGeom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Rectangle: Rounded Corners 46">
            <a:extLst>
              <a:ext uri="{FF2B5EF4-FFF2-40B4-BE49-F238E27FC236}">
                <a16:creationId xmlns:a16="http://schemas.microsoft.com/office/drawing/2014/main" id="{09F9ED2E-548F-E84C-C62D-CE577F59B77A}"/>
              </a:ext>
            </a:extLst>
          </p:cNvPr>
          <p:cNvSpPr/>
          <p:nvPr/>
        </p:nvSpPr>
        <p:spPr>
          <a:xfrm>
            <a:off x="5598487" y="2914370"/>
            <a:ext cx="2588011" cy="483899"/>
          </a:xfrm>
          <a:prstGeom prst="roundRect">
            <a:avLst>
              <a:gd name="adj" fmla="val 11418"/>
            </a:avLst>
          </a:prstGeom>
          <a:solidFill>
            <a:srgbClr val="043B72"/>
          </a:solidFill>
          <a:ln w="3175" cap="flat" cmpd="sng" algn="ctr">
            <a:noFill/>
            <a:prstDash val="solid"/>
          </a:ln>
          <a:effectLst/>
        </p:spPr>
        <p:txBody>
          <a:bodyPr wrap="square" lIns="0" tIns="0" rIns="0" bIns="0" rtlCol="0" anchor="ctr" anchorCtr="0"/>
          <a:lstStyle/>
          <a:p>
            <a:pPr algn="ctr" defTabSz="1042873" latinLnBrk="0">
              <a:defRPr/>
            </a:pPr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제</a:t>
            </a:r>
            <a:r>
              <a: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2</a:t>
            </a:r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장</a:t>
            </a:r>
            <a:br>
              <a: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</a:br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일반</a:t>
            </a:r>
            <a:r>
              <a: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 </a:t>
            </a:r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지침</a:t>
            </a:r>
            <a:endParaRPr lang="en-US" altLang="ko-KR" sz="1200" b="1" kern="0">
              <a:ln>
                <a:solidFill>
                  <a:srgbClr val="A5C249">
                    <a:alpha val="0"/>
                  </a:srgbClr>
                </a:solidFill>
              </a:ln>
              <a:solidFill>
                <a:prstClr val="white"/>
              </a:solidFill>
              <a:latin typeface="+mn-ea"/>
            </a:endParaRPr>
          </a:p>
        </p:txBody>
      </p:sp>
      <p:sp>
        <p:nvSpPr>
          <p:cNvPr id="24" name="Rectangle: Rounded Corners 46">
            <a:extLst>
              <a:ext uri="{FF2B5EF4-FFF2-40B4-BE49-F238E27FC236}">
                <a16:creationId xmlns:a16="http://schemas.microsoft.com/office/drawing/2014/main" id="{B66A1C0E-5E85-0E06-9A13-2B41182E9E93}"/>
              </a:ext>
            </a:extLst>
          </p:cNvPr>
          <p:cNvSpPr/>
          <p:nvPr/>
        </p:nvSpPr>
        <p:spPr>
          <a:xfrm>
            <a:off x="5935702" y="4974094"/>
            <a:ext cx="2250795" cy="354885"/>
          </a:xfrm>
          <a:prstGeom prst="roundRect">
            <a:avLst>
              <a:gd name="adj" fmla="val 11418"/>
            </a:avLst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spcFirstLastPara="1" wrap="square" lIns="108000" tIns="0" rIns="0" bIns="0" anchor="ctr" anchorCtr="0">
            <a:noAutofit/>
          </a:bodyPr>
          <a:lstStyle/>
          <a:p>
            <a:pPr defTabSz="914446">
              <a:buClr>
                <a:srgbClr val="FFFFFF"/>
              </a:buClr>
              <a:buSzPts val="1100"/>
            </a:pP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제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1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절 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AI 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전략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(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본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)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부</a:t>
            </a:r>
            <a:endParaRPr lang="en-US" altLang="ko-KR" sz="1100" b="1"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25" name="Rectangle: Rounded Corners 46">
            <a:extLst>
              <a:ext uri="{FF2B5EF4-FFF2-40B4-BE49-F238E27FC236}">
                <a16:creationId xmlns:a16="http://schemas.microsoft.com/office/drawing/2014/main" id="{47FFA2AD-BE25-CE86-FACE-B53841FB0284}"/>
              </a:ext>
            </a:extLst>
          </p:cNvPr>
          <p:cNvSpPr/>
          <p:nvPr/>
        </p:nvSpPr>
        <p:spPr>
          <a:xfrm>
            <a:off x="5935702" y="5402560"/>
            <a:ext cx="2250795" cy="354885"/>
          </a:xfrm>
          <a:prstGeom prst="roundRect">
            <a:avLst>
              <a:gd name="adj" fmla="val 11418"/>
            </a:avLst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spcFirstLastPara="1" wrap="square" lIns="108000" tIns="0" rIns="0" bIns="0" anchor="ctr" anchorCtr="0">
            <a:noAutofit/>
          </a:bodyPr>
          <a:lstStyle/>
          <a:p>
            <a:pPr defTabSz="914446">
              <a:buClr>
                <a:srgbClr val="FFFFFF"/>
              </a:buClr>
              <a:buSzPts val="1100"/>
            </a:pP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제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2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절 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AI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거버넌스</a:t>
            </a:r>
            <a:endParaRPr lang="en-US" altLang="ko-KR" sz="1100" b="1"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26" name="Rectangle: Rounded Corners 46">
            <a:extLst>
              <a:ext uri="{FF2B5EF4-FFF2-40B4-BE49-F238E27FC236}">
                <a16:creationId xmlns:a16="http://schemas.microsoft.com/office/drawing/2014/main" id="{DA17B43F-36C5-A265-C06F-5820598B28F0}"/>
              </a:ext>
            </a:extLst>
          </p:cNvPr>
          <p:cNvSpPr/>
          <p:nvPr/>
        </p:nvSpPr>
        <p:spPr>
          <a:xfrm>
            <a:off x="5935702" y="5831026"/>
            <a:ext cx="2250795" cy="354885"/>
          </a:xfrm>
          <a:prstGeom prst="roundRect">
            <a:avLst>
              <a:gd name="adj" fmla="val 11418"/>
            </a:avLst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spcFirstLastPara="1" wrap="square" lIns="108000" tIns="0" rIns="0" bIns="0" anchor="ctr" anchorCtr="0">
            <a:noAutofit/>
          </a:bodyPr>
          <a:lstStyle/>
          <a:p>
            <a:pPr defTabSz="914446">
              <a:buClr>
                <a:srgbClr val="FFFFFF"/>
              </a:buClr>
              <a:buSzPts val="1100"/>
            </a:pP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제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3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절 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AI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협의체</a:t>
            </a:r>
            <a:endParaRPr lang="en-US" altLang="ko-KR" sz="1100" b="1"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27" name="Rectangle: Rounded Corners 46">
            <a:extLst>
              <a:ext uri="{FF2B5EF4-FFF2-40B4-BE49-F238E27FC236}">
                <a16:creationId xmlns:a16="http://schemas.microsoft.com/office/drawing/2014/main" id="{47E3D1EA-39C8-57C2-583B-EF49583F3AEC}"/>
              </a:ext>
            </a:extLst>
          </p:cNvPr>
          <p:cNvSpPr/>
          <p:nvPr/>
        </p:nvSpPr>
        <p:spPr>
          <a:xfrm>
            <a:off x="8906961" y="2919160"/>
            <a:ext cx="2250795" cy="354885"/>
          </a:xfrm>
          <a:prstGeom prst="roundRect">
            <a:avLst>
              <a:gd name="adj" fmla="val 11418"/>
            </a:avLst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spcFirstLastPara="1" wrap="square" lIns="108000" tIns="0" rIns="0" bIns="0" anchor="ctr" anchorCtr="0">
            <a:noAutofit/>
          </a:bodyPr>
          <a:lstStyle/>
          <a:p>
            <a:pPr defTabSz="914446">
              <a:buClr>
                <a:srgbClr val="FFFFFF"/>
              </a:buClr>
              <a:buSzPts val="1100"/>
            </a:pP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제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1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절 원칙 및 기준</a:t>
            </a:r>
            <a:endParaRPr lang="en-US" altLang="ko-KR" sz="1100" b="1"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28" name="Rectangle: Rounded Corners 46">
            <a:extLst>
              <a:ext uri="{FF2B5EF4-FFF2-40B4-BE49-F238E27FC236}">
                <a16:creationId xmlns:a16="http://schemas.microsoft.com/office/drawing/2014/main" id="{C25A27BC-3936-2E4F-684D-AEE84C8C1E05}"/>
              </a:ext>
            </a:extLst>
          </p:cNvPr>
          <p:cNvSpPr/>
          <p:nvPr/>
        </p:nvSpPr>
        <p:spPr>
          <a:xfrm>
            <a:off x="8906961" y="4218927"/>
            <a:ext cx="2250795" cy="354885"/>
          </a:xfrm>
          <a:prstGeom prst="roundRect">
            <a:avLst>
              <a:gd name="adj" fmla="val 11418"/>
            </a:avLst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spcFirstLastPara="1" wrap="square" lIns="108000" tIns="0" rIns="0" bIns="0" anchor="ctr" anchorCtr="0">
            <a:noAutofit/>
          </a:bodyPr>
          <a:lstStyle/>
          <a:p>
            <a:pPr defTabSz="914446">
              <a:buClr>
                <a:srgbClr val="FFFFFF"/>
              </a:buClr>
              <a:buSzPts val="1100"/>
            </a:pP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제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4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절 평가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·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검증 단계</a:t>
            </a:r>
            <a:endParaRPr lang="en-US" altLang="ko-KR" sz="1100" b="1"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29" name="Rectangle: Rounded Corners 46">
            <a:extLst>
              <a:ext uri="{FF2B5EF4-FFF2-40B4-BE49-F238E27FC236}">
                <a16:creationId xmlns:a16="http://schemas.microsoft.com/office/drawing/2014/main" id="{8CBDD7AA-A140-7CFC-9411-59732951207C}"/>
              </a:ext>
            </a:extLst>
          </p:cNvPr>
          <p:cNvSpPr/>
          <p:nvPr/>
        </p:nvSpPr>
        <p:spPr>
          <a:xfrm>
            <a:off x="8906961" y="4652183"/>
            <a:ext cx="2250795" cy="354885"/>
          </a:xfrm>
          <a:prstGeom prst="roundRect">
            <a:avLst>
              <a:gd name="adj" fmla="val 11418"/>
            </a:avLst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spcFirstLastPara="1" wrap="square" lIns="108000" tIns="0" rIns="0" bIns="0" anchor="ctr" anchorCtr="0">
            <a:noAutofit/>
          </a:bodyPr>
          <a:lstStyle/>
          <a:p>
            <a:pPr defTabSz="914446">
              <a:buClr>
                <a:srgbClr val="FFFFFF"/>
              </a:buClr>
              <a:buSzPts val="1100"/>
            </a:pP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제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5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절 도입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·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운영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 · 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모니터링 단계</a:t>
            </a:r>
            <a:endParaRPr lang="en-US" altLang="ko-KR" sz="1100" b="1">
              <a:latin typeface="+mn-ea"/>
              <a:cs typeface="Pretendard" panose="02000503000000020004" pitchFamily="50" charset="-127"/>
            </a:endParaRPr>
          </a:p>
        </p:txBody>
      </p:sp>
      <p:cxnSp>
        <p:nvCxnSpPr>
          <p:cNvPr id="30" name="연결선: 꺾임 29">
            <a:extLst>
              <a:ext uri="{FF2B5EF4-FFF2-40B4-BE49-F238E27FC236}">
                <a16:creationId xmlns:a16="http://schemas.microsoft.com/office/drawing/2014/main" id="{94B9DA64-0133-F86F-3453-6E4F357D32C8}"/>
              </a:ext>
            </a:extLst>
          </p:cNvPr>
          <p:cNvCxnSpPr>
            <a:cxnSpLocks/>
            <a:stCxn id="32" idx="2"/>
            <a:endCxn id="20" idx="1"/>
          </p:cNvCxnSpPr>
          <p:nvPr/>
        </p:nvCxnSpPr>
        <p:spPr>
          <a:xfrm rot="16200000" flipH="1">
            <a:off x="8382292" y="3005189"/>
            <a:ext cx="830232" cy="219105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연결선: 꺾임 30">
            <a:extLst>
              <a:ext uri="{FF2B5EF4-FFF2-40B4-BE49-F238E27FC236}">
                <a16:creationId xmlns:a16="http://schemas.microsoft.com/office/drawing/2014/main" id="{7EB228B4-0F71-9E9D-DA30-01986076FE58}"/>
              </a:ext>
            </a:extLst>
          </p:cNvPr>
          <p:cNvCxnSpPr>
            <a:cxnSpLocks/>
            <a:endCxn id="21" idx="1"/>
          </p:cNvCxnSpPr>
          <p:nvPr/>
        </p:nvCxnSpPr>
        <p:spPr>
          <a:xfrm rot="16200000" flipH="1">
            <a:off x="8185275" y="3241428"/>
            <a:ext cx="1224264" cy="219108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CA3A9F35-0B11-3220-7149-A39A4EA3086A}"/>
              </a:ext>
            </a:extLst>
          </p:cNvPr>
          <p:cNvSpPr/>
          <p:nvPr/>
        </p:nvSpPr>
        <p:spPr>
          <a:xfrm>
            <a:off x="8569746" y="2402286"/>
            <a:ext cx="236220" cy="2973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ko-KR" altLang="en-US">
              <a:latin typeface="+mn-ea"/>
            </a:endParaRPr>
          </a:p>
        </p:txBody>
      </p:sp>
      <p:cxnSp>
        <p:nvCxnSpPr>
          <p:cNvPr id="33" name="연결선: 꺾임 32">
            <a:extLst>
              <a:ext uri="{FF2B5EF4-FFF2-40B4-BE49-F238E27FC236}">
                <a16:creationId xmlns:a16="http://schemas.microsoft.com/office/drawing/2014/main" id="{317D9527-BB25-91C9-9749-8DB0A38B7DCC}"/>
              </a:ext>
            </a:extLst>
          </p:cNvPr>
          <p:cNvCxnSpPr>
            <a:cxnSpLocks/>
            <a:stCxn id="32" idx="2"/>
            <a:endCxn id="27" idx="1"/>
          </p:cNvCxnSpPr>
          <p:nvPr/>
        </p:nvCxnSpPr>
        <p:spPr>
          <a:xfrm rot="16200000" flipH="1">
            <a:off x="8598920" y="2788561"/>
            <a:ext cx="396977" cy="219105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연결선: 꺾임 33">
            <a:extLst>
              <a:ext uri="{FF2B5EF4-FFF2-40B4-BE49-F238E27FC236}">
                <a16:creationId xmlns:a16="http://schemas.microsoft.com/office/drawing/2014/main" id="{53BC3E74-EEA8-12C0-98C8-31D490620B37}"/>
              </a:ext>
            </a:extLst>
          </p:cNvPr>
          <p:cNvCxnSpPr>
            <a:cxnSpLocks/>
            <a:endCxn id="28" idx="1"/>
          </p:cNvCxnSpPr>
          <p:nvPr/>
        </p:nvCxnSpPr>
        <p:spPr>
          <a:xfrm rot="16200000" flipH="1">
            <a:off x="7951394" y="3440803"/>
            <a:ext cx="1692023" cy="219110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연결선: 꺾임 34">
            <a:extLst>
              <a:ext uri="{FF2B5EF4-FFF2-40B4-BE49-F238E27FC236}">
                <a16:creationId xmlns:a16="http://schemas.microsoft.com/office/drawing/2014/main" id="{824A8BFB-C10A-5952-5B0E-51CD6D827A60}"/>
              </a:ext>
            </a:extLst>
          </p:cNvPr>
          <p:cNvCxnSpPr>
            <a:cxnSpLocks/>
            <a:stCxn id="32" idx="2"/>
            <a:endCxn id="29" idx="1"/>
          </p:cNvCxnSpPr>
          <p:nvPr/>
        </p:nvCxnSpPr>
        <p:spPr>
          <a:xfrm rot="16200000" flipH="1">
            <a:off x="7732408" y="3655072"/>
            <a:ext cx="2130000" cy="219105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: Rounded Corners 46">
            <a:extLst>
              <a:ext uri="{FF2B5EF4-FFF2-40B4-BE49-F238E27FC236}">
                <a16:creationId xmlns:a16="http://schemas.microsoft.com/office/drawing/2014/main" id="{1161CB2E-9B7C-CF8F-8AAF-37A83C657123}"/>
              </a:ext>
            </a:extLst>
          </p:cNvPr>
          <p:cNvSpPr/>
          <p:nvPr/>
        </p:nvSpPr>
        <p:spPr>
          <a:xfrm>
            <a:off x="8569746" y="2356890"/>
            <a:ext cx="2588011" cy="483899"/>
          </a:xfrm>
          <a:prstGeom prst="roundRect">
            <a:avLst>
              <a:gd name="adj" fmla="val 11418"/>
            </a:avLst>
          </a:prstGeom>
          <a:solidFill>
            <a:srgbClr val="043B72"/>
          </a:solidFill>
          <a:ln w="3175" cap="flat" cmpd="sng" algn="ctr">
            <a:noFill/>
            <a:prstDash val="solid"/>
          </a:ln>
          <a:effectLst/>
        </p:spPr>
        <p:txBody>
          <a:bodyPr wrap="square" lIns="0" tIns="0" rIns="0" bIns="0" rtlCol="0" anchor="ctr" anchorCtr="0"/>
          <a:lstStyle/>
          <a:p>
            <a:pPr algn="ctr" defTabSz="1042873" latinLnBrk="0">
              <a:defRPr/>
            </a:pPr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제</a:t>
            </a:r>
            <a:r>
              <a: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4</a:t>
            </a:r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장</a:t>
            </a:r>
            <a:br>
              <a: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</a:br>
            <a:r>
              <a: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AI </a:t>
            </a:r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위험관리 지침</a:t>
            </a:r>
            <a:endParaRPr lang="en-US" altLang="ko-KR" sz="1200" b="1" kern="0">
              <a:ln>
                <a:solidFill>
                  <a:srgbClr val="A5C249">
                    <a:alpha val="0"/>
                  </a:srgbClr>
                </a:solidFill>
              </a:ln>
              <a:solidFill>
                <a:prstClr val="white"/>
              </a:solidFill>
              <a:latin typeface="+mn-ea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5236D792-03FD-441A-B96D-FDE3D2251D0D}"/>
              </a:ext>
            </a:extLst>
          </p:cNvPr>
          <p:cNvSpPr/>
          <p:nvPr/>
        </p:nvSpPr>
        <p:spPr>
          <a:xfrm>
            <a:off x="5598487" y="4468548"/>
            <a:ext cx="236220" cy="2973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ko-KR" altLang="en-US">
              <a:latin typeface="+mn-ea"/>
            </a:endParaRPr>
          </a:p>
        </p:txBody>
      </p:sp>
      <p:cxnSp>
        <p:nvCxnSpPr>
          <p:cNvPr id="38" name="연결선: 꺾임 37">
            <a:extLst>
              <a:ext uri="{FF2B5EF4-FFF2-40B4-BE49-F238E27FC236}">
                <a16:creationId xmlns:a16="http://schemas.microsoft.com/office/drawing/2014/main" id="{AFA4300C-D09A-056D-884C-DA54E1E1F353}"/>
              </a:ext>
            </a:extLst>
          </p:cNvPr>
          <p:cNvCxnSpPr>
            <a:cxnSpLocks/>
            <a:stCxn id="37" idx="2"/>
            <a:endCxn id="24" idx="1"/>
          </p:cNvCxnSpPr>
          <p:nvPr/>
        </p:nvCxnSpPr>
        <p:spPr>
          <a:xfrm rot="16200000" flipH="1">
            <a:off x="5633325" y="4849159"/>
            <a:ext cx="385648" cy="219105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연결선: 꺾임 38">
            <a:extLst>
              <a:ext uri="{FF2B5EF4-FFF2-40B4-BE49-F238E27FC236}">
                <a16:creationId xmlns:a16="http://schemas.microsoft.com/office/drawing/2014/main" id="{FB5B3183-3B71-0B05-45FF-6E8E7582A99F}"/>
              </a:ext>
            </a:extLst>
          </p:cNvPr>
          <p:cNvCxnSpPr>
            <a:cxnSpLocks/>
            <a:stCxn id="37" idx="2"/>
            <a:endCxn id="25" idx="1"/>
          </p:cNvCxnSpPr>
          <p:nvPr/>
        </p:nvCxnSpPr>
        <p:spPr>
          <a:xfrm rot="16200000" flipH="1">
            <a:off x="5419092" y="5063392"/>
            <a:ext cx="814115" cy="219105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연결선: 꺾임 39">
            <a:extLst>
              <a:ext uri="{FF2B5EF4-FFF2-40B4-BE49-F238E27FC236}">
                <a16:creationId xmlns:a16="http://schemas.microsoft.com/office/drawing/2014/main" id="{28169FA0-0847-C844-0179-6F3E294F2A1F}"/>
              </a:ext>
            </a:extLst>
          </p:cNvPr>
          <p:cNvCxnSpPr>
            <a:cxnSpLocks/>
            <a:stCxn id="37" idx="2"/>
            <a:endCxn id="26" idx="1"/>
          </p:cNvCxnSpPr>
          <p:nvPr/>
        </p:nvCxnSpPr>
        <p:spPr>
          <a:xfrm rot="16200000" flipH="1">
            <a:off x="5204859" y="5277625"/>
            <a:ext cx="1242580" cy="219105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: Rounded Corners 46">
            <a:extLst>
              <a:ext uri="{FF2B5EF4-FFF2-40B4-BE49-F238E27FC236}">
                <a16:creationId xmlns:a16="http://schemas.microsoft.com/office/drawing/2014/main" id="{9620C59F-4F8E-C3C8-06FD-6D98F358C948}"/>
              </a:ext>
            </a:extLst>
          </p:cNvPr>
          <p:cNvSpPr/>
          <p:nvPr/>
        </p:nvSpPr>
        <p:spPr>
          <a:xfrm>
            <a:off x="5598487" y="4416613"/>
            <a:ext cx="2588011" cy="483899"/>
          </a:xfrm>
          <a:prstGeom prst="roundRect">
            <a:avLst>
              <a:gd name="adj" fmla="val 11418"/>
            </a:avLst>
          </a:prstGeom>
          <a:solidFill>
            <a:srgbClr val="043B72"/>
          </a:solidFill>
          <a:ln w="3175" cap="flat" cmpd="sng" algn="ctr">
            <a:noFill/>
            <a:prstDash val="solid"/>
          </a:ln>
          <a:effectLst/>
        </p:spPr>
        <p:txBody>
          <a:bodyPr wrap="square" lIns="0" tIns="0" rIns="0" bIns="0" rtlCol="0" anchor="ctr" anchorCtr="0"/>
          <a:lstStyle/>
          <a:p>
            <a:pPr algn="ctr" defTabSz="1042873" latinLnBrk="0">
              <a:defRPr/>
            </a:pPr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제</a:t>
            </a:r>
            <a:r>
              <a: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3</a:t>
            </a:r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장 </a:t>
            </a:r>
            <a:br>
              <a: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</a:br>
            <a:r>
              <a: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AI </a:t>
            </a:r>
            <a:r>
              <a:rPr lang="ko-KR" altLang="en-US" sz="1200" b="1" kern="0" err="1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전략부</a:t>
            </a:r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 조직</a:t>
            </a:r>
            <a:endParaRPr lang="en-US" altLang="ko-KR" sz="1200" b="1" kern="0">
              <a:ln>
                <a:solidFill>
                  <a:srgbClr val="A5C249">
                    <a:alpha val="0"/>
                  </a:srgbClr>
                </a:solidFill>
              </a:ln>
              <a:solidFill>
                <a:prstClr val="white"/>
              </a:solidFill>
              <a:latin typeface="+mn-ea"/>
            </a:endParaRPr>
          </a:p>
        </p:txBody>
      </p:sp>
      <p:sp>
        <p:nvSpPr>
          <p:cNvPr id="42" name="Rectangle: Rounded Corners 46">
            <a:extLst>
              <a:ext uri="{FF2B5EF4-FFF2-40B4-BE49-F238E27FC236}">
                <a16:creationId xmlns:a16="http://schemas.microsoft.com/office/drawing/2014/main" id="{EF97FE1C-24E5-8B92-5C4C-D41861B550F4}"/>
              </a:ext>
            </a:extLst>
          </p:cNvPr>
          <p:cNvSpPr/>
          <p:nvPr/>
        </p:nvSpPr>
        <p:spPr>
          <a:xfrm>
            <a:off x="522288" y="1840770"/>
            <a:ext cx="1204912" cy="930621"/>
          </a:xfrm>
          <a:prstGeom prst="roundRect">
            <a:avLst>
              <a:gd name="adj" fmla="val 11418"/>
            </a:avLst>
          </a:prstGeom>
          <a:solidFill>
            <a:srgbClr val="F4B183"/>
          </a:solidFill>
          <a:ln>
            <a:solidFill>
              <a:schemeClr val="bg1"/>
            </a:solidFill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cs typeface="Pretendard" panose="02000503000000020004" pitchFamily="50" charset="-127"/>
              </a:rPr>
              <a:t>목적</a:t>
            </a:r>
            <a:endParaRPr kumimoji="0" lang="en-US" altLang="ko-KR" sz="14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43" name="Rectangle: Rounded Corners 46">
            <a:extLst>
              <a:ext uri="{FF2B5EF4-FFF2-40B4-BE49-F238E27FC236}">
                <a16:creationId xmlns:a16="http://schemas.microsoft.com/office/drawing/2014/main" id="{15CEB7D3-E955-AE73-DD5B-5E5A468E8980}"/>
              </a:ext>
            </a:extLst>
          </p:cNvPr>
          <p:cNvSpPr/>
          <p:nvPr/>
        </p:nvSpPr>
        <p:spPr>
          <a:xfrm>
            <a:off x="522289" y="2906401"/>
            <a:ext cx="1204912" cy="2833165"/>
          </a:xfrm>
          <a:prstGeom prst="roundRect">
            <a:avLst>
              <a:gd name="adj" fmla="val 6675"/>
            </a:avLst>
          </a:prstGeom>
          <a:solidFill>
            <a:srgbClr val="F4B183"/>
          </a:solidFill>
          <a:ln>
            <a:solidFill>
              <a:schemeClr val="bg1"/>
            </a:solidFill>
          </a:ln>
        </p:spPr>
        <p:txBody>
          <a:bodyPr spcFirstLastPara="1" wrap="square" lIns="0" tIns="0" rIns="504000" bIns="0" anchor="ctr" anchorCtr="0">
            <a:noAutofit/>
          </a:bodyPr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cs typeface="Pretendard" panose="02000503000000020004" pitchFamily="50" charset="-127"/>
              </a:rPr>
              <a:t>주요 </a:t>
            </a:r>
            <a:endParaRPr kumimoji="0" lang="en-US" altLang="ko-KR" sz="14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+mn-ea"/>
              <a:cs typeface="Pretendard" panose="02000503000000020004" pitchFamily="50" charset="-127"/>
            </a:endParaRPr>
          </a:p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cs typeface="Pretendard" panose="02000503000000020004" pitchFamily="50" charset="-127"/>
              </a:rPr>
              <a:t>내용</a:t>
            </a:r>
            <a:endParaRPr kumimoji="0" lang="en-US" altLang="ko-KR" sz="14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+mn-ea"/>
              <a:cs typeface="Pretendard" panose="02000503000000020004" pitchFamily="50" charset="-127"/>
            </a:endParaRPr>
          </a:p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cs typeface="Pretendard" panose="02000503000000020004" pitchFamily="50" charset="-127"/>
              </a:rPr>
              <a:t>(</a:t>
            </a: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cs typeface="Pretendard" panose="02000503000000020004" pitchFamily="50" charset="-127"/>
              </a:rPr>
              <a:t>문서 목차</a:t>
            </a: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cs typeface="Pretendard" panose="02000503000000020004" pitchFamily="50" charset="-127"/>
              </a:rPr>
              <a:t>*)</a:t>
            </a:r>
          </a:p>
        </p:txBody>
      </p:sp>
      <p:sp>
        <p:nvSpPr>
          <p:cNvPr id="44" name="Rectangle: Rounded Corners 46">
            <a:extLst>
              <a:ext uri="{FF2B5EF4-FFF2-40B4-BE49-F238E27FC236}">
                <a16:creationId xmlns:a16="http://schemas.microsoft.com/office/drawing/2014/main" id="{8998B7F4-99D7-E2DE-0703-C8F40A98C505}"/>
              </a:ext>
            </a:extLst>
          </p:cNvPr>
          <p:cNvSpPr/>
          <p:nvPr/>
        </p:nvSpPr>
        <p:spPr>
          <a:xfrm>
            <a:off x="522289" y="5790110"/>
            <a:ext cx="1204912" cy="549568"/>
          </a:xfrm>
          <a:prstGeom prst="roundRect">
            <a:avLst>
              <a:gd name="adj" fmla="val 22435"/>
            </a:avLst>
          </a:prstGeom>
          <a:solidFill>
            <a:srgbClr val="F4B183"/>
          </a:solidFill>
          <a:ln>
            <a:solidFill>
              <a:schemeClr val="bg1"/>
            </a:solidFill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cs typeface="Pretendard" panose="02000503000000020004" pitchFamily="50" charset="-127"/>
              </a:rPr>
              <a:t>사용자</a:t>
            </a:r>
            <a:endParaRPr kumimoji="0" lang="en-US" altLang="ko-KR" sz="14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45" name="Rectangle: Rounded Corners 46">
            <a:extLst>
              <a:ext uri="{FF2B5EF4-FFF2-40B4-BE49-F238E27FC236}">
                <a16:creationId xmlns:a16="http://schemas.microsoft.com/office/drawing/2014/main" id="{A19DC8C8-FE85-F5C3-7AA5-3014E5599D7C}"/>
              </a:ext>
            </a:extLst>
          </p:cNvPr>
          <p:cNvSpPr/>
          <p:nvPr/>
        </p:nvSpPr>
        <p:spPr>
          <a:xfrm>
            <a:off x="1228725" y="3019331"/>
            <a:ext cx="582110" cy="601229"/>
          </a:xfrm>
          <a:prstGeom prst="roundRect">
            <a:avLst>
              <a:gd name="adj" fmla="val 11418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bg1"/>
            </a:solidFill>
            <a:prstDash val="solid"/>
          </a:ln>
          <a:effectLst/>
        </p:spPr>
        <p:txBody>
          <a:bodyPr wrap="square" lIns="0" tIns="0" rIns="0" bIns="0" rtlCol="0" anchor="ctr" anchorCtr="0"/>
          <a:lstStyle/>
          <a:p>
            <a:pPr algn="ctr" defTabSz="1042873"/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원칙</a:t>
            </a:r>
            <a:r>
              <a: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/</a:t>
            </a:r>
          </a:p>
          <a:p>
            <a:pPr algn="ctr" defTabSz="1042873"/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기준</a:t>
            </a:r>
            <a:endParaRPr lang="en-US" altLang="ko-KR" sz="1200" b="1" kern="0">
              <a:ln>
                <a:solidFill>
                  <a:srgbClr val="A5C249">
                    <a:alpha val="0"/>
                  </a:srgbClr>
                </a:solidFill>
              </a:ln>
              <a:latin typeface="+mn-ea"/>
              <a:cs typeface="Pretendard SemiBold" panose="02000703000000020004" pitchFamily="50" charset="-127"/>
            </a:endParaRPr>
          </a:p>
        </p:txBody>
      </p:sp>
      <p:sp>
        <p:nvSpPr>
          <p:cNvPr id="46" name="Rectangle: Rounded Corners 46">
            <a:extLst>
              <a:ext uri="{FF2B5EF4-FFF2-40B4-BE49-F238E27FC236}">
                <a16:creationId xmlns:a16="http://schemas.microsoft.com/office/drawing/2014/main" id="{7A72AEA4-8BDF-9707-1E05-A513C18BF22E}"/>
              </a:ext>
            </a:extLst>
          </p:cNvPr>
          <p:cNvSpPr/>
          <p:nvPr/>
        </p:nvSpPr>
        <p:spPr>
          <a:xfrm>
            <a:off x="1228725" y="3692886"/>
            <a:ext cx="582110" cy="601229"/>
          </a:xfrm>
          <a:prstGeom prst="roundRect">
            <a:avLst>
              <a:gd name="adj" fmla="val 11418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bg1"/>
            </a:solidFill>
            <a:prstDash val="solid"/>
          </a:ln>
          <a:effectLst/>
        </p:spPr>
        <p:txBody>
          <a:bodyPr wrap="square" lIns="0" tIns="0" rIns="0" bIns="0" rtlCol="0" anchor="ctr" anchorCtr="0"/>
          <a:lstStyle/>
          <a:p>
            <a:pPr algn="ctr" defTabSz="1042873"/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조직</a:t>
            </a:r>
            <a:endParaRPr lang="en-US" altLang="ko-KR" sz="1200" b="1" kern="0">
              <a:ln>
                <a:solidFill>
                  <a:srgbClr val="A5C249">
                    <a:alpha val="0"/>
                  </a:srgbClr>
                </a:solidFill>
              </a:ln>
              <a:latin typeface="+mn-ea"/>
              <a:cs typeface="Pretendard SemiBold" panose="02000703000000020004" pitchFamily="50" charset="-127"/>
            </a:endParaRP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8206B0FF-B1EC-3C38-4BB3-BB9D40C50CB4}"/>
              </a:ext>
            </a:extLst>
          </p:cNvPr>
          <p:cNvSpPr/>
          <p:nvPr/>
        </p:nvSpPr>
        <p:spPr>
          <a:xfrm>
            <a:off x="1228725" y="4366440"/>
            <a:ext cx="582110" cy="1310160"/>
          </a:xfrm>
          <a:prstGeom prst="roundRect">
            <a:avLst>
              <a:gd name="adj" fmla="val 11418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bg1"/>
            </a:solidFill>
            <a:prstDash val="solid"/>
          </a:ln>
          <a:effectLst/>
        </p:spPr>
        <p:txBody>
          <a:bodyPr wrap="square" lIns="0" tIns="0" rIns="0" bIns="0" rtlCol="0" anchor="ctr" anchorCtr="0"/>
          <a:lstStyle/>
          <a:p>
            <a:pPr algn="ctr" defTabSz="1042873"/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개발</a:t>
            </a:r>
            <a:r>
              <a: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·</a:t>
            </a:r>
            <a:br>
              <a: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</a:br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운영 관리 체계</a:t>
            </a:r>
            <a:endParaRPr lang="en-US" altLang="ko-KR" sz="1200" b="1" kern="0">
              <a:ln>
                <a:solidFill>
                  <a:srgbClr val="A5C249">
                    <a:alpha val="0"/>
                  </a:srgbClr>
                </a:solidFill>
              </a:ln>
              <a:latin typeface="+mn-ea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852491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447FC338-D11C-88A4-596A-BEFA494A159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B724203-C6AF-0773-2993-2AB35F3AB6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[Back-up] </a:t>
            </a:r>
            <a:r>
              <a:rPr lang="ko-KR" altLang="en-US"/>
              <a:t>타사 </a:t>
            </a:r>
            <a:r>
              <a:rPr lang="en-US" altLang="ko-KR"/>
              <a:t>AI</a:t>
            </a:r>
            <a:r>
              <a:rPr lang="ko-KR" altLang="en-US"/>
              <a:t>거버넌스 주요 내용</a:t>
            </a:r>
            <a:r>
              <a:rPr lang="en-US" altLang="ko-KR"/>
              <a:t>_M</a:t>
            </a:r>
            <a:r>
              <a:rPr lang="ko-KR" altLang="en-US"/>
              <a:t>금고 </a:t>
            </a:r>
            <a:r>
              <a:rPr lang="en-US" altLang="ko-KR"/>
              <a:t>(3/3)</a:t>
            </a:r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2D6294-DBE4-379E-1E65-CF60792BAE7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/>
              <a:t>M</a:t>
            </a:r>
            <a:r>
              <a:rPr lang="ko-KR" altLang="en-US"/>
              <a:t>금고 </a:t>
            </a:r>
            <a:r>
              <a:rPr lang="en-US" altLang="ko-KR"/>
              <a:t>AI </a:t>
            </a:r>
            <a:r>
              <a:rPr lang="ko-KR" altLang="en-US"/>
              <a:t>개발 운영 시행 세칙</a:t>
            </a:r>
            <a:r>
              <a:rPr lang="en-US" altLang="ko-KR"/>
              <a:t>(</a:t>
            </a:r>
            <a:r>
              <a:rPr lang="ko-KR" altLang="en-US"/>
              <a:t>안</a:t>
            </a:r>
            <a:r>
              <a:rPr lang="en-US" altLang="ko-KR"/>
              <a:t>)</a:t>
            </a:r>
            <a:r>
              <a:rPr lang="ko-KR" altLang="en-US"/>
              <a:t>의 주요 내용은 다음과 같음</a:t>
            </a:r>
          </a:p>
        </p:txBody>
      </p:sp>
      <p:sp>
        <p:nvSpPr>
          <p:cNvPr id="8" name="사각형: 둥근 모서리 20">
            <a:extLst>
              <a:ext uri="{FF2B5EF4-FFF2-40B4-BE49-F238E27FC236}">
                <a16:creationId xmlns:a16="http://schemas.microsoft.com/office/drawing/2014/main" id="{1D613886-4663-32BC-A99E-86B9B203D9E3}"/>
              </a:ext>
            </a:extLst>
          </p:cNvPr>
          <p:cNvSpPr/>
          <p:nvPr/>
        </p:nvSpPr>
        <p:spPr>
          <a:xfrm>
            <a:off x="407988" y="1341439"/>
            <a:ext cx="2052000" cy="359621"/>
          </a:xfrm>
          <a:prstGeom prst="roundRect">
            <a:avLst>
              <a:gd name="adj" fmla="val 0"/>
            </a:avLst>
          </a:prstGeom>
          <a:solidFill>
            <a:schemeClr val="bg1">
              <a:lumMod val="75000"/>
            </a:schemeClr>
          </a:solidFill>
          <a:ln w="12700">
            <a:noFill/>
          </a:ln>
          <a:effectLst/>
        </p:spPr>
        <p:txBody>
          <a:bodyPr lIns="0" tIns="0" rIns="0" bIns="0" rtlCol="0" anchor="ctr" anchorCtr="0"/>
          <a:lstStyle/>
          <a:p>
            <a:pPr algn="ctr" latinLnBrk="0"/>
            <a:r>
              <a:rPr lang="ko-KR" altLang="en-US" sz="1400" b="1" spc="-150">
                <a:solidFill>
                  <a:schemeClr val="bg1">
                    <a:lumMod val="95000"/>
                  </a:schemeClr>
                </a:solidFill>
                <a:latin typeface="+mn-ea"/>
                <a:cs typeface="Noto Sans" panose="020B0502040504020204" pitchFamily="34" charset="0"/>
              </a:rPr>
              <a:t>① </a:t>
            </a:r>
            <a:r>
              <a:rPr lang="en-US" altLang="ko-KR" sz="1400" b="1" spc="-150">
                <a:solidFill>
                  <a:schemeClr val="bg1">
                    <a:lumMod val="95000"/>
                  </a:schemeClr>
                </a:solidFill>
                <a:latin typeface="+mn-ea"/>
                <a:cs typeface="Noto Sans" panose="020B0502040504020204" pitchFamily="34" charset="0"/>
              </a:rPr>
              <a:t>AI </a:t>
            </a:r>
            <a:r>
              <a:rPr lang="ko-KR" altLang="en-US" sz="1400" b="1" spc="-150">
                <a:solidFill>
                  <a:schemeClr val="bg1">
                    <a:lumMod val="95000"/>
                  </a:schemeClr>
                </a:solidFill>
                <a:latin typeface="+mn-ea"/>
                <a:cs typeface="Noto Sans" panose="020B0502040504020204" pitchFamily="34" charset="0"/>
              </a:rPr>
              <a:t>거버넌스  규정</a:t>
            </a:r>
            <a:endParaRPr lang="en" altLang="ko-KR" sz="1400" b="1" spc="-150">
              <a:solidFill>
                <a:schemeClr val="bg1">
                  <a:lumMod val="95000"/>
                </a:schemeClr>
              </a:solidFill>
              <a:latin typeface="+mn-ea"/>
              <a:cs typeface="Noto Sans" panose="020B0502040504020204" pitchFamily="34" charset="0"/>
            </a:endParaRPr>
          </a:p>
        </p:txBody>
      </p:sp>
      <p:sp>
        <p:nvSpPr>
          <p:cNvPr id="9" name="사각형: 둥근 모서리 20">
            <a:extLst>
              <a:ext uri="{FF2B5EF4-FFF2-40B4-BE49-F238E27FC236}">
                <a16:creationId xmlns:a16="http://schemas.microsoft.com/office/drawing/2014/main" id="{FC7EB3EB-3F0E-04E3-5249-F2429B151F4C}"/>
              </a:ext>
            </a:extLst>
          </p:cNvPr>
          <p:cNvSpPr/>
          <p:nvPr/>
        </p:nvSpPr>
        <p:spPr>
          <a:xfrm>
            <a:off x="2504414" y="1341439"/>
            <a:ext cx="2052000" cy="359621"/>
          </a:xfrm>
          <a:prstGeom prst="roundRect">
            <a:avLst>
              <a:gd name="adj" fmla="val 0"/>
            </a:avLst>
          </a:prstGeom>
          <a:solidFill>
            <a:schemeClr val="bg1">
              <a:lumMod val="75000"/>
            </a:schemeClr>
          </a:solidFill>
          <a:ln w="12700">
            <a:noFill/>
          </a:ln>
          <a:effectLst/>
        </p:spPr>
        <p:txBody>
          <a:bodyPr lIns="0" tIns="0" rIns="0" bIns="0" rtlCol="0" anchor="ctr" anchorCtr="0"/>
          <a:lstStyle/>
          <a:p>
            <a:pPr algn="ctr"/>
            <a:r>
              <a:rPr lang="ko-KR" altLang="en-US" sz="1400" b="1" spc="-3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② </a:t>
            </a:r>
            <a:r>
              <a:rPr lang="en-US" altLang="ko-KR" sz="1400" b="1" spc="-3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AI </a:t>
            </a:r>
            <a:r>
              <a:rPr lang="ko-KR" altLang="en-US" sz="1400" b="1" spc="-3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거버넌스 규정 시행 세칙</a:t>
            </a:r>
          </a:p>
        </p:txBody>
      </p:sp>
      <p:sp>
        <p:nvSpPr>
          <p:cNvPr id="10" name="사각형: 둥근 모서리 20">
            <a:extLst>
              <a:ext uri="{FF2B5EF4-FFF2-40B4-BE49-F238E27FC236}">
                <a16:creationId xmlns:a16="http://schemas.microsoft.com/office/drawing/2014/main" id="{C02B0A4D-CE6B-295D-1B32-A53E033F1978}"/>
              </a:ext>
            </a:extLst>
          </p:cNvPr>
          <p:cNvSpPr/>
          <p:nvPr/>
        </p:nvSpPr>
        <p:spPr>
          <a:xfrm>
            <a:off x="407987" y="1701060"/>
            <a:ext cx="11376025" cy="475212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accent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" altLang="ko-KR" sz="1400" b="1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lt1"/>
              </a:solidFill>
              <a:latin typeface="+mn-ea"/>
            </a:endParaRPr>
          </a:p>
        </p:txBody>
      </p:sp>
      <p:sp>
        <p:nvSpPr>
          <p:cNvPr id="11" name="Rectangle: Rounded Corners 46">
            <a:extLst>
              <a:ext uri="{FF2B5EF4-FFF2-40B4-BE49-F238E27FC236}">
                <a16:creationId xmlns:a16="http://schemas.microsoft.com/office/drawing/2014/main" id="{4D12C54C-C708-0470-A4EB-B68C8D48487A}"/>
              </a:ext>
            </a:extLst>
          </p:cNvPr>
          <p:cNvSpPr/>
          <p:nvPr/>
        </p:nvSpPr>
        <p:spPr>
          <a:xfrm>
            <a:off x="5277149" y="1840770"/>
            <a:ext cx="6259531" cy="4498908"/>
          </a:xfrm>
          <a:prstGeom prst="snip1Rect">
            <a:avLst/>
          </a:prstGeom>
          <a:pattFill prst="dkUp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 w="3175" cap="flat" cmpd="sng" algn="ctr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 anchorCtr="0"/>
          <a:lstStyle/>
          <a:p>
            <a:pPr marL="0" marR="0" lvl="0" indent="0" algn="ctr" defTabSz="10428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1" i="0" u="none" strike="noStrike" kern="0" cap="none" spc="0" normalizeH="0" baseline="0" noProof="0">
              <a:ln>
                <a:solidFill>
                  <a:srgbClr val="A5C249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+mn-ea"/>
              <a:cs typeface="Pretendard SemiBold" panose="02000703000000020004" pitchFamily="50" charset="-127"/>
            </a:endParaRPr>
          </a:p>
        </p:txBody>
      </p:sp>
      <p:sp>
        <p:nvSpPr>
          <p:cNvPr id="12" name="사각형: 둥근 모서리 20">
            <a:extLst>
              <a:ext uri="{FF2B5EF4-FFF2-40B4-BE49-F238E27FC236}">
                <a16:creationId xmlns:a16="http://schemas.microsoft.com/office/drawing/2014/main" id="{7CA94A0B-D4F8-77C1-3DE5-AF5774B70816}"/>
              </a:ext>
            </a:extLst>
          </p:cNvPr>
          <p:cNvSpPr/>
          <p:nvPr/>
        </p:nvSpPr>
        <p:spPr>
          <a:xfrm>
            <a:off x="4600839" y="1341439"/>
            <a:ext cx="2052000" cy="359621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400" b="1" spc="-15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③ </a:t>
            </a:r>
            <a:r>
              <a:rPr lang="en-US" altLang="ko-KR" sz="1400" b="1" spc="-15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AI </a:t>
            </a:r>
            <a:r>
              <a:rPr lang="ko-KR" altLang="en-US" sz="1400" b="1" spc="-15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개발 운영 시행 세칙</a:t>
            </a:r>
          </a:p>
        </p:txBody>
      </p:sp>
      <p:sp>
        <p:nvSpPr>
          <p:cNvPr id="13" name="Rectangle: Rounded Corners 46">
            <a:extLst>
              <a:ext uri="{FF2B5EF4-FFF2-40B4-BE49-F238E27FC236}">
                <a16:creationId xmlns:a16="http://schemas.microsoft.com/office/drawing/2014/main" id="{2600E6D8-FFFE-7F50-5041-B44353D7100B}"/>
              </a:ext>
            </a:extLst>
          </p:cNvPr>
          <p:cNvSpPr/>
          <p:nvPr/>
        </p:nvSpPr>
        <p:spPr>
          <a:xfrm>
            <a:off x="5479142" y="1926993"/>
            <a:ext cx="2052190" cy="379253"/>
          </a:xfrm>
          <a:prstGeom prst="roundRect">
            <a:avLst>
              <a:gd name="adj" fmla="val 11418"/>
            </a:avLst>
          </a:prstGeom>
          <a:noFill/>
          <a:ln w="3175" cap="flat" cmpd="sng" algn="ctr">
            <a:noFill/>
            <a:prstDash val="solid"/>
          </a:ln>
          <a:effectLst/>
        </p:spPr>
        <p:txBody>
          <a:bodyPr wrap="square" lIns="0" tIns="0" rIns="0" bIns="0" rtlCol="0" anchor="ctr" anchorCtr="0"/>
          <a:lstStyle/>
          <a:p>
            <a:pPr marL="0" marR="0" lvl="0" indent="0" defTabSz="10428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Contents</a:t>
            </a:r>
          </a:p>
        </p:txBody>
      </p:sp>
      <p:sp>
        <p:nvSpPr>
          <p:cNvPr id="14" name="Rectangle: Rounded Corners 46">
            <a:extLst>
              <a:ext uri="{FF2B5EF4-FFF2-40B4-BE49-F238E27FC236}">
                <a16:creationId xmlns:a16="http://schemas.microsoft.com/office/drawing/2014/main" id="{F2543A00-8946-DA51-D0C6-F7B517E92A60}"/>
              </a:ext>
            </a:extLst>
          </p:cNvPr>
          <p:cNvSpPr/>
          <p:nvPr/>
        </p:nvSpPr>
        <p:spPr>
          <a:xfrm>
            <a:off x="1943373" y="3019330"/>
            <a:ext cx="3250142" cy="601227"/>
          </a:xfrm>
          <a:prstGeom prst="roundRect">
            <a:avLst>
              <a:gd name="adj" fmla="val 11418"/>
            </a:avLst>
          </a:prstGeom>
          <a:solidFill>
            <a:schemeClr val="bg1">
              <a:lumMod val="95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wrap="square" lIns="90000" tIns="0" rIns="90000" bIns="0" rtlCol="0" anchor="ctr" anchorCtr="0"/>
          <a:lstStyle/>
          <a:p>
            <a:pPr marL="171450" marR="0" lvl="0" indent="-171450" defTabSz="10428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개발 조직 및 역할</a:t>
            </a:r>
          </a:p>
        </p:txBody>
      </p:sp>
      <p:sp>
        <p:nvSpPr>
          <p:cNvPr id="15" name="Rectangle: Rounded Corners 46">
            <a:extLst>
              <a:ext uri="{FF2B5EF4-FFF2-40B4-BE49-F238E27FC236}">
                <a16:creationId xmlns:a16="http://schemas.microsoft.com/office/drawing/2014/main" id="{AD03683A-48DC-E7F9-672E-84DA08813D7E}"/>
              </a:ext>
            </a:extLst>
          </p:cNvPr>
          <p:cNvSpPr/>
          <p:nvPr/>
        </p:nvSpPr>
        <p:spPr>
          <a:xfrm>
            <a:off x="1943373" y="1840770"/>
            <a:ext cx="3250142" cy="930621"/>
          </a:xfrm>
          <a:prstGeom prst="roundRect">
            <a:avLst>
              <a:gd name="adj" fmla="val 11418"/>
            </a:avLst>
          </a:prstGeom>
          <a:solidFill>
            <a:schemeClr val="bg1">
              <a:lumMod val="95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wrap="square" lIns="90000" tIns="0" rIns="90000" bIns="0" rtlCol="0" anchor="ctr" anchorCtr="0"/>
          <a:lstStyle/>
          <a:p>
            <a:pPr defTabSz="1042873">
              <a:lnSpc>
                <a:spcPct val="130000"/>
              </a:lnSpc>
            </a:pPr>
            <a:r>
              <a:rPr lang="en-US" altLang="ko-KR" sz="1200" kern="0" spc="-7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AI </a:t>
            </a:r>
            <a:r>
              <a:rPr lang="ko-KR" altLang="en-US" sz="1200" kern="0" spc="-7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도입 및 활용하는 과정에서 발생할 수 있는 위험을 관리하고 경감하는 것을 목적으로 방안 제공</a:t>
            </a:r>
          </a:p>
        </p:txBody>
      </p:sp>
      <p:sp>
        <p:nvSpPr>
          <p:cNvPr id="16" name="Rectangle: Rounded Corners 46">
            <a:extLst>
              <a:ext uri="{FF2B5EF4-FFF2-40B4-BE49-F238E27FC236}">
                <a16:creationId xmlns:a16="http://schemas.microsoft.com/office/drawing/2014/main" id="{FD91F465-C7F5-7EB3-A5BB-C82BC0ACDCA8}"/>
              </a:ext>
            </a:extLst>
          </p:cNvPr>
          <p:cNvSpPr/>
          <p:nvPr/>
        </p:nvSpPr>
        <p:spPr>
          <a:xfrm>
            <a:off x="1943373" y="3692886"/>
            <a:ext cx="3250142" cy="601227"/>
          </a:xfrm>
          <a:prstGeom prst="roundRect">
            <a:avLst>
              <a:gd name="adj" fmla="val 11418"/>
            </a:avLst>
          </a:prstGeom>
          <a:solidFill>
            <a:schemeClr val="bg1">
              <a:lumMod val="95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wrap="square" lIns="90000" tIns="0" rIns="90000" bIns="0" rtlCol="0" anchor="ctr" anchorCtr="0"/>
          <a:lstStyle/>
          <a:p>
            <a:pPr marL="171450" marR="0" lvl="0" indent="-171450" defTabSz="10428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200" i="0" u="none" strike="noStrike" kern="0" cap="none" spc="-100" normalizeH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AI </a:t>
            </a:r>
            <a:r>
              <a:rPr kumimoji="0" lang="ko-KR" altLang="en-US" sz="1200" i="0" u="none" strike="noStrike" kern="0" cap="none" spc="-100" normalizeH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개발 및 운영 </a:t>
            </a:r>
            <a:r>
              <a:rPr kumimoji="0" lang="en-US" altLang="ko-KR" sz="1200" i="0" u="none" strike="noStrike" kern="0" cap="none" spc="-100" normalizeH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: </a:t>
            </a:r>
            <a:r>
              <a:rPr kumimoji="0" lang="ko-KR" altLang="en-US" sz="1200" i="0" u="none" strike="noStrike" kern="0" cap="none" spc="-100" normalizeH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원칙 및 기준</a:t>
            </a:r>
            <a:r>
              <a:rPr kumimoji="0" lang="en-US" altLang="ko-KR" sz="1200" i="0" u="none" strike="noStrike" kern="0" cap="none" spc="-100" normalizeH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, </a:t>
            </a:r>
            <a:r>
              <a:rPr kumimoji="0" lang="ko-KR" altLang="en-US" sz="1200" i="0" u="none" strike="noStrike" kern="0" cap="none" spc="-100" normalizeH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기획</a:t>
            </a:r>
            <a:r>
              <a:rPr kumimoji="0" lang="en-US" altLang="ko-KR" sz="1200" i="0" u="none" strike="noStrike" kern="0" cap="none" spc="-100" normalizeH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·</a:t>
            </a:r>
            <a:r>
              <a:rPr kumimoji="0" lang="ko-KR" altLang="en-US" sz="1200" i="0" u="none" strike="noStrike" kern="0" cap="none" spc="-100" normalizeH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설계 단계</a:t>
            </a:r>
            <a:r>
              <a:rPr kumimoji="0" lang="en-US" altLang="ko-KR" sz="1200" i="0" u="none" strike="noStrike" kern="0" cap="none" spc="-100" normalizeH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, </a:t>
            </a:r>
            <a:r>
              <a:rPr kumimoji="0" lang="ko-KR" altLang="en-US" sz="1200" i="0" u="none" strike="noStrike" kern="0" cap="none" spc="-100" normalizeH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개발 단계</a:t>
            </a:r>
            <a:r>
              <a:rPr kumimoji="0" lang="en-US" altLang="ko-KR" sz="1200" i="0" u="none" strike="noStrike" kern="0" cap="none" spc="-100" normalizeH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, </a:t>
            </a:r>
            <a:r>
              <a:rPr kumimoji="0" lang="ko-KR" altLang="en-US" sz="1200" i="0" u="none" strike="noStrike" kern="0" cap="none" spc="-100" normalizeH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평가</a:t>
            </a:r>
            <a:r>
              <a:rPr kumimoji="0" lang="en-US" altLang="ko-KR" sz="1200" i="0" u="none" strike="noStrike" kern="0" cap="none" spc="-100" normalizeH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·</a:t>
            </a:r>
            <a:r>
              <a:rPr kumimoji="0" lang="ko-KR" altLang="en-US" sz="1200" i="0" u="none" strike="noStrike" kern="0" cap="none" spc="-100" normalizeH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점검 단계</a:t>
            </a:r>
            <a:r>
              <a:rPr kumimoji="0" lang="en-US" altLang="ko-KR" sz="1200" i="0" u="none" strike="noStrike" kern="0" cap="none" spc="-100" normalizeH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, </a:t>
            </a:r>
            <a:r>
              <a:rPr kumimoji="0" lang="ko-KR" altLang="en-US" sz="1200" i="0" u="none" strike="noStrike" kern="0" cap="none" spc="-100" normalizeH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도입</a:t>
            </a:r>
            <a:r>
              <a:rPr kumimoji="0" lang="en-US" altLang="ko-KR" sz="1200" i="0" u="none" strike="noStrike" kern="0" cap="none" spc="-100" normalizeH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·</a:t>
            </a:r>
            <a:r>
              <a:rPr kumimoji="0" lang="ko-KR" altLang="en-US" sz="1200" i="0" u="none" strike="noStrike" kern="0" cap="none" spc="-100" normalizeH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운영</a:t>
            </a:r>
            <a:r>
              <a:rPr kumimoji="0" lang="en-US" altLang="ko-KR" sz="1200" i="0" u="none" strike="noStrike" kern="0" cap="none" spc="-100" normalizeH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·</a:t>
            </a:r>
            <a:r>
              <a:rPr kumimoji="0" lang="ko-KR" altLang="en-US" sz="1200" i="0" u="none" strike="noStrike" kern="0" cap="none" spc="-100" normalizeH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모니터링 단계</a:t>
            </a:r>
          </a:p>
        </p:txBody>
      </p:sp>
      <p:sp>
        <p:nvSpPr>
          <p:cNvPr id="17" name="Rectangle: Rounded Corners 46">
            <a:extLst>
              <a:ext uri="{FF2B5EF4-FFF2-40B4-BE49-F238E27FC236}">
                <a16:creationId xmlns:a16="http://schemas.microsoft.com/office/drawing/2014/main" id="{2E2611F4-4F2B-0374-C6A6-D303AB1C389C}"/>
              </a:ext>
            </a:extLst>
          </p:cNvPr>
          <p:cNvSpPr/>
          <p:nvPr/>
        </p:nvSpPr>
        <p:spPr>
          <a:xfrm>
            <a:off x="1943373" y="4366440"/>
            <a:ext cx="3250142" cy="1310160"/>
          </a:xfrm>
          <a:prstGeom prst="roundRect">
            <a:avLst>
              <a:gd name="adj" fmla="val 5596"/>
            </a:avLst>
          </a:prstGeom>
          <a:solidFill>
            <a:schemeClr val="bg1">
              <a:lumMod val="95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wrap="square" lIns="90000" tIns="0" rIns="90000" bIns="0" rtlCol="0" anchor="ctr" anchorCtr="0"/>
          <a:lstStyle/>
          <a:p>
            <a:pPr marL="171450" marR="0" lvl="0" indent="-171450" defTabSz="10428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AI </a:t>
            </a:r>
            <a:r>
              <a:rPr kumimoji="0" lang="ko-KR" altLang="en-US" sz="1200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서비스 개발 및 활용 관련 보안 대책</a:t>
            </a:r>
          </a:p>
        </p:txBody>
      </p:sp>
      <p:sp>
        <p:nvSpPr>
          <p:cNvPr id="18" name="Rectangle: Rounded Corners 46">
            <a:extLst>
              <a:ext uri="{FF2B5EF4-FFF2-40B4-BE49-F238E27FC236}">
                <a16:creationId xmlns:a16="http://schemas.microsoft.com/office/drawing/2014/main" id="{10014681-C4D5-59F4-BDE4-2D15CA13186D}"/>
              </a:ext>
            </a:extLst>
          </p:cNvPr>
          <p:cNvSpPr/>
          <p:nvPr/>
        </p:nvSpPr>
        <p:spPr>
          <a:xfrm>
            <a:off x="1943373" y="5790110"/>
            <a:ext cx="3250142" cy="549568"/>
          </a:xfrm>
          <a:prstGeom prst="roundRect">
            <a:avLst>
              <a:gd name="adj" fmla="val 11418"/>
            </a:avLst>
          </a:prstGeom>
          <a:solidFill>
            <a:schemeClr val="bg1">
              <a:lumMod val="95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wrap="square" lIns="90000" tIns="0" rIns="90000" bIns="0" rtlCol="0" anchor="ctr" anchorCtr="0"/>
          <a:lstStyle/>
          <a:p>
            <a:pPr algn="ctr" defTabSz="1042873" latinLnBrk="0">
              <a:defRPr/>
            </a:pPr>
            <a:r>
              <a:rPr lang="en-US" altLang="ko-KR" sz="1200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AI </a:t>
            </a:r>
            <a:r>
              <a:rPr lang="ko-KR" altLang="en-US" sz="1200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서비스 기획</a:t>
            </a:r>
            <a:r>
              <a:rPr lang="en-US" altLang="ko-KR" sz="1200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/</a:t>
            </a:r>
            <a:r>
              <a:rPr lang="ko-KR" altLang="en-US" sz="1200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개발</a:t>
            </a:r>
            <a:r>
              <a:rPr lang="en-US" altLang="ko-KR" sz="1200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/</a:t>
            </a:r>
            <a:r>
              <a:rPr lang="ko-KR" altLang="en-US" sz="1200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운영</a:t>
            </a:r>
            <a:endParaRPr lang="en-US" altLang="ko-KR" sz="1200" kern="0">
              <a:ln>
                <a:solidFill>
                  <a:srgbClr val="A5C249">
                    <a:alpha val="0"/>
                  </a:srgbClr>
                </a:solidFill>
              </a:ln>
              <a:latin typeface="+mn-ea"/>
              <a:cs typeface="Pretendard SemiBold" panose="02000703000000020004" pitchFamily="50" charset="-127"/>
            </a:endParaRPr>
          </a:p>
        </p:txBody>
      </p:sp>
      <p:sp>
        <p:nvSpPr>
          <p:cNvPr id="19" name="Rectangle: Rounded Corners 46">
            <a:extLst>
              <a:ext uri="{FF2B5EF4-FFF2-40B4-BE49-F238E27FC236}">
                <a16:creationId xmlns:a16="http://schemas.microsoft.com/office/drawing/2014/main" id="{2152080C-2B3D-B58F-37CD-EC73DC522D80}"/>
              </a:ext>
            </a:extLst>
          </p:cNvPr>
          <p:cNvSpPr/>
          <p:nvPr/>
        </p:nvSpPr>
        <p:spPr>
          <a:xfrm>
            <a:off x="5598487" y="2356890"/>
            <a:ext cx="2588011" cy="484492"/>
          </a:xfrm>
          <a:prstGeom prst="roundRect">
            <a:avLst>
              <a:gd name="adj" fmla="val 11418"/>
            </a:avLst>
          </a:prstGeom>
          <a:solidFill>
            <a:srgbClr val="043B72"/>
          </a:solidFill>
          <a:ln w="3175" cap="flat" cmpd="sng" algn="ctr">
            <a:noFill/>
            <a:prstDash val="solid"/>
          </a:ln>
          <a:effectLst/>
        </p:spPr>
        <p:txBody>
          <a:bodyPr wrap="square" lIns="0" tIns="0" rIns="0" bIns="0" rtlCol="0" anchor="ctr" anchorCtr="0"/>
          <a:lstStyle/>
          <a:p>
            <a:pPr marL="0" marR="0" lvl="0" indent="0" algn="ctr" defTabSz="10428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제</a:t>
            </a:r>
            <a:r>
              <a:rPr kumimoji="0" lang="en-US" altLang="ko-KR" sz="1200" b="1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1</a:t>
            </a:r>
            <a:r>
              <a:rPr kumimoji="0" lang="ko-KR" altLang="en-US" sz="1200" b="1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장</a:t>
            </a:r>
            <a:br>
              <a:rPr kumimoji="0" lang="en-US" altLang="ko-KR" sz="1200" b="1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</a:br>
            <a:r>
              <a:rPr kumimoji="0" lang="ko-KR" altLang="en-US" sz="1200" b="1" i="0" u="none" strike="noStrike" kern="0" cap="none" spc="0" normalizeH="0" baseline="0" noProof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Pretendard SemiBold" panose="02000703000000020004" pitchFamily="50" charset="-127"/>
              </a:rPr>
              <a:t>총칙</a:t>
            </a:r>
            <a:endParaRPr kumimoji="0" lang="en-US" altLang="ko-KR" sz="1200" b="1" i="0" u="none" strike="noStrike" kern="0" cap="none" spc="0" normalizeH="0" baseline="0" noProof="0">
              <a:ln>
                <a:solidFill>
                  <a:srgbClr val="A5C249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+mn-ea"/>
              <a:cs typeface="Pretendard SemiBold" panose="02000703000000020004" pitchFamily="50" charset="-127"/>
            </a:endParaRPr>
          </a:p>
        </p:txBody>
      </p:sp>
      <p:sp>
        <p:nvSpPr>
          <p:cNvPr id="20" name="Rectangle: Rounded Corners 46">
            <a:extLst>
              <a:ext uri="{FF2B5EF4-FFF2-40B4-BE49-F238E27FC236}">
                <a16:creationId xmlns:a16="http://schemas.microsoft.com/office/drawing/2014/main" id="{5BC43A0F-5B5E-8907-260C-129D0167C128}"/>
              </a:ext>
            </a:extLst>
          </p:cNvPr>
          <p:cNvSpPr/>
          <p:nvPr/>
        </p:nvSpPr>
        <p:spPr>
          <a:xfrm>
            <a:off x="5598487" y="2901908"/>
            <a:ext cx="2588011" cy="484492"/>
          </a:xfrm>
          <a:prstGeom prst="roundRect">
            <a:avLst>
              <a:gd name="adj" fmla="val 11418"/>
            </a:avLst>
          </a:prstGeom>
          <a:solidFill>
            <a:srgbClr val="043B72"/>
          </a:solidFill>
          <a:ln w="3175" cap="flat" cmpd="sng" algn="ctr">
            <a:noFill/>
            <a:prstDash val="solid"/>
          </a:ln>
          <a:effectLst/>
        </p:spPr>
        <p:txBody>
          <a:bodyPr wrap="square" lIns="0" tIns="0" rIns="0" bIns="0" rtlCol="0" anchor="ctr" anchorCtr="0"/>
          <a:lstStyle/>
          <a:p>
            <a:pPr algn="ctr" defTabSz="1042873" latinLnBrk="0">
              <a:defRPr/>
            </a:pPr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제</a:t>
            </a:r>
            <a:r>
              <a: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2</a:t>
            </a:r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장</a:t>
            </a:r>
            <a:br>
              <a: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</a:br>
            <a:r>
              <a: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AI</a:t>
            </a:r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 개발</a:t>
            </a:r>
            <a:r>
              <a: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·</a:t>
            </a:r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운영 담당 역할</a:t>
            </a:r>
            <a:endParaRPr lang="en-US" altLang="ko-KR" sz="1200" b="1" kern="0">
              <a:ln>
                <a:solidFill>
                  <a:srgbClr val="A5C249">
                    <a:alpha val="0"/>
                  </a:srgbClr>
                </a:solidFill>
              </a:ln>
              <a:solidFill>
                <a:prstClr val="white"/>
              </a:solidFill>
              <a:latin typeface="+mn-ea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F0C9D1B-1B15-D567-10AD-8CAF0EFCB0BF}"/>
              </a:ext>
            </a:extLst>
          </p:cNvPr>
          <p:cNvSpPr/>
          <p:nvPr/>
        </p:nvSpPr>
        <p:spPr>
          <a:xfrm>
            <a:off x="5598487" y="3541536"/>
            <a:ext cx="236220" cy="2973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ko-KR" altLang="en-US">
              <a:latin typeface="+mn-ea"/>
            </a:endParaRPr>
          </a:p>
        </p:txBody>
      </p:sp>
      <p:sp>
        <p:nvSpPr>
          <p:cNvPr id="22" name="Rectangle: Rounded Corners 46">
            <a:extLst>
              <a:ext uri="{FF2B5EF4-FFF2-40B4-BE49-F238E27FC236}">
                <a16:creationId xmlns:a16="http://schemas.microsoft.com/office/drawing/2014/main" id="{9BC08FE6-34EB-D170-707F-BD8D5DF53514}"/>
              </a:ext>
            </a:extLst>
          </p:cNvPr>
          <p:cNvSpPr/>
          <p:nvPr/>
        </p:nvSpPr>
        <p:spPr>
          <a:xfrm>
            <a:off x="5935702" y="3991944"/>
            <a:ext cx="2250795" cy="390373"/>
          </a:xfrm>
          <a:prstGeom prst="roundRect">
            <a:avLst>
              <a:gd name="adj" fmla="val 11418"/>
            </a:avLst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spcFirstLastPara="1" wrap="square" lIns="108000" tIns="0" rIns="0" bIns="0" anchor="ctr" anchorCtr="0">
            <a:noAutofit/>
          </a:bodyPr>
          <a:lstStyle/>
          <a:p>
            <a:pPr defTabSz="914446">
              <a:buClr>
                <a:srgbClr val="FFFFFF"/>
              </a:buClr>
              <a:buSzPts val="1100"/>
            </a:pP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제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1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절 원칙 및 기준</a:t>
            </a:r>
            <a:endParaRPr lang="en-US" altLang="ko-KR" sz="1100" b="1"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23" name="Rectangle: Rounded Corners 46">
            <a:extLst>
              <a:ext uri="{FF2B5EF4-FFF2-40B4-BE49-F238E27FC236}">
                <a16:creationId xmlns:a16="http://schemas.microsoft.com/office/drawing/2014/main" id="{35BCFEF4-A643-3907-48DD-899A886BA2D5}"/>
              </a:ext>
            </a:extLst>
          </p:cNvPr>
          <p:cNvSpPr/>
          <p:nvPr/>
        </p:nvSpPr>
        <p:spPr>
          <a:xfrm>
            <a:off x="5935702" y="4442843"/>
            <a:ext cx="2250795" cy="390373"/>
          </a:xfrm>
          <a:prstGeom prst="roundRect">
            <a:avLst>
              <a:gd name="adj" fmla="val 11418"/>
            </a:avLst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spcFirstLastPara="1" wrap="square" lIns="108000" tIns="0" rIns="0" bIns="0" anchor="ctr" anchorCtr="0">
            <a:noAutofit/>
          </a:bodyPr>
          <a:lstStyle/>
          <a:p>
            <a:pPr defTabSz="914446">
              <a:buClr>
                <a:srgbClr val="FFFFFF"/>
              </a:buClr>
              <a:buSzPts val="1100"/>
            </a:pP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제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2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절 기획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·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설계 단계</a:t>
            </a:r>
            <a:endParaRPr lang="en-US" altLang="ko-KR" sz="1100" b="1"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24" name="Rectangle: Rounded Corners 46">
            <a:extLst>
              <a:ext uri="{FF2B5EF4-FFF2-40B4-BE49-F238E27FC236}">
                <a16:creationId xmlns:a16="http://schemas.microsoft.com/office/drawing/2014/main" id="{B7A00C42-BC1F-D996-5239-1A062A2C130C}"/>
              </a:ext>
            </a:extLst>
          </p:cNvPr>
          <p:cNvSpPr/>
          <p:nvPr/>
        </p:nvSpPr>
        <p:spPr>
          <a:xfrm>
            <a:off x="5935702" y="5344642"/>
            <a:ext cx="2250795" cy="390373"/>
          </a:xfrm>
          <a:prstGeom prst="roundRect">
            <a:avLst>
              <a:gd name="adj" fmla="val 11418"/>
            </a:avLst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spcFirstLastPara="1" wrap="square" lIns="108000" tIns="0" rIns="0" bIns="0" anchor="ctr" anchorCtr="0">
            <a:noAutofit/>
          </a:bodyPr>
          <a:lstStyle/>
          <a:p>
            <a:pPr defTabSz="914446">
              <a:buClr>
                <a:srgbClr val="FFFFFF"/>
              </a:buClr>
              <a:buSzPts val="1100"/>
            </a:pP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제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4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절 평가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·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검증 단계</a:t>
            </a:r>
            <a:endParaRPr lang="en-US" altLang="ko-KR" sz="1100" b="1">
              <a:latin typeface="+mn-ea"/>
              <a:cs typeface="Pretendard" panose="02000503000000020004" pitchFamily="50" charset="-127"/>
            </a:endParaRPr>
          </a:p>
        </p:txBody>
      </p:sp>
      <p:cxnSp>
        <p:nvCxnSpPr>
          <p:cNvPr id="25" name="연결선: 꺾임 24">
            <a:extLst>
              <a:ext uri="{FF2B5EF4-FFF2-40B4-BE49-F238E27FC236}">
                <a16:creationId xmlns:a16="http://schemas.microsoft.com/office/drawing/2014/main" id="{8177BFB2-6A10-0EBC-444D-7BA453FF0F7F}"/>
              </a:ext>
            </a:extLst>
          </p:cNvPr>
          <p:cNvCxnSpPr>
            <a:cxnSpLocks/>
            <a:stCxn id="21" idx="2"/>
            <a:endCxn id="22" idx="1"/>
          </p:cNvCxnSpPr>
          <p:nvPr/>
        </p:nvCxnSpPr>
        <p:spPr>
          <a:xfrm rot="16200000" flipH="1">
            <a:off x="5652022" y="3903450"/>
            <a:ext cx="348255" cy="219105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연결선: 꺾임 25">
            <a:extLst>
              <a:ext uri="{FF2B5EF4-FFF2-40B4-BE49-F238E27FC236}">
                <a16:creationId xmlns:a16="http://schemas.microsoft.com/office/drawing/2014/main" id="{F8FA62C6-1F51-A184-F638-0CEF469CF044}"/>
              </a:ext>
            </a:extLst>
          </p:cNvPr>
          <p:cNvCxnSpPr>
            <a:cxnSpLocks/>
            <a:stCxn id="21" idx="2"/>
            <a:endCxn id="23" idx="1"/>
          </p:cNvCxnSpPr>
          <p:nvPr/>
        </p:nvCxnSpPr>
        <p:spPr>
          <a:xfrm rot="16200000" flipH="1">
            <a:off x="5426572" y="4128900"/>
            <a:ext cx="799154" cy="219105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연결선: 꺾임 26">
            <a:extLst>
              <a:ext uri="{FF2B5EF4-FFF2-40B4-BE49-F238E27FC236}">
                <a16:creationId xmlns:a16="http://schemas.microsoft.com/office/drawing/2014/main" id="{84737FD0-0BFF-0D84-1C52-21A4A5994C4A}"/>
              </a:ext>
            </a:extLst>
          </p:cNvPr>
          <p:cNvCxnSpPr>
            <a:cxnSpLocks/>
            <a:stCxn id="21" idx="2"/>
            <a:endCxn id="24" idx="1"/>
          </p:cNvCxnSpPr>
          <p:nvPr/>
        </p:nvCxnSpPr>
        <p:spPr>
          <a:xfrm rot="16200000" flipH="1">
            <a:off x="4975673" y="4579800"/>
            <a:ext cx="1700953" cy="219105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: Rounded Corners 46">
            <a:extLst>
              <a:ext uri="{FF2B5EF4-FFF2-40B4-BE49-F238E27FC236}">
                <a16:creationId xmlns:a16="http://schemas.microsoft.com/office/drawing/2014/main" id="{304F6E2A-55C0-14A4-A471-FE9029738D71}"/>
              </a:ext>
            </a:extLst>
          </p:cNvPr>
          <p:cNvSpPr/>
          <p:nvPr/>
        </p:nvSpPr>
        <p:spPr>
          <a:xfrm>
            <a:off x="5935702" y="5795538"/>
            <a:ext cx="2250795" cy="390373"/>
          </a:xfrm>
          <a:prstGeom prst="roundRect">
            <a:avLst>
              <a:gd name="adj" fmla="val 11418"/>
            </a:avLst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spcFirstLastPara="1" wrap="square" lIns="108000" tIns="0" rIns="0" bIns="0" anchor="ctr" anchorCtr="0">
            <a:noAutofit/>
          </a:bodyPr>
          <a:lstStyle/>
          <a:p>
            <a:pPr defTabSz="914446">
              <a:buClr>
                <a:srgbClr val="FFFFFF"/>
              </a:buClr>
              <a:buSzPts val="1100"/>
            </a:pP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제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5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절 도입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·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운영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·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모니터링 단계</a:t>
            </a:r>
            <a:endParaRPr lang="en-US" altLang="ko-KR" sz="1100" b="1"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29" name="Rectangle: Rounded Corners 46">
            <a:extLst>
              <a:ext uri="{FF2B5EF4-FFF2-40B4-BE49-F238E27FC236}">
                <a16:creationId xmlns:a16="http://schemas.microsoft.com/office/drawing/2014/main" id="{7DFC0845-8B98-38A3-0ECD-0045C43A6F13}"/>
              </a:ext>
            </a:extLst>
          </p:cNvPr>
          <p:cNvSpPr/>
          <p:nvPr/>
        </p:nvSpPr>
        <p:spPr>
          <a:xfrm>
            <a:off x="5935702" y="4893742"/>
            <a:ext cx="2250795" cy="390373"/>
          </a:xfrm>
          <a:prstGeom prst="roundRect">
            <a:avLst>
              <a:gd name="adj" fmla="val 11418"/>
            </a:avLst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spcFirstLastPara="1" wrap="square" lIns="108000" tIns="0" rIns="0" bIns="0" anchor="ctr" anchorCtr="0">
            <a:noAutofit/>
          </a:bodyPr>
          <a:lstStyle/>
          <a:p>
            <a:pPr defTabSz="914446">
              <a:buClr>
                <a:srgbClr val="FFFFFF"/>
              </a:buClr>
              <a:buSzPts val="1100"/>
            </a:pP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제</a:t>
            </a:r>
            <a:r>
              <a:rPr lang="en-US" altLang="ko-KR" sz="1100" b="1">
                <a:latin typeface="+mn-ea"/>
                <a:cs typeface="Pretendard" panose="02000503000000020004" pitchFamily="50" charset="-127"/>
              </a:rPr>
              <a:t>3</a:t>
            </a:r>
            <a:r>
              <a:rPr lang="ko-KR" altLang="en-US" sz="1100" b="1">
                <a:latin typeface="+mn-ea"/>
                <a:cs typeface="Pretendard" panose="02000503000000020004" pitchFamily="50" charset="-127"/>
              </a:rPr>
              <a:t>절 개발 단계</a:t>
            </a:r>
            <a:endParaRPr lang="en-US" altLang="ko-KR" sz="1100" b="1">
              <a:latin typeface="+mn-ea"/>
              <a:cs typeface="Pretendard" panose="02000503000000020004" pitchFamily="50" charset="-127"/>
            </a:endParaRPr>
          </a:p>
        </p:txBody>
      </p:sp>
      <p:cxnSp>
        <p:nvCxnSpPr>
          <p:cNvPr id="30" name="연결선: 꺾임 29">
            <a:extLst>
              <a:ext uri="{FF2B5EF4-FFF2-40B4-BE49-F238E27FC236}">
                <a16:creationId xmlns:a16="http://schemas.microsoft.com/office/drawing/2014/main" id="{BDC0817E-DE9C-B6B8-FE75-189D8DC53FE1}"/>
              </a:ext>
            </a:extLst>
          </p:cNvPr>
          <p:cNvCxnSpPr>
            <a:cxnSpLocks/>
            <a:stCxn id="21" idx="2"/>
            <a:endCxn id="29" idx="1"/>
          </p:cNvCxnSpPr>
          <p:nvPr/>
        </p:nvCxnSpPr>
        <p:spPr>
          <a:xfrm rot="16200000" flipH="1">
            <a:off x="5201123" y="4354349"/>
            <a:ext cx="1250053" cy="219105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연결선: 꺾임 30">
            <a:extLst>
              <a:ext uri="{FF2B5EF4-FFF2-40B4-BE49-F238E27FC236}">
                <a16:creationId xmlns:a16="http://schemas.microsoft.com/office/drawing/2014/main" id="{292EA5EF-FC5E-FCB3-70CC-0569CDED38A8}"/>
              </a:ext>
            </a:extLst>
          </p:cNvPr>
          <p:cNvCxnSpPr>
            <a:cxnSpLocks/>
            <a:endCxn id="28" idx="1"/>
          </p:cNvCxnSpPr>
          <p:nvPr/>
        </p:nvCxnSpPr>
        <p:spPr>
          <a:xfrm rot="16200000" flipH="1">
            <a:off x="4758243" y="4813266"/>
            <a:ext cx="2135810" cy="219107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: Rounded Corners 46">
            <a:extLst>
              <a:ext uri="{FF2B5EF4-FFF2-40B4-BE49-F238E27FC236}">
                <a16:creationId xmlns:a16="http://schemas.microsoft.com/office/drawing/2014/main" id="{41D72C8D-1884-72C0-3BAD-4181C42AFE91}"/>
              </a:ext>
            </a:extLst>
          </p:cNvPr>
          <p:cNvSpPr/>
          <p:nvPr/>
        </p:nvSpPr>
        <p:spPr>
          <a:xfrm>
            <a:off x="5598487" y="3446926"/>
            <a:ext cx="2588011" cy="484492"/>
          </a:xfrm>
          <a:prstGeom prst="roundRect">
            <a:avLst>
              <a:gd name="adj" fmla="val 11418"/>
            </a:avLst>
          </a:prstGeom>
          <a:solidFill>
            <a:srgbClr val="043B72"/>
          </a:solidFill>
          <a:ln w="3175" cap="flat" cmpd="sng" algn="ctr">
            <a:noFill/>
            <a:prstDash val="solid"/>
          </a:ln>
          <a:effectLst/>
        </p:spPr>
        <p:txBody>
          <a:bodyPr wrap="square" lIns="0" tIns="0" rIns="0" bIns="0" rtlCol="0" anchor="ctr" anchorCtr="0"/>
          <a:lstStyle/>
          <a:p>
            <a:pPr algn="ctr" defTabSz="1042873" latinLnBrk="0">
              <a:defRPr/>
            </a:pPr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제</a:t>
            </a:r>
            <a:r>
              <a: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3</a:t>
            </a:r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장</a:t>
            </a:r>
            <a:br>
              <a: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</a:br>
            <a:r>
              <a: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AI </a:t>
            </a:r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개발 및 운영</a:t>
            </a:r>
            <a:endParaRPr lang="en-US" altLang="ko-KR" sz="1200" b="1" kern="0">
              <a:ln>
                <a:solidFill>
                  <a:srgbClr val="A5C249">
                    <a:alpha val="0"/>
                  </a:srgbClr>
                </a:solidFill>
              </a:ln>
              <a:solidFill>
                <a:prstClr val="white"/>
              </a:solidFill>
              <a:latin typeface="+mn-ea"/>
            </a:endParaRPr>
          </a:p>
        </p:txBody>
      </p:sp>
      <p:sp>
        <p:nvSpPr>
          <p:cNvPr id="33" name="Rectangle: Rounded Corners 46">
            <a:extLst>
              <a:ext uri="{FF2B5EF4-FFF2-40B4-BE49-F238E27FC236}">
                <a16:creationId xmlns:a16="http://schemas.microsoft.com/office/drawing/2014/main" id="{BEDDF4E9-BAFB-626E-5DD5-E5169A196A3E}"/>
              </a:ext>
            </a:extLst>
          </p:cNvPr>
          <p:cNvSpPr/>
          <p:nvPr/>
        </p:nvSpPr>
        <p:spPr>
          <a:xfrm>
            <a:off x="8567583" y="2356890"/>
            <a:ext cx="2588011" cy="484492"/>
          </a:xfrm>
          <a:prstGeom prst="roundRect">
            <a:avLst>
              <a:gd name="adj" fmla="val 11418"/>
            </a:avLst>
          </a:prstGeom>
          <a:solidFill>
            <a:srgbClr val="043B72"/>
          </a:solidFill>
          <a:ln w="3175" cap="flat" cmpd="sng" algn="ctr">
            <a:noFill/>
            <a:prstDash val="solid"/>
          </a:ln>
          <a:effectLst/>
        </p:spPr>
        <p:txBody>
          <a:bodyPr wrap="square" lIns="0" tIns="0" rIns="0" bIns="0" rtlCol="0" anchor="ctr" anchorCtr="0"/>
          <a:lstStyle/>
          <a:p>
            <a:pPr algn="ctr" defTabSz="1042873" latinLnBrk="0">
              <a:defRPr/>
            </a:pPr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제</a:t>
            </a:r>
            <a:r>
              <a: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4</a:t>
            </a:r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장</a:t>
            </a:r>
            <a:br>
              <a: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</a:br>
            <a:r>
              <a:rPr lang="en-US" altLang="ko-KR" sz="1200" b="1" kern="0" spc="-7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AI</a:t>
            </a:r>
            <a:r>
              <a:rPr lang="ko-KR" altLang="en-US" sz="1200" b="1" kern="0" spc="-7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서비스 개발</a:t>
            </a:r>
            <a:r>
              <a:rPr lang="en-US" altLang="ko-KR" sz="1200" b="1" kern="0" spc="-7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·</a:t>
            </a:r>
            <a:r>
              <a:rPr lang="ko-KR" altLang="en-US" sz="1200" b="1" kern="0" spc="-70">
                <a:ln>
                  <a:solidFill>
                    <a:srgbClr val="A5C249"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</a:rPr>
              <a:t>활용 관련 보안 대책</a:t>
            </a:r>
            <a:endParaRPr lang="en-US" altLang="ko-KR" sz="1200" b="1" kern="0" spc="-70">
              <a:ln>
                <a:solidFill>
                  <a:srgbClr val="A5C249">
                    <a:alpha val="0"/>
                  </a:srgbClr>
                </a:solidFill>
              </a:ln>
              <a:solidFill>
                <a:prstClr val="white"/>
              </a:solidFill>
              <a:latin typeface="+mn-ea"/>
            </a:endParaRPr>
          </a:p>
        </p:txBody>
      </p:sp>
      <p:sp>
        <p:nvSpPr>
          <p:cNvPr id="34" name="Rectangle: Rounded Corners 46">
            <a:extLst>
              <a:ext uri="{FF2B5EF4-FFF2-40B4-BE49-F238E27FC236}">
                <a16:creationId xmlns:a16="http://schemas.microsoft.com/office/drawing/2014/main" id="{9AB7591A-A0B4-0992-6E33-A646787FF75F}"/>
              </a:ext>
            </a:extLst>
          </p:cNvPr>
          <p:cNvSpPr/>
          <p:nvPr/>
        </p:nvSpPr>
        <p:spPr>
          <a:xfrm>
            <a:off x="522288" y="1840770"/>
            <a:ext cx="1204912" cy="930621"/>
          </a:xfrm>
          <a:prstGeom prst="roundRect">
            <a:avLst>
              <a:gd name="adj" fmla="val 11418"/>
            </a:avLst>
          </a:prstGeom>
          <a:solidFill>
            <a:srgbClr val="F4B183"/>
          </a:solidFill>
          <a:ln>
            <a:solidFill>
              <a:schemeClr val="bg1"/>
            </a:solidFill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cs typeface="Pretendard" panose="02000503000000020004" pitchFamily="50" charset="-127"/>
              </a:rPr>
              <a:t>목적</a:t>
            </a:r>
            <a:endParaRPr kumimoji="0" lang="en-US" altLang="ko-KR" sz="14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35" name="Rectangle: Rounded Corners 46">
            <a:extLst>
              <a:ext uri="{FF2B5EF4-FFF2-40B4-BE49-F238E27FC236}">
                <a16:creationId xmlns:a16="http://schemas.microsoft.com/office/drawing/2014/main" id="{DB7A8522-7E7A-CD2C-62F3-CA4DC9C32266}"/>
              </a:ext>
            </a:extLst>
          </p:cNvPr>
          <p:cNvSpPr/>
          <p:nvPr/>
        </p:nvSpPr>
        <p:spPr>
          <a:xfrm>
            <a:off x="522289" y="2906401"/>
            <a:ext cx="1204912" cy="2833165"/>
          </a:xfrm>
          <a:prstGeom prst="roundRect">
            <a:avLst>
              <a:gd name="adj" fmla="val 6675"/>
            </a:avLst>
          </a:prstGeom>
          <a:solidFill>
            <a:srgbClr val="F4B183"/>
          </a:solidFill>
          <a:ln>
            <a:solidFill>
              <a:schemeClr val="bg1"/>
            </a:solidFill>
          </a:ln>
        </p:spPr>
        <p:txBody>
          <a:bodyPr spcFirstLastPara="1" wrap="square" lIns="0" tIns="0" rIns="504000" bIns="0" anchor="ctr" anchorCtr="0">
            <a:noAutofit/>
          </a:bodyPr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cs typeface="Pretendard" panose="02000503000000020004" pitchFamily="50" charset="-127"/>
              </a:rPr>
              <a:t>주요 </a:t>
            </a:r>
            <a:endParaRPr kumimoji="0" lang="en-US" altLang="ko-KR" sz="14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+mn-ea"/>
              <a:cs typeface="Pretendard" panose="02000503000000020004" pitchFamily="50" charset="-127"/>
            </a:endParaRPr>
          </a:p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cs typeface="Pretendard" panose="02000503000000020004" pitchFamily="50" charset="-127"/>
              </a:rPr>
              <a:t>내용</a:t>
            </a:r>
            <a:endParaRPr kumimoji="0" lang="en-US" altLang="ko-KR" sz="14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+mn-ea"/>
              <a:cs typeface="Pretendard" panose="02000503000000020004" pitchFamily="50" charset="-127"/>
            </a:endParaRPr>
          </a:p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cs typeface="Pretendard" panose="02000503000000020004" pitchFamily="50" charset="-127"/>
              </a:rPr>
              <a:t>(</a:t>
            </a: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cs typeface="Pretendard" panose="02000503000000020004" pitchFamily="50" charset="-127"/>
              </a:rPr>
              <a:t>문서 목차</a:t>
            </a:r>
            <a:r>
              <a:rPr kumimoji="0" lang="en-US" altLang="ko-KR" sz="9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cs typeface="Pretendard" panose="02000503000000020004" pitchFamily="50" charset="-127"/>
              </a:rPr>
              <a:t>*)</a:t>
            </a:r>
          </a:p>
        </p:txBody>
      </p:sp>
      <p:sp>
        <p:nvSpPr>
          <p:cNvPr id="36" name="Rectangle: Rounded Corners 46">
            <a:extLst>
              <a:ext uri="{FF2B5EF4-FFF2-40B4-BE49-F238E27FC236}">
                <a16:creationId xmlns:a16="http://schemas.microsoft.com/office/drawing/2014/main" id="{836C9E34-FB4C-421C-08F2-30B1537A447B}"/>
              </a:ext>
            </a:extLst>
          </p:cNvPr>
          <p:cNvSpPr/>
          <p:nvPr/>
        </p:nvSpPr>
        <p:spPr>
          <a:xfrm>
            <a:off x="522289" y="5790110"/>
            <a:ext cx="1204912" cy="549568"/>
          </a:xfrm>
          <a:prstGeom prst="roundRect">
            <a:avLst>
              <a:gd name="adj" fmla="val 22435"/>
            </a:avLst>
          </a:prstGeom>
          <a:solidFill>
            <a:srgbClr val="F4B183"/>
          </a:solidFill>
          <a:ln>
            <a:solidFill>
              <a:schemeClr val="bg1"/>
            </a:solidFill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ea"/>
                <a:cs typeface="Pretendard" panose="02000503000000020004" pitchFamily="50" charset="-127"/>
              </a:rPr>
              <a:t>사용자</a:t>
            </a:r>
            <a:endParaRPr kumimoji="0" lang="en-US" altLang="ko-KR" sz="14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+mn-ea"/>
              <a:cs typeface="Pretendard" panose="02000503000000020004" pitchFamily="50" charset="-127"/>
            </a:endParaRPr>
          </a:p>
        </p:txBody>
      </p:sp>
      <p:sp>
        <p:nvSpPr>
          <p:cNvPr id="37" name="Rectangle: Rounded Corners 46">
            <a:extLst>
              <a:ext uri="{FF2B5EF4-FFF2-40B4-BE49-F238E27FC236}">
                <a16:creationId xmlns:a16="http://schemas.microsoft.com/office/drawing/2014/main" id="{B5E070E2-0368-1052-D126-28937B48146A}"/>
              </a:ext>
            </a:extLst>
          </p:cNvPr>
          <p:cNvSpPr/>
          <p:nvPr/>
        </p:nvSpPr>
        <p:spPr>
          <a:xfrm>
            <a:off x="1228725" y="3019331"/>
            <a:ext cx="582110" cy="601229"/>
          </a:xfrm>
          <a:prstGeom prst="roundRect">
            <a:avLst>
              <a:gd name="adj" fmla="val 11418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bg1"/>
            </a:solidFill>
            <a:prstDash val="solid"/>
          </a:ln>
          <a:effectLst/>
        </p:spPr>
        <p:txBody>
          <a:bodyPr wrap="square" lIns="0" tIns="0" rIns="0" bIns="0" rtlCol="0" anchor="ctr" anchorCtr="0"/>
          <a:lstStyle/>
          <a:p>
            <a:pPr algn="ctr" defTabSz="1042873"/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원칙</a:t>
            </a:r>
            <a:r>
              <a: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/</a:t>
            </a:r>
          </a:p>
          <a:p>
            <a:pPr algn="ctr" defTabSz="1042873"/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기준</a:t>
            </a:r>
            <a:endParaRPr lang="en-US" altLang="ko-KR" sz="1200" b="1" kern="0">
              <a:ln>
                <a:solidFill>
                  <a:srgbClr val="A5C249">
                    <a:alpha val="0"/>
                  </a:srgbClr>
                </a:solidFill>
              </a:ln>
              <a:latin typeface="+mn-ea"/>
              <a:cs typeface="Pretendard SemiBold" panose="02000703000000020004" pitchFamily="50" charset="-127"/>
            </a:endParaRPr>
          </a:p>
        </p:txBody>
      </p:sp>
      <p:sp>
        <p:nvSpPr>
          <p:cNvPr id="38" name="Rectangle: Rounded Corners 46">
            <a:extLst>
              <a:ext uri="{FF2B5EF4-FFF2-40B4-BE49-F238E27FC236}">
                <a16:creationId xmlns:a16="http://schemas.microsoft.com/office/drawing/2014/main" id="{811E81C2-5C5A-BF2A-9985-D85F0375B5A7}"/>
              </a:ext>
            </a:extLst>
          </p:cNvPr>
          <p:cNvSpPr/>
          <p:nvPr/>
        </p:nvSpPr>
        <p:spPr>
          <a:xfrm>
            <a:off x="1228725" y="3692886"/>
            <a:ext cx="582110" cy="601229"/>
          </a:xfrm>
          <a:prstGeom prst="roundRect">
            <a:avLst>
              <a:gd name="adj" fmla="val 11418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bg1"/>
            </a:solidFill>
            <a:prstDash val="solid"/>
          </a:ln>
          <a:effectLst/>
        </p:spPr>
        <p:txBody>
          <a:bodyPr wrap="square" lIns="0" tIns="0" rIns="0" bIns="0" rtlCol="0" anchor="ctr" anchorCtr="0"/>
          <a:lstStyle/>
          <a:p>
            <a:pPr algn="ctr" defTabSz="1042873"/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조직</a:t>
            </a:r>
            <a:endParaRPr lang="en-US" altLang="ko-KR" sz="1200" b="1" kern="0">
              <a:ln>
                <a:solidFill>
                  <a:srgbClr val="A5C249">
                    <a:alpha val="0"/>
                  </a:srgbClr>
                </a:solidFill>
              </a:ln>
              <a:latin typeface="+mn-ea"/>
              <a:cs typeface="Pretendard SemiBold" panose="02000703000000020004" pitchFamily="50" charset="-127"/>
            </a:endParaRPr>
          </a:p>
        </p:txBody>
      </p:sp>
      <p:sp>
        <p:nvSpPr>
          <p:cNvPr id="39" name="Rectangle: Rounded Corners 46">
            <a:extLst>
              <a:ext uri="{FF2B5EF4-FFF2-40B4-BE49-F238E27FC236}">
                <a16:creationId xmlns:a16="http://schemas.microsoft.com/office/drawing/2014/main" id="{5557F104-3EC0-A9DD-59B2-379563C7CD96}"/>
              </a:ext>
            </a:extLst>
          </p:cNvPr>
          <p:cNvSpPr/>
          <p:nvPr/>
        </p:nvSpPr>
        <p:spPr>
          <a:xfrm>
            <a:off x="1228725" y="4366440"/>
            <a:ext cx="582110" cy="1310160"/>
          </a:xfrm>
          <a:prstGeom prst="roundRect">
            <a:avLst>
              <a:gd name="adj" fmla="val 11418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bg1"/>
            </a:solidFill>
            <a:prstDash val="solid"/>
          </a:ln>
          <a:effectLst/>
        </p:spPr>
        <p:txBody>
          <a:bodyPr wrap="square" lIns="0" tIns="0" rIns="0" bIns="0" rtlCol="0" anchor="ctr" anchorCtr="0"/>
          <a:lstStyle/>
          <a:p>
            <a:pPr algn="ctr" defTabSz="1042873"/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개발</a:t>
            </a:r>
            <a:r>
              <a: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·</a:t>
            </a:r>
            <a:br>
              <a:rPr lang="en-US" altLang="ko-KR" sz="1200" b="1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</a:br>
            <a:r>
              <a:rPr lang="ko-KR" altLang="en-US" sz="1200" b="1" kern="0">
                <a:ln>
                  <a:solidFill>
                    <a:srgbClr val="A5C249">
                      <a:alpha val="0"/>
                    </a:srgbClr>
                  </a:solidFill>
                </a:ln>
                <a:latin typeface="+mn-ea"/>
                <a:cs typeface="Pretendard SemiBold" panose="02000703000000020004" pitchFamily="50" charset="-127"/>
              </a:rPr>
              <a:t>운영 관리 체계</a:t>
            </a:r>
            <a:endParaRPr lang="en-US" altLang="ko-KR" sz="1200" b="1" kern="0">
              <a:ln>
                <a:solidFill>
                  <a:srgbClr val="A5C249">
                    <a:alpha val="0"/>
                  </a:srgbClr>
                </a:solidFill>
              </a:ln>
              <a:latin typeface="+mn-ea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472558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B87FBB1A-6FE1-33A4-9E84-95835B97C7E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0ADBBA6-41E8-641E-3FA4-782B74BEF6A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AI</a:t>
            </a:r>
            <a:r>
              <a:rPr lang="ko-KR" altLang="en-US"/>
              <a:t>거버넌스</a:t>
            </a:r>
            <a:r>
              <a:rPr lang="en-US" altLang="ko-KR"/>
              <a:t> </a:t>
            </a:r>
            <a:r>
              <a:rPr lang="ko-KR" altLang="en-US"/>
              <a:t>요건 매트릭스 대상 및 예시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18DF6AD-50FB-E537-89EB-88E8C0D31EA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/>
              <a:t>AI</a:t>
            </a:r>
            <a:r>
              <a:rPr lang="ko-KR" altLang="en-US"/>
              <a:t>거버넌스 변경관리가 용이하도록 정부 규제</a:t>
            </a:r>
            <a:r>
              <a:rPr lang="en-US" altLang="ko-KR"/>
              <a:t>&amp;</a:t>
            </a:r>
            <a:r>
              <a:rPr lang="ko-KR" altLang="en-US"/>
              <a:t>가이드라인을 포함한 요건 매트릭스 작업을 수행 중이며</a:t>
            </a:r>
            <a:r>
              <a:rPr lang="en-US" altLang="ko-KR"/>
              <a:t> </a:t>
            </a:r>
            <a:r>
              <a:rPr lang="ko-KR" altLang="en-US"/>
              <a:t>산출물 제공 시 요건 매트릭스를 포함하여 제공 예정임</a:t>
            </a:r>
          </a:p>
        </p:txBody>
      </p:sp>
      <p:sp>
        <p:nvSpPr>
          <p:cNvPr id="7" name="이등변 삼각형 6">
            <a:extLst>
              <a:ext uri="{FF2B5EF4-FFF2-40B4-BE49-F238E27FC236}">
                <a16:creationId xmlns:a16="http://schemas.microsoft.com/office/drawing/2014/main" id="{09612FCE-E572-D9CF-6FE1-303629EADAED}"/>
              </a:ext>
            </a:extLst>
          </p:cNvPr>
          <p:cNvSpPr/>
          <p:nvPr/>
        </p:nvSpPr>
        <p:spPr>
          <a:xfrm rot="5400000">
            <a:off x="6064718" y="3920891"/>
            <a:ext cx="155635" cy="108000"/>
          </a:xfrm>
          <a:prstGeom prst="triangle">
            <a:avLst/>
          </a:prstGeom>
          <a:solidFill>
            <a:schemeClr val="bg1">
              <a:lumMod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8" name="사각형: 둥근 모서리 20">
            <a:extLst>
              <a:ext uri="{FF2B5EF4-FFF2-40B4-BE49-F238E27FC236}">
                <a16:creationId xmlns:a16="http://schemas.microsoft.com/office/drawing/2014/main" id="{7AF837B3-73B6-A10C-BADA-786B970E1892}"/>
              </a:ext>
            </a:extLst>
          </p:cNvPr>
          <p:cNvSpPr/>
          <p:nvPr/>
        </p:nvSpPr>
        <p:spPr>
          <a:xfrm>
            <a:off x="1064078" y="2124426"/>
            <a:ext cx="1968608" cy="25710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인공지능 기본법</a:t>
            </a:r>
            <a:endParaRPr lang="en" altLang="ko-KR" sz="1000" b="1" spc="-15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sp>
        <p:nvSpPr>
          <p:cNvPr id="9" name="사각형: 둥근 모서리 20">
            <a:extLst>
              <a:ext uri="{FF2B5EF4-FFF2-40B4-BE49-F238E27FC236}">
                <a16:creationId xmlns:a16="http://schemas.microsoft.com/office/drawing/2014/main" id="{9893A0B2-F8CF-2401-916D-306033BF9322}"/>
              </a:ext>
            </a:extLst>
          </p:cNvPr>
          <p:cNvSpPr/>
          <p:nvPr/>
        </p:nvSpPr>
        <p:spPr>
          <a:xfrm>
            <a:off x="1064078" y="2469682"/>
            <a:ext cx="1968608" cy="25710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금융분야  </a:t>
            </a:r>
            <a:r>
              <a:rPr lang="en-US" altLang="ko-KR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AI </a:t>
            </a:r>
            <a:r>
              <a:rPr lang="ko-KR" altLang="en-US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개발</a:t>
            </a:r>
            <a:r>
              <a:rPr lang="en-US" altLang="ko-KR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·</a:t>
            </a:r>
            <a:r>
              <a:rPr lang="ko-KR" altLang="en-US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활용 안내서</a:t>
            </a:r>
          </a:p>
        </p:txBody>
      </p:sp>
      <p:sp>
        <p:nvSpPr>
          <p:cNvPr id="10" name="사각형: 둥근 모서리 20">
            <a:extLst>
              <a:ext uri="{FF2B5EF4-FFF2-40B4-BE49-F238E27FC236}">
                <a16:creationId xmlns:a16="http://schemas.microsoft.com/office/drawing/2014/main" id="{96DC17B1-BB21-1292-E0F7-751161940737}"/>
              </a:ext>
            </a:extLst>
          </p:cNvPr>
          <p:cNvSpPr/>
          <p:nvPr/>
        </p:nvSpPr>
        <p:spPr>
          <a:xfrm>
            <a:off x="1064078" y="2814937"/>
            <a:ext cx="1968608" cy="25710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금융분야  </a:t>
            </a:r>
            <a:r>
              <a:rPr lang="en-US" altLang="ko-KR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AI </a:t>
            </a:r>
            <a:r>
              <a:rPr lang="ko-KR" altLang="en-US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운영 가이드라인</a:t>
            </a:r>
          </a:p>
        </p:txBody>
      </p:sp>
      <p:sp>
        <p:nvSpPr>
          <p:cNvPr id="11" name="사각형: 둥근 모서리 20">
            <a:extLst>
              <a:ext uri="{FF2B5EF4-FFF2-40B4-BE49-F238E27FC236}">
                <a16:creationId xmlns:a16="http://schemas.microsoft.com/office/drawing/2014/main" id="{A4E4DF06-16C1-A387-BA90-CCC932B48C59}"/>
              </a:ext>
            </a:extLst>
          </p:cNvPr>
          <p:cNvSpPr/>
          <p:nvPr/>
        </p:nvSpPr>
        <p:spPr>
          <a:xfrm>
            <a:off x="1064078" y="3160193"/>
            <a:ext cx="1968608" cy="25710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금융분야  </a:t>
            </a:r>
            <a:r>
              <a:rPr lang="en-US" altLang="ko-KR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AI </a:t>
            </a:r>
            <a:r>
              <a:rPr lang="ko-KR" altLang="en-US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기반 보안 가이드라인</a:t>
            </a:r>
          </a:p>
        </p:txBody>
      </p:sp>
      <p:sp>
        <p:nvSpPr>
          <p:cNvPr id="12" name="사각형: 둥근 모서리 20">
            <a:extLst>
              <a:ext uri="{FF2B5EF4-FFF2-40B4-BE49-F238E27FC236}">
                <a16:creationId xmlns:a16="http://schemas.microsoft.com/office/drawing/2014/main" id="{6BE635F3-74B5-CF54-8C5E-6D9ADFC11329}"/>
              </a:ext>
            </a:extLst>
          </p:cNvPr>
          <p:cNvSpPr/>
          <p:nvPr/>
        </p:nvSpPr>
        <p:spPr>
          <a:xfrm>
            <a:off x="334965" y="4195962"/>
            <a:ext cx="656203" cy="2328646"/>
          </a:xfrm>
          <a:prstGeom prst="roundRect">
            <a:avLst>
              <a:gd name="adj" fmla="val 0"/>
            </a:avLst>
          </a:prstGeom>
          <a:solidFill>
            <a:srgbClr val="7F7F7F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미확정</a:t>
            </a:r>
            <a:br>
              <a:rPr lang="en-US" altLang="ko-KR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</a:br>
            <a:r>
              <a:rPr lang="en-US" altLang="ko-KR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7</a:t>
            </a:r>
            <a:r>
              <a:rPr lang="ko-KR" altLang="en-US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종</a:t>
            </a:r>
            <a:endParaRPr lang="en" altLang="ko-KR" sz="1200" b="1" spc="-15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</a:endParaRPr>
          </a:p>
        </p:txBody>
      </p:sp>
      <p:sp>
        <p:nvSpPr>
          <p:cNvPr id="13" name="사각형: 둥근 모서리 20">
            <a:extLst>
              <a:ext uri="{FF2B5EF4-FFF2-40B4-BE49-F238E27FC236}">
                <a16:creationId xmlns:a16="http://schemas.microsoft.com/office/drawing/2014/main" id="{2544B6D1-E6DF-4659-50E6-1D96631F4A3C}"/>
              </a:ext>
            </a:extLst>
          </p:cNvPr>
          <p:cNvSpPr/>
          <p:nvPr/>
        </p:nvSpPr>
        <p:spPr>
          <a:xfrm>
            <a:off x="334965" y="2124426"/>
            <a:ext cx="656203" cy="1292872"/>
          </a:xfrm>
          <a:prstGeom prst="roundRect">
            <a:avLst>
              <a:gd name="adj" fmla="val 0"/>
            </a:avLst>
          </a:prstGeom>
          <a:solidFill>
            <a:srgbClr val="7F7F7F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확정 </a:t>
            </a:r>
            <a:br>
              <a:rPr lang="en-US" altLang="ko-KR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</a:br>
            <a:r>
              <a:rPr lang="en-US" altLang="ko-KR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4</a:t>
            </a:r>
            <a:r>
              <a:rPr lang="ko-KR" altLang="en-US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종</a:t>
            </a:r>
            <a:endParaRPr lang="en" altLang="ko-KR" sz="1200" b="1" spc="-15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</a:endParaRPr>
          </a:p>
        </p:txBody>
      </p:sp>
      <p:sp>
        <p:nvSpPr>
          <p:cNvPr id="14" name="사각형: 둥근 모서리 20">
            <a:extLst>
              <a:ext uri="{FF2B5EF4-FFF2-40B4-BE49-F238E27FC236}">
                <a16:creationId xmlns:a16="http://schemas.microsoft.com/office/drawing/2014/main" id="{DE6B4CF6-FF73-B73A-FB8C-C927EC293749}"/>
              </a:ext>
            </a:extLst>
          </p:cNvPr>
          <p:cNvSpPr/>
          <p:nvPr/>
        </p:nvSpPr>
        <p:spPr>
          <a:xfrm>
            <a:off x="1064078" y="4195962"/>
            <a:ext cx="1968608" cy="25710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인공지능 기본법 시행령</a:t>
            </a:r>
          </a:p>
        </p:txBody>
      </p:sp>
      <p:sp>
        <p:nvSpPr>
          <p:cNvPr id="15" name="사각형: 둥근 모서리 20">
            <a:extLst>
              <a:ext uri="{FF2B5EF4-FFF2-40B4-BE49-F238E27FC236}">
                <a16:creationId xmlns:a16="http://schemas.microsoft.com/office/drawing/2014/main" id="{99E7DA90-3D0F-AC65-0884-878919EB068E}"/>
              </a:ext>
            </a:extLst>
          </p:cNvPr>
          <p:cNvSpPr/>
          <p:nvPr/>
        </p:nvSpPr>
        <p:spPr>
          <a:xfrm>
            <a:off x="1064078" y="4886475"/>
            <a:ext cx="1968608" cy="25710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사업자 책무 고시</a:t>
            </a:r>
            <a:r>
              <a:rPr lang="en-US" altLang="ko-KR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안</a:t>
            </a:r>
            <a:r>
              <a:rPr lang="en-US" altLang="ko-KR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)</a:t>
            </a:r>
          </a:p>
        </p:txBody>
      </p:sp>
      <p:sp>
        <p:nvSpPr>
          <p:cNvPr id="16" name="사각형: 둥근 모서리 20">
            <a:extLst>
              <a:ext uri="{FF2B5EF4-FFF2-40B4-BE49-F238E27FC236}">
                <a16:creationId xmlns:a16="http://schemas.microsoft.com/office/drawing/2014/main" id="{50DEF7F2-2744-C231-131E-16D56B918F84}"/>
              </a:ext>
            </a:extLst>
          </p:cNvPr>
          <p:cNvSpPr/>
          <p:nvPr/>
        </p:nvSpPr>
        <p:spPr>
          <a:xfrm>
            <a:off x="1064078" y="5231731"/>
            <a:ext cx="1968608" cy="25710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고영향 </a:t>
            </a:r>
            <a:r>
              <a:rPr lang="en-US" altLang="ko-KR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AI </a:t>
            </a:r>
            <a:r>
              <a:rPr lang="ko-KR" altLang="en-US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사업자 책무 가이드 라인 </a:t>
            </a:r>
            <a:r>
              <a:rPr lang="en-US" altLang="ko-KR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안</a:t>
            </a:r>
            <a:r>
              <a:rPr lang="en-US" altLang="ko-KR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)</a:t>
            </a:r>
          </a:p>
        </p:txBody>
      </p:sp>
      <p:sp>
        <p:nvSpPr>
          <p:cNvPr id="17" name="사각형: 둥근 모서리 20">
            <a:extLst>
              <a:ext uri="{FF2B5EF4-FFF2-40B4-BE49-F238E27FC236}">
                <a16:creationId xmlns:a16="http://schemas.microsoft.com/office/drawing/2014/main" id="{974A49B0-4B90-5ACF-73B5-605D80677592}"/>
              </a:ext>
            </a:extLst>
          </p:cNvPr>
          <p:cNvSpPr/>
          <p:nvPr/>
        </p:nvSpPr>
        <p:spPr>
          <a:xfrm>
            <a:off x="1064078" y="5576987"/>
            <a:ext cx="1968608" cy="25710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AI</a:t>
            </a:r>
            <a:r>
              <a:rPr lang="ko-KR" altLang="en-US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안전성 확보 가이드 라인 </a:t>
            </a:r>
            <a:r>
              <a:rPr lang="en-US" altLang="ko-KR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안</a:t>
            </a:r>
            <a:r>
              <a:rPr lang="en-US" altLang="ko-KR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000" b="1" spc="-15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sp>
        <p:nvSpPr>
          <p:cNvPr id="18" name="사각형: 둥근 모서리 20">
            <a:extLst>
              <a:ext uri="{FF2B5EF4-FFF2-40B4-BE49-F238E27FC236}">
                <a16:creationId xmlns:a16="http://schemas.microsoft.com/office/drawing/2014/main" id="{8FE00F52-4743-1D3C-4F49-9A57447466F3}"/>
              </a:ext>
            </a:extLst>
          </p:cNvPr>
          <p:cNvSpPr/>
          <p:nvPr/>
        </p:nvSpPr>
        <p:spPr>
          <a:xfrm>
            <a:off x="1064078" y="5922243"/>
            <a:ext cx="1968608" cy="25710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고영향 </a:t>
            </a:r>
            <a:r>
              <a:rPr lang="en-US" altLang="ko-KR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AI </a:t>
            </a:r>
            <a:r>
              <a:rPr lang="ko-KR" altLang="en-US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판단 가이드 라인 </a:t>
            </a:r>
            <a:r>
              <a:rPr lang="en-US" altLang="ko-KR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안</a:t>
            </a:r>
            <a:r>
              <a:rPr lang="en-US" altLang="ko-KR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000" b="1" spc="-15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sp>
        <p:nvSpPr>
          <p:cNvPr id="19" name="사각형: 둥근 모서리 20">
            <a:extLst>
              <a:ext uri="{FF2B5EF4-FFF2-40B4-BE49-F238E27FC236}">
                <a16:creationId xmlns:a16="http://schemas.microsoft.com/office/drawing/2014/main" id="{685EB7FC-2DF2-B10B-C7D3-7C8455FA38FF}"/>
              </a:ext>
            </a:extLst>
          </p:cNvPr>
          <p:cNvSpPr/>
          <p:nvPr/>
        </p:nvSpPr>
        <p:spPr>
          <a:xfrm>
            <a:off x="1064078" y="6267504"/>
            <a:ext cx="1968608" cy="25710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AI </a:t>
            </a:r>
            <a:r>
              <a:rPr lang="ko-KR" altLang="en-US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영향평가 가이드 라인 </a:t>
            </a:r>
            <a:r>
              <a:rPr lang="en-US" altLang="ko-KR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안</a:t>
            </a:r>
            <a:r>
              <a:rPr lang="en-US" altLang="ko-KR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000" b="1" spc="-15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sp>
        <p:nvSpPr>
          <p:cNvPr id="20" name="사각형: 둥근 모서리 20">
            <a:extLst>
              <a:ext uri="{FF2B5EF4-FFF2-40B4-BE49-F238E27FC236}">
                <a16:creationId xmlns:a16="http://schemas.microsoft.com/office/drawing/2014/main" id="{AC3A0F11-788C-19F5-990A-4A138BDCDD40}"/>
              </a:ext>
            </a:extLst>
          </p:cNvPr>
          <p:cNvSpPr/>
          <p:nvPr/>
        </p:nvSpPr>
        <p:spPr>
          <a:xfrm>
            <a:off x="334964" y="3505450"/>
            <a:ext cx="656203" cy="602361"/>
          </a:xfrm>
          <a:prstGeom prst="roundRect">
            <a:avLst>
              <a:gd name="adj" fmla="val 0"/>
            </a:avLst>
          </a:prstGeom>
          <a:solidFill>
            <a:srgbClr val="7F7F7F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기타 </a:t>
            </a:r>
            <a:br>
              <a:rPr lang="en-US" altLang="ko-KR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</a:br>
            <a:r>
              <a:rPr lang="en-US" altLang="ko-KR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2</a:t>
            </a:r>
            <a:r>
              <a:rPr lang="ko-KR" altLang="en-US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종</a:t>
            </a:r>
            <a:endParaRPr lang="en" altLang="ko-KR" sz="1200" b="1" spc="-15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1CB8FF57-61FD-E22E-E6CC-15F585EDCC91}"/>
              </a:ext>
            </a:extLst>
          </p:cNvPr>
          <p:cNvSpPr/>
          <p:nvPr/>
        </p:nvSpPr>
        <p:spPr>
          <a:xfrm>
            <a:off x="1064078" y="3505450"/>
            <a:ext cx="1968608" cy="25710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신용정보법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A2A5C799-68F2-F6C7-77E8-A129CFB1AEF9}"/>
              </a:ext>
            </a:extLst>
          </p:cNvPr>
          <p:cNvSpPr/>
          <p:nvPr/>
        </p:nvSpPr>
        <p:spPr>
          <a:xfrm>
            <a:off x="1064078" y="3850706"/>
            <a:ext cx="1968608" cy="25710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개인정보 보호법</a:t>
            </a:r>
          </a:p>
        </p:txBody>
      </p:sp>
      <p:sp>
        <p:nvSpPr>
          <p:cNvPr id="23" name="사각형: 둥근 모서리 20">
            <a:extLst>
              <a:ext uri="{FF2B5EF4-FFF2-40B4-BE49-F238E27FC236}">
                <a16:creationId xmlns:a16="http://schemas.microsoft.com/office/drawing/2014/main" id="{110F5809-F487-10EE-B7F5-A82F02E79116}"/>
              </a:ext>
            </a:extLst>
          </p:cNvPr>
          <p:cNvSpPr/>
          <p:nvPr/>
        </p:nvSpPr>
        <p:spPr>
          <a:xfrm>
            <a:off x="1064078" y="4541218"/>
            <a:ext cx="1968608" cy="25710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안전성 확보 고시</a:t>
            </a:r>
            <a:r>
              <a:rPr lang="en-US" altLang="ko-KR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안</a:t>
            </a:r>
            <a:r>
              <a:rPr lang="en-US" altLang="ko-KR" sz="10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)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EA3E2974-ECC4-6AF5-57E3-7815903D2AB0}"/>
              </a:ext>
            </a:extLst>
          </p:cNvPr>
          <p:cNvSpPr/>
          <p:nvPr/>
        </p:nvSpPr>
        <p:spPr>
          <a:xfrm>
            <a:off x="334964" y="1736723"/>
            <a:ext cx="2697722" cy="311339"/>
          </a:xfrm>
          <a:prstGeom prst="roundRect">
            <a:avLst>
              <a:gd name="adj" fmla="val 0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구분</a:t>
            </a:r>
            <a:endParaRPr lang="en" altLang="ko-KR" sz="1200" b="1">
              <a:ln>
                <a:solidFill>
                  <a:schemeClr val="bg1"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25" name="사각형: 둥근 모서리 20">
            <a:extLst>
              <a:ext uri="{FF2B5EF4-FFF2-40B4-BE49-F238E27FC236}">
                <a16:creationId xmlns:a16="http://schemas.microsoft.com/office/drawing/2014/main" id="{374309AE-E59B-C251-7E11-952E7F47E1B3}"/>
              </a:ext>
            </a:extLst>
          </p:cNvPr>
          <p:cNvSpPr/>
          <p:nvPr/>
        </p:nvSpPr>
        <p:spPr>
          <a:xfrm>
            <a:off x="3105598" y="1736723"/>
            <a:ext cx="874937" cy="311339"/>
          </a:xfrm>
          <a:prstGeom prst="roundRect">
            <a:avLst>
              <a:gd name="adj" fmla="val 0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분석</a:t>
            </a:r>
            <a:endParaRPr lang="en" altLang="ko-KR" sz="1200" b="1">
              <a:ln>
                <a:solidFill>
                  <a:schemeClr val="bg1"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26" name="사각형: 둥근 모서리 20">
            <a:extLst>
              <a:ext uri="{FF2B5EF4-FFF2-40B4-BE49-F238E27FC236}">
                <a16:creationId xmlns:a16="http://schemas.microsoft.com/office/drawing/2014/main" id="{1435AF3B-CC41-5B42-F3F3-9101E8FB2AF6}"/>
              </a:ext>
            </a:extLst>
          </p:cNvPr>
          <p:cNvSpPr/>
          <p:nvPr/>
        </p:nvSpPr>
        <p:spPr>
          <a:xfrm>
            <a:off x="3105598" y="2124426"/>
            <a:ext cx="874937" cy="25710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200" i="1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rPr>
              <a:t>旣 완료</a:t>
            </a:r>
            <a:endParaRPr kumimoji="1" lang="en" altLang="ko-KR" sz="1200" i="1" kern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7" name="사각형: 둥근 모서리 20">
            <a:extLst>
              <a:ext uri="{FF2B5EF4-FFF2-40B4-BE49-F238E27FC236}">
                <a16:creationId xmlns:a16="http://schemas.microsoft.com/office/drawing/2014/main" id="{44F3DE6E-9B44-6E79-39E4-1796C878632D}"/>
              </a:ext>
            </a:extLst>
          </p:cNvPr>
          <p:cNvSpPr/>
          <p:nvPr/>
        </p:nvSpPr>
        <p:spPr>
          <a:xfrm>
            <a:off x="3105598" y="2469682"/>
            <a:ext cx="874937" cy="25710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200" i="1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rPr>
              <a:t>旣 완료</a:t>
            </a:r>
            <a:endParaRPr kumimoji="1" lang="en" altLang="ko-KR" sz="1200" i="1" kern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8" name="사각형: 둥근 모서리 20">
            <a:extLst>
              <a:ext uri="{FF2B5EF4-FFF2-40B4-BE49-F238E27FC236}">
                <a16:creationId xmlns:a16="http://schemas.microsoft.com/office/drawing/2014/main" id="{D6AC98FB-F65B-B661-29ED-281430AD0BA3}"/>
              </a:ext>
            </a:extLst>
          </p:cNvPr>
          <p:cNvSpPr/>
          <p:nvPr/>
        </p:nvSpPr>
        <p:spPr>
          <a:xfrm>
            <a:off x="3105598" y="2814937"/>
            <a:ext cx="874937" cy="25710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200" i="1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rPr>
              <a:t>旣 완료</a:t>
            </a:r>
            <a:endParaRPr kumimoji="1" lang="en" altLang="ko-KR" sz="1200" i="1" kern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9" name="사각형: 둥근 모서리 20">
            <a:extLst>
              <a:ext uri="{FF2B5EF4-FFF2-40B4-BE49-F238E27FC236}">
                <a16:creationId xmlns:a16="http://schemas.microsoft.com/office/drawing/2014/main" id="{566F7560-2040-CD7A-202B-1EA8F81E473A}"/>
              </a:ext>
            </a:extLst>
          </p:cNvPr>
          <p:cNvSpPr/>
          <p:nvPr/>
        </p:nvSpPr>
        <p:spPr>
          <a:xfrm>
            <a:off x="3105598" y="3160193"/>
            <a:ext cx="874937" cy="25710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200" i="1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rPr>
              <a:t>旣 완료</a:t>
            </a:r>
            <a:endParaRPr kumimoji="1" lang="en" altLang="ko-KR" sz="1200" i="1" kern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30" name="사각형: 둥근 모서리 20">
            <a:extLst>
              <a:ext uri="{FF2B5EF4-FFF2-40B4-BE49-F238E27FC236}">
                <a16:creationId xmlns:a16="http://schemas.microsoft.com/office/drawing/2014/main" id="{BBE7C59E-F7AB-6EE5-DAC3-F218862EEC95}"/>
              </a:ext>
            </a:extLst>
          </p:cNvPr>
          <p:cNvSpPr/>
          <p:nvPr/>
        </p:nvSpPr>
        <p:spPr>
          <a:xfrm>
            <a:off x="3105598" y="4195962"/>
            <a:ext cx="874937" cy="25710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200" ker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진행 완료</a:t>
            </a:r>
            <a:endParaRPr kumimoji="1" lang="en" altLang="ko-KR" sz="1200" kern="0">
              <a:ln>
                <a:solidFill>
                  <a:prstClr val="white">
                    <a:alpha val="0"/>
                  </a:prstClr>
                </a:solidFill>
              </a:ln>
              <a:latin typeface="+mn-ea"/>
            </a:endParaRPr>
          </a:p>
        </p:txBody>
      </p:sp>
      <p:sp>
        <p:nvSpPr>
          <p:cNvPr id="31" name="사각형: 둥근 모서리 20">
            <a:extLst>
              <a:ext uri="{FF2B5EF4-FFF2-40B4-BE49-F238E27FC236}">
                <a16:creationId xmlns:a16="http://schemas.microsoft.com/office/drawing/2014/main" id="{69E19964-D435-A923-56D3-72C5911B65F9}"/>
              </a:ext>
            </a:extLst>
          </p:cNvPr>
          <p:cNvSpPr/>
          <p:nvPr/>
        </p:nvSpPr>
        <p:spPr>
          <a:xfrm>
            <a:off x="3105598" y="4886475"/>
            <a:ext cx="874937" cy="25710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200" ker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진행 완료</a:t>
            </a:r>
            <a:endParaRPr kumimoji="1" lang="en" altLang="ko-KR" sz="1200" kern="0">
              <a:ln>
                <a:solidFill>
                  <a:prstClr val="white">
                    <a:alpha val="0"/>
                  </a:prstClr>
                </a:solidFill>
              </a:ln>
              <a:latin typeface="+mn-ea"/>
            </a:endParaRPr>
          </a:p>
        </p:txBody>
      </p:sp>
      <p:sp>
        <p:nvSpPr>
          <p:cNvPr id="32" name="사각형: 둥근 모서리 20">
            <a:extLst>
              <a:ext uri="{FF2B5EF4-FFF2-40B4-BE49-F238E27FC236}">
                <a16:creationId xmlns:a16="http://schemas.microsoft.com/office/drawing/2014/main" id="{370E0F05-A450-5CE5-0158-E932CA2D7DB3}"/>
              </a:ext>
            </a:extLst>
          </p:cNvPr>
          <p:cNvSpPr/>
          <p:nvPr/>
        </p:nvSpPr>
        <p:spPr>
          <a:xfrm>
            <a:off x="3105598" y="5576987"/>
            <a:ext cx="874937" cy="25710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200" ker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진행 완료</a:t>
            </a:r>
            <a:endParaRPr kumimoji="1" lang="en" altLang="ko-KR" sz="1200" kern="0">
              <a:ln>
                <a:solidFill>
                  <a:prstClr val="white">
                    <a:alpha val="0"/>
                  </a:prstClr>
                </a:solidFill>
              </a:ln>
              <a:latin typeface="+mn-ea"/>
            </a:endParaRPr>
          </a:p>
        </p:txBody>
      </p:sp>
      <p:sp>
        <p:nvSpPr>
          <p:cNvPr id="33" name="사각형: 둥근 모서리 20">
            <a:extLst>
              <a:ext uri="{FF2B5EF4-FFF2-40B4-BE49-F238E27FC236}">
                <a16:creationId xmlns:a16="http://schemas.microsoft.com/office/drawing/2014/main" id="{F2F689AF-7DF9-6C99-6333-00F70C102AC1}"/>
              </a:ext>
            </a:extLst>
          </p:cNvPr>
          <p:cNvSpPr/>
          <p:nvPr/>
        </p:nvSpPr>
        <p:spPr>
          <a:xfrm>
            <a:off x="3105598" y="6267504"/>
            <a:ext cx="874937" cy="25710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200" ker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진행 완료</a:t>
            </a:r>
            <a:endParaRPr kumimoji="1" lang="en" altLang="ko-KR" sz="1200" kern="0">
              <a:ln>
                <a:solidFill>
                  <a:prstClr val="white">
                    <a:alpha val="0"/>
                  </a:prstClr>
                </a:solidFill>
              </a:ln>
              <a:latin typeface="+mn-ea"/>
            </a:endParaRPr>
          </a:p>
        </p:txBody>
      </p:sp>
      <p:sp>
        <p:nvSpPr>
          <p:cNvPr id="34" name="사각형: 둥근 모서리 20">
            <a:extLst>
              <a:ext uri="{FF2B5EF4-FFF2-40B4-BE49-F238E27FC236}">
                <a16:creationId xmlns:a16="http://schemas.microsoft.com/office/drawing/2014/main" id="{C55F3407-91C1-CF94-2404-A29FECB337A0}"/>
              </a:ext>
            </a:extLst>
          </p:cNvPr>
          <p:cNvSpPr/>
          <p:nvPr/>
        </p:nvSpPr>
        <p:spPr>
          <a:xfrm>
            <a:off x="3105598" y="5922243"/>
            <a:ext cx="874937" cy="25710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200" ker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진행 완료</a:t>
            </a:r>
            <a:endParaRPr kumimoji="1" lang="en" altLang="ko-KR" sz="1200" kern="0">
              <a:ln>
                <a:solidFill>
                  <a:prstClr val="white">
                    <a:alpha val="0"/>
                  </a:prstClr>
                </a:solidFill>
              </a:ln>
              <a:latin typeface="+mn-ea"/>
            </a:endParaRPr>
          </a:p>
        </p:txBody>
      </p:sp>
      <p:sp>
        <p:nvSpPr>
          <p:cNvPr id="35" name="사각형: 둥근 모서리 20">
            <a:extLst>
              <a:ext uri="{FF2B5EF4-FFF2-40B4-BE49-F238E27FC236}">
                <a16:creationId xmlns:a16="http://schemas.microsoft.com/office/drawing/2014/main" id="{1EE50C1A-FEEA-0C66-4027-70824765390C}"/>
              </a:ext>
            </a:extLst>
          </p:cNvPr>
          <p:cNvSpPr/>
          <p:nvPr/>
        </p:nvSpPr>
        <p:spPr>
          <a:xfrm>
            <a:off x="3105598" y="4541218"/>
            <a:ext cx="874937" cy="25710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200" ker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진행 완료</a:t>
            </a:r>
            <a:endParaRPr kumimoji="1" lang="en" altLang="ko-KR" sz="1200" kern="0">
              <a:ln>
                <a:solidFill>
                  <a:prstClr val="white">
                    <a:alpha val="0"/>
                  </a:prstClr>
                </a:solidFill>
              </a:ln>
              <a:latin typeface="+mn-ea"/>
            </a:endParaRPr>
          </a:p>
        </p:txBody>
      </p:sp>
      <p:sp>
        <p:nvSpPr>
          <p:cNvPr id="36" name="사각형: 둥근 모서리 20">
            <a:extLst>
              <a:ext uri="{FF2B5EF4-FFF2-40B4-BE49-F238E27FC236}">
                <a16:creationId xmlns:a16="http://schemas.microsoft.com/office/drawing/2014/main" id="{C9FF35E3-09FE-3822-3348-B59B09F01232}"/>
              </a:ext>
            </a:extLst>
          </p:cNvPr>
          <p:cNvSpPr/>
          <p:nvPr/>
        </p:nvSpPr>
        <p:spPr>
          <a:xfrm>
            <a:off x="3105598" y="3505450"/>
            <a:ext cx="874937" cy="25710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200" i="1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rPr>
              <a:t>旣 완료</a:t>
            </a:r>
            <a:endParaRPr kumimoji="1" lang="en" altLang="ko-KR" sz="1200" i="1" kern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A42280A3-31DD-4484-0E8F-81A04666101A}"/>
              </a:ext>
            </a:extLst>
          </p:cNvPr>
          <p:cNvSpPr/>
          <p:nvPr/>
        </p:nvSpPr>
        <p:spPr>
          <a:xfrm>
            <a:off x="3105598" y="3850706"/>
            <a:ext cx="874937" cy="25710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200" i="1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rPr>
              <a:t>旣 완료</a:t>
            </a:r>
            <a:endParaRPr kumimoji="1" lang="en" altLang="ko-KR" sz="1200" i="1" kern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38" name="사각형: 둥근 모서리 20">
            <a:extLst>
              <a:ext uri="{FF2B5EF4-FFF2-40B4-BE49-F238E27FC236}">
                <a16:creationId xmlns:a16="http://schemas.microsoft.com/office/drawing/2014/main" id="{C9FD5F0B-617F-04E0-7DAE-3B483C25CEF5}"/>
              </a:ext>
            </a:extLst>
          </p:cNvPr>
          <p:cNvSpPr/>
          <p:nvPr/>
        </p:nvSpPr>
        <p:spPr>
          <a:xfrm>
            <a:off x="3105598" y="5231731"/>
            <a:ext cx="874937" cy="25710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200" ker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진행 완료</a:t>
            </a:r>
            <a:endParaRPr kumimoji="1" lang="en" altLang="ko-KR" sz="1200" kern="0">
              <a:ln>
                <a:solidFill>
                  <a:prstClr val="white">
                    <a:alpha val="0"/>
                  </a:prstClr>
                </a:solidFill>
              </a:ln>
              <a:latin typeface="+mn-ea"/>
            </a:endParaRPr>
          </a:p>
        </p:txBody>
      </p:sp>
      <p:sp>
        <p:nvSpPr>
          <p:cNvPr id="39" name="사각형: 둥근 모서리 20">
            <a:extLst>
              <a:ext uri="{FF2B5EF4-FFF2-40B4-BE49-F238E27FC236}">
                <a16:creationId xmlns:a16="http://schemas.microsoft.com/office/drawing/2014/main" id="{88DB6680-A8E3-04CF-459A-008471C4A3D1}"/>
              </a:ext>
            </a:extLst>
          </p:cNvPr>
          <p:cNvSpPr/>
          <p:nvPr/>
        </p:nvSpPr>
        <p:spPr>
          <a:xfrm>
            <a:off x="4016990" y="1736723"/>
            <a:ext cx="874937" cy="311339"/>
          </a:xfrm>
          <a:prstGeom prst="roundRect">
            <a:avLst>
              <a:gd name="adj" fmla="val 0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매핑</a:t>
            </a:r>
            <a:endParaRPr lang="en" altLang="ko-KR" sz="1200" b="1">
              <a:ln>
                <a:solidFill>
                  <a:schemeClr val="bg1"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40" name="사각형: 둥근 모서리 20">
            <a:extLst>
              <a:ext uri="{FF2B5EF4-FFF2-40B4-BE49-F238E27FC236}">
                <a16:creationId xmlns:a16="http://schemas.microsoft.com/office/drawing/2014/main" id="{23A3D934-FA85-843C-6E8C-219596490BB2}"/>
              </a:ext>
            </a:extLst>
          </p:cNvPr>
          <p:cNvSpPr/>
          <p:nvPr/>
        </p:nvSpPr>
        <p:spPr>
          <a:xfrm>
            <a:off x="4016990" y="2124426"/>
            <a:ext cx="874937" cy="25710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200" i="1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rPr>
              <a:t>旣 완료</a:t>
            </a:r>
            <a:endParaRPr kumimoji="1" lang="en" altLang="ko-KR" sz="1200" i="1" kern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41" name="사각형: 둥근 모서리 20">
            <a:extLst>
              <a:ext uri="{FF2B5EF4-FFF2-40B4-BE49-F238E27FC236}">
                <a16:creationId xmlns:a16="http://schemas.microsoft.com/office/drawing/2014/main" id="{5BF7C92B-1DFC-B5B8-B277-427A1107EDF1}"/>
              </a:ext>
            </a:extLst>
          </p:cNvPr>
          <p:cNvSpPr/>
          <p:nvPr/>
        </p:nvSpPr>
        <p:spPr>
          <a:xfrm>
            <a:off x="4016990" y="2469682"/>
            <a:ext cx="874937" cy="25710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200" i="1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rPr>
              <a:t>旣 완료</a:t>
            </a:r>
            <a:endParaRPr kumimoji="1" lang="en" altLang="ko-KR" sz="1200" i="1" kern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42" name="사각형: 둥근 모서리 20">
            <a:extLst>
              <a:ext uri="{FF2B5EF4-FFF2-40B4-BE49-F238E27FC236}">
                <a16:creationId xmlns:a16="http://schemas.microsoft.com/office/drawing/2014/main" id="{E2FB1EB7-15A4-58F2-002F-EA330EC5977E}"/>
              </a:ext>
            </a:extLst>
          </p:cNvPr>
          <p:cNvSpPr/>
          <p:nvPr/>
        </p:nvSpPr>
        <p:spPr>
          <a:xfrm>
            <a:off x="4016990" y="2814937"/>
            <a:ext cx="874937" cy="25710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200" i="1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rPr>
              <a:t>旣 완료</a:t>
            </a:r>
            <a:endParaRPr kumimoji="1" lang="en" altLang="ko-KR" sz="1200" i="1" kern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43" name="사각형: 둥근 모서리 20">
            <a:extLst>
              <a:ext uri="{FF2B5EF4-FFF2-40B4-BE49-F238E27FC236}">
                <a16:creationId xmlns:a16="http://schemas.microsoft.com/office/drawing/2014/main" id="{B1705362-412F-473B-0E1D-D540099465FB}"/>
              </a:ext>
            </a:extLst>
          </p:cNvPr>
          <p:cNvSpPr/>
          <p:nvPr/>
        </p:nvSpPr>
        <p:spPr>
          <a:xfrm>
            <a:off x="4016990" y="3160193"/>
            <a:ext cx="874937" cy="25710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200" i="1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rPr>
              <a:t>旣 완료</a:t>
            </a:r>
            <a:endParaRPr kumimoji="1" lang="en" altLang="ko-KR" sz="1200" i="1" kern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44" name="사각형: 둥근 모서리 20">
            <a:extLst>
              <a:ext uri="{FF2B5EF4-FFF2-40B4-BE49-F238E27FC236}">
                <a16:creationId xmlns:a16="http://schemas.microsoft.com/office/drawing/2014/main" id="{F863C5E7-D108-D615-5BFF-1C388AF69F8A}"/>
              </a:ext>
            </a:extLst>
          </p:cNvPr>
          <p:cNvSpPr/>
          <p:nvPr/>
        </p:nvSpPr>
        <p:spPr>
          <a:xfrm>
            <a:off x="4016990" y="4195962"/>
            <a:ext cx="874937" cy="25710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200" ker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진행 완료</a:t>
            </a:r>
            <a:endParaRPr kumimoji="1" lang="en" altLang="ko-KR" sz="1200" kern="0">
              <a:ln>
                <a:solidFill>
                  <a:prstClr val="white">
                    <a:alpha val="0"/>
                  </a:prstClr>
                </a:solidFill>
              </a:ln>
              <a:latin typeface="+mn-ea"/>
            </a:endParaRPr>
          </a:p>
        </p:txBody>
      </p:sp>
      <p:sp>
        <p:nvSpPr>
          <p:cNvPr id="45" name="사각형: 둥근 모서리 20">
            <a:extLst>
              <a:ext uri="{FF2B5EF4-FFF2-40B4-BE49-F238E27FC236}">
                <a16:creationId xmlns:a16="http://schemas.microsoft.com/office/drawing/2014/main" id="{18E11FAD-2BAE-54DE-B93F-E76C23B4F838}"/>
              </a:ext>
            </a:extLst>
          </p:cNvPr>
          <p:cNvSpPr/>
          <p:nvPr/>
        </p:nvSpPr>
        <p:spPr>
          <a:xfrm>
            <a:off x="4016990" y="4886475"/>
            <a:ext cx="874937" cy="25710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200" ker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진행 완료</a:t>
            </a:r>
            <a:endParaRPr kumimoji="1" lang="en" altLang="ko-KR" sz="1200" kern="0">
              <a:ln>
                <a:solidFill>
                  <a:prstClr val="white">
                    <a:alpha val="0"/>
                  </a:prstClr>
                </a:solidFill>
              </a:ln>
              <a:latin typeface="+mn-ea"/>
            </a:endParaRPr>
          </a:p>
        </p:txBody>
      </p:sp>
      <p:sp>
        <p:nvSpPr>
          <p:cNvPr id="46" name="사각형: 둥근 모서리 20">
            <a:extLst>
              <a:ext uri="{FF2B5EF4-FFF2-40B4-BE49-F238E27FC236}">
                <a16:creationId xmlns:a16="http://schemas.microsoft.com/office/drawing/2014/main" id="{22493355-6140-4538-4E99-BF398B6FD39F}"/>
              </a:ext>
            </a:extLst>
          </p:cNvPr>
          <p:cNvSpPr/>
          <p:nvPr/>
        </p:nvSpPr>
        <p:spPr>
          <a:xfrm>
            <a:off x="4016990" y="5576987"/>
            <a:ext cx="874937" cy="25710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200" ker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진행 완료</a:t>
            </a:r>
            <a:endParaRPr kumimoji="1" lang="en" altLang="ko-KR" sz="1200" kern="0">
              <a:ln>
                <a:solidFill>
                  <a:prstClr val="white">
                    <a:alpha val="0"/>
                  </a:prstClr>
                </a:solidFill>
              </a:ln>
              <a:latin typeface="+mn-ea"/>
            </a:endParaRPr>
          </a:p>
        </p:txBody>
      </p:sp>
      <p:sp>
        <p:nvSpPr>
          <p:cNvPr id="47" name="사각형: 둥근 모서리 20">
            <a:extLst>
              <a:ext uri="{FF2B5EF4-FFF2-40B4-BE49-F238E27FC236}">
                <a16:creationId xmlns:a16="http://schemas.microsoft.com/office/drawing/2014/main" id="{039BA3EA-31F8-358C-2C9D-E52975E2A62F}"/>
              </a:ext>
            </a:extLst>
          </p:cNvPr>
          <p:cNvSpPr/>
          <p:nvPr/>
        </p:nvSpPr>
        <p:spPr>
          <a:xfrm>
            <a:off x="4016990" y="6267504"/>
            <a:ext cx="874937" cy="25710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200" ker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진행 완료</a:t>
            </a:r>
            <a:endParaRPr kumimoji="1" lang="en" altLang="ko-KR" sz="1200" kern="0">
              <a:ln>
                <a:solidFill>
                  <a:prstClr val="white">
                    <a:alpha val="0"/>
                  </a:prstClr>
                </a:solidFill>
              </a:ln>
              <a:latin typeface="+mn-ea"/>
            </a:endParaRPr>
          </a:p>
        </p:txBody>
      </p:sp>
      <p:sp>
        <p:nvSpPr>
          <p:cNvPr id="48" name="사각형: 둥근 모서리 20">
            <a:extLst>
              <a:ext uri="{FF2B5EF4-FFF2-40B4-BE49-F238E27FC236}">
                <a16:creationId xmlns:a16="http://schemas.microsoft.com/office/drawing/2014/main" id="{066592C7-1B1F-B946-30AE-44A3E7872433}"/>
              </a:ext>
            </a:extLst>
          </p:cNvPr>
          <p:cNvSpPr/>
          <p:nvPr/>
        </p:nvSpPr>
        <p:spPr>
          <a:xfrm>
            <a:off x="4016990" y="5922243"/>
            <a:ext cx="874937" cy="25710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200" ker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진행 완료</a:t>
            </a:r>
            <a:endParaRPr kumimoji="1" lang="en" altLang="ko-KR" sz="1200" kern="0">
              <a:ln>
                <a:solidFill>
                  <a:prstClr val="white">
                    <a:alpha val="0"/>
                  </a:prstClr>
                </a:solidFill>
              </a:ln>
              <a:latin typeface="+mn-ea"/>
            </a:endParaRPr>
          </a:p>
        </p:txBody>
      </p:sp>
      <p:sp>
        <p:nvSpPr>
          <p:cNvPr id="49" name="사각형: 둥근 모서리 20">
            <a:extLst>
              <a:ext uri="{FF2B5EF4-FFF2-40B4-BE49-F238E27FC236}">
                <a16:creationId xmlns:a16="http://schemas.microsoft.com/office/drawing/2014/main" id="{905EE72C-23BA-93F0-0117-F526FC17E8E0}"/>
              </a:ext>
            </a:extLst>
          </p:cNvPr>
          <p:cNvSpPr/>
          <p:nvPr/>
        </p:nvSpPr>
        <p:spPr>
          <a:xfrm>
            <a:off x="4016990" y="4541218"/>
            <a:ext cx="874937" cy="25710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200" ker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진행 완료</a:t>
            </a:r>
            <a:endParaRPr kumimoji="1" lang="en" altLang="ko-KR" sz="1200" kern="0">
              <a:ln>
                <a:solidFill>
                  <a:prstClr val="white">
                    <a:alpha val="0"/>
                  </a:prstClr>
                </a:solidFill>
              </a:ln>
              <a:latin typeface="+mn-ea"/>
            </a:endParaRPr>
          </a:p>
        </p:txBody>
      </p:sp>
      <p:sp>
        <p:nvSpPr>
          <p:cNvPr id="50" name="사각형: 둥근 모서리 20">
            <a:extLst>
              <a:ext uri="{FF2B5EF4-FFF2-40B4-BE49-F238E27FC236}">
                <a16:creationId xmlns:a16="http://schemas.microsoft.com/office/drawing/2014/main" id="{4BE8FDB6-D4E9-270D-3F46-5A4C814EFDCF}"/>
              </a:ext>
            </a:extLst>
          </p:cNvPr>
          <p:cNvSpPr/>
          <p:nvPr/>
        </p:nvSpPr>
        <p:spPr>
          <a:xfrm>
            <a:off x="4016990" y="3505450"/>
            <a:ext cx="874937" cy="25710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200" i="1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rPr>
              <a:t>旣 완료</a:t>
            </a:r>
            <a:endParaRPr kumimoji="1" lang="en" altLang="ko-KR" sz="1200" i="1" kern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7F06C189-755F-1D07-957C-DE566D4C1ED2}"/>
              </a:ext>
            </a:extLst>
          </p:cNvPr>
          <p:cNvSpPr/>
          <p:nvPr/>
        </p:nvSpPr>
        <p:spPr>
          <a:xfrm>
            <a:off x="4016990" y="3850706"/>
            <a:ext cx="874937" cy="25710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200" i="1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rPr>
              <a:t>旣 완료</a:t>
            </a:r>
            <a:endParaRPr kumimoji="1" lang="en" altLang="ko-KR" sz="1200" i="1" kern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52" name="사각형: 둥근 모서리 20">
            <a:extLst>
              <a:ext uri="{FF2B5EF4-FFF2-40B4-BE49-F238E27FC236}">
                <a16:creationId xmlns:a16="http://schemas.microsoft.com/office/drawing/2014/main" id="{232339DD-318B-4271-929A-D5BCE0DBD2A2}"/>
              </a:ext>
            </a:extLst>
          </p:cNvPr>
          <p:cNvSpPr/>
          <p:nvPr/>
        </p:nvSpPr>
        <p:spPr>
          <a:xfrm>
            <a:off x="4016990" y="5231731"/>
            <a:ext cx="874937" cy="25710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200" ker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진행 완료</a:t>
            </a:r>
            <a:endParaRPr kumimoji="1" lang="en" altLang="ko-KR" sz="1200" kern="0">
              <a:ln>
                <a:solidFill>
                  <a:prstClr val="white">
                    <a:alpha val="0"/>
                  </a:prstClr>
                </a:solidFill>
              </a:ln>
              <a:latin typeface="+mn-ea"/>
            </a:endParaRPr>
          </a:p>
        </p:txBody>
      </p:sp>
      <p:sp>
        <p:nvSpPr>
          <p:cNvPr id="53" name="사각형: 둥근 모서리 20">
            <a:extLst>
              <a:ext uri="{FF2B5EF4-FFF2-40B4-BE49-F238E27FC236}">
                <a16:creationId xmlns:a16="http://schemas.microsoft.com/office/drawing/2014/main" id="{8C2FA30A-611C-37E4-952F-00B866D48BD5}"/>
              </a:ext>
            </a:extLst>
          </p:cNvPr>
          <p:cNvSpPr/>
          <p:nvPr/>
        </p:nvSpPr>
        <p:spPr>
          <a:xfrm>
            <a:off x="4928383" y="1736723"/>
            <a:ext cx="874937" cy="311339"/>
          </a:xfrm>
          <a:prstGeom prst="roundRect">
            <a:avLst>
              <a:gd name="adj" fmla="val 0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반영</a:t>
            </a:r>
            <a:endParaRPr lang="en" altLang="ko-KR" sz="1200" b="1">
              <a:ln>
                <a:solidFill>
                  <a:schemeClr val="bg1"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54" name="사각형: 둥근 모서리 20">
            <a:extLst>
              <a:ext uri="{FF2B5EF4-FFF2-40B4-BE49-F238E27FC236}">
                <a16:creationId xmlns:a16="http://schemas.microsoft.com/office/drawing/2014/main" id="{3F662741-A369-BC26-3319-38AFE7D6DFDE}"/>
              </a:ext>
            </a:extLst>
          </p:cNvPr>
          <p:cNvSpPr/>
          <p:nvPr/>
        </p:nvSpPr>
        <p:spPr>
          <a:xfrm>
            <a:off x="4928383" y="2124426"/>
            <a:ext cx="874937" cy="25710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200" i="1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rPr>
              <a:t>旣 완료</a:t>
            </a:r>
            <a:endParaRPr kumimoji="1" lang="en" altLang="ko-KR" sz="1200" i="1" kern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55" name="사각형: 둥근 모서리 20">
            <a:extLst>
              <a:ext uri="{FF2B5EF4-FFF2-40B4-BE49-F238E27FC236}">
                <a16:creationId xmlns:a16="http://schemas.microsoft.com/office/drawing/2014/main" id="{1F220F55-05AE-34A5-FFC7-79A53406547A}"/>
              </a:ext>
            </a:extLst>
          </p:cNvPr>
          <p:cNvSpPr/>
          <p:nvPr/>
        </p:nvSpPr>
        <p:spPr>
          <a:xfrm>
            <a:off x="4928383" y="2469682"/>
            <a:ext cx="874937" cy="25710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200" i="1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rPr>
              <a:t>旣 완료</a:t>
            </a:r>
            <a:endParaRPr kumimoji="1" lang="en" altLang="ko-KR" sz="1200" i="1" kern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56" name="사각형: 둥근 모서리 20">
            <a:extLst>
              <a:ext uri="{FF2B5EF4-FFF2-40B4-BE49-F238E27FC236}">
                <a16:creationId xmlns:a16="http://schemas.microsoft.com/office/drawing/2014/main" id="{44DF0BBE-1A0F-6C2B-EA32-4F914F65553A}"/>
              </a:ext>
            </a:extLst>
          </p:cNvPr>
          <p:cNvSpPr/>
          <p:nvPr/>
        </p:nvSpPr>
        <p:spPr>
          <a:xfrm>
            <a:off x="4928383" y="2814937"/>
            <a:ext cx="874937" cy="25710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200" i="1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rPr>
              <a:t>旣 완료</a:t>
            </a:r>
            <a:endParaRPr kumimoji="1" lang="en" altLang="ko-KR" sz="1200" i="1" kern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57" name="사각형: 둥근 모서리 20">
            <a:extLst>
              <a:ext uri="{FF2B5EF4-FFF2-40B4-BE49-F238E27FC236}">
                <a16:creationId xmlns:a16="http://schemas.microsoft.com/office/drawing/2014/main" id="{C937BF67-4A66-3876-0621-126EEC1DB8DD}"/>
              </a:ext>
            </a:extLst>
          </p:cNvPr>
          <p:cNvSpPr/>
          <p:nvPr/>
        </p:nvSpPr>
        <p:spPr>
          <a:xfrm>
            <a:off x="4928383" y="3160193"/>
            <a:ext cx="874937" cy="25710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200" i="1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rPr>
              <a:t>旣 완료</a:t>
            </a:r>
            <a:endParaRPr kumimoji="1" lang="en" altLang="ko-KR" sz="1200" i="1" kern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58" name="사각형: 둥근 모서리 20">
            <a:extLst>
              <a:ext uri="{FF2B5EF4-FFF2-40B4-BE49-F238E27FC236}">
                <a16:creationId xmlns:a16="http://schemas.microsoft.com/office/drawing/2014/main" id="{3FEE2349-E24B-7E25-6FF4-C1350FA5EBBA}"/>
              </a:ext>
            </a:extLst>
          </p:cNvPr>
          <p:cNvSpPr/>
          <p:nvPr/>
        </p:nvSpPr>
        <p:spPr>
          <a:xfrm>
            <a:off x="4928383" y="4195962"/>
            <a:ext cx="874937" cy="25710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200" ker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진행 완료</a:t>
            </a:r>
            <a:endParaRPr kumimoji="1" lang="en" altLang="ko-KR" sz="1200" kern="0">
              <a:ln>
                <a:solidFill>
                  <a:prstClr val="white">
                    <a:alpha val="0"/>
                  </a:prstClr>
                </a:solidFill>
              </a:ln>
              <a:latin typeface="+mn-ea"/>
            </a:endParaRPr>
          </a:p>
        </p:txBody>
      </p:sp>
      <p:sp>
        <p:nvSpPr>
          <p:cNvPr id="59" name="사각형: 둥근 모서리 20">
            <a:extLst>
              <a:ext uri="{FF2B5EF4-FFF2-40B4-BE49-F238E27FC236}">
                <a16:creationId xmlns:a16="http://schemas.microsoft.com/office/drawing/2014/main" id="{6C34DBE0-A1BF-2251-949D-09BA6CA3B55A}"/>
              </a:ext>
            </a:extLst>
          </p:cNvPr>
          <p:cNvSpPr/>
          <p:nvPr/>
        </p:nvSpPr>
        <p:spPr>
          <a:xfrm>
            <a:off x="4928383" y="4886475"/>
            <a:ext cx="874937" cy="25710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200" ker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진행 완료</a:t>
            </a:r>
            <a:endParaRPr kumimoji="1" lang="en" altLang="ko-KR" sz="1200" kern="0">
              <a:ln>
                <a:solidFill>
                  <a:prstClr val="white">
                    <a:alpha val="0"/>
                  </a:prstClr>
                </a:solidFill>
              </a:ln>
              <a:latin typeface="+mn-ea"/>
            </a:endParaRPr>
          </a:p>
        </p:txBody>
      </p:sp>
      <p:sp>
        <p:nvSpPr>
          <p:cNvPr id="60" name="사각형: 둥근 모서리 20">
            <a:extLst>
              <a:ext uri="{FF2B5EF4-FFF2-40B4-BE49-F238E27FC236}">
                <a16:creationId xmlns:a16="http://schemas.microsoft.com/office/drawing/2014/main" id="{8FB933BB-4C39-2D08-E5E4-C0384DCD368B}"/>
              </a:ext>
            </a:extLst>
          </p:cNvPr>
          <p:cNvSpPr/>
          <p:nvPr/>
        </p:nvSpPr>
        <p:spPr>
          <a:xfrm>
            <a:off x="4928383" y="5576987"/>
            <a:ext cx="874937" cy="25710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200" ker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진행 완료</a:t>
            </a:r>
            <a:endParaRPr kumimoji="1" lang="en" altLang="ko-KR" sz="1200" kern="0">
              <a:ln>
                <a:solidFill>
                  <a:prstClr val="white">
                    <a:alpha val="0"/>
                  </a:prstClr>
                </a:solidFill>
              </a:ln>
              <a:latin typeface="+mn-ea"/>
            </a:endParaRPr>
          </a:p>
        </p:txBody>
      </p:sp>
      <p:sp>
        <p:nvSpPr>
          <p:cNvPr id="61" name="사각형: 둥근 모서리 20">
            <a:extLst>
              <a:ext uri="{FF2B5EF4-FFF2-40B4-BE49-F238E27FC236}">
                <a16:creationId xmlns:a16="http://schemas.microsoft.com/office/drawing/2014/main" id="{42C5F1E5-E235-E1FB-CAD3-DAF6C5A9C39F}"/>
              </a:ext>
            </a:extLst>
          </p:cNvPr>
          <p:cNvSpPr/>
          <p:nvPr/>
        </p:nvSpPr>
        <p:spPr>
          <a:xfrm>
            <a:off x="4928383" y="6267504"/>
            <a:ext cx="874937" cy="25710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200" ker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진행 완료</a:t>
            </a:r>
            <a:endParaRPr kumimoji="1" lang="en" altLang="ko-KR" sz="1200" kern="0">
              <a:ln>
                <a:solidFill>
                  <a:prstClr val="white">
                    <a:alpha val="0"/>
                  </a:prstClr>
                </a:solidFill>
              </a:ln>
              <a:latin typeface="+mn-ea"/>
            </a:endParaRPr>
          </a:p>
        </p:txBody>
      </p:sp>
      <p:sp>
        <p:nvSpPr>
          <p:cNvPr id="62" name="사각형: 둥근 모서리 20">
            <a:extLst>
              <a:ext uri="{FF2B5EF4-FFF2-40B4-BE49-F238E27FC236}">
                <a16:creationId xmlns:a16="http://schemas.microsoft.com/office/drawing/2014/main" id="{A62A2F08-EBA1-D986-685D-3C6B9F0CF04F}"/>
              </a:ext>
            </a:extLst>
          </p:cNvPr>
          <p:cNvSpPr/>
          <p:nvPr/>
        </p:nvSpPr>
        <p:spPr>
          <a:xfrm>
            <a:off x="4928383" y="5922243"/>
            <a:ext cx="874937" cy="25710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200" ker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진행 완료</a:t>
            </a:r>
            <a:endParaRPr kumimoji="1" lang="en" altLang="ko-KR" sz="1200" kern="0">
              <a:ln>
                <a:solidFill>
                  <a:prstClr val="white">
                    <a:alpha val="0"/>
                  </a:prstClr>
                </a:solidFill>
              </a:ln>
              <a:latin typeface="+mn-ea"/>
            </a:endParaRPr>
          </a:p>
        </p:txBody>
      </p:sp>
      <p:sp>
        <p:nvSpPr>
          <p:cNvPr id="63" name="사각형: 둥근 모서리 20">
            <a:extLst>
              <a:ext uri="{FF2B5EF4-FFF2-40B4-BE49-F238E27FC236}">
                <a16:creationId xmlns:a16="http://schemas.microsoft.com/office/drawing/2014/main" id="{7E72EA5A-0404-1537-40EB-CFBEFCE4CA18}"/>
              </a:ext>
            </a:extLst>
          </p:cNvPr>
          <p:cNvSpPr/>
          <p:nvPr/>
        </p:nvSpPr>
        <p:spPr>
          <a:xfrm>
            <a:off x="4928383" y="4541218"/>
            <a:ext cx="874937" cy="25710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200" ker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진행 완료</a:t>
            </a:r>
            <a:endParaRPr kumimoji="1" lang="en" altLang="ko-KR" sz="1200" kern="0">
              <a:ln>
                <a:solidFill>
                  <a:prstClr val="white">
                    <a:alpha val="0"/>
                  </a:prstClr>
                </a:solidFill>
              </a:ln>
              <a:latin typeface="+mn-ea"/>
            </a:endParaRPr>
          </a:p>
        </p:txBody>
      </p:sp>
      <p:sp>
        <p:nvSpPr>
          <p:cNvPr id="64" name="사각형: 둥근 모서리 20">
            <a:extLst>
              <a:ext uri="{FF2B5EF4-FFF2-40B4-BE49-F238E27FC236}">
                <a16:creationId xmlns:a16="http://schemas.microsoft.com/office/drawing/2014/main" id="{ABFAFC62-13C2-EDD8-E104-301B476CB602}"/>
              </a:ext>
            </a:extLst>
          </p:cNvPr>
          <p:cNvSpPr/>
          <p:nvPr/>
        </p:nvSpPr>
        <p:spPr>
          <a:xfrm>
            <a:off x="4928383" y="3505450"/>
            <a:ext cx="874937" cy="25710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200" i="1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rPr>
              <a:t>旣 완료</a:t>
            </a:r>
            <a:endParaRPr kumimoji="1" lang="en" altLang="ko-KR" sz="1200" i="1" kern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7B2A82AA-D78D-E01C-8115-19F81E16069C}"/>
              </a:ext>
            </a:extLst>
          </p:cNvPr>
          <p:cNvSpPr/>
          <p:nvPr/>
        </p:nvSpPr>
        <p:spPr>
          <a:xfrm>
            <a:off x="4928383" y="3850706"/>
            <a:ext cx="874937" cy="25710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200" i="1" ker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rPr>
              <a:t>旣 완료</a:t>
            </a:r>
            <a:endParaRPr kumimoji="1" lang="en" altLang="ko-KR" sz="1200" i="1" kern="0">
              <a:ln>
                <a:solidFill>
                  <a:prstClr val="white">
                    <a:alpha val="0"/>
                  </a:prstClr>
                </a:solidFill>
              </a:ln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66" name="사각형: 둥근 모서리 20">
            <a:extLst>
              <a:ext uri="{FF2B5EF4-FFF2-40B4-BE49-F238E27FC236}">
                <a16:creationId xmlns:a16="http://schemas.microsoft.com/office/drawing/2014/main" id="{B69C289B-47D4-2D96-84BD-D0EA3729DE28}"/>
              </a:ext>
            </a:extLst>
          </p:cNvPr>
          <p:cNvSpPr/>
          <p:nvPr/>
        </p:nvSpPr>
        <p:spPr>
          <a:xfrm>
            <a:off x="4928383" y="5231731"/>
            <a:ext cx="874937" cy="25710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1800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200" kern="0">
                <a:ln>
                  <a:solidFill>
                    <a:prstClr val="white">
                      <a:alpha val="0"/>
                    </a:prstClr>
                  </a:solidFill>
                </a:ln>
                <a:latin typeface="+mn-ea"/>
              </a:rPr>
              <a:t>진행 완료</a:t>
            </a:r>
            <a:endParaRPr kumimoji="1" lang="en" altLang="ko-KR" sz="1200" kern="0">
              <a:ln>
                <a:solidFill>
                  <a:prstClr val="white">
                    <a:alpha val="0"/>
                  </a:prstClr>
                </a:solidFill>
              </a:ln>
              <a:latin typeface="+mn-ea"/>
            </a:endParaRPr>
          </a:p>
        </p:txBody>
      </p:sp>
      <p:pic>
        <p:nvPicPr>
          <p:cNvPr id="67" name="그림 66">
            <a:extLst>
              <a:ext uri="{FF2B5EF4-FFF2-40B4-BE49-F238E27FC236}">
                <a16:creationId xmlns:a16="http://schemas.microsoft.com/office/drawing/2014/main" id="{5C6F3962-653E-7A55-9B1F-2CB3F4C756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7393" y="1750601"/>
            <a:ext cx="5444573" cy="2736321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68" name="그림 67">
            <a:extLst>
              <a:ext uri="{FF2B5EF4-FFF2-40B4-BE49-F238E27FC236}">
                <a16:creationId xmlns:a16="http://schemas.microsoft.com/office/drawing/2014/main" id="{E772723A-5442-E434-FC1E-5AAC786BD88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3180"/>
          <a:stretch>
            <a:fillRect/>
          </a:stretch>
        </p:blipFill>
        <p:spPr>
          <a:xfrm>
            <a:off x="6447393" y="4516817"/>
            <a:ext cx="5444573" cy="2007791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69" name="사각형: 둥근 모서리 20">
            <a:extLst>
              <a:ext uri="{FF2B5EF4-FFF2-40B4-BE49-F238E27FC236}">
                <a16:creationId xmlns:a16="http://schemas.microsoft.com/office/drawing/2014/main" id="{C99BB29E-CD1B-817D-3877-BB27363AF9E6}"/>
              </a:ext>
            </a:extLst>
          </p:cNvPr>
          <p:cNvSpPr/>
          <p:nvPr/>
        </p:nvSpPr>
        <p:spPr>
          <a:xfrm>
            <a:off x="334963" y="1341438"/>
            <a:ext cx="5468357" cy="325409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규제</a:t>
            </a:r>
            <a:r>
              <a:rPr lang="en-US" altLang="ko-KR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&amp;</a:t>
            </a:r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가이드라인 현황 분석 대상</a:t>
            </a:r>
            <a:endParaRPr lang="en" altLang="ko-KR" sz="1200" b="1">
              <a:ln>
                <a:solidFill>
                  <a:schemeClr val="bg1"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70" name="사각형: 둥근 모서리 20">
            <a:extLst>
              <a:ext uri="{FF2B5EF4-FFF2-40B4-BE49-F238E27FC236}">
                <a16:creationId xmlns:a16="http://schemas.microsoft.com/office/drawing/2014/main" id="{20103023-C2A6-4188-3491-970F7306FA1B}"/>
              </a:ext>
            </a:extLst>
          </p:cNvPr>
          <p:cNvSpPr/>
          <p:nvPr/>
        </p:nvSpPr>
        <p:spPr>
          <a:xfrm>
            <a:off x="6423610" y="1341438"/>
            <a:ext cx="5468356" cy="325409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요건 매트릭스 </a:t>
            </a:r>
            <a:r>
              <a:rPr lang="en-US" altLang="ko-KR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(</a:t>
            </a:r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예시</a:t>
            </a:r>
            <a:r>
              <a:rPr lang="en-US" altLang="ko-KR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)</a:t>
            </a:r>
            <a:endParaRPr lang="en" altLang="ko-KR" sz="1400" b="1">
              <a:ln>
                <a:solidFill>
                  <a:schemeClr val="bg1">
                    <a:alpha val="0"/>
                  </a:schemeClr>
                </a:solidFill>
              </a:ln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876066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1CF89E46-9CE6-E8E7-0A2B-918B77980A5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D7E9903-D72F-5F50-D29C-13E51A34EE2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ko-KR" altLang="en-US"/>
              <a:t>개발 라이프 사이클별 </a:t>
            </a:r>
            <a:r>
              <a:rPr lang="en-US" altLang="ko-KR"/>
              <a:t>AI</a:t>
            </a:r>
            <a:r>
              <a:rPr lang="ko-KR" altLang="en-US"/>
              <a:t>거버넌스 대응방안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852715D-CE09-48C0-C313-DE397EF5215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/>
              <a:t>AI</a:t>
            </a:r>
            <a:r>
              <a:rPr lang="ko-KR" altLang="en-US"/>
              <a:t>서비스의 위험을 사전에 평가하여 위험을 최소화하기 위한 대응 방안 마련하기 위해</a:t>
            </a:r>
            <a:r>
              <a:rPr lang="en-US" altLang="ko-KR"/>
              <a:t>, </a:t>
            </a:r>
            <a:r>
              <a:rPr lang="ko-KR" altLang="en-US"/>
              <a:t>개발 </a:t>
            </a:r>
            <a:r>
              <a:rPr lang="ko-KR" altLang="en-US" err="1"/>
              <a:t>라이프라이클과</a:t>
            </a:r>
            <a:r>
              <a:rPr lang="ko-KR" altLang="en-US"/>
              <a:t> </a:t>
            </a:r>
            <a:r>
              <a:rPr lang="en-US" altLang="ko-KR"/>
              <a:t>Align</a:t>
            </a:r>
            <a:r>
              <a:rPr lang="ko-KR" altLang="en-US"/>
              <a:t>된 위험 대응 및 조치에 대한 관리가 필요함</a:t>
            </a:r>
          </a:p>
        </p:txBody>
      </p:sp>
      <p:sp>
        <p:nvSpPr>
          <p:cNvPr id="5" name="사각형: 둥근 모서리 20">
            <a:extLst>
              <a:ext uri="{FF2B5EF4-FFF2-40B4-BE49-F238E27FC236}">
                <a16:creationId xmlns:a16="http://schemas.microsoft.com/office/drawing/2014/main" id="{169A9F15-CFCC-837E-DF4A-2A774837784F}"/>
              </a:ext>
            </a:extLst>
          </p:cNvPr>
          <p:cNvSpPr/>
          <p:nvPr/>
        </p:nvSpPr>
        <p:spPr>
          <a:xfrm>
            <a:off x="334964" y="1341437"/>
            <a:ext cx="2780452" cy="319758"/>
          </a:xfrm>
          <a:prstGeom prst="homePlate">
            <a:avLst>
              <a:gd name="adj" fmla="val 37573"/>
            </a:avLst>
          </a:prstGeom>
          <a:solidFill>
            <a:schemeClr val="accent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기획</a:t>
            </a:r>
            <a:r>
              <a:rPr lang="en-US" altLang="ko-KR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·</a:t>
            </a:r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설계</a:t>
            </a:r>
          </a:p>
        </p:txBody>
      </p:sp>
      <p:sp>
        <p:nvSpPr>
          <p:cNvPr id="6" name="사각형: 둥근 모서리 20">
            <a:extLst>
              <a:ext uri="{FF2B5EF4-FFF2-40B4-BE49-F238E27FC236}">
                <a16:creationId xmlns:a16="http://schemas.microsoft.com/office/drawing/2014/main" id="{47F9DBC2-2362-D07D-9410-2BED01F68392}"/>
              </a:ext>
            </a:extLst>
          </p:cNvPr>
          <p:cNvSpPr/>
          <p:nvPr/>
        </p:nvSpPr>
        <p:spPr>
          <a:xfrm>
            <a:off x="3254579" y="1341437"/>
            <a:ext cx="2786354" cy="319758"/>
          </a:xfrm>
          <a:prstGeom prst="homePlate">
            <a:avLst>
              <a:gd name="adj" fmla="val 37573"/>
            </a:avLst>
          </a:prstGeom>
          <a:solidFill>
            <a:schemeClr val="accent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개발</a:t>
            </a:r>
          </a:p>
        </p:txBody>
      </p:sp>
      <p:sp>
        <p:nvSpPr>
          <p:cNvPr id="7" name="사각형: 둥근 모서리 20">
            <a:extLst>
              <a:ext uri="{FF2B5EF4-FFF2-40B4-BE49-F238E27FC236}">
                <a16:creationId xmlns:a16="http://schemas.microsoft.com/office/drawing/2014/main" id="{907A16A2-BAD1-FC03-E2C8-C78A4E6111F8}"/>
              </a:ext>
            </a:extLst>
          </p:cNvPr>
          <p:cNvSpPr/>
          <p:nvPr/>
        </p:nvSpPr>
        <p:spPr>
          <a:xfrm>
            <a:off x="6180096" y="1341437"/>
            <a:ext cx="2786354" cy="319758"/>
          </a:xfrm>
          <a:prstGeom prst="homePlate">
            <a:avLst>
              <a:gd name="adj" fmla="val 37573"/>
            </a:avLst>
          </a:prstGeom>
          <a:solidFill>
            <a:schemeClr val="accent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평가</a:t>
            </a:r>
            <a:r>
              <a:rPr lang="en-US" altLang="ko-KR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·</a:t>
            </a:r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검증</a:t>
            </a:r>
          </a:p>
        </p:txBody>
      </p:sp>
      <p:sp>
        <p:nvSpPr>
          <p:cNvPr id="8" name="사각형: 둥근 모서리 20">
            <a:extLst>
              <a:ext uri="{FF2B5EF4-FFF2-40B4-BE49-F238E27FC236}">
                <a16:creationId xmlns:a16="http://schemas.microsoft.com/office/drawing/2014/main" id="{F40D85F3-0B0E-FA9D-5518-CF01D275091F}"/>
              </a:ext>
            </a:extLst>
          </p:cNvPr>
          <p:cNvSpPr/>
          <p:nvPr/>
        </p:nvSpPr>
        <p:spPr>
          <a:xfrm>
            <a:off x="9105613" y="1341437"/>
            <a:ext cx="2786354" cy="319758"/>
          </a:xfrm>
          <a:prstGeom prst="homePlate">
            <a:avLst>
              <a:gd name="adj" fmla="val 37573"/>
            </a:avLst>
          </a:prstGeom>
          <a:solidFill>
            <a:schemeClr val="accent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도입</a:t>
            </a:r>
            <a:r>
              <a:rPr lang="en-US" altLang="ko-KR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·</a:t>
            </a:r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운영</a:t>
            </a:r>
            <a:r>
              <a:rPr lang="en-US" altLang="ko-KR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·</a:t>
            </a:r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모니터링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E123E8F-08AB-0918-DFD9-E473FD6A0F54}"/>
              </a:ext>
            </a:extLst>
          </p:cNvPr>
          <p:cNvSpPr/>
          <p:nvPr/>
        </p:nvSpPr>
        <p:spPr>
          <a:xfrm>
            <a:off x="2011212" y="5929295"/>
            <a:ext cx="9880750" cy="595329"/>
          </a:xfrm>
          <a:prstGeom prst="rect">
            <a:avLst/>
          </a:prstGeom>
          <a:pattFill prst="dkUp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AI</a:t>
            </a:r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서비스의 기획 단계에서부터 운영</a:t>
            </a: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·</a:t>
            </a:r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모니터링 단계에 이르기까지 생애주기 전반을 대상으로 </a:t>
            </a: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AI</a:t>
            </a:r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서비스의 위험을 관리 해야함</a:t>
            </a:r>
            <a:endParaRPr lang="en-US" altLang="ko-KR" sz="1200">
              <a:ln>
                <a:solidFill>
                  <a:schemeClr val="accent2">
                    <a:lumMod val="60000"/>
                    <a:lumOff val="40000"/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A666941-6FB7-808F-EC53-3D9BA2F89801}"/>
              </a:ext>
            </a:extLst>
          </p:cNvPr>
          <p:cNvSpPr/>
          <p:nvPr/>
        </p:nvSpPr>
        <p:spPr>
          <a:xfrm>
            <a:off x="334963" y="5929295"/>
            <a:ext cx="1572626" cy="595329"/>
          </a:xfrm>
          <a:prstGeom prst="rect">
            <a:avLst/>
          </a:prstGeom>
          <a:solidFill>
            <a:srgbClr val="043B7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1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시사점</a:t>
            </a:r>
          </a:p>
        </p:txBody>
      </p:sp>
      <p:sp>
        <p:nvSpPr>
          <p:cNvPr id="11" name="사각형: 둥근 모서리 20">
            <a:extLst>
              <a:ext uri="{FF2B5EF4-FFF2-40B4-BE49-F238E27FC236}">
                <a16:creationId xmlns:a16="http://schemas.microsoft.com/office/drawing/2014/main" id="{448BF8F0-D859-94ED-8363-D54003B34DC3}"/>
              </a:ext>
            </a:extLst>
          </p:cNvPr>
          <p:cNvSpPr/>
          <p:nvPr/>
        </p:nvSpPr>
        <p:spPr>
          <a:xfrm>
            <a:off x="329062" y="1730125"/>
            <a:ext cx="2729895" cy="311088"/>
          </a:xfrm>
          <a:prstGeom prst="roundRect">
            <a:avLst>
              <a:gd name="adj" fmla="val 0"/>
            </a:avLst>
          </a:prstGeom>
          <a:solidFill>
            <a:srgbClr val="F4B183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200" b="1">
                <a:ln>
                  <a:solidFill>
                    <a:schemeClr val="accent3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윤리원칙 부합 검토 및 영향평가</a:t>
            </a:r>
            <a:endParaRPr lang="ko-KR" altLang="en-US" sz="1200">
              <a:ln>
                <a:solidFill>
                  <a:schemeClr val="accent3"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sp>
        <p:nvSpPr>
          <p:cNvPr id="12" name="사각형: 둥근 모서리 20">
            <a:extLst>
              <a:ext uri="{FF2B5EF4-FFF2-40B4-BE49-F238E27FC236}">
                <a16:creationId xmlns:a16="http://schemas.microsoft.com/office/drawing/2014/main" id="{2FED25E8-A774-7C40-D385-933585ACE7D9}"/>
              </a:ext>
            </a:extLst>
          </p:cNvPr>
          <p:cNvSpPr/>
          <p:nvPr/>
        </p:nvSpPr>
        <p:spPr>
          <a:xfrm>
            <a:off x="329062" y="3006467"/>
            <a:ext cx="2729895" cy="311088"/>
          </a:xfrm>
          <a:prstGeom prst="roundRect">
            <a:avLst>
              <a:gd name="adj" fmla="val 0"/>
            </a:avLst>
          </a:prstGeom>
          <a:solidFill>
            <a:srgbClr val="F4B183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200" b="1">
                <a:ln>
                  <a:solidFill>
                    <a:schemeClr val="accent3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사람에 의한 감독</a:t>
            </a:r>
            <a:r>
              <a:rPr lang="en-US" altLang="ko-KR" sz="1200" b="1">
                <a:ln>
                  <a:solidFill>
                    <a:schemeClr val="accent3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ᆞ</a:t>
            </a:r>
            <a:r>
              <a:rPr lang="ko-KR" altLang="en-US" sz="1200" b="1">
                <a:ln>
                  <a:solidFill>
                    <a:schemeClr val="accent3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통제</a:t>
            </a:r>
            <a:r>
              <a:rPr lang="en-US" altLang="ko-KR" sz="1200" b="1">
                <a:ln>
                  <a:solidFill>
                    <a:schemeClr val="accent3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200" b="1">
                <a:ln>
                  <a:solidFill>
                    <a:schemeClr val="accent3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절차 마련</a:t>
            </a:r>
          </a:p>
        </p:txBody>
      </p:sp>
      <p:sp>
        <p:nvSpPr>
          <p:cNvPr id="13" name="사각형: 둥근 모서리 20">
            <a:extLst>
              <a:ext uri="{FF2B5EF4-FFF2-40B4-BE49-F238E27FC236}">
                <a16:creationId xmlns:a16="http://schemas.microsoft.com/office/drawing/2014/main" id="{3D512062-0A99-69EF-745A-BBC7C73B444B}"/>
              </a:ext>
            </a:extLst>
          </p:cNvPr>
          <p:cNvSpPr/>
          <p:nvPr/>
        </p:nvSpPr>
        <p:spPr>
          <a:xfrm>
            <a:off x="6180096" y="1730125"/>
            <a:ext cx="2729895" cy="311088"/>
          </a:xfrm>
          <a:prstGeom prst="roundRect">
            <a:avLst>
              <a:gd name="adj" fmla="val 0"/>
            </a:avLst>
          </a:prstGeom>
          <a:solidFill>
            <a:srgbClr val="F4B183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>
                <a:ln>
                  <a:solidFill>
                    <a:schemeClr val="accent3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AI</a:t>
            </a:r>
            <a:r>
              <a:rPr lang="ko-KR" altLang="en-US" sz="1200" b="1">
                <a:ln>
                  <a:solidFill>
                    <a:schemeClr val="accent3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서비스 성능 관리</a:t>
            </a:r>
            <a:endParaRPr lang="ko-KR" altLang="en-US" sz="1200">
              <a:ln>
                <a:solidFill>
                  <a:schemeClr val="accent3"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sp>
        <p:nvSpPr>
          <p:cNvPr id="14" name="사각형: 둥근 모서리 20">
            <a:extLst>
              <a:ext uri="{FF2B5EF4-FFF2-40B4-BE49-F238E27FC236}">
                <a16:creationId xmlns:a16="http://schemas.microsoft.com/office/drawing/2014/main" id="{0A020710-0F08-678D-F353-271CAB716725}"/>
              </a:ext>
            </a:extLst>
          </p:cNvPr>
          <p:cNvSpPr/>
          <p:nvPr/>
        </p:nvSpPr>
        <p:spPr>
          <a:xfrm>
            <a:off x="6180096" y="2811095"/>
            <a:ext cx="2729895" cy="311088"/>
          </a:xfrm>
          <a:prstGeom prst="roundRect">
            <a:avLst>
              <a:gd name="adj" fmla="val 0"/>
            </a:avLst>
          </a:prstGeom>
          <a:solidFill>
            <a:srgbClr val="F4B183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>
                <a:ln>
                  <a:solidFill>
                    <a:schemeClr val="accent3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AI</a:t>
            </a:r>
            <a:r>
              <a:rPr lang="ko-KR" altLang="en-US" sz="1200" b="1">
                <a:ln>
                  <a:solidFill>
                    <a:schemeClr val="accent3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서비스 공정성 관리</a:t>
            </a:r>
            <a:endParaRPr lang="ko-KR" altLang="en-US" sz="1200">
              <a:ln>
                <a:solidFill>
                  <a:schemeClr val="accent3"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sp>
        <p:nvSpPr>
          <p:cNvPr id="15" name="사각형: 둥근 모서리 20">
            <a:extLst>
              <a:ext uri="{FF2B5EF4-FFF2-40B4-BE49-F238E27FC236}">
                <a16:creationId xmlns:a16="http://schemas.microsoft.com/office/drawing/2014/main" id="{52ADAE04-0E92-DC01-6B98-8F59A4FDA94F}"/>
              </a:ext>
            </a:extLst>
          </p:cNvPr>
          <p:cNvSpPr/>
          <p:nvPr/>
        </p:nvSpPr>
        <p:spPr>
          <a:xfrm>
            <a:off x="6180096" y="3892065"/>
            <a:ext cx="2729895" cy="311088"/>
          </a:xfrm>
          <a:prstGeom prst="roundRect">
            <a:avLst>
              <a:gd name="adj" fmla="val 0"/>
            </a:avLst>
          </a:prstGeom>
          <a:solidFill>
            <a:srgbClr val="F4B183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>
                <a:ln>
                  <a:solidFill>
                    <a:schemeClr val="accent3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AI</a:t>
            </a:r>
            <a:r>
              <a:rPr lang="ko-KR" altLang="en-US" sz="1200" b="1">
                <a:ln>
                  <a:solidFill>
                    <a:schemeClr val="accent3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서비스 설명가능성 관리</a:t>
            </a:r>
            <a:endParaRPr lang="ko-KR" altLang="en-US" sz="1200">
              <a:ln>
                <a:solidFill>
                  <a:schemeClr val="accent3"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sp>
        <p:nvSpPr>
          <p:cNvPr id="16" name="사각형: 둥근 모서리 20">
            <a:extLst>
              <a:ext uri="{FF2B5EF4-FFF2-40B4-BE49-F238E27FC236}">
                <a16:creationId xmlns:a16="http://schemas.microsoft.com/office/drawing/2014/main" id="{FDDC132D-F514-47C3-B743-1B85FA54C87A}"/>
              </a:ext>
            </a:extLst>
          </p:cNvPr>
          <p:cNvSpPr/>
          <p:nvPr/>
        </p:nvSpPr>
        <p:spPr>
          <a:xfrm>
            <a:off x="9105613" y="1729126"/>
            <a:ext cx="2729895" cy="311088"/>
          </a:xfrm>
          <a:prstGeom prst="roundRect">
            <a:avLst>
              <a:gd name="adj" fmla="val 0"/>
            </a:avLst>
          </a:prstGeom>
          <a:solidFill>
            <a:srgbClr val="F4B183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200" b="1">
                <a:ln>
                  <a:solidFill>
                    <a:schemeClr val="accent3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고객 보호 방안</a:t>
            </a:r>
            <a:endParaRPr lang="ko-KR" altLang="en-US" sz="1200">
              <a:ln>
                <a:solidFill>
                  <a:schemeClr val="accent3"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sp>
        <p:nvSpPr>
          <p:cNvPr id="17" name="사각형: 둥근 모서리 20">
            <a:extLst>
              <a:ext uri="{FF2B5EF4-FFF2-40B4-BE49-F238E27FC236}">
                <a16:creationId xmlns:a16="http://schemas.microsoft.com/office/drawing/2014/main" id="{8D56E1C3-697A-30CB-B4D1-D95BA749B390}"/>
              </a:ext>
            </a:extLst>
          </p:cNvPr>
          <p:cNvSpPr/>
          <p:nvPr/>
        </p:nvSpPr>
        <p:spPr>
          <a:xfrm>
            <a:off x="9105613" y="2810096"/>
            <a:ext cx="2729895" cy="311088"/>
          </a:xfrm>
          <a:prstGeom prst="roundRect">
            <a:avLst>
              <a:gd name="adj" fmla="val 0"/>
            </a:avLst>
          </a:prstGeom>
          <a:solidFill>
            <a:srgbClr val="F4B183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200" b="1">
                <a:ln>
                  <a:solidFill>
                    <a:schemeClr val="accent3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고객 보호 방안</a:t>
            </a:r>
            <a:endParaRPr lang="ko-KR" altLang="en-US" sz="1200">
              <a:ln>
                <a:solidFill>
                  <a:schemeClr val="accent3"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66FCD833-950E-F6A8-0036-0E5A6B563135}"/>
              </a:ext>
            </a:extLst>
          </p:cNvPr>
          <p:cNvSpPr/>
          <p:nvPr/>
        </p:nvSpPr>
        <p:spPr>
          <a:xfrm>
            <a:off x="9236027" y="3176667"/>
            <a:ext cx="2599482" cy="215208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91440" tIns="0" rIns="0" bIns="18000" rtlCol="0" anchor="ctr"/>
          <a:lstStyle/>
          <a:p>
            <a:pPr marL="126376" indent="-126376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1100" spc="-15">
                <a:ln>
                  <a:solidFill>
                    <a:schemeClr val="accent3">
                      <a:alpha val="0"/>
                    </a:schemeClr>
                  </a:solidFill>
                </a:ln>
                <a:latin typeface="+mn-ea"/>
                <a:cs typeface="Segoe UI" panose="020B0502040204020203" pitchFamily="34" charset="0"/>
              </a:rPr>
              <a:t>성능 모니터링 절차</a:t>
            </a:r>
            <a:endParaRPr lang="en-US" altLang="ko-KR" sz="1100" spc="-15">
              <a:ln>
                <a:solidFill>
                  <a:schemeClr val="accent3">
                    <a:alpha val="0"/>
                  </a:schemeClr>
                </a:solidFill>
              </a:ln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9" name="사각형: 둥근 모서리 20">
            <a:extLst>
              <a:ext uri="{FF2B5EF4-FFF2-40B4-BE49-F238E27FC236}">
                <a16:creationId xmlns:a16="http://schemas.microsoft.com/office/drawing/2014/main" id="{36255D66-8C0C-AF5E-C500-1A70E0605928}"/>
              </a:ext>
            </a:extLst>
          </p:cNvPr>
          <p:cNvSpPr/>
          <p:nvPr/>
        </p:nvSpPr>
        <p:spPr>
          <a:xfrm>
            <a:off x="9105613" y="3891066"/>
            <a:ext cx="2729895" cy="311088"/>
          </a:xfrm>
          <a:prstGeom prst="roundRect">
            <a:avLst>
              <a:gd name="adj" fmla="val 0"/>
            </a:avLst>
          </a:prstGeom>
          <a:solidFill>
            <a:srgbClr val="F4B183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>
                <a:ln>
                  <a:solidFill>
                    <a:schemeClr val="accent3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AI</a:t>
            </a:r>
            <a:r>
              <a:rPr lang="ko-KR" altLang="en-US" sz="1200" b="1">
                <a:ln>
                  <a:solidFill>
                    <a:schemeClr val="accent3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서비스 보안</a:t>
            </a:r>
            <a:endParaRPr lang="ko-KR" altLang="en-US" sz="1200">
              <a:ln>
                <a:solidFill>
                  <a:schemeClr val="accent3"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66451D29-4B9A-2299-785C-B610F3D8A479}"/>
              </a:ext>
            </a:extLst>
          </p:cNvPr>
          <p:cNvSpPr/>
          <p:nvPr/>
        </p:nvSpPr>
        <p:spPr>
          <a:xfrm>
            <a:off x="459476" y="2134796"/>
            <a:ext cx="2599482" cy="215208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91440" tIns="0" rIns="0" bIns="18000" rtlCol="0" anchor="ctr"/>
          <a:lstStyle/>
          <a:p>
            <a:pPr marL="126376" indent="-126376">
              <a:lnSpc>
                <a:spcPct val="130000"/>
              </a:lnSpc>
              <a:spcBef>
                <a:spcPts val="147"/>
              </a:spcBef>
              <a:buFont typeface="Arial" panose="020B0604020202020204" pitchFamily="34" charset="0"/>
              <a:buChar char="•"/>
            </a:pPr>
            <a:r>
              <a:rPr lang="en-US" altLang="ko-KR" sz="1100" spc="-15">
                <a:ln>
                  <a:solidFill>
                    <a:schemeClr val="accent3">
                      <a:alpha val="0"/>
                    </a:schemeClr>
                  </a:solidFill>
                </a:ln>
                <a:latin typeface="+mn-ea"/>
                <a:cs typeface="Segoe UI" panose="020B0502040204020203" pitchFamily="34" charset="0"/>
              </a:rPr>
              <a:t>AI </a:t>
            </a:r>
            <a:r>
              <a:rPr lang="ko-KR" altLang="en-US" sz="1100" spc="-15">
                <a:ln>
                  <a:solidFill>
                    <a:schemeClr val="accent3">
                      <a:alpha val="0"/>
                    </a:schemeClr>
                  </a:solidFill>
                </a:ln>
                <a:latin typeface="+mn-ea"/>
                <a:cs typeface="Segoe UI" panose="020B0502040204020203" pitchFamily="34" charset="0"/>
              </a:rPr>
              <a:t>도입타당성</a:t>
            </a:r>
            <a:endParaRPr lang="en-US" altLang="ko-KR" sz="1100" spc="-15">
              <a:ln>
                <a:solidFill>
                  <a:schemeClr val="accent3">
                    <a:alpha val="0"/>
                  </a:schemeClr>
                </a:solidFill>
              </a:ln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2DA6314A-3FB6-E820-87F2-79EE20AE06CE}"/>
              </a:ext>
            </a:extLst>
          </p:cNvPr>
          <p:cNvSpPr/>
          <p:nvPr/>
        </p:nvSpPr>
        <p:spPr>
          <a:xfrm>
            <a:off x="459476" y="2405487"/>
            <a:ext cx="2599482" cy="215208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91440" tIns="0" rIns="0" bIns="18000" rtlCol="0" anchor="ctr"/>
          <a:lstStyle/>
          <a:p>
            <a:pPr marL="126376" indent="-126376">
              <a:lnSpc>
                <a:spcPct val="130000"/>
              </a:lnSpc>
              <a:spcBef>
                <a:spcPts val="147"/>
              </a:spcBef>
              <a:buFont typeface="Arial" panose="020B0604020202020204" pitchFamily="34" charset="0"/>
              <a:buChar char="•"/>
            </a:pPr>
            <a:r>
              <a:rPr lang="ko-KR" altLang="en-US" sz="1100" spc="-15">
                <a:ln>
                  <a:solidFill>
                    <a:schemeClr val="accent3">
                      <a:alpha val="0"/>
                    </a:schemeClr>
                  </a:solidFill>
                </a:ln>
                <a:latin typeface="+mn-ea"/>
                <a:cs typeface="Segoe UI" panose="020B0502040204020203" pitchFamily="34" charset="0"/>
              </a:rPr>
              <a:t>활용 목적</a:t>
            </a:r>
            <a:endParaRPr lang="en-US" altLang="ko-KR" sz="1100" spc="-15">
              <a:ln>
                <a:solidFill>
                  <a:schemeClr val="accent3">
                    <a:alpha val="0"/>
                  </a:schemeClr>
                </a:solidFill>
              </a:ln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49CCB78E-04A6-4DA4-8AD7-C9A1386AD0B8}"/>
              </a:ext>
            </a:extLst>
          </p:cNvPr>
          <p:cNvSpPr/>
          <p:nvPr/>
        </p:nvSpPr>
        <p:spPr>
          <a:xfrm>
            <a:off x="459476" y="2678472"/>
            <a:ext cx="2599482" cy="215208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91440" tIns="0" rIns="0" bIns="18000" rtlCol="0" anchor="ctr"/>
          <a:lstStyle/>
          <a:p>
            <a:pPr marL="126376" indent="-126376">
              <a:lnSpc>
                <a:spcPct val="130000"/>
              </a:lnSpc>
              <a:spcBef>
                <a:spcPts val="147"/>
              </a:spcBef>
              <a:buFont typeface="Arial" panose="020B0604020202020204" pitchFamily="34" charset="0"/>
              <a:buChar char="•"/>
            </a:pPr>
            <a:r>
              <a:rPr lang="ko-KR" altLang="en-US" sz="1100" spc="-15">
                <a:ln>
                  <a:solidFill>
                    <a:schemeClr val="accent3">
                      <a:alpha val="0"/>
                    </a:schemeClr>
                  </a:solidFill>
                </a:ln>
                <a:latin typeface="+mn-ea"/>
                <a:cs typeface="Segoe UI" panose="020B0502040204020203" pitchFamily="34" charset="0"/>
              </a:rPr>
              <a:t>사회</a:t>
            </a:r>
            <a:r>
              <a:rPr lang="en-US" altLang="ko-KR" sz="1100" spc="-15">
                <a:ln>
                  <a:solidFill>
                    <a:schemeClr val="accent3">
                      <a:alpha val="0"/>
                    </a:schemeClr>
                  </a:solidFill>
                </a:ln>
                <a:latin typeface="+mn-ea"/>
                <a:cs typeface="Segoe UI" panose="020B0502040204020203" pitchFamily="34" charset="0"/>
              </a:rPr>
              <a:t>/</a:t>
            </a:r>
            <a:r>
              <a:rPr lang="ko-KR" altLang="en-US" sz="1100" spc="-15">
                <a:ln>
                  <a:solidFill>
                    <a:schemeClr val="accent3">
                      <a:alpha val="0"/>
                    </a:schemeClr>
                  </a:solidFill>
                </a:ln>
                <a:latin typeface="+mn-ea"/>
                <a:cs typeface="Segoe UI" panose="020B0502040204020203" pitchFamily="34" charset="0"/>
              </a:rPr>
              <a:t>경제</a:t>
            </a:r>
            <a:r>
              <a:rPr lang="en-US" altLang="ko-KR" sz="1100" spc="-15">
                <a:ln>
                  <a:solidFill>
                    <a:schemeClr val="accent3">
                      <a:alpha val="0"/>
                    </a:schemeClr>
                  </a:solidFill>
                </a:ln>
                <a:latin typeface="+mn-ea"/>
                <a:cs typeface="Segoe UI" panose="020B0502040204020203" pitchFamily="34" charset="0"/>
              </a:rPr>
              <a:t>/</a:t>
            </a:r>
            <a:r>
              <a:rPr lang="ko-KR" altLang="en-US" sz="1100" spc="-15">
                <a:ln>
                  <a:solidFill>
                    <a:schemeClr val="accent3">
                      <a:alpha val="0"/>
                    </a:schemeClr>
                  </a:solidFill>
                </a:ln>
                <a:latin typeface="+mn-ea"/>
                <a:cs typeface="Segoe UI" panose="020B0502040204020203" pitchFamily="34" charset="0"/>
              </a:rPr>
              <a:t>문화적 영향</a:t>
            </a:r>
            <a:endParaRPr lang="en-US" altLang="ko-KR" sz="1100" spc="-15">
              <a:ln>
                <a:solidFill>
                  <a:schemeClr val="accent3">
                    <a:alpha val="0"/>
                  </a:schemeClr>
                </a:solidFill>
              </a:ln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7B453709-4920-AA46-A8BD-4F85BE54672C}"/>
              </a:ext>
            </a:extLst>
          </p:cNvPr>
          <p:cNvSpPr/>
          <p:nvPr/>
        </p:nvSpPr>
        <p:spPr>
          <a:xfrm>
            <a:off x="459476" y="3411138"/>
            <a:ext cx="2599482" cy="215208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91440" tIns="0" rIns="0" bIns="18000" rtlCol="0" anchor="ctr"/>
          <a:lstStyle/>
          <a:p>
            <a:pPr marL="126376" indent="-126376">
              <a:lnSpc>
                <a:spcPct val="130000"/>
              </a:lnSpc>
              <a:spcBef>
                <a:spcPts val="147"/>
              </a:spcBef>
              <a:buFont typeface="Arial" panose="020B0604020202020204" pitchFamily="34" charset="0"/>
              <a:buChar char="•"/>
            </a:pPr>
            <a:r>
              <a:rPr lang="ko-KR" altLang="en-US" sz="1100" spc="-15">
                <a:ln>
                  <a:solidFill>
                    <a:schemeClr val="accent3">
                      <a:alpha val="0"/>
                    </a:schemeClr>
                  </a:solidFill>
                </a:ln>
                <a:latin typeface="+mn-ea"/>
                <a:cs typeface="Segoe UI" panose="020B0502040204020203" pitchFamily="34" charset="0"/>
              </a:rPr>
              <a:t>잠재적 위험 감독 통제</a:t>
            </a:r>
            <a:endParaRPr lang="en-US" altLang="ko-KR" sz="1100" spc="-15">
              <a:ln>
                <a:solidFill>
                  <a:schemeClr val="accent3">
                    <a:alpha val="0"/>
                  </a:schemeClr>
                </a:solidFill>
              </a:ln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DA8FE970-D255-8894-07A2-722BEDCAB1BB}"/>
              </a:ext>
            </a:extLst>
          </p:cNvPr>
          <p:cNvSpPr/>
          <p:nvPr/>
        </p:nvSpPr>
        <p:spPr>
          <a:xfrm>
            <a:off x="459476" y="3681829"/>
            <a:ext cx="2599482" cy="215208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91440" tIns="0" rIns="0" bIns="18000" rtlCol="0" anchor="ctr"/>
          <a:lstStyle/>
          <a:p>
            <a:pPr marL="126376" indent="-126376">
              <a:lnSpc>
                <a:spcPct val="130000"/>
              </a:lnSpc>
              <a:spcBef>
                <a:spcPts val="147"/>
              </a:spcBef>
              <a:buFont typeface="Arial" panose="020B0604020202020204" pitchFamily="34" charset="0"/>
              <a:buChar char="•"/>
            </a:pPr>
            <a:r>
              <a:rPr lang="ko-KR" altLang="en-US" sz="1100" spc="-15">
                <a:ln>
                  <a:solidFill>
                    <a:schemeClr val="accent3">
                      <a:alpha val="0"/>
                    </a:schemeClr>
                  </a:solidFill>
                </a:ln>
                <a:latin typeface="+mn-ea"/>
                <a:cs typeface="Segoe UI" panose="020B0502040204020203" pitchFamily="34" charset="0"/>
              </a:rPr>
              <a:t>인간의 개입 절차 정의</a:t>
            </a:r>
            <a:endParaRPr lang="en-US" altLang="ko-KR" sz="1100" spc="-15">
              <a:ln>
                <a:solidFill>
                  <a:schemeClr val="accent3">
                    <a:alpha val="0"/>
                  </a:schemeClr>
                </a:solidFill>
              </a:ln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DAEA9A3E-2711-F04B-6989-77752361AD06}"/>
              </a:ext>
            </a:extLst>
          </p:cNvPr>
          <p:cNvSpPr/>
          <p:nvPr/>
        </p:nvSpPr>
        <p:spPr>
          <a:xfrm>
            <a:off x="459476" y="3954814"/>
            <a:ext cx="2599482" cy="215208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91440" tIns="0" rIns="0" bIns="18000" rtlCol="0" anchor="ctr"/>
          <a:lstStyle/>
          <a:p>
            <a:pPr marL="126376" indent="-126376">
              <a:lnSpc>
                <a:spcPct val="130000"/>
              </a:lnSpc>
              <a:spcBef>
                <a:spcPts val="147"/>
              </a:spcBef>
              <a:buFont typeface="Arial" panose="020B0604020202020204" pitchFamily="34" charset="0"/>
              <a:buChar char="•"/>
            </a:pPr>
            <a:r>
              <a:rPr lang="ko-KR" altLang="en-US" sz="1100" spc="-15">
                <a:ln>
                  <a:solidFill>
                    <a:schemeClr val="accent3">
                      <a:alpha val="0"/>
                    </a:schemeClr>
                  </a:solidFill>
                </a:ln>
                <a:latin typeface="+mn-ea"/>
                <a:cs typeface="Segoe UI" panose="020B0502040204020203" pitchFamily="34" charset="0"/>
              </a:rPr>
              <a:t>해석</a:t>
            </a:r>
            <a:r>
              <a:rPr lang="en-US" altLang="ko-KR" sz="1100" spc="-15">
                <a:ln>
                  <a:solidFill>
                    <a:schemeClr val="accent3">
                      <a:alpha val="0"/>
                    </a:schemeClr>
                  </a:solidFill>
                </a:ln>
                <a:latin typeface="+mn-ea"/>
                <a:cs typeface="Segoe UI" panose="020B0502040204020203" pitchFamily="34" charset="0"/>
              </a:rPr>
              <a:t>/</a:t>
            </a:r>
            <a:r>
              <a:rPr lang="ko-KR" altLang="en-US" sz="1100" spc="-15">
                <a:ln>
                  <a:solidFill>
                    <a:schemeClr val="accent3">
                      <a:alpha val="0"/>
                    </a:schemeClr>
                  </a:solidFill>
                </a:ln>
                <a:latin typeface="+mn-ea"/>
                <a:cs typeface="Segoe UI" panose="020B0502040204020203" pitchFamily="34" charset="0"/>
              </a:rPr>
              <a:t>추적 가능한 설계</a:t>
            </a:r>
            <a:endParaRPr lang="en-US" altLang="ko-KR" sz="1100" spc="-15">
              <a:ln>
                <a:solidFill>
                  <a:schemeClr val="accent3">
                    <a:alpha val="0"/>
                  </a:schemeClr>
                </a:solidFill>
              </a:ln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26" name="사각형: 둥근 모서리 20">
            <a:extLst>
              <a:ext uri="{FF2B5EF4-FFF2-40B4-BE49-F238E27FC236}">
                <a16:creationId xmlns:a16="http://schemas.microsoft.com/office/drawing/2014/main" id="{E34D40F7-4FBA-CFE1-A1F0-7413013C388D}"/>
              </a:ext>
            </a:extLst>
          </p:cNvPr>
          <p:cNvSpPr/>
          <p:nvPr/>
        </p:nvSpPr>
        <p:spPr>
          <a:xfrm>
            <a:off x="3254579" y="1730125"/>
            <a:ext cx="2729895" cy="311088"/>
          </a:xfrm>
          <a:prstGeom prst="roundRect">
            <a:avLst>
              <a:gd name="adj" fmla="val 0"/>
            </a:avLst>
          </a:prstGeom>
          <a:solidFill>
            <a:srgbClr val="F4B183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200" b="1">
                <a:ln>
                  <a:solidFill>
                    <a:schemeClr val="accent3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학습데이터 품질관리</a:t>
            </a:r>
            <a:endParaRPr lang="ko-KR" altLang="en-US" sz="1200">
              <a:ln>
                <a:solidFill>
                  <a:schemeClr val="accent3"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C4729912-89DD-BD82-BC58-4BCE15E2FBD9}"/>
              </a:ext>
            </a:extLst>
          </p:cNvPr>
          <p:cNvGrpSpPr/>
          <p:nvPr/>
        </p:nvGrpSpPr>
        <p:grpSpPr>
          <a:xfrm>
            <a:off x="3384993" y="2134796"/>
            <a:ext cx="2599482" cy="485899"/>
            <a:chOff x="323161" y="2096696"/>
            <a:chExt cx="2729895" cy="485899"/>
          </a:xfrm>
        </p:grpSpPr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53C4EB15-F680-A15E-DBA4-23537279154B}"/>
                </a:ext>
              </a:extLst>
            </p:cNvPr>
            <p:cNvSpPr/>
            <p:nvPr/>
          </p:nvSpPr>
          <p:spPr>
            <a:xfrm>
              <a:off x="323161" y="2096696"/>
              <a:ext cx="2729895" cy="215208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lIns="91440" tIns="0" rIns="0" bIns="18000" rtlCol="0" anchor="ctr"/>
            <a:lstStyle/>
            <a:p>
              <a:pPr marL="126376" indent="-126376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ko-KR" altLang="en-US" sz="1100" spc="-15">
                  <a:ln>
                    <a:solidFill>
                      <a:schemeClr val="accent3">
                        <a:alpha val="0"/>
                      </a:schemeClr>
                    </a:solidFill>
                  </a:ln>
                  <a:latin typeface="+mn-ea"/>
                  <a:cs typeface="Segoe UI" panose="020B0502040204020203" pitchFamily="34" charset="0"/>
                </a:rPr>
                <a:t>출처</a:t>
              </a:r>
              <a:r>
                <a:rPr lang="en-US" altLang="ko-KR" sz="1100" spc="-15">
                  <a:ln>
                    <a:solidFill>
                      <a:schemeClr val="accent3">
                        <a:alpha val="0"/>
                      </a:schemeClr>
                    </a:solidFill>
                  </a:ln>
                  <a:latin typeface="+mn-ea"/>
                  <a:cs typeface="Segoe UI" panose="020B0502040204020203" pitchFamily="34" charset="0"/>
                </a:rPr>
                <a:t>, </a:t>
              </a:r>
              <a:r>
                <a:rPr lang="ko-KR" altLang="en-US" sz="1100" spc="-15">
                  <a:ln>
                    <a:solidFill>
                      <a:schemeClr val="accent3">
                        <a:alpha val="0"/>
                      </a:schemeClr>
                    </a:solidFill>
                  </a:ln>
                  <a:latin typeface="+mn-ea"/>
                  <a:cs typeface="Segoe UI" panose="020B0502040204020203" pitchFamily="34" charset="0"/>
                </a:rPr>
                <a:t>수집 과정</a:t>
              </a:r>
              <a:endParaRPr lang="en-US" altLang="ko-KR" sz="1100" spc="-15">
                <a:ln>
                  <a:solidFill>
                    <a:schemeClr val="accent3">
                      <a:alpha val="0"/>
                    </a:schemeClr>
                  </a:solidFill>
                </a:ln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29" name="사각형: 둥근 모서리 28">
              <a:extLst>
                <a:ext uri="{FF2B5EF4-FFF2-40B4-BE49-F238E27FC236}">
                  <a16:creationId xmlns:a16="http://schemas.microsoft.com/office/drawing/2014/main" id="{BF454425-1FAC-B233-F138-46252CD2F3C6}"/>
                </a:ext>
              </a:extLst>
            </p:cNvPr>
            <p:cNvSpPr/>
            <p:nvPr/>
          </p:nvSpPr>
          <p:spPr>
            <a:xfrm>
              <a:off x="323161" y="2367387"/>
              <a:ext cx="2729895" cy="215208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lIns="91440" tIns="0" rIns="0" bIns="18000" rtlCol="0" anchor="ctr"/>
            <a:lstStyle/>
            <a:p>
              <a:pPr marL="126376" indent="-126376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ko-KR" altLang="en-US" sz="1100" spc="-15">
                  <a:ln>
                    <a:solidFill>
                      <a:schemeClr val="accent3">
                        <a:alpha val="0"/>
                      </a:schemeClr>
                    </a:solidFill>
                  </a:ln>
                  <a:latin typeface="+mn-ea"/>
                  <a:cs typeface="Segoe UI" panose="020B0502040204020203" pitchFamily="34" charset="0"/>
                </a:rPr>
                <a:t>대표성 및 정합성</a:t>
              </a:r>
              <a:endParaRPr lang="en-US" altLang="ko-KR" sz="1100" spc="-15">
                <a:ln>
                  <a:solidFill>
                    <a:schemeClr val="accent3">
                      <a:alpha val="0"/>
                    </a:schemeClr>
                  </a:solidFill>
                </a:ln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30" name="사각형: 둥근 모서리 20">
            <a:extLst>
              <a:ext uri="{FF2B5EF4-FFF2-40B4-BE49-F238E27FC236}">
                <a16:creationId xmlns:a16="http://schemas.microsoft.com/office/drawing/2014/main" id="{7B13F131-E252-A5E8-1E84-C920E530A346}"/>
              </a:ext>
            </a:extLst>
          </p:cNvPr>
          <p:cNvSpPr/>
          <p:nvPr/>
        </p:nvSpPr>
        <p:spPr>
          <a:xfrm>
            <a:off x="3254579" y="2800195"/>
            <a:ext cx="2729895" cy="311088"/>
          </a:xfrm>
          <a:prstGeom prst="roundRect">
            <a:avLst>
              <a:gd name="adj" fmla="val 0"/>
            </a:avLst>
          </a:prstGeom>
          <a:solidFill>
            <a:srgbClr val="F4B183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200" b="1">
                <a:ln>
                  <a:solidFill>
                    <a:schemeClr val="accent3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데이터 및 모델 편향성</a:t>
            </a:r>
            <a:endParaRPr lang="ko-KR" altLang="en-US" sz="1200">
              <a:ln>
                <a:solidFill>
                  <a:schemeClr val="accent3"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FAF51A82-3732-B4BF-78F0-3BD3D9FBAA9F}"/>
              </a:ext>
            </a:extLst>
          </p:cNvPr>
          <p:cNvGrpSpPr/>
          <p:nvPr/>
        </p:nvGrpSpPr>
        <p:grpSpPr>
          <a:xfrm>
            <a:off x="3384993" y="3204866"/>
            <a:ext cx="2599482" cy="485899"/>
            <a:chOff x="323161" y="2096696"/>
            <a:chExt cx="2729895" cy="485899"/>
          </a:xfrm>
        </p:grpSpPr>
        <p:sp>
          <p:nvSpPr>
            <p:cNvPr id="32" name="사각형: 둥근 모서리 31">
              <a:extLst>
                <a:ext uri="{FF2B5EF4-FFF2-40B4-BE49-F238E27FC236}">
                  <a16:creationId xmlns:a16="http://schemas.microsoft.com/office/drawing/2014/main" id="{134F6BEE-4EC1-BE0D-A2D8-EF2591617308}"/>
                </a:ext>
              </a:extLst>
            </p:cNvPr>
            <p:cNvSpPr/>
            <p:nvPr/>
          </p:nvSpPr>
          <p:spPr>
            <a:xfrm>
              <a:off x="323161" y="2096696"/>
              <a:ext cx="2729895" cy="215208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lIns="91440" tIns="0" rIns="0" bIns="18000" rtlCol="0" anchor="ctr"/>
            <a:lstStyle/>
            <a:p>
              <a:pPr marL="126376" indent="-126376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ko-KR" altLang="en-US" sz="1100" spc="-15">
                  <a:ln>
                    <a:solidFill>
                      <a:schemeClr val="accent3">
                        <a:alpha val="0"/>
                      </a:schemeClr>
                    </a:solidFill>
                  </a:ln>
                  <a:latin typeface="+mn-ea"/>
                  <a:cs typeface="Segoe UI" panose="020B0502040204020203" pitchFamily="34" charset="0"/>
                </a:rPr>
                <a:t>사전 차별 요소 점검</a:t>
              </a:r>
              <a:endParaRPr lang="en-US" altLang="ko-KR" sz="1100" spc="-15">
                <a:ln>
                  <a:solidFill>
                    <a:schemeClr val="accent3">
                      <a:alpha val="0"/>
                    </a:schemeClr>
                  </a:solidFill>
                </a:ln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33" name="사각형: 둥근 모서리 32">
              <a:extLst>
                <a:ext uri="{FF2B5EF4-FFF2-40B4-BE49-F238E27FC236}">
                  <a16:creationId xmlns:a16="http://schemas.microsoft.com/office/drawing/2014/main" id="{8C1E4F94-B017-9876-8B67-47E7BA4D3760}"/>
                </a:ext>
              </a:extLst>
            </p:cNvPr>
            <p:cNvSpPr/>
            <p:nvPr/>
          </p:nvSpPr>
          <p:spPr>
            <a:xfrm>
              <a:off x="323161" y="2367387"/>
              <a:ext cx="2729895" cy="215208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lIns="91440" tIns="0" rIns="0" bIns="18000" rtlCol="0" anchor="ctr"/>
            <a:lstStyle/>
            <a:p>
              <a:pPr marL="126376" indent="-126376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ko-KR" altLang="en-US" sz="1100" spc="-15">
                  <a:ln>
                    <a:solidFill>
                      <a:schemeClr val="accent3">
                        <a:alpha val="0"/>
                      </a:schemeClr>
                    </a:solidFill>
                  </a:ln>
                  <a:latin typeface="+mn-ea"/>
                  <a:cs typeface="Segoe UI" panose="020B0502040204020203" pitchFamily="34" charset="0"/>
                </a:rPr>
                <a:t>편향 검증 및 완화 조치</a:t>
              </a:r>
              <a:endParaRPr lang="en-US" altLang="ko-KR" sz="1100" spc="-15">
                <a:ln>
                  <a:solidFill>
                    <a:schemeClr val="accent3">
                      <a:alpha val="0"/>
                    </a:schemeClr>
                  </a:solidFill>
                </a:ln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34" name="사각형: 둥근 모서리 20">
            <a:extLst>
              <a:ext uri="{FF2B5EF4-FFF2-40B4-BE49-F238E27FC236}">
                <a16:creationId xmlns:a16="http://schemas.microsoft.com/office/drawing/2014/main" id="{19216395-ABD3-6849-CBF9-B975379131D5}"/>
              </a:ext>
            </a:extLst>
          </p:cNvPr>
          <p:cNvSpPr/>
          <p:nvPr/>
        </p:nvSpPr>
        <p:spPr>
          <a:xfrm>
            <a:off x="3254579" y="3870265"/>
            <a:ext cx="2729895" cy="311088"/>
          </a:xfrm>
          <a:prstGeom prst="roundRect">
            <a:avLst>
              <a:gd name="adj" fmla="val 0"/>
            </a:avLst>
          </a:prstGeom>
          <a:solidFill>
            <a:srgbClr val="F4B183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200" b="1">
                <a:ln>
                  <a:solidFill>
                    <a:schemeClr val="accent3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개인</a:t>
            </a:r>
            <a:r>
              <a:rPr lang="en-US" altLang="ko-KR" sz="1200" b="1">
                <a:ln>
                  <a:solidFill>
                    <a:schemeClr val="accent3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ᆞ</a:t>
            </a:r>
            <a:r>
              <a:rPr lang="ko-KR" altLang="en-US" sz="1200" b="1">
                <a:ln>
                  <a:solidFill>
                    <a:schemeClr val="accent3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민감정보 보호</a:t>
            </a:r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4781B5D6-77EA-75FC-1B17-AC6789B54C84}"/>
              </a:ext>
            </a:extLst>
          </p:cNvPr>
          <p:cNvGrpSpPr/>
          <p:nvPr/>
        </p:nvGrpSpPr>
        <p:grpSpPr>
          <a:xfrm>
            <a:off x="3384993" y="4274936"/>
            <a:ext cx="2599482" cy="485899"/>
            <a:chOff x="323161" y="2096696"/>
            <a:chExt cx="2729895" cy="485899"/>
          </a:xfrm>
        </p:grpSpPr>
        <p:sp>
          <p:nvSpPr>
            <p:cNvPr id="36" name="사각형: 둥근 모서리 35">
              <a:extLst>
                <a:ext uri="{FF2B5EF4-FFF2-40B4-BE49-F238E27FC236}">
                  <a16:creationId xmlns:a16="http://schemas.microsoft.com/office/drawing/2014/main" id="{F044C52D-E394-1E96-5316-2531701520AF}"/>
                </a:ext>
              </a:extLst>
            </p:cNvPr>
            <p:cNvSpPr/>
            <p:nvPr/>
          </p:nvSpPr>
          <p:spPr>
            <a:xfrm>
              <a:off x="323161" y="2096696"/>
              <a:ext cx="2729895" cy="215208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lIns="91440" tIns="0" rIns="0" bIns="18000" rtlCol="0" anchor="ctr"/>
            <a:lstStyle/>
            <a:p>
              <a:pPr marL="126376" indent="-126376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ko-KR" altLang="en-US" sz="1100" spc="-15">
                  <a:ln>
                    <a:solidFill>
                      <a:schemeClr val="accent3">
                        <a:alpha val="0"/>
                      </a:schemeClr>
                    </a:solidFill>
                  </a:ln>
                  <a:latin typeface="+mn-ea"/>
                  <a:cs typeface="Segoe UI" panose="020B0502040204020203" pitchFamily="34" charset="0"/>
                </a:rPr>
                <a:t>정보 활용 필요성 점검</a:t>
              </a:r>
              <a:endParaRPr lang="en-US" altLang="ko-KR" sz="1100" spc="-15">
                <a:ln>
                  <a:solidFill>
                    <a:schemeClr val="accent3">
                      <a:alpha val="0"/>
                    </a:schemeClr>
                  </a:solidFill>
                </a:ln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37" name="사각형: 둥근 모서리 36">
              <a:extLst>
                <a:ext uri="{FF2B5EF4-FFF2-40B4-BE49-F238E27FC236}">
                  <a16:creationId xmlns:a16="http://schemas.microsoft.com/office/drawing/2014/main" id="{E96E0D71-744F-C2F3-6117-493C8A00D89A}"/>
                </a:ext>
              </a:extLst>
            </p:cNvPr>
            <p:cNvSpPr/>
            <p:nvPr/>
          </p:nvSpPr>
          <p:spPr>
            <a:xfrm>
              <a:off x="323161" y="2367387"/>
              <a:ext cx="2729895" cy="215208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lIns="91440" tIns="0" rIns="0" bIns="18000" rtlCol="0" anchor="ctr"/>
            <a:lstStyle/>
            <a:p>
              <a:pPr marL="126376" indent="-126376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ko-KR" altLang="en-US" sz="1100" spc="-15">
                  <a:ln>
                    <a:solidFill>
                      <a:schemeClr val="accent3">
                        <a:alpha val="0"/>
                      </a:schemeClr>
                    </a:solidFill>
                  </a:ln>
                  <a:latin typeface="+mn-ea"/>
                  <a:cs typeface="Segoe UI" panose="020B0502040204020203" pitchFamily="34" charset="0"/>
                </a:rPr>
                <a:t>안전 조치 확인</a:t>
              </a:r>
              <a:endParaRPr lang="en-US" altLang="ko-KR" sz="1100" spc="-15">
                <a:ln>
                  <a:solidFill>
                    <a:schemeClr val="accent3">
                      <a:alpha val="0"/>
                    </a:schemeClr>
                  </a:solidFill>
                </a:ln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38" name="사각형: 둥근 모서리 20">
            <a:extLst>
              <a:ext uri="{FF2B5EF4-FFF2-40B4-BE49-F238E27FC236}">
                <a16:creationId xmlns:a16="http://schemas.microsoft.com/office/drawing/2014/main" id="{BDB29C88-2D94-3119-A490-A49462054849}"/>
              </a:ext>
            </a:extLst>
          </p:cNvPr>
          <p:cNvSpPr/>
          <p:nvPr/>
        </p:nvSpPr>
        <p:spPr>
          <a:xfrm>
            <a:off x="3254579" y="4940334"/>
            <a:ext cx="2729895" cy="311088"/>
          </a:xfrm>
          <a:prstGeom prst="roundRect">
            <a:avLst>
              <a:gd name="adj" fmla="val 0"/>
            </a:avLst>
          </a:prstGeom>
          <a:solidFill>
            <a:srgbClr val="F4B183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200" b="1">
                <a:ln>
                  <a:solidFill>
                    <a:schemeClr val="accent3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설명가능성 고려</a:t>
            </a:r>
            <a:endParaRPr lang="ko-KR" altLang="en-US" sz="1200">
              <a:ln>
                <a:solidFill>
                  <a:schemeClr val="accent3"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7706ACAC-3FD6-386E-23BC-7E9F0BEAFE59}"/>
              </a:ext>
            </a:extLst>
          </p:cNvPr>
          <p:cNvGrpSpPr/>
          <p:nvPr/>
        </p:nvGrpSpPr>
        <p:grpSpPr>
          <a:xfrm>
            <a:off x="3384993" y="5345005"/>
            <a:ext cx="2599482" cy="485899"/>
            <a:chOff x="323161" y="2096696"/>
            <a:chExt cx="2729895" cy="485899"/>
          </a:xfrm>
        </p:grpSpPr>
        <p:sp>
          <p:nvSpPr>
            <p:cNvPr id="40" name="사각형: 둥근 모서리 39">
              <a:extLst>
                <a:ext uri="{FF2B5EF4-FFF2-40B4-BE49-F238E27FC236}">
                  <a16:creationId xmlns:a16="http://schemas.microsoft.com/office/drawing/2014/main" id="{E1365DDE-E906-F8AB-F423-129C43A99044}"/>
                </a:ext>
              </a:extLst>
            </p:cNvPr>
            <p:cNvSpPr/>
            <p:nvPr/>
          </p:nvSpPr>
          <p:spPr>
            <a:xfrm>
              <a:off x="323161" y="2096696"/>
              <a:ext cx="2729895" cy="215208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lIns="91440" tIns="0" rIns="0" bIns="18000" rtlCol="0" anchor="ctr"/>
            <a:lstStyle/>
            <a:p>
              <a:pPr marL="126376" indent="-126376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ko-KR" altLang="en-US" sz="1100" spc="-15">
                  <a:ln>
                    <a:solidFill>
                      <a:schemeClr val="accent3">
                        <a:alpha val="0"/>
                      </a:schemeClr>
                    </a:solidFill>
                  </a:ln>
                  <a:latin typeface="+mn-ea"/>
                  <a:cs typeface="Segoe UI" panose="020B0502040204020203" pitchFamily="34" charset="0"/>
                </a:rPr>
                <a:t>설명가능한 </a:t>
              </a:r>
              <a:r>
                <a:rPr lang="en-US" altLang="ko-KR" sz="1100" spc="-15">
                  <a:ln>
                    <a:solidFill>
                      <a:schemeClr val="accent3">
                        <a:alpha val="0"/>
                      </a:schemeClr>
                    </a:solidFill>
                  </a:ln>
                  <a:latin typeface="+mn-ea"/>
                  <a:cs typeface="Segoe UI" panose="020B0502040204020203" pitchFamily="34" charset="0"/>
                </a:rPr>
                <a:t>AI</a:t>
              </a:r>
              <a:r>
                <a:rPr lang="ko-KR" altLang="en-US" sz="1100" spc="-15">
                  <a:ln>
                    <a:solidFill>
                      <a:schemeClr val="accent3">
                        <a:alpha val="0"/>
                      </a:schemeClr>
                    </a:solidFill>
                  </a:ln>
                  <a:latin typeface="+mn-ea"/>
                  <a:cs typeface="Segoe UI" panose="020B0502040204020203" pitchFamily="34" charset="0"/>
                </a:rPr>
                <a:t>기술적용</a:t>
              </a:r>
              <a:endParaRPr lang="en-US" altLang="ko-KR" sz="1100" spc="-15">
                <a:ln>
                  <a:solidFill>
                    <a:schemeClr val="accent3">
                      <a:alpha val="0"/>
                    </a:schemeClr>
                  </a:solidFill>
                </a:ln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41" name="사각형: 둥근 모서리 40">
              <a:extLst>
                <a:ext uri="{FF2B5EF4-FFF2-40B4-BE49-F238E27FC236}">
                  <a16:creationId xmlns:a16="http://schemas.microsoft.com/office/drawing/2014/main" id="{9FBFE0A7-0BC3-B413-593B-0BC277867C07}"/>
                </a:ext>
              </a:extLst>
            </p:cNvPr>
            <p:cNvSpPr/>
            <p:nvPr/>
          </p:nvSpPr>
          <p:spPr>
            <a:xfrm>
              <a:off x="323161" y="2367387"/>
              <a:ext cx="2729895" cy="215208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lIns="91440" tIns="0" rIns="0" bIns="18000" rtlCol="0" anchor="ctr"/>
            <a:lstStyle/>
            <a:p>
              <a:pPr marL="126376" indent="-126376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ko-KR" altLang="en-US" sz="1100" spc="-15">
                  <a:ln>
                    <a:solidFill>
                      <a:schemeClr val="accent3">
                        <a:alpha val="0"/>
                      </a:schemeClr>
                    </a:solidFill>
                  </a:ln>
                  <a:latin typeface="+mn-ea"/>
                  <a:cs typeface="Segoe UI" panose="020B0502040204020203" pitchFamily="34" charset="0"/>
                </a:rPr>
                <a:t>고객 설명 절차 고려</a:t>
              </a:r>
              <a:endParaRPr lang="en-US" altLang="ko-KR" sz="1100" spc="-15">
                <a:ln>
                  <a:solidFill>
                    <a:schemeClr val="accent3">
                      <a:alpha val="0"/>
                    </a:schemeClr>
                  </a:solidFill>
                </a:ln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6EC2668F-1C4D-EA75-C1A0-509421A18F3A}"/>
              </a:ext>
            </a:extLst>
          </p:cNvPr>
          <p:cNvSpPr/>
          <p:nvPr/>
        </p:nvSpPr>
        <p:spPr>
          <a:xfrm>
            <a:off x="6310510" y="2134796"/>
            <a:ext cx="2599482" cy="215208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91440" tIns="0" rIns="0" bIns="18000" rtlCol="0" anchor="ctr"/>
          <a:lstStyle/>
          <a:p>
            <a:pPr marL="126376" indent="-126376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1100" spc="-15">
                <a:ln>
                  <a:solidFill>
                    <a:schemeClr val="accent3">
                      <a:alpha val="0"/>
                    </a:schemeClr>
                  </a:solidFill>
                </a:ln>
                <a:latin typeface="+mn-ea"/>
                <a:cs typeface="Segoe UI" panose="020B0502040204020203" pitchFamily="34" charset="0"/>
              </a:rPr>
              <a:t>성능 평가 지표 정의</a:t>
            </a:r>
            <a:endParaRPr lang="en-US" altLang="ko-KR" sz="1100" spc="-15">
              <a:ln>
                <a:solidFill>
                  <a:schemeClr val="accent3">
                    <a:alpha val="0"/>
                  </a:schemeClr>
                </a:solidFill>
              </a:ln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B5114160-3F7C-22FA-5EFA-D73AE9B547AA}"/>
              </a:ext>
            </a:extLst>
          </p:cNvPr>
          <p:cNvSpPr/>
          <p:nvPr/>
        </p:nvSpPr>
        <p:spPr>
          <a:xfrm>
            <a:off x="6310510" y="2405487"/>
            <a:ext cx="2599482" cy="215208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91440" tIns="0" rIns="0" bIns="18000" rtlCol="0" anchor="ctr"/>
          <a:lstStyle/>
          <a:p>
            <a:pPr marL="126376" indent="-126376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1100" spc="-15">
                <a:ln>
                  <a:solidFill>
                    <a:schemeClr val="accent3">
                      <a:alpha val="0"/>
                    </a:schemeClr>
                  </a:solidFill>
                </a:ln>
                <a:latin typeface="+mn-ea"/>
                <a:cs typeface="Segoe UI" panose="020B0502040204020203" pitchFamily="34" charset="0"/>
              </a:rPr>
              <a:t>수준 점검 및 조치</a:t>
            </a:r>
            <a:endParaRPr lang="en-US" altLang="ko-KR" sz="1100" spc="-15">
              <a:ln>
                <a:solidFill>
                  <a:schemeClr val="accent3">
                    <a:alpha val="0"/>
                  </a:schemeClr>
                </a:solidFill>
              </a:ln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2BC19D85-9941-E762-8732-213939D1B816}"/>
              </a:ext>
            </a:extLst>
          </p:cNvPr>
          <p:cNvSpPr/>
          <p:nvPr/>
        </p:nvSpPr>
        <p:spPr>
          <a:xfrm>
            <a:off x="6310510" y="3215766"/>
            <a:ext cx="2599482" cy="215208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91440" tIns="0" rIns="0" bIns="18000" rtlCol="0" anchor="ctr"/>
          <a:lstStyle/>
          <a:p>
            <a:pPr marL="126376" indent="-126376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1100" spc="-15">
                <a:ln>
                  <a:solidFill>
                    <a:schemeClr val="accent3">
                      <a:alpha val="0"/>
                    </a:schemeClr>
                  </a:solidFill>
                </a:ln>
                <a:latin typeface="+mn-ea"/>
                <a:cs typeface="Segoe UI" panose="020B0502040204020203" pitchFamily="34" charset="0"/>
              </a:rPr>
              <a:t>공정성 목표</a:t>
            </a:r>
            <a:r>
              <a:rPr lang="en-US" altLang="ko-KR" sz="1100" spc="-15">
                <a:ln>
                  <a:solidFill>
                    <a:schemeClr val="accent3">
                      <a:alpha val="0"/>
                    </a:schemeClr>
                  </a:solidFill>
                </a:ln>
                <a:latin typeface="+mn-ea"/>
                <a:cs typeface="Segoe UI" panose="020B0502040204020203" pitchFamily="34" charset="0"/>
              </a:rPr>
              <a:t>, </a:t>
            </a:r>
            <a:r>
              <a:rPr lang="ko-KR" altLang="en-US" sz="1100" spc="-15">
                <a:ln>
                  <a:solidFill>
                    <a:schemeClr val="accent3">
                      <a:alpha val="0"/>
                    </a:schemeClr>
                  </a:solidFill>
                </a:ln>
                <a:latin typeface="+mn-ea"/>
                <a:cs typeface="Segoe UI" panose="020B0502040204020203" pitchFamily="34" charset="0"/>
              </a:rPr>
              <a:t>지표 관리</a:t>
            </a:r>
            <a:endParaRPr lang="en-US" altLang="ko-KR" sz="1100" spc="-15">
              <a:ln>
                <a:solidFill>
                  <a:schemeClr val="accent3">
                    <a:alpha val="0"/>
                  </a:schemeClr>
                </a:solidFill>
              </a:ln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5B430314-895A-6348-DD2A-1BA7D643264D}"/>
              </a:ext>
            </a:extLst>
          </p:cNvPr>
          <p:cNvSpPr/>
          <p:nvPr/>
        </p:nvSpPr>
        <p:spPr>
          <a:xfrm>
            <a:off x="6310510" y="3486457"/>
            <a:ext cx="2599482" cy="215208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91440" tIns="0" rIns="0" bIns="18000" rtlCol="0" anchor="ctr"/>
          <a:lstStyle/>
          <a:p>
            <a:pPr marL="126376" indent="-126376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1100" spc="-15">
                <a:ln>
                  <a:solidFill>
                    <a:schemeClr val="accent3">
                      <a:alpha val="0"/>
                    </a:schemeClr>
                  </a:solidFill>
                </a:ln>
                <a:latin typeface="+mn-ea"/>
                <a:cs typeface="Segoe UI" panose="020B0502040204020203" pitchFamily="34" charset="0"/>
              </a:rPr>
              <a:t>기술</a:t>
            </a:r>
            <a:r>
              <a:rPr lang="en-US" altLang="ko-KR" sz="1100" spc="-15">
                <a:ln>
                  <a:solidFill>
                    <a:schemeClr val="accent3">
                      <a:alpha val="0"/>
                    </a:schemeClr>
                  </a:solidFill>
                </a:ln>
                <a:latin typeface="+mn-ea"/>
                <a:cs typeface="Segoe UI" panose="020B0502040204020203" pitchFamily="34" charset="0"/>
              </a:rPr>
              <a:t>, </a:t>
            </a:r>
            <a:r>
              <a:rPr lang="ko-KR" altLang="en-US" sz="1100" spc="-15">
                <a:ln>
                  <a:solidFill>
                    <a:schemeClr val="accent3">
                      <a:alpha val="0"/>
                    </a:schemeClr>
                  </a:solidFill>
                </a:ln>
                <a:latin typeface="+mn-ea"/>
                <a:cs typeface="Segoe UI" panose="020B0502040204020203" pitchFamily="34" charset="0"/>
              </a:rPr>
              <a:t>관리적 방안 수립</a:t>
            </a:r>
            <a:endParaRPr lang="en-US" altLang="ko-KR" sz="1100" spc="-15">
              <a:ln>
                <a:solidFill>
                  <a:schemeClr val="accent3">
                    <a:alpha val="0"/>
                  </a:schemeClr>
                </a:solidFill>
              </a:ln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C5423667-99F3-1664-8D8C-578B64D4E219}"/>
              </a:ext>
            </a:extLst>
          </p:cNvPr>
          <p:cNvSpPr/>
          <p:nvPr/>
        </p:nvSpPr>
        <p:spPr>
          <a:xfrm>
            <a:off x="6310510" y="4296735"/>
            <a:ext cx="2599482" cy="485899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91440" tIns="0" rIns="0" bIns="18000" rtlCol="0" anchor="ctr"/>
          <a:lstStyle/>
          <a:p>
            <a:pPr marL="126376" indent="-126376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1100" spc="-15">
                <a:ln>
                  <a:solidFill>
                    <a:schemeClr val="accent3">
                      <a:alpha val="0"/>
                    </a:schemeClr>
                  </a:solidFill>
                </a:ln>
                <a:latin typeface="+mn-ea"/>
                <a:cs typeface="Segoe UI" panose="020B0502040204020203" pitchFamily="34" charset="0"/>
              </a:rPr>
              <a:t>설명가능성 평가 기준</a:t>
            </a:r>
            <a:r>
              <a:rPr lang="en-US" altLang="ko-KR" sz="1100" spc="-15">
                <a:ln>
                  <a:solidFill>
                    <a:schemeClr val="accent3">
                      <a:alpha val="0"/>
                    </a:schemeClr>
                  </a:solidFill>
                </a:ln>
                <a:latin typeface="+mn-ea"/>
                <a:cs typeface="Segoe UI" panose="020B0502040204020203" pitchFamily="34" charset="0"/>
              </a:rPr>
              <a:t>ᆞ</a:t>
            </a:r>
            <a:r>
              <a:rPr lang="ko-KR" altLang="en-US" sz="1100" spc="-15">
                <a:ln>
                  <a:solidFill>
                    <a:schemeClr val="accent3">
                      <a:alpha val="0"/>
                    </a:schemeClr>
                  </a:solidFill>
                </a:ln>
                <a:latin typeface="+mn-ea"/>
                <a:cs typeface="Segoe UI" panose="020B0502040204020203" pitchFamily="34" charset="0"/>
              </a:rPr>
              <a:t>절차</a:t>
            </a:r>
            <a:r>
              <a:rPr lang="en-US" altLang="ko-KR" sz="1100" spc="-15">
                <a:ln>
                  <a:solidFill>
                    <a:schemeClr val="accent3">
                      <a:alpha val="0"/>
                    </a:schemeClr>
                  </a:solidFill>
                </a:ln>
                <a:latin typeface="+mn-ea"/>
                <a:cs typeface="Segoe UI" panose="020B0502040204020203" pitchFamily="34" charset="0"/>
              </a:rPr>
              <a:t>, </a:t>
            </a:r>
            <a:r>
              <a:rPr lang="ko-KR" altLang="en-US" sz="1100" spc="-15">
                <a:ln>
                  <a:solidFill>
                    <a:schemeClr val="accent3">
                      <a:alpha val="0"/>
                    </a:schemeClr>
                  </a:solidFill>
                </a:ln>
                <a:latin typeface="+mn-ea"/>
                <a:cs typeface="Segoe UI" panose="020B0502040204020203" pitchFamily="34" charset="0"/>
              </a:rPr>
              <a:t>개선 방안 검토</a:t>
            </a:r>
            <a:endParaRPr lang="en-US" altLang="ko-KR" sz="1100" spc="-15">
              <a:ln>
                <a:solidFill>
                  <a:schemeClr val="accent3">
                    <a:alpha val="0"/>
                  </a:schemeClr>
                </a:solidFill>
              </a:ln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427737C1-B20A-AA6B-55CB-4E825071D4B4}"/>
              </a:ext>
            </a:extLst>
          </p:cNvPr>
          <p:cNvSpPr/>
          <p:nvPr/>
        </p:nvSpPr>
        <p:spPr>
          <a:xfrm>
            <a:off x="9236027" y="2133797"/>
            <a:ext cx="2599482" cy="215208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91440" tIns="0" rIns="0" bIns="18000" rtlCol="0" anchor="ctr"/>
          <a:lstStyle/>
          <a:p>
            <a:pPr marL="126376" indent="-126376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1100" spc="-15">
                <a:ln>
                  <a:solidFill>
                    <a:schemeClr val="accent3">
                      <a:alpha val="0"/>
                    </a:schemeClr>
                  </a:solidFill>
                </a:ln>
                <a:latin typeface="+mn-ea"/>
                <a:cs typeface="Segoe UI" panose="020B0502040204020203" pitchFamily="34" charset="0"/>
              </a:rPr>
              <a:t>시스템 적용과 범위고지</a:t>
            </a:r>
            <a:endParaRPr lang="en-US" altLang="ko-KR" sz="1100" spc="-15">
              <a:ln>
                <a:solidFill>
                  <a:schemeClr val="accent3">
                    <a:alpha val="0"/>
                  </a:schemeClr>
                </a:solidFill>
              </a:ln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922CBEF1-F569-9343-0F14-F6FD140FC83D}"/>
              </a:ext>
            </a:extLst>
          </p:cNvPr>
          <p:cNvSpPr/>
          <p:nvPr/>
        </p:nvSpPr>
        <p:spPr>
          <a:xfrm>
            <a:off x="9236027" y="2404488"/>
            <a:ext cx="2599482" cy="215208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91440" tIns="0" rIns="0" bIns="18000" rtlCol="0" anchor="ctr"/>
          <a:lstStyle/>
          <a:p>
            <a:pPr marL="126376" indent="-126376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1100" spc="-15">
                <a:ln>
                  <a:solidFill>
                    <a:schemeClr val="accent3">
                      <a:alpha val="0"/>
                    </a:schemeClr>
                  </a:solidFill>
                </a:ln>
                <a:latin typeface="+mn-ea"/>
                <a:cs typeface="Segoe UI" panose="020B0502040204020203" pitchFamily="34" charset="0"/>
              </a:rPr>
              <a:t>고객 불편 구제 방안</a:t>
            </a:r>
            <a:endParaRPr lang="en-US" altLang="ko-KR" sz="1100" spc="-15">
              <a:ln>
                <a:solidFill>
                  <a:schemeClr val="accent3">
                    <a:alpha val="0"/>
                  </a:schemeClr>
                </a:solidFill>
              </a:ln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6E3EF762-B474-8364-7186-4EC6D8EADA66}"/>
              </a:ext>
            </a:extLst>
          </p:cNvPr>
          <p:cNvSpPr/>
          <p:nvPr/>
        </p:nvSpPr>
        <p:spPr>
          <a:xfrm>
            <a:off x="9236027" y="3485458"/>
            <a:ext cx="2599482" cy="215208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91440" tIns="0" rIns="0" bIns="18000" rtlCol="0" anchor="ctr"/>
          <a:lstStyle/>
          <a:p>
            <a:pPr marL="126376" indent="-126376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1100" spc="-15" err="1">
                <a:ln>
                  <a:solidFill>
                    <a:schemeClr val="accent3">
                      <a:alpha val="0"/>
                    </a:schemeClr>
                  </a:solidFill>
                </a:ln>
                <a:latin typeface="+mn-ea"/>
                <a:cs typeface="Segoe UI" panose="020B0502040204020203" pitchFamily="34" charset="0"/>
              </a:rPr>
              <a:t>재학습</a:t>
            </a:r>
            <a:r>
              <a:rPr lang="en-US" altLang="ko-KR" sz="1100" spc="-15">
                <a:ln>
                  <a:solidFill>
                    <a:schemeClr val="accent3">
                      <a:alpha val="0"/>
                    </a:schemeClr>
                  </a:solidFill>
                </a:ln>
                <a:latin typeface="+mn-ea"/>
                <a:cs typeface="Segoe UI" panose="020B0502040204020203" pitchFamily="34" charset="0"/>
              </a:rPr>
              <a:t>ᆞ</a:t>
            </a:r>
            <a:r>
              <a:rPr lang="ko-KR" altLang="en-US" sz="1100" spc="-15">
                <a:ln>
                  <a:solidFill>
                    <a:schemeClr val="accent3">
                      <a:alpha val="0"/>
                    </a:schemeClr>
                  </a:solidFill>
                </a:ln>
                <a:latin typeface="+mn-ea"/>
                <a:cs typeface="Segoe UI" panose="020B0502040204020203" pitchFamily="34" charset="0"/>
              </a:rPr>
              <a:t>개선 방안</a:t>
            </a:r>
            <a:endParaRPr lang="en-US" altLang="ko-KR" sz="1100" spc="-15">
              <a:ln>
                <a:solidFill>
                  <a:schemeClr val="accent3">
                    <a:alpha val="0"/>
                  </a:schemeClr>
                </a:solidFill>
              </a:ln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34E9F6DA-C03D-886D-0CEF-F5D30AD5474C}"/>
              </a:ext>
            </a:extLst>
          </p:cNvPr>
          <p:cNvSpPr/>
          <p:nvPr/>
        </p:nvSpPr>
        <p:spPr>
          <a:xfrm>
            <a:off x="9236027" y="4295737"/>
            <a:ext cx="2599482" cy="215208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91440" tIns="0" rIns="0" bIns="18000" rtlCol="0" anchor="ctr"/>
          <a:lstStyle/>
          <a:p>
            <a:pPr marL="126376" indent="-126376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1100" spc="-15">
                <a:ln>
                  <a:solidFill>
                    <a:schemeClr val="accent3">
                      <a:alpha val="0"/>
                    </a:schemeClr>
                  </a:solidFill>
                </a:ln>
                <a:latin typeface="+mn-ea"/>
                <a:cs typeface="Segoe UI" panose="020B0502040204020203" pitchFamily="34" charset="0"/>
              </a:rPr>
              <a:t>오용</a:t>
            </a:r>
            <a:r>
              <a:rPr lang="en-US" altLang="ko-KR" sz="1100" spc="-15">
                <a:ln>
                  <a:solidFill>
                    <a:schemeClr val="accent3">
                      <a:alpha val="0"/>
                    </a:schemeClr>
                  </a:solidFill>
                </a:ln>
                <a:latin typeface="+mn-ea"/>
                <a:cs typeface="Segoe UI" panose="020B0502040204020203" pitchFamily="34" charset="0"/>
              </a:rPr>
              <a:t>,</a:t>
            </a:r>
            <a:r>
              <a:rPr lang="ko-KR" altLang="en-US" sz="1100" spc="-15">
                <a:ln>
                  <a:solidFill>
                    <a:schemeClr val="accent3">
                      <a:alpha val="0"/>
                    </a:schemeClr>
                  </a:solidFill>
                </a:ln>
                <a:latin typeface="+mn-ea"/>
                <a:cs typeface="Segoe UI" panose="020B0502040204020203" pitchFamily="34" charset="0"/>
              </a:rPr>
              <a:t> 악용 가능성 점검</a:t>
            </a:r>
            <a:endParaRPr lang="en-US" altLang="ko-KR" sz="1100" spc="-15">
              <a:ln>
                <a:solidFill>
                  <a:schemeClr val="accent3">
                    <a:alpha val="0"/>
                  </a:schemeClr>
                </a:solidFill>
              </a:ln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E2A058E2-AD33-0EE6-E2DB-A2D0B934D8CA}"/>
              </a:ext>
            </a:extLst>
          </p:cNvPr>
          <p:cNvSpPr/>
          <p:nvPr/>
        </p:nvSpPr>
        <p:spPr>
          <a:xfrm>
            <a:off x="9236027" y="4566428"/>
            <a:ext cx="2599482" cy="215208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91440" tIns="0" rIns="0" bIns="18000" rtlCol="0" anchor="ctr"/>
          <a:lstStyle/>
          <a:p>
            <a:pPr marL="126376" indent="-126376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1100" spc="-15">
                <a:ln>
                  <a:solidFill>
                    <a:schemeClr val="accent3">
                      <a:alpha val="0"/>
                    </a:schemeClr>
                  </a:solidFill>
                </a:ln>
                <a:latin typeface="+mn-ea"/>
                <a:cs typeface="Segoe UI" panose="020B0502040204020203" pitchFamily="34" charset="0"/>
              </a:rPr>
              <a:t>보안취약성 관리</a:t>
            </a:r>
            <a:endParaRPr lang="en-US" altLang="ko-KR" sz="1100" spc="-15">
              <a:ln>
                <a:solidFill>
                  <a:schemeClr val="accent3">
                    <a:alpha val="0"/>
                  </a:schemeClr>
                </a:solidFill>
              </a:ln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EF3804EB-224D-A578-250A-506C938235C7}"/>
              </a:ext>
            </a:extLst>
          </p:cNvPr>
          <p:cNvSpPr/>
          <p:nvPr/>
        </p:nvSpPr>
        <p:spPr>
          <a:xfrm>
            <a:off x="9236027" y="4835325"/>
            <a:ext cx="2599482" cy="215208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91440" tIns="0" rIns="0" bIns="18000" rtlCol="0" anchor="ctr"/>
          <a:lstStyle/>
          <a:p>
            <a:pPr marL="126376" indent="-126376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1100" spc="-15">
                <a:ln>
                  <a:solidFill>
                    <a:schemeClr val="accent3">
                      <a:alpha val="0"/>
                    </a:schemeClr>
                  </a:solidFill>
                </a:ln>
                <a:latin typeface="+mn-ea"/>
                <a:cs typeface="Segoe UI" panose="020B0502040204020203" pitchFamily="34" charset="0"/>
              </a:rPr>
              <a:t>신속 복구 체계 설계</a:t>
            </a:r>
            <a:endParaRPr lang="en-US" altLang="ko-KR" sz="1100" spc="-15">
              <a:ln>
                <a:solidFill>
                  <a:schemeClr val="accent3">
                    <a:alpha val="0"/>
                  </a:schemeClr>
                </a:solidFill>
              </a:ln>
              <a:latin typeface="+mn-ea"/>
              <a:cs typeface="Segoe UI" panose="020B0502040204020203" pitchFamily="34" charset="0"/>
            </a:endParaRPr>
          </a:p>
        </p:txBody>
      </p: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91C6BCAC-5723-B80C-C6F9-D6FAC0539DBC}"/>
              </a:ext>
            </a:extLst>
          </p:cNvPr>
          <p:cNvGrpSpPr/>
          <p:nvPr/>
        </p:nvGrpSpPr>
        <p:grpSpPr>
          <a:xfrm>
            <a:off x="331785" y="26929"/>
            <a:ext cx="900000" cy="180000"/>
            <a:chOff x="407985" y="52329"/>
            <a:chExt cx="900000" cy="180000"/>
          </a:xfrm>
          <a:solidFill>
            <a:srgbClr val="0070C0"/>
          </a:solidFill>
        </p:grpSpPr>
        <p:sp>
          <p:nvSpPr>
            <p:cNvPr id="54" name="사각형: 둥근 모서리 53">
              <a:extLst>
                <a:ext uri="{FF2B5EF4-FFF2-40B4-BE49-F238E27FC236}">
                  <a16:creationId xmlns:a16="http://schemas.microsoft.com/office/drawing/2014/main" id="{413E6641-D6EC-5CC6-54FD-6D795607375E}"/>
                </a:ext>
              </a:extLst>
            </p:cNvPr>
            <p:cNvSpPr/>
            <p:nvPr/>
          </p:nvSpPr>
          <p:spPr>
            <a:xfrm>
              <a:off x="407985" y="52329"/>
              <a:ext cx="180000" cy="180000"/>
            </a:xfrm>
            <a:prstGeom prst="roundRect">
              <a:avLst/>
            </a:prstGeom>
            <a:grpFill/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+mn-ea"/>
                </a:rPr>
                <a:t>1</a:t>
              </a:r>
            </a:p>
          </p:txBody>
        </p:sp>
        <p:sp>
          <p:nvSpPr>
            <p:cNvPr id="55" name="사각형: 둥근 모서리 54">
              <a:extLst>
                <a:ext uri="{FF2B5EF4-FFF2-40B4-BE49-F238E27FC236}">
                  <a16:creationId xmlns:a16="http://schemas.microsoft.com/office/drawing/2014/main" id="{716E800A-F398-A480-C41E-74F5E83B9B6F}"/>
                </a:ext>
              </a:extLst>
            </p:cNvPr>
            <p:cNvSpPr/>
            <p:nvPr/>
          </p:nvSpPr>
          <p:spPr>
            <a:xfrm>
              <a:off x="587985" y="52329"/>
              <a:ext cx="180000" cy="180000"/>
            </a:xfrm>
            <a:prstGeom prst="roundRect">
              <a:avLst/>
            </a:prstGeom>
            <a:grpFill/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+mn-ea"/>
                </a:rPr>
                <a:t>2</a:t>
              </a:r>
            </a:p>
          </p:txBody>
        </p:sp>
        <p:sp>
          <p:nvSpPr>
            <p:cNvPr id="56" name="사각형: 둥근 모서리 55">
              <a:extLst>
                <a:ext uri="{FF2B5EF4-FFF2-40B4-BE49-F238E27FC236}">
                  <a16:creationId xmlns:a16="http://schemas.microsoft.com/office/drawing/2014/main" id="{98517F70-B996-EC20-CCBF-0090955B4D3B}"/>
                </a:ext>
              </a:extLst>
            </p:cNvPr>
            <p:cNvSpPr/>
            <p:nvPr/>
          </p:nvSpPr>
          <p:spPr>
            <a:xfrm>
              <a:off x="767985" y="52329"/>
              <a:ext cx="180000" cy="180000"/>
            </a:xfrm>
            <a:prstGeom prst="roundRect">
              <a:avLst/>
            </a:prstGeom>
            <a:grpFill/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+mn-ea"/>
                </a:rPr>
                <a:t>3</a:t>
              </a:r>
            </a:p>
          </p:txBody>
        </p:sp>
        <p:sp>
          <p:nvSpPr>
            <p:cNvPr id="57" name="사각형: 둥근 모서리 56">
              <a:extLst>
                <a:ext uri="{FF2B5EF4-FFF2-40B4-BE49-F238E27FC236}">
                  <a16:creationId xmlns:a16="http://schemas.microsoft.com/office/drawing/2014/main" id="{D0773295-F66E-7D95-6383-DDF66F18A07B}"/>
                </a:ext>
              </a:extLst>
            </p:cNvPr>
            <p:cNvSpPr/>
            <p:nvPr/>
          </p:nvSpPr>
          <p:spPr>
            <a:xfrm>
              <a:off x="947985" y="52329"/>
              <a:ext cx="180000" cy="180000"/>
            </a:xfrm>
            <a:prstGeom prst="roundRect">
              <a:avLst/>
            </a:prstGeom>
            <a:grpFill/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+mn-ea"/>
                </a:rPr>
                <a:t>4</a:t>
              </a:r>
            </a:p>
          </p:txBody>
        </p:sp>
        <p:sp>
          <p:nvSpPr>
            <p:cNvPr id="58" name="사각형: 둥근 모서리 57">
              <a:extLst>
                <a:ext uri="{FF2B5EF4-FFF2-40B4-BE49-F238E27FC236}">
                  <a16:creationId xmlns:a16="http://schemas.microsoft.com/office/drawing/2014/main" id="{83F4D535-F89F-86DB-4638-F4807AE17433}"/>
                </a:ext>
              </a:extLst>
            </p:cNvPr>
            <p:cNvSpPr/>
            <p:nvPr/>
          </p:nvSpPr>
          <p:spPr>
            <a:xfrm>
              <a:off x="1127985" y="52329"/>
              <a:ext cx="180000" cy="180000"/>
            </a:xfrm>
            <a:prstGeom prst="roundRect">
              <a:avLst/>
            </a:prstGeom>
            <a:grpFill/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+mn-ea"/>
                </a:rPr>
                <a:t>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262940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AAC73BDD-37D4-7AF5-2005-C83738C1D8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9C9F0AA-BDD1-077A-16D8-A3C520A4670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AI</a:t>
            </a:r>
            <a:r>
              <a:rPr lang="ko-KR" altLang="en-US"/>
              <a:t>거버넌스 초기 가설적 유관 부서별 </a:t>
            </a:r>
            <a:r>
              <a:rPr lang="en-US" altLang="ko-KR"/>
              <a:t>R&amp;R </a:t>
            </a:r>
            <a:r>
              <a:rPr lang="ko-KR" altLang="en-US"/>
              <a:t>및 업무 프로세스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A7ABC04-9143-A81C-32EF-9CAB5C3D7B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/>
              <a:t>AI</a:t>
            </a:r>
            <a:r>
              <a:rPr lang="ko-KR" altLang="en-US"/>
              <a:t>서비스 개발 단계별로 준수해야 할 </a:t>
            </a:r>
            <a:r>
              <a:rPr lang="en-US" altLang="ko-KR"/>
              <a:t>AI</a:t>
            </a:r>
            <a:r>
              <a:rPr lang="ko-KR" altLang="en-US"/>
              <a:t>거버넌스 표준 프로세스</a:t>
            </a:r>
            <a:r>
              <a:rPr lang="en-US" altLang="ko-KR"/>
              <a:t>, </a:t>
            </a:r>
            <a:r>
              <a:rPr lang="ko-KR" altLang="en-US"/>
              <a:t>부서별 역할과 책임</a:t>
            </a:r>
            <a:r>
              <a:rPr lang="en-US" altLang="ko-KR"/>
              <a:t>(R&amp;R) </a:t>
            </a:r>
            <a:r>
              <a:rPr lang="ko-KR" altLang="en-US"/>
              <a:t>및 개발 라이프사이클 단계별 업무 정의는 다음과 같음</a:t>
            </a:r>
          </a:p>
        </p:txBody>
      </p:sp>
      <p:sp>
        <p:nvSpPr>
          <p:cNvPr id="5" name="사각형: 둥근 모서리 20">
            <a:extLst>
              <a:ext uri="{FF2B5EF4-FFF2-40B4-BE49-F238E27FC236}">
                <a16:creationId xmlns:a16="http://schemas.microsoft.com/office/drawing/2014/main" id="{99ECEDE7-2205-59AC-A731-88B21291EF5C}"/>
              </a:ext>
            </a:extLst>
          </p:cNvPr>
          <p:cNvSpPr/>
          <p:nvPr/>
        </p:nvSpPr>
        <p:spPr>
          <a:xfrm>
            <a:off x="334962" y="1341436"/>
            <a:ext cx="1584325" cy="319758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구분</a:t>
            </a:r>
            <a:endParaRPr lang="en" altLang="ko-KR" sz="1400" b="1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lt1"/>
              </a:solidFill>
              <a:latin typeface="+mn-ea"/>
            </a:endParaRPr>
          </a:p>
        </p:txBody>
      </p:sp>
      <p:sp>
        <p:nvSpPr>
          <p:cNvPr id="6" name="사각형: 둥근 모서리 20">
            <a:extLst>
              <a:ext uri="{FF2B5EF4-FFF2-40B4-BE49-F238E27FC236}">
                <a16:creationId xmlns:a16="http://schemas.microsoft.com/office/drawing/2014/main" id="{A33B15FC-8FCA-94E5-2022-CAA509A7DFB4}"/>
              </a:ext>
            </a:extLst>
          </p:cNvPr>
          <p:cNvSpPr/>
          <p:nvPr/>
        </p:nvSpPr>
        <p:spPr>
          <a:xfrm>
            <a:off x="2027238" y="1341436"/>
            <a:ext cx="2412000" cy="319758"/>
          </a:xfrm>
          <a:prstGeom prst="homePlate">
            <a:avLst>
              <a:gd name="adj" fmla="val 37573"/>
            </a:avLst>
          </a:prstGeom>
          <a:solidFill>
            <a:schemeClr val="accent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기획</a:t>
            </a:r>
            <a:r>
              <a:rPr lang="en-US" altLang="ko-KR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·</a:t>
            </a:r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설계</a:t>
            </a:r>
          </a:p>
        </p:txBody>
      </p:sp>
      <p:sp>
        <p:nvSpPr>
          <p:cNvPr id="7" name="사각형: 둥근 모서리 20">
            <a:extLst>
              <a:ext uri="{FF2B5EF4-FFF2-40B4-BE49-F238E27FC236}">
                <a16:creationId xmlns:a16="http://schemas.microsoft.com/office/drawing/2014/main" id="{58A53AA9-C029-5BF4-92E3-570E148B8BBA}"/>
              </a:ext>
            </a:extLst>
          </p:cNvPr>
          <p:cNvSpPr/>
          <p:nvPr/>
        </p:nvSpPr>
        <p:spPr>
          <a:xfrm>
            <a:off x="4511480" y="1341436"/>
            <a:ext cx="2412000" cy="319758"/>
          </a:xfrm>
          <a:prstGeom prst="homePlate">
            <a:avLst>
              <a:gd name="adj" fmla="val 37573"/>
            </a:avLst>
          </a:prstGeom>
          <a:solidFill>
            <a:schemeClr val="accent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개발</a:t>
            </a:r>
          </a:p>
        </p:txBody>
      </p:sp>
      <p:sp>
        <p:nvSpPr>
          <p:cNvPr id="8" name="사각형: 둥근 모서리 20">
            <a:extLst>
              <a:ext uri="{FF2B5EF4-FFF2-40B4-BE49-F238E27FC236}">
                <a16:creationId xmlns:a16="http://schemas.microsoft.com/office/drawing/2014/main" id="{86D97DE9-85CE-9E13-801A-A6995C064C24}"/>
              </a:ext>
            </a:extLst>
          </p:cNvPr>
          <p:cNvSpPr/>
          <p:nvPr/>
        </p:nvSpPr>
        <p:spPr>
          <a:xfrm>
            <a:off x="6995722" y="1341436"/>
            <a:ext cx="2412000" cy="319758"/>
          </a:xfrm>
          <a:prstGeom prst="homePlate">
            <a:avLst>
              <a:gd name="adj" fmla="val 37573"/>
            </a:avLst>
          </a:prstGeom>
          <a:solidFill>
            <a:schemeClr val="accent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평가</a:t>
            </a:r>
            <a:r>
              <a:rPr lang="en-US" altLang="ko-KR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·</a:t>
            </a:r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검증</a:t>
            </a:r>
            <a:endParaRPr lang="ko-KR" altLang="en-US" sz="1400" b="1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lt1"/>
              </a:solidFill>
              <a:latin typeface="+mn-ea"/>
            </a:endParaRPr>
          </a:p>
        </p:txBody>
      </p:sp>
      <p:sp>
        <p:nvSpPr>
          <p:cNvPr id="9" name="사각형: 둥근 모서리 20">
            <a:extLst>
              <a:ext uri="{FF2B5EF4-FFF2-40B4-BE49-F238E27FC236}">
                <a16:creationId xmlns:a16="http://schemas.microsoft.com/office/drawing/2014/main" id="{B18780FF-A794-A46C-31A8-6EED15319B13}"/>
              </a:ext>
            </a:extLst>
          </p:cNvPr>
          <p:cNvSpPr/>
          <p:nvPr/>
        </p:nvSpPr>
        <p:spPr>
          <a:xfrm>
            <a:off x="9479963" y="1341436"/>
            <a:ext cx="2412000" cy="319758"/>
          </a:xfrm>
          <a:prstGeom prst="homePlate">
            <a:avLst>
              <a:gd name="adj" fmla="val 37573"/>
            </a:avLst>
          </a:prstGeom>
          <a:solidFill>
            <a:schemeClr val="accent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도입</a:t>
            </a:r>
            <a:r>
              <a:rPr lang="en-US" altLang="ko-KR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·</a:t>
            </a:r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운영</a:t>
            </a:r>
            <a:r>
              <a:rPr lang="en-US" altLang="ko-KR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·</a:t>
            </a:r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모니터링</a:t>
            </a:r>
          </a:p>
        </p:txBody>
      </p:sp>
      <p:sp>
        <p:nvSpPr>
          <p:cNvPr id="10" name="Google Shape;134;p5">
            <a:extLst>
              <a:ext uri="{FF2B5EF4-FFF2-40B4-BE49-F238E27FC236}">
                <a16:creationId xmlns:a16="http://schemas.microsoft.com/office/drawing/2014/main" id="{9DF47D93-5CB4-6126-B262-2C004C76072B}"/>
              </a:ext>
            </a:extLst>
          </p:cNvPr>
          <p:cNvSpPr/>
          <p:nvPr/>
        </p:nvSpPr>
        <p:spPr>
          <a:xfrm>
            <a:off x="334963" y="5530200"/>
            <a:ext cx="1572626" cy="292735"/>
          </a:xfrm>
          <a:prstGeom prst="roundRect">
            <a:avLst>
              <a:gd name="adj" fmla="val 37108"/>
            </a:avLst>
          </a:prstGeom>
          <a:solidFill>
            <a:srgbClr val="F58220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  <a:sym typeface="Arial"/>
              </a:rPr>
              <a:t>AI</a:t>
            </a:r>
            <a:r>
              <a:rPr lang="ko-KR" altLang="en-US" sz="14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  <a:sym typeface="Arial"/>
              </a:rPr>
              <a:t>거버넌스</a:t>
            </a:r>
            <a:r>
              <a:rPr lang="en-US" altLang="ko-KR" sz="14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  <a:sym typeface="Arial"/>
              </a:rPr>
              <a:t> </a:t>
            </a:r>
            <a:r>
              <a:rPr lang="ko-KR" altLang="en-US" sz="14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  <a:sym typeface="Arial"/>
              </a:rPr>
              <a:t>협의체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92B32CA-3610-60E8-3A0C-9D7D766847ED}"/>
              </a:ext>
            </a:extLst>
          </p:cNvPr>
          <p:cNvSpPr/>
          <p:nvPr/>
        </p:nvSpPr>
        <p:spPr>
          <a:xfrm>
            <a:off x="2051852" y="1736725"/>
            <a:ext cx="1188000" cy="361921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 latinLnBrk="0"/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서비스</a:t>
            </a:r>
            <a:endParaRPr lang="en-US" altLang="ko-KR" sz="1000" kern="0" spc="-15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latin typeface="+mn-ea"/>
            </a:endParaRPr>
          </a:p>
          <a:p>
            <a:pPr algn="ctr" latinLnBrk="0"/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계획 수립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B7E27DF-7FED-EC17-58AB-6F772452605D}"/>
              </a:ext>
            </a:extLst>
          </p:cNvPr>
          <p:cNvSpPr/>
          <p:nvPr/>
        </p:nvSpPr>
        <p:spPr>
          <a:xfrm>
            <a:off x="2051851" y="2237142"/>
            <a:ext cx="1188000" cy="504000"/>
          </a:xfrm>
          <a:prstGeom prst="rect">
            <a:avLst/>
          </a:prstGeom>
          <a:solidFill>
            <a:schemeClr val="accent2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i="0" u="none" strike="noStrik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n-cs"/>
              </a:rPr>
              <a:t>AI </a:t>
            </a:r>
            <a:r>
              <a:rPr kumimoji="0" lang="ko-KR" altLang="en-US" sz="1000" i="0" u="none" strike="noStrik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n-cs"/>
              </a:rPr>
              <a:t>위험</a:t>
            </a:r>
            <a:r>
              <a:rPr kumimoji="0" lang="en-US" altLang="ko-KR" sz="1000" i="0" u="none" strike="noStrik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n-cs"/>
              </a:rPr>
              <a:t>/</a:t>
            </a:r>
            <a:r>
              <a:rPr kumimoji="0" lang="ko-KR" altLang="en-US" sz="1000" i="0" u="none" strike="noStrik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n-cs"/>
              </a:rPr>
              <a:t>영향</a:t>
            </a:r>
            <a:r>
              <a:rPr kumimoji="0" lang="en-US" altLang="ko-KR" sz="1000" i="0" u="none" strike="noStrik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n-cs"/>
              </a:rPr>
              <a:t>/</a:t>
            </a:r>
            <a:r>
              <a:rPr kumimoji="0" lang="ko-KR" altLang="en-US" sz="1000" i="0" u="none" strike="noStrik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n-cs"/>
              </a:rPr>
              <a:t>안전성 </a:t>
            </a:r>
            <a:br>
              <a:rPr kumimoji="0" lang="en-US" altLang="ko-KR" sz="1000" i="0" u="none" strike="noStrik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n-cs"/>
              </a:rPr>
            </a:br>
            <a:r>
              <a:rPr kumimoji="0" lang="ko-KR" altLang="en-US" sz="1000" i="0" u="none" strike="noStrik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n-cs"/>
              </a:rPr>
              <a:t>식별</a:t>
            </a:r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bg1"/>
                </a:solidFill>
                <a:latin typeface="+mn-ea"/>
              </a:rPr>
              <a:t> </a:t>
            </a:r>
            <a:r>
              <a:rPr kumimoji="0" lang="ko-KR" altLang="en-US" sz="1000" i="0" u="none" strike="noStrik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n-cs"/>
              </a:rPr>
              <a:t>및 평가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5907FDB-174F-C1F9-8313-69F4F467632A}"/>
              </a:ext>
            </a:extLst>
          </p:cNvPr>
          <p:cNvSpPr/>
          <p:nvPr/>
        </p:nvSpPr>
        <p:spPr>
          <a:xfrm>
            <a:off x="2051852" y="4585672"/>
            <a:ext cx="1188000" cy="827549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strike="noStrike" kern="0" cap="none" spc="-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+mn-cs"/>
              </a:rPr>
              <a:t>위험</a:t>
            </a:r>
            <a:r>
              <a:rPr kumimoji="0" lang="en-US" altLang="ko-KR" sz="1000" i="0" u="none" strike="noStrike" kern="0" cap="none" spc="-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+mn-cs"/>
              </a:rPr>
              <a:t>/</a:t>
            </a:r>
            <a:r>
              <a:rPr kumimoji="0" lang="ko-KR" altLang="en-US" sz="1000" i="0" u="none" strike="noStrike" kern="0" cap="none" spc="-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+mn-cs"/>
              </a:rPr>
              <a:t>영향</a:t>
            </a:r>
            <a:r>
              <a:rPr kumimoji="0" lang="en-US" altLang="ko-KR" sz="1000" i="0" u="none" strike="noStrike" kern="0" cap="none" spc="-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+mn-cs"/>
              </a:rPr>
              <a:t>/</a:t>
            </a:r>
            <a:r>
              <a:rPr kumimoji="0" lang="ko-KR" altLang="en-US" sz="1000" i="0" u="none" strike="noStrike" kern="0" cap="none" spc="-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+mn-cs"/>
              </a:rPr>
              <a:t>안전성 식별 </a:t>
            </a:r>
            <a:r>
              <a:rPr kumimoji="0" lang="ko-KR" altLang="en-US" sz="1000" i="0" u="none" strike="noStrike" kern="0" cap="none" spc="-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평가 결과 검토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2664F43-BA7D-5849-46A7-23A12B5ACF84}"/>
              </a:ext>
            </a:extLst>
          </p:cNvPr>
          <p:cNvSpPr/>
          <p:nvPr/>
        </p:nvSpPr>
        <p:spPr>
          <a:xfrm>
            <a:off x="3403246" y="4585672"/>
            <a:ext cx="924914" cy="827549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lvl="0" algn="ctr" defTabSz="914400">
              <a:defRPr/>
            </a:pPr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위험</a:t>
            </a:r>
            <a:r>
              <a:rPr lang="en-US" altLang="ko-KR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/</a:t>
            </a:r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영향</a:t>
            </a:r>
            <a:r>
              <a:rPr lang="en-US" altLang="ko-KR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/</a:t>
            </a:r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안전성 </a:t>
            </a:r>
            <a:r>
              <a:rPr kumimoji="0" lang="ko-KR" altLang="en-US" sz="1000" i="0" u="none" strike="noStrik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관리</a:t>
            </a:r>
            <a:endParaRPr kumimoji="0" lang="en-US" altLang="ko-KR" sz="1000" i="0" u="none" strike="noStrike" kern="0" cap="none" spc="-150" normalizeH="0" baseline="0" noProof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strike="noStrik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effectLst/>
                <a:uLnTx/>
                <a:uFillTx/>
                <a:latin typeface="+mn-ea"/>
                <a:cs typeface="+mn-cs"/>
              </a:rPr>
              <a:t>계획 승인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AC3EFE9-4274-4B86-8AE0-1AE612AA7D71}"/>
              </a:ext>
            </a:extLst>
          </p:cNvPr>
          <p:cNvSpPr/>
          <p:nvPr/>
        </p:nvSpPr>
        <p:spPr>
          <a:xfrm>
            <a:off x="4697753" y="1736725"/>
            <a:ext cx="936000" cy="361921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i="0" u="none" strike="noStrik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AI</a:t>
            </a:r>
            <a:r>
              <a:rPr kumimoji="0" lang="ko-KR" altLang="en-US" sz="1000" i="0" u="none" strike="noStrik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서비스</a:t>
            </a:r>
            <a:endParaRPr kumimoji="0" lang="en-US" altLang="ko-KR" sz="1000" i="0" u="none" strike="noStrike" kern="0" cap="none" spc="-150" normalizeH="0" baseline="0" noProof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strike="noStrik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개발 의뢰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E3FD152-7938-A895-CAFF-D7E5AFD994DA}"/>
              </a:ext>
            </a:extLst>
          </p:cNvPr>
          <p:cNvSpPr/>
          <p:nvPr/>
        </p:nvSpPr>
        <p:spPr>
          <a:xfrm>
            <a:off x="5787159" y="2045268"/>
            <a:ext cx="935999" cy="519677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lvl="0" algn="ctr" defTabSz="914400">
              <a:defRPr/>
            </a:pPr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위험</a:t>
            </a:r>
            <a:r>
              <a:rPr lang="en-US" altLang="ko-KR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/</a:t>
            </a:r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영향 </a:t>
            </a:r>
            <a:r>
              <a:rPr kumimoji="0" lang="ko-KR" altLang="en-US" sz="1000" i="0" u="none" strike="noStrike" kern="0" cap="none" spc="-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관리 계획 준수 사항 점검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9F905FB-BB9C-B719-1404-3ED9AE3A952F}"/>
              </a:ext>
            </a:extLst>
          </p:cNvPr>
          <p:cNvSpPr/>
          <p:nvPr/>
        </p:nvSpPr>
        <p:spPr>
          <a:xfrm>
            <a:off x="7226098" y="1736726"/>
            <a:ext cx="810279" cy="82822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i="0" u="none" strike="noStrik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AI</a:t>
            </a:r>
            <a:r>
              <a:rPr kumimoji="0" lang="ko-KR" altLang="en-US" sz="1000" i="0" u="none" strike="noStrik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서비스</a:t>
            </a:r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 </a:t>
            </a:r>
            <a:b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</a:b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운영 전 검증</a:t>
            </a:r>
            <a:endParaRPr kumimoji="0" lang="en-US" altLang="ko-KR" sz="1000" i="0" u="none" strike="noStrike" kern="0" cap="none" spc="-150" normalizeH="0" baseline="0" noProof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D697B7D-23C7-F9B3-2F4A-E2169C9BE9B6}"/>
              </a:ext>
            </a:extLst>
          </p:cNvPr>
          <p:cNvSpPr/>
          <p:nvPr/>
        </p:nvSpPr>
        <p:spPr>
          <a:xfrm>
            <a:off x="8334960" y="1736725"/>
            <a:ext cx="810279" cy="828222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strike="noStrik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운영 승인 </a:t>
            </a:r>
            <a:endParaRPr kumimoji="0" lang="en-US" altLang="ko-KR" sz="1000" i="0" u="none" strike="noStrike" kern="0" cap="none" spc="-150" normalizeH="0" baseline="0" noProof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strike="noStrik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요청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92D09D1-0963-6F4B-6739-AF805AB15F68}"/>
              </a:ext>
            </a:extLst>
          </p:cNvPr>
          <p:cNvSpPr/>
          <p:nvPr/>
        </p:nvSpPr>
        <p:spPr>
          <a:xfrm>
            <a:off x="7763253" y="4584998"/>
            <a:ext cx="810279" cy="360448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strike="noStrik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 검증 결과 적절성 확인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19F206E-C76C-4F97-9448-1D1ABCD42C31}"/>
              </a:ext>
            </a:extLst>
          </p:cNvPr>
          <p:cNvSpPr/>
          <p:nvPr/>
        </p:nvSpPr>
        <p:spPr>
          <a:xfrm>
            <a:off x="9896153" y="1736725"/>
            <a:ext cx="810279" cy="826912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 latinLnBrk="0">
              <a:defRPr/>
            </a:pP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위험 모니터링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B57EF83-0FD0-882D-E41D-3A69FD4D9AE4}"/>
              </a:ext>
            </a:extLst>
          </p:cNvPr>
          <p:cNvSpPr/>
          <p:nvPr/>
        </p:nvSpPr>
        <p:spPr>
          <a:xfrm>
            <a:off x="11000610" y="2694892"/>
            <a:ext cx="810279" cy="1727971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i="0" u="none" strike="noStrik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AI</a:t>
            </a:r>
            <a:r>
              <a:rPr kumimoji="0" lang="ko-KR" altLang="en-US" sz="1000" i="0" u="none" strike="noStrik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서비스</a:t>
            </a:r>
            <a:br>
              <a:rPr kumimoji="0" lang="en-US" altLang="ko-KR" sz="1000" i="0" u="none" strike="noStrik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</a:br>
            <a:r>
              <a:rPr kumimoji="0" lang="ko-KR" altLang="en-US" sz="1000" i="0" u="none" strike="noStrik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개선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F843A5C-B22F-2EDC-2DC2-F902475E0A7D}"/>
              </a:ext>
            </a:extLst>
          </p:cNvPr>
          <p:cNvSpPr/>
          <p:nvPr/>
        </p:nvSpPr>
        <p:spPr>
          <a:xfrm>
            <a:off x="9896153" y="4591606"/>
            <a:ext cx="810279" cy="821614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strike="noStrik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위험관리</a:t>
            </a:r>
            <a:endParaRPr kumimoji="0" lang="en-US" altLang="ko-KR" sz="1000" i="0" u="none" strike="noStrike" kern="0" cap="none" spc="-150" normalizeH="0" baseline="0" noProof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strike="noStrik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계획 이행 </a:t>
            </a:r>
            <a:endParaRPr kumimoji="0" lang="en-US" altLang="ko-KR" sz="1000" i="0" u="none" strike="noStrike" kern="0" cap="none" spc="-150" normalizeH="0" baseline="0" noProof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확인 후 승인</a:t>
            </a:r>
            <a:endParaRPr kumimoji="0" lang="ko-KR" altLang="en-US" sz="1000" i="0" u="none" strike="noStrike" kern="0" cap="none" spc="-150" normalizeH="0" baseline="0" noProof="0">
              <a:ln>
                <a:solidFill>
                  <a:srgbClr val="0070C0">
                    <a:alpha val="0"/>
                  </a:srgbClr>
                </a:solidFill>
              </a:ln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574D54A-2FE9-234E-41AE-E7D03D3249DF}"/>
              </a:ext>
            </a:extLst>
          </p:cNvPr>
          <p:cNvSpPr/>
          <p:nvPr/>
        </p:nvSpPr>
        <p:spPr>
          <a:xfrm>
            <a:off x="10999574" y="4591606"/>
            <a:ext cx="810279" cy="821614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strike="noStrik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위험</a:t>
            </a:r>
            <a:endParaRPr kumimoji="0" lang="en-US" altLang="ko-KR" sz="1000" i="0" u="none" strike="noStrike" kern="0" cap="none" spc="-150" normalizeH="0" baseline="0" noProof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strike="noStrik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모니터링</a:t>
            </a:r>
            <a:endParaRPr kumimoji="0" lang="en-US" altLang="ko-KR" sz="1000" i="0" u="none" strike="noStrike" kern="0" cap="none" spc="-150" normalizeH="0" baseline="0" noProof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strike="noStrik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결과 점검</a:t>
            </a: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2D8631A1-DC1D-D37D-F200-D8276360D099}"/>
              </a:ext>
            </a:extLst>
          </p:cNvPr>
          <p:cNvCxnSpPr>
            <a:cxnSpLocks/>
            <a:endCxn id="57" idx="0"/>
          </p:cNvCxnSpPr>
          <p:nvPr/>
        </p:nvCxnSpPr>
        <p:spPr>
          <a:xfrm>
            <a:off x="2645852" y="2741142"/>
            <a:ext cx="0" cy="147170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4C711BAC-F50C-AB03-FB5C-51D141B9E6A8}"/>
              </a:ext>
            </a:extLst>
          </p:cNvPr>
          <p:cNvCxnSpPr>
            <a:cxnSpLocks/>
            <a:stCxn id="57" idx="2"/>
            <a:endCxn id="60" idx="0"/>
          </p:cNvCxnSpPr>
          <p:nvPr/>
        </p:nvCxnSpPr>
        <p:spPr>
          <a:xfrm>
            <a:off x="2645852" y="3140312"/>
            <a:ext cx="0" cy="109289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27" name="연결선: 꺾임 26">
            <a:extLst>
              <a:ext uri="{FF2B5EF4-FFF2-40B4-BE49-F238E27FC236}">
                <a16:creationId xmlns:a16="http://schemas.microsoft.com/office/drawing/2014/main" id="{FC37DF2E-8FC2-1827-0B14-377884E4C46B}"/>
              </a:ext>
            </a:extLst>
          </p:cNvPr>
          <p:cNvCxnSpPr>
            <a:cxnSpLocks/>
            <a:stCxn id="13" idx="3"/>
            <a:endCxn id="41" idx="1"/>
          </p:cNvCxnSpPr>
          <p:nvPr/>
        </p:nvCxnSpPr>
        <p:spPr>
          <a:xfrm flipV="1">
            <a:off x="3239852" y="2491023"/>
            <a:ext cx="163394" cy="2508424"/>
          </a:xfrm>
          <a:prstGeom prst="bentConnector3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FFA365C0-EAC1-CBF5-086B-E6059CE14AEB}"/>
              </a:ext>
            </a:extLst>
          </p:cNvPr>
          <p:cNvCxnSpPr>
            <a:cxnSpLocks/>
            <a:stCxn id="41" idx="2"/>
            <a:endCxn id="58" idx="0"/>
          </p:cNvCxnSpPr>
          <p:nvPr/>
        </p:nvCxnSpPr>
        <p:spPr>
          <a:xfrm>
            <a:off x="3865703" y="2779023"/>
            <a:ext cx="0" cy="180961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0111AA2A-2AD5-58EF-1BCD-AB4C1FC3BCD1}"/>
              </a:ext>
            </a:extLst>
          </p:cNvPr>
          <p:cNvCxnSpPr>
            <a:cxnSpLocks/>
            <a:stCxn id="58" idx="2"/>
            <a:endCxn id="14" idx="0"/>
          </p:cNvCxnSpPr>
          <p:nvPr/>
        </p:nvCxnSpPr>
        <p:spPr>
          <a:xfrm>
            <a:off x="3865703" y="3501601"/>
            <a:ext cx="0" cy="1084071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30" name="연결선: 꺾임 29">
            <a:extLst>
              <a:ext uri="{FF2B5EF4-FFF2-40B4-BE49-F238E27FC236}">
                <a16:creationId xmlns:a16="http://schemas.microsoft.com/office/drawing/2014/main" id="{035E08E9-2762-D4F3-A158-8B8EE50E291B}"/>
              </a:ext>
            </a:extLst>
          </p:cNvPr>
          <p:cNvCxnSpPr>
            <a:cxnSpLocks/>
            <a:stCxn id="14" idx="3"/>
            <a:endCxn id="15" idx="1"/>
          </p:cNvCxnSpPr>
          <p:nvPr/>
        </p:nvCxnSpPr>
        <p:spPr>
          <a:xfrm flipV="1">
            <a:off x="4328160" y="1917686"/>
            <a:ext cx="369593" cy="3081761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60E3DC7F-FEA1-F47A-E85B-0674150F74AD}"/>
              </a:ext>
            </a:extLst>
          </p:cNvPr>
          <p:cNvCxnSpPr>
            <a:cxnSpLocks/>
            <a:stCxn id="15" idx="2"/>
            <a:endCxn id="59" idx="0"/>
          </p:cNvCxnSpPr>
          <p:nvPr/>
        </p:nvCxnSpPr>
        <p:spPr>
          <a:xfrm flipH="1">
            <a:off x="5165749" y="2098646"/>
            <a:ext cx="4" cy="572213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C95D16BE-756F-0844-B381-C755CF2915F1}"/>
              </a:ext>
            </a:extLst>
          </p:cNvPr>
          <p:cNvCxnSpPr>
            <a:cxnSpLocks/>
            <a:stCxn id="17" idx="3"/>
            <a:endCxn id="18" idx="1"/>
          </p:cNvCxnSpPr>
          <p:nvPr/>
        </p:nvCxnSpPr>
        <p:spPr>
          <a:xfrm>
            <a:off x="8036378" y="2150835"/>
            <a:ext cx="298583" cy="0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33" name="연결선: 꺾임 32">
            <a:extLst>
              <a:ext uri="{FF2B5EF4-FFF2-40B4-BE49-F238E27FC236}">
                <a16:creationId xmlns:a16="http://schemas.microsoft.com/office/drawing/2014/main" id="{DC85E1A2-9AE4-9FAC-3218-D493A249937F}"/>
              </a:ext>
            </a:extLst>
          </p:cNvPr>
          <p:cNvCxnSpPr>
            <a:cxnSpLocks/>
            <a:endCxn id="19" idx="1"/>
          </p:cNvCxnSpPr>
          <p:nvPr/>
        </p:nvCxnSpPr>
        <p:spPr>
          <a:xfrm rot="16200000" flipH="1">
            <a:off x="7046035" y="4048002"/>
            <a:ext cx="1306575" cy="127862"/>
          </a:xfrm>
          <a:prstGeom prst="bentConnector2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34" name="연결선: 꺾임 33">
            <a:extLst>
              <a:ext uri="{FF2B5EF4-FFF2-40B4-BE49-F238E27FC236}">
                <a16:creationId xmlns:a16="http://schemas.microsoft.com/office/drawing/2014/main" id="{6AC8FAD6-4834-D7AA-A904-BE471A85EC04}"/>
              </a:ext>
            </a:extLst>
          </p:cNvPr>
          <p:cNvCxnSpPr>
            <a:cxnSpLocks/>
            <a:stCxn id="19" idx="3"/>
            <a:endCxn id="18" idx="2"/>
          </p:cNvCxnSpPr>
          <p:nvPr/>
        </p:nvCxnSpPr>
        <p:spPr>
          <a:xfrm flipV="1">
            <a:off x="8573532" y="2564947"/>
            <a:ext cx="166568" cy="2200275"/>
          </a:xfrm>
          <a:prstGeom prst="bentConnector2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35" name="연결선: 꺾임 34">
            <a:extLst>
              <a:ext uri="{FF2B5EF4-FFF2-40B4-BE49-F238E27FC236}">
                <a16:creationId xmlns:a16="http://schemas.microsoft.com/office/drawing/2014/main" id="{9F0EED9F-FD4D-FC4F-0C7F-DBB39DEAAFB7}"/>
              </a:ext>
            </a:extLst>
          </p:cNvPr>
          <p:cNvCxnSpPr>
            <a:cxnSpLocks/>
            <a:stCxn id="45" idx="3"/>
            <a:endCxn id="18" idx="2"/>
          </p:cNvCxnSpPr>
          <p:nvPr/>
        </p:nvCxnSpPr>
        <p:spPr>
          <a:xfrm flipV="1">
            <a:off x="8573532" y="2564947"/>
            <a:ext cx="166568" cy="2668051"/>
          </a:xfrm>
          <a:prstGeom prst="bentConnector2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36" name="연결선: 꺾임 35">
            <a:extLst>
              <a:ext uri="{FF2B5EF4-FFF2-40B4-BE49-F238E27FC236}">
                <a16:creationId xmlns:a16="http://schemas.microsoft.com/office/drawing/2014/main" id="{659D67C1-FD2B-636C-BB86-1DF2130D1600}"/>
              </a:ext>
            </a:extLst>
          </p:cNvPr>
          <p:cNvCxnSpPr>
            <a:cxnSpLocks/>
            <a:stCxn id="18" idx="3"/>
            <a:endCxn id="22" idx="1"/>
          </p:cNvCxnSpPr>
          <p:nvPr/>
        </p:nvCxnSpPr>
        <p:spPr>
          <a:xfrm>
            <a:off x="9145239" y="2150836"/>
            <a:ext cx="750914" cy="2851577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CD484AB0-84F5-C209-C84C-0F73FD9EF32D}"/>
              </a:ext>
            </a:extLst>
          </p:cNvPr>
          <p:cNvCxnSpPr>
            <a:cxnSpLocks/>
          </p:cNvCxnSpPr>
          <p:nvPr/>
        </p:nvCxnSpPr>
        <p:spPr>
          <a:xfrm flipV="1">
            <a:off x="10301293" y="3983745"/>
            <a:ext cx="0" cy="188664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BFDB129B-6577-CEF0-CD1D-4FB88165A8A1}"/>
              </a:ext>
            </a:extLst>
          </p:cNvPr>
          <p:cNvCxnSpPr>
            <a:cxnSpLocks/>
            <a:endCxn id="20" idx="2"/>
          </p:cNvCxnSpPr>
          <p:nvPr/>
        </p:nvCxnSpPr>
        <p:spPr>
          <a:xfrm flipV="1">
            <a:off x="10301293" y="2563636"/>
            <a:ext cx="0" cy="1122216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593B2917-EAAA-22C8-2453-F8825E23DDF2}"/>
              </a:ext>
            </a:extLst>
          </p:cNvPr>
          <p:cNvCxnSpPr>
            <a:cxnSpLocks/>
            <a:stCxn id="23" idx="0"/>
            <a:endCxn id="21" idx="2"/>
          </p:cNvCxnSpPr>
          <p:nvPr/>
        </p:nvCxnSpPr>
        <p:spPr>
          <a:xfrm flipV="1">
            <a:off x="11404714" y="4422863"/>
            <a:ext cx="1036" cy="168743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40" name="연결선: 꺾임 39">
            <a:extLst>
              <a:ext uri="{FF2B5EF4-FFF2-40B4-BE49-F238E27FC236}">
                <a16:creationId xmlns:a16="http://schemas.microsoft.com/office/drawing/2014/main" id="{60301611-D6E7-555E-83B0-AF81AD91A91D}"/>
              </a:ext>
            </a:extLst>
          </p:cNvPr>
          <p:cNvCxnSpPr>
            <a:cxnSpLocks/>
            <a:stCxn id="20" idx="3"/>
            <a:endCxn id="23" idx="1"/>
          </p:cNvCxnSpPr>
          <p:nvPr/>
        </p:nvCxnSpPr>
        <p:spPr>
          <a:xfrm>
            <a:off x="10706432" y="2150181"/>
            <a:ext cx="293142" cy="2852232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41" name="직사각형 11">
            <a:extLst>
              <a:ext uri="{FF2B5EF4-FFF2-40B4-BE49-F238E27FC236}">
                <a16:creationId xmlns:a16="http://schemas.microsoft.com/office/drawing/2014/main" id="{F57DB062-38BD-B294-2426-EDAE054DFCC9}"/>
              </a:ext>
            </a:extLst>
          </p:cNvPr>
          <p:cNvSpPr/>
          <p:nvPr/>
        </p:nvSpPr>
        <p:spPr>
          <a:xfrm>
            <a:off x="3403246" y="2203023"/>
            <a:ext cx="924914" cy="5760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/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위험</a:t>
            </a:r>
            <a:r>
              <a:rPr lang="en-US" altLang="ko-KR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/</a:t>
            </a:r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영향</a:t>
            </a:r>
            <a:r>
              <a:rPr lang="en-US" altLang="ko-KR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/</a:t>
            </a:r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안전성 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관리 계획 수립</a:t>
            </a:r>
          </a:p>
        </p:txBody>
      </p:sp>
      <p:cxnSp>
        <p:nvCxnSpPr>
          <p:cNvPr id="42" name="직선 화살표 연결선 36">
            <a:extLst>
              <a:ext uri="{FF2B5EF4-FFF2-40B4-BE49-F238E27FC236}">
                <a16:creationId xmlns:a16="http://schemas.microsoft.com/office/drawing/2014/main" id="{979260B0-4612-5566-3CD0-C5E3BF4F0EFB}"/>
              </a:ext>
            </a:extLst>
          </p:cNvPr>
          <p:cNvCxnSpPr>
            <a:cxnSpLocks/>
            <a:stCxn id="60" idx="2"/>
            <a:endCxn id="13" idx="0"/>
          </p:cNvCxnSpPr>
          <p:nvPr/>
        </p:nvCxnSpPr>
        <p:spPr>
          <a:xfrm>
            <a:off x="2645852" y="3501601"/>
            <a:ext cx="0" cy="1084071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43" name="직선 화살표 연결선 41">
            <a:extLst>
              <a:ext uri="{FF2B5EF4-FFF2-40B4-BE49-F238E27FC236}">
                <a16:creationId xmlns:a16="http://schemas.microsoft.com/office/drawing/2014/main" id="{3CCF84EB-D6AE-82C3-D5DD-789A5479895F}"/>
              </a:ext>
            </a:extLst>
          </p:cNvPr>
          <p:cNvCxnSpPr>
            <a:cxnSpLocks/>
            <a:stCxn id="59" idx="2"/>
            <a:endCxn id="61" idx="0"/>
          </p:cNvCxnSpPr>
          <p:nvPr/>
        </p:nvCxnSpPr>
        <p:spPr>
          <a:xfrm flipH="1">
            <a:off x="5165458" y="3138859"/>
            <a:ext cx="291" cy="121299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44" name="연결선: 꺾임 46">
            <a:extLst>
              <a:ext uri="{FF2B5EF4-FFF2-40B4-BE49-F238E27FC236}">
                <a16:creationId xmlns:a16="http://schemas.microsoft.com/office/drawing/2014/main" id="{99451C0A-064B-89C9-F370-9D1FC91251EE}"/>
              </a:ext>
            </a:extLst>
          </p:cNvPr>
          <p:cNvCxnSpPr>
            <a:cxnSpLocks/>
            <a:stCxn id="62" idx="3"/>
            <a:endCxn id="17" idx="1"/>
          </p:cNvCxnSpPr>
          <p:nvPr/>
        </p:nvCxnSpPr>
        <p:spPr>
          <a:xfrm flipV="1">
            <a:off x="6723158" y="2150836"/>
            <a:ext cx="502940" cy="1169805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45" name="직사각형 27">
            <a:extLst>
              <a:ext uri="{FF2B5EF4-FFF2-40B4-BE49-F238E27FC236}">
                <a16:creationId xmlns:a16="http://schemas.microsoft.com/office/drawing/2014/main" id="{159D901C-8B90-2424-FF1F-B058E94AAE55}"/>
              </a:ext>
            </a:extLst>
          </p:cNvPr>
          <p:cNvSpPr/>
          <p:nvPr/>
        </p:nvSpPr>
        <p:spPr>
          <a:xfrm>
            <a:off x="7763253" y="5052774"/>
            <a:ext cx="810279" cy="360448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검증 수행</a:t>
            </a:r>
            <a:endParaRPr kumimoji="0" lang="ko-KR" altLang="en-US" sz="1000" i="0" u="none" strike="noStrike" kern="0" cap="none" spc="-150" normalizeH="0" baseline="0" noProof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cxnSp>
        <p:nvCxnSpPr>
          <p:cNvPr id="46" name="연결선: 꺾임 46">
            <a:extLst>
              <a:ext uri="{FF2B5EF4-FFF2-40B4-BE49-F238E27FC236}">
                <a16:creationId xmlns:a16="http://schemas.microsoft.com/office/drawing/2014/main" id="{379C3079-2A2D-8121-B762-328F3EA606BD}"/>
              </a:ext>
            </a:extLst>
          </p:cNvPr>
          <p:cNvCxnSpPr>
            <a:cxnSpLocks/>
            <a:stCxn id="61" idx="3"/>
            <a:endCxn id="16" idx="1"/>
          </p:cNvCxnSpPr>
          <p:nvPr/>
        </p:nvCxnSpPr>
        <p:spPr>
          <a:xfrm flipV="1">
            <a:off x="5633458" y="2305107"/>
            <a:ext cx="153701" cy="1075529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47" name="직선 화살표 연결선 41">
            <a:extLst>
              <a:ext uri="{FF2B5EF4-FFF2-40B4-BE49-F238E27FC236}">
                <a16:creationId xmlns:a16="http://schemas.microsoft.com/office/drawing/2014/main" id="{E4C65096-CBF1-833C-6934-0A391445C602}"/>
              </a:ext>
            </a:extLst>
          </p:cNvPr>
          <p:cNvCxnSpPr>
            <a:cxnSpLocks/>
            <a:stCxn id="16" idx="2"/>
            <a:endCxn id="62" idx="0"/>
          </p:cNvCxnSpPr>
          <p:nvPr/>
        </p:nvCxnSpPr>
        <p:spPr>
          <a:xfrm>
            <a:off x="6255159" y="2564945"/>
            <a:ext cx="0" cy="574735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48" name="직사각형 13">
            <a:extLst>
              <a:ext uri="{FF2B5EF4-FFF2-40B4-BE49-F238E27FC236}">
                <a16:creationId xmlns:a16="http://schemas.microsoft.com/office/drawing/2014/main" id="{D7B489EE-4FC2-462D-6806-32F464916C00}"/>
              </a:ext>
            </a:extLst>
          </p:cNvPr>
          <p:cNvSpPr/>
          <p:nvPr/>
        </p:nvSpPr>
        <p:spPr>
          <a:xfrm>
            <a:off x="2009776" y="5534188"/>
            <a:ext cx="9879422" cy="288747"/>
          </a:xfrm>
          <a:prstGeom prst="rect">
            <a:avLst/>
          </a:prstGeom>
          <a:noFill/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 defTabSz="914400"/>
            <a:r>
              <a:rPr lang="en-US" altLang="ko-KR" sz="105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AI</a:t>
            </a:r>
            <a:r>
              <a:rPr lang="ko-KR" altLang="en-US" sz="105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서비스 규제 변화에 따른</a:t>
            </a:r>
            <a:r>
              <a:rPr lang="en-US" altLang="ko-KR" sz="105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05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규정</a:t>
            </a:r>
            <a:r>
              <a:rPr lang="en-US" altLang="ko-KR" sz="105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105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지침서 </a:t>
            </a:r>
            <a:r>
              <a:rPr lang="ko-KR" altLang="en-US" sz="1050" b="1" kern="0" spc="-50" err="1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제</a:t>
            </a:r>
            <a:r>
              <a:rPr lang="ko-KR" altLang="en-US" sz="1050" b="1" kern="0" spc="-50" err="1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</a:t>
            </a:r>
            <a:r>
              <a:rPr lang="ko-KR" altLang="en-US" sz="1050" b="1" kern="0" spc="-50" err="1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개정</a:t>
            </a:r>
            <a:r>
              <a:rPr lang="en-US" altLang="ko-KR" sz="105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05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이견</a:t>
            </a:r>
            <a:r>
              <a:rPr lang="en-US" altLang="ko-KR" sz="105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05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및 개선사항 등 심의</a:t>
            </a:r>
            <a:r>
              <a:rPr lang="ko-KR" altLang="en-US" sz="105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  <a:sym typeface="Wingdings" panose="05000000000000000000" pitchFamily="2" charset="2"/>
              </a:rPr>
              <a:t></a:t>
            </a:r>
            <a:r>
              <a:rPr lang="ko-KR" altLang="en-US" sz="105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의결</a:t>
            </a:r>
            <a:r>
              <a:rPr lang="en-US" altLang="ko-KR" sz="105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05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전사 전파</a:t>
            </a:r>
            <a:r>
              <a:rPr lang="en-US" altLang="ko-KR" sz="105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1050" b="1" kern="0" spc="-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schemeClr val="tx1"/>
                </a:solidFill>
                <a:latin typeface="+mn-ea"/>
              </a:rPr>
              <a:t>공유</a:t>
            </a:r>
          </a:p>
        </p:txBody>
      </p:sp>
      <p:cxnSp>
        <p:nvCxnSpPr>
          <p:cNvPr id="49" name="직선 화살표 연결선 53">
            <a:extLst>
              <a:ext uri="{FF2B5EF4-FFF2-40B4-BE49-F238E27FC236}">
                <a16:creationId xmlns:a16="http://schemas.microsoft.com/office/drawing/2014/main" id="{2E90A4C0-0C5D-D828-9EC1-267E3D144F17}"/>
              </a:ext>
            </a:extLst>
          </p:cNvPr>
          <p:cNvCxnSpPr>
            <a:cxnSpLocks/>
            <a:stCxn id="22" idx="0"/>
          </p:cNvCxnSpPr>
          <p:nvPr/>
        </p:nvCxnSpPr>
        <p:spPr>
          <a:xfrm flipV="1">
            <a:off x="10301293" y="4470300"/>
            <a:ext cx="0" cy="121307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50" name="직선 화살표 연결선 54">
            <a:extLst>
              <a:ext uri="{FF2B5EF4-FFF2-40B4-BE49-F238E27FC236}">
                <a16:creationId xmlns:a16="http://schemas.microsoft.com/office/drawing/2014/main" id="{F108D4D4-4B3D-520C-E50C-8D26D47291B8}"/>
              </a:ext>
            </a:extLst>
          </p:cNvPr>
          <p:cNvCxnSpPr>
            <a:cxnSpLocks/>
            <a:stCxn id="20" idx="3"/>
            <a:endCxn id="21" idx="0"/>
          </p:cNvCxnSpPr>
          <p:nvPr/>
        </p:nvCxnSpPr>
        <p:spPr>
          <a:xfrm>
            <a:off x="10706432" y="2150181"/>
            <a:ext cx="699318" cy="544711"/>
          </a:xfrm>
          <a:prstGeom prst="bentConnector2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159C52AF-DD14-B69D-65F0-ACAA2F2FF1E8}"/>
              </a:ext>
            </a:extLst>
          </p:cNvPr>
          <p:cNvSpPr/>
          <p:nvPr/>
        </p:nvSpPr>
        <p:spPr>
          <a:xfrm>
            <a:off x="9896153" y="3685853"/>
            <a:ext cx="810279" cy="297891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i="0" u="none" strike="noStrike" kern="0" cap="none" spc="-150" normalizeH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AI</a:t>
            </a:r>
            <a:r>
              <a:rPr kumimoji="0" lang="ko-KR" altLang="en-US" sz="1000" i="0" u="none" strike="noStrike" kern="0" cap="none" spc="-150" normalizeH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서비스 운영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084927A7-082D-6FB7-4909-34DD8EBFE370}"/>
              </a:ext>
            </a:extLst>
          </p:cNvPr>
          <p:cNvSpPr/>
          <p:nvPr/>
        </p:nvSpPr>
        <p:spPr>
          <a:xfrm>
            <a:off x="9896153" y="4172409"/>
            <a:ext cx="810279" cy="297891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i="0" u="none" strike="noStrike" kern="0" cap="none" spc="-150" normalizeH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AI</a:t>
            </a:r>
            <a:r>
              <a:rPr kumimoji="0" lang="ko-KR" altLang="en-US" sz="1000" i="0" u="none" strike="noStrike" kern="0" cap="none" spc="-150" normalizeH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서비스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 배포</a:t>
            </a:r>
            <a:endParaRPr kumimoji="0" lang="ko-KR" altLang="en-US" sz="1000" i="0" u="none" strike="noStrike" kern="0" cap="none" spc="-150" normalizeH="0" noProof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53" name="Google Shape;134;p5">
            <a:extLst>
              <a:ext uri="{FF2B5EF4-FFF2-40B4-BE49-F238E27FC236}">
                <a16:creationId xmlns:a16="http://schemas.microsoft.com/office/drawing/2014/main" id="{D3B91E9B-51A5-A880-7E68-F0462775870D}"/>
              </a:ext>
            </a:extLst>
          </p:cNvPr>
          <p:cNvSpPr/>
          <p:nvPr/>
        </p:nvSpPr>
        <p:spPr>
          <a:xfrm>
            <a:off x="334962" y="1736725"/>
            <a:ext cx="1584325" cy="828221"/>
          </a:xfrm>
          <a:prstGeom prst="rect">
            <a:avLst/>
          </a:prstGeom>
          <a:solidFill>
            <a:srgbClr val="F4B183"/>
          </a:solidFill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AI</a:t>
            </a:r>
            <a:r>
              <a:rPr lang="ko-KR" altLang="en-US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서비스기획</a:t>
            </a:r>
          </a:p>
        </p:txBody>
      </p:sp>
      <p:sp>
        <p:nvSpPr>
          <p:cNvPr id="54" name="Google Shape;134;p5">
            <a:extLst>
              <a:ext uri="{FF2B5EF4-FFF2-40B4-BE49-F238E27FC236}">
                <a16:creationId xmlns:a16="http://schemas.microsoft.com/office/drawing/2014/main" id="{C326B391-27A3-E91E-5A51-91880B7F1C5B}"/>
              </a:ext>
            </a:extLst>
          </p:cNvPr>
          <p:cNvSpPr/>
          <p:nvPr/>
        </p:nvSpPr>
        <p:spPr>
          <a:xfrm>
            <a:off x="334962" y="4581831"/>
            <a:ext cx="1584325" cy="828221"/>
          </a:xfrm>
          <a:prstGeom prst="rect">
            <a:avLst/>
          </a:prstGeom>
          <a:solidFill>
            <a:srgbClr val="F4B183"/>
          </a:solidFill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AI</a:t>
            </a:r>
            <a:r>
              <a:rPr lang="ko-KR" altLang="en-US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거버넌스</a:t>
            </a:r>
          </a:p>
        </p:txBody>
      </p:sp>
      <p:sp>
        <p:nvSpPr>
          <p:cNvPr id="55" name="Google Shape;134;p5">
            <a:extLst>
              <a:ext uri="{FF2B5EF4-FFF2-40B4-BE49-F238E27FC236}">
                <a16:creationId xmlns:a16="http://schemas.microsoft.com/office/drawing/2014/main" id="{63AB95E9-F2BB-347D-7EC3-5B87D2AE22D9}"/>
              </a:ext>
            </a:extLst>
          </p:cNvPr>
          <p:cNvSpPr/>
          <p:nvPr/>
        </p:nvSpPr>
        <p:spPr>
          <a:xfrm>
            <a:off x="334962" y="3616229"/>
            <a:ext cx="1584325" cy="828221"/>
          </a:xfrm>
          <a:prstGeom prst="rect">
            <a:avLst/>
          </a:prstGeom>
          <a:solidFill>
            <a:srgbClr val="F4B183"/>
          </a:solidFill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AI</a:t>
            </a:r>
            <a:r>
              <a:rPr lang="ko-KR" altLang="en-US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운영</a:t>
            </a:r>
          </a:p>
        </p:txBody>
      </p:sp>
      <p:sp>
        <p:nvSpPr>
          <p:cNvPr id="56" name="Google Shape;134;p5">
            <a:extLst>
              <a:ext uri="{FF2B5EF4-FFF2-40B4-BE49-F238E27FC236}">
                <a16:creationId xmlns:a16="http://schemas.microsoft.com/office/drawing/2014/main" id="{7FA40E0D-1D29-2BA1-7E4A-21BEE35E7E68}"/>
              </a:ext>
            </a:extLst>
          </p:cNvPr>
          <p:cNvSpPr/>
          <p:nvPr/>
        </p:nvSpPr>
        <p:spPr>
          <a:xfrm>
            <a:off x="334962" y="2676476"/>
            <a:ext cx="1584325" cy="828221"/>
          </a:xfrm>
          <a:prstGeom prst="rect">
            <a:avLst/>
          </a:prstGeom>
          <a:solidFill>
            <a:srgbClr val="F4B183"/>
          </a:solidFill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AI</a:t>
            </a:r>
            <a:r>
              <a:rPr lang="ko-KR" altLang="en-US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개발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91BBBFC8-7CD7-DDFE-1144-8D578947C44E}"/>
              </a:ext>
            </a:extLst>
          </p:cNvPr>
          <p:cNvSpPr/>
          <p:nvPr/>
        </p:nvSpPr>
        <p:spPr>
          <a:xfrm>
            <a:off x="3403246" y="2959984"/>
            <a:ext cx="924914" cy="541617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lvl="0" algn="ctr" defTabSz="914400">
              <a:defRPr/>
            </a:pPr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위험</a:t>
            </a:r>
            <a:r>
              <a:rPr lang="en-US" altLang="ko-KR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/</a:t>
            </a:r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영향</a:t>
            </a:r>
            <a:r>
              <a:rPr lang="en-US" altLang="ko-KR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/</a:t>
            </a:r>
            <a:r>
              <a:rPr lang="ko-KR" altLang="en-US" sz="1000" kern="0" spc="-50">
                <a:ln>
                  <a:solidFill>
                    <a:srgbClr val="0070C0">
                      <a:alpha val="0"/>
                    </a:srgbClr>
                  </a:solidFill>
                </a:ln>
                <a:latin typeface="+mn-ea"/>
              </a:rPr>
              <a:t>안전성 </a:t>
            </a:r>
            <a:r>
              <a:rPr kumimoji="0" lang="ko-KR" altLang="en-US" sz="1000" i="0" u="none" strike="noStrik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관리</a:t>
            </a:r>
            <a:endParaRPr kumimoji="0" lang="en-US" altLang="ko-KR" sz="1000" i="0" u="none" strike="noStrike" kern="0" cap="none" spc="-150" normalizeH="0" baseline="0" noProof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strike="noStrik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계획 협의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F2E09592-B7FD-06B2-E9E4-32DD4D347D68}"/>
              </a:ext>
            </a:extLst>
          </p:cNvPr>
          <p:cNvSpPr/>
          <p:nvPr/>
        </p:nvSpPr>
        <p:spPr>
          <a:xfrm>
            <a:off x="4697749" y="2670859"/>
            <a:ext cx="936000" cy="468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i="0" u="none" strike="noStrik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개발환경 구축 및 학습데이터 관리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17445F9D-5EA4-41B0-5EB0-DAE0004E08B3}"/>
              </a:ext>
            </a:extLst>
          </p:cNvPr>
          <p:cNvSpPr/>
          <p:nvPr/>
        </p:nvSpPr>
        <p:spPr>
          <a:xfrm>
            <a:off x="2051852" y="2888312"/>
            <a:ext cx="1188000" cy="252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i="0" u="none" strike="noStrik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AI</a:t>
            </a:r>
            <a:r>
              <a:rPr kumimoji="0" lang="ko-KR" altLang="en-US" sz="1000" i="0" u="none" strike="noStrik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서비스 기획</a:t>
            </a:r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 </a:t>
            </a:r>
            <a:r>
              <a:rPr kumimoji="0" lang="ko-KR" altLang="en-US" sz="1000" i="0" u="none" strike="noStrik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사전검토</a:t>
            </a:r>
          </a:p>
        </p:txBody>
      </p:sp>
      <p:sp>
        <p:nvSpPr>
          <p:cNvPr id="60" name="직사각형 12">
            <a:extLst>
              <a:ext uri="{FF2B5EF4-FFF2-40B4-BE49-F238E27FC236}">
                <a16:creationId xmlns:a16="http://schemas.microsoft.com/office/drawing/2014/main" id="{6ACB2B39-CD19-4243-448B-2CA5F45B59D4}"/>
              </a:ext>
            </a:extLst>
          </p:cNvPr>
          <p:cNvSpPr/>
          <p:nvPr/>
        </p:nvSpPr>
        <p:spPr>
          <a:xfrm>
            <a:off x="2051852" y="3249601"/>
            <a:ext cx="1188000" cy="25200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algn="ctr" latinLnBrk="0"/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서비스 개발계획 수립</a:t>
            </a:r>
          </a:p>
        </p:txBody>
      </p:sp>
      <p:sp>
        <p:nvSpPr>
          <p:cNvPr id="61" name="직사각형 22">
            <a:extLst>
              <a:ext uri="{FF2B5EF4-FFF2-40B4-BE49-F238E27FC236}">
                <a16:creationId xmlns:a16="http://schemas.microsoft.com/office/drawing/2014/main" id="{A16401B6-4004-4CD8-CABE-6F1D619C9556}"/>
              </a:ext>
            </a:extLst>
          </p:cNvPr>
          <p:cNvSpPr/>
          <p:nvPr/>
        </p:nvSpPr>
        <p:spPr>
          <a:xfrm>
            <a:off x="4697458" y="3260158"/>
            <a:ext cx="936000" cy="240956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lvl="0" algn="ctr" latinLnBrk="0">
              <a:defRPr/>
            </a:pPr>
            <a:r>
              <a:rPr kumimoji="0" lang="en-US" altLang="ko-KR" sz="1000" i="0" u="none" strike="noStrik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AI</a:t>
            </a:r>
            <a:r>
              <a:rPr kumimoji="0" lang="ko-KR" altLang="en-US" sz="1000" i="0" u="none" strike="noStrik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서비스 개발 </a:t>
            </a:r>
          </a:p>
        </p:txBody>
      </p:sp>
      <p:sp>
        <p:nvSpPr>
          <p:cNvPr id="62" name="직사각형 22">
            <a:extLst>
              <a:ext uri="{FF2B5EF4-FFF2-40B4-BE49-F238E27FC236}">
                <a16:creationId xmlns:a16="http://schemas.microsoft.com/office/drawing/2014/main" id="{65B755BB-464E-08D8-16A5-3D0F4BFC1250}"/>
              </a:ext>
            </a:extLst>
          </p:cNvPr>
          <p:cNvSpPr/>
          <p:nvPr/>
        </p:nvSpPr>
        <p:spPr>
          <a:xfrm>
            <a:off x="5787159" y="3139680"/>
            <a:ext cx="935999" cy="361921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lvl="0" algn="ctr" latinLnBrk="0">
              <a:defRPr/>
            </a:pPr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AI</a:t>
            </a: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서비스 개발 요건 이행 점검</a:t>
            </a:r>
            <a:endParaRPr kumimoji="0" lang="ko-KR" altLang="en-US" sz="1000" i="0" u="none" strike="noStrike" kern="0" cap="none" spc="-150" normalizeH="0" baseline="0" noProof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63" name="직사각형 25">
            <a:extLst>
              <a:ext uri="{FF2B5EF4-FFF2-40B4-BE49-F238E27FC236}">
                <a16:creationId xmlns:a16="http://schemas.microsoft.com/office/drawing/2014/main" id="{320FD5AF-79AC-3189-BAE5-E2D413AA5768}"/>
              </a:ext>
            </a:extLst>
          </p:cNvPr>
          <p:cNvSpPr/>
          <p:nvPr/>
        </p:nvSpPr>
        <p:spPr>
          <a:xfrm>
            <a:off x="7230250" y="2888850"/>
            <a:ext cx="810279" cy="569797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i="0" u="none" strike="noStrik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AI</a:t>
            </a:r>
            <a:r>
              <a:rPr kumimoji="0" lang="ko-KR" altLang="en-US" sz="1000" i="0" u="none" strike="noStrike" kern="0" cap="none" spc="-150" normalizeH="0" baseline="0" noProof="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서비스</a:t>
            </a:r>
            <a: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 </a:t>
            </a:r>
            <a:br>
              <a:rPr lang="en-US" altLang="ko-KR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</a:br>
            <a:r>
              <a:rPr lang="ko-KR" altLang="en-US" sz="1000" kern="0" spc="-150">
                <a:ln>
                  <a:solidFill>
                    <a:srgbClr val="0070C0">
                      <a:alpha val="0"/>
                    </a:srgbClr>
                  </a:solidFill>
                </a:ln>
                <a:solidFill>
                  <a:prstClr val="black"/>
                </a:solidFill>
                <a:latin typeface="+mn-ea"/>
              </a:rPr>
              <a:t>운영 전 검증 지원</a:t>
            </a:r>
            <a:endParaRPr kumimoji="0" lang="ko-KR" altLang="en-US" sz="1000" i="0" u="none" strike="noStrike" kern="0" cap="none" spc="-150" normalizeH="0" baseline="0" noProof="0">
              <a:ln>
                <a:solidFill>
                  <a:srgbClr val="0070C0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cxnSp>
        <p:nvCxnSpPr>
          <p:cNvPr id="65" name="연결선: 꺾임 46">
            <a:extLst>
              <a:ext uri="{FF2B5EF4-FFF2-40B4-BE49-F238E27FC236}">
                <a16:creationId xmlns:a16="http://schemas.microsoft.com/office/drawing/2014/main" id="{044A0B9A-2878-6024-6315-799D8FEFF5E6}"/>
              </a:ext>
            </a:extLst>
          </p:cNvPr>
          <p:cNvCxnSpPr>
            <a:cxnSpLocks/>
            <a:endCxn id="45" idx="1"/>
          </p:cNvCxnSpPr>
          <p:nvPr/>
        </p:nvCxnSpPr>
        <p:spPr>
          <a:xfrm rot="16200000" flipH="1">
            <a:off x="6812146" y="4281892"/>
            <a:ext cx="1774350" cy="127862"/>
          </a:xfrm>
          <a:prstGeom prst="bentConnector2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B49C486A-B333-E877-523A-68FE032D4913}"/>
              </a:ext>
            </a:extLst>
          </p:cNvPr>
          <p:cNvSpPr/>
          <p:nvPr/>
        </p:nvSpPr>
        <p:spPr>
          <a:xfrm>
            <a:off x="7675605" y="4976559"/>
            <a:ext cx="648000" cy="162771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00" spc="-150">
                <a:solidFill>
                  <a:prstClr val="white"/>
                </a:solidFill>
                <a:latin typeface="+mn-ea"/>
              </a:rPr>
              <a:t>고</a:t>
            </a:r>
            <a:r>
              <a:rPr kumimoji="0" lang="ko-KR" altLang="en-US" sz="900" i="0" u="none" strike="noStrike" kern="1200" cap="none" spc="-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rPr>
              <a:t> 위험</a:t>
            </a:r>
            <a:r>
              <a:rPr kumimoji="0" lang="en-US" altLang="ko-KR" sz="900" i="0" u="none" strike="noStrike" kern="1200" cap="none" spc="-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rPr>
              <a:t>/</a:t>
            </a:r>
            <a:r>
              <a:rPr kumimoji="0" lang="ko-KR" altLang="en-US" sz="900" i="0" u="none" strike="noStrike" kern="1200" cap="none" spc="-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rPr>
              <a:t>영향</a:t>
            </a:r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986098D4-E08F-01A4-7FDC-50067345BE31}"/>
              </a:ext>
            </a:extLst>
          </p:cNvPr>
          <p:cNvSpPr/>
          <p:nvPr/>
        </p:nvSpPr>
        <p:spPr>
          <a:xfrm>
            <a:off x="7675605" y="4467442"/>
            <a:ext cx="648000" cy="162771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i="0" u="none" strike="noStrike" kern="1200" cap="none" spc="-15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cs"/>
              </a:rPr>
              <a:t>중 위험</a:t>
            </a:r>
            <a:r>
              <a:rPr kumimoji="0" lang="en-US" altLang="ko-KR" sz="900" i="0" u="none" strike="noStrike" kern="1200" cap="none" spc="-15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cs"/>
              </a:rPr>
              <a:t>/</a:t>
            </a:r>
            <a:r>
              <a:rPr kumimoji="0" lang="ko-KR" altLang="en-US" sz="900" i="0" u="none" strike="noStrike" kern="1200" cap="none" spc="-15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cs"/>
              </a:rPr>
              <a:t>영향</a:t>
            </a:r>
          </a:p>
        </p:txBody>
      </p:sp>
      <p:sp>
        <p:nvSpPr>
          <p:cNvPr id="68" name="사각형: 둥근 모서리 67">
            <a:extLst>
              <a:ext uri="{FF2B5EF4-FFF2-40B4-BE49-F238E27FC236}">
                <a16:creationId xmlns:a16="http://schemas.microsoft.com/office/drawing/2014/main" id="{5EDA6516-0751-EBE9-C293-09597E873AAC}"/>
              </a:ext>
            </a:extLst>
          </p:cNvPr>
          <p:cNvSpPr/>
          <p:nvPr/>
        </p:nvSpPr>
        <p:spPr>
          <a:xfrm>
            <a:off x="8200887" y="1706581"/>
            <a:ext cx="648000" cy="161776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1200" cap="none" spc="-15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cs"/>
              </a:rPr>
              <a:t>저 위험</a:t>
            </a:r>
            <a:r>
              <a:rPr kumimoji="0" lang="en-US" altLang="ko-KR" sz="900" b="1" i="0" u="none" strike="noStrike" kern="1200" cap="none" spc="-15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cs"/>
              </a:rPr>
              <a:t>/</a:t>
            </a:r>
            <a:r>
              <a:rPr kumimoji="0" lang="ko-KR" altLang="en-US" sz="900" b="1" i="0" u="none" strike="noStrike" kern="1200" cap="none" spc="-15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cs"/>
              </a:rPr>
              <a:t>영향</a:t>
            </a: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108D85A5-38BF-7396-E0D3-F061CA230046}"/>
              </a:ext>
            </a:extLst>
          </p:cNvPr>
          <p:cNvSpPr/>
          <p:nvPr/>
        </p:nvSpPr>
        <p:spPr>
          <a:xfrm>
            <a:off x="334963" y="5929292"/>
            <a:ext cx="1572626" cy="595329"/>
          </a:xfrm>
          <a:prstGeom prst="rect">
            <a:avLst/>
          </a:prstGeom>
          <a:solidFill>
            <a:srgbClr val="043B7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현황 </a:t>
            </a:r>
            <a:r>
              <a:rPr lang="en-US" altLang="ko-KR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&amp; </a:t>
            </a:r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고려사항</a:t>
            </a: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2B128FE7-0E85-6448-05A6-315DEE5D71B7}"/>
              </a:ext>
            </a:extLst>
          </p:cNvPr>
          <p:cNvSpPr/>
          <p:nvPr/>
        </p:nvSpPr>
        <p:spPr>
          <a:xfrm>
            <a:off x="2011212" y="5929292"/>
            <a:ext cx="9880750" cy="595329"/>
          </a:xfrm>
          <a:prstGeom prst="rect">
            <a:avLst/>
          </a:prstGeom>
          <a:pattFill prst="dkUp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1200" err="1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고영향</a:t>
            </a:r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AI</a:t>
            </a:r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및 인공지능 안전성 확보에 관한 표준 프로세스 추가가 필요함</a:t>
            </a:r>
            <a:endParaRPr lang="en-US" altLang="ko-KR" sz="1200">
              <a:ln>
                <a:solidFill>
                  <a:schemeClr val="accent2">
                    <a:lumMod val="60000"/>
                    <a:lumOff val="40000"/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AI</a:t>
            </a:r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서비스 개발 단계별 </a:t>
            </a:r>
            <a:r>
              <a:rPr lang="ko-KR" altLang="en-US" sz="1200" err="1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유관부서의</a:t>
            </a:r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 표준 </a:t>
            </a: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R&amp;R</a:t>
            </a:r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 및 업무 프로세스를 旣 보유 하고 있으며</a:t>
            </a: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err="1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미래에셋증권</a:t>
            </a:r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 내부 조직 매핑이 필요함 </a:t>
            </a:r>
            <a:endParaRPr lang="en-US" altLang="ko-KR" sz="1200">
              <a:ln>
                <a:solidFill>
                  <a:schemeClr val="accent2">
                    <a:lumMod val="60000"/>
                    <a:lumOff val="40000"/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98" name="직선 화살표 연결선 41">
            <a:extLst>
              <a:ext uri="{FF2B5EF4-FFF2-40B4-BE49-F238E27FC236}">
                <a16:creationId xmlns:a16="http://schemas.microsoft.com/office/drawing/2014/main" id="{CD45517D-453F-6B6A-1107-44F3F7495738}"/>
              </a:ext>
            </a:extLst>
          </p:cNvPr>
          <p:cNvCxnSpPr>
            <a:cxnSpLocks/>
            <a:stCxn id="17" idx="2"/>
            <a:endCxn id="63" idx="0"/>
          </p:cNvCxnSpPr>
          <p:nvPr/>
        </p:nvCxnSpPr>
        <p:spPr>
          <a:xfrm>
            <a:off x="7631238" y="2564946"/>
            <a:ext cx="4152" cy="323904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85" name="연결선: 꺾임 84">
            <a:extLst>
              <a:ext uri="{FF2B5EF4-FFF2-40B4-BE49-F238E27FC236}">
                <a16:creationId xmlns:a16="http://schemas.microsoft.com/office/drawing/2014/main" id="{672A7197-6919-7117-7BAA-99AB87E712A6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 rot="5400000">
            <a:off x="2576604" y="2167894"/>
            <a:ext cx="138496" cy="1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89" name="연결선: 꺾임 88">
            <a:extLst>
              <a:ext uri="{FF2B5EF4-FFF2-40B4-BE49-F238E27FC236}">
                <a16:creationId xmlns:a16="http://schemas.microsoft.com/office/drawing/2014/main" id="{6587A0C3-7945-95B4-7FAA-E891EB6CE8FE}"/>
              </a:ext>
            </a:extLst>
          </p:cNvPr>
          <p:cNvCxnSpPr>
            <a:cxnSpLocks/>
            <a:stCxn id="12" idx="2"/>
            <a:endCxn id="57" idx="0"/>
          </p:cNvCxnSpPr>
          <p:nvPr/>
        </p:nvCxnSpPr>
        <p:spPr>
          <a:xfrm rot="16200000" flipH="1">
            <a:off x="2572266" y="2814726"/>
            <a:ext cx="147170" cy="1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cxnSp>
        <p:nvCxnSpPr>
          <p:cNvPr id="95" name="직선 화살표 연결선 94">
            <a:extLst>
              <a:ext uri="{FF2B5EF4-FFF2-40B4-BE49-F238E27FC236}">
                <a16:creationId xmlns:a16="http://schemas.microsoft.com/office/drawing/2014/main" id="{03FEE00D-738A-661F-633D-1FCF308047BC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2645852" y="2098646"/>
            <a:ext cx="0" cy="138496"/>
          </a:xfrm>
          <a:prstGeom prst="straightConnector1">
            <a:avLst/>
          </a:prstGeom>
          <a:noFill/>
          <a:ln w="1270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  <a:tailEnd type="triangle" w="sm" len="sm"/>
          </a:ln>
          <a:effectLst/>
        </p:spPr>
      </p:cxn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9F33C69A-4B95-C442-104A-AA7B1C78A63F}"/>
              </a:ext>
            </a:extLst>
          </p:cNvPr>
          <p:cNvGrpSpPr/>
          <p:nvPr/>
        </p:nvGrpSpPr>
        <p:grpSpPr>
          <a:xfrm>
            <a:off x="331785" y="26929"/>
            <a:ext cx="900000" cy="180000"/>
            <a:chOff x="407985" y="52329"/>
            <a:chExt cx="900000" cy="180000"/>
          </a:xfrm>
          <a:solidFill>
            <a:srgbClr val="0070C0"/>
          </a:solidFill>
        </p:grpSpPr>
        <p:sp>
          <p:nvSpPr>
            <p:cNvPr id="77" name="사각형: 둥근 모서리 76">
              <a:extLst>
                <a:ext uri="{FF2B5EF4-FFF2-40B4-BE49-F238E27FC236}">
                  <a16:creationId xmlns:a16="http://schemas.microsoft.com/office/drawing/2014/main" id="{212D266E-F2B0-1DE6-CDE3-30E2B16CCAD3}"/>
                </a:ext>
              </a:extLst>
            </p:cNvPr>
            <p:cNvSpPr/>
            <p:nvPr/>
          </p:nvSpPr>
          <p:spPr>
            <a:xfrm>
              <a:off x="407985" y="52329"/>
              <a:ext cx="180000" cy="180000"/>
            </a:xfrm>
            <a:prstGeom prst="roundRect">
              <a:avLst/>
            </a:prstGeom>
            <a:grpFill/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+mn-ea"/>
                </a:rPr>
                <a:t>1</a:t>
              </a:r>
            </a:p>
          </p:txBody>
        </p:sp>
        <p:sp>
          <p:nvSpPr>
            <p:cNvPr id="78" name="사각형: 둥근 모서리 77">
              <a:extLst>
                <a:ext uri="{FF2B5EF4-FFF2-40B4-BE49-F238E27FC236}">
                  <a16:creationId xmlns:a16="http://schemas.microsoft.com/office/drawing/2014/main" id="{981636D5-A619-A43F-B391-D5657418FAC4}"/>
                </a:ext>
              </a:extLst>
            </p:cNvPr>
            <p:cNvSpPr/>
            <p:nvPr/>
          </p:nvSpPr>
          <p:spPr>
            <a:xfrm>
              <a:off x="587985" y="52329"/>
              <a:ext cx="180000" cy="180000"/>
            </a:xfrm>
            <a:prstGeom prst="roundRect">
              <a:avLst/>
            </a:prstGeom>
            <a:grpFill/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+mn-ea"/>
                </a:rPr>
                <a:t>2</a:t>
              </a:r>
            </a:p>
          </p:txBody>
        </p:sp>
        <p:sp>
          <p:nvSpPr>
            <p:cNvPr id="79" name="사각형: 둥근 모서리 78">
              <a:extLst>
                <a:ext uri="{FF2B5EF4-FFF2-40B4-BE49-F238E27FC236}">
                  <a16:creationId xmlns:a16="http://schemas.microsoft.com/office/drawing/2014/main" id="{EB4C3050-9979-8693-5221-6F041FAF88BB}"/>
                </a:ext>
              </a:extLst>
            </p:cNvPr>
            <p:cNvSpPr/>
            <p:nvPr/>
          </p:nvSpPr>
          <p:spPr>
            <a:xfrm>
              <a:off x="767985" y="52329"/>
              <a:ext cx="180000" cy="180000"/>
            </a:xfrm>
            <a:prstGeom prst="roundRect">
              <a:avLst/>
            </a:prstGeom>
            <a:grpFill/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+mn-ea"/>
                </a:rPr>
                <a:t>3</a:t>
              </a:r>
            </a:p>
          </p:txBody>
        </p:sp>
        <p:sp>
          <p:nvSpPr>
            <p:cNvPr id="80" name="사각형: 둥근 모서리 79">
              <a:extLst>
                <a:ext uri="{FF2B5EF4-FFF2-40B4-BE49-F238E27FC236}">
                  <a16:creationId xmlns:a16="http://schemas.microsoft.com/office/drawing/2014/main" id="{C0CB1EFF-A8A8-1A3B-85F3-5F7D10D19B1A}"/>
                </a:ext>
              </a:extLst>
            </p:cNvPr>
            <p:cNvSpPr/>
            <p:nvPr/>
          </p:nvSpPr>
          <p:spPr>
            <a:xfrm>
              <a:off x="947985" y="52329"/>
              <a:ext cx="180000" cy="180000"/>
            </a:xfrm>
            <a:prstGeom prst="roundRect">
              <a:avLst/>
            </a:prstGeom>
            <a:grpFill/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+mn-ea"/>
                </a:rPr>
                <a:t>4</a:t>
              </a:r>
            </a:p>
          </p:txBody>
        </p:sp>
        <p:sp>
          <p:nvSpPr>
            <p:cNvPr id="81" name="사각형: 둥근 모서리 80">
              <a:extLst>
                <a:ext uri="{FF2B5EF4-FFF2-40B4-BE49-F238E27FC236}">
                  <a16:creationId xmlns:a16="http://schemas.microsoft.com/office/drawing/2014/main" id="{D2A6C79C-2440-3600-FFA5-AF4703143C2B}"/>
                </a:ext>
              </a:extLst>
            </p:cNvPr>
            <p:cNvSpPr/>
            <p:nvPr/>
          </p:nvSpPr>
          <p:spPr>
            <a:xfrm>
              <a:off x="1127985" y="52329"/>
              <a:ext cx="180000" cy="180000"/>
            </a:xfrm>
            <a:prstGeom prst="roundRect">
              <a:avLst/>
            </a:prstGeom>
            <a:grpFill/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+mn-ea"/>
                </a:rPr>
                <a:t>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466223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2C1C42B1-C1B9-DD28-82CE-1AE6C357A44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35A8EDD-4C77-A448-F1BC-2092D0CE297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AI</a:t>
            </a:r>
            <a:r>
              <a:rPr lang="ko-KR" altLang="en-US"/>
              <a:t>거버넌스 초기 가설적 유관 부서별 수행 상세 업무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856E3CE-E54B-C7D4-6A1A-0533E460E3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/>
              <a:t>AI</a:t>
            </a:r>
            <a:r>
              <a:rPr lang="ko-KR" altLang="en-US"/>
              <a:t>업무 관련 전문성을 확보하고</a:t>
            </a:r>
            <a:r>
              <a:rPr lang="en-US" altLang="ko-KR"/>
              <a:t> </a:t>
            </a:r>
            <a:r>
              <a:rPr lang="ko-KR" altLang="en-US"/>
              <a:t>조직 전반에 책임감 있는 </a:t>
            </a:r>
            <a:r>
              <a:rPr lang="en-US" altLang="ko-KR"/>
              <a:t>AI</a:t>
            </a:r>
            <a:r>
              <a:rPr lang="ko-KR" altLang="en-US"/>
              <a:t>관리 역량 강화를 수행 가능하도록 담당 팀</a:t>
            </a:r>
            <a:r>
              <a:rPr lang="en-US" altLang="ko-KR"/>
              <a:t>(</a:t>
            </a:r>
            <a:r>
              <a:rPr lang="ko-KR" altLang="en-US"/>
              <a:t>자</a:t>
            </a:r>
            <a:r>
              <a:rPr lang="en-US" altLang="ko-KR"/>
              <a:t>) </a:t>
            </a:r>
            <a:r>
              <a:rPr lang="ko-KR" altLang="en-US"/>
              <a:t>지정이 필요함</a:t>
            </a:r>
          </a:p>
        </p:txBody>
      </p:sp>
      <p:sp>
        <p:nvSpPr>
          <p:cNvPr id="5" name="사각형: 둥근 모서리 20">
            <a:extLst>
              <a:ext uri="{FF2B5EF4-FFF2-40B4-BE49-F238E27FC236}">
                <a16:creationId xmlns:a16="http://schemas.microsoft.com/office/drawing/2014/main" id="{1D6B98BD-A56B-BD11-8478-1E384A4153D4}"/>
              </a:ext>
            </a:extLst>
          </p:cNvPr>
          <p:cNvSpPr/>
          <p:nvPr/>
        </p:nvSpPr>
        <p:spPr>
          <a:xfrm>
            <a:off x="2027238" y="1341438"/>
            <a:ext cx="7104019" cy="319757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수행 상세 업무</a:t>
            </a:r>
            <a:endParaRPr lang="en" altLang="ko-KR" sz="1400" b="1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lt1"/>
              </a:solidFill>
              <a:latin typeface="+mn-ea"/>
            </a:endParaRPr>
          </a:p>
        </p:txBody>
      </p:sp>
      <p:sp>
        <p:nvSpPr>
          <p:cNvPr id="6" name="사각형: 둥근 모서리 20">
            <a:extLst>
              <a:ext uri="{FF2B5EF4-FFF2-40B4-BE49-F238E27FC236}">
                <a16:creationId xmlns:a16="http://schemas.microsoft.com/office/drawing/2014/main" id="{15FE776A-912E-1C14-8929-2FAB3A0AA605}"/>
              </a:ext>
            </a:extLst>
          </p:cNvPr>
          <p:cNvSpPr/>
          <p:nvPr/>
        </p:nvSpPr>
        <p:spPr>
          <a:xfrm>
            <a:off x="334964" y="1341438"/>
            <a:ext cx="1584324" cy="319757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구분</a:t>
            </a:r>
            <a:endParaRPr lang="en" altLang="ko-KR" sz="1400" b="1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lt1"/>
              </a:solidFill>
              <a:latin typeface="+mn-ea"/>
            </a:endParaRPr>
          </a:p>
        </p:txBody>
      </p:sp>
      <p:sp>
        <p:nvSpPr>
          <p:cNvPr id="7" name="사각형: 둥근 모서리 20">
            <a:extLst>
              <a:ext uri="{FF2B5EF4-FFF2-40B4-BE49-F238E27FC236}">
                <a16:creationId xmlns:a16="http://schemas.microsoft.com/office/drawing/2014/main" id="{B7ECEA4B-5E40-F5E2-7848-7B5A86FDA0A0}"/>
              </a:ext>
            </a:extLst>
          </p:cNvPr>
          <p:cNvSpPr/>
          <p:nvPr/>
        </p:nvSpPr>
        <p:spPr>
          <a:xfrm>
            <a:off x="9239208" y="1341438"/>
            <a:ext cx="2652758" cy="319757"/>
          </a:xfrm>
          <a:prstGeom prst="roundRect">
            <a:avLst>
              <a:gd name="adj" fmla="val 0"/>
            </a:avLst>
          </a:prstGeom>
          <a:solidFill>
            <a:srgbClr val="043B7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미래에셋증권</a:t>
            </a:r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 </a:t>
            </a:r>
            <a:r>
              <a:rPr lang="ko-KR" altLang="en-US" sz="1400" b="1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담당팀</a:t>
            </a:r>
            <a:r>
              <a:rPr lang="en-US" altLang="ko-KR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(</a:t>
            </a:r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자</a:t>
            </a:r>
            <a:r>
              <a:rPr lang="en-US" altLang="ko-KR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)</a:t>
            </a:r>
            <a:endParaRPr lang="en" altLang="ko-KR" sz="1400" b="1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lt1"/>
              </a:solidFill>
              <a:latin typeface="+mn-ea"/>
            </a:endParaRPr>
          </a:p>
        </p:txBody>
      </p:sp>
      <p:sp>
        <p:nvSpPr>
          <p:cNvPr id="8" name="Google Shape;134;p5">
            <a:extLst>
              <a:ext uri="{FF2B5EF4-FFF2-40B4-BE49-F238E27FC236}">
                <a16:creationId xmlns:a16="http://schemas.microsoft.com/office/drawing/2014/main" id="{468A6DFB-2DF4-8524-5373-5D2D7FA26D92}"/>
              </a:ext>
            </a:extLst>
          </p:cNvPr>
          <p:cNvSpPr/>
          <p:nvPr/>
        </p:nvSpPr>
        <p:spPr>
          <a:xfrm>
            <a:off x="9239207" y="1783449"/>
            <a:ext cx="2652758" cy="836247"/>
          </a:xfrm>
          <a:prstGeom prst="roundRect">
            <a:avLst/>
          </a:prstGeom>
          <a:pattFill prst="dkUp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AX</a:t>
            </a:r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팀</a:t>
            </a: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(</a:t>
            </a:r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홍길동</a:t>
            </a: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, </a:t>
            </a:r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임꺽정</a:t>
            </a: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)</a:t>
            </a:r>
            <a:endParaRPr lang="ko-KR" altLang="en-US" sz="1200">
              <a:ln>
                <a:solidFill>
                  <a:schemeClr val="accent2">
                    <a:lumMod val="60000"/>
                    <a:lumOff val="40000"/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</p:txBody>
      </p:sp>
      <p:sp>
        <p:nvSpPr>
          <p:cNvPr id="9" name="Google Shape;134;p5">
            <a:extLst>
              <a:ext uri="{FF2B5EF4-FFF2-40B4-BE49-F238E27FC236}">
                <a16:creationId xmlns:a16="http://schemas.microsoft.com/office/drawing/2014/main" id="{9E749785-F649-0AE4-F850-41DB349DBBC3}"/>
              </a:ext>
            </a:extLst>
          </p:cNvPr>
          <p:cNvSpPr/>
          <p:nvPr/>
        </p:nvSpPr>
        <p:spPr>
          <a:xfrm>
            <a:off x="9239207" y="4712147"/>
            <a:ext cx="2652758" cy="836247"/>
          </a:xfrm>
          <a:prstGeom prst="roundRect">
            <a:avLst/>
          </a:prstGeom>
          <a:pattFill prst="dkUp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AI</a:t>
            </a:r>
            <a:r>
              <a:rPr lang="ko-KR" altLang="en-US" sz="1200" err="1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거버넌스부서</a:t>
            </a: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(</a:t>
            </a:r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유관순</a:t>
            </a: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)</a:t>
            </a:r>
            <a:endParaRPr lang="ko-KR" altLang="en-US" sz="1200">
              <a:ln>
                <a:solidFill>
                  <a:schemeClr val="accent2">
                    <a:lumMod val="60000"/>
                    <a:lumOff val="40000"/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</p:txBody>
      </p:sp>
      <p:sp>
        <p:nvSpPr>
          <p:cNvPr id="11" name="Google Shape;134;p5">
            <a:extLst>
              <a:ext uri="{FF2B5EF4-FFF2-40B4-BE49-F238E27FC236}">
                <a16:creationId xmlns:a16="http://schemas.microsoft.com/office/drawing/2014/main" id="{5EBBD418-707D-DB91-F128-CC3785409A4F}"/>
              </a:ext>
            </a:extLst>
          </p:cNvPr>
          <p:cNvSpPr/>
          <p:nvPr/>
        </p:nvSpPr>
        <p:spPr>
          <a:xfrm>
            <a:off x="9239207" y="3735914"/>
            <a:ext cx="2652758" cy="836247"/>
          </a:xfrm>
          <a:prstGeom prst="roundRect">
            <a:avLst/>
          </a:prstGeom>
          <a:pattFill prst="dkUp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상동</a:t>
            </a:r>
          </a:p>
        </p:txBody>
      </p:sp>
      <p:sp>
        <p:nvSpPr>
          <p:cNvPr id="12" name="Google Shape;134;p5">
            <a:extLst>
              <a:ext uri="{FF2B5EF4-FFF2-40B4-BE49-F238E27FC236}">
                <a16:creationId xmlns:a16="http://schemas.microsoft.com/office/drawing/2014/main" id="{4EB6DEAB-7425-E108-C653-A49FA5617734}"/>
              </a:ext>
            </a:extLst>
          </p:cNvPr>
          <p:cNvSpPr/>
          <p:nvPr/>
        </p:nvSpPr>
        <p:spPr>
          <a:xfrm>
            <a:off x="9239207" y="5688378"/>
            <a:ext cx="2652758" cy="836247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>
              <a:lnSpc>
                <a:spcPct val="130000"/>
              </a:lnSpc>
            </a:pPr>
            <a:r>
              <a:rPr lang="ko-KR" altLang="en-US" sz="1200" i="1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  <a:sym typeface="Arial"/>
              </a:rPr>
              <a:t>당사 조직을 고려하여</a:t>
            </a:r>
            <a:br>
              <a:rPr lang="en-US" altLang="ko-KR" sz="1200" i="1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  <a:sym typeface="Arial"/>
              </a:rPr>
            </a:br>
            <a:r>
              <a:rPr lang="ko-KR" altLang="en-US" sz="1200" i="1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  <a:sym typeface="Arial"/>
              </a:rPr>
              <a:t>각</a:t>
            </a:r>
            <a:r>
              <a:rPr lang="en-US" altLang="ko-KR" sz="1200" i="1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  <a:sym typeface="Arial"/>
              </a:rPr>
              <a:t> </a:t>
            </a:r>
            <a:r>
              <a:rPr lang="ko-KR" altLang="en-US" sz="1200" i="1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  <a:sym typeface="Arial"/>
              </a:rPr>
              <a:t>유관 담당자를 배정</a:t>
            </a:r>
          </a:p>
        </p:txBody>
      </p:sp>
      <p:cxnSp>
        <p:nvCxnSpPr>
          <p:cNvPr id="13" name="직선 연결선 80">
            <a:extLst>
              <a:ext uri="{FF2B5EF4-FFF2-40B4-BE49-F238E27FC236}">
                <a16:creationId xmlns:a16="http://schemas.microsoft.com/office/drawing/2014/main" id="{CA1C72E0-26E7-BC9C-B3A3-18539B103A2C}"/>
              </a:ext>
            </a:extLst>
          </p:cNvPr>
          <p:cNvCxnSpPr>
            <a:cxnSpLocks/>
          </p:cNvCxnSpPr>
          <p:nvPr/>
        </p:nvCxnSpPr>
        <p:spPr bwMode="auto">
          <a:xfrm>
            <a:off x="2027238" y="2657976"/>
            <a:ext cx="7104019" cy="0"/>
          </a:xfrm>
          <a:prstGeom prst="line">
            <a:avLst/>
          </a:prstGeom>
          <a:solidFill>
            <a:srgbClr val="FFFFFF"/>
          </a:solidFill>
          <a:ln w="3175" cap="flat" cmpd="sng" algn="ctr">
            <a:solidFill>
              <a:schemeClr val="bg1">
                <a:lumMod val="50000"/>
              </a:schemeClr>
            </a:solidFill>
            <a:prstDash val="dashDot"/>
          </a:ln>
          <a:effectLst/>
        </p:spPr>
      </p:cxnSp>
      <p:cxnSp>
        <p:nvCxnSpPr>
          <p:cNvPr id="14" name="직선 연결선 80">
            <a:extLst>
              <a:ext uri="{FF2B5EF4-FFF2-40B4-BE49-F238E27FC236}">
                <a16:creationId xmlns:a16="http://schemas.microsoft.com/office/drawing/2014/main" id="{C29B6735-FF64-10B9-FCA2-2E999B07FD67}"/>
              </a:ext>
            </a:extLst>
          </p:cNvPr>
          <p:cNvCxnSpPr>
            <a:cxnSpLocks/>
          </p:cNvCxnSpPr>
          <p:nvPr/>
        </p:nvCxnSpPr>
        <p:spPr bwMode="auto">
          <a:xfrm>
            <a:off x="2027238" y="3634208"/>
            <a:ext cx="7104019" cy="0"/>
          </a:xfrm>
          <a:prstGeom prst="line">
            <a:avLst/>
          </a:prstGeom>
          <a:solidFill>
            <a:srgbClr val="FFFFFF"/>
          </a:solidFill>
          <a:ln w="3175" cap="flat" cmpd="sng" algn="ctr">
            <a:solidFill>
              <a:schemeClr val="bg1">
                <a:lumMod val="50000"/>
              </a:schemeClr>
            </a:solidFill>
            <a:prstDash val="dashDot"/>
          </a:ln>
          <a:effectLst/>
        </p:spPr>
      </p:cxnSp>
      <p:cxnSp>
        <p:nvCxnSpPr>
          <p:cNvPr id="15" name="직선 연결선 80">
            <a:extLst>
              <a:ext uri="{FF2B5EF4-FFF2-40B4-BE49-F238E27FC236}">
                <a16:creationId xmlns:a16="http://schemas.microsoft.com/office/drawing/2014/main" id="{D854ADE7-79E9-6021-48AB-6FD94140A185}"/>
              </a:ext>
            </a:extLst>
          </p:cNvPr>
          <p:cNvCxnSpPr>
            <a:cxnSpLocks/>
          </p:cNvCxnSpPr>
          <p:nvPr/>
        </p:nvCxnSpPr>
        <p:spPr bwMode="auto">
          <a:xfrm>
            <a:off x="2027238" y="4610441"/>
            <a:ext cx="7104019" cy="0"/>
          </a:xfrm>
          <a:prstGeom prst="line">
            <a:avLst/>
          </a:prstGeom>
          <a:solidFill>
            <a:srgbClr val="FFFFFF"/>
          </a:solidFill>
          <a:ln w="3175" cap="flat" cmpd="sng" algn="ctr">
            <a:solidFill>
              <a:schemeClr val="bg1">
                <a:lumMod val="50000"/>
              </a:schemeClr>
            </a:solidFill>
            <a:prstDash val="dashDot"/>
          </a:ln>
          <a:effectLst/>
        </p:spPr>
      </p:cxnSp>
      <p:cxnSp>
        <p:nvCxnSpPr>
          <p:cNvPr id="16" name="직선 연결선 80">
            <a:extLst>
              <a:ext uri="{FF2B5EF4-FFF2-40B4-BE49-F238E27FC236}">
                <a16:creationId xmlns:a16="http://schemas.microsoft.com/office/drawing/2014/main" id="{88ABFD21-AD7D-9293-6FD5-9B07D250FD48}"/>
              </a:ext>
            </a:extLst>
          </p:cNvPr>
          <p:cNvCxnSpPr>
            <a:cxnSpLocks/>
          </p:cNvCxnSpPr>
          <p:nvPr/>
        </p:nvCxnSpPr>
        <p:spPr bwMode="auto">
          <a:xfrm>
            <a:off x="2027238" y="5586673"/>
            <a:ext cx="7104019" cy="0"/>
          </a:xfrm>
          <a:prstGeom prst="line">
            <a:avLst/>
          </a:prstGeom>
          <a:solidFill>
            <a:srgbClr val="FFFFFF"/>
          </a:solidFill>
          <a:ln w="3175" cap="flat" cmpd="sng" algn="ctr">
            <a:solidFill>
              <a:schemeClr val="bg1">
                <a:lumMod val="50000"/>
              </a:schemeClr>
            </a:solidFill>
            <a:prstDash val="dashDot"/>
          </a:ln>
          <a:effectLst/>
        </p:spPr>
      </p:cxnSp>
      <p:sp>
        <p:nvSpPr>
          <p:cNvPr id="17" name="Rectangle: Rounded Corners 9">
            <a:extLst>
              <a:ext uri="{FF2B5EF4-FFF2-40B4-BE49-F238E27FC236}">
                <a16:creationId xmlns:a16="http://schemas.microsoft.com/office/drawing/2014/main" id="{65DBC71C-577C-9963-6125-295B98452BF9}"/>
              </a:ext>
            </a:extLst>
          </p:cNvPr>
          <p:cNvSpPr/>
          <p:nvPr/>
        </p:nvSpPr>
        <p:spPr>
          <a:xfrm>
            <a:off x="2027238" y="1751736"/>
            <a:ext cx="7104019" cy="836247"/>
          </a:xfrm>
          <a:prstGeom prst="roundRect">
            <a:avLst>
              <a:gd name="adj" fmla="val 0"/>
            </a:avLst>
          </a:prstGeom>
          <a:noFill/>
          <a:ln w="317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AI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사업 목적에 기반한 구체적인 </a:t>
            </a: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AI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서비스 계획 수립</a:t>
            </a:r>
            <a:endParaRPr kumimoji="0" lang="en-US" altLang="ko-KR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사용자 보호 및 투명성 목적을 반영하여 위험 관리 계획 수립 및 점검 수행</a:t>
            </a:r>
            <a:endParaRPr kumimoji="0" lang="en-US" altLang="ko-KR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8" name="Rectangle: Rounded Corners 26">
            <a:extLst>
              <a:ext uri="{FF2B5EF4-FFF2-40B4-BE49-F238E27FC236}">
                <a16:creationId xmlns:a16="http://schemas.microsoft.com/office/drawing/2014/main" id="{6A46A7D0-D635-4E48-1D51-60A632D1A24F}"/>
              </a:ext>
            </a:extLst>
          </p:cNvPr>
          <p:cNvSpPr/>
          <p:nvPr/>
        </p:nvSpPr>
        <p:spPr>
          <a:xfrm>
            <a:off x="2027238" y="4680434"/>
            <a:ext cx="7104019" cy="836247"/>
          </a:xfrm>
          <a:prstGeom prst="roundRect">
            <a:avLst>
              <a:gd name="adj" fmla="val 0"/>
            </a:avLst>
          </a:prstGeom>
          <a:noFill/>
          <a:ln w="317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AI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거버넌스 체계 구축 및 총괄 관리 기능 수행</a:t>
            </a:r>
            <a:endParaRPr kumimoji="0" lang="en-US" altLang="ko-KR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AI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거버넌스 실행</a:t>
            </a: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 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및 지원</a:t>
            </a: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, AI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위험관리정책 준수 및 통제 절차 이행 여부 점검 및 모니터링</a:t>
            </a: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, AI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협의체 운영 지원</a:t>
            </a: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, AI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거버넌스 관련 </a:t>
            </a:r>
            <a:r>
              <a:rPr kumimoji="0" lang="ko-KR" altLang="en-US" sz="1200" b="0" i="0" u="none" strike="noStrike" kern="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대∙내외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 규제 대응 등</a:t>
            </a: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 </a:t>
            </a:r>
            <a:endParaRPr kumimoji="0" lang="ko-KR" altLang="en-US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9" name="Rectangle: Rounded Corners 27">
            <a:extLst>
              <a:ext uri="{FF2B5EF4-FFF2-40B4-BE49-F238E27FC236}">
                <a16:creationId xmlns:a16="http://schemas.microsoft.com/office/drawing/2014/main" id="{45FC91EE-8307-0481-5145-5C6322C69F92}"/>
              </a:ext>
            </a:extLst>
          </p:cNvPr>
          <p:cNvSpPr/>
          <p:nvPr/>
        </p:nvSpPr>
        <p:spPr>
          <a:xfrm>
            <a:off x="2027238" y="2727969"/>
            <a:ext cx="7104019" cy="836247"/>
          </a:xfrm>
          <a:prstGeom prst="roundRect">
            <a:avLst>
              <a:gd name="adj" fmla="val 0"/>
            </a:avLst>
          </a:prstGeom>
          <a:noFill/>
          <a:ln w="317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AI</a:t>
            </a:r>
            <a:r>
              <a:rPr lang="ko-KR" altLang="en-US" sz="1200" kern="0" dirty="0">
                <a:solidFill>
                  <a:prstClr val="black"/>
                </a:solidFill>
                <a:latin typeface="+mn-ea"/>
              </a:rPr>
              <a:t>서비스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개발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, 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학습 등 수행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AI 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및 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IT 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개발계획 수립 및 이행</a:t>
            </a:r>
          </a:p>
        </p:txBody>
      </p:sp>
      <p:sp>
        <p:nvSpPr>
          <p:cNvPr id="20" name="Rectangle: Rounded Corners 28">
            <a:extLst>
              <a:ext uri="{FF2B5EF4-FFF2-40B4-BE49-F238E27FC236}">
                <a16:creationId xmlns:a16="http://schemas.microsoft.com/office/drawing/2014/main" id="{815C1C12-30FB-02AC-638F-9225437B2E99}"/>
              </a:ext>
            </a:extLst>
          </p:cNvPr>
          <p:cNvSpPr/>
          <p:nvPr/>
        </p:nvSpPr>
        <p:spPr>
          <a:xfrm>
            <a:off x="2027238" y="3704201"/>
            <a:ext cx="7104019" cy="836247"/>
          </a:xfrm>
          <a:prstGeom prst="roundRect">
            <a:avLst>
              <a:gd name="adj" fmla="val 0"/>
            </a:avLst>
          </a:prstGeom>
          <a:noFill/>
          <a:ln w="317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AI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서비스 운영 및 유지보수 등 수행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사후 모니터링 관련 지원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AI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서비스</a:t>
            </a: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(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시스템</a:t>
            </a: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) 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장애 대응 등</a:t>
            </a:r>
          </a:p>
        </p:txBody>
      </p:sp>
      <p:sp>
        <p:nvSpPr>
          <p:cNvPr id="21" name="Rectangle: Rounded Corners 30">
            <a:extLst>
              <a:ext uri="{FF2B5EF4-FFF2-40B4-BE49-F238E27FC236}">
                <a16:creationId xmlns:a16="http://schemas.microsoft.com/office/drawing/2014/main" id="{CA23ACC1-79BF-FEC7-ED47-DC210F41B664}"/>
              </a:ext>
            </a:extLst>
          </p:cNvPr>
          <p:cNvSpPr/>
          <p:nvPr/>
        </p:nvSpPr>
        <p:spPr>
          <a:xfrm>
            <a:off x="2027238" y="5656665"/>
            <a:ext cx="7104019" cy="836247"/>
          </a:xfrm>
          <a:prstGeom prst="roundRect">
            <a:avLst>
              <a:gd name="adj" fmla="val 0"/>
            </a:avLst>
          </a:prstGeom>
          <a:noFill/>
          <a:ln w="3175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171450" lvl="0" indent="-171450" latinLnBrk="0">
              <a:buFont typeface="Wingdings" panose="05000000000000000000" pitchFamily="2" charset="2"/>
              <a:buChar char="§"/>
              <a:defRPr/>
            </a:pPr>
            <a:r>
              <a:rPr lang="ko-KR" altLang="en-US" sz="1200" kern="0">
                <a:solidFill>
                  <a:prstClr val="black"/>
                </a:solidFill>
                <a:latin typeface="+mn-ea"/>
              </a:rPr>
              <a:t>조직 내 </a:t>
            </a:r>
            <a:r>
              <a:rPr lang="en-US" altLang="ko-KR" sz="1200" kern="0">
                <a:solidFill>
                  <a:prstClr val="black"/>
                </a:solidFill>
                <a:latin typeface="+mn-ea"/>
              </a:rPr>
              <a:t>AI</a:t>
            </a:r>
            <a:r>
              <a:rPr lang="ko-KR" altLang="en-US" sz="1200" kern="0">
                <a:solidFill>
                  <a:prstClr val="black"/>
                </a:solidFill>
                <a:latin typeface="+mn-ea"/>
              </a:rPr>
              <a:t>거버넌스 체계의 최고 의사결정 및 심의 기구</a:t>
            </a:r>
            <a:r>
              <a:rPr lang="en-US" altLang="ko-KR" sz="1200" kern="0">
                <a:solidFill>
                  <a:prstClr val="black"/>
                </a:solidFill>
                <a:latin typeface="+mn-ea"/>
              </a:rPr>
              <a:t>. AI</a:t>
            </a:r>
            <a:r>
              <a:rPr lang="ko-KR" altLang="en-US" sz="1200" kern="0">
                <a:solidFill>
                  <a:prstClr val="black"/>
                </a:solidFill>
                <a:latin typeface="+mn-ea"/>
              </a:rPr>
              <a:t>서비스의 신뢰성과 법규 준수를 위한 제도적 통제를 확립하는 역할 수행</a:t>
            </a:r>
            <a:endParaRPr lang="en-US" altLang="ko-KR" sz="1200" kern="0">
              <a:solidFill>
                <a:prstClr val="black"/>
              </a:solidFill>
              <a:latin typeface="+mn-ea"/>
            </a:endParaRPr>
          </a:p>
          <a:p>
            <a:pPr marL="171450" lvl="0" indent="-171450" latinLnBrk="0">
              <a:buFont typeface="Wingdings" panose="05000000000000000000" pitchFamily="2" charset="2"/>
              <a:buChar char="§"/>
              <a:defRPr/>
            </a:pPr>
            <a:r>
              <a:rPr lang="en-US" altLang="ko-KR" sz="1200" kern="0">
                <a:solidFill>
                  <a:prstClr val="black"/>
                </a:solidFill>
                <a:latin typeface="+mn-ea"/>
              </a:rPr>
              <a:t>AI</a:t>
            </a:r>
            <a:r>
              <a:rPr lang="ko-KR" altLang="en-US" sz="1200" kern="0">
                <a:solidFill>
                  <a:prstClr val="black"/>
                </a:solidFill>
                <a:latin typeface="+mn-ea"/>
              </a:rPr>
              <a:t>서비스 규제 변화에 따른 규정</a:t>
            </a:r>
            <a:r>
              <a:rPr lang="en-US" altLang="ko-KR" sz="1200" kern="0">
                <a:solidFill>
                  <a:prstClr val="black"/>
                </a:solidFill>
                <a:latin typeface="+mn-ea"/>
              </a:rPr>
              <a:t>/</a:t>
            </a:r>
            <a:r>
              <a:rPr lang="ko-KR" altLang="en-US" sz="1200" kern="0">
                <a:solidFill>
                  <a:prstClr val="black"/>
                </a:solidFill>
                <a:latin typeface="+mn-ea"/>
              </a:rPr>
              <a:t>지침서 </a:t>
            </a:r>
            <a:r>
              <a:rPr lang="ko-KR" altLang="en-US" sz="1200" kern="0" err="1">
                <a:solidFill>
                  <a:prstClr val="black"/>
                </a:solidFill>
                <a:latin typeface="+mn-ea"/>
              </a:rPr>
              <a:t>제개정</a:t>
            </a:r>
            <a:r>
              <a:rPr lang="en-US" altLang="ko-KR" sz="1200" kern="0">
                <a:solidFill>
                  <a:prstClr val="black"/>
                </a:solidFill>
                <a:latin typeface="+mn-ea"/>
              </a:rPr>
              <a:t>,</a:t>
            </a:r>
            <a:r>
              <a:rPr lang="ko-KR" altLang="en-US" sz="1200" kern="0">
                <a:solidFill>
                  <a:prstClr val="black"/>
                </a:solidFill>
                <a:latin typeface="+mn-ea"/>
              </a:rPr>
              <a:t> 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이견 및 개선사항 등 심의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  <a:sym typeface="Wingdings" panose="05000000000000000000" pitchFamily="2" charset="2"/>
              </a:rPr>
              <a:t>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의결</a:t>
            </a: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, </a:t>
            </a: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전사 전파 및 공유</a:t>
            </a:r>
          </a:p>
        </p:txBody>
      </p:sp>
      <p:sp>
        <p:nvSpPr>
          <p:cNvPr id="22" name="Google Shape;134;p5">
            <a:extLst>
              <a:ext uri="{FF2B5EF4-FFF2-40B4-BE49-F238E27FC236}">
                <a16:creationId xmlns:a16="http://schemas.microsoft.com/office/drawing/2014/main" id="{1C3B56ED-E055-67E1-9034-C9F3F7C663DC}"/>
              </a:ext>
            </a:extLst>
          </p:cNvPr>
          <p:cNvSpPr/>
          <p:nvPr/>
        </p:nvSpPr>
        <p:spPr>
          <a:xfrm>
            <a:off x="334964" y="1741688"/>
            <a:ext cx="1584324" cy="836247"/>
          </a:xfrm>
          <a:prstGeom prst="rect">
            <a:avLst/>
          </a:prstGeom>
          <a:solidFill>
            <a:srgbClr val="F4B183"/>
          </a:solidFill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AI</a:t>
            </a:r>
            <a:r>
              <a:rPr lang="ko-KR" altLang="en-US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서비스기획</a:t>
            </a:r>
          </a:p>
        </p:txBody>
      </p:sp>
      <p:sp>
        <p:nvSpPr>
          <p:cNvPr id="23" name="Google Shape;134;p5">
            <a:extLst>
              <a:ext uri="{FF2B5EF4-FFF2-40B4-BE49-F238E27FC236}">
                <a16:creationId xmlns:a16="http://schemas.microsoft.com/office/drawing/2014/main" id="{BCC20E29-A43A-F467-2AD3-2255C7959D6E}"/>
              </a:ext>
            </a:extLst>
          </p:cNvPr>
          <p:cNvSpPr/>
          <p:nvPr/>
        </p:nvSpPr>
        <p:spPr>
          <a:xfrm>
            <a:off x="334964" y="4680434"/>
            <a:ext cx="1584324" cy="836247"/>
          </a:xfrm>
          <a:prstGeom prst="rect">
            <a:avLst/>
          </a:prstGeom>
          <a:solidFill>
            <a:srgbClr val="F4B183"/>
          </a:solidFill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AI</a:t>
            </a:r>
            <a:r>
              <a:rPr lang="ko-KR" altLang="en-US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거버넌스</a:t>
            </a:r>
          </a:p>
        </p:txBody>
      </p:sp>
      <p:sp>
        <p:nvSpPr>
          <p:cNvPr id="24" name="Google Shape;134;p5">
            <a:extLst>
              <a:ext uri="{FF2B5EF4-FFF2-40B4-BE49-F238E27FC236}">
                <a16:creationId xmlns:a16="http://schemas.microsoft.com/office/drawing/2014/main" id="{8A82F349-B1F2-47B7-DCB9-E4FB89E66AFA}"/>
              </a:ext>
            </a:extLst>
          </p:cNvPr>
          <p:cNvSpPr/>
          <p:nvPr/>
        </p:nvSpPr>
        <p:spPr>
          <a:xfrm>
            <a:off x="334964" y="2727969"/>
            <a:ext cx="1584324" cy="836247"/>
          </a:xfrm>
          <a:prstGeom prst="rect">
            <a:avLst/>
          </a:prstGeom>
          <a:solidFill>
            <a:srgbClr val="F4B183"/>
          </a:solidFill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AI</a:t>
            </a:r>
            <a:r>
              <a:rPr lang="ko-KR" altLang="en-US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개발</a:t>
            </a:r>
          </a:p>
        </p:txBody>
      </p:sp>
      <p:sp>
        <p:nvSpPr>
          <p:cNvPr id="25" name="Google Shape;134;p5">
            <a:extLst>
              <a:ext uri="{FF2B5EF4-FFF2-40B4-BE49-F238E27FC236}">
                <a16:creationId xmlns:a16="http://schemas.microsoft.com/office/drawing/2014/main" id="{7C930044-EC31-7AC6-AF77-9A6FAECDC93D}"/>
              </a:ext>
            </a:extLst>
          </p:cNvPr>
          <p:cNvSpPr/>
          <p:nvPr/>
        </p:nvSpPr>
        <p:spPr>
          <a:xfrm>
            <a:off x="334964" y="3704201"/>
            <a:ext cx="1584324" cy="836247"/>
          </a:xfrm>
          <a:prstGeom prst="rect">
            <a:avLst/>
          </a:prstGeom>
          <a:solidFill>
            <a:srgbClr val="F4B183"/>
          </a:solidFill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AI</a:t>
            </a:r>
            <a:r>
              <a:rPr lang="ko-KR" altLang="en-US" sz="1400" b="1" spc="-15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운영</a:t>
            </a:r>
          </a:p>
        </p:txBody>
      </p:sp>
      <p:sp>
        <p:nvSpPr>
          <p:cNvPr id="26" name="Google Shape;134;p5">
            <a:extLst>
              <a:ext uri="{FF2B5EF4-FFF2-40B4-BE49-F238E27FC236}">
                <a16:creationId xmlns:a16="http://schemas.microsoft.com/office/drawing/2014/main" id="{71F83895-B32E-D6D2-4E8F-200FC6AFD6D4}"/>
              </a:ext>
            </a:extLst>
          </p:cNvPr>
          <p:cNvSpPr/>
          <p:nvPr/>
        </p:nvSpPr>
        <p:spPr>
          <a:xfrm>
            <a:off x="334964" y="5656665"/>
            <a:ext cx="1584324" cy="836247"/>
          </a:xfrm>
          <a:prstGeom prst="rect">
            <a:avLst/>
          </a:prstGeom>
          <a:solidFill>
            <a:srgbClr val="F58220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  <a:sym typeface="Arial"/>
              </a:rPr>
              <a:t>AI</a:t>
            </a:r>
            <a:r>
              <a:rPr lang="ko-KR" altLang="en-US" sz="14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  <a:sym typeface="Arial"/>
              </a:rPr>
              <a:t>협의체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0FF4A5F9-8E56-3115-75F9-C2CC6F5226A8}"/>
              </a:ext>
            </a:extLst>
          </p:cNvPr>
          <p:cNvSpPr/>
          <p:nvPr/>
        </p:nvSpPr>
        <p:spPr>
          <a:xfrm>
            <a:off x="331785" y="26929"/>
            <a:ext cx="180000" cy="180000"/>
          </a:xfrm>
          <a:prstGeom prst="roundRect">
            <a:avLst/>
          </a:prstGeom>
          <a:solidFill>
            <a:srgbClr val="0070C0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1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3317589B-F6AB-51E3-F22C-B9674163C75E}"/>
              </a:ext>
            </a:extLst>
          </p:cNvPr>
          <p:cNvSpPr/>
          <p:nvPr/>
        </p:nvSpPr>
        <p:spPr>
          <a:xfrm>
            <a:off x="511785" y="26929"/>
            <a:ext cx="180000" cy="180000"/>
          </a:xfrm>
          <a:prstGeom prst="roundRect">
            <a:avLst/>
          </a:prstGeom>
          <a:solidFill>
            <a:srgbClr val="0070C0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2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D3A7B1B9-12CF-7600-9105-9E6D1CAD050D}"/>
              </a:ext>
            </a:extLst>
          </p:cNvPr>
          <p:cNvSpPr/>
          <p:nvPr/>
        </p:nvSpPr>
        <p:spPr>
          <a:xfrm>
            <a:off x="691785" y="26929"/>
            <a:ext cx="180000" cy="180000"/>
          </a:xfrm>
          <a:prstGeom prst="roundRect">
            <a:avLst/>
          </a:prstGeom>
          <a:solidFill>
            <a:srgbClr val="0070C0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3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BB5AEA75-F2EF-A04F-40DC-5642EC78123B}"/>
              </a:ext>
            </a:extLst>
          </p:cNvPr>
          <p:cNvSpPr/>
          <p:nvPr/>
        </p:nvSpPr>
        <p:spPr>
          <a:xfrm>
            <a:off x="871785" y="26929"/>
            <a:ext cx="180000" cy="180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4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9D7E05D1-F411-BFE8-D2B5-2501425E48FE}"/>
              </a:ext>
            </a:extLst>
          </p:cNvPr>
          <p:cNvSpPr/>
          <p:nvPr/>
        </p:nvSpPr>
        <p:spPr>
          <a:xfrm>
            <a:off x="1051785" y="26929"/>
            <a:ext cx="180000" cy="180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5</a:t>
            </a:r>
          </a:p>
        </p:txBody>
      </p:sp>
      <p:sp>
        <p:nvSpPr>
          <p:cNvPr id="28" name="Google Shape;134;p5">
            <a:extLst>
              <a:ext uri="{FF2B5EF4-FFF2-40B4-BE49-F238E27FC236}">
                <a16:creationId xmlns:a16="http://schemas.microsoft.com/office/drawing/2014/main" id="{D1325C56-E1B3-935F-1A44-FE61B788B3CD}"/>
              </a:ext>
            </a:extLst>
          </p:cNvPr>
          <p:cNvSpPr/>
          <p:nvPr/>
        </p:nvSpPr>
        <p:spPr>
          <a:xfrm>
            <a:off x="9239207" y="2759682"/>
            <a:ext cx="2652758" cy="836247"/>
          </a:xfrm>
          <a:prstGeom prst="roundRect">
            <a:avLst/>
          </a:prstGeom>
          <a:pattFill prst="dkUp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AI Science</a:t>
            </a:r>
            <a:r>
              <a:rPr lang="ko-KR" altLang="en-US" sz="1200" dirty="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팀</a:t>
            </a:r>
            <a:r>
              <a:rPr lang="en-US" altLang="ko-KR" sz="1200" dirty="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(</a:t>
            </a:r>
            <a:r>
              <a:rPr lang="ko-KR" altLang="en-US" sz="1200" dirty="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이순신</a:t>
            </a:r>
            <a:r>
              <a:rPr lang="en-US" altLang="ko-KR" sz="1200" dirty="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, </a:t>
            </a:r>
            <a:r>
              <a:rPr lang="ko-KR" altLang="en-US" sz="1200" dirty="0" err="1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광개토</a:t>
            </a:r>
            <a:r>
              <a:rPr lang="en-US" altLang="ko-KR" sz="1200" dirty="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)</a:t>
            </a:r>
          </a:p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마켓</a:t>
            </a:r>
            <a:r>
              <a:rPr lang="en-US" altLang="ko-KR" sz="1200" dirty="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AI</a:t>
            </a:r>
            <a:r>
              <a:rPr lang="ko-KR" altLang="en-US" sz="1200" dirty="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플랫폼팀</a:t>
            </a:r>
            <a:r>
              <a:rPr lang="en-US" altLang="ko-KR" sz="1200" dirty="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(</a:t>
            </a:r>
            <a:r>
              <a:rPr lang="ko-KR" altLang="en-US" sz="1200" dirty="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유관순</a:t>
            </a:r>
            <a:r>
              <a:rPr lang="en-US" altLang="ko-KR" sz="1200" dirty="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, </a:t>
            </a:r>
            <a:r>
              <a:rPr lang="ko-KR" altLang="en-US" sz="1200" dirty="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이황</a:t>
            </a:r>
            <a:r>
              <a:rPr lang="en-US" altLang="ko-KR" sz="1200" dirty="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)</a:t>
            </a:r>
            <a:endParaRPr lang="ko-KR" altLang="en-US" sz="1200" dirty="0">
              <a:ln>
                <a:solidFill>
                  <a:schemeClr val="accent2">
                    <a:lumMod val="60000"/>
                    <a:lumOff val="40000"/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507286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69B36C96-5F58-E0A8-80E7-37BAC8EBBE6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C31CC10-E8D5-A475-BEC2-251C0A92DB3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AI</a:t>
            </a:r>
            <a:r>
              <a:rPr lang="ko-KR" altLang="en-US"/>
              <a:t>거버넌스 전담부서 구성 방안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669EFA2-0280-A5A9-C542-C97063AE3D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err="1"/>
              <a:t>미래에셋증권의</a:t>
            </a:r>
            <a:r>
              <a:rPr lang="ko-KR" altLang="en-US"/>
              <a:t> 조직도 및 부서별 역량을 고려하여</a:t>
            </a:r>
            <a:r>
              <a:rPr lang="en-US" altLang="ko-KR"/>
              <a:t>, AI</a:t>
            </a:r>
            <a:r>
              <a:rPr lang="ko-KR" altLang="en-US"/>
              <a:t>거버넌스 </a:t>
            </a:r>
            <a:r>
              <a:rPr lang="en-US" altLang="ko-KR"/>
              <a:t>(</a:t>
            </a:r>
            <a:r>
              <a:rPr lang="ko-KR" altLang="en-US"/>
              <a:t>전담</a:t>
            </a:r>
            <a:r>
              <a:rPr lang="en-US" altLang="ko-KR"/>
              <a:t>)</a:t>
            </a:r>
            <a:r>
              <a:rPr lang="ko-KR" altLang="en-US"/>
              <a:t>부서 조직</a:t>
            </a:r>
            <a:r>
              <a:rPr lang="en-US" altLang="ko-KR"/>
              <a:t> </a:t>
            </a:r>
            <a:r>
              <a:rPr lang="ko-KR" altLang="en-US"/>
              <a:t>案 도출이</a:t>
            </a:r>
            <a:r>
              <a:rPr lang="en-US" altLang="ko-KR"/>
              <a:t> </a:t>
            </a:r>
            <a:r>
              <a:rPr lang="ko-KR" altLang="en-US"/>
              <a:t>필요함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571EFCA-5027-6E4E-73C1-BC08D810E591}"/>
              </a:ext>
            </a:extLst>
          </p:cNvPr>
          <p:cNvSpPr/>
          <p:nvPr/>
        </p:nvSpPr>
        <p:spPr>
          <a:xfrm>
            <a:off x="329130" y="1849273"/>
            <a:ext cx="1577500" cy="203563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  <a:sym typeface="Arial"/>
              </a:rPr>
              <a:t>구성방안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7A37E81-7C5C-9CDD-39BF-409722694118}"/>
              </a:ext>
            </a:extLst>
          </p:cNvPr>
          <p:cNvSpPr/>
          <p:nvPr/>
        </p:nvSpPr>
        <p:spPr>
          <a:xfrm>
            <a:off x="329130" y="1343909"/>
            <a:ext cx="1577500" cy="395819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  <a:sym typeface="Arial"/>
              </a:rPr>
              <a:t>검토 案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C3D537F-AD5A-0DE2-7716-00C083806045}"/>
              </a:ext>
            </a:extLst>
          </p:cNvPr>
          <p:cNvSpPr/>
          <p:nvPr/>
        </p:nvSpPr>
        <p:spPr>
          <a:xfrm>
            <a:off x="1023188" y="4613139"/>
            <a:ext cx="883438" cy="579456"/>
          </a:xfrm>
          <a:prstGeom prst="rect">
            <a:avLst/>
          </a:prstGeom>
          <a:solidFill>
            <a:srgbClr val="7F7F7F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sym typeface="Arial"/>
              </a:rPr>
              <a:t>독립성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7A55683-1C29-DADB-E4DA-C6E6222401F9}"/>
              </a:ext>
            </a:extLst>
          </p:cNvPr>
          <p:cNvSpPr/>
          <p:nvPr/>
        </p:nvSpPr>
        <p:spPr>
          <a:xfrm>
            <a:off x="1023104" y="3957386"/>
            <a:ext cx="883438" cy="579456"/>
          </a:xfrm>
          <a:prstGeom prst="rect">
            <a:avLst/>
          </a:prstGeom>
          <a:solidFill>
            <a:srgbClr val="7F7F7F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sym typeface="Arial"/>
              </a:rPr>
              <a:t>전문성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505E051-BF4B-B263-5ED0-755F1FB13D15}"/>
              </a:ext>
            </a:extLst>
          </p:cNvPr>
          <p:cNvSpPr/>
          <p:nvPr/>
        </p:nvSpPr>
        <p:spPr>
          <a:xfrm>
            <a:off x="1023188" y="5268893"/>
            <a:ext cx="883438" cy="579456"/>
          </a:xfrm>
          <a:prstGeom prst="rect">
            <a:avLst/>
          </a:prstGeom>
          <a:solidFill>
            <a:srgbClr val="7F7F7F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200" b="1" spc="-15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sym typeface="Arial"/>
              </a:rPr>
              <a:t>협업 가능성</a:t>
            </a:r>
          </a:p>
        </p:txBody>
      </p:sp>
      <p:sp>
        <p:nvSpPr>
          <p:cNvPr id="10" name="사각형: 둥근 모서리 20">
            <a:extLst>
              <a:ext uri="{FF2B5EF4-FFF2-40B4-BE49-F238E27FC236}">
                <a16:creationId xmlns:a16="http://schemas.microsoft.com/office/drawing/2014/main" id="{139A1A6F-2AFC-229E-47BF-C1BFABA04122}"/>
              </a:ext>
            </a:extLst>
          </p:cNvPr>
          <p:cNvSpPr/>
          <p:nvPr/>
        </p:nvSpPr>
        <p:spPr>
          <a:xfrm>
            <a:off x="337072" y="3957387"/>
            <a:ext cx="620517" cy="1890963"/>
          </a:xfrm>
          <a:prstGeom prst="roundRect">
            <a:avLst>
              <a:gd name="adj" fmla="val 0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필수 요소</a:t>
            </a:r>
            <a:endParaRPr lang="en" altLang="ko-KR" sz="1200" b="1">
              <a:ln>
                <a:solidFill>
                  <a:schemeClr val="bg1"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25CB712-B660-011C-652A-299890E524E1}"/>
              </a:ext>
            </a:extLst>
          </p:cNvPr>
          <p:cNvSpPr/>
          <p:nvPr/>
        </p:nvSpPr>
        <p:spPr>
          <a:xfrm>
            <a:off x="2027238" y="1849275"/>
            <a:ext cx="3197147" cy="203563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108000" rIns="72000" bIns="144000" rtlCol="0" anchor="b" anchorCtr="0"/>
          <a:lstStyle/>
          <a:p>
            <a:pPr marL="171450" indent="-171450" defTabSz="914400"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kumimoji="1" lang="en-US" altLang="ko-KR" sz="1200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  <a:sym typeface="Arial"/>
              </a:rPr>
              <a:t>AI</a:t>
            </a:r>
            <a:r>
              <a:rPr kumimoji="1" lang="ko-KR" altLang="en-US" sz="1200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  <a:sym typeface="Arial"/>
              </a:rPr>
              <a:t>사업부서에 </a:t>
            </a:r>
            <a:r>
              <a:rPr kumimoji="1" lang="en-US" altLang="ko-KR" sz="1200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  <a:sym typeface="Arial"/>
              </a:rPr>
              <a:t>AI</a:t>
            </a:r>
            <a:r>
              <a:rPr kumimoji="1" lang="ko-KR" altLang="en-US" sz="1200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  <a:sym typeface="Arial"/>
              </a:rPr>
              <a:t>거버넌스 부서 역할 부여</a:t>
            </a:r>
            <a:r>
              <a:rPr kumimoji="1" lang="en-US" altLang="ko-KR" sz="1200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  <a:sym typeface="Arial"/>
              </a:rPr>
              <a:t>, </a:t>
            </a:r>
            <a:r>
              <a:rPr kumimoji="1" lang="ko-KR" altLang="en-US" sz="1200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  <a:sym typeface="Arial"/>
              </a:rPr>
              <a:t>거버넌스 관리 전체영역 통합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3F585AC-AEB2-5C43-97A0-C045B57DEA63}"/>
              </a:ext>
            </a:extLst>
          </p:cNvPr>
          <p:cNvSpPr/>
          <p:nvPr/>
        </p:nvSpPr>
        <p:spPr>
          <a:xfrm>
            <a:off x="5364557" y="1849275"/>
            <a:ext cx="3197147" cy="203563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108000" rIns="72000" bIns="144000" rtlCol="0" anchor="b" anchorCtr="0"/>
          <a:lstStyle/>
          <a:p>
            <a:pPr marL="171450" indent="-171450" defTabSz="914400"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kumimoji="1" lang="en-US" altLang="ko-KR" sz="1200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  <a:sym typeface="Arial"/>
              </a:rPr>
              <a:t>AI</a:t>
            </a:r>
            <a:r>
              <a:rPr kumimoji="1" lang="ko-KR" altLang="en-US" sz="1200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  <a:sym typeface="Arial"/>
              </a:rPr>
              <a:t>사업부서와의 분리</a:t>
            </a:r>
            <a:r>
              <a:rPr kumimoji="1" lang="en-US" altLang="ko-KR" sz="1200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  <a:sym typeface="Arial"/>
              </a:rPr>
              <a:t>, AI</a:t>
            </a:r>
            <a:r>
              <a:rPr kumimoji="1" lang="ko-KR" altLang="en-US" sz="1200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  <a:sym typeface="Arial"/>
              </a:rPr>
              <a:t>거버넌스 부서 역할 구체화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B18581C-E8B6-C2C8-6656-66D8033AF812}"/>
              </a:ext>
            </a:extLst>
          </p:cNvPr>
          <p:cNvSpPr/>
          <p:nvPr/>
        </p:nvSpPr>
        <p:spPr>
          <a:xfrm>
            <a:off x="2027238" y="1343909"/>
            <a:ext cx="3197147" cy="386386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기존 </a:t>
            </a:r>
            <a:r>
              <a:rPr lang="en-US" altLang="ko-KR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AI</a:t>
            </a:r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사업부서에 역할 부여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66F0948-B6E7-BE14-A2DB-2E4D37D848CB}"/>
              </a:ext>
            </a:extLst>
          </p:cNvPr>
          <p:cNvSpPr/>
          <p:nvPr/>
        </p:nvSpPr>
        <p:spPr>
          <a:xfrm>
            <a:off x="5364557" y="1343909"/>
            <a:ext cx="3197147" cy="386386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기존 </a:t>
            </a:r>
            <a:r>
              <a:rPr lang="en-US" altLang="ko-KR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AI</a:t>
            </a:r>
            <a:r>
              <a:rPr lang="ko-KR" altLang="en-US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그룹 內 신설 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3B02F6D-6D4C-06B9-758B-B081B20BD557}"/>
              </a:ext>
            </a:extLst>
          </p:cNvPr>
          <p:cNvSpPr/>
          <p:nvPr/>
        </p:nvSpPr>
        <p:spPr>
          <a:xfrm>
            <a:off x="8692804" y="1343909"/>
            <a:ext cx="3197147" cy="386386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他그룹 內 신설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B12B48F-1880-4DA2-3432-B750B72FC8E7}"/>
              </a:ext>
            </a:extLst>
          </p:cNvPr>
          <p:cNvSpPr/>
          <p:nvPr/>
        </p:nvSpPr>
        <p:spPr>
          <a:xfrm>
            <a:off x="8692804" y="1849275"/>
            <a:ext cx="3197147" cy="203563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108000" rIns="72000" bIns="144000" rtlCol="0" anchor="b" anchorCtr="0"/>
          <a:lstStyle/>
          <a:p>
            <a:pPr marL="171450" indent="-171450" defTabSz="914400"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kumimoji="1" lang="ko-KR" altLang="en-US" sz="1200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  <a:sym typeface="Arial"/>
              </a:rPr>
              <a:t>기존 </a:t>
            </a:r>
            <a:r>
              <a:rPr kumimoji="1" lang="en-US" altLang="ko-KR" sz="1200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  <a:sym typeface="Arial"/>
              </a:rPr>
              <a:t>AI</a:t>
            </a:r>
            <a:r>
              <a:rPr kumimoji="1" lang="ko-KR" altLang="en-US" sz="1200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  <a:sym typeface="Arial"/>
              </a:rPr>
              <a:t>조직의 상위 조직과 다른 그룹 내 신설</a:t>
            </a:r>
            <a:r>
              <a:rPr kumimoji="1" lang="en-US" altLang="ko-KR" sz="1200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  <a:sym typeface="Arial"/>
              </a:rPr>
              <a:t>/</a:t>
            </a:r>
            <a:r>
              <a:rPr kumimoji="1" lang="ko-KR" altLang="en-US" sz="1200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+mn-ea"/>
                <a:sym typeface="Arial"/>
              </a:rPr>
              <a:t>역할 부여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D547F0C4-B497-12EA-17FF-4C02F79A7C8B}"/>
              </a:ext>
            </a:extLst>
          </p:cNvPr>
          <p:cNvSpPr/>
          <p:nvPr/>
        </p:nvSpPr>
        <p:spPr>
          <a:xfrm>
            <a:off x="2502669" y="1994472"/>
            <a:ext cx="2246283" cy="269168"/>
          </a:xfrm>
          <a:prstGeom prst="roundRect">
            <a:avLst/>
          </a:prstGeom>
          <a:solidFill>
            <a:srgbClr val="C55A11"/>
          </a:solidFill>
          <a:ln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sym typeface="Arial"/>
              </a:rPr>
              <a:t>Tech&amp;AI</a:t>
            </a:r>
            <a:r>
              <a:rPr lang="en-US" altLang="ko-KR" sz="12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sym typeface="Arial"/>
              </a:rPr>
              <a:t> </a:t>
            </a:r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sym typeface="Arial"/>
              </a:rPr>
              <a:t>부문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7A4FD4E8-4714-CDF6-309E-8805802560CC}"/>
              </a:ext>
            </a:extLst>
          </p:cNvPr>
          <p:cNvSpPr/>
          <p:nvPr/>
        </p:nvSpPr>
        <p:spPr>
          <a:xfrm>
            <a:off x="2502669" y="2823080"/>
            <a:ext cx="1217881" cy="26916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AX</a:t>
            </a:r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팀</a:t>
            </a:r>
            <a:endParaRPr lang="en-US" altLang="ko-KR" sz="1200" b="1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801B796-F13C-3221-DA3F-4277CD2AA779}"/>
              </a:ext>
            </a:extLst>
          </p:cNvPr>
          <p:cNvSpPr/>
          <p:nvPr/>
        </p:nvSpPr>
        <p:spPr>
          <a:xfrm>
            <a:off x="3681705" y="2823078"/>
            <a:ext cx="1067247" cy="26916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buClr>
                <a:srgbClr val="000000"/>
              </a:buClr>
              <a:defRPr/>
            </a:pPr>
            <a:endParaRPr kumimoji="1" lang="ko-KR" altLang="en-US" sz="1100" kern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FFFFFF"/>
              </a:solidFill>
              <a:latin typeface="+mn-ea"/>
              <a:sym typeface="Arial"/>
            </a:endParaRPr>
          </a:p>
        </p:txBody>
      </p:sp>
      <p:cxnSp>
        <p:nvCxnSpPr>
          <p:cNvPr id="20" name="직선 연결선[R] 99">
            <a:extLst>
              <a:ext uri="{FF2B5EF4-FFF2-40B4-BE49-F238E27FC236}">
                <a16:creationId xmlns:a16="http://schemas.microsoft.com/office/drawing/2014/main" id="{D824F2FD-6C83-5727-F73B-3509D31D2A9A}"/>
              </a:ext>
            </a:extLst>
          </p:cNvPr>
          <p:cNvCxnSpPr>
            <a:cxnSpLocks/>
          </p:cNvCxnSpPr>
          <p:nvPr/>
        </p:nvCxnSpPr>
        <p:spPr>
          <a:xfrm>
            <a:off x="3625811" y="2263640"/>
            <a:ext cx="0" cy="13022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아래쪽 화살표[D] 102">
            <a:extLst>
              <a:ext uri="{FF2B5EF4-FFF2-40B4-BE49-F238E27FC236}">
                <a16:creationId xmlns:a16="http://schemas.microsoft.com/office/drawing/2014/main" id="{4793C8D9-1223-9D1F-BFB9-34FF8FF72D7F}"/>
              </a:ext>
            </a:extLst>
          </p:cNvPr>
          <p:cNvSpPr/>
          <p:nvPr/>
        </p:nvSpPr>
        <p:spPr>
          <a:xfrm>
            <a:off x="3746419" y="2772464"/>
            <a:ext cx="957116" cy="359461"/>
          </a:xfrm>
          <a:prstGeom prst="rightArrow">
            <a:avLst>
              <a:gd name="adj1" fmla="val 46467"/>
              <a:gd name="adj2" fmla="val 51766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buClr>
                <a:srgbClr val="000000"/>
              </a:buClr>
              <a:defRPr/>
            </a:pPr>
            <a:r>
              <a:rPr kumimoji="1" lang="ko-KR" altLang="en-US" sz="120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cs typeface="Arial"/>
                <a:sym typeface="Arial"/>
              </a:rPr>
              <a:t>역할 확대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06CA8467-5F6A-E559-5E27-D05ECBEB815D}"/>
              </a:ext>
            </a:extLst>
          </p:cNvPr>
          <p:cNvSpPr/>
          <p:nvPr/>
        </p:nvSpPr>
        <p:spPr>
          <a:xfrm>
            <a:off x="2502669" y="2364051"/>
            <a:ext cx="2246283" cy="269168"/>
          </a:xfrm>
          <a:prstGeom prst="roundRect">
            <a:avLst/>
          </a:prstGeom>
          <a:solidFill>
            <a:srgbClr val="F0AF6B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AI</a:t>
            </a:r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솔루션본부</a:t>
            </a:r>
          </a:p>
        </p:txBody>
      </p:sp>
      <p:cxnSp>
        <p:nvCxnSpPr>
          <p:cNvPr id="23" name="직선 연결선[R] 99">
            <a:extLst>
              <a:ext uri="{FF2B5EF4-FFF2-40B4-BE49-F238E27FC236}">
                <a16:creationId xmlns:a16="http://schemas.microsoft.com/office/drawing/2014/main" id="{0D2826C8-B190-A27D-B927-2383A47B79DE}"/>
              </a:ext>
            </a:extLst>
          </p:cNvPr>
          <p:cNvCxnSpPr>
            <a:cxnSpLocks/>
          </p:cNvCxnSpPr>
          <p:nvPr/>
        </p:nvCxnSpPr>
        <p:spPr>
          <a:xfrm flipH="1">
            <a:off x="3625155" y="2663036"/>
            <a:ext cx="656" cy="13022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D37AC51D-D9AA-AFC6-B380-5DFDE4C0247D}"/>
              </a:ext>
            </a:extLst>
          </p:cNvPr>
          <p:cNvSpPr/>
          <p:nvPr/>
        </p:nvSpPr>
        <p:spPr>
          <a:xfrm>
            <a:off x="2027238" y="4613139"/>
            <a:ext cx="3197146" cy="57945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108000" rIns="72000" bIns="108000" rtlCol="0" anchor="ctr" anchorCtr="0"/>
          <a:lstStyle/>
          <a:p>
            <a:pPr marL="171450" indent="-171450" defTabSz="91440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kumimoji="1" lang="en-US" altLang="ko-KR" sz="1200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sym typeface="Arial"/>
              </a:rPr>
              <a:t>AI</a:t>
            </a:r>
            <a:r>
              <a:rPr kumimoji="1" lang="ko-KR" altLang="en-US" sz="1200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sym typeface="Arial"/>
              </a:rPr>
              <a:t>사업부서 내 포함으로 </a:t>
            </a:r>
            <a:r>
              <a:rPr kumimoji="1" lang="ko-KR" altLang="en-US" sz="1200" u="sng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sym typeface="Arial"/>
              </a:rPr>
              <a:t>독립성 최저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81C4175-1615-E187-5E0A-2EB56925AC49}"/>
              </a:ext>
            </a:extLst>
          </p:cNvPr>
          <p:cNvSpPr/>
          <p:nvPr/>
        </p:nvSpPr>
        <p:spPr>
          <a:xfrm>
            <a:off x="2027238" y="3957386"/>
            <a:ext cx="3197146" cy="57945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108000" rIns="72000" bIns="108000" rtlCol="0" anchor="ctr" anchorCtr="0"/>
          <a:lstStyle/>
          <a:p>
            <a:pPr marL="171450" indent="-171450" defTabSz="91440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kumimoji="1" lang="en-US" altLang="ko-KR" sz="1200" u="sng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sym typeface="Arial"/>
              </a:rPr>
              <a:t>AI </a:t>
            </a:r>
            <a:r>
              <a:rPr kumimoji="1" lang="ko-KR" altLang="en-US" sz="1200" u="sng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sym typeface="Arial"/>
              </a:rPr>
              <a:t>기술</a:t>
            </a:r>
            <a:r>
              <a:rPr kumimoji="1" lang="en-US" altLang="ko-KR" sz="1200" u="sng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sym typeface="Arial"/>
              </a:rPr>
              <a:t>&amp;</a:t>
            </a:r>
            <a:r>
              <a:rPr kumimoji="1" lang="ko-KR" altLang="en-US" sz="1200" u="sng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sym typeface="Arial"/>
              </a:rPr>
              <a:t>데이터</a:t>
            </a:r>
            <a:r>
              <a:rPr kumimoji="1" lang="en-US" altLang="ko-KR" sz="1200" u="sng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sym typeface="Arial"/>
              </a:rPr>
              <a:t>, </a:t>
            </a:r>
            <a:r>
              <a:rPr kumimoji="1" lang="ko-KR" altLang="en-US" sz="1200" u="sng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sym typeface="Arial"/>
              </a:rPr>
              <a:t>유관 법률</a:t>
            </a:r>
            <a:r>
              <a:rPr kumimoji="1" lang="en-US" altLang="ko-KR" sz="1200" u="sng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sym typeface="Arial"/>
              </a:rPr>
              <a:t>, </a:t>
            </a:r>
            <a:r>
              <a:rPr kumimoji="1" lang="ko-KR" altLang="en-US" sz="1200" u="sng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sym typeface="Arial"/>
              </a:rPr>
              <a:t>증권업에 대한 높은 이해도</a:t>
            </a:r>
            <a:r>
              <a:rPr kumimoji="1" lang="ko-KR" altLang="en-US" sz="1200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sym typeface="Arial"/>
              </a:rPr>
              <a:t>를 바탕으로 업무 수행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5CA4DC22-FC13-1C16-E159-0986764F4704}"/>
              </a:ext>
            </a:extLst>
          </p:cNvPr>
          <p:cNvSpPr/>
          <p:nvPr/>
        </p:nvSpPr>
        <p:spPr>
          <a:xfrm>
            <a:off x="2027238" y="5268893"/>
            <a:ext cx="3197146" cy="57945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108000" rIns="72000" bIns="108000" rtlCol="0" anchor="ctr" anchorCtr="0"/>
          <a:lstStyle/>
          <a:p>
            <a:pPr marL="171450" indent="-171450" defTabSz="91440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kumimoji="1" lang="ko-KR" altLang="en-US" sz="1200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sym typeface="Arial"/>
              </a:rPr>
              <a:t>전문성을 갖춘 유관 조직과의 협력이 저하됨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2EED94DE-5CAD-0693-65C4-CCB14C7771FF}"/>
              </a:ext>
            </a:extLst>
          </p:cNvPr>
          <p:cNvSpPr/>
          <p:nvPr/>
        </p:nvSpPr>
        <p:spPr>
          <a:xfrm>
            <a:off x="5364557" y="4613139"/>
            <a:ext cx="3197146" cy="57945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108000" rIns="72000" bIns="108000" rtlCol="0" anchor="ctr" anchorCtr="0"/>
          <a:lstStyle/>
          <a:p>
            <a:pPr marL="171450" indent="-171450" defTabSz="91440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kumimoji="1" lang="en-US" altLang="ko-KR" sz="1200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sym typeface="Arial"/>
              </a:rPr>
              <a:t>AI</a:t>
            </a:r>
            <a:r>
              <a:rPr kumimoji="1" lang="ko-KR" altLang="en-US" sz="1200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sym typeface="Arial"/>
              </a:rPr>
              <a:t> 기획</a:t>
            </a:r>
            <a:r>
              <a:rPr kumimoji="1" lang="en-US" altLang="ko-KR" sz="1200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sym typeface="Arial"/>
              </a:rPr>
              <a:t>/</a:t>
            </a:r>
            <a:r>
              <a:rPr kumimoji="1" lang="ko-KR" altLang="en-US" sz="1200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sym typeface="Arial"/>
              </a:rPr>
              <a:t>개발 부서와의 독립성 보장 되나</a:t>
            </a:r>
            <a:r>
              <a:rPr kumimoji="1" lang="en-US" altLang="ko-KR" sz="1200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sym typeface="Arial"/>
              </a:rPr>
              <a:t>, </a:t>
            </a:r>
            <a:r>
              <a:rPr kumimoji="1" lang="ko-KR" altLang="en-US" sz="1200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sym typeface="Arial"/>
              </a:rPr>
              <a:t>같은 본부내 존재함</a:t>
            </a:r>
            <a:endParaRPr kumimoji="1" lang="en-US" altLang="ko-KR" sz="1200" kern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00000"/>
              </a:solidFill>
              <a:sym typeface="Arial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CEDEA15-7E03-5C3B-4386-AC1FD2638918}"/>
              </a:ext>
            </a:extLst>
          </p:cNvPr>
          <p:cNvSpPr/>
          <p:nvPr/>
        </p:nvSpPr>
        <p:spPr>
          <a:xfrm>
            <a:off x="5364557" y="3957386"/>
            <a:ext cx="3197146" cy="57945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108000" rIns="72000" bIns="108000" rtlCol="0" anchor="ctr" anchorCtr="0"/>
          <a:lstStyle/>
          <a:p>
            <a:pPr marL="171450" indent="-171450" defTabSz="91440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kumimoji="1" lang="ko-KR" altLang="en-US" sz="1200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sym typeface="Arial"/>
              </a:rPr>
              <a:t>낮은 유관 법률</a:t>
            </a:r>
            <a:r>
              <a:rPr kumimoji="1" lang="en-US" altLang="ko-KR" sz="1200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sym typeface="Arial"/>
              </a:rPr>
              <a:t>, </a:t>
            </a:r>
            <a:r>
              <a:rPr kumimoji="1" lang="ko-KR" altLang="en-US" sz="1200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sym typeface="Arial"/>
              </a:rPr>
              <a:t>증권업에 대한 이해도 보유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410104F7-4A22-A248-7E99-16EB7BDFE997}"/>
              </a:ext>
            </a:extLst>
          </p:cNvPr>
          <p:cNvSpPr/>
          <p:nvPr/>
        </p:nvSpPr>
        <p:spPr>
          <a:xfrm>
            <a:off x="5364557" y="5268893"/>
            <a:ext cx="3197146" cy="57945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108000" rIns="72000" bIns="108000" rtlCol="0" anchor="ctr" anchorCtr="0"/>
          <a:lstStyle/>
          <a:p>
            <a:pPr marL="171450" indent="-171450" defTabSz="91440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kumimoji="1" lang="en-US" altLang="ko-KR" sz="1200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sym typeface="Arial"/>
              </a:rPr>
              <a:t>AI</a:t>
            </a:r>
            <a:r>
              <a:rPr kumimoji="1" lang="ko-KR" altLang="en-US" sz="1200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sym typeface="Arial"/>
              </a:rPr>
              <a:t>사업부서와의 협업과 전문 유관 조직과의 협력이 가능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08125F6-B4EC-7BE2-ED81-B598B9FAB67A}"/>
              </a:ext>
            </a:extLst>
          </p:cNvPr>
          <p:cNvSpPr/>
          <p:nvPr/>
        </p:nvSpPr>
        <p:spPr>
          <a:xfrm>
            <a:off x="8692804" y="4613139"/>
            <a:ext cx="3197146" cy="57945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108000" rIns="72000" bIns="108000" rtlCol="0" anchor="ctr" anchorCtr="0"/>
          <a:lstStyle/>
          <a:p>
            <a:pPr marL="171450" indent="-171450" defTabSz="91440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kumimoji="1" lang="ko-KR" altLang="en-US" sz="1200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sym typeface="Arial"/>
              </a:rPr>
              <a:t>그룹 분리 기반 높은 독립성을 바탕으로 자율성이 보장됨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C2CA935C-A3A9-F240-6B97-B6AD75736F1F}"/>
              </a:ext>
            </a:extLst>
          </p:cNvPr>
          <p:cNvSpPr/>
          <p:nvPr/>
        </p:nvSpPr>
        <p:spPr>
          <a:xfrm>
            <a:off x="8692804" y="3957386"/>
            <a:ext cx="3197146" cy="57945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108000" rIns="72000" bIns="108000" rtlCol="0" anchor="ctr" anchorCtr="0"/>
          <a:lstStyle/>
          <a:p>
            <a:pPr marL="171450" indent="-171450" defTabSz="91440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kumimoji="1" lang="ko-KR" altLang="en-US" sz="1200" u="sng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sym typeface="Arial"/>
              </a:rPr>
              <a:t>낮은 </a:t>
            </a:r>
            <a:r>
              <a:rPr kumimoji="1" lang="en-US" altLang="ko-KR" sz="1200" u="sng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sym typeface="Arial"/>
              </a:rPr>
              <a:t>AI </a:t>
            </a:r>
            <a:r>
              <a:rPr kumimoji="1" lang="ko-KR" altLang="en-US" sz="1200" u="sng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sym typeface="Arial"/>
              </a:rPr>
              <a:t>기술</a:t>
            </a:r>
            <a:r>
              <a:rPr kumimoji="1" lang="en-US" altLang="ko-KR" sz="1200" u="sng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sym typeface="Arial"/>
              </a:rPr>
              <a:t>&amp;</a:t>
            </a:r>
            <a:r>
              <a:rPr kumimoji="1" lang="ko-KR" altLang="en-US" sz="1200" u="sng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sym typeface="Arial"/>
              </a:rPr>
              <a:t>데이터</a:t>
            </a:r>
            <a:r>
              <a:rPr kumimoji="1" lang="en-US" altLang="ko-KR" sz="1200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sym typeface="Arial"/>
              </a:rPr>
              <a:t>, </a:t>
            </a:r>
            <a:r>
              <a:rPr kumimoji="1" lang="ko-KR" altLang="en-US" sz="1200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sym typeface="Arial"/>
              </a:rPr>
              <a:t>유관 법률</a:t>
            </a:r>
            <a:r>
              <a:rPr kumimoji="1" lang="en-US" altLang="ko-KR" sz="1200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sym typeface="Arial"/>
              </a:rPr>
              <a:t>, </a:t>
            </a:r>
            <a:r>
              <a:rPr kumimoji="1" lang="ko-KR" altLang="en-US" sz="1200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sym typeface="Arial"/>
              </a:rPr>
              <a:t>증권업에 대한 이해도 보유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516BD52E-6ED1-3F72-25C2-3A2C4234FDD3}"/>
              </a:ext>
            </a:extLst>
          </p:cNvPr>
          <p:cNvSpPr/>
          <p:nvPr/>
        </p:nvSpPr>
        <p:spPr>
          <a:xfrm>
            <a:off x="8692804" y="5268893"/>
            <a:ext cx="3197146" cy="57945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108000" rIns="72000" bIns="108000" rtlCol="0" anchor="ctr" anchorCtr="0"/>
          <a:lstStyle/>
          <a:p>
            <a:pPr marL="171450" indent="-171450" defTabSz="914400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kumimoji="1" lang="en-US" altLang="ko-KR" sz="1200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sym typeface="Arial"/>
              </a:rPr>
              <a:t>AI</a:t>
            </a:r>
            <a:r>
              <a:rPr kumimoji="1" lang="ko-KR" altLang="en-US" sz="1200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sym typeface="Arial"/>
              </a:rPr>
              <a:t>사업부서와의 협력이 저하됨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F8A54612-DF70-840E-8AE2-A26D8A9D6FF7}"/>
              </a:ext>
            </a:extLst>
          </p:cNvPr>
          <p:cNvSpPr/>
          <p:nvPr/>
        </p:nvSpPr>
        <p:spPr>
          <a:xfrm>
            <a:off x="9003023" y="2823080"/>
            <a:ext cx="1293214" cy="26916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AX</a:t>
            </a:r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팀</a:t>
            </a:r>
            <a:endParaRPr lang="en-US" altLang="ko-KR" sz="1200" b="1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9493E526-A8FF-13BA-549D-38FA565860C4}"/>
              </a:ext>
            </a:extLst>
          </p:cNvPr>
          <p:cNvSpPr/>
          <p:nvPr/>
        </p:nvSpPr>
        <p:spPr>
          <a:xfrm>
            <a:off x="9003023" y="2348133"/>
            <a:ext cx="1293214" cy="269168"/>
          </a:xfrm>
          <a:prstGeom prst="roundRect">
            <a:avLst/>
          </a:prstGeom>
          <a:solidFill>
            <a:srgbClr val="F0AF6B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AI</a:t>
            </a:r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솔루션본부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60D4BB64-08F5-412D-90BD-9060B41A7B4F}"/>
              </a:ext>
            </a:extLst>
          </p:cNvPr>
          <p:cNvSpPr/>
          <p:nvPr/>
        </p:nvSpPr>
        <p:spPr>
          <a:xfrm>
            <a:off x="10408907" y="1962637"/>
            <a:ext cx="1123142" cy="269168"/>
          </a:xfrm>
          <a:prstGeom prst="roundRect">
            <a:avLst/>
          </a:prstGeom>
          <a:solidFill>
            <a:srgbClr val="043B7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IT</a:t>
            </a:r>
            <a:r>
              <a:rPr lang="ko-KR" altLang="en-US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부문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3108B9FA-F419-2E60-7E83-57613EB847E7}"/>
              </a:ext>
            </a:extLst>
          </p:cNvPr>
          <p:cNvSpPr/>
          <p:nvPr/>
        </p:nvSpPr>
        <p:spPr>
          <a:xfrm>
            <a:off x="9003022" y="1962637"/>
            <a:ext cx="1291067" cy="269168"/>
          </a:xfrm>
          <a:prstGeom prst="roundRect">
            <a:avLst/>
          </a:prstGeom>
          <a:solidFill>
            <a:srgbClr val="C55A11"/>
          </a:solidFill>
          <a:ln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sym typeface="Arial"/>
              </a:rPr>
              <a:t>Tech&amp;AI</a:t>
            </a:r>
            <a:r>
              <a:rPr lang="en-US" altLang="ko-KR" sz="12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sym typeface="Arial"/>
              </a:rPr>
              <a:t> </a:t>
            </a:r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sym typeface="Arial"/>
              </a:rPr>
              <a:t>부문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C4514C69-2C03-B22B-51C7-9670CDB0A411}"/>
              </a:ext>
            </a:extLst>
          </p:cNvPr>
          <p:cNvSpPr/>
          <p:nvPr/>
        </p:nvSpPr>
        <p:spPr>
          <a:xfrm>
            <a:off x="10408907" y="2823080"/>
            <a:ext cx="1123142" cy="269168"/>
          </a:xfrm>
          <a:prstGeom prst="roundRect">
            <a:avLst/>
          </a:prstGeom>
          <a:solidFill>
            <a:srgbClr val="00B0F0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  <a:sym typeface="Arial"/>
              </a:rPr>
              <a:t>AI Gov.</a:t>
            </a:r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  <a:sym typeface="Arial"/>
              </a:rPr>
              <a:t>부서</a:t>
            </a:r>
          </a:p>
        </p:txBody>
      </p:sp>
      <p:cxnSp>
        <p:nvCxnSpPr>
          <p:cNvPr id="38" name="직선 연결선[R] 99">
            <a:extLst>
              <a:ext uri="{FF2B5EF4-FFF2-40B4-BE49-F238E27FC236}">
                <a16:creationId xmlns:a16="http://schemas.microsoft.com/office/drawing/2014/main" id="{17BA712A-306C-CE76-DEA8-9F376B4C0DB1}"/>
              </a:ext>
            </a:extLst>
          </p:cNvPr>
          <p:cNvCxnSpPr>
            <a:cxnSpLocks/>
          </p:cNvCxnSpPr>
          <p:nvPr/>
        </p:nvCxnSpPr>
        <p:spPr>
          <a:xfrm>
            <a:off x="10970478" y="2231805"/>
            <a:ext cx="0" cy="56145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[R] 99">
            <a:extLst>
              <a:ext uri="{FF2B5EF4-FFF2-40B4-BE49-F238E27FC236}">
                <a16:creationId xmlns:a16="http://schemas.microsoft.com/office/drawing/2014/main" id="{07AEDBE8-F3C3-5760-F8AA-0ABAE7886DBA}"/>
              </a:ext>
            </a:extLst>
          </p:cNvPr>
          <p:cNvCxnSpPr>
            <a:cxnSpLocks/>
          </p:cNvCxnSpPr>
          <p:nvPr/>
        </p:nvCxnSpPr>
        <p:spPr>
          <a:xfrm>
            <a:off x="9648555" y="2231805"/>
            <a:ext cx="1075" cy="14614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사각형: 둥근 모서리 1">
            <a:extLst>
              <a:ext uri="{FF2B5EF4-FFF2-40B4-BE49-F238E27FC236}">
                <a16:creationId xmlns:a16="http://schemas.microsoft.com/office/drawing/2014/main" id="{A470AD89-F45D-D666-A0C3-836FBD2238FA}"/>
              </a:ext>
            </a:extLst>
          </p:cNvPr>
          <p:cNvSpPr/>
          <p:nvPr/>
        </p:nvSpPr>
        <p:spPr>
          <a:xfrm rot="1843658" flipH="1">
            <a:off x="11329437" y="2742152"/>
            <a:ext cx="340346" cy="144000"/>
          </a:xfrm>
          <a:prstGeom prst="round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defTabSz="977172">
              <a:defRPr/>
            </a:pPr>
            <a:r>
              <a:rPr lang="ko-KR" altLang="en-US" sz="700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sym typeface="Arial"/>
              </a:rPr>
              <a:t>신설</a:t>
            </a:r>
          </a:p>
        </p:txBody>
      </p:sp>
      <p:cxnSp>
        <p:nvCxnSpPr>
          <p:cNvPr id="41" name="직선 연결선[R] 99">
            <a:extLst>
              <a:ext uri="{FF2B5EF4-FFF2-40B4-BE49-F238E27FC236}">
                <a16:creationId xmlns:a16="http://schemas.microsoft.com/office/drawing/2014/main" id="{C0BADE55-087D-D415-B868-0C3CE039ECFA}"/>
              </a:ext>
            </a:extLst>
          </p:cNvPr>
          <p:cNvCxnSpPr>
            <a:cxnSpLocks/>
          </p:cNvCxnSpPr>
          <p:nvPr/>
        </p:nvCxnSpPr>
        <p:spPr>
          <a:xfrm>
            <a:off x="9649630" y="2647118"/>
            <a:ext cx="0" cy="14614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00E032F0-2CC5-BB9C-797F-FFF1950D0F9D}"/>
              </a:ext>
            </a:extLst>
          </p:cNvPr>
          <p:cNvSpPr/>
          <p:nvPr/>
        </p:nvSpPr>
        <p:spPr>
          <a:xfrm>
            <a:off x="5782354" y="1994472"/>
            <a:ext cx="2246283" cy="269168"/>
          </a:xfrm>
          <a:prstGeom prst="roundRect">
            <a:avLst/>
          </a:prstGeom>
          <a:solidFill>
            <a:srgbClr val="C55A11"/>
          </a:solidFill>
          <a:ln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sym typeface="Arial"/>
              </a:rPr>
              <a:t>Tech&amp;AI</a:t>
            </a:r>
            <a:r>
              <a:rPr lang="en-US" altLang="ko-KR" sz="12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sym typeface="Arial"/>
              </a:rPr>
              <a:t> </a:t>
            </a:r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sym typeface="Arial"/>
              </a:rPr>
              <a:t>부문</a:t>
            </a:r>
          </a:p>
        </p:txBody>
      </p:sp>
      <p:cxnSp>
        <p:nvCxnSpPr>
          <p:cNvPr id="43" name="직선 연결선[R] 99">
            <a:extLst>
              <a:ext uri="{FF2B5EF4-FFF2-40B4-BE49-F238E27FC236}">
                <a16:creationId xmlns:a16="http://schemas.microsoft.com/office/drawing/2014/main" id="{439B9F5E-C102-44DF-CD11-419A75207DE3}"/>
              </a:ext>
            </a:extLst>
          </p:cNvPr>
          <p:cNvCxnSpPr>
            <a:cxnSpLocks/>
          </p:cNvCxnSpPr>
          <p:nvPr/>
        </p:nvCxnSpPr>
        <p:spPr>
          <a:xfrm>
            <a:off x="6905495" y="2263640"/>
            <a:ext cx="0" cy="13022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B6478D4B-67B0-7A84-1C6C-494AC1DB9D34}"/>
              </a:ext>
            </a:extLst>
          </p:cNvPr>
          <p:cNvSpPr/>
          <p:nvPr/>
        </p:nvSpPr>
        <p:spPr>
          <a:xfrm>
            <a:off x="5782354" y="2823080"/>
            <a:ext cx="1116640" cy="26916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AX</a:t>
            </a:r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팀</a:t>
            </a:r>
            <a:endParaRPr lang="en-US" altLang="ko-KR" sz="1200" b="1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  <a:sym typeface="Arial"/>
            </a:endParaRP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6E378702-FD52-17E8-D1D0-C6DB4B4187BB}"/>
              </a:ext>
            </a:extLst>
          </p:cNvPr>
          <p:cNvSpPr/>
          <p:nvPr/>
        </p:nvSpPr>
        <p:spPr>
          <a:xfrm>
            <a:off x="5782354" y="2364051"/>
            <a:ext cx="2246283" cy="269168"/>
          </a:xfrm>
          <a:prstGeom prst="roundRect">
            <a:avLst/>
          </a:prstGeom>
          <a:solidFill>
            <a:srgbClr val="F0AF6B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AI</a:t>
            </a:r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솔루션본부</a:t>
            </a: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CD276414-6C0E-1F72-062D-9CD235C88054}"/>
              </a:ext>
            </a:extLst>
          </p:cNvPr>
          <p:cNvSpPr/>
          <p:nvPr/>
        </p:nvSpPr>
        <p:spPr>
          <a:xfrm>
            <a:off x="6954888" y="2823080"/>
            <a:ext cx="1073749" cy="269168"/>
          </a:xfrm>
          <a:prstGeom prst="roundRect">
            <a:avLst/>
          </a:prstGeom>
          <a:solidFill>
            <a:srgbClr val="00B0F0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  <a:sym typeface="Arial"/>
              </a:rPr>
              <a:t>AI Gov.</a:t>
            </a:r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  <a:sym typeface="Arial"/>
              </a:rPr>
              <a:t>부서</a:t>
            </a:r>
          </a:p>
        </p:txBody>
      </p:sp>
      <p:sp>
        <p:nvSpPr>
          <p:cNvPr id="47" name="사각형: 둥근 모서리 1">
            <a:extLst>
              <a:ext uri="{FF2B5EF4-FFF2-40B4-BE49-F238E27FC236}">
                <a16:creationId xmlns:a16="http://schemas.microsoft.com/office/drawing/2014/main" id="{EBED114F-4862-FE4D-07B5-9E48F3E86E06}"/>
              </a:ext>
            </a:extLst>
          </p:cNvPr>
          <p:cNvSpPr/>
          <p:nvPr/>
        </p:nvSpPr>
        <p:spPr>
          <a:xfrm rot="1843658" flipH="1">
            <a:off x="7803561" y="2742152"/>
            <a:ext cx="340346" cy="144000"/>
          </a:xfrm>
          <a:prstGeom prst="round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 defTabSz="977172">
              <a:defRPr/>
            </a:pPr>
            <a:r>
              <a:rPr lang="ko-KR" altLang="en-US" sz="700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sym typeface="Arial"/>
              </a:rPr>
              <a:t>신설</a:t>
            </a:r>
          </a:p>
        </p:txBody>
      </p:sp>
      <p:cxnSp>
        <p:nvCxnSpPr>
          <p:cNvPr id="48" name="연결선: 꺾임 47">
            <a:extLst>
              <a:ext uri="{FF2B5EF4-FFF2-40B4-BE49-F238E27FC236}">
                <a16:creationId xmlns:a16="http://schemas.microsoft.com/office/drawing/2014/main" id="{53A7153C-B33B-4D60-4F5A-0FB65DFBE93A}"/>
              </a:ext>
            </a:extLst>
          </p:cNvPr>
          <p:cNvCxnSpPr/>
          <p:nvPr/>
        </p:nvCxnSpPr>
        <p:spPr>
          <a:xfrm rot="5400000">
            <a:off x="6557972" y="2445738"/>
            <a:ext cx="130227" cy="564821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연결선: 꺾임 48">
            <a:extLst>
              <a:ext uri="{FF2B5EF4-FFF2-40B4-BE49-F238E27FC236}">
                <a16:creationId xmlns:a16="http://schemas.microsoft.com/office/drawing/2014/main" id="{91492E81-58EF-8DA5-2EFB-8B44EB81691F}"/>
              </a:ext>
            </a:extLst>
          </p:cNvPr>
          <p:cNvCxnSpPr>
            <a:cxnSpLocks/>
          </p:cNvCxnSpPr>
          <p:nvPr/>
        </p:nvCxnSpPr>
        <p:spPr>
          <a:xfrm rot="16200000" flipH="1">
            <a:off x="7133516" y="2435015"/>
            <a:ext cx="130227" cy="586268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8BCB4A7E-B15B-846D-C058-9E0244C0E403}"/>
              </a:ext>
            </a:extLst>
          </p:cNvPr>
          <p:cNvSpPr/>
          <p:nvPr/>
        </p:nvSpPr>
        <p:spPr>
          <a:xfrm>
            <a:off x="334963" y="5929292"/>
            <a:ext cx="1572626" cy="595329"/>
          </a:xfrm>
          <a:prstGeom prst="rect">
            <a:avLst/>
          </a:prstGeom>
          <a:solidFill>
            <a:srgbClr val="043B7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고려사항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A79753B4-1F53-A2B1-E139-15DAD1A89689}"/>
              </a:ext>
            </a:extLst>
          </p:cNvPr>
          <p:cNvSpPr/>
          <p:nvPr/>
        </p:nvSpPr>
        <p:spPr>
          <a:xfrm>
            <a:off x="2011212" y="5929292"/>
            <a:ext cx="9880750" cy="595329"/>
          </a:xfrm>
          <a:prstGeom prst="rect">
            <a:avLst/>
          </a:prstGeom>
          <a:pattFill prst="dkUp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3</a:t>
            </a:r>
            <a:r>
              <a:rPr lang="ko-KR" altLang="en-US" sz="1200" dirty="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가지 검토案은 전문성</a:t>
            </a:r>
            <a:r>
              <a:rPr lang="en-US" altLang="ko-KR" sz="1200" dirty="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(AI/</a:t>
            </a:r>
            <a:r>
              <a:rPr lang="ko-KR" altLang="en-US" sz="1200" dirty="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법규</a:t>
            </a:r>
            <a:r>
              <a:rPr lang="en-US" altLang="ko-KR" sz="1200" dirty="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1200" dirty="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증권업</a:t>
            </a:r>
            <a:r>
              <a:rPr lang="en-US" altLang="ko-KR" sz="1200" dirty="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)</a:t>
            </a:r>
            <a:r>
              <a:rPr lang="ko-KR" altLang="en-US" sz="1200" dirty="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과 독립성</a:t>
            </a:r>
            <a:r>
              <a:rPr lang="en-US" altLang="ko-KR" sz="1200" dirty="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dirty="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협업 가능성 측면에서 명확한 장단점을 가지므로 신중한 선택이 필요함</a:t>
            </a:r>
            <a:endParaRPr lang="en-US" altLang="ko-KR" sz="1200" dirty="0">
              <a:ln>
                <a:solidFill>
                  <a:schemeClr val="accent2">
                    <a:lumMod val="60000"/>
                    <a:lumOff val="40000"/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AI</a:t>
            </a:r>
            <a:r>
              <a:rPr lang="ko-KR" altLang="en-US" sz="1200" dirty="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거버넌스 전문성 및 </a:t>
            </a:r>
            <a:r>
              <a:rPr lang="ko-KR" altLang="en-US" sz="1200" dirty="0" err="1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미래에셋증권의</a:t>
            </a:r>
            <a:r>
              <a:rPr lang="ko-KR" altLang="en-US" sz="1200" dirty="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 조직 구성을 고려하여 </a:t>
            </a:r>
            <a:r>
              <a:rPr lang="en-US" altLang="ko-KR" sz="1200" dirty="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“</a:t>
            </a:r>
            <a:r>
              <a:rPr lang="ko-KR" altLang="en-US" sz="1200" b="1" dirty="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기존 </a:t>
            </a:r>
            <a:r>
              <a:rPr lang="en-US" altLang="ko-KR" sz="1200" b="1" dirty="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AI</a:t>
            </a:r>
            <a:r>
              <a:rPr lang="ko-KR" altLang="en-US" sz="1200" b="1" dirty="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그룹 內 신설</a:t>
            </a:r>
            <a:r>
              <a:rPr lang="en-US" altLang="ko-KR" sz="1200" dirty="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”</a:t>
            </a:r>
            <a:r>
              <a:rPr lang="ko-KR" altLang="en-US" sz="1200" dirty="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를 권고함</a:t>
            </a:r>
            <a:endParaRPr lang="en-US" altLang="ko-KR" sz="1200" dirty="0">
              <a:ln>
                <a:solidFill>
                  <a:schemeClr val="accent2">
                    <a:lumMod val="60000"/>
                    <a:lumOff val="40000"/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A693A7BC-6EC3-C088-E687-ECC5D70F8FC1}"/>
              </a:ext>
            </a:extLst>
          </p:cNvPr>
          <p:cNvSpPr/>
          <p:nvPr/>
        </p:nvSpPr>
        <p:spPr>
          <a:xfrm>
            <a:off x="5011659" y="4324117"/>
            <a:ext cx="180000" cy="180000"/>
          </a:xfrm>
          <a:prstGeom prst="ellipse">
            <a:avLst/>
          </a:prstGeom>
          <a:solidFill>
            <a:schemeClr val="tx1"/>
          </a:solidFill>
          <a:ln w="635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타원 52">
            <a:extLst>
              <a:ext uri="{FF2B5EF4-FFF2-40B4-BE49-F238E27FC236}">
                <a16:creationId xmlns:a16="http://schemas.microsoft.com/office/drawing/2014/main" id="{5269FAD7-860F-32D7-46FD-B173982BCFB1}"/>
              </a:ext>
            </a:extLst>
          </p:cNvPr>
          <p:cNvSpPr/>
          <p:nvPr/>
        </p:nvSpPr>
        <p:spPr>
          <a:xfrm>
            <a:off x="5011659" y="4979870"/>
            <a:ext cx="180000" cy="180000"/>
          </a:xfrm>
          <a:prstGeom prst="ellipse">
            <a:avLst/>
          </a:prstGeom>
          <a:solidFill>
            <a:schemeClr val="bg1"/>
          </a:solidFill>
          <a:ln w="635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A67F2632-9F99-BB3F-7EC9-0C33AB589EC0}"/>
              </a:ext>
            </a:extLst>
          </p:cNvPr>
          <p:cNvGrpSpPr>
            <a:grpSpLocks noChangeAspect="1"/>
          </p:cNvGrpSpPr>
          <p:nvPr/>
        </p:nvGrpSpPr>
        <p:grpSpPr>
          <a:xfrm>
            <a:off x="5011659" y="5635624"/>
            <a:ext cx="180000" cy="180000"/>
            <a:chOff x="12357451" y="4034389"/>
            <a:chExt cx="212725" cy="212725"/>
          </a:xfrm>
        </p:grpSpPr>
        <p:sp>
          <p:nvSpPr>
            <p:cNvPr id="55" name="타원 54">
              <a:extLst>
                <a:ext uri="{FF2B5EF4-FFF2-40B4-BE49-F238E27FC236}">
                  <a16:creationId xmlns:a16="http://schemas.microsoft.com/office/drawing/2014/main" id="{5222FE51-33F0-9790-65E8-0B8307CC30F8}"/>
                </a:ext>
              </a:extLst>
            </p:cNvPr>
            <p:cNvSpPr/>
            <p:nvPr/>
          </p:nvSpPr>
          <p:spPr>
            <a:xfrm>
              <a:off x="12357451" y="4034389"/>
              <a:ext cx="212725" cy="212725"/>
            </a:xfrm>
            <a:prstGeom prst="ellipse">
              <a:avLst/>
            </a:prstGeom>
            <a:solidFill>
              <a:schemeClr val="bg1"/>
            </a:solidFill>
            <a:ln w="635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" name="원호 55">
              <a:extLst>
                <a:ext uri="{FF2B5EF4-FFF2-40B4-BE49-F238E27FC236}">
                  <a16:creationId xmlns:a16="http://schemas.microsoft.com/office/drawing/2014/main" id="{50B60515-95CB-6DB3-354E-8D58F1EA779C}"/>
                </a:ext>
              </a:extLst>
            </p:cNvPr>
            <p:cNvSpPr/>
            <p:nvPr/>
          </p:nvSpPr>
          <p:spPr>
            <a:xfrm>
              <a:off x="12357451" y="4034389"/>
              <a:ext cx="212725" cy="212725"/>
            </a:xfrm>
            <a:prstGeom prst="arc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75814836-3F24-DEAC-74CA-74214E24FDAE}"/>
              </a:ext>
            </a:extLst>
          </p:cNvPr>
          <p:cNvGrpSpPr>
            <a:grpSpLocks noChangeAspect="1"/>
          </p:cNvGrpSpPr>
          <p:nvPr/>
        </p:nvGrpSpPr>
        <p:grpSpPr>
          <a:xfrm>
            <a:off x="8348978" y="4324117"/>
            <a:ext cx="180000" cy="180000"/>
            <a:chOff x="12357451" y="4034389"/>
            <a:chExt cx="212725" cy="212725"/>
          </a:xfrm>
        </p:grpSpPr>
        <p:sp>
          <p:nvSpPr>
            <p:cNvPr id="58" name="타원 57">
              <a:extLst>
                <a:ext uri="{FF2B5EF4-FFF2-40B4-BE49-F238E27FC236}">
                  <a16:creationId xmlns:a16="http://schemas.microsoft.com/office/drawing/2014/main" id="{2CC2D10D-FB03-54DC-D0B3-AE199A6BD2DC}"/>
                </a:ext>
              </a:extLst>
            </p:cNvPr>
            <p:cNvSpPr/>
            <p:nvPr/>
          </p:nvSpPr>
          <p:spPr>
            <a:xfrm>
              <a:off x="12357451" y="4034389"/>
              <a:ext cx="212725" cy="212725"/>
            </a:xfrm>
            <a:prstGeom prst="ellipse">
              <a:avLst/>
            </a:prstGeom>
            <a:solidFill>
              <a:schemeClr val="bg1"/>
            </a:solidFill>
            <a:ln w="635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" name="원호 58">
              <a:extLst>
                <a:ext uri="{FF2B5EF4-FFF2-40B4-BE49-F238E27FC236}">
                  <a16:creationId xmlns:a16="http://schemas.microsoft.com/office/drawing/2014/main" id="{9971566F-7BAB-4C1D-CE44-3D7044D2681F}"/>
                </a:ext>
              </a:extLst>
            </p:cNvPr>
            <p:cNvSpPr/>
            <p:nvPr/>
          </p:nvSpPr>
          <p:spPr>
            <a:xfrm>
              <a:off x="12357451" y="4034389"/>
              <a:ext cx="212725" cy="212725"/>
            </a:xfrm>
            <a:prstGeom prst="arc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97F2C407-8062-0B95-95D3-3862A6E281E4}"/>
              </a:ext>
            </a:extLst>
          </p:cNvPr>
          <p:cNvGrpSpPr>
            <a:grpSpLocks noChangeAspect="1"/>
          </p:cNvGrpSpPr>
          <p:nvPr/>
        </p:nvGrpSpPr>
        <p:grpSpPr>
          <a:xfrm>
            <a:off x="8348978" y="4979870"/>
            <a:ext cx="180000" cy="180000"/>
            <a:chOff x="5989638" y="3322638"/>
            <a:chExt cx="212725" cy="212725"/>
          </a:xfrm>
        </p:grpSpPr>
        <p:sp>
          <p:nvSpPr>
            <p:cNvPr id="61" name="타원 60">
              <a:extLst>
                <a:ext uri="{FF2B5EF4-FFF2-40B4-BE49-F238E27FC236}">
                  <a16:creationId xmlns:a16="http://schemas.microsoft.com/office/drawing/2014/main" id="{C7751385-A523-FD73-8288-F666408A86E9}"/>
                </a:ext>
              </a:extLst>
            </p:cNvPr>
            <p:cNvSpPr/>
            <p:nvPr/>
          </p:nvSpPr>
          <p:spPr>
            <a:xfrm>
              <a:off x="5989638" y="3322638"/>
              <a:ext cx="212725" cy="212725"/>
            </a:xfrm>
            <a:prstGeom prst="ellipse">
              <a:avLst/>
            </a:prstGeom>
            <a:solidFill>
              <a:schemeClr val="bg1"/>
            </a:solidFill>
            <a:ln w="635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" name="원호 61">
              <a:extLst>
                <a:ext uri="{FF2B5EF4-FFF2-40B4-BE49-F238E27FC236}">
                  <a16:creationId xmlns:a16="http://schemas.microsoft.com/office/drawing/2014/main" id="{6447507B-2DAD-FF1A-973C-85866CF11298}"/>
                </a:ext>
              </a:extLst>
            </p:cNvPr>
            <p:cNvSpPr/>
            <p:nvPr/>
          </p:nvSpPr>
          <p:spPr>
            <a:xfrm>
              <a:off x="5989638" y="3322638"/>
              <a:ext cx="212725" cy="212725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tx1"/>
            </a:solidFill>
            <a:ln w="6350">
              <a:solidFill>
                <a:schemeClr val="tx1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9C1329FF-48F6-A582-B758-6DB51E164693}"/>
              </a:ext>
            </a:extLst>
          </p:cNvPr>
          <p:cNvGrpSpPr>
            <a:grpSpLocks noChangeAspect="1"/>
          </p:cNvGrpSpPr>
          <p:nvPr/>
        </p:nvGrpSpPr>
        <p:grpSpPr>
          <a:xfrm>
            <a:off x="8348978" y="5635624"/>
            <a:ext cx="180000" cy="180000"/>
            <a:chOff x="5989638" y="3322638"/>
            <a:chExt cx="212725" cy="212725"/>
          </a:xfrm>
        </p:grpSpPr>
        <p:sp>
          <p:nvSpPr>
            <p:cNvPr id="64" name="타원 63">
              <a:extLst>
                <a:ext uri="{FF2B5EF4-FFF2-40B4-BE49-F238E27FC236}">
                  <a16:creationId xmlns:a16="http://schemas.microsoft.com/office/drawing/2014/main" id="{604E9F83-C876-7F00-E1D5-7D9FEC0890E9}"/>
                </a:ext>
              </a:extLst>
            </p:cNvPr>
            <p:cNvSpPr/>
            <p:nvPr/>
          </p:nvSpPr>
          <p:spPr>
            <a:xfrm>
              <a:off x="5989638" y="3322638"/>
              <a:ext cx="212725" cy="212725"/>
            </a:xfrm>
            <a:prstGeom prst="ellipse">
              <a:avLst/>
            </a:prstGeom>
            <a:solidFill>
              <a:schemeClr val="bg1"/>
            </a:solidFill>
            <a:ln w="635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" name="원호 64">
              <a:extLst>
                <a:ext uri="{FF2B5EF4-FFF2-40B4-BE49-F238E27FC236}">
                  <a16:creationId xmlns:a16="http://schemas.microsoft.com/office/drawing/2014/main" id="{831A2B0C-D45C-E6B8-17CD-C7337D4A5B88}"/>
                </a:ext>
              </a:extLst>
            </p:cNvPr>
            <p:cNvSpPr/>
            <p:nvPr/>
          </p:nvSpPr>
          <p:spPr>
            <a:xfrm>
              <a:off x="5989638" y="3322638"/>
              <a:ext cx="212725" cy="212725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tx1"/>
            </a:solidFill>
            <a:ln w="6350">
              <a:solidFill>
                <a:schemeClr val="tx1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6" name="타원 65">
            <a:extLst>
              <a:ext uri="{FF2B5EF4-FFF2-40B4-BE49-F238E27FC236}">
                <a16:creationId xmlns:a16="http://schemas.microsoft.com/office/drawing/2014/main" id="{0C1052B0-62ED-418B-CBE3-11E267EAA9C9}"/>
              </a:ext>
            </a:extLst>
          </p:cNvPr>
          <p:cNvSpPr/>
          <p:nvPr/>
        </p:nvSpPr>
        <p:spPr>
          <a:xfrm>
            <a:off x="11677225" y="4324117"/>
            <a:ext cx="180000" cy="180000"/>
          </a:xfrm>
          <a:prstGeom prst="ellipse">
            <a:avLst/>
          </a:prstGeom>
          <a:solidFill>
            <a:schemeClr val="bg1"/>
          </a:solidFill>
          <a:ln w="635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타원 66">
            <a:extLst>
              <a:ext uri="{FF2B5EF4-FFF2-40B4-BE49-F238E27FC236}">
                <a16:creationId xmlns:a16="http://schemas.microsoft.com/office/drawing/2014/main" id="{879D463E-1DF7-CA75-28F3-5D2B6E9B3BFE}"/>
              </a:ext>
            </a:extLst>
          </p:cNvPr>
          <p:cNvSpPr/>
          <p:nvPr/>
        </p:nvSpPr>
        <p:spPr>
          <a:xfrm>
            <a:off x="11677225" y="4979870"/>
            <a:ext cx="180000" cy="180000"/>
          </a:xfrm>
          <a:prstGeom prst="ellipse">
            <a:avLst/>
          </a:prstGeom>
          <a:solidFill>
            <a:schemeClr val="tx1"/>
          </a:solidFill>
          <a:ln w="635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48D57717-3390-F48E-D8D7-294819D2ED68}"/>
              </a:ext>
            </a:extLst>
          </p:cNvPr>
          <p:cNvGrpSpPr>
            <a:grpSpLocks noChangeAspect="1"/>
          </p:cNvGrpSpPr>
          <p:nvPr/>
        </p:nvGrpSpPr>
        <p:grpSpPr>
          <a:xfrm>
            <a:off x="11677225" y="5635624"/>
            <a:ext cx="180000" cy="180000"/>
            <a:chOff x="12357451" y="4034389"/>
            <a:chExt cx="212725" cy="212725"/>
          </a:xfrm>
        </p:grpSpPr>
        <p:sp>
          <p:nvSpPr>
            <p:cNvPr id="69" name="타원 68">
              <a:extLst>
                <a:ext uri="{FF2B5EF4-FFF2-40B4-BE49-F238E27FC236}">
                  <a16:creationId xmlns:a16="http://schemas.microsoft.com/office/drawing/2014/main" id="{39FCCC4B-E546-D264-E50B-4F21C6C65407}"/>
                </a:ext>
              </a:extLst>
            </p:cNvPr>
            <p:cNvSpPr/>
            <p:nvPr/>
          </p:nvSpPr>
          <p:spPr>
            <a:xfrm>
              <a:off x="12357451" y="4034389"/>
              <a:ext cx="212725" cy="212725"/>
            </a:xfrm>
            <a:prstGeom prst="ellipse">
              <a:avLst/>
            </a:prstGeom>
            <a:solidFill>
              <a:schemeClr val="bg1"/>
            </a:solidFill>
            <a:ln w="635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" name="원호 69">
              <a:extLst>
                <a:ext uri="{FF2B5EF4-FFF2-40B4-BE49-F238E27FC236}">
                  <a16:creationId xmlns:a16="http://schemas.microsoft.com/office/drawing/2014/main" id="{A8375A1A-1DF3-630B-891A-64321E00719A}"/>
                </a:ext>
              </a:extLst>
            </p:cNvPr>
            <p:cNvSpPr/>
            <p:nvPr/>
          </p:nvSpPr>
          <p:spPr>
            <a:xfrm>
              <a:off x="12357451" y="4034389"/>
              <a:ext cx="212725" cy="212725"/>
            </a:xfrm>
            <a:prstGeom prst="arc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8D7EB49E-85AE-6C33-1DE5-A1BA687C2F3A}"/>
              </a:ext>
            </a:extLst>
          </p:cNvPr>
          <p:cNvGrpSpPr/>
          <p:nvPr/>
        </p:nvGrpSpPr>
        <p:grpSpPr>
          <a:xfrm>
            <a:off x="331785" y="26929"/>
            <a:ext cx="900000" cy="180000"/>
            <a:chOff x="407985" y="52329"/>
            <a:chExt cx="900000" cy="180000"/>
          </a:xfrm>
        </p:grpSpPr>
        <p:sp>
          <p:nvSpPr>
            <p:cNvPr id="72" name="사각형: 둥근 모서리 71">
              <a:extLst>
                <a:ext uri="{FF2B5EF4-FFF2-40B4-BE49-F238E27FC236}">
                  <a16:creationId xmlns:a16="http://schemas.microsoft.com/office/drawing/2014/main" id="{96E7C9FD-5160-5DF7-1C35-D460A6939608}"/>
                </a:ext>
              </a:extLst>
            </p:cNvPr>
            <p:cNvSpPr/>
            <p:nvPr/>
          </p:nvSpPr>
          <p:spPr>
            <a:xfrm>
              <a:off x="407985" y="52329"/>
              <a:ext cx="180000" cy="18000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+mn-ea"/>
                </a:rPr>
                <a:t>1</a:t>
              </a:r>
            </a:p>
          </p:txBody>
        </p:sp>
        <p:sp>
          <p:nvSpPr>
            <p:cNvPr id="73" name="사각형: 둥근 모서리 72">
              <a:extLst>
                <a:ext uri="{FF2B5EF4-FFF2-40B4-BE49-F238E27FC236}">
                  <a16:creationId xmlns:a16="http://schemas.microsoft.com/office/drawing/2014/main" id="{5C733AE7-7520-C87B-50AF-351D9F377118}"/>
                </a:ext>
              </a:extLst>
            </p:cNvPr>
            <p:cNvSpPr/>
            <p:nvPr/>
          </p:nvSpPr>
          <p:spPr>
            <a:xfrm>
              <a:off x="587985" y="52329"/>
              <a:ext cx="180000" cy="18000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+mn-ea"/>
                </a:rPr>
                <a:t>2</a:t>
              </a:r>
            </a:p>
          </p:txBody>
        </p:sp>
        <p:sp>
          <p:nvSpPr>
            <p:cNvPr id="74" name="사각형: 둥근 모서리 73">
              <a:extLst>
                <a:ext uri="{FF2B5EF4-FFF2-40B4-BE49-F238E27FC236}">
                  <a16:creationId xmlns:a16="http://schemas.microsoft.com/office/drawing/2014/main" id="{30AC0DD2-081C-4645-6DAA-BB2D10482565}"/>
                </a:ext>
              </a:extLst>
            </p:cNvPr>
            <p:cNvSpPr/>
            <p:nvPr/>
          </p:nvSpPr>
          <p:spPr>
            <a:xfrm>
              <a:off x="767985" y="52329"/>
              <a:ext cx="180000" cy="18000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+mn-ea"/>
                </a:rPr>
                <a:t>3</a:t>
              </a:r>
            </a:p>
          </p:txBody>
        </p:sp>
        <p:sp>
          <p:nvSpPr>
            <p:cNvPr id="75" name="사각형: 둥근 모서리 74">
              <a:extLst>
                <a:ext uri="{FF2B5EF4-FFF2-40B4-BE49-F238E27FC236}">
                  <a16:creationId xmlns:a16="http://schemas.microsoft.com/office/drawing/2014/main" id="{97587C09-8686-0B79-A398-AA8B578ADA7C}"/>
                </a:ext>
              </a:extLst>
            </p:cNvPr>
            <p:cNvSpPr/>
            <p:nvPr/>
          </p:nvSpPr>
          <p:spPr>
            <a:xfrm>
              <a:off x="947985" y="52329"/>
              <a:ext cx="180000" cy="180000"/>
            </a:xfrm>
            <a:prstGeom prst="round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+mn-ea"/>
                </a:rPr>
                <a:t>4</a:t>
              </a:r>
            </a:p>
          </p:txBody>
        </p:sp>
        <p:sp>
          <p:nvSpPr>
            <p:cNvPr id="76" name="사각형: 둥근 모서리 75">
              <a:extLst>
                <a:ext uri="{FF2B5EF4-FFF2-40B4-BE49-F238E27FC236}">
                  <a16:creationId xmlns:a16="http://schemas.microsoft.com/office/drawing/2014/main" id="{D5F3009D-63D4-D1ED-64B5-7E39B3D3F6F1}"/>
                </a:ext>
              </a:extLst>
            </p:cNvPr>
            <p:cNvSpPr/>
            <p:nvPr/>
          </p:nvSpPr>
          <p:spPr>
            <a:xfrm>
              <a:off x="1127985" y="52329"/>
              <a:ext cx="180000" cy="18000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+mn-ea"/>
                </a:rPr>
                <a:t>5</a:t>
              </a:r>
            </a:p>
          </p:txBody>
        </p:sp>
      </p:grpSp>
      <p:sp>
        <p:nvSpPr>
          <p:cNvPr id="77" name="Freeform 1754">
            <a:extLst>
              <a:ext uri="{FF2B5EF4-FFF2-40B4-BE49-F238E27FC236}">
                <a16:creationId xmlns:a16="http://schemas.microsoft.com/office/drawing/2014/main" id="{8F76805C-6986-1938-C768-915791E83501}"/>
              </a:ext>
            </a:extLst>
          </p:cNvPr>
          <p:cNvSpPr>
            <a:spLocks noChangeAspect="1"/>
          </p:cNvSpPr>
          <p:nvPr/>
        </p:nvSpPr>
        <p:spPr bwMode="gray">
          <a:xfrm>
            <a:off x="5715855" y="1418385"/>
            <a:ext cx="292879" cy="216000"/>
          </a:xfrm>
          <a:custGeom>
            <a:avLst/>
            <a:gdLst>
              <a:gd name="T0" fmla="*/ 2147483646 w 4916"/>
              <a:gd name="T1" fmla="*/ 2147483646 h 3388"/>
              <a:gd name="T2" fmla="*/ 2147483646 w 4916"/>
              <a:gd name="T3" fmla="*/ 2147483646 h 3388"/>
              <a:gd name="T4" fmla="*/ 2147483646 w 4916"/>
              <a:gd name="T5" fmla="*/ 2147483646 h 3388"/>
              <a:gd name="T6" fmla="*/ 2147483646 w 4916"/>
              <a:gd name="T7" fmla="*/ 2147483646 h 3388"/>
              <a:gd name="T8" fmla="*/ 2147483646 w 4916"/>
              <a:gd name="T9" fmla="*/ 2147483646 h 3388"/>
              <a:gd name="T10" fmla="*/ 2147483646 w 4916"/>
              <a:gd name="T11" fmla="*/ 2147483646 h 3388"/>
              <a:gd name="T12" fmla="*/ 2147483646 w 4916"/>
              <a:gd name="T13" fmla="*/ 2147483646 h 3388"/>
              <a:gd name="T14" fmla="*/ 2147483646 w 4916"/>
              <a:gd name="T15" fmla="*/ 2147483646 h 3388"/>
              <a:gd name="T16" fmla="*/ 2147483646 w 4916"/>
              <a:gd name="T17" fmla="*/ 2147483646 h 3388"/>
              <a:gd name="T18" fmla="*/ 2147483646 w 4916"/>
              <a:gd name="T19" fmla="*/ 2147483646 h 3388"/>
              <a:gd name="T20" fmla="*/ 2147483646 w 4916"/>
              <a:gd name="T21" fmla="*/ 2147483646 h 3388"/>
              <a:gd name="T22" fmla="*/ 2147483646 w 4916"/>
              <a:gd name="T23" fmla="*/ 2147483646 h 3388"/>
              <a:gd name="T24" fmla="*/ 2147483646 w 4916"/>
              <a:gd name="T25" fmla="*/ 2147483646 h 3388"/>
              <a:gd name="T26" fmla="*/ 2147483646 w 4916"/>
              <a:gd name="T27" fmla="*/ 2147483646 h 3388"/>
              <a:gd name="T28" fmla="*/ 2147483646 w 4916"/>
              <a:gd name="T29" fmla="*/ 2147483646 h 3388"/>
              <a:gd name="T30" fmla="*/ 2147483646 w 4916"/>
              <a:gd name="T31" fmla="*/ 2147483646 h 3388"/>
              <a:gd name="T32" fmla="*/ 2147483646 w 4916"/>
              <a:gd name="T33" fmla="*/ 2147483646 h 3388"/>
              <a:gd name="T34" fmla="*/ 2147483646 w 4916"/>
              <a:gd name="T35" fmla="*/ 2147483646 h 3388"/>
              <a:gd name="T36" fmla="*/ 2147483646 w 4916"/>
              <a:gd name="T37" fmla="*/ 2147483646 h 3388"/>
              <a:gd name="T38" fmla="*/ 2147483646 w 4916"/>
              <a:gd name="T39" fmla="*/ 2147483646 h 3388"/>
              <a:gd name="T40" fmla="*/ 2147483646 w 4916"/>
              <a:gd name="T41" fmla="*/ 2147483646 h 3388"/>
              <a:gd name="T42" fmla="*/ 2147483646 w 4916"/>
              <a:gd name="T43" fmla="*/ 2147483646 h 3388"/>
              <a:gd name="T44" fmla="*/ 2147483646 w 4916"/>
              <a:gd name="T45" fmla="*/ 2147483646 h 3388"/>
              <a:gd name="T46" fmla="*/ 2147483646 w 4916"/>
              <a:gd name="T47" fmla="*/ 2147483646 h 3388"/>
              <a:gd name="T48" fmla="*/ 2147483646 w 4916"/>
              <a:gd name="T49" fmla="*/ 2147483646 h 3388"/>
              <a:gd name="T50" fmla="*/ 2147483646 w 4916"/>
              <a:gd name="T51" fmla="*/ 2147483646 h 3388"/>
              <a:gd name="T52" fmla="*/ 2147483646 w 4916"/>
              <a:gd name="T53" fmla="*/ 2147483646 h 3388"/>
              <a:gd name="T54" fmla="*/ 2147483646 w 4916"/>
              <a:gd name="T55" fmla="*/ 2147483646 h 3388"/>
              <a:gd name="T56" fmla="*/ 2147483646 w 4916"/>
              <a:gd name="T57" fmla="*/ 2147483646 h 3388"/>
              <a:gd name="T58" fmla="*/ 2147483646 w 4916"/>
              <a:gd name="T59" fmla="*/ 2147483646 h 3388"/>
              <a:gd name="T60" fmla="*/ 2147483646 w 4916"/>
              <a:gd name="T61" fmla="*/ 2147483646 h 3388"/>
              <a:gd name="T62" fmla="*/ 2147483646 w 4916"/>
              <a:gd name="T63" fmla="*/ 2147483646 h 3388"/>
              <a:gd name="T64" fmla="*/ 2147483646 w 4916"/>
              <a:gd name="T65" fmla="*/ 2147483646 h 3388"/>
              <a:gd name="T66" fmla="*/ 2147483646 w 4916"/>
              <a:gd name="T67" fmla="*/ 2147483646 h 3388"/>
              <a:gd name="T68" fmla="*/ 2147483646 w 4916"/>
              <a:gd name="T69" fmla="*/ 2147483646 h 3388"/>
              <a:gd name="T70" fmla="*/ 2147483646 w 4916"/>
              <a:gd name="T71" fmla="*/ 2147483646 h 3388"/>
              <a:gd name="T72" fmla="*/ 2147483646 w 4916"/>
              <a:gd name="T73" fmla="*/ 2147483646 h 3388"/>
              <a:gd name="T74" fmla="*/ 2147483646 w 4916"/>
              <a:gd name="T75" fmla="*/ 2147483646 h 3388"/>
              <a:gd name="T76" fmla="*/ 2147483646 w 4916"/>
              <a:gd name="T77" fmla="*/ 2147483646 h 3388"/>
              <a:gd name="T78" fmla="*/ 2147483646 w 4916"/>
              <a:gd name="T79" fmla="*/ 2147483646 h 3388"/>
              <a:gd name="T80" fmla="*/ 2147483646 w 4916"/>
              <a:gd name="T81" fmla="*/ 2147483646 h 3388"/>
              <a:gd name="T82" fmla="*/ 2147483646 w 4916"/>
              <a:gd name="T83" fmla="*/ 2147483646 h 3388"/>
              <a:gd name="T84" fmla="*/ 2147483646 w 4916"/>
              <a:gd name="T85" fmla="*/ 2147483646 h 3388"/>
              <a:gd name="T86" fmla="*/ 2147483646 w 4916"/>
              <a:gd name="T87" fmla="*/ 2147483646 h 3388"/>
              <a:gd name="T88" fmla="*/ 2147483646 w 4916"/>
              <a:gd name="T89" fmla="*/ 2147483646 h 3388"/>
              <a:gd name="T90" fmla="*/ 2147483646 w 4916"/>
              <a:gd name="T91" fmla="*/ 2147483646 h 3388"/>
              <a:gd name="T92" fmla="*/ 2147483646 w 4916"/>
              <a:gd name="T93" fmla="*/ 2147483646 h 3388"/>
              <a:gd name="T94" fmla="*/ 2147483646 w 4916"/>
              <a:gd name="T95" fmla="*/ 2147483646 h 3388"/>
              <a:gd name="T96" fmla="*/ 2147483646 w 4916"/>
              <a:gd name="T97" fmla="*/ 2147483646 h 3388"/>
              <a:gd name="T98" fmla="*/ 2147483646 w 4916"/>
              <a:gd name="T99" fmla="*/ 2147483646 h 3388"/>
              <a:gd name="T100" fmla="*/ 2147483646 w 4916"/>
              <a:gd name="T101" fmla="*/ 2147483646 h 3388"/>
              <a:gd name="T102" fmla="*/ 2147483646 w 4916"/>
              <a:gd name="T103" fmla="*/ 2147483646 h 3388"/>
              <a:gd name="T104" fmla="*/ 2147483646 w 4916"/>
              <a:gd name="T105" fmla="*/ 2147483646 h 3388"/>
              <a:gd name="T106" fmla="*/ 2147483646 w 4916"/>
              <a:gd name="T107" fmla="*/ 2147483646 h 3388"/>
              <a:gd name="T108" fmla="*/ 2147483646 w 4916"/>
              <a:gd name="T109" fmla="*/ 2147483646 h 3388"/>
              <a:gd name="T110" fmla="*/ 2147483646 w 4916"/>
              <a:gd name="T111" fmla="*/ 2147483646 h 3388"/>
              <a:gd name="T112" fmla="*/ 2147483646 w 4916"/>
              <a:gd name="T113" fmla="*/ 2147483646 h 3388"/>
              <a:gd name="T114" fmla="*/ 2147483646 w 4916"/>
              <a:gd name="T115" fmla="*/ 2147483646 h 3388"/>
              <a:gd name="T116" fmla="*/ 2147483646 w 4916"/>
              <a:gd name="T117" fmla="*/ 2147483646 h 3388"/>
              <a:gd name="T118" fmla="*/ 2147483646 w 4916"/>
              <a:gd name="T119" fmla="*/ 2147483646 h 3388"/>
              <a:gd name="T120" fmla="*/ 2147483646 w 4916"/>
              <a:gd name="T121" fmla="*/ 2147483646 h 3388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w 4916"/>
              <a:gd name="T184" fmla="*/ 0 h 3388"/>
              <a:gd name="T185" fmla="*/ 4916 w 4916"/>
              <a:gd name="T186" fmla="*/ 3388 h 3388"/>
            </a:gdLst>
            <a:ahLst/>
            <a:cxnLst>
              <a:cxn ang="T122">
                <a:pos x="T0" y="T1"/>
              </a:cxn>
              <a:cxn ang="T123">
                <a:pos x="T2" y="T3"/>
              </a:cxn>
              <a:cxn ang="T124">
                <a:pos x="T4" y="T5"/>
              </a:cxn>
              <a:cxn ang="T125">
                <a:pos x="T6" y="T7"/>
              </a:cxn>
              <a:cxn ang="T126">
                <a:pos x="T8" y="T9"/>
              </a:cxn>
              <a:cxn ang="T127">
                <a:pos x="T10" y="T11"/>
              </a:cxn>
              <a:cxn ang="T128">
                <a:pos x="T12" y="T13"/>
              </a:cxn>
              <a:cxn ang="T129">
                <a:pos x="T14" y="T15"/>
              </a:cxn>
              <a:cxn ang="T130">
                <a:pos x="T16" y="T17"/>
              </a:cxn>
              <a:cxn ang="T131">
                <a:pos x="T18" y="T19"/>
              </a:cxn>
              <a:cxn ang="T132">
                <a:pos x="T20" y="T21"/>
              </a:cxn>
              <a:cxn ang="T133">
                <a:pos x="T22" y="T23"/>
              </a:cxn>
              <a:cxn ang="T134">
                <a:pos x="T24" y="T25"/>
              </a:cxn>
              <a:cxn ang="T135">
                <a:pos x="T26" y="T27"/>
              </a:cxn>
              <a:cxn ang="T136">
                <a:pos x="T28" y="T29"/>
              </a:cxn>
              <a:cxn ang="T137">
                <a:pos x="T30" y="T31"/>
              </a:cxn>
              <a:cxn ang="T138">
                <a:pos x="T32" y="T33"/>
              </a:cxn>
              <a:cxn ang="T139">
                <a:pos x="T34" y="T35"/>
              </a:cxn>
              <a:cxn ang="T140">
                <a:pos x="T36" y="T37"/>
              </a:cxn>
              <a:cxn ang="T141">
                <a:pos x="T38" y="T39"/>
              </a:cxn>
              <a:cxn ang="T142">
                <a:pos x="T40" y="T41"/>
              </a:cxn>
              <a:cxn ang="T143">
                <a:pos x="T42" y="T43"/>
              </a:cxn>
              <a:cxn ang="T144">
                <a:pos x="T44" y="T45"/>
              </a:cxn>
              <a:cxn ang="T145">
                <a:pos x="T46" y="T47"/>
              </a:cxn>
              <a:cxn ang="T146">
                <a:pos x="T48" y="T49"/>
              </a:cxn>
              <a:cxn ang="T147">
                <a:pos x="T50" y="T51"/>
              </a:cxn>
              <a:cxn ang="T148">
                <a:pos x="T52" y="T53"/>
              </a:cxn>
              <a:cxn ang="T149">
                <a:pos x="T54" y="T55"/>
              </a:cxn>
              <a:cxn ang="T150">
                <a:pos x="T56" y="T57"/>
              </a:cxn>
              <a:cxn ang="T151">
                <a:pos x="T58" y="T59"/>
              </a:cxn>
              <a:cxn ang="T152">
                <a:pos x="T60" y="T61"/>
              </a:cxn>
              <a:cxn ang="T153">
                <a:pos x="T62" y="T63"/>
              </a:cxn>
              <a:cxn ang="T154">
                <a:pos x="T64" y="T65"/>
              </a:cxn>
              <a:cxn ang="T155">
                <a:pos x="T66" y="T67"/>
              </a:cxn>
              <a:cxn ang="T156">
                <a:pos x="T68" y="T69"/>
              </a:cxn>
              <a:cxn ang="T157">
                <a:pos x="T70" y="T71"/>
              </a:cxn>
              <a:cxn ang="T158">
                <a:pos x="T72" y="T73"/>
              </a:cxn>
              <a:cxn ang="T159">
                <a:pos x="T74" y="T75"/>
              </a:cxn>
              <a:cxn ang="T160">
                <a:pos x="T76" y="T77"/>
              </a:cxn>
              <a:cxn ang="T161">
                <a:pos x="T78" y="T79"/>
              </a:cxn>
              <a:cxn ang="T162">
                <a:pos x="T80" y="T81"/>
              </a:cxn>
              <a:cxn ang="T163">
                <a:pos x="T82" y="T83"/>
              </a:cxn>
              <a:cxn ang="T164">
                <a:pos x="T84" y="T85"/>
              </a:cxn>
              <a:cxn ang="T165">
                <a:pos x="T86" y="T87"/>
              </a:cxn>
              <a:cxn ang="T166">
                <a:pos x="T88" y="T89"/>
              </a:cxn>
              <a:cxn ang="T167">
                <a:pos x="T90" y="T91"/>
              </a:cxn>
              <a:cxn ang="T168">
                <a:pos x="T92" y="T93"/>
              </a:cxn>
              <a:cxn ang="T169">
                <a:pos x="T94" y="T95"/>
              </a:cxn>
              <a:cxn ang="T170">
                <a:pos x="T96" y="T97"/>
              </a:cxn>
              <a:cxn ang="T171">
                <a:pos x="T98" y="T99"/>
              </a:cxn>
              <a:cxn ang="T172">
                <a:pos x="T100" y="T101"/>
              </a:cxn>
              <a:cxn ang="T173">
                <a:pos x="T102" y="T103"/>
              </a:cxn>
              <a:cxn ang="T174">
                <a:pos x="T104" y="T105"/>
              </a:cxn>
              <a:cxn ang="T175">
                <a:pos x="T106" y="T107"/>
              </a:cxn>
              <a:cxn ang="T176">
                <a:pos x="T108" y="T109"/>
              </a:cxn>
              <a:cxn ang="T177">
                <a:pos x="T110" y="T111"/>
              </a:cxn>
              <a:cxn ang="T178">
                <a:pos x="T112" y="T113"/>
              </a:cxn>
              <a:cxn ang="T179">
                <a:pos x="T114" y="T115"/>
              </a:cxn>
              <a:cxn ang="T180">
                <a:pos x="T116" y="T117"/>
              </a:cxn>
              <a:cxn ang="T181">
                <a:pos x="T118" y="T119"/>
              </a:cxn>
              <a:cxn ang="T182">
                <a:pos x="T120" y="T121"/>
              </a:cxn>
            </a:cxnLst>
            <a:rect l="T183" t="T184" r="T185" b="T186"/>
            <a:pathLst>
              <a:path w="4916" h="3388">
                <a:moveTo>
                  <a:pt x="0" y="1792"/>
                </a:moveTo>
                <a:lnTo>
                  <a:pt x="12" y="1808"/>
                </a:lnTo>
                <a:lnTo>
                  <a:pt x="25" y="1823"/>
                </a:lnTo>
                <a:lnTo>
                  <a:pt x="38" y="1838"/>
                </a:lnTo>
                <a:lnTo>
                  <a:pt x="53" y="1853"/>
                </a:lnTo>
                <a:lnTo>
                  <a:pt x="68" y="1867"/>
                </a:lnTo>
                <a:lnTo>
                  <a:pt x="83" y="1883"/>
                </a:lnTo>
                <a:lnTo>
                  <a:pt x="100" y="1897"/>
                </a:lnTo>
                <a:lnTo>
                  <a:pt x="116" y="1911"/>
                </a:lnTo>
                <a:lnTo>
                  <a:pt x="131" y="1927"/>
                </a:lnTo>
                <a:lnTo>
                  <a:pt x="148" y="1941"/>
                </a:lnTo>
                <a:lnTo>
                  <a:pt x="162" y="1955"/>
                </a:lnTo>
                <a:lnTo>
                  <a:pt x="178" y="1971"/>
                </a:lnTo>
                <a:lnTo>
                  <a:pt x="193" y="1985"/>
                </a:lnTo>
                <a:lnTo>
                  <a:pt x="206" y="2000"/>
                </a:lnTo>
                <a:lnTo>
                  <a:pt x="219" y="2014"/>
                </a:lnTo>
                <a:lnTo>
                  <a:pt x="231" y="2030"/>
                </a:lnTo>
                <a:lnTo>
                  <a:pt x="244" y="2058"/>
                </a:lnTo>
                <a:lnTo>
                  <a:pt x="261" y="2080"/>
                </a:lnTo>
                <a:lnTo>
                  <a:pt x="281" y="2098"/>
                </a:lnTo>
                <a:lnTo>
                  <a:pt x="301" y="2114"/>
                </a:lnTo>
                <a:lnTo>
                  <a:pt x="322" y="2129"/>
                </a:lnTo>
                <a:lnTo>
                  <a:pt x="342" y="2148"/>
                </a:lnTo>
                <a:lnTo>
                  <a:pt x="359" y="2169"/>
                </a:lnTo>
                <a:lnTo>
                  <a:pt x="375" y="2195"/>
                </a:lnTo>
                <a:lnTo>
                  <a:pt x="391" y="2223"/>
                </a:lnTo>
                <a:lnTo>
                  <a:pt x="415" y="2256"/>
                </a:lnTo>
                <a:lnTo>
                  <a:pt x="441" y="2294"/>
                </a:lnTo>
                <a:lnTo>
                  <a:pt x="471" y="2333"/>
                </a:lnTo>
                <a:lnTo>
                  <a:pt x="501" y="2373"/>
                </a:lnTo>
                <a:lnTo>
                  <a:pt x="527" y="2409"/>
                </a:lnTo>
                <a:lnTo>
                  <a:pt x="551" y="2442"/>
                </a:lnTo>
                <a:lnTo>
                  <a:pt x="569" y="2469"/>
                </a:lnTo>
                <a:lnTo>
                  <a:pt x="580" y="2492"/>
                </a:lnTo>
                <a:lnTo>
                  <a:pt x="597" y="2519"/>
                </a:lnTo>
                <a:lnTo>
                  <a:pt x="616" y="2552"/>
                </a:lnTo>
                <a:lnTo>
                  <a:pt x="638" y="2586"/>
                </a:lnTo>
                <a:lnTo>
                  <a:pt x="663" y="2626"/>
                </a:lnTo>
                <a:lnTo>
                  <a:pt x="689" y="2666"/>
                </a:lnTo>
                <a:lnTo>
                  <a:pt x="717" y="2708"/>
                </a:lnTo>
                <a:lnTo>
                  <a:pt x="747" y="2752"/>
                </a:lnTo>
                <a:lnTo>
                  <a:pt x="775" y="2794"/>
                </a:lnTo>
                <a:lnTo>
                  <a:pt x="803" y="2838"/>
                </a:lnTo>
                <a:lnTo>
                  <a:pt x="830" y="2878"/>
                </a:lnTo>
                <a:lnTo>
                  <a:pt x="855" y="2916"/>
                </a:lnTo>
                <a:lnTo>
                  <a:pt x="878" y="2952"/>
                </a:lnTo>
                <a:lnTo>
                  <a:pt x="897" y="2983"/>
                </a:lnTo>
                <a:lnTo>
                  <a:pt x="914" y="3011"/>
                </a:lnTo>
                <a:lnTo>
                  <a:pt x="926" y="3032"/>
                </a:lnTo>
                <a:lnTo>
                  <a:pt x="937" y="3034"/>
                </a:lnTo>
                <a:lnTo>
                  <a:pt x="946" y="3035"/>
                </a:lnTo>
                <a:lnTo>
                  <a:pt x="957" y="3037"/>
                </a:lnTo>
                <a:lnTo>
                  <a:pt x="966" y="3039"/>
                </a:lnTo>
                <a:lnTo>
                  <a:pt x="977" y="3039"/>
                </a:lnTo>
                <a:lnTo>
                  <a:pt x="987" y="3042"/>
                </a:lnTo>
                <a:lnTo>
                  <a:pt x="997" y="3043"/>
                </a:lnTo>
                <a:lnTo>
                  <a:pt x="1007" y="3045"/>
                </a:lnTo>
                <a:lnTo>
                  <a:pt x="1009" y="3055"/>
                </a:lnTo>
                <a:lnTo>
                  <a:pt x="1012" y="3064"/>
                </a:lnTo>
                <a:lnTo>
                  <a:pt x="1014" y="3073"/>
                </a:lnTo>
                <a:lnTo>
                  <a:pt x="1016" y="3083"/>
                </a:lnTo>
                <a:lnTo>
                  <a:pt x="1025" y="3083"/>
                </a:lnTo>
                <a:lnTo>
                  <a:pt x="1033" y="3085"/>
                </a:lnTo>
                <a:lnTo>
                  <a:pt x="1043" y="3086"/>
                </a:lnTo>
                <a:lnTo>
                  <a:pt x="1052" y="3087"/>
                </a:lnTo>
                <a:lnTo>
                  <a:pt x="1060" y="3090"/>
                </a:lnTo>
                <a:lnTo>
                  <a:pt x="1069" y="3091"/>
                </a:lnTo>
                <a:lnTo>
                  <a:pt x="1079" y="3092"/>
                </a:lnTo>
                <a:lnTo>
                  <a:pt x="1088" y="3093"/>
                </a:lnTo>
                <a:lnTo>
                  <a:pt x="1104" y="3103"/>
                </a:lnTo>
                <a:lnTo>
                  <a:pt x="1121" y="3113"/>
                </a:lnTo>
                <a:lnTo>
                  <a:pt x="1137" y="3121"/>
                </a:lnTo>
                <a:lnTo>
                  <a:pt x="1152" y="3130"/>
                </a:lnTo>
                <a:lnTo>
                  <a:pt x="1168" y="3139"/>
                </a:lnTo>
                <a:lnTo>
                  <a:pt x="1185" y="3147"/>
                </a:lnTo>
                <a:lnTo>
                  <a:pt x="1202" y="3156"/>
                </a:lnTo>
                <a:lnTo>
                  <a:pt x="1217" y="3165"/>
                </a:lnTo>
                <a:lnTo>
                  <a:pt x="1229" y="3166"/>
                </a:lnTo>
                <a:lnTo>
                  <a:pt x="1240" y="3167"/>
                </a:lnTo>
                <a:lnTo>
                  <a:pt x="1251" y="3169"/>
                </a:lnTo>
                <a:lnTo>
                  <a:pt x="1262" y="3170"/>
                </a:lnTo>
                <a:lnTo>
                  <a:pt x="1274" y="3170"/>
                </a:lnTo>
                <a:lnTo>
                  <a:pt x="1285" y="3171"/>
                </a:lnTo>
                <a:lnTo>
                  <a:pt x="1297" y="3172"/>
                </a:lnTo>
                <a:lnTo>
                  <a:pt x="1308" y="3172"/>
                </a:lnTo>
                <a:lnTo>
                  <a:pt x="1317" y="3183"/>
                </a:lnTo>
                <a:lnTo>
                  <a:pt x="1326" y="3195"/>
                </a:lnTo>
                <a:lnTo>
                  <a:pt x="1335" y="3206"/>
                </a:lnTo>
                <a:lnTo>
                  <a:pt x="1343" y="3215"/>
                </a:lnTo>
                <a:lnTo>
                  <a:pt x="1363" y="3217"/>
                </a:lnTo>
                <a:lnTo>
                  <a:pt x="1383" y="3219"/>
                </a:lnTo>
                <a:lnTo>
                  <a:pt x="1403" y="3221"/>
                </a:lnTo>
                <a:lnTo>
                  <a:pt x="1422" y="3221"/>
                </a:lnTo>
                <a:lnTo>
                  <a:pt x="1443" y="3223"/>
                </a:lnTo>
                <a:lnTo>
                  <a:pt x="1462" y="3223"/>
                </a:lnTo>
                <a:lnTo>
                  <a:pt x="1482" y="3224"/>
                </a:lnTo>
                <a:lnTo>
                  <a:pt x="1502" y="3225"/>
                </a:lnTo>
                <a:lnTo>
                  <a:pt x="1525" y="3238"/>
                </a:lnTo>
                <a:lnTo>
                  <a:pt x="1547" y="3251"/>
                </a:lnTo>
                <a:lnTo>
                  <a:pt x="1571" y="3264"/>
                </a:lnTo>
                <a:lnTo>
                  <a:pt x="1595" y="3278"/>
                </a:lnTo>
                <a:lnTo>
                  <a:pt x="1619" y="3293"/>
                </a:lnTo>
                <a:lnTo>
                  <a:pt x="1643" y="3306"/>
                </a:lnTo>
                <a:lnTo>
                  <a:pt x="1667" y="3319"/>
                </a:lnTo>
                <a:lnTo>
                  <a:pt x="1692" y="3332"/>
                </a:lnTo>
                <a:lnTo>
                  <a:pt x="1701" y="3332"/>
                </a:lnTo>
                <a:lnTo>
                  <a:pt x="1711" y="3332"/>
                </a:lnTo>
                <a:lnTo>
                  <a:pt x="1721" y="3332"/>
                </a:lnTo>
                <a:lnTo>
                  <a:pt x="1732" y="3332"/>
                </a:lnTo>
                <a:lnTo>
                  <a:pt x="1742" y="3332"/>
                </a:lnTo>
                <a:lnTo>
                  <a:pt x="1751" y="3332"/>
                </a:lnTo>
                <a:lnTo>
                  <a:pt x="1762" y="3332"/>
                </a:lnTo>
                <a:lnTo>
                  <a:pt x="1772" y="3332"/>
                </a:lnTo>
                <a:lnTo>
                  <a:pt x="1780" y="3340"/>
                </a:lnTo>
                <a:lnTo>
                  <a:pt x="1790" y="3346"/>
                </a:lnTo>
                <a:lnTo>
                  <a:pt x="1799" y="3352"/>
                </a:lnTo>
                <a:lnTo>
                  <a:pt x="1809" y="3358"/>
                </a:lnTo>
                <a:lnTo>
                  <a:pt x="1817" y="3364"/>
                </a:lnTo>
                <a:lnTo>
                  <a:pt x="1826" y="3368"/>
                </a:lnTo>
                <a:lnTo>
                  <a:pt x="1835" y="3373"/>
                </a:lnTo>
                <a:lnTo>
                  <a:pt x="1843" y="3378"/>
                </a:lnTo>
                <a:lnTo>
                  <a:pt x="1871" y="3385"/>
                </a:lnTo>
                <a:lnTo>
                  <a:pt x="1889" y="3388"/>
                </a:lnTo>
                <a:lnTo>
                  <a:pt x="1901" y="3384"/>
                </a:lnTo>
                <a:lnTo>
                  <a:pt x="1905" y="3377"/>
                </a:lnTo>
                <a:lnTo>
                  <a:pt x="1905" y="3368"/>
                </a:lnTo>
                <a:lnTo>
                  <a:pt x="1899" y="3355"/>
                </a:lnTo>
                <a:lnTo>
                  <a:pt x="1891" y="3341"/>
                </a:lnTo>
                <a:lnTo>
                  <a:pt x="1883" y="3327"/>
                </a:lnTo>
                <a:lnTo>
                  <a:pt x="1876" y="3312"/>
                </a:lnTo>
                <a:lnTo>
                  <a:pt x="1868" y="3298"/>
                </a:lnTo>
                <a:lnTo>
                  <a:pt x="1864" y="3286"/>
                </a:lnTo>
                <a:lnTo>
                  <a:pt x="1863" y="3275"/>
                </a:lnTo>
                <a:lnTo>
                  <a:pt x="1867" y="3268"/>
                </a:lnTo>
                <a:lnTo>
                  <a:pt x="1877" y="3264"/>
                </a:lnTo>
                <a:lnTo>
                  <a:pt x="1896" y="3266"/>
                </a:lnTo>
                <a:lnTo>
                  <a:pt x="1922" y="3273"/>
                </a:lnTo>
                <a:lnTo>
                  <a:pt x="1935" y="3251"/>
                </a:lnTo>
                <a:lnTo>
                  <a:pt x="1947" y="3231"/>
                </a:lnTo>
                <a:lnTo>
                  <a:pt x="1957" y="3213"/>
                </a:lnTo>
                <a:lnTo>
                  <a:pt x="1965" y="3194"/>
                </a:lnTo>
                <a:lnTo>
                  <a:pt x="1975" y="3176"/>
                </a:lnTo>
                <a:lnTo>
                  <a:pt x="1984" y="3154"/>
                </a:lnTo>
                <a:lnTo>
                  <a:pt x="1995" y="3134"/>
                </a:lnTo>
                <a:lnTo>
                  <a:pt x="2007" y="3111"/>
                </a:lnTo>
                <a:lnTo>
                  <a:pt x="2008" y="3098"/>
                </a:lnTo>
                <a:lnTo>
                  <a:pt x="2013" y="3083"/>
                </a:lnTo>
                <a:lnTo>
                  <a:pt x="2019" y="3067"/>
                </a:lnTo>
                <a:lnTo>
                  <a:pt x="2026" y="3049"/>
                </a:lnTo>
                <a:lnTo>
                  <a:pt x="2035" y="3030"/>
                </a:lnTo>
                <a:lnTo>
                  <a:pt x="2041" y="3013"/>
                </a:lnTo>
                <a:lnTo>
                  <a:pt x="2045" y="2998"/>
                </a:lnTo>
                <a:lnTo>
                  <a:pt x="2046" y="2985"/>
                </a:lnTo>
                <a:lnTo>
                  <a:pt x="2059" y="2966"/>
                </a:lnTo>
                <a:lnTo>
                  <a:pt x="2071" y="2946"/>
                </a:lnTo>
                <a:lnTo>
                  <a:pt x="2085" y="2927"/>
                </a:lnTo>
                <a:lnTo>
                  <a:pt x="2096" y="2908"/>
                </a:lnTo>
                <a:lnTo>
                  <a:pt x="2107" y="2890"/>
                </a:lnTo>
                <a:lnTo>
                  <a:pt x="2118" y="2872"/>
                </a:lnTo>
                <a:lnTo>
                  <a:pt x="2130" y="2854"/>
                </a:lnTo>
                <a:lnTo>
                  <a:pt x="2142" y="2835"/>
                </a:lnTo>
                <a:lnTo>
                  <a:pt x="2148" y="2782"/>
                </a:lnTo>
                <a:lnTo>
                  <a:pt x="2159" y="2741"/>
                </a:lnTo>
                <a:lnTo>
                  <a:pt x="2171" y="2700"/>
                </a:lnTo>
                <a:lnTo>
                  <a:pt x="2174" y="2648"/>
                </a:lnTo>
                <a:lnTo>
                  <a:pt x="2187" y="2640"/>
                </a:lnTo>
                <a:lnTo>
                  <a:pt x="2201" y="2628"/>
                </a:lnTo>
                <a:lnTo>
                  <a:pt x="2217" y="2616"/>
                </a:lnTo>
                <a:lnTo>
                  <a:pt x="2232" y="2603"/>
                </a:lnTo>
                <a:lnTo>
                  <a:pt x="2247" y="2589"/>
                </a:lnTo>
                <a:lnTo>
                  <a:pt x="2263" y="2576"/>
                </a:lnTo>
                <a:lnTo>
                  <a:pt x="2276" y="2565"/>
                </a:lnTo>
                <a:lnTo>
                  <a:pt x="2289" y="2556"/>
                </a:lnTo>
                <a:lnTo>
                  <a:pt x="2298" y="2505"/>
                </a:lnTo>
                <a:lnTo>
                  <a:pt x="2304" y="2464"/>
                </a:lnTo>
                <a:lnTo>
                  <a:pt x="2309" y="2424"/>
                </a:lnTo>
                <a:lnTo>
                  <a:pt x="2320" y="2370"/>
                </a:lnTo>
                <a:lnTo>
                  <a:pt x="2330" y="2360"/>
                </a:lnTo>
                <a:lnTo>
                  <a:pt x="2347" y="2349"/>
                </a:lnTo>
                <a:lnTo>
                  <a:pt x="2366" y="2336"/>
                </a:lnTo>
                <a:lnTo>
                  <a:pt x="2388" y="2322"/>
                </a:lnTo>
                <a:lnTo>
                  <a:pt x="2412" y="2307"/>
                </a:lnTo>
                <a:lnTo>
                  <a:pt x="2431" y="2294"/>
                </a:lnTo>
                <a:lnTo>
                  <a:pt x="2448" y="2284"/>
                </a:lnTo>
                <a:lnTo>
                  <a:pt x="2457" y="2274"/>
                </a:lnTo>
                <a:lnTo>
                  <a:pt x="2455" y="2260"/>
                </a:lnTo>
                <a:lnTo>
                  <a:pt x="2455" y="2246"/>
                </a:lnTo>
                <a:lnTo>
                  <a:pt x="2459" y="2234"/>
                </a:lnTo>
                <a:lnTo>
                  <a:pt x="2462" y="2221"/>
                </a:lnTo>
                <a:lnTo>
                  <a:pt x="2467" y="2208"/>
                </a:lnTo>
                <a:lnTo>
                  <a:pt x="2470" y="2195"/>
                </a:lnTo>
                <a:lnTo>
                  <a:pt x="2472" y="2180"/>
                </a:lnTo>
                <a:lnTo>
                  <a:pt x="2470" y="2167"/>
                </a:lnTo>
                <a:lnTo>
                  <a:pt x="2482" y="2165"/>
                </a:lnTo>
                <a:lnTo>
                  <a:pt x="2493" y="2161"/>
                </a:lnTo>
                <a:lnTo>
                  <a:pt x="2504" y="2158"/>
                </a:lnTo>
                <a:lnTo>
                  <a:pt x="2516" y="2154"/>
                </a:lnTo>
                <a:lnTo>
                  <a:pt x="2528" y="2150"/>
                </a:lnTo>
                <a:lnTo>
                  <a:pt x="2538" y="2147"/>
                </a:lnTo>
                <a:lnTo>
                  <a:pt x="2549" y="2141"/>
                </a:lnTo>
                <a:lnTo>
                  <a:pt x="2560" y="2138"/>
                </a:lnTo>
                <a:lnTo>
                  <a:pt x="2565" y="2118"/>
                </a:lnTo>
                <a:lnTo>
                  <a:pt x="2573" y="2099"/>
                </a:lnTo>
                <a:lnTo>
                  <a:pt x="2580" y="2080"/>
                </a:lnTo>
                <a:lnTo>
                  <a:pt x="2589" y="2059"/>
                </a:lnTo>
                <a:lnTo>
                  <a:pt x="2597" y="2063"/>
                </a:lnTo>
                <a:lnTo>
                  <a:pt x="2603" y="2065"/>
                </a:lnTo>
                <a:lnTo>
                  <a:pt x="2610" y="2068"/>
                </a:lnTo>
                <a:lnTo>
                  <a:pt x="2618" y="2070"/>
                </a:lnTo>
                <a:lnTo>
                  <a:pt x="2625" y="2073"/>
                </a:lnTo>
                <a:lnTo>
                  <a:pt x="2634" y="2075"/>
                </a:lnTo>
                <a:lnTo>
                  <a:pt x="2642" y="2078"/>
                </a:lnTo>
                <a:lnTo>
                  <a:pt x="2650" y="2080"/>
                </a:lnTo>
                <a:lnTo>
                  <a:pt x="2657" y="2063"/>
                </a:lnTo>
                <a:lnTo>
                  <a:pt x="2664" y="2046"/>
                </a:lnTo>
                <a:lnTo>
                  <a:pt x="2668" y="2028"/>
                </a:lnTo>
                <a:lnTo>
                  <a:pt x="2673" y="2012"/>
                </a:lnTo>
                <a:lnTo>
                  <a:pt x="2678" y="2007"/>
                </a:lnTo>
                <a:lnTo>
                  <a:pt x="2683" y="2002"/>
                </a:lnTo>
                <a:lnTo>
                  <a:pt x="2689" y="1998"/>
                </a:lnTo>
                <a:lnTo>
                  <a:pt x="2694" y="1991"/>
                </a:lnTo>
                <a:lnTo>
                  <a:pt x="2700" y="1987"/>
                </a:lnTo>
                <a:lnTo>
                  <a:pt x="2705" y="1982"/>
                </a:lnTo>
                <a:lnTo>
                  <a:pt x="2712" y="1976"/>
                </a:lnTo>
                <a:lnTo>
                  <a:pt x="2716" y="1971"/>
                </a:lnTo>
                <a:lnTo>
                  <a:pt x="2726" y="1955"/>
                </a:lnTo>
                <a:lnTo>
                  <a:pt x="2736" y="1940"/>
                </a:lnTo>
                <a:lnTo>
                  <a:pt x="2747" y="1924"/>
                </a:lnTo>
                <a:lnTo>
                  <a:pt x="2760" y="1908"/>
                </a:lnTo>
                <a:lnTo>
                  <a:pt x="2771" y="1892"/>
                </a:lnTo>
                <a:lnTo>
                  <a:pt x="2783" y="1877"/>
                </a:lnTo>
                <a:lnTo>
                  <a:pt x="2798" y="1860"/>
                </a:lnTo>
                <a:lnTo>
                  <a:pt x="2811" y="1844"/>
                </a:lnTo>
                <a:lnTo>
                  <a:pt x="2834" y="1825"/>
                </a:lnTo>
                <a:lnTo>
                  <a:pt x="2859" y="1804"/>
                </a:lnTo>
                <a:lnTo>
                  <a:pt x="2882" y="1783"/>
                </a:lnTo>
                <a:lnTo>
                  <a:pt x="2906" y="1764"/>
                </a:lnTo>
                <a:lnTo>
                  <a:pt x="2929" y="1743"/>
                </a:lnTo>
                <a:lnTo>
                  <a:pt x="2953" y="1722"/>
                </a:lnTo>
                <a:lnTo>
                  <a:pt x="2974" y="1700"/>
                </a:lnTo>
                <a:lnTo>
                  <a:pt x="2998" y="1678"/>
                </a:lnTo>
                <a:lnTo>
                  <a:pt x="3019" y="1656"/>
                </a:lnTo>
                <a:lnTo>
                  <a:pt x="3043" y="1635"/>
                </a:lnTo>
                <a:lnTo>
                  <a:pt x="3067" y="1612"/>
                </a:lnTo>
                <a:lnTo>
                  <a:pt x="3089" y="1589"/>
                </a:lnTo>
                <a:lnTo>
                  <a:pt x="3112" y="1565"/>
                </a:lnTo>
                <a:lnTo>
                  <a:pt x="3135" y="1542"/>
                </a:lnTo>
                <a:lnTo>
                  <a:pt x="3160" y="1520"/>
                </a:lnTo>
                <a:lnTo>
                  <a:pt x="3183" y="1496"/>
                </a:lnTo>
                <a:lnTo>
                  <a:pt x="3208" y="1471"/>
                </a:lnTo>
                <a:lnTo>
                  <a:pt x="3233" y="1448"/>
                </a:lnTo>
                <a:lnTo>
                  <a:pt x="3259" y="1424"/>
                </a:lnTo>
                <a:lnTo>
                  <a:pt x="3284" y="1400"/>
                </a:lnTo>
                <a:lnTo>
                  <a:pt x="3311" y="1375"/>
                </a:lnTo>
                <a:lnTo>
                  <a:pt x="3339" y="1350"/>
                </a:lnTo>
                <a:lnTo>
                  <a:pt x="3368" y="1326"/>
                </a:lnTo>
                <a:lnTo>
                  <a:pt x="3397" y="1302"/>
                </a:lnTo>
                <a:lnTo>
                  <a:pt x="3428" y="1277"/>
                </a:lnTo>
                <a:lnTo>
                  <a:pt x="3458" y="1252"/>
                </a:lnTo>
                <a:lnTo>
                  <a:pt x="3489" y="1227"/>
                </a:lnTo>
                <a:lnTo>
                  <a:pt x="3523" y="1201"/>
                </a:lnTo>
                <a:lnTo>
                  <a:pt x="3556" y="1178"/>
                </a:lnTo>
                <a:lnTo>
                  <a:pt x="3591" y="1152"/>
                </a:lnTo>
                <a:lnTo>
                  <a:pt x="3628" y="1127"/>
                </a:lnTo>
                <a:lnTo>
                  <a:pt x="3666" y="1102"/>
                </a:lnTo>
                <a:lnTo>
                  <a:pt x="3682" y="1091"/>
                </a:lnTo>
                <a:lnTo>
                  <a:pt x="3700" y="1080"/>
                </a:lnTo>
                <a:lnTo>
                  <a:pt x="3717" y="1070"/>
                </a:lnTo>
                <a:lnTo>
                  <a:pt x="3733" y="1059"/>
                </a:lnTo>
                <a:lnTo>
                  <a:pt x="3751" y="1050"/>
                </a:lnTo>
                <a:lnTo>
                  <a:pt x="3768" y="1039"/>
                </a:lnTo>
                <a:lnTo>
                  <a:pt x="3785" y="1029"/>
                </a:lnTo>
                <a:lnTo>
                  <a:pt x="3805" y="1020"/>
                </a:lnTo>
                <a:lnTo>
                  <a:pt x="3814" y="1013"/>
                </a:lnTo>
                <a:lnTo>
                  <a:pt x="3825" y="1009"/>
                </a:lnTo>
                <a:lnTo>
                  <a:pt x="3836" y="1004"/>
                </a:lnTo>
                <a:lnTo>
                  <a:pt x="3846" y="1000"/>
                </a:lnTo>
                <a:lnTo>
                  <a:pt x="3856" y="994"/>
                </a:lnTo>
                <a:lnTo>
                  <a:pt x="3866" y="990"/>
                </a:lnTo>
                <a:lnTo>
                  <a:pt x="3876" y="983"/>
                </a:lnTo>
                <a:lnTo>
                  <a:pt x="3888" y="978"/>
                </a:lnTo>
                <a:lnTo>
                  <a:pt x="3906" y="967"/>
                </a:lnTo>
                <a:lnTo>
                  <a:pt x="3925" y="956"/>
                </a:lnTo>
                <a:lnTo>
                  <a:pt x="3943" y="946"/>
                </a:lnTo>
                <a:lnTo>
                  <a:pt x="3961" y="933"/>
                </a:lnTo>
                <a:lnTo>
                  <a:pt x="3980" y="923"/>
                </a:lnTo>
                <a:lnTo>
                  <a:pt x="3998" y="910"/>
                </a:lnTo>
                <a:lnTo>
                  <a:pt x="4017" y="899"/>
                </a:lnTo>
                <a:lnTo>
                  <a:pt x="4035" y="887"/>
                </a:lnTo>
                <a:lnTo>
                  <a:pt x="4047" y="879"/>
                </a:lnTo>
                <a:lnTo>
                  <a:pt x="4060" y="869"/>
                </a:lnTo>
                <a:lnTo>
                  <a:pt x="4071" y="860"/>
                </a:lnTo>
                <a:lnTo>
                  <a:pt x="4085" y="851"/>
                </a:lnTo>
                <a:lnTo>
                  <a:pt x="4097" y="842"/>
                </a:lnTo>
                <a:lnTo>
                  <a:pt x="4111" y="833"/>
                </a:lnTo>
                <a:lnTo>
                  <a:pt x="4123" y="825"/>
                </a:lnTo>
                <a:lnTo>
                  <a:pt x="4136" y="815"/>
                </a:lnTo>
                <a:lnTo>
                  <a:pt x="4141" y="803"/>
                </a:lnTo>
                <a:lnTo>
                  <a:pt x="4146" y="792"/>
                </a:lnTo>
                <a:lnTo>
                  <a:pt x="4152" y="781"/>
                </a:lnTo>
                <a:lnTo>
                  <a:pt x="4156" y="772"/>
                </a:lnTo>
                <a:lnTo>
                  <a:pt x="4165" y="764"/>
                </a:lnTo>
                <a:lnTo>
                  <a:pt x="4172" y="759"/>
                </a:lnTo>
                <a:lnTo>
                  <a:pt x="4180" y="751"/>
                </a:lnTo>
                <a:lnTo>
                  <a:pt x="4189" y="745"/>
                </a:lnTo>
                <a:lnTo>
                  <a:pt x="4198" y="738"/>
                </a:lnTo>
                <a:lnTo>
                  <a:pt x="4207" y="732"/>
                </a:lnTo>
                <a:lnTo>
                  <a:pt x="4215" y="725"/>
                </a:lnTo>
                <a:lnTo>
                  <a:pt x="4224" y="719"/>
                </a:lnTo>
                <a:lnTo>
                  <a:pt x="4227" y="725"/>
                </a:lnTo>
                <a:lnTo>
                  <a:pt x="4230" y="731"/>
                </a:lnTo>
                <a:lnTo>
                  <a:pt x="4233" y="737"/>
                </a:lnTo>
                <a:lnTo>
                  <a:pt x="4235" y="743"/>
                </a:lnTo>
                <a:lnTo>
                  <a:pt x="4249" y="734"/>
                </a:lnTo>
                <a:lnTo>
                  <a:pt x="4261" y="728"/>
                </a:lnTo>
                <a:lnTo>
                  <a:pt x="4275" y="719"/>
                </a:lnTo>
                <a:lnTo>
                  <a:pt x="4289" y="711"/>
                </a:lnTo>
                <a:lnTo>
                  <a:pt x="4302" y="704"/>
                </a:lnTo>
                <a:lnTo>
                  <a:pt x="4316" y="695"/>
                </a:lnTo>
                <a:lnTo>
                  <a:pt x="4330" y="688"/>
                </a:lnTo>
                <a:lnTo>
                  <a:pt x="4341" y="681"/>
                </a:lnTo>
                <a:lnTo>
                  <a:pt x="4351" y="666"/>
                </a:lnTo>
                <a:lnTo>
                  <a:pt x="4360" y="649"/>
                </a:lnTo>
                <a:lnTo>
                  <a:pt x="4369" y="633"/>
                </a:lnTo>
                <a:lnTo>
                  <a:pt x="4378" y="619"/>
                </a:lnTo>
                <a:lnTo>
                  <a:pt x="4389" y="609"/>
                </a:lnTo>
                <a:lnTo>
                  <a:pt x="4401" y="600"/>
                </a:lnTo>
                <a:lnTo>
                  <a:pt x="4413" y="592"/>
                </a:lnTo>
                <a:lnTo>
                  <a:pt x="4426" y="584"/>
                </a:lnTo>
                <a:lnTo>
                  <a:pt x="4437" y="576"/>
                </a:lnTo>
                <a:lnTo>
                  <a:pt x="4449" y="567"/>
                </a:lnTo>
                <a:lnTo>
                  <a:pt x="4459" y="556"/>
                </a:lnTo>
                <a:lnTo>
                  <a:pt x="4470" y="548"/>
                </a:lnTo>
                <a:lnTo>
                  <a:pt x="4475" y="534"/>
                </a:lnTo>
                <a:lnTo>
                  <a:pt x="4479" y="519"/>
                </a:lnTo>
                <a:lnTo>
                  <a:pt x="4483" y="505"/>
                </a:lnTo>
                <a:lnTo>
                  <a:pt x="4490" y="489"/>
                </a:lnTo>
                <a:lnTo>
                  <a:pt x="4500" y="481"/>
                </a:lnTo>
                <a:lnTo>
                  <a:pt x="4514" y="473"/>
                </a:lnTo>
                <a:lnTo>
                  <a:pt x="4525" y="466"/>
                </a:lnTo>
                <a:lnTo>
                  <a:pt x="4537" y="457"/>
                </a:lnTo>
                <a:lnTo>
                  <a:pt x="4548" y="448"/>
                </a:lnTo>
                <a:lnTo>
                  <a:pt x="4561" y="439"/>
                </a:lnTo>
                <a:lnTo>
                  <a:pt x="4571" y="432"/>
                </a:lnTo>
                <a:lnTo>
                  <a:pt x="4581" y="424"/>
                </a:lnTo>
                <a:lnTo>
                  <a:pt x="4595" y="420"/>
                </a:lnTo>
                <a:lnTo>
                  <a:pt x="4609" y="416"/>
                </a:lnTo>
                <a:lnTo>
                  <a:pt x="4622" y="412"/>
                </a:lnTo>
                <a:lnTo>
                  <a:pt x="4634" y="408"/>
                </a:lnTo>
                <a:lnTo>
                  <a:pt x="4648" y="403"/>
                </a:lnTo>
                <a:lnTo>
                  <a:pt x="4660" y="400"/>
                </a:lnTo>
                <a:lnTo>
                  <a:pt x="4672" y="395"/>
                </a:lnTo>
                <a:lnTo>
                  <a:pt x="4685" y="392"/>
                </a:lnTo>
                <a:lnTo>
                  <a:pt x="4692" y="384"/>
                </a:lnTo>
                <a:lnTo>
                  <a:pt x="4698" y="375"/>
                </a:lnTo>
                <a:lnTo>
                  <a:pt x="4704" y="368"/>
                </a:lnTo>
                <a:lnTo>
                  <a:pt x="4710" y="359"/>
                </a:lnTo>
                <a:lnTo>
                  <a:pt x="4716" y="351"/>
                </a:lnTo>
                <a:lnTo>
                  <a:pt x="4722" y="342"/>
                </a:lnTo>
                <a:lnTo>
                  <a:pt x="4728" y="333"/>
                </a:lnTo>
                <a:lnTo>
                  <a:pt x="4735" y="324"/>
                </a:lnTo>
                <a:lnTo>
                  <a:pt x="4745" y="318"/>
                </a:lnTo>
                <a:lnTo>
                  <a:pt x="4755" y="311"/>
                </a:lnTo>
                <a:lnTo>
                  <a:pt x="4764" y="305"/>
                </a:lnTo>
                <a:lnTo>
                  <a:pt x="4773" y="298"/>
                </a:lnTo>
                <a:lnTo>
                  <a:pt x="4784" y="291"/>
                </a:lnTo>
                <a:lnTo>
                  <a:pt x="4793" y="284"/>
                </a:lnTo>
                <a:lnTo>
                  <a:pt x="4802" y="277"/>
                </a:lnTo>
                <a:lnTo>
                  <a:pt x="4810" y="269"/>
                </a:lnTo>
                <a:lnTo>
                  <a:pt x="4816" y="274"/>
                </a:lnTo>
                <a:lnTo>
                  <a:pt x="4824" y="279"/>
                </a:lnTo>
                <a:lnTo>
                  <a:pt x="4831" y="285"/>
                </a:lnTo>
                <a:lnTo>
                  <a:pt x="4835" y="290"/>
                </a:lnTo>
                <a:lnTo>
                  <a:pt x="4845" y="282"/>
                </a:lnTo>
                <a:lnTo>
                  <a:pt x="4856" y="274"/>
                </a:lnTo>
                <a:lnTo>
                  <a:pt x="4865" y="266"/>
                </a:lnTo>
                <a:lnTo>
                  <a:pt x="4876" y="258"/>
                </a:lnTo>
                <a:lnTo>
                  <a:pt x="4885" y="248"/>
                </a:lnTo>
                <a:lnTo>
                  <a:pt x="4895" y="239"/>
                </a:lnTo>
                <a:lnTo>
                  <a:pt x="4906" y="231"/>
                </a:lnTo>
                <a:lnTo>
                  <a:pt x="4916" y="222"/>
                </a:lnTo>
                <a:lnTo>
                  <a:pt x="4904" y="228"/>
                </a:lnTo>
                <a:lnTo>
                  <a:pt x="4893" y="234"/>
                </a:lnTo>
                <a:lnTo>
                  <a:pt x="4881" y="241"/>
                </a:lnTo>
                <a:lnTo>
                  <a:pt x="4867" y="245"/>
                </a:lnTo>
                <a:lnTo>
                  <a:pt x="4856" y="251"/>
                </a:lnTo>
                <a:lnTo>
                  <a:pt x="4845" y="256"/>
                </a:lnTo>
                <a:lnTo>
                  <a:pt x="4833" y="261"/>
                </a:lnTo>
                <a:lnTo>
                  <a:pt x="4821" y="266"/>
                </a:lnTo>
                <a:lnTo>
                  <a:pt x="4832" y="241"/>
                </a:lnTo>
                <a:lnTo>
                  <a:pt x="4841" y="218"/>
                </a:lnTo>
                <a:lnTo>
                  <a:pt x="4847" y="194"/>
                </a:lnTo>
                <a:lnTo>
                  <a:pt x="4852" y="171"/>
                </a:lnTo>
                <a:lnTo>
                  <a:pt x="4844" y="178"/>
                </a:lnTo>
                <a:lnTo>
                  <a:pt x="4835" y="187"/>
                </a:lnTo>
                <a:lnTo>
                  <a:pt x="4826" y="195"/>
                </a:lnTo>
                <a:lnTo>
                  <a:pt x="4815" y="203"/>
                </a:lnTo>
                <a:lnTo>
                  <a:pt x="4806" y="211"/>
                </a:lnTo>
                <a:lnTo>
                  <a:pt x="4796" y="219"/>
                </a:lnTo>
                <a:lnTo>
                  <a:pt x="4785" y="228"/>
                </a:lnTo>
                <a:lnTo>
                  <a:pt x="4775" y="237"/>
                </a:lnTo>
                <a:lnTo>
                  <a:pt x="4768" y="247"/>
                </a:lnTo>
                <a:lnTo>
                  <a:pt x="4759" y="256"/>
                </a:lnTo>
                <a:lnTo>
                  <a:pt x="4752" y="266"/>
                </a:lnTo>
                <a:lnTo>
                  <a:pt x="4745" y="277"/>
                </a:lnTo>
                <a:lnTo>
                  <a:pt x="4738" y="288"/>
                </a:lnTo>
                <a:lnTo>
                  <a:pt x="4729" y="298"/>
                </a:lnTo>
                <a:lnTo>
                  <a:pt x="4722" y="309"/>
                </a:lnTo>
                <a:lnTo>
                  <a:pt x="4715" y="320"/>
                </a:lnTo>
                <a:lnTo>
                  <a:pt x="4708" y="324"/>
                </a:lnTo>
                <a:lnTo>
                  <a:pt x="4701" y="329"/>
                </a:lnTo>
                <a:lnTo>
                  <a:pt x="4694" y="335"/>
                </a:lnTo>
                <a:lnTo>
                  <a:pt x="4687" y="341"/>
                </a:lnTo>
                <a:lnTo>
                  <a:pt x="4679" y="346"/>
                </a:lnTo>
                <a:lnTo>
                  <a:pt x="4673" y="351"/>
                </a:lnTo>
                <a:lnTo>
                  <a:pt x="4667" y="355"/>
                </a:lnTo>
                <a:lnTo>
                  <a:pt x="4660" y="360"/>
                </a:lnTo>
                <a:lnTo>
                  <a:pt x="4655" y="359"/>
                </a:lnTo>
                <a:lnTo>
                  <a:pt x="4650" y="358"/>
                </a:lnTo>
                <a:lnTo>
                  <a:pt x="4646" y="355"/>
                </a:lnTo>
                <a:lnTo>
                  <a:pt x="4641" y="354"/>
                </a:lnTo>
                <a:lnTo>
                  <a:pt x="4636" y="353"/>
                </a:lnTo>
                <a:lnTo>
                  <a:pt x="4632" y="351"/>
                </a:lnTo>
                <a:lnTo>
                  <a:pt x="4626" y="349"/>
                </a:lnTo>
                <a:lnTo>
                  <a:pt x="4622" y="349"/>
                </a:lnTo>
                <a:lnTo>
                  <a:pt x="4600" y="366"/>
                </a:lnTo>
                <a:lnTo>
                  <a:pt x="4579" y="384"/>
                </a:lnTo>
                <a:lnTo>
                  <a:pt x="4558" y="402"/>
                </a:lnTo>
                <a:lnTo>
                  <a:pt x="4536" y="420"/>
                </a:lnTo>
                <a:lnTo>
                  <a:pt x="4514" y="438"/>
                </a:lnTo>
                <a:lnTo>
                  <a:pt x="4490" y="457"/>
                </a:lnTo>
                <a:lnTo>
                  <a:pt x="4469" y="476"/>
                </a:lnTo>
                <a:lnTo>
                  <a:pt x="4445" y="494"/>
                </a:lnTo>
                <a:lnTo>
                  <a:pt x="4435" y="499"/>
                </a:lnTo>
                <a:lnTo>
                  <a:pt x="4426" y="505"/>
                </a:lnTo>
                <a:lnTo>
                  <a:pt x="4415" y="509"/>
                </a:lnTo>
                <a:lnTo>
                  <a:pt x="4406" y="515"/>
                </a:lnTo>
                <a:lnTo>
                  <a:pt x="4396" y="519"/>
                </a:lnTo>
                <a:lnTo>
                  <a:pt x="4388" y="524"/>
                </a:lnTo>
                <a:lnTo>
                  <a:pt x="4378" y="530"/>
                </a:lnTo>
                <a:lnTo>
                  <a:pt x="4369" y="535"/>
                </a:lnTo>
                <a:lnTo>
                  <a:pt x="4363" y="533"/>
                </a:lnTo>
                <a:lnTo>
                  <a:pt x="4357" y="530"/>
                </a:lnTo>
                <a:lnTo>
                  <a:pt x="4351" y="528"/>
                </a:lnTo>
                <a:lnTo>
                  <a:pt x="4347" y="524"/>
                </a:lnTo>
                <a:lnTo>
                  <a:pt x="4340" y="522"/>
                </a:lnTo>
                <a:lnTo>
                  <a:pt x="4336" y="519"/>
                </a:lnTo>
                <a:lnTo>
                  <a:pt x="4330" y="517"/>
                </a:lnTo>
                <a:lnTo>
                  <a:pt x="4324" y="515"/>
                </a:lnTo>
                <a:lnTo>
                  <a:pt x="4299" y="533"/>
                </a:lnTo>
                <a:lnTo>
                  <a:pt x="4274" y="549"/>
                </a:lnTo>
                <a:lnTo>
                  <a:pt x="4249" y="568"/>
                </a:lnTo>
                <a:lnTo>
                  <a:pt x="4224" y="585"/>
                </a:lnTo>
                <a:lnTo>
                  <a:pt x="4201" y="602"/>
                </a:lnTo>
                <a:lnTo>
                  <a:pt x="4174" y="620"/>
                </a:lnTo>
                <a:lnTo>
                  <a:pt x="4150" y="637"/>
                </a:lnTo>
                <a:lnTo>
                  <a:pt x="4125" y="654"/>
                </a:lnTo>
                <a:lnTo>
                  <a:pt x="4099" y="671"/>
                </a:lnTo>
                <a:lnTo>
                  <a:pt x="4075" y="691"/>
                </a:lnTo>
                <a:lnTo>
                  <a:pt x="4050" y="707"/>
                </a:lnTo>
                <a:lnTo>
                  <a:pt x="4025" y="725"/>
                </a:lnTo>
                <a:lnTo>
                  <a:pt x="4000" y="742"/>
                </a:lnTo>
                <a:lnTo>
                  <a:pt x="3975" y="760"/>
                </a:lnTo>
                <a:lnTo>
                  <a:pt x="3950" y="778"/>
                </a:lnTo>
                <a:lnTo>
                  <a:pt x="3925" y="797"/>
                </a:lnTo>
                <a:lnTo>
                  <a:pt x="3918" y="788"/>
                </a:lnTo>
                <a:lnTo>
                  <a:pt x="3912" y="781"/>
                </a:lnTo>
                <a:lnTo>
                  <a:pt x="3906" y="771"/>
                </a:lnTo>
                <a:lnTo>
                  <a:pt x="3902" y="761"/>
                </a:lnTo>
                <a:lnTo>
                  <a:pt x="3912" y="754"/>
                </a:lnTo>
                <a:lnTo>
                  <a:pt x="3920" y="747"/>
                </a:lnTo>
                <a:lnTo>
                  <a:pt x="3931" y="738"/>
                </a:lnTo>
                <a:lnTo>
                  <a:pt x="3939" y="730"/>
                </a:lnTo>
                <a:lnTo>
                  <a:pt x="3949" y="721"/>
                </a:lnTo>
                <a:lnTo>
                  <a:pt x="3958" y="713"/>
                </a:lnTo>
                <a:lnTo>
                  <a:pt x="3969" y="704"/>
                </a:lnTo>
                <a:lnTo>
                  <a:pt x="3979" y="696"/>
                </a:lnTo>
                <a:lnTo>
                  <a:pt x="3986" y="694"/>
                </a:lnTo>
                <a:lnTo>
                  <a:pt x="3993" y="691"/>
                </a:lnTo>
                <a:lnTo>
                  <a:pt x="4000" y="691"/>
                </a:lnTo>
                <a:lnTo>
                  <a:pt x="4009" y="688"/>
                </a:lnTo>
                <a:lnTo>
                  <a:pt x="4017" y="685"/>
                </a:lnTo>
                <a:lnTo>
                  <a:pt x="4024" y="683"/>
                </a:lnTo>
                <a:lnTo>
                  <a:pt x="4033" y="680"/>
                </a:lnTo>
                <a:lnTo>
                  <a:pt x="4040" y="677"/>
                </a:lnTo>
                <a:lnTo>
                  <a:pt x="4044" y="670"/>
                </a:lnTo>
                <a:lnTo>
                  <a:pt x="4049" y="663"/>
                </a:lnTo>
                <a:lnTo>
                  <a:pt x="4054" y="657"/>
                </a:lnTo>
                <a:lnTo>
                  <a:pt x="4060" y="650"/>
                </a:lnTo>
                <a:lnTo>
                  <a:pt x="4064" y="643"/>
                </a:lnTo>
                <a:lnTo>
                  <a:pt x="4069" y="636"/>
                </a:lnTo>
                <a:lnTo>
                  <a:pt x="4075" y="628"/>
                </a:lnTo>
                <a:lnTo>
                  <a:pt x="4080" y="621"/>
                </a:lnTo>
                <a:lnTo>
                  <a:pt x="4090" y="617"/>
                </a:lnTo>
                <a:lnTo>
                  <a:pt x="4098" y="611"/>
                </a:lnTo>
                <a:lnTo>
                  <a:pt x="4109" y="606"/>
                </a:lnTo>
                <a:lnTo>
                  <a:pt x="4119" y="600"/>
                </a:lnTo>
                <a:lnTo>
                  <a:pt x="4127" y="595"/>
                </a:lnTo>
                <a:lnTo>
                  <a:pt x="4136" y="590"/>
                </a:lnTo>
                <a:lnTo>
                  <a:pt x="4146" y="584"/>
                </a:lnTo>
                <a:lnTo>
                  <a:pt x="4156" y="579"/>
                </a:lnTo>
                <a:lnTo>
                  <a:pt x="4163" y="565"/>
                </a:lnTo>
                <a:lnTo>
                  <a:pt x="4170" y="552"/>
                </a:lnTo>
                <a:lnTo>
                  <a:pt x="4176" y="539"/>
                </a:lnTo>
                <a:lnTo>
                  <a:pt x="4184" y="524"/>
                </a:lnTo>
                <a:lnTo>
                  <a:pt x="4190" y="517"/>
                </a:lnTo>
                <a:lnTo>
                  <a:pt x="4198" y="511"/>
                </a:lnTo>
                <a:lnTo>
                  <a:pt x="4205" y="505"/>
                </a:lnTo>
                <a:lnTo>
                  <a:pt x="4211" y="499"/>
                </a:lnTo>
                <a:lnTo>
                  <a:pt x="4218" y="493"/>
                </a:lnTo>
                <a:lnTo>
                  <a:pt x="4226" y="487"/>
                </a:lnTo>
                <a:lnTo>
                  <a:pt x="4234" y="481"/>
                </a:lnTo>
                <a:lnTo>
                  <a:pt x="4242" y="475"/>
                </a:lnTo>
                <a:lnTo>
                  <a:pt x="4235" y="473"/>
                </a:lnTo>
                <a:lnTo>
                  <a:pt x="4230" y="470"/>
                </a:lnTo>
                <a:lnTo>
                  <a:pt x="4224" y="468"/>
                </a:lnTo>
                <a:lnTo>
                  <a:pt x="4218" y="464"/>
                </a:lnTo>
                <a:lnTo>
                  <a:pt x="4213" y="462"/>
                </a:lnTo>
                <a:lnTo>
                  <a:pt x="4207" y="458"/>
                </a:lnTo>
                <a:lnTo>
                  <a:pt x="4202" y="455"/>
                </a:lnTo>
                <a:lnTo>
                  <a:pt x="4196" y="450"/>
                </a:lnTo>
                <a:lnTo>
                  <a:pt x="4207" y="442"/>
                </a:lnTo>
                <a:lnTo>
                  <a:pt x="4217" y="433"/>
                </a:lnTo>
                <a:lnTo>
                  <a:pt x="4228" y="425"/>
                </a:lnTo>
                <a:lnTo>
                  <a:pt x="4241" y="416"/>
                </a:lnTo>
                <a:lnTo>
                  <a:pt x="4252" y="408"/>
                </a:lnTo>
                <a:lnTo>
                  <a:pt x="4263" y="400"/>
                </a:lnTo>
                <a:lnTo>
                  <a:pt x="4274" y="392"/>
                </a:lnTo>
                <a:lnTo>
                  <a:pt x="4286" y="383"/>
                </a:lnTo>
                <a:lnTo>
                  <a:pt x="4291" y="377"/>
                </a:lnTo>
                <a:lnTo>
                  <a:pt x="4299" y="372"/>
                </a:lnTo>
                <a:lnTo>
                  <a:pt x="4307" y="366"/>
                </a:lnTo>
                <a:lnTo>
                  <a:pt x="4312" y="359"/>
                </a:lnTo>
                <a:lnTo>
                  <a:pt x="4321" y="349"/>
                </a:lnTo>
                <a:lnTo>
                  <a:pt x="4332" y="337"/>
                </a:lnTo>
                <a:lnTo>
                  <a:pt x="4339" y="326"/>
                </a:lnTo>
                <a:lnTo>
                  <a:pt x="4347" y="315"/>
                </a:lnTo>
                <a:lnTo>
                  <a:pt x="4356" y="304"/>
                </a:lnTo>
                <a:lnTo>
                  <a:pt x="4364" y="293"/>
                </a:lnTo>
                <a:lnTo>
                  <a:pt x="4374" y="282"/>
                </a:lnTo>
                <a:lnTo>
                  <a:pt x="4382" y="271"/>
                </a:lnTo>
                <a:lnTo>
                  <a:pt x="4360" y="281"/>
                </a:lnTo>
                <a:lnTo>
                  <a:pt x="4341" y="290"/>
                </a:lnTo>
                <a:lnTo>
                  <a:pt x="4320" y="299"/>
                </a:lnTo>
                <a:lnTo>
                  <a:pt x="4301" y="308"/>
                </a:lnTo>
                <a:lnTo>
                  <a:pt x="4279" y="318"/>
                </a:lnTo>
                <a:lnTo>
                  <a:pt x="4259" y="327"/>
                </a:lnTo>
                <a:lnTo>
                  <a:pt x="4238" y="338"/>
                </a:lnTo>
                <a:lnTo>
                  <a:pt x="4217" y="349"/>
                </a:lnTo>
                <a:lnTo>
                  <a:pt x="4213" y="346"/>
                </a:lnTo>
                <a:lnTo>
                  <a:pt x="4209" y="343"/>
                </a:lnTo>
                <a:lnTo>
                  <a:pt x="4204" y="342"/>
                </a:lnTo>
                <a:lnTo>
                  <a:pt x="4200" y="339"/>
                </a:lnTo>
                <a:lnTo>
                  <a:pt x="4194" y="338"/>
                </a:lnTo>
                <a:lnTo>
                  <a:pt x="4189" y="335"/>
                </a:lnTo>
                <a:lnTo>
                  <a:pt x="4185" y="335"/>
                </a:lnTo>
                <a:lnTo>
                  <a:pt x="4180" y="334"/>
                </a:lnTo>
                <a:lnTo>
                  <a:pt x="4186" y="328"/>
                </a:lnTo>
                <a:lnTo>
                  <a:pt x="4194" y="322"/>
                </a:lnTo>
                <a:lnTo>
                  <a:pt x="4200" y="316"/>
                </a:lnTo>
                <a:lnTo>
                  <a:pt x="4205" y="309"/>
                </a:lnTo>
                <a:lnTo>
                  <a:pt x="4211" y="303"/>
                </a:lnTo>
                <a:lnTo>
                  <a:pt x="4217" y="297"/>
                </a:lnTo>
                <a:lnTo>
                  <a:pt x="4224" y="291"/>
                </a:lnTo>
                <a:lnTo>
                  <a:pt x="4232" y="285"/>
                </a:lnTo>
                <a:lnTo>
                  <a:pt x="4251" y="271"/>
                </a:lnTo>
                <a:lnTo>
                  <a:pt x="4272" y="253"/>
                </a:lnTo>
                <a:lnTo>
                  <a:pt x="4297" y="234"/>
                </a:lnTo>
                <a:lnTo>
                  <a:pt x="4324" y="214"/>
                </a:lnTo>
                <a:lnTo>
                  <a:pt x="4351" y="195"/>
                </a:lnTo>
                <a:lnTo>
                  <a:pt x="4376" y="177"/>
                </a:lnTo>
                <a:lnTo>
                  <a:pt x="4398" y="162"/>
                </a:lnTo>
                <a:lnTo>
                  <a:pt x="4414" y="147"/>
                </a:lnTo>
                <a:lnTo>
                  <a:pt x="4419" y="124"/>
                </a:lnTo>
                <a:lnTo>
                  <a:pt x="4415" y="112"/>
                </a:lnTo>
                <a:lnTo>
                  <a:pt x="4408" y="112"/>
                </a:lnTo>
                <a:lnTo>
                  <a:pt x="4399" y="119"/>
                </a:lnTo>
                <a:lnTo>
                  <a:pt x="4387" y="127"/>
                </a:lnTo>
                <a:lnTo>
                  <a:pt x="4376" y="135"/>
                </a:lnTo>
                <a:lnTo>
                  <a:pt x="4367" y="140"/>
                </a:lnTo>
                <a:lnTo>
                  <a:pt x="4360" y="139"/>
                </a:lnTo>
                <a:lnTo>
                  <a:pt x="4351" y="146"/>
                </a:lnTo>
                <a:lnTo>
                  <a:pt x="4338" y="152"/>
                </a:lnTo>
                <a:lnTo>
                  <a:pt x="4322" y="160"/>
                </a:lnTo>
                <a:lnTo>
                  <a:pt x="4307" y="165"/>
                </a:lnTo>
                <a:lnTo>
                  <a:pt x="4291" y="173"/>
                </a:lnTo>
                <a:lnTo>
                  <a:pt x="4275" y="178"/>
                </a:lnTo>
                <a:lnTo>
                  <a:pt x="4261" y="187"/>
                </a:lnTo>
                <a:lnTo>
                  <a:pt x="4251" y="194"/>
                </a:lnTo>
                <a:lnTo>
                  <a:pt x="4247" y="203"/>
                </a:lnTo>
                <a:lnTo>
                  <a:pt x="4244" y="213"/>
                </a:lnTo>
                <a:lnTo>
                  <a:pt x="4241" y="223"/>
                </a:lnTo>
                <a:lnTo>
                  <a:pt x="4238" y="234"/>
                </a:lnTo>
                <a:lnTo>
                  <a:pt x="4232" y="239"/>
                </a:lnTo>
                <a:lnTo>
                  <a:pt x="4227" y="245"/>
                </a:lnTo>
                <a:lnTo>
                  <a:pt x="4221" y="251"/>
                </a:lnTo>
                <a:lnTo>
                  <a:pt x="4215" y="256"/>
                </a:lnTo>
                <a:lnTo>
                  <a:pt x="4207" y="262"/>
                </a:lnTo>
                <a:lnTo>
                  <a:pt x="4202" y="267"/>
                </a:lnTo>
                <a:lnTo>
                  <a:pt x="4194" y="273"/>
                </a:lnTo>
                <a:lnTo>
                  <a:pt x="4186" y="278"/>
                </a:lnTo>
                <a:lnTo>
                  <a:pt x="4180" y="271"/>
                </a:lnTo>
                <a:lnTo>
                  <a:pt x="4176" y="264"/>
                </a:lnTo>
                <a:lnTo>
                  <a:pt x="4170" y="258"/>
                </a:lnTo>
                <a:lnTo>
                  <a:pt x="4163" y="251"/>
                </a:lnTo>
                <a:lnTo>
                  <a:pt x="4158" y="244"/>
                </a:lnTo>
                <a:lnTo>
                  <a:pt x="4150" y="238"/>
                </a:lnTo>
                <a:lnTo>
                  <a:pt x="4143" y="232"/>
                </a:lnTo>
                <a:lnTo>
                  <a:pt x="4138" y="225"/>
                </a:lnTo>
                <a:lnTo>
                  <a:pt x="4146" y="212"/>
                </a:lnTo>
                <a:lnTo>
                  <a:pt x="4154" y="200"/>
                </a:lnTo>
                <a:lnTo>
                  <a:pt x="4161" y="187"/>
                </a:lnTo>
                <a:lnTo>
                  <a:pt x="4170" y="173"/>
                </a:lnTo>
                <a:lnTo>
                  <a:pt x="4180" y="167"/>
                </a:lnTo>
                <a:lnTo>
                  <a:pt x="4188" y="160"/>
                </a:lnTo>
                <a:lnTo>
                  <a:pt x="4197" y="152"/>
                </a:lnTo>
                <a:lnTo>
                  <a:pt x="4205" y="145"/>
                </a:lnTo>
                <a:lnTo>
                  <a:pt x="4214" y="137"/>
                </a:lnTo>
                <a:lnTo>
                  <a:pt x="4222" y="130"/>
                </a:lnTo>
                <a:lnTo>
                  <a:pt x="4230" y="123"/>
                </a:lnTo>
                <a:lnTo>
                  <a:pt x="4238" y="116"/>
                </a:lnTo>
                <a:lnTo>
                  <a:pt x="4245" y="106"/>
                </a:lnTo>
                <a:lnTo>
                  <a:pt x="4249" y="99"/>
                </a:lnTo>
                <a:lnTo>
                  <a:pt x="4255" y="90"/>
                </a:lnTo>
                <a:lnTo>
                  <a:pt x="4260" y="82"/>
                </a:lnTo>
                <a:lnTo>
                  <a:pt x="4266" y="73"/>
                </a:lnTo>
                <a:lnTo>
                  <a:pt x="4271" y="65"/>
                </a:lnTo>
                <a:lnTo>
                  <a:pt x="4277" y="55"/>
                </a:lnTo>
                <a:lnTo>
                  <a:pt x="4284" y="47"/>
                </a:lnTo>
                <a:lnTo>
                  <a:pt x="4274" y="48"/>
                </a:lnTo>
                <a:lnTo>
                  <a:pt x="4264" y="50"/>
                </a:lnTo>
                <a:lnTo>
                  <a:pt x="4255" y="52"/>
                </a:lnTo>
                <a:lnTo>
                  <a:pt x="4245" y="52"/>
                </a:lnTo>
                <a:lnTo>
                  <a:pt x="4234" y="55"/>
                </a:lnTo>
                <a:lnTo>
                  <a:pt x="4224" y="56"/>
                </a:lnTo>
                <a:lnTo>
                  <a:pt x="4214" y="59"/>
                </a:lnTo>
                <a:lnTo>
                  <a:pt x="4204" y="60"/>
                </a:lnTo>
                <a:lnTo>
                  <a:pt x="4207" y="44"/>
                </a:lnTo>
                <a:lnTo>
                  <a:pt x="4211" y="30"/>
                </a:lnTo>
                <a:lnTo>
                  <a:pt x="4213" y="16"/>
                </a:lnTo>
                <a:lnTo>
                  <a:pt x="4215" y="0"/>
                </a:lnTo>
                <a:lnTo>
                  <a:pt x="4205" y="7"/>
                </a:lnTo>
                <a:lnTo>
                  <a:pt x="4196" y="13"/>
                </a:lnTo>
                <a:lnTo>
                  <a:pt x="4185" y="19"/>
                </a:lnTo>
                <a:lnTo>
                  <a:pt x="4176" y="26"/>
                </a:lnTo>
                <a:lnTo>
                  <a:pt x="4167" y="33"/>
                </a:lnTo>
                <a:lnTo>
                  <a:pt x="4158" y="41"/>
                </a:lnTo>
                <a:lnTo>
                  <a:pt x="4150" y="48"/>
                </a:lnTo>
                <a:lnTo>
                  <a:pt x="4139" y="55"/>
                </a:lnTo>
                <a:lnTo>
                  <a:pt x="4134" y="63"/>
                </a:lnTo>
                <a:lnTo>
                  <a:pt x="4129" y="73"/>
                </a:lnTo>
                <a:lnTo>
                  <a:pt x="4123" y="82"/>
                </a:lnTo>
                <a:lnTo>
                  <a:pt x="4119" y="92"/>
                </a:lnTo>
                <a:lnTo>
                  <a:pt x="4113" y="102"/>
                </a:lnTo>
                <a:lnTo>
                  <a:pt x="4108" y="112"/>
                </a:lnTo>
                <a:lnTo>
                  <a:pt x="4101" y="123"/>
                </a:lnTo>
                <a:lnTo>
                  <a:pt x="4097" y="134"/>
                </a:lnTo>
                <a:lnTo>
                  <a:pt x="4088" y="134"/>
                </a:lnTo>
                <a:lnTo>
                  <a:pt x="4080" y="134"/>
                </a:lnTo>
                <a:lnTo>
                  <a:pt x="4071" y="134"/>
                </a:lnTo>
                <a:lnTo>
                  <a:pt x="4064" y="134"/>
                </a:lnTo>
                <a:lnTo>
                  <a:pt x="4054" y="134"/>
                </a:lnTo>
                <a:lnTo>
                  <a:pt x="4047" y="134"/>
                </a:lnTo>
                <a:lnTo>
                  <a:pt x="4038" y="134"/>
                </a:lnTo>
                <a:lnTo>
                  <a:pt x="4030" y="133"/>
                </a:lnTo>
                <a:lnTo>
                  <a:pt x="4016" y="143"/>
                </a:lnTo>
                <a:lnTo>
                  <a:pt x="4000" y="154"/>
                </a:lnTo>
                <a:lnTo>
                  <a:pt x="3986" y="165"/>
                </a:lnTo>
                <a:lnTo>
                  <a:pt x="3972" y="175"/>
                </a:lnTo>
                <a:lnTo>
                  <a:pt x="3956" y="186"/>
                </a:lnTo>
                <a:lnTo>
                  <a:pt x="3941" y="197"/>
                </a:lnTo>
                <a:lnTo>
                  <a:pt x="3928" y="207"/>
                </a:lnTo>
                <a:lnTo>
                  <a:pt x="3910" y="218"/>
                </a:lnTo>
                <a:lnTo>
                  <a:pt x="3863" y="251"/>
                </a:lnTo>
                <a:lnTo>
                  <a:pt x="3815" y="280"/>
                </a:lnTo>
                <a:lnTo>
                  <a:pt x="3768" y="307"/>
                </a:lnTo>
                <a:lnTo>
                  <a:pt x="3720" y="331"/>
                </a:lnTo>
                <a:lnTo>
                  <a:pt x="3672" y="357"/>
                </a:lnTo>
                <a:lnTo>
                  <a:pt x="3625" y="381"/>
                </a:lnTo>
                <a:lnTo>
                  <a:pt x="3577" y="405"/>
                </a:lnTo>
                <a:lnTo>
                  <a:pt x="3530" y="428"/>
                </a:lnTo>
                <a:lnTo>
                  <a:pt x="3483" y="456"/>
                </a:lnTo>
                <a:lnTo>
                  <a:pt x="3436" y="485"/>
                </a:lnTo>
                <a:lnTo>
                  <a:pt x="3389" y="516"/>
                </a:lnTo>
                <a:lnTo>
                  <a:pt x="3342" y="549"/>
                </a:lnTo>
                <a:lnTo>
                  <a:pt x="3296" y="590"/>
                </a:lnTo>
                <a:lnTo>
                  <a:pt x="3250" y="633"/>
                </a:lnTo>
                <a:lnTo>
                  <a:pt x="3203" y="682"/>
                </a:lnTo>
                <a:lnTo>
                  <a:pt x="3155" y="736"/>
                </a:lnTo>
                <a:lnTo>
                  <a:pt x="3112" y="764"/>
                </a:lnTo>
                <a:lnTo>
                  <a:pt x="3078" y="786"/>
                </a:lnTo>
                <a:lnTo>
                  <a:pt x="3052" y="803"/>
                </a:lnTo>
                <a:lnTo>
                  <a:pt x="3036" y="812"/>
                </a:lnTo>
                <a:lnTo>
                  <a:pt x="3028" y="815"/>
                </a:lnTo>
                <a:lnTo>
                  <a:pt x="3026" y="814"/>
                </a:lnTo>
                <a:lnTo>
                  <a:pt x="3028" y="809"/>
                </a:lnTo>
                <a:lnTo>
                  <a:pt x="3035" y="800"/>
                </a:lnTo>
                <a:lnTo>
                  <a:pt x="3044" y="790"/>
                </a:lnTo>
                <a:lnTo>
                  <a:pt x="3055" y="778"/>
                </a:lnTo>
                <a:lnTo>
                  <a:pt x="3070" y="766"/>
                </a:lnTo>
                <a:lnTo>
                  <a:pt x="3083" y="754"/>
                </a:lnTo>
                <a:lnTo>
                  <a:pt x="3094" y="743"/>
                </a:lnTo>
                <a:lnTo>
                  <a:pt x="3104" y="732"/>
                </a:lnTo>
                <a:lnTo>
                  <a:pt x="3112" y="725"/>
                </a:lnTo>
                <a:lnTo>
                  <a:pt x="3114" y="721"/>
                </a:lnTo>
                <a:lnTo>
                  <a:pt x="3136" y="710"/>
                </a:lnTo>
                <a:lnTo>
                  <a:pt x="3154" y="700"/>
                </a:lnTo>
                <a:lnTo>
                  <a:pt x="3167" y="691"/>
                </a:lnTo>
                <a:lnTo>
                  <a:pt x="3175" y="685"/>
                </a:lnTo>
                <a:lnTo>
                  <a:pt x="3180" y="682"/>
                </a:lnTo>
                <a:lnTo>
                  <a:pt x="3183" y="677"/>
                </a:lnTo>
                <a:lnTo>
                  <a:pt x="3180" y="675"/>
                </a:lnTo>
                <a:lnTo>
                  <a:pt x="3177" y="674"/>
                </a:lnTo>
                <a:lnTo>
                  <a:pt x="3173" y="674"/>
                </a:lnTo>
                <a:lnTo>
                  <a:pt x="3169" y="674"/>
                </a:lnTo>
                <a:lnTo>
                  <a:pt x="3164" y="673"/>
                </a:lnTo>
                <a:lnTo>
                  <a:pt x="3160" y="671"/>
                </a:lnTo>
                <a:lnTo>
                  <a:pt x="3158" y="669"/>
                </a:lnTo>
                <a:lnTo>
                  <a:pt x="3158" y="666"/>
                </a:lnTo>
                <a:lnTo>
                  <a:pt x="3160" y="660"/>
                </a:lnTo>
                <a:lnTo>
                  <a:pt x="3165" y="654"/>
                </a:lnTo>
                <a:lnTo>
                  <a:pt x="3173" y="645"/>
                </a:lnTo>
                <a:lnTo>
                  <a:pt x="3185" y="633"/>
                </a:lnTo>
                <a:lnTo>
                  <a:pt x="3203" y="620"/>
                </a:lnTo>
                <a:lnTo>
                  <a:pt x="3225" y="603"/>
                </a:lnTo>
                <a:lnTo>
                  <a:pt x="3253" y="584"/>
                </a:lnTo>
                <a:lnTo>
                  <a:pt x="3287" y="560"/>
                </a:lnTo>
                <a:lnTo>
                  <a:pt x="3327" y="533"/>
                </a:lnTo>
                <a:lnTo>
                  <a:pt x="3375" y="503"/>
                </a:lnTo>
                <a:lnTo>
                  <a:pt x="3432" y="466"/>
                </a:lnTo>
                <a:lnTo>
                  <a:pt x="3495" y="426"/>
                </a:lnTo>
                <a:lnTo>
                  <a:pt x="3569" y="383"/>
                </a:lnTo>
                <a:lnTo>
                  <a:pt x="3651" y="331"/>
                </a:lnTo>
                <a:lnTo>
                  <a:pt x="3744" y="278"/>
                </a:lnTo>
                <a:lnTo>
                  <a:pt x="3849" y="216"/>
                </a:lnTo>
                <a:lnTo>
                  <a:pt x="3962" y="150"/>
                </a:lnTo>
                <a:lnTo>
                  <a:pt x="3989" y="133"/>
                </a:lnTo>
                <a:lnTo>
                  <a:pt x="4011" y="116"/>
                </a:lnTo>
                <a:lnTo>
                  <a:pt x="4029" y="99"/>
                </a:lnTo>
                <a:lnTo>
                  <a:pt x="4042" y="84"/>
                </a:lnTo>
                <a:lnTo>
                  <a:pt x="4050" y="71"/>
                </a:lnTo>
                <a:lnTo>
                  <a:pt x="4054" y="61"/>
                </a:lnTo>
                <a:lnTo>
                  <a:pt x="4054" y="54"/>
                </a:lnTo>
                <a:lnTo>
                  <a:pt x="4050" y="52"/>
                </a:lnTo>
                <a:lnTo>
                  <a:pt x="4025" y="56"/>
                </a:lnTo>
                <a:lnTo>
                  <a:pt x="3998" y="69"/>
                </a:lnTo>
                <a:lnTo>
                  <a:pt x="3972" y="88"/>
                </a:lnTo>
                <a:lnTo>
                  <a:pt x="3944" y="106"/>
                </a:lnTo>
                <a:lnTo>
                  <a:pt x="3920" y="126"/>
                </a:lnTo>
                <a:lnTo>
                  <a:pt x="3899" y="139"/>
                </a:lnTo>
                <a:lnTo>
                  <a:pt x="3883" y="143"/>
                </a:lnTo>
                <a:lnTo>
                  <a:pt x="3870" y="133"/>
                </a:lnTo>
                <a:lnTo>
                  <a:pt x="3857" y="154"/>
                </a:lnTo>
                <a:lnTo>
                  <a:pt x="3855" y="162"/>
                </a:lnTo>
                <a:lnTo>
                  <a:pt x="3857" y="160"/>
                </a:lnTo>
                <a:lnTo>
                  <a:pt x="3860" y="151"/>
                </a:lnTo>
                <a:lnTo>
                  <a:pt x="3858" y="143"/>
                </a:lnTo>
                <a:lnTo>
                  <a:pt x="3845" y="143"/>
                </a:lnTo>
                <a:lnTo>
                  <a:pt x="3813" y="152"/>
                </a:lnTo>
                <a:lnTo>
                  <a:pt x="3759" y="177"/>
                </a:lnTo>
                <a:lnTo>
                  <a:pt x="3741" y="187"/>
                </a:lnTo>
                <a:lnTo>
                  <a:pt x="3722" y="197"/>
                </a:lnTo>
                <a:lnTo>
                  <a:pt x="3702" y="208"/>
                </a:lnTo>
                <a:lnTo>
                  <a:pt x="3678" y="222"/>
                </a:lnTo>
                <a:lnTo>
                  <a:pt x="3656" y="237"/>
                </a:lnTo>
                <a:lnTo>
                  <a:pt x="3630" y="251"/>
                </a:lnTo>
                <a:lnTo>
                  <a:pt x="3603" y="267"/>
                </a:lnTo>
                <a:lnTo>
                  <a:pt x="3577" y="284"/>
                </a:lnTo>
                <a:lnTo>
                  <a:pt x="3548" y="301"/>
                </a:lnTo>
                <a:lnTo>
                  <a:pt x="3520" y="318"/>
                </a:lnTo>
                <a:lnTo>
                  <a:pt x="3491" y="337"/>
                </a:lnTo>
                <a:lnTo>
                  <a:pt x="3460" y="357"/>
                </a:lnTo>
                <a:lnTo>
                  <a:pt x="3431" y="375"/>
                </a:lnTo>
                <a:lnTo>
                  <a:pt x="3400" y="395"/>
                </a:lnTo>
                <a:lnTo>
                  <a:pt x="3368" y="415"/>
                </a:lnTo>
                <a:lnTo>
                  <a:pt x="3338" y="435"/>
                </a:lnTo>
                <a:lnTo>
                  <a:pt x="3307" y="456"/>
                </a:lnTo>
                <a:lnTo>
                  <a:pt x="3274" y="476"/>
                </a:lnTo>
                <a:lnTo>
                  <a:pt x="3244" y="496"/>
                </a:lnTo>
                <a:lnTo>
                  <a:pt x="3214" y="516"/>
                </a:lnTo>
                <a:lnTo>
                  <a:pt x="3184" y="535"/>
                </a:lnTo>
                <a:lnTo>
                  <a:pt x="3154" y="556"/>
                </a:lnTo>
                <a:lnTo>
                  <a:pt x="3127" y="574"/>
                </a:lnTo>
                <a:lnTo>
                  <a:pt x="3098" y="594"/>
                </a:lnTo>
                <a:lnTo>
                  <a:pt x="3072" y="611"/>
                </a:lnTo>
                <a:lnTo>
                  <a:pt x="3046" y="628"/>
                </a:lnTo>
                <a:lnTo>
                  <a:pt x="3022" y="645"/>
                </a:lnTo>
                <a:lnTo>
                  <a:pt x="2998" y="660"/>
                </a:lnTo>
                <a:lnTo>
                  <a:pt x="2974" y="677"/>
                </a:lnTo>
                <a:lnTo>
                  <a:pt x="2955" y="691"/>
                </a:lnTo>
                <a:lnTo>
                  <a:pt x="2936" y="704"/>
                </a:lnTo>
                <a:lnTo>
                  <a:pt x="2918" y="715"/>
                </a:lnTo>
                <a:lnTo>
                  <a:pt x="2869" y="749"/>
                </a:lnTo>
                <a:lnTo>
                  <a:pt x="2819" y="783"/>
                </a:lnTo>
                <a:lnTo>
                  <a:pt x="2771" y="816"/>
                </a:lnTo>
                <a:lnTo>
                  <a:pt x="2723" y="847"/>
                </a:lnTo>
                <a:lnTo>
                  <a:pt x="2675" y="879"/>
                </a:lnTo>
                <a:lnTo>
                  <a:pt x="2628" y="910"/>
                </a:lnTo>
                <a:lnTo>
                  <a:pt x="2581" y="940"/>
                </a:lnTo>
                <a:lnTo>
                  <a:pt x="2536" y="970"/>
                </a:lnTo>
                <a:lnTo>
                  <a:pt x="2491" y="1000"/>
                </a:lnTo>
                <a:lnTo>
                  <a:pt x="2447" y="1031"/>
                </a:lnTo>
                <a:lnTo>
                  <a:pt x="2402" y="1060"/>
                </a:lnTo>
                <a:lnTo>
                  <a:pt x="2359" y="1089"/>
                </a:lnTo>
                <a:lnTo>
                  <a:pt x="2316" y="1117"/>
                </a:lnTo>
                <a:lnTo>
                  <a:pt x="2273" y="1148"/>
                </a:lnTo>
                <a:lnTo>
                  <a:pt x="2232" y="1178"/>
                </a:lnTo>
                <a:lnTo>
                  <a:pt x="2191" y="1206"/>
                </a:lnTo>
                <a:lnTo>
                  <a:pt x="2168" y="1227"/>
                </a:lnTo>
                <a:lnTo>
                  <a:pt x="2146" y="1249"/>
                </a:lnTo>
                <a:lnTo>
                  <a:pt x="2125" y="1271"/>
                </a:lnTo>
                <a:lnTo>
                  <a:pt x="2104" y="1293"/>
                </a:lnTo>
                <a:lnTo>
                  <a:pt x="2085" y="1316"/>
                </a:lnTo>
                <a:lnTo>
                  <a:pt x="2065" y="1338"/>
                </a:lnTo>
                <a:lnTo>
                  <a:pt x="2048" y="1362"/>
                </a:lnTo>
                <a:lnTo>
                  <a:pt x="2029" y="1384"/>
                </a:lnTo>
                <a:lnTo>
                  <a:pt x="2010" y="1407"/>
                </a:lnTo>
                <a:lnTo>
                  <a:pt x="1994" y="1430"/>
                </a:lnTo>
                <a:lnTo>
                  <a:pt x="1975" y="1453"/>
                </a:lnTo>
                <a:lnTo>
                  <a:pt x="1957" y="1475"/>
                </a:lnTo>
                <a:lnTo>
                  <a:pt x="1938" y="1498"/>
                </a:lnTo>
                <a:lnTo>
                  <a:pt x="1920" y="1518"/>
                </a:lnTo>
                <a:lnTo>
                  <a:pt x="1901" y="1539"/>
                </a:lnTo>
                <a:lnTo>
                  <a:pt x="1881" y="1559"/>
                </a:lnTo>
                <a:lnTo>
                  <a:pt x="1859" y="1580"/>
                </a:lnTo>
                <a:lnTo>
                  <a:pt x="1835" y="1607"/>
                </a:lnTo>
                <a:lnTo>
                  <a:pt x="1811" y="1637"/>
                </a:lnTo>
                <a:lnTo>
                  <a:pt x="1786" y="1671"/>
                </a:lnTo>
                <a:lnTo>
                  <a:pt x="1762" y="1704"/>
                </a:lnTo>
                <a:lnTo>
                  <a:pt x="1738" y="1734"/>
                </a:lnTo>
                <a:lnTo>
                  <a:pt x="1717" y="1760"/>
                </a:lnTo>
                <a:lnTo>
                  <a:pt x="1697" y="1779"/>
                </a:lnTo>
                <a:lnTo>
                  <a:pt x="1669" y="1799"/>
                </a:lnTo>
                <a:lnTo>
                  <a:pt x="1651" y="1814"/>
                </a:lnTo>
                <a:lnTo>
                  <a:pt x="1638" y="1823"/>
                </a:lnTo>
                <a:lnTo>
                  <a:pt x="1629" y="1830"/>
                </a:lnTo>
                <a:lnTo>
                  <a:pt x="1618" y="1836"/>
                </a:lnTo>
                <a:lnTo>
                  <a:pt x="1607" y="1846"/>
                </a:lnTo>
                <a:lnTo>
                  <a:pt x="1593" y="1859"/>
                </a:lnTo>
                <a:lnTo>
                  <a:pt x="1571" y="1880"/>
                </a:lnTo>
                <a:lnTo>
                  <a:pt x="1550" y="1913"/>
                </a:lnTo>
                <a:lnTo>
                  <a:pt x="1531" y="1947"/>
                </a:lnTo>
                <a:lnTo>
                  <a:pt x="1514" y="1983"/>
                </a:lnTo>
                <a:lnTo>
                  <a:pt x="1499" y="2021"/>
                </a:lnTo>
                <a:lnTo>
                  <a:pt x="1482" y="2057"/>
                </a:lnTo>
                <a:lnTo>
                  <a:pt x="1466" y="2093"/>
                </a:lnTo>
                <a:lnTo>
                  <a:pt x="1452" y="2128"/>
                </a:lnTo>
                <a:lnTo>
                  <a:pt x="1435" y="2161"/>
                </a:lnTo>
                <a:lnTo>
                  <a:pt x="1420" y="2132"/>
                </a:lnTo>
                <a:lnTo>
                  <a:pt x="1402" y="2104"/>
                </a:lnTo>
                <a:lnTo>
                  <a:pt x="1383" y="2075"/>
                </a:lnTo>
                <a:lnTo>
                  <a:pt x="1363" y="2046"/>
                </a:lnTo>
                <a:lnTo>
                  <a:pt x="1340" y="2018"/>
                </a:lnTo>
                <a:lnTo>
                  <a:pt x="1319" y="1989"/>
                </a:lnTo>
                <a:lnTo>
                  <a:pt x="1296" y="1961"/>
                </a:lnTo>
                <a:lnTo>
                  <a:pt x="1274" y="1933"/>
                </a:lnTo>
                <a:lnTo>
                  <a:pt x="1251" y="1903"/>
                </a:lnTo>
                <a:lnTo>
                  <a:pt x="1230" y="1874"/>
                </a:lnTo>
                <a:lnTo>
                  <a:pt x="1210" y="1847"/>
                </a:lnTo>
                <a:lnTo>
                  <a:pt x="1192" y="1818"/>
                </a:lnTo>
                <a:lnTo>
                  <a:pt x="1175" y="1789"/>
                </a:lnTo>
                <a:lnTo>
                  <a:pt x="1159" y="1761"/>
                </a:lnTo>
                <a:lnTo>
                  <a:pt x="1146" y="1732"/>
                </a:lnTo>
                <a:lnTo>
                  <a:pt x="1137" y="1705"/>
                </a:lnTo>
                <a:lnTo>
                  <a:pt x="1121" y="1665"/>
                </a:lnTo>
                <a:lnTo>
                  <a:pt x="1105" y="1624"/>
                </a:lnTo>
                <a:lnTo>
                  <a:pt x="1087" y="1580"/>
                </a:lnTo>
                <a:lnTo>
                  <a:pt x="1068" y="1537"/>
                </a:lnTo>
                <a:lnTo>
                  <a:pt x="1050" y="1493"/>
                </a:lnTo>
                <a:lnTo>
                  <a:pt x="1032" y="1449"/>
                </a:lnTo>
                <a:lnTo>
                  <a:pt x="1016" y="1407"/>
                </a:lnTo>
                <a:lnTo>
                  <a:pt x="1003" y="1367"/>
                </a:lnTo>
                <a:lnTo>
                  <a:pt x="979" y="1376"/>
                </a:lnTo>
                <a:lnTo>
                  <a:pt x="958" y="1386"/>
                </a:lnTo>
                <a:lnTo>
                  <a:pt x="935" y="1394"/>
                </a:lnTo>
                <a:lnTo>
                  <a:pt x="914" y="1403"/>
                </a:lnTo>
                <a:lnTo>
                  <a:pt x="891" y="1411"/>
                </a:lnTo>
                <a:lnTo>
                  <a:pt x="870" y="1418"/>
                </a:lnTo>
                <a:lnTo>
                  <a:pt x="847" y="1426"/>
                </a:lnTo>
                <a:lnTo>
                  <a:pt x="825" y="1435"/>
                </a:lnTo>
                <a:lnTo>
                  <a:pt x="808" y="1443"/>
                </a:lnTo>
                <a:lnTo>
                  <a:pt x="790" y="1450"/>
                </a:lnTo>
                <a:lnTo>
                  <a:pt x="773" y="1459"/>
                </a:lnTo>
                <a:lnTo>
                  <a:pt x="755" y="1467"/>
                </a:lnTo>
                <a:lnTo>
                  <a:pt x="738" y="1475"/>
                </a:lnTo>
                <a:lnTo>
                  <a:pt x="721" y="1484"/>
                </a:lnTo>
                <a:lnTo>
                  <a:pt x="704" y="1491"/>
                </a:lnTo>
                <a:lnTo>
                  <a:pt x="687" y="1499"/>
                </a:lnTo>
                <a:lnTo>
                  <a:pt x="669" y="1507"/>
                </a:lnTo>
                <a:lnTo>
                  <a:pt x="652" y="1515"/>
                </a:lnTo>
                <a:lnTo>
                  <a:pt x="636" y="1522"/>
                </a:lnTo>
                <a:lnTo>
                  <a:pt x="619" y="1531"/>
                </a:lnTo>
                <a:lnTo>
                  <a:pt x="602" y="1537"/>
                </a:lnTo>
                <a:lnTo>
                  <a:pt x="586" y="1546"/>
                </a:lnTo>
                <a:lnTo>
                  <a:pt x="569" y="1553"/>
                </a:lnTo>
                <a:lnTo>
                  <a:pt x="553" y="1561"/>
                </a:lnTo>
                <a:lnTo>
                  <a:pt x="550" y="1561"/>
                </a:lnTo>
                <a:lnTo>
                  <a:pt x="541" y="1561"/>
                </a:lnTo>
                <a:lnTo>
                  <a:pt x="527" y="1563"/>
                </a:lnTo>
                <a:lnTo>
                  <a:pt x="511" y="1567"/>
                </a:lnTo>
                <a:lnTo>
                  <a:pt x="491" y="1571"/>
                </a:lnTo>
                <a:lnTo>
                  <a:pt x="469" y="1577"/>
                </a:lnTo>
                <a:lnTo>
                  <a:pt x="445" y="1585"/>
                </a:lnTo>
                <a:lnTo>
                  <a:pt x="421" y="1592"/>
                </a:lnTo>
                <a:lnTo>
                  <a:pt x="396" y="1598"/>
                </a:lnTo>
                <a:lnTo>
                  <a:pt x="373" y="1605"/>
                </a:lnTo>
                <a:lnTo>
                  <a:pt x="351" y="1612"/>
                </a:lnTo>
                <a:lnTo>
                  <a:pt x="333" y="1616"/>
                </a:lnTo>
                <a:lnTo>
                  <a:pt x="315" y="1620"/>
                </a:lnTo>
                <a:lnTo>
                  <a:pt x="304" y="1624"/>
                </a:lnTo>
                <a:lnTo>
                  <a:pt x="297" y="1624"/>
                </a:lnTo>
                <a:lnTo>
                  <a:pt x="294" y="1622"/>
                </a:lnTo>
                <a:lnTo>
                  <a:pt x="275" y="1633"/>
                </a:lnTo>
                <a:lnTo>
                  <a:pt x="256" y="1643"/>
                </a:lnTo>
                <a:lnTo>
                  <a:pt x="237" y="1654"/>
                </a:lnTo>
                <a:lnTo>
                  <a:pt x="219" y="1665"/>
                </a:lnTo>
                <a:lnTo>
                  <a:pt x="199" y="1675"/>
                </a:lnTo>
                <a:lnTo>
                  <a:pt x="180" y="1685"/>
                </a:lnTo>
                <a:lnTo>
                  <a:pt x="161" y="1696"/>
                </a:lnTo>
                <a:lnTo>
                  <a:pt x="143" y="1707"/>
                </a:lnTo>
                <a:lnTo>
                  <a:pt x="124" y="1718"/>
                </a:lnTo>
                <a:lnTo>
                  <a:pt x="106" y="1729"/>
                </a:lnTo>
                <a:lnTo>
                  <a:pt x="87" y="1739"/>
                </a:lnTo>
                <a:lnTo>
                  <a:pt x="70" y="1750"/>
                </a:lnTo>
                <a:lnTo>
                  <a:pt x="53" y="1760"/>
                </a:lnTo>
                <a:lnTo>
                  <a:pt x="35" y="1771"/>
                </a:lnTo>
                <a:lnTo>
                  <a:pt x="18" y="1781"/>
                </a:lnTo>
                <a:lnTo>
                  <a:pt x="0" y="1792"/>
                </a:lnTo>
                <a:close/>
              </a:path>
            </a:pathLst>
          </a:custGeom>
          <a:solidFill>
            <a:srgbClr val="043B72"/>
          </a:solidFill>
          <a:ln w="19050">
            <a:solidFill>
              <a:srgbClr val="FFFFFF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96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ea"/>
              <a:sym typeface="나눔고딕"/>
            </a:endParaRPr>
          </a:p>
        </p:txBody>
      </p:sp>
    </p:spTree>
    <p:extLst>
      <p:ext uri="{BB962C8B-B14F-4D97-AF65-F5344CB8AC3E}">
        <p14:creationId xmlns:p14="http://schemas.microsoft.com/office/powerpoint/2010/main" val="2820440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06A4F1FE-534F-45AC-4C7F-60F3F24D096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8579E3-04AA-A536-DB2B-5B37C3774A7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[Back-up] AI</a:t>
            </a:r>
            <a:r>
              <a:rPr lang="ko-KR" altLang="en-US"/>
              <a:t>거버넌스 조직 구성 시 필수 요소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C951ABF-4C29-2580-1C66-09161EA0E36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/>
              <a:t>AI</a:t>
            </a:r>
            <a:r>
              <a:rPr lang="ko-KR" altLang="en-US"/>
              <a:t>위험관리에 대한 회사 전략 및 유관 조직 간 이해관계를 반영하되</a:t>
            </a:r>
            <a:r>
              <a:rPr lang="en-US" altLang="ko-KR"/>
              <a:t>, </a:t>
            </a:r>
            <a:r>
              <a:rPr lang="ko-KR" altLang="en-US"/>
              <a:t>전문성</a:t>
            </a:r>
            <a:r>
              <a:rPr lang="en-US" altLang="ko-KR"/>
              <a:t>·</a:t>
            </a:r>
            <a:r>
              <a:rPr lang="ko-KR" altLang="en-US"/>
              <a:t>독립성</a:t>
            </a:r>
            <a:r>
              <a:rPr lang="en-US" altLang="ko-KR"/>
              <a:t>·</a:t>
            </a:r>
            <a:r>
              <a:rPr lang="ko-KR" altLang="en-US"/>
              <a:t>협업 가능성을 중심으로 </a:t>
            </a:r>
            <a:r>
              <a:rPr lang="en-US" altLang="ko-KR"/>
              <a:t>AI</a:t>
            </a:r>
            <a:r>
              <a:rPr lang="ko-KR" altLang="en-US"/>
              <a:t>거버넌스 </a:t>
            </a:r>
            <a:r>
              <a:rPr lang="en-US" altLang="ko-KR"/>
              <a:t>(</a:t>
            </a:r>
            <a:r>
              <a:rPr lang="ko-KR" altLang="en-US"/>
              <a:t>전담</a:t>
            </a:r>
            <a:r>
              <a:rPr lang="en-US" altLang="ko-KR"/>
              <a:t>)</a:t>
            </a:r>
            <a:r>
              <a:rPr lang="ko-KR" altLang="en-US"/>
              <a:t>조직의 구성이 필요함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5E972D0-B480-B63E-E1F4-782F70EE77C3}"/>
              </a:ext>
            </a:extLst>
          </p:cNvPr>
          <p:cNvSpPr/>
          <p:nvPr/>
        </p:nvSpPr>
        <p:spPr>
          <a:xfrm>
            <a:off x="334964" y="1886697"/>
            <a:ext cx="3755292" cy="39240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576000" rtlCol="0" anchor="b" anchorCtr="0"/>
          <a:lstStyle/>
          <a:p>
            <a:pPr marL="171450" indent="-171450" defTabSz="914400">
              <a:lnSpc>
                <a:spcPct val="110000"/>
              </a:lnSpc>
              <a:spcAft>
                <a:spcPts val="600"/>
              </a:spcAft>
              <a:buClr>
                <a:srgbClr val="908D83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ko-KR" altLang="en-US" sz="120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prstClr val="black"/>
                </a:solidFill>
                <a:latin typeface="+mn-ea"/>
              </a:rPr>
              <a:t>위험관리 조직 또는 인력은 기술</a:t>
            </a:r>
            <a:r>
              <a:rPr lang="en-US" altLang="ko-KR" sz="120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sz="120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prstClr val="black"/>
                </a:solidFill>
                <a:latin typeface="+mn-ea"/>
              </a:rPr>
              <a:t>법률</a:t>
            </a:r>
            <a:r>
              <a:rPr lang="en-US" altLang="ko-KR" sz="120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sz="120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prstClr val="black"/>
                </a:solidFill>
                <a:latin typeface="+mn-ea"/>
              </a:rPr>
              <a:t>윤리 등 </a:t>
            </a:r>
            <a:r>
              <a:rPr lang="ko-KR" altLang="en-US" sz="1200" b="1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prstClr val="black"/>
                </a:solidFill>
                <a:latin typeface="+mn-ea"/>
              </a:rPr>
              <a:t>다양한 분야의 전문가 또는 담당자로 구성 필요</a:t>
            </a:r>
            <a:endParaRPr lang="en-US" altLang="ko-KR" sz="1200">
              <a:ln>
                <a:solidFill>
                  <a:sysClr val="windowText" lastClr="000000">
                    <a:alpha val="0"/>
                  </a:sysClr>
                </a:solidFill>
              </a:ln>
              <a:solidFill>
                <a:prstClr val="black"/>
              </a:solidFill>
              <a:latin typeface="+mn-ea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C5078BA-4289-D957-4680-F41735E32027}"/>
              </a:ext>
            </a:extLst>
          </p:cNvPr>
          <p:cNvSpPr/>
          <p:nvPr/>
        </p:nvSpPr>
        <p:spPr>
          <a:xfrm>
            <a:off x="4233539" y="1886697"/>
            <a:ext cx="3755292" cy="39240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b" anchorCtr="0"/>
          <a:lstStyle/>
          <a:p>
            <a:pPr marL="171450" indent="-171450" defTabSz="914400">
              <a:lnSpc>
                <a:spcPct val="110000"/>
              </a:lnSpc>
              <a:spcAft>
                <a:spcPts val="600"/>
              </a:spcAft>
              <a:buClr>
                <a:srgbClr val="908D83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ko-KR" altLang="en-US" sz="120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prstClr val="black"/>
                </a:solidFill>
                <a:latin typeface="+mn-ea"/>
              </a:rPr>
              <a:t>위험관리 조직 또는 인력이 </a:t>
            </a:r>
            <a:r>
              <a:rPr lang="ko-KR" altLang="en-US" sz="1200" b="1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prstClr val="black"/>
                </a:solidFill>
                <a:latin typeface="+mn-ea"/>
              </a:rPr>
              <a:t>독립성과 자율성</a:t>
            </a:r>
            <a:r>
              <a:rPr lang="ko-KR" altLang="en-US" sz="120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prstClr val="black"/>
                </a:solidFill>
                <a:latin typeface="+mn-ea"/>
              </a:rPr>
              <a:t>을 보장</a:t>
            </a:r>
            <a:r>
              <a:rPr lang="en-US" altLang="ko-KR" sz="120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prstClr val="black"/>
                </a:solidFill>
                <a:latin typeface="+mn-ea"/>
              </a:rPr>
              <a:t> </a:t>
            </a:r>
            <a:r>
              <a:rPr lang="ko-KR" altLang="en-US" sz="120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prstClr val="black"/>
                </a:solidFill>
                <a:latin typeface="+mn-ea"/>
              </a:rPr>
              <a:t>필요</a:t>
            </a:r>
            <a:endParaRPr lang="en-US" altLang="ko-KR" sz="1200">
              <a:ln>
                <a:solidFill>
                  <a:sysClr val="windowText" lastClr="000000">
                    <a:alpha val="0"/>
                  </a:sysClr>
                </a:solidFill>
              </a:ln>
              <a:solidFill>
                <a:prstClr val="black"/>
              </a:solidFill>
              <a:latin typeface="+mn-ea"/>
            </a:endParaRPr>
          </a:p>
          <a:p>
            <a:pPr marL="171450" indent="-171450" defTabSz="914400">
              <a:lnSpc>
                <a:spcPct val="110000"/>
              </a:lnSpc>
              <a:spcAft>
                <a:spcPts val="600"/>
              </a:spcAft>
              <a:buClr>
                <a:srgbClr val="908D83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altLang="ko-KR" sz="120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prstClr val="black"/>
                </a:solidFill>
                <a:latin typeface="+mn-ea"/>
              </a:rPr>
              <a:t>AI</a:t>
            </a:r>
            <a:r>
              <a:rPr lang="ko-KR" altLang="en-US" sz="120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prstClr val="black"/>
                </a:solidFill>
                <a:latin typeface="+mn-ea"/>
              </a:rPr>
              <a:t>사업부서가 거버넌스 직무 수행을 겸임하게 되는 경우라도 </a:t>
            </a:r>
            <a:r>
              <a:rPr lang="en-US" altLang="ko-KR" sz="120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prstClr val="black"/>
                </a:solidFill>
                <a:latin typeface="+mn-ea"/>
              </a:rPr>
              <a:t>AI</a:t>
            </a:r>
            <a:r>
              <a:rPr lang="ko-KR" altLang="en-US" sz="120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prstClr val="black"/>
                </a:solidFill>
                <a:latin typeface="+mn-ea"/>
              </a:rPr>
              <a:t>기획</a:t>
            </a:r>
            <a:r>
              <a:rPr lang="en-US" altLang="ko-KR" sz="120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prstClr val="black"/>
                </a:solidFill>
                <a:latin typeface="+mn-ea"/>
              </a:rPr>
              <a:t>&amp;</a:t>
            </a:r>
            <a:r>
              <a:rPr lang="ko-KR" altLang="en-US" sz="120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prstClr val="black"/>
                </a:solidFill>
                <a:latin typeface="+mn-ea"/>
              </a:rPr>
              <a:t>개발 직무 담당자와 분리</a:t>
            </a:r>
            <a:endParaRPr lang="en-US" altLang="ko-KR" sz="1200">
              <a:ln>
                <a:solidFill>
                  <a:sysClr val="windowText" lastClr="000000">
                    <a:alpha val="0"/>
                  </a:sysClr>
                </a:solidFill>
              </a:ln>
              <a:solidFill>
                <a:prstClr val="black"/>
              </a:solidFill>
              <a:latin typeface="+mn-ea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EC55431-F295-66EC-EE17-EAD23D1CEE55}"/>
              </a:ext>
            </a:extLst>
          </p:cNvPr>
          <p:cNvSpPr/>
          <p:nvPr/>
        </p:nvSpPr>
        <p:spPr>
          <a:xfrm>
            <a:off x="8132115" y="1886697"/>
            <a:ext cx="3755292" cy="39240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432000" rtlCol="0" anchor="b" anchorCtr="0"/>
          <a:lstStyle/>
          <a:p>
            <a:pPr marL="171450" indent="-171450" defTabSz="914400">
              <a:lnSpc>
                <a:spcPct val="110000"/>
              </a:lnSpc>
              <a:spcAft>
                <a:spcPts val="600"/>
              </a:spcAft>
              <a:buClr>
                <a:srgbClr val="908D83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ko-KR" altLang="en-US" sz="120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prstClr val="black"/>
                </a:solidFill>
                <a:latin typeface="+mn-ea"/>
              </a:rPr>
              <a:t>위험관리 담당 조직 또는 인력은 법무</a:t>
            </a:r>
            <a:r>
              <a:rPr lang="en-US" altLang="ko-KR" sz="120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sz="120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prstClr val="black"/>
                </a:solidFill>
                <a:latin typeface="+mn-ea"/>
              </a:rPr>
              <a:t>감사</a:t>
            </a:r>
            <a:r>
              <a:rPr lang="en-US" altLang="ko-KR" sz="120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sz="120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prstClr val="black"/>
                </a:solidFill>
                <a:latin typeface="+mn-ea"/>
              </a:rPr>
              <a:t>개인정보 보호 등 전문성을 갖춘 유관 조직과 </a:t>
            </a:r>
            <a:r>
              <a:rPr lang="en-US" altLang="ko-KR" sz="1200" b="1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prstClr val="black"/>
                </a:solidFill>
                <a:latin typeface="+mn-ea"/>
              </a:rPr>
              <a:t>AI</a:t>
            </a:r>
            <a:r>
              <a:rPr lang="ko-KR" altLang="en-US" sz="1200" b="1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prstClr val="black"/>
                </a:solidFill>
                <a:latin typeface="+mn-ea"/>
              </a:rPr>
              <a:t>위험관리 협업 체계를 구축</a:t>
            </a:r>
            <a:r>
              <a:rPr lang="en-US" altLang="ko-KR" sz="120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prstClr val="black"/>
                </a:solidFill>
                <a:latin typeface="+mn-ea"/>
              </a:rPr>
              <a:t> </a:t>
            </a:r>
            <a:r>
              <a:rPr lang="ko-KR" altLang="en-US" sz="1200">
                <a:ln>
                  <a:solidFill>
                    <a:sysClr val="windowText" lastClr="000000">
                      <a:alpha val="0"/>
                    </a:sysClr>
                  </a:solidFill>
                </a:ln>
                <a:solidFill>
                  <a:prstClr val="black"/>
                </a:solidFill>
                <a:latin typeface="+mn-ea"/>
              </a:rPr>
              <a:t>필요</a:t>
            </a:r>
            <a:endParaRPr lang="en-US" altLang="ko-KR" sz="1200">
              <a:ln>
                <a:solidFill>
                  <a:sysClr val="windowText" lastClr="000000">
                    <a:alpha val="0"/>
                  </a:sysClr>
                </a:solidFill>
              </a:ln>
              <a:solidFill>
                <a:prstClr val="black"/>
              </a:solidFill>
              <a:latin typeface="+mn-ea"/>
            </a:endParaRPr>
          </a:p>
        </p:txBody>
      </p:sp>
      <p:sp>
        <p:nvSpPr>
          <p:cNvPr id="8" name="Google Shape;2962;p63">
            <a:extLst>
              <a:ext uri="{FF2B5EF4-FFF2-40B4-BE49-F238E27FC236}">
                <a16:creationId xmlns:a16="http://schemas.microsoft.com/office/drawing/2014/main" id="{627F2967-8097-605C-39E6-752B0CEA9A3F}"/>
              </a:ext>
            </a:extLst>
          </p:cNvPr>
          <p:cNvSpPr/>
          <p:nvPr/>
        </p:nvSpPr>
        <p:spPr>
          <a:xfrm>
            <a:off x="6434818" y="2699577"/>
            <a:ext cx="1188000" cy="900000"/>
          </a:xfrm>
          <a:prstGeom prst="roundRect">
            <a:avLst/>
          </a:prstGeom>
          <a:solidFill>
            <a:srgbClr val="00B0F0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  <a:sym typeface="Arial"/>
              </a:rPr>
              <a:t>AI</a:t>
            </a:r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  <a:sym typeface="Arial"/>
              </a:rPr>
              <a:t>거버넌스 </a:t>
            </a:r>
            <a:r>
              <a:rPr lang="en-US" altLang="ko-KR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  <a:sym typeface="Arial"/>
              </a:rPr>
              <a:t>(</a:t>
            </a:r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  <a:sym typeface="Arial"/>
              </a:rPr>
              <a:t>전담</a:t>
            </a:r>
            <a:r>
              <a:rPr lang="en-US" altLang="ko-KR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  <a:sym typeface="Arial"/>
              </a:rPr>
              <a:t>)</a:t>
            </a:r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  <a:sym typeface="Arial"/>
              </a:rPr>
              <a:t>부서</a:t>
            </a:r>
          </a:p>
        </p:txBody>
      </p:sp>
      <p:sp>
        <p:nvSpPr>
          <p:cNvPr id="9" name="Google Shape;2962;p63">
            <a:extLst>
              <a:ext uri="{FF2B5EF4-FFF2-40B4-BE49-F238E27FC236}">
                <a16:creationId xmlns:a16="http://schemas.microsoft.com/office/drawing/2014/main" id="{1EA836EA-4970-BDAC-2E63-2B7064ECA029}"/>
              </a:ext>
            </a:extLst>
          </p:cNvPr>
          <p:cNvSpPr/>
          <p:nvPr/>
        </p:nvSpPr>
        <p:spPr>
          <a:xfrm>
            <a:off x="4592993" y="2699577"/>
            <a:ext cx="1188000" cy="90000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AI</a:t>
            </a:r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sym typeface="Arial"/>
              </a:rPr>
              <a:t>사업부서</a:t>
            </a:r>
          </a:p>
        </p:txBody>
      </p:sp>
      <p:sp>
        <p:nvSpPr>
          <p:cNvPr id="10" name="화살표: 왼쪽/오른쪽 102">
            <a:extLst>
              <a:ext uri="{FF2B5EF4-FFF2-40B4-BE49-F238E27FC236}">
                <a16:creationId xmlns:a16="http://schemas.microsoft.com/office/drawing/2014/main" id="{09188B98-793D-593D-1D62-CF1078A38ADA}"/>
              </a:ext>
            </a:extLst>
          </p:cNvPr>
          <p:cNvSpPr/>
          <p:nvPr/>
        </p:nvSpPr>
        <p:spPr>
          <a:xfrm>
            <a:off x="5797671" y="2961806"/>
            <a:ext cx="599325" cy="375542"/>
          </a:xfrm>
          <a:prstGeom prst="leftRightArrow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chemeClr val="accent2"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AF2D1DC-30E0-0E83-593E-BDBDBEF04431}"/>
              </a:ext>
            </a:extLst>
          </p:cNvPr>
          <p:cNvSpPr/>
          <p:nvPr/>
        </p:nvSpPr>
        <p:spPr>
          <a:xfrm>
            <a:off x="5901714" y="3033111"/>
            <a:ext cx="419153" cy="2329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bIns="36000" rtlCol="0" anchor="t" anchorCtr="0"/>
          <a:lstStyle/>
          <a:p>
            <a:pPr algn="ctr" latinLnBrk="0"/>
            <a:r>
              <a:rPr lang="ko-KR" altLang="en-US" sz="1000" b="1" spc="-100">
                <a:ln>
                  <a:solidFill>
                    <a:schemeClr val="accent2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견제</a:t>
            </a:r>
            <a:endParaRPr lang="en-US" altLang="ko-KR" sz="1000" b="1" spc="-100">
              <a:ln>
                <a:solidFill>
                  <a:schemeClr val="accent2"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F91FE0BB-3B75-46B7-C907-EA498879159E}"/>
              </a:ext>
            </a:extLst>
          </p:cNvPr>
          <p:cNvSpPr/>
          <p:nvPr/>
        </p:nvSpPr>
        <p:spPr>
          <a:xfrm>
            <a:off x="8955346" y="2614611"/>
            <a:ext cx="2178778" cy="375934"/>
          </a:xfrm>
          <a:prstGeom prst="roundRect">
            <a:avLst/>
          </a:prstGeom>
          <a:solidFill>
            <a:srgbClr val="00B0F0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AI</a:t>
            </a:r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거버넌스 </a:t>
            </a:r>
            <a:r>
              <a:rPr lang="en-US" altLang="ko-KR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(</a:t>
            </a:r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전담</a:t>
            </a:r>
            <a:r>
              <a:rPr lang="en-US" altLang="ko-KR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)</a:t>
            </a:r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부서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F2FF5835-642C-D1C2-67F8-29CD24D3FF50}"/>
              </a:ext>
            </a:extLst>
          </p:cNvPr>
          <p:cNvSpPr/>
          <p:nvPr/>
        </p:nvSpPr>
        <p:spPr>
          <a:xfrm>
            <a:off x="8510544" y="3706043"/>
            <a:ext cx="1231484" cy="37593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사업부서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6E59C06-E8D0-E0AE-5432-86BDD666AA05}"/>
              </a:ext>
            </a:extLst>
          </p:cNvPr>
          <p:cNvSpPr/>
          <p:nvPr/>
        </p:nvSpPr>
        <p:spPr>
          <a:xfrm>
            <a:off x="10281559" y="3706043"/>
            <a:ext cx="1231484" cy="37593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bg1">
                <a:lumMod val="50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noAutofit/>
          </a:bodyPr>
          <a:lstStyle/>
          <a:p>
            <a:pPr algn="ctr" defTabSz="977172"/>
            <a:r>
              <a:rPr kumimoji="1" lang="ko-KR" altLang="en-US" sz="105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유관부서</a:t>
            </a: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4E564C3B-DCDC-8B5E-CD63-59B5D9425BB8}"/>
              </a:ext>
            </a:extLst>
          </p:cNvPr>
          <p:cNvGrpSpPr/>
          <p:nvPr/>
        </p:nvGrpSpPr>
        <p:grpSpPr>
          <a:xfrm>
            <a:off x="8112276" y="3215135"/>
            <a:ext cx="1930946" cy="250170"/>
            <a:chOff x="2795271" y="3647971"/>
            <a:chExt cx="1467633" cy="280475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11B34F7-8DD3-5300-C3B2-4463A7ABEED9}"/>
                </a:ext>
              </a:extLst>
            </p:cNvPr>
            <p:cNvSpPr txBox="1"/>
            <p:nvPr/>
          </p:nvSpPr>
          <p:spPr>
            <a:xfrm>
              <a:off x="3523627" y="3647971"/>
              <a:ext cx="739277" cy="28047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800" spc="-50">
                  <a:ln>
                    <a:solidFill>
                      <a:schemeClr val="accent2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AI</a:t>
              </a:r>
              <a:r>
                <a:rPr lang="ko-KR" altLang="en-US" sz="800" spc="-50">
                  <a:ln>
                    <a:solidFill>
                      <a:schemeClr val="accent2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위험관리 활동</a:t>
              </a:r>
              <a:br>
                <a:rPr lang="en-US" altLang="ko-KR" sz="800" spc="-50">
                  <a:ln>
                    <a:solidFill>
                      <a:schemeClr val="accent2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</a:br>
              <a:r>
                <a:rPr lang="ko-KR" altLang="en-US" sz="800" spc="-50">
                  <a:ln>
                    <a:solidFill>
                      <a:schemeClr val="accent2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검토 및 승인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D18552D-2279-CF4B-FD16-3125AA6E2DF4}"/>
                </a:ext>
              </a:extLst>
            </p:cNvPr>
            <p:cNvSpPr txBox="1"/>
            <p:nvPr/>
          </p:nvSpPr>
          <p:spPr>
            <a:xfrm>
              <a:off x="2795271" y="3647973"/>
              <a:ext cx="641747" cy="28047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 latinLnBrk="0"/>
              <a:r>
                <a:rPr lang="en-US" altLang="ko-KR" sz="800" spc="-50">
                  <a:ln>
                    <a:solidFill>
                      <a:schemeClr val="accent2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AI</a:t>
              </a:r>
              <a:r>
                <a:rPr lang="ko-KR" altLang="en-US" sz="800" spc="-50">
                  <a:ln>
                    <a:solidFill>
                      <a:schemeClr val="accent2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위험관리</a:t>
              </a:r>
              <a:br>
                <a:rPr lang="en-US" altLang="ko-KR" sz="800" spc="-50">
                  <a:ln>
                    <a:solidFill>
                      <a:schemeClr val="accent2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</a:br>
              <a:r>
                <a:rPr lang="ko-KR" altLang="en-US" sz="800" spc="-50">
                  <a:ln>
                    <a:solidFill>
                      <a:schemeClr val="accent2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수행 보고</a:t>
              </a:r>
            </a:p>
          </p:txBody>
        </p:sp>
      </p:grp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E02C31CF-96C6-51C8-5FA4-96A90F8CFDE7}"/>
              </a:ext>
            </a:extLst>
          </p:cNvPr>
          <p:cNvCxnSpPr>
            <a:cxnSpLocks/>
          </p:cNvCxnSpPr>
          <p:nvPr/>
        </p:nvCxnSpPr>
        <p:spPr>
          <a:xfrm rot="16200000">
            <a:off x="8713381" y="3364859"/>
            <a:ext cx="483931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423FA121-7030-6F84-93D1-89F5BA5315E7}"/>
              </a:ext>
            </a:extLst>
          </p:cNvPr>
          <p:cNvCxnSpPr>
            <a:cxnSpLocks/>
          </p:cNvCxnSpPr>
          <p:nvPr/>
        </p:nvCxnSpPr>
        <p:spPr>
          <a:xfrm rot="16200000" flipH="1">
            <a:off x="8835784" y="3359949"/>
            <a:ext cx="483931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30090DEE-A446-397C-3DEF-7E95E22C6B3A}"/>
              </a:ext>
            </a:extLst>
          </p:cNvPr>
          <p:cNvGrpSpPr/>
          <p:nvPr/>
        </p:nvGrpSpPr>
        <p:grpSpPr>
          <a:xfrm>
            <a:off x="10009758" y="3215131"/>
            <a:ext cx="1738689" cy="250168"/>
            <a:chOff x="2795271" y="3694778"/>
            <a:chExt cx="1321507" cy="280473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AAE5968-0AA2-5F75-3D86-B872910E6349}"/>
                </a:ext>
              </a:extLst>
            </p:cNvPr>
            <p:cNvSpPr txBox="1"/>
            <p:nvPr/>
          </p:nvSpPr>
          <p:spPr>
            <a:xfrm>
              <a:off x="3611842" y="3694778"/>
              <a:ext cx="504936" cy="28047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800" spc="-50">
                  <a:ln>
                    <a:solidFill>
                      <a:schemeClr val="accent2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AI</a:t>
              </a:r>
              <a:r>
                <a:rPr lang="ko-KR" altLang="en-US" sz="800" spc="-50">
                  <a:ln>
                    <a:solidFill>
                      <a:schemeClr val="accent2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위험관리</a:t>
              </a:r>
              <a:endParaRPr lang="en-US" altLang="ko-KR" sz="800" spc="-50">
                <a:ln>
                  <a:solidFill>
                    <a:schemeClr val="accent2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  <a:p>
              <a:pPr algn="ctr"/>
              <a:r>
                <a:rPr lang="ko-KR" altLang="en-US" sz="800" spc="-50">
                  <a:ln>
                    <a:solidFill>
                      <a:schemeClr val="accent2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수행 지원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2CC37C9-85F9-7F7E-3432-2327C91FCE08}"/>
                </a:ext>
              </a:extLst>
            </p:cNvPr>
            <p:cNvSpPr txBox="1"/>
            <p:nvPr/>
          </p:nvSpPr>
          <p:spPr>
            <a:xfrm>
              <a:off x="2795271" y="3694779"/>
              <a:ext cx="641747" cy="28047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 latinLnBrk="0"/>
              <a:r>
                <a:rPr lang="en-US" altLang="ko-KR" sz="800" spc="-50">
                  <a:ln>
                    <a:solidFill>
                      <a:schemeClr val="accent2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AI</a:t>
              </a:r>
              <a:r>
                <a:rPr lang="ko-KR" altLang="en-US" sz="800" spc="-50">
                  <a:ln>
                    <a:solidFill>
                      <a:schemeClr val="accent2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위험관리</a:t>
              </a:r>
              <a:endParaRPr lang="en-US" altLang="ko-KR" sz="800" spc="-50">
                <a:ln>
                  <a:solidFill>
                    <a:schemeClr val="accent2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  <a:p>
              <a:pPr algn="ctr" latinLnBrk="0"/>
              <a:r>
                <a:rPr lang="ko-KR" altLang="en-US" sz="800" spc="-50">
                  <a:ln>
                    <a:solidFill>
                      <a:schemeClr val="accent2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지원 요청</a:t>
              </a:r>
            </a:p>
          </p:txBody>
        </p:sp>
      </p:grp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3A9F3511-50D5-E1AA-36C3-50341F7378F5}"/>
              </a:ext>
            </a:extLst>
          </p:cNvPr>
          <p:cNvCxnSpPr>
            <a:cxnSpLocks/>
          </p:cNvCxnSpPr>
          <p:nvPr/>
        </p:nvCxnSpPr>
        <p:spPr>
          <a:xfrm rot="5400000" flipV="1">
            <a:off x="10620359" y="3359735"/>
            <a:ext cx="483931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F4E28B7C-6582-A3C5-271A-7DD131BC3EE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0742763" y="3359735"/>
            <a:ext cx="483931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4CD4D78-276A-2163-8F55-1B416C8A113D}"/>
              </a:ext>
            </a:extLst>
          </p:cNvPr>
          <p:cNvSpPr/>
          <p:nvPr/>
        </p:nvSpPr>
        <p:spPr>
          <a:xfrm>
            <a:off x="334964" y="1341439"/>
            <a:ext cx="3755292" cy="405770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전문성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CF041D08-8790-C4AE-48EA-248423395E9D}"/>
              </a:ext>
            </a:extLst>
          </p:cNvPr>
          <p:cNvSpPr/>
          <p:nvPr/>
        </p:nvSpPr>
        <p:spPr>
          <a:xfrm>
            <a:off x="4238096" y="1341439"/>
            <a:ext cx="3755292" cy="405770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독립성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C85ED4D6-604A-A555-C3BA-59635995F776}"/>
              </a:ext>
            </a:extLst>
          </p:cNvPr>
          <p:cNvSpPr/>
          <p:nvPr/>
        </p:nvSpPr>
        <p:spPr>
          <a:xfrm>
            <a:off x="8136671" y="1341439"/>
            <a:ext cx="3755292" cy="405770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협업 가능성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5C08CF5-0627-72F4-2212-A9EE918A0043}"/>
              </a:ext>
            </a:extLst>
          </p:cNvPr>
          <p:cNvSpPr txBox="1"/>
          <p:nvPr/>
        </p:nvSpPr>
        <p:spPr>
          <a:xfrm>
            <a:off x="680134" y="1952326"/>
            <a:ext cx="3329644" cy="41652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defTabSz="914400">
              <a:lnSpc>
                <a:spcPct val="110000"/>
              </a:lnSpc>
              <a:spcAft>
                <a:spcPts val="600"/>
              </a:spcAft>
              <a:buClr>
                <a:srgbClr val="908D83"/>
              </a:buClr>
              <a:buSzPct val="100000"/>
              <a:defRPr/>
            </a:pPr>
            <a:r>
              <a:rPr lang="en-US" altLang="ko-KR" sz="1000" spc="-50">
                <a:ln>
                  <a:solidFill>
                    <a:schemeClr val="accent2">
                      <a:alpha val="0"/>
                    </a:schemeClr>
                  </a:solidFill>
                </a:ln>
                <a:solidFill>
                  <a:prstClr val="black"/>
                </a:solidFill>
                <a:latin typeface="+mn-ea"/>
              </a:rPr>
              <a:t>AI</a:t>
            </a:r>
            <a:r>
              <a:rPr lang="ko-KR" altLang="en-US" sz="1000" spc="-50">
                <a:ln>
                  <a:solidFill>
                    <a:schemeClr val="accent2">
                      <a:alpha val="0"/>
                    </a:schemeClr>
                  </a:solidFill>
                </a:ln>
                <a:solidFill>
                  <a:prstClr val="black"/>
                </a:solidFill>
                <a:latin typeface="+mn-ea"/>
              </a:rPr>
              <a:t>모델의 구조</a:t>
            </a:r>
            <a:r>
              <a:rPr lang="en-US" altLang="ko-KR" sz="1000" spc="-50">
                <a:ln>
                  <a:solidFill>
                    <a:schemeClr val="accent2">
                      <a:alpha val="0"/>
                    </a:schemeClr>
                  </a:solidFill>
                </a:ln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sz="1000" spc="-50">
                <a:ln>
                  <a:solidFill>
                    <a:schemeClr val="accent2">
                      <a:alpha val="0"/>
                    </a:schemeClr>
                  </a:solidFill>
                </a:ln>
                <a:solidFill>
                  <a:prstClr val="black"/>
                </a:solidFill>
                <a:latin typeface="+mn-ea"/>
              </a:rPr>
              <a:t>작동원리</a:t>
            </a:r>
            <a:r>
              <a:rPr lang="en-US" altLang="ko-KR" sz="1000" spc="-50">
                <a:ln>
                  <a:solidFill>
                    <a:schemeClr val="accent2">
                      <a:alpha val="0"/>
                    </a:schemeClr>
                  </a:solidFill>
                </a:ln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sz="1000" spc="-50">
                <a:ln>
                  <a:solidFill>
                    <a:schemeClr val="accent2">
                      <a:alpha val="0"/>
                    </a:schemeClr>
                  </a:solidFill>
                </a:ln>
                <a:solidFill>
                  <a:prstClr val="black"/>
                </a:solidFill>
                <a:latin typeface="+mn-ea"/>
              </a:rPr>
              <a:t>데이터 처리 과정 등의 전문성 기반 위험 요소 분석 및 관리 </a:t>
            </a:r>
            <a:endParaRPr lang="en-US" altLang="ko-KR" sz="1000" spc="-50">
              <a:ln>
                <a:solidFill>
                  <a:schemeClr val="accent2">
                    <a:alpha val="0"/>
                  </a:schemeClr>
                </a:solidFill>
              </a:ln>
              <a:solidFill>
                <a:prstClr val="black"/>
              </a:solidFill>
              <a:latin typeface="+mn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3761AE1-25DB-5715-D615-159D25B4761A}"/>
              </a:ext>
            </a:extLst>
          </p:cNvPr>
          <p:cNvSpPr txBox="1"/>
          <p:nvPr/>
        </p:nvSpPr>
        <p:spPr>
          <a:xfrm>
            <a:off x="680134" y="4264700"/>
            <a:ext cx="3246956" cy="42795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defTabSz="914400">
              <a:lnSpc>
                <a:spcPct val="110000"/>
              </a:lnSpc>
              <a:spcAft>
                <a:spcPts val="600"/>
              </a:spcAft>
              <a:buClr>
                <a:srgbClr val="908D83"/>
              </a:buClr>
              <a:buSzPct val="100000"/>
              <a:defRPr/>
            </a:pPr>
            <a:r>
              <a:rPr lang="ko-KR" altLang="en-US" sz="1000" spc="-50">
                <a:ln>
                  <a:solidFill>
                    <a:schemeClr val="accent2">
                      <a:alpha val="0"/>
                    </a:schemeClr>
                  </a:solidFill>
                </a:ln>
                <a:solidFill>
                  <a:prstClr val="black"/>
                </a:solidFill>
                <a:latin typeface="+mn-ea"/>
              </a:rPr>
              <a:t>인공지능기본법</a:t>
            </a:r>
            <a:r>
              <a:rPr lang="en-US" altLang="ko-KR" sz="1000" spc="-50">
                <a:ln>
                  <a:solidFill>
                    <a:schemeClr val="accent2">
                      <a:alpha val="0"/>
                    </a:schemeClr>
                  </a:solidFill>
                </a:ln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sz="1000" spc="-50">
                <a:ln>
                  <a:solidFill>
                    <a:schemeClr val="accent2">
                      <a:alpha val="0"/>
                    </a:schemeClr>
                  </a:solidFill>
                </a:ln>
                <a:solidFill>
                  <a:prstClr val="black"/>
                </a:solidFill>
                <a:latin typeface="+mn-ea"/>
              </a:rPr>
              <a:t>금융감독당국 개별 규제 등 </a:t>
            </a:r>
            <a:r>
              <a:rPr lang="en-US" altLang="ko-KR" sz="1000" spc="-50">
                <a:ln>
                  <a:solidFill>
                    <a:schemeClr val="accent2">
                      <a:alpha val="0"/>
                    </a:schemeClr>
                  </a:solidFill>
                </a:ln>
                <a:solidFill>
                  <a:prstClr val="black"/>
                </a:solidFill>
                <a:latin typeface="+mn-ea"/>
              </a:rPr>
              <a:t>AI </a:t>
            </a:r>
            <a:r>
              <a:rPr lang="ko-KR" altLang="en-US" sz="1000" spc="-50">
                <a:ln>
                  <a:solidFill>
                    <a:schemeClr val="accent2">
                      <a:alpha val="0"/>
                    </a:schemeClr>
                  </a:solidFill>
                </a:ln>
                <a:solidFill>
                  <a:prstClr val="black"/>
                </a:solidFill>
                <a:latin typeface="+mn-ea"/>
              </a:rPr>
              <a:t>관련 법률 및 가이드라인 숙지</a:t>
            </a:r>
            <a:endParaRPr lang="en-US" altLang="ko-KR" sz="1000" spc="-50">
              <a:ln>
                <a:solidFill>
                  <a:schemeClr val="accent2">
                    <a:alpha val="0"/>
                  </a:schemeClr>
                </a:solidFill>
              </a:ln>
              <a:solidFill>
                <a:prstClr val="black"/>
              </a:solidFill>
              <a:latin typeface="+mn-ea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3719AE8-5C18-08BC-2406-399C5ECDE1A9}"/>
              </a:ext>
            </a:extLst>
          </p:cNvPr>
          <p:cNvSpPr txBox="1"/>
          <p:nvPr/>
        </p:nvSpPr>
        <p:spPr>
          <a:xfrm>
            <a:off x="3277589" y="3038309"/>
            <a:ext cx="841617" cy="58893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defTabSz="914400">
              <a:lnSpc>
                <a:spcPct val="110000"/>
              </a:lnSpc>
              <a:spcAft>
                <a:spcPts val="600"/>
              </a:spcAft>
              <a:buClr>
                <a:srgbClr val="908D83"/>
              </a:buClr>
              <a:buSzPct val="100000"/>
              <a:defRPr/>
            </a:pPr>
            <a:r>
              <a:rPr lang="ko-KR" altLang="en-US" sz="1000" spc="-50">
                <a:ln>
                  <a:solidFill>
                    <a:schemeClr val="accent2">
                      <a:alpha val="0"/>
                    </a:schemeClr>
                  </a:solidFill>
                </a:ln>
                <a:solidFill>
                  <a:prstClr val="black"/>
                </a:solidFill>
                <a:latin typeface="+mn-ea"/>
              </a:rPr>
              <a:t>증권 </a:t>
            </a:r>
            <a:r>
              <a:rPr lang="en-US" altLang="ko-KR" sz="1000" spc="-50">
                <a:ln>
                  <a:solidFill>
                    <a:schemeClr val="accent2">
                      <a:alpha val="0"/>
                    </a:schemeClr>
                  </a:solidFill>
                </a:ln>
                <a:solidFill>
                  <a:prstClr val="black"/>
                </a:solidFill>
                <a:latin typeface="+mn-ea"/>
              </a:rPr>
              <a:t>AI</a:t>
            </a:r>
            <a:r>
              <a:rPr lang="ko-KR" altLang="en-US" sz="1000" spc="-50">
                <a:ln>
                  <a:solidFill>
                    <a:schemeClr val="accent2">
                      <a:alpha val="0"/>
                    </a:schemeClr>
                  </a:solidFill>
                </a:ln>
                <a:solidFill>
                  <a:prstClr val="black"/>
                </a:solidFill>
                <a:latin typeface="+mn-ea"/>
              </a:rPr>
              <a:t>윤리 원칙</a:t>
            </a:r>
            <a:r>
              <a:rPr lang="en-US" altLang="ko-KR" sz="1000" spc="-50">
                <a:ln>
                  <a:solidFill>
                    <a:schemeClr val="accent2">
                      <a:alpha val="0"/>
                    </a:schemeClr>
                  </a:solidFill>
                </a:ln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sz="1000" spc="-50">
                <a:ln>
                  <a:solidFill>
                    <a:schemeClr val="accent2">
                      <a:alpha val="0"/>
                    </a:schemeClr>
                  </a:solidFill>
                </a:ln>
                <a:solidFill>
                  <a:prstClr val="black"/>
                </a:solidFill>
                <a:latin typeface="+mn-ea"/>
              </a:rPr>
              <a:t>위험관리 체계 숙지</a:t>
            </a:r>
            <a:endParaRPr lang="en-US" altLang="ko-KR" sz="1000" spc="-50">
              <a:ln>
                <a:solidFill>
                  <a:schemeClr val="accent2">
                    <a:alpha val="0"/>
                  </a:schemeClr>
                </a:solidFill>
              </a:ln>
              <a:solidFill>
                <a:prstClr val="black"/>
              </a:solidFill>
              <a:latin typeface="+mn-ea"/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AB58A2D0-0EF5-46A5-2307-F3A754D74907}"/>
              </a:ext>
            </a:extLst>
          </p:cNvPr>
          <p:cNvSpPr/>
          <p:nvPr/>
        </p:nvSpPr>
        <p:spPr>
          <a:xfrm>
            <a:off x="1334446" y="2571485"/>
            <a:ext cx="1477122" cy="1508445"/>
          </a:xfrm>
          <a:prstGeom prst="ellipse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  <a:latin typeface="+mn-ea"/>
              </a:rPr>
              <a:t>AI</a:t>
            </a:r>
            <a:r>
              <a:rPr lang="ko-KR" altLang="en-US" sz="1200">
                <a:solidFill>
                  <a:schemeClr val="tx1"/>
                </a:solidFill>
                <a:latin typeface="+mn-ea"/>
              </a:rPr>
              <a:t>거버넌스 </a:t>
            </a:r>
            <a:r>
              <a:rPr lang="en-US" altLang="ko-KR" sz="120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>
                <a:solidFill>
                  <a:schemeClr val="tx1"/>
                </a:solidFill>
                <a:latin typeface="+mn-ea"/>
              </a:rPr>
              <a:t>전담</a:t>
            </a:r>
            <a:r>
              <a:rPr lang="en-US" altLang="ko-KR" sz="1200">
                <a:solidFill>
                  <a:schemeClr val="tx1"/>
                </a:solidFill>
                <a:latin typeface="+mn-ea"/>
              </a:rPr>
              <a:t>)</a:t>
            </a:r>
            <a:r>
              <a:rPr lang="ko-KR" altLang="en-US" sz="1200">
                <a:solidFill>
                  <a:schemeClr val="tx1"/>
                </a:solidFill>
                <a:latin typeface="+mn-ea"/>
              </a:rPr>
              <a:t>부서</a:t>
            </a:r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F1270A67-6C95-D1A1-6FBC-7522FFFF3482}"/>
              </a:ext>
            </a:extLst>
          </p:cNvPr>
          <p:cNvSpPr/>
          <p:nvPr/>
        </p:nvSpPr>
        <p:spPr>
          <a:xfrm>
            <a:off x="1786134" y="2298970"/>
            <a:ext cx="590849" cy="603378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600" b="1">
                <a:latin typeface="+mn-ea"/>
              </a:rPr>
              <a:t>기술</a:t>
            </a:r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2831A3BC-13C0-CF20-3121-9E4FC77E3C12}"/>
              </a:ext>
            </a:extLst>
          </p:cNvPr>
          <p:cNvSpPr/>
          <p:nvPr/>
        </p:nvSpPr>
        <p:spPr>
          <a:xfrm>
            <a:off x="1162529" y="3568125"/>
            <a:ext cx="590849" cy="603378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600" b="1">
                <a:latin typeface="+mn-ea"/>
              </a:rPr>
              <a:t>법률</a:t>
            </a: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44D7804D-D76B-6AC4-C68F-E2A1151BE70D}"/>
              </a:ext>
            </a:extLst>
          </p:cNvPr>
          <p:cNvSpPr/>
          <p:nvPr/>
        </p:nvSpPr>
        <p:spPr>
          <a:xfrm>
            <a:off x="2352094" y="3568125"/>
            <a:ext cx="590849" cy="603378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600" b="1">
                <a:latin typeface="+mn-ea"/>
              </a:rPr>
              <a:t>윤리</a:t>
            </a: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B12C9A07-F8E1-F98A-0DA9-CCDCF6B983F5}"/>
              </a:ext>
            </a:extLst>
          </p:cNvPr>
          <p:cNvCxnSpPr>
            <a:cxnSpLocks/>
          </p:cNvCxnSpPr>
          <p:nvPr/>
        </p:nvCxnSpPr>
        <p:spPr>
          <a:xfrm>
            <a:off x="609363" y="1992140"/>
            <a:ext cx="0" cy="36000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C8F07CF2-CF44-AF5A-F8EE-40A56916411E}"/>
              </a:ext>
            </a:extLst>
          </p:cNvPr>
          <p:cNvCxnSpPr>
            <a:cxnSpLocks/>
            <a:endCxn id="32" idx="2"/>
          </p:cNvCxnSpPr>
          <p:nvPr/>
        </p:nvCxnSpPr>
        <p:spPr>
          <a:xfrm>
            <a:off x="620507" y="2298970"/>
            <a:ext cx="1165627" cy="30168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2998F0D2-17E5-81EF-0E75-5CD93388FE4F}"/>
              </a:ext>
            </a:extLst>
          </p:cNvPr>
          <p:cNvCxnSpPr>
            <a:cxnSpLocks/>
          </p:cNvCxnSpPr>
          <p:nvPr/>
        </p:nvCxnSpPr>
        <p:spPr>
          <a:xfrm>
            <a:off x="3223346" y="3091870"/>
            <a:ext cx="0" cy="47550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FFE606D0-CE91-0CA2-316F-3CF6B957076D}"/>
              </a:ext>
            </a:extLst>
          </p:cNvPr>
          <p:cNvCxnSpPr>
            <a:cxnSpLocks/>
          </p:cNvCxnSpPr>
          <p:nvPr/>
        </p:nvCxnSpPr>
        <p:spPr>
          <a:xfrm flipH="1">
            <a:off x="2856415" y="3296150"/>
            <a:ext cx="366930" cy="36033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F4D9CE4B-DEA2-B834-1A26-F1E19724BD08}"/>
              </a:ext>
            </a:extLst>
          </p:cNvPr>
          <p:cNvCxnSpPr>
            <a:cxnSpLocks/>
          </p:cNvCxnSpPr>
          <p:nvPr/>
        </p:nvCxnSpPr>
        <p:spPr>
          <a:xfrm>
            <a:off x="609363" y="4264700"/>
            <a:ext cx="0" cy="36498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946E7F1D-BD40-E9A5-C20F-73EC10F26576}"/>
              </a:ext>
            </a:extLst>
          </p:cNvPr>
          <p:cNvCxnSpPr>
            <a:cxnSpLocks/>
          </p:cNvCxnSpPr>
          <p:nvPr/>
        </p:nvCxnSpPr>
        <p:spPr>
          <a:xfrm flipH="1">
            <a:off x="609363" y="4083139"/>
            <a:ext cx="639694" cy="27313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CB018751-79A2-1BDA-2CE7-FEF9B97F273B}"/>
              </a:ext>
            </a:extLst>
          </p:cNvPr>
          <p:cNvGrpSpPr>
            <a:grpSpLocks noChangeAspect="1"/>
          </p:cNvGrpSpPr>
          <p:nvPr/>
        </p:nvGrpSpPr>
        <p:grpSpPr>
          <a:xfrm>
            <a:off x="4024242" y="1387551"/>
            <a:ext cx="297521" cy="297521"/>
            <a:chOff x="3959181" y="1490708"/>
            <a:chExt cx="360000" cy="360000"/>
          </a:xfrm>
        </p:grpSpPr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E9AE9A82-6864-99E5-F401-556F17E633F0}"/>
                </a:ext>
              </a:extLst>
            </p:cNvPr>
            <p:cNvSpPr/>
            <p:nvPr/>
          </p:nvSpPr>
          <p:spPr>
            <a:xfrm>
              <a:off x="3959181" y="1490708"/>
              <a:ext cx="360000" cy="360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endParaRPr>
            </a:p>
          </p:txBody>
        </p:sp>
        <p:sp>
          <p:nvSpPr>
            <p:cNvPr id="43" name="자유형: 도형 42">
              <a:extLst>
                <a:ext uri="{FF2B5EF4-FFF2-40B4-BE49-F238E27FC236}">
                  <a16:creationId xmlns:a16="http://schemas.microsoft.com/office/drawing/2014/main" id="{2FA6234C-911A-0332-C6EC-2A4DE3275273}"/>
                </a:ext>
              </a:extLst>
            </p:cNvPr>
            <p:cNvSpPr/>
            <p:nvPr/>
          </p:nvSpPr>
          <p:spPr>
            <a:xfrm>
              <a:off x="4031181" y="1564481"/>
              <a:ext cx="216000" cy="216000"/>
            </a:xfrm>
            <a:custGeom>
              <a:avLst/>
              <a:gdLst>
                <a:gd name="connsiteX0" fmla="*/ 108000 w 216000"/>
                <a:gd name="connsiteY0" fmla="*/ 0 h 216000"/>
                <a:gd name="connsiteX1" fmla="*/ 144000 w 216000"/>
                <a:gd name="connsiteY1" fmla="*/ 36000 h 216000"/>
                <a:gd name="connsiteX2" fmla="*/ 144000 w 216000"/>
                <a:gd name="connsiteY2" fmla="*/ 72000 h 216000"/>
                <a:gd name="connsiteX3" fmla="*/ 180000 w 216000"/>
                <a:gd name="connsiteY3" fmla="*/ 72000 h 216000"/>
                <a:gd name="connsiteX4" fmla="*/ 216000 w 216000"/>
                <a:gd name="connsiteY4" fmla="*/ 108000 h 216000"/>
                <a:gd name="connsiteX5" fmla="*/ 180000 w 216000"/>
                <a:gd name="connsiteY5" fmla="*/ 144000 h 216000"/>
                <a:gd name="connsiteX6" fmla="*/ 144000 w 216000"/>
                <a:gd name="connsiteY6" fmla="*/ 144000 h 216000"/>
                <a:gd name="connsiteX7" fmla="*/ 144000 w 216000"/>
                <a:gd name="connsiteY7" fmla="*/ 180000 h 216000"/>
                <a:gd name="connsiteX8" fmla="*/ 108000 w 216000"/>
                <a:gd name="connsiteY8" fmla="*/ 216000 h 216000"/>
                <a:gd name="connsiteX9" fmla="*/ 72000 w 216000"/>
                <a:gd name="connsiteY9" fmla="*/ 180000 h 216000"/>
                <a:gd name="connsiteX10" fmla="*/ 72000 w 216000"/>
                <a:gd name="connsiteY10" fmla="*/ 144000 h 216000"/>
                <a:gd name="connsiteX11" fmla="*/ 36000 w 216000"/>
                <a:gd name="connsiteY11" fmla="*/ 144000 h 216000"/>
                <a:gd name="connsiteX12" fmla="*/ 0 w 216000"/>
                <a:gd name="connsiteY12" fmla="*/ 108000 h 216000"/>
                <a:gd name="connsiteX13" fmla="*/ 36000 w 216000"/>
                <a:gd name="connsiteY13" fmla="*/ 72000 h 216000"/>
                <a:gd name="connsiteX14" fmla="*/ 72000 w 216000"/>
                <a:gd name="connsiteY14" fmla="*/ 72000 h 216000"/>
                <a:gd name="connsiteX15" fmla="*/ 72000 w 216000"/>
                <a:gd name="connsiteY15" fmla="*/ 36000 h 216000"/>
                <a:gd name="connsiteX16" fmla="*/ 108000 w 216000"/>
                <a:gd name="connsiteY16" fmla="*/ 0 h 216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16000" h="216000">
                  <a:moveTo>
                    <a:pt x="108000" y="0"/>
                  </a:moveTo>
                  <a:cubicBezTo>
                    <a:pt x="127882" y="0"/>
                    <a:pt x="144000" y="16118"/>
                    <a:pt x="144000" y="36000"/>
                  </a:cubicBezTo>
                  <a:lnTo>
                    <a:pt x="144000" y="72000"/>
                  </a:lnTo>
                  <a:lnTo>
                    <a:pt x="180000" y="72000"/>
                  </a:lnTo>
                  <a:cubicBezTo>
                    <a:pt x="199882" y="72000"/>
                    <a:pt x="216000" y="88118"/>
                    <a:pt x="216000" y="108000"/>
                  </a:cubicBezTo>
                  <a:cubicBezTo>
                    <a:pt x="216000" y="127882"/>
                    <a:pt x="199882" y="144000"/>
                    <a:pt x="180000" y="144000"/>
                  </a:cubicBezTo>
                  <a:lnTo>
                    <a:pt x="144000" y="144000"/>
                  </a:lnTo>
                  <a:lnTo>
                    <a:pt x="144000" y="180000"/>
                  </a:lnTo>
                  <a:cubicBezTo>
                    <a:pt x="144000" y="199882"/>
                    <a:pt x="127882" y="216000"/>
                    <a:pt x="108000" y="216000"/>
                  </a:cubicBezTo>
                  <a:cubicBezTo>
                    <a:pt x="88118" y="216000"/>
                    <a:pt x="72000" y="199882"/>
                    <a:pt x="72000" y="180000"/>
                  </a:cubicBezTo>
                  <a:lnTo>
                    <a:pt x="72000" y="144000"/>
                  </a:lnTo>
                  <a:lnTo>
                    <a:pt x="36000" y="144000"/>
                  </a:lnTo>
                  <a:cubicBezTo>
                    <a:pt x="16118" y="144000"/>
                    <a:pt x="0" y="127882"/>
                    <a:pt x="0" y="108000"/>
                  </a:cubicBezTo>
                  <a:cubicBezTo>
                    <a:pt x="0" y="88118"/>
                    <a:pt x="16118" y="72000"/>
                    <a:pt x="36000" y="72000"/>
                  </a:cubicBezTo>
                  <a:lnTo>
                    <a:pt x="72000" y="72000"/>
                  </a:lnTo>
                  <a:lnTo>
                    <a:pt x="72000" y="36000"/>
                  </a:lnTo>
                  <a:cubicBezTo>
                    <a:pt x="72000" y="16118"/>
                    <a:pt x="88118" y="0"/>
                    <a:pt x="10800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latin typeface="+mn-ea"/>
              </a:endParaRP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3421CB16-2FF7-C12F-3FD3-3EF79B409C73}"/>
              </a:ext>
            </a:extLst>
          </p:cNvPr>
          <p:cNvGrpSpPr>
            <a:grpSpLocks noChangeAspect="1"/>
          </p:cNvGrpSpPr>
          <p:nvPr/>
        </p:nvGrpSpPr>
        <p:grpSpPr>
          <a:xfrm>
            <a:off x="7909721" y="1387551"/>
            <a:ext cx="297521" cy="297521"/>
            <a:chOff x="7756332" y="1490708"/>
            <a:chExt cx="360000" cy="360000"/>
          </a:xfrm>
        </p:grpSpPr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288B6462-2D36-7164-66A4-6290FC2C94B5}"/>
                </a:ext>
              </a:extLst>
            </p:cNvPr>
            <p:cNvSpPr/>
            <p:nvPr/>
          </p:nvSpPr>
          <p:spPr>
            <a:xfrm>
              <a:off x="7756332" y="1490708"/>
              <a:ext cx="360000" cy="36000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endParaRPr>
            </a:p>
          </p:txBody>
        </p:sp>
        <p:sp>
          <p:nvSpPr>
            <p:cNvPr id="46" name="자유형: 도형 45">
              <a:extLst>
                <a:ext uri="{FF2B5EF4-FFF2-40B4-BE49-F238E27FC236}">
                  <a16:creationId xmlns:a16="http://schemas.microsoft.com/office/drawing/2014/main" id="{78F86C27-76FC-BEEC-2627-5D6C3BE35EDB}"/>
                </a:ext>
              </a:extLst>
            </p:cNvPr>
            <p:cNvSpPr/>
            <p:nvPr/>
          </p:nvSpPr>
          <p:spPr>
            <a:xfrm>
              <a:off x="7828332" y="1564481"/>
              <a:ext cx="216000" cy="216000"/>
            </a:xfrm>
            <a:custGeom>
              <a:avLst/>
              <a:gdLst>
                <a:gd name="connsiteX0" fmla="*/ 108000 w 216000"/>
                <a:gd name="connsiteY0" fmla="*/ 0 h 216000"/>
                <a:gd name="connsiteX1" fmla="*/ 144000 w 216000"/>
                <a:gd name="connsiteY1" fmla="*/ 36000 h 216000"/>
                <a:gd name="connsiteX2" fmla="*/ 144000 w 216000"/>
                <a:gd name="connsiteY2" fmla="*/ 72000 h 216000"/>
                <a:gd name="connsiteX3" fmla="*/ 180000 w 216000"/>
                <a:gd name="connsiteY3" fmla="*/ 72000 h 216000"/>
                <a:gd name="connsiteX4" fmla="*/ 216000 w 216000"/>
                <a:gd name="connsiteY4" fmla="*/ 108000 h 216000"/>
                <a:gd name="connsiteX5" fmla="*/ 180000 w 216000"/>
                <a:gd name="connsiteY5" fmla="*/ 144000 h 216000"/>
                <a:gd name="connsiteX6" fmla="*/ 144000 w 216000"/>
                <a:gd name="connsiteY6" fmla="*/ 144000 h 216000"/>
                <a:gd name="connsiteX7" fmla="*/ 144000 w 216000"/>
                <a:gd name="connsiteY7" fmla="*/ 180000 h 216000"/>
                <a:gd name="connsiteX8" fmla="*/ 108000 w 216000"/>
                <a:gd name="connsiteY8" fmla="*/ 216000 h 216000"/>
                <a:gd name="connsiteX9" fmla="*/ 72000 w 216000"/>
                <a:gd name="connsiteY9" fmla="*/ 180000 h 216000"/>
                <a:gd name="connsiteX10" fmla="*/ 72000 w 216000"/>
                <a:gd name="connsiteY10" fmla="*/ 144000 h 216000"/>
                <a:gd name="connsiteX11" fmla="*/ 36000 w 216000"/>
                <a:gd name="connsiteY11" fmla="*/ 144000 h 216000"/>
                <a:gd name="connsiteX12" fmla="*/ 0 w 216000"/>
                <a:gd name="connsiteY12" fmla="*/ 108000 h 216000"/>
                <a:gd name="connsiteX13" fmla="*/ 36000 w 216000"/>
                <a:gd name="connsiteY13" fmla="*/ 72000 h 216000"/>
                <a:gd name="connsiteX14" fmla="*/ 72000 w 216000"/>
                <a:gd name="connsiteY14" fmla="*/ 72000 h 216000"/>
                <a:gd name="connsiteX15" fmla="*/ 72000 w 216000"/>
                <a:gd name="connsiteY15" fmla="*/ 36000 h 216000"/>
                <a:gd name="connsiteX16" fmla="*/ 108000 w 216000"/>
                <a:gd name="connsiteY16" fmla="*/ 0 h 216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16000" h="216000">
                  <a:moveTo>
                    <a:pt x="108000" y="0"/>
                  </a:moveTo>
                  <a:cubicBezTo>
                    <a:pt x="127882" y="0"/>
                    <a:pt x="144000" y="16118"/>
                    <a:pt x="144000" y="36000"/>
                  </a:cubicBezTo>
                  <a:lnTo>
                    <a:pt x="144000" y="72000"/>
                  </a:lnTo>
                  <a:lnTo>
                    <a:pt x="180000" y="72000"/>
                  </a:lnTo>
                  <a:cubicBezTo>
                    <a:pt x="199882" y="72000"/>
                    <a:pt x="216000" y="88118"/>
                    <a:pt x="216000" y="108000"/>
                  </a:cubicBezTo>
                  <a:cubicBezTo>
                    <a:pt x="216000" y="127882"/>
                    <a:pt x="199882" y="144000"/>
                    <a:pt x="180000" y="144000"/>
                  </a:cubicBezTo>
                  <a:lnTo>
                    <a:pt x="144000" y="144000"/>
                  </a:lnTo>
                  <a:lnTo>
                    <a:pt x="144000" y="180000"/>
                  </a:lnTo>
                  <a:cubicBezTo>
                    <a:pt x="144000" y="199882"/>
                    <a:pt x="127882" y="216000"/>
                    <a:pt x="108000" y="216000"/>
                  </a:cubicBezTo>
                  <a:cubicBezTo>
                    <a:pt x="88118" y="216000"/>
                    <a:pt x="72000" y="199882"/>
                    <a:pt x="72000" y="180000"/>
                  </a:cubicBezTo>
                  <a:lnTo>
                    <a:pt x="72000" y="144000"/>
                  </a:lnTo>
                  <a:lnTo>
                    <a:pt x="36000" y="144000"/>
                  </a:lnTo>
                  <a:cubicBezTo>
                    <a:pt x="16118" y="144000"/>
                    <a:pt x="0" y="127882"/>
                    <a:pt x="0" y="108000"/>
                  </a:cubicBezTo>
                  <a:cubicBezTo>
                    <a:pt x="0" y="88118"/>
                    <a:pt x="16118" y="72000"/>
                    <a:pt x="36000" y="72000"/>
                  </a:cubicBezTo>
                  <a:lnTo>
                    <a:pt x="72000" y="72000"/>
                  </a:lnTo>
                  <a:lnTo>
                    <a:pt x="72000" y="36000"/>
                  </a:lnTo>
                  <a:cubicBezTo>
                    <a:pt x="72000" y="16118"/>
                    <a:pt x="88118" y="0"/>
                    <a:pt x="10800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latin typeface="+mn-ea"/>
              </a:endParaRPr>
            </a:p>
          </p:txBody>
        </p:sp>
      </p:grp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C6A7F6DF-DD7F-24EA-67ED-84301FA90C95}"/>
              </a:ext>
            </a:extLst>
          </p:cNvPr>
          <p:cNvSpPr/>
          <p:nvPr/>
        </p:nvSpPr>
        <p:spPr>
          <a:xfrm>
            <a:off x="334963" y="5929292"/>
            <a:ext cx="1572626" cy="595329"/>
          </a:xfrm>
          <a:prstGeom prst="rect">
            <a:avLst/>
          </a:prstGeom>
          <a:solidFill>
            <a:srgbClr val="043B7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고려사항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2CAA785E-8905-38DE-F306-74FABAA19B17}"/>
              </a:ext>
            </a:extLst>
          </p:cNvPr>
          <p:cNvSpPr/>
          <p:nvPr/>
        </p:nvSpPr>
        <p:spPr>
          <a:xfrm>
            <a:off x="2011212" y="5929292"/>
            <a:ext cx="9880750" cy="595329"/>
          </a:xfrm>
          <a:prstGeom prst="rect">
            <a:avLst/>
          </a:prstGeom>
          <a:pattFill prst="dkUp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AI</a:t>
            </a:r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거버넌스 조직은 전문성</a:t>
            </a: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기술</a:t>
            </a: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법률</a:t>
            </a: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윤리</a:t>
            </a: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), </a:t>
            </a:r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사업부서로부터의 독립성</a:t>
            </a: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위험관리 협업체계를 고려한 구축이 필수적임</a:t>
            </a:r>
            <a:endParaRPr lang="en-US" altLang="ko-KR" sz="1200">
              <a:ln>
                <a:solidFill>
                  <a:schemeClr val="accent2">
                    <a:lumMod val="60000"/>
                    <a:lumOff val="40000"/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sp>
        <p:nvSpPr>
          <p:cNvPr id="49" name="화살표: 오른쪽 48">
            <a:extLst>
              <a:ext uri="{FF2B5EF4-FFF2-40B4-BE49-F238E27FC236}">
                <a16:creationId xmlns:a16="http://schemas.microsoft.com/office/drawing/2014/main" id="{895104A0-E713-C4DF-E6D1-1FD185FD1CB3}"/>
              </a:ext>
            </a:extLst>
          </p:cNvPr>
          <p:cNvSpPr/>
          <p:nvPr/>
        </p:nvSpPr>
        <p:spPr>
          <a:xfrm rot="2715234">
            <a:off x="6891634" y="2433281"/>
            <a:ext cx="252000" cy="144000"/>
          </a:xfrm>
          <a:prstGeom prst="rightArrow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chemeClr val="accent2"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50" name="화살표: 오른쪽 49">
            <a:extLst>
              <a:ext uri="{FF2B5EF4-FFF2-40B4-BE49-F238E27FC236}">
                <a16:creationId xmlns:a16="http://schemas.microsoft.com/office/drawing/2014/main" id="{5ADE8C42-62B8-4499-A2A5-D19BC002A2F2}"/>
              </a:ext>
            </a:extLst>
          </p:cNvPr>
          <p:cNvSpPr/>
          <p:nvPr/>
        </p:nvSpPr>
        <p:spPr>
          <a:xfrm rot="18884766" flipH="1">
            <a:off x="5020925" y="2433281"/>
            <a:ext cx="252000" cy="144000"/>
          </a:xfrm>
          <a:prstGeom prst="rightArrow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chemeClr val="accent2"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10F19DB2-6941-3833-93D8-AB549A40ABB2}"/>
              </a:ext>
            </a:extLst>
          </p:cNvPr>
          <p:cNvSpPr/>
          <p:nvPr/>
        </p:nvSpPr>
        <p:spPr>
          <a:xfrm>
            <a:off x="5297905" y="1976099"/>
            <a:ext cx="1620000" cy="576000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200" b="1" i="1">
                <a:solidFill>
                  <a:schemeClr val="bg1">
                    <a:lumMod val="50000"/>
                  </a:schemeClr>
                </a:solidFill>
                <a:latin typeface="+mn-ea"/>
              </a:rPr>
              <a:t>별개조직</a:t>
            </a:r>
            <a:r>
              <a:rPr lang="en-US" altLang="ko-KR" sz="1200" b="1" i="1">
                <a:solidFill>
                  <a:schemeClr val="bg1">
                    <a:lumMod val="50000"/>
                  </a:schemeClr>
                </a:solidFill>
                <a:latin typeface="+mn-ea"/>
              </a:rPr>
              <a:t>(</a:t>
            </a:r>
            <a:r>
              <a:rPr lang="ko-KR" altLang="en-US" sz="1200" b="1" i="1">
                <a:solidFill>
                  <a:schemeClr val="bg1">
                    <a:lumMod val="50000"/>
                  </a:schemeClr>
                </a:solidFill>
                <a:latin typeface="+mn-ea"/>
              </a:rPr>
              <a:t>권고</a:t>
            </a:r>
            <a:r>
              <a:rPr lang="en-US" altLang="ko-KR" sz="1200" b="1" i="1">
                <a:solidFill>
                  <a:schemeClr val="bg1">
                    <a:lumMod val="50000"/>
                  </a:schemeClr>
                </a:solidFill>
                <a:latin typeface="+mn-ea"/>
              </a:rPr>
              <a:t>)</a:t>
            </a:r>
            <a:endParaRPr lang="ko-KR" altLang="en-US" sz="1200" b="1" i="1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325BDA45-1BA8-CB35-BF5E-1C0C0C1CBA5D}"/>
              </a:ext>
            </a:extLst>
          </p:cNvPr>
          <p:cNvSpPr/>
          <p:nvPr/>
        </p:nvSpPr>
        <p:spPr>
          <a:xfrm>
            <a:off x="4592993" y="3917774"/>
            <a:ext cx="3029825" cy="353164"/>
          </a:xfrm>
          <a:prstGeom prst="roundRect">
            <a:avLst/>
          </a:prstGeom>
          <a:noFill/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200" b="1" i="1">
                <a:solidFill>
                  <a:schemeClr val="bg1">
                    <a:lumMod val="50000"/>
                  </a:schemeClr>
                </a:solidFill>
                <a:latin typeface="+mn-ea"/>
              </a:rPr>
              <a:t>같은 조직 일지라도 이해상충 방지 필요</a:t>
            </a:r>
          </a:p>
        </p:txBody>
      </p:sp>
      <p:sp>
        <p:nvSpPr>
          <p:cNvPr id="53" name="화살표: 오른쪽 52">
            <a:extLst>
              <a:ext uri="{FF2B5EF4-FFF2-40B4-BE49-F238E27FC236}">
                <a16:creationId xmlns:a16="http://schemas.microsoft.com/office/drawing/2014/main" id="{66A9ACCE-9314-21A6-F8B4-C7723D8641CA}"/>
              </a:ext>
            </a:extLst>
          </p:cNvPr>
          <p:cNvSpPr/>
          <p:nvPr/>
        </p:nvSpPr>
        <p:spPr>
          <a:xfrm rot="18884766" flipV="1">
            <a:off x="6862751" y="3723094"/>
            <a:ext cx="252000" cy="144000"/>
          </a:xfrm>
          <a:prstGeom prst="rightArrow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chemeClr val="accent2"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54" name="화살표: 오른쪽 53">
            <a:extLst>
              <a:ext uri="{FF2B5EF4-FFF2-40B4-BE49-F238E27FC236}">
                <a16:creationId xmlns:a16="http://schemas.microsoft.com/office/drawing/2014/main" id="{654495A1-C938-A79E-099D-3BFE6506E955}"/>
              </a:ext>
            </a:extLst>
          </p:cNvPr>
          <p:cNvSpPr/>
          <p:nvPr/>
        </p:nvSpPr>
        <p:spPr>
          <a:xfrm rot="2715234" flipH="1" flipV="1">
            <a:off x="5049810" y="3723094"/>
            <a:ext cx="252000" cy="144000"/>
          </a:xfrm>
          <a:prstGeom prst="rightArrow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chemeClr val="accent2">
                    <a:alpha val="0"/>
                  </a:schemeClr>
                </a:solidFill>
              </a:ln>
              <a:latin typeface="+mn-ea"/>
            </a:endParaRPr>
          </a:p>
        </p:txBody>
      </p: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302A773D-ED57-AE63-B20A-2BB749FE9F92}"/>
              </a:ext>
            </a:extLst>
          </p:cNvPr>
          <p:cNvCxnSpPr>
            <a:cxnSpLocks/>
          </p:cNvCxnSpPr>
          <p:nvPr/>
        </p:nvCxnSpPr>
        <p:spPr>
          <a:xfrm>
            <a:off x="4171879" y="1841914"/>
            <a:ext cx="0" cy="3993365"/>
          </a:xfrm>
          <a:prstGeom prst="line">
            <a:avLst/>
          </a:prstGeom>
          <a:ln w="19050">
            <a:solidFill>
              <a:srgbClr val="8F8F9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329F9CA5-DE9B-74D1-80DA-F4C05F5415B3}"/>
              </a:ext>
            </a:extLst>
          </p:cNvPr>
          <p:cNvCxnSpPr>
            <a:cxnSpLocks/>
          </p:cNvCxnSpPr>
          <p:nvPr/>
        </p:nvCxnSpPr>
        <p:spPr>
          <a:xfrm>
            <a:off x="8052662" y="1841914"/>
            <a:ext cx="0" cy="3993365"/>
          </a:xfrm>
          <a:prstGeom prst="line">
            <a:avLst/>
          </a:prstGeom>
          <a:ln w="19050">
            <a:solidFill>
              <a:srgbClr val="8F8F9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1C118637-DB2D-D865-5350-1468B13DE8D3}"/>
              </a:ext>
            </a:extLst>
          </p:cNvPr>
          <p:cNvGrpSpPr/>
          <p:nvPr/>
        </p:nvGrpSpPr>
        <p:grpSpPr>
          <a:xfrm>
            <a:off x="331785" y="26929"/>
            <a:ext cx="900000" cy="180000"/>
            <a:chOff x="407985" y="52329"/>
            <a:chExt cx="900000" cy="180000"/>
          </a:xfrm>
        </p:grpSpPr>
        <p:sp>
          <p:nvSpPr>
            <p:cNvPr id="58" name="사각형: 둥근 모서리 57">
              <a:extLst>
                <a:ext uri="{FF2B5EF4-FFF2-40B4-BE49-F238E27FC236}">
                  <a16:creationId xmlns:a16="http://schemas.microsoft.com/office/drawing/2014/main" id="{F3B2EA13-7B24-6472-CB6A-28034FD98F2F}"/>
                </a:ext>
              </a:extLst>
            </p:cNvPr>
            <p:cNvSpPr/>
            <p:nvPr/>
          </p:nvSpPr>
          <p:spPr>
            <a:xfrm>
              <a:off x="407985" y="52329"/>
              <a:ext cx="180000" cy="18000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+mn-ea"/>
                </a:rPr>
                <a:t>1</a:t>
              </a:r>
            </a:p>
          </p:txBody>
        </p:sp>
        <p:sp>
          <p:nvSpPr>
            <p:cNvPr id="59" name="사각형: 둥근 모서리 58">
              <a:extLst>
                <a:ext uri="{FF2B5EF4-FFF2-40B4-BE49-F238E27FC236}">
                  <a16:creationId xmlns:a16="http://schemas.microsoft.com/office/drawing/2014/main" id="{ADA36AD8-8DC5-3FB2-F1CC-6C4172F145C4}"/>
                </a:ext>
              </a:extLst>
            </p:cNvPr>
            <p:cNvSpPr/>
            <p:nvPr/>
          </p:nvSpPr>
          <p:spPr>
            <a:xfrm>
              <a:off x="587985" y="52329"/>
              <a:ext cx="180000" cy="18000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+mn-ea"/>
                </a:rPr>
                <a:t>2</a:t>
              </a:r>
            </a:p>
          </p:txBody>
        </p:sp>
        <p:sp>
          <p:nvSpPr>
            <p:cNvPr id="60" name="사각형: 둥근 모서리 59">
              <a:extLst>
                <a:ext uri="{FF2B5EF4-FFF2-40B4-BE49-F238E27FC236}">
                  <a16:creationId xmlns:a16="http://schemas.microsoft.com/office/drawing/2014/main" id="{CCB1482F-3C48-07BE-2212-0D9E69B5A379}"/>
                </a:ext>
              </a:extLst>
            </p:cNvPr>
            <p:cNvSpPr/>
            <p:nvPr/>
          </p:nvSpPr>
          <p:spPr>
            <a:xfrm>
              <a:off x="767985" y="52329"/>
              <a:ext cx="180000" cy="18000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+mn-ea"/>
                </a:rPr>
                <a:t>3</a:t>
              </a:r>
            </a:p>
          </p:txBody>
        </p:sp>
        <p:sp>
          <p:nvSpPr>
            <p:cNvPr id="61" name="사각형: 둥근 모서리 60">
              <a:extLst>
                <a:ext uri="{FF2B5EF4-FFF2-40B4-BE49-F238E27FC236}">
                  <a16:creationId xmlns:a16="http://schemas.microsoft.com/office/drawing/2014/main" id="{D89E829A-7991-4B80-53D7-1C5E399F7BB0}"/>
                </a:ext>
              </a:extLst>
            </p:cNvPr>
            <p:cNvSpPr/>
            <p:nvPr/>
          </p:nvSpPr>
          <p:spPr>
            <a:xfrm>
              <a:off x="947985" y="52329"/>
              <a:ext cx="180000" cy="180000"/>
            </a:xfrm>
            <a:prstGeom prst="round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+mn-ea"/>
                </a:rPr>
                <a:t>4</a:t>
              </a:r>
            </a:p>
          </p:txBody>
        </p:sp>
        <p:sp>
          <p:nvSpPr>
            <p:cNvPr id="62" name="사각형: 둥근 모서리 61">
              <a:extLst>
                <a:ext uri="{FF2B5EF4-FFF2-40B4-BE49-F238E27FC236}">
                  <a16:creationId xmlns:a16="http://schemas.microsoft.com/office/drawing/2014/main" id="{154488C5-1157-EAC6-0C7F-1DBC7C6D5125}"/>
                </a:ext>
              </a:extLst>
            </p:cNvPr>
            <p:cNvSpPr/>
            <p:nvPr/>
          </p:nvSpPr>
          <p:spPr>
            <a:xfrm>
              <a:off x="1127985" y="52329"/>
              <a:ext cx="180000" cy="18000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+mn-ea"/>
                </a:rPr>
                <a:t>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644910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18CE4-43F4-5FC4-A726-3C9375945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2F1B351B-5B1F-85AC-4463-6F2941F0C1D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36B6A54-154C-4C89-2996-C6DE6E27E5A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[Back-up] AI</a:t>
            </a:r>
            <a:r>
              <a:rPr lang="ko-KR" altLang="en-US"/>
              <a:t>거버넌스 전담부서 구성 방안 법령 근거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470621B-AD4B-1642-0269-B14F2D86ABA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/>
              <a:t>금융분야 </a:t>
            </a:r>
            <a:r>
              <a:rPr lang="en-US" altLang="ko-KR"/>
              <a:t>AI</a:t>
            </a:r>
            <a:r>
              <a:rPr lang="ko-KR" altLang="en-US"/>
              <a:t> 가이드라인</a:t>
            </a:r>
            <a:r>
              <a:rPr lang="en-US" altLang="ko-KR"/>
              <a:t>(</a:t>
            </a:r>
            <a:r>
              <a:rPr lang="ko-KR" altLang="en-US"/>
              <a:t>안</a:t>
            </a:r>
            <a:r>
              <a:rPr lang="en-US" altLang="ko-KR"/>
              <a:t>)</a:t>
            </a:r>
            <a:r>
              <a:rPr lang="ko-KR" altLang="en-US"/>
              <a:t> 內 위험관리 조직의 조직적</a:t>
            </a:r>
            <a:r>
              <a:rPr lang="en-US" altLang="ko-KR"/>
              <a:t>·</a:t>
            </a:r>
            <a:r>
              <a:rPr lang="ko-KR" altLang="en-US"/>
              <a:t>기능적 분리가 명확해짐에 따라 기존 </a:t>
            </a:r>
            <a:r>
              <a:rPr lang="en-US" altLang="ko-KR"/>
              <a:t>AI</a:t>
            </a:r>
            <a:r>
              <a:rPr lang="ko-KR" altLang="en-US"/>
              <a:t>그룹 內 </a:t>
            </a:r>
            <a:r>
              <a:rPr lang="en-US" altLang="ko-KR"/>
              <a:t>AI</a:t>
            </a:r>
            <a:r>
              <a:rPr lang="ko-KR" altLang="en-US"/>
              <a:t>거버넌스 전담부서 신설을 제안</a:t>
            </a:r>
            <a:r>
              <a:rPr lang="en-US" altLang="ko-KR"/>
              <a:t>. </a:t>
            </a:r>
            <a:r>
              <a:rPr lang="ko-KR" altLang="en-US"/>
              <a:t>단</a:t>
            </a:r>
            <a:r>
              <a:rPr lang="en-US" altLang="ko-KR"/>
              <a:t>,</a:t>
            </a:r>
            <a:r>
              <a:rPr lang="ko-KR" altLang="en-US"/>
              <a:t> 독립성 확보 필수 </a:t>
            </a:r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4189E549-DC44-37A4-118E-23B80896D648}"/>
              </a:ext>
            </a:extLst>
          </p:cNvPr>
          <p:cNvGrpSpPr/>
          <p:nvPr/>
        </p:nvGrpSpPr>
        <p:grpSpPr>
          <a:xfrm>
            <a:off x="331785" y="26929"/>
            <a:ext cx="900000" cy="180000"/>
            <a:chOff x="407985" y="52329"/>
            <a:chExt cx="900000" cy="180000"/>
          </a:xfrm>
        </p:grpSpPr>
        <p:sp>
          <p:nvSpPr>
            <p:cNvPr id="72" name="사각형: 둥근 모서리 71">
              <a:extLst>
                <a:ext uri="{FF2B5EF4-FFF2-40B4-BE49-F238E27FC236}">
                  <a16:creationId xmlns:a16="http://schemas.microsoft.com/office/drawing/2014/main" id="{EEFB2420-1DFC-FB43-E9F3-5717309571F3}"/>
                </a:ext>
              </a:extLst>
            </p:cNvPr>
            <p:cNvSpPr/>
            <p:nvPr/>
          </p:nvSpPr>
          <p:spPr>
            <a:xfrm>
              <a:off x="407985" y="52329"/>
              <a:ext cx="180000" cy="18000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+mn-ea"/>
                </a:rPr>
                <a:t>1</a:t>
              </a:r>
            </a:p>
          </p:txBody>
        </p:sp>
        <p:sp>
          <p:nvSpPr>
            <p:cNvPr id="73" name="사각형: 둥근 모서리 72">
              <a:extLst>
                <a:ext uri="{FF2B5EF4-FFF2-40B4-BE49-F238E27FC236}">
                  <a16:creationId xmlns:a16="http://schemas.microsoft.com/office/drawing/2014/main" id="{900CADD8-3976-4E8F-0E7D-446BA4D4CB4D}"/>
                </a:ext>
              </a:extLst>
            </p:cNvPr>
            <p:cNvSpPr/>
            <p:nvPr/>
          </p:nvSpPr>
          <p:spPr>
            <a:xfrm>
              <a:off x="587985" y="52329"/>
              <a:ext cx="180000" cy="18000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+mn-ea"/>
                </a:rPr>
                <a:t>2</a:t>
              </a:r>
            </a:p>
          </p:txBody>
        </p:sp>
        <p:sp>
          <p:nvSpPr>
            <p:cNvPr id="74" name="사각형: 둥근 모서리 73">
              <a:extLst>
                <a:ext uri="{FF2B5EF4-FFF2-40B4-BE49-F238E27FC236}">
                  <a16:creationId xmlns:a16="http://schemas.microsoft.com/office/drawing/2014/main" id="{B3DC0A8F-1F6A-9CB4-F7B0-F5813E0A422D}"/>
                </a:ext>
              </a:extLst>
            </p:cNvPr>
            <p:cNvSpPr/>
            <p:nvPr/>
          </p:nvSpPr>
          <p:spPr>
            <a:xfrm>
              <a:off x="767985" y="52329"/>
              <a:ext cx="180000" cy="18000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+mn-ea"/>
                </a:rPr>
                <a:t>3</a:t>
              </a:r>
            </a:p>
          </p:txBody>
        </p:sp>
        <p:sp>
          <p:nvSpPr>
            <p:cNvPr id="75" name="사각형: 둥근 모서리 74">
              <a:extLst>
                <a:ext uri="{FF2B5EF4-FFF2-40B4-BE49-F238E27FC236}">
                  <a16:creationId xmlns:a16="http://schemas.microsoft.com/office/drawing/2014/main" id="{DF848983-D35D-09DB-51A1-2263C0217459}"/>
                </a:ext>
              </a:extLst>
            </p:cNvPr>
            <p:cNvSpPr/>
            <p:nvPr/>
          </p:nvSpPr>
          <p:spPr>
            <a:xfrm>
              <a:off x="947985" y="52329"/>
              <a:ext cx="180000" cy="180000"/>
            </a:xfrm>
            <a:prstGeom prst="round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+mn-ea"/>
                </a:rPr>
                <a:t>4</a:t>
              </a:r>
            </a:p>
          </p:txBody>
        </p:sp>
        <p:sp>
          <p:nvSpPr>
            <p:cNvPr id="76" name="사각형: 둥근 모서리 75">
              <a:extLst>
                <a:ext uri="{FF2B5EF4-FFF2-40B4-BE49-F238E27FC236}">
                  <a16:creationId xmlns:a16="http://schemas.microsoft.com/office/drawing/2014/main" id="{EF1F1FD3-2B31-22BF-83F3-A515288CE3BF}"/>
                </a:ext>
              </a:extLst>
            </p:cNvPr>
            <p:cNvSpPr/>
            <p:nvPr/>
          </p:nvSpPr>
          <p:spPr>
            <a:xfrm>
              <a:off x="1127985" y="52329"/>
              <a:ext cx="180000" cy="18000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+mn-ea"/>
                </a:rPr>
                <a:t>5</a:t>
              </a:r>
            </a:p>
          </p:txBody>
        </p:sp>
      </p:grpSp>
      <p:graphicFrame>
        <p:nvGraphicFramePr>
          <p:cNvPr id="80" name="Table 79">
            <a:extLst>
              <a:ext uri="{FF2B5EF4-FFF2-40B4-BE49-F238E27FC236}">
                <a16:creationId xmlns:a16="http://schemas.microsoft.com/office/drawing/2014/main" id="{1D221D52-6191-9396-5D82-106C802BED40}"/>
              </a:ext>
            </a:extLst>
          </p:cNvPr>
          <p:cNvGraphicFramePr>
            <a:graphicFrameLocks noGrp="1"/>
          </p:cNvGraphicFramePr>
          <p:nvPr/>
        </p:nvGraphicFramePr>
        <p:xfrm>
          <a:off x="334963" y="1341438"/>
          <a:ext cx="11557000" cy="518391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1137">
                  <a:extLst>
                    <a:ext uri="{9D8B030D-6E8A-4147-A177-3AD203B41FA5}">
                      <a16:colId xmlns:a16="http://schemas.microsoft.com/office/drawing/2014/main" val="2154112095"/>
                    </a:ext>
                  </a:extLst>
                </a:gridCol>
                <a:gridCol w="1193800">
                  <a:extLst>
                    <a:ext uri="{9D8B030D-6E8A-4147-A177-3AD203B41FA5}">
                      <a16:colId xmlns:a16="http://schemas.microsoft.com/office/drawing/2014/main" val="2055929334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3830681117"/>
                    </a:ext>
                  </a:extLst>
                </a:gridCol>
                <a:gridCol w="9085263">
                  <a:extLst>
                    <a:ext uri="{9D8B030D-6E8A-4147-A177-3AD203B41FA5}">
                      <a16:colId xmlns:a16="http://schemas.microsoft.com/office/drawing/2014/main" val="4219221671"/>
                    </a:ext>
                  </a:extLst>
                </a:gridCol>
              </a:tblGrid>
              <a:tr h="17206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u="none" strike="noStrike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No</a:t>
                      </a:r>
                      <a:endParaRPr lang="en-US" sz="1100" b="1" i="0" u="none" strike="noStrike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609" marR="4609" marT="4609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1" u="none" strike="noStrike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출처 </a:t>
                      </a:r>
                      <a:r>
                        <a:rPr lang="ko-KR" altLang="en-US" sz="1100" b="1" u="none" strike="noStrike" err="1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문서명</a:t>
                      </a:r>
                      <a:endParaRPr lang="ko-KR" altLang="en-US" sz="1100" b="1" i="0" u="none" strike="noStrike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609" marR="4609" marT="4609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1" u="none" strike="noStrike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위치</a:t>
                      </a:r>
                      <a:endParaRPr lang="ko-KR" altLang="en-US" sz="1100" b="1" i="0" u="none" strike="noStrike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609" marR="4609" marT="4609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b="1" u="none" strike="noStrike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내용</a:t>
                      </a:r>
                      <a:endParaRPr lang="ko-KR" altLang="en-US" sz="1100" b="1" i="0" u="none" strike="noStrike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609" marR="4609" marT="4609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5941885"/>
                  </a:ext>
                </a:extLst>
              </a:tr>
              <a:tr h="94652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1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609" marR="4609" marT="4609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  <a:latin typeface="+mj-ea"/>
                          <a:ea typeface="+mj-ea"/>
                        </a:rPr>
                        <a:t>금융분야 인공지능 가이드라인</a:t>
                      </a:r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(</a:t>
                      </a:r>
                      <a:r>
                        <a:rPr lang="ko-KR" altLang="en-US" sz="1100" u="none" strike="noStrike">
                          <a:effectLst/>
                          <a:latin typeface="+mj-ea"/>
                          <a:ea typeface="+mj-ea"/>
                        </a:rPr>
                        <a:t>안</a:t>
                      </a:r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)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609" marR="4609" marT="4609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1.1. </a:t>
                      </a:r>
                      <a:r>
                        <a:rPr lang="ko-KR" altLang="en-US" sz="1100" u="none" strike="noStrike">
                          <a:effectLst/>
                          <a:latin typeface="+mj-ea"/>
                          <a:ea typeface="+mj-ea"/>
                        </a:rPr>
                        <a:t>의사결정기구 및 전담조직의 구성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609" marR="4609" marT="4609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...</a:t>
                      </a:r>
                      <a:b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</a:br>
                      <a:r>
                        <a:rPr lang="ko-KR" altLang="en-US" sz="1100" u="none" strike="noStrike">
                          <a:effectLst/>
                          <a:latin typeface="+mj-ea"/>
                          <a:ea typeface="+mj-ea"/>
                        </a:rPr>
                        <a:t>특히</a:t>
                      </a:r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100" b="1" u="none" strike="noStrike">
                          <a:effectLst/>
                          <a:latin typeface="+mj-ea"/>
                          <a:ea typeface="+mj-ea"/>
                        </a:rPr>
                        <a:t>인공지능 위험관리 전담 조직은 인공지능 기획조직이나 개발조직과 조직적</a:t>
                      </a:r>
                      <a:r>
                        <a:rPr lang="en-US" altLang="ko-KR" sz="1100" b="1" u="none" strike="noStrike">
                          <a:effectLst/>
                          <a:latin typeface="+mj-ea"/>
                          <a:ea typeface="+mj-ea"/>
                        </a:rPr>
                        <a:t>·</a:t>
                      </a:r>
                      <a:r>
                        <a:rPr lang="ko-KR" altLang="en-US" sz="1100" b="1" u="none" strike="noStrike">
                          <a:effectLst/>
                          <a:latin typeface="+mj-ea"/>
                          <a:ea typeface="+mj-ea"/>
                        </a:rPr>
                        <a:t>기능적으로 분리되어야 한다</a:t>
                      </a:r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.</a:t>
                      </a:r>
                      <a:r>
                        <a:rPr lang="ko-KR" altLang="en-US" sz="1100" u="none" strike="noStrike">
                          <a:effectLst/>
                          <a:latin typeface="+mj-ea"/>
                          <a:ea typeface="+mj-ea"/>
                        </a:rPr>
                        <a:t> 회사의 규모</a:t>
                      </a:r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100" u="none" strike="noStrike">
                          <a:effectLst/>
                          <a:latin typeface="+mj-ea"/>
                          <a:ea typeface="+mj-ea"/>
                        </a:rPr>
                        <a:t>자원</a:t>
                      </a:r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100" u="none" strike="noStrike">
                          <a:effectLst/>
                          <a:latin typeface="+mj-ea"/>
                          <a:ea typeface="+mj-ea"/>
                        </a:rPr>
                        <a:t>영위 업무</a:t>
                      </a:r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100" u="none" strike="noStrike">
                          <a:effectLst/>
                          <a:latin typeface="+mj-ea"/>
                          <a:ea typeface="+mj-ea"/>
                        </a:rPr>
                        <a:t>인공지능 활용 범위 등을 고려하여 </a:t>
                      </a:r>
                      <a:r>
                        <a:rPr lang="ko-KR" altLang="en-US" sz="1100" b="1" u="none" strike="noStrike">
                          <a:solidFill>
                            <a:schemeClr val="accent2"/>
                          </a:solidFill>
                          <a:effectLst/>
                          <a:latin typeface="+mj-ea"/>
                          <a:ea typeface="+mj-ea"/>
                        </a:rPr>
                        <a:t>인공지능 위험관리 전담조직을 인공지능 주관본부 소속으로 운영하는 방안도 고려할 수 있으나</a:t>
                      </a:r>
                      <a:r>
                        <a:rPr lang="en-US" altLang="ko-KR" sz="1100" b="1" u="none" strike="noStrike">
                          <a:solidFill>
                            <a:schemeClr val="accent2"/>
                          </a:solidFill>
                          <a:effectLst/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100" b="1" u="none" strike="noStrike">
                          <a:solidFill>
                            <a:schemeClr val="accent2"/>
                          </a:solidFill>
                          <a:effectLst/>
                          <a:latin typeface="+mj-ea"/>
                          <a:ea typeface="+mj-ea"/>
                        </a:rPr>
                        <a:t>이 경우에도 </a:t>
                      </a:r>
                      <a:r>
                        <a:rPr lang="ko-KR" altLang="en-US" sz="1100" b="1" u="none" strike="noStrike" err="1">
                          <a:solidFill>
                            <a:schemeClr val="accent2"/>
                          </a:solidFill>
                          <a:effectLst/>
                          <a:latin typeface="+mj-ea"/>
                          <a:ea typeface="+mj-ea"/>
                        </a:rPr>
                        <a:t>금융회사등은</a:t>
                      </a:r>
                      <a:r>
                        <a:rPr lang="ko-KR" altLang="en-US" sz="1100" b="1" u="none" strike="noStrike">
                          <a:solidFill>
                            <a:schemeClr val="accent2"/>
                          </a:solidFill>
                          <a:effectLst/>
                          <a:latin typeface="+mj-ea"/>
                          <a:ea typeface="+mj-ea"/>
                        </a:rPr>
                        <a:t> 인공지능 위험관리 전담조직의 독립성 확보를 위해 노력</a:t>
                      </a:r>
                      <a:r>
                        <a:rPr lang="ko-KR" altLang="en-US" sz="1100" b="1" u="none" strike="noStrike">
                          <a:effectLst/>
                          <a:latin typeface="+mj-ea"/>
                          <a:ea typeface="+mj-ea"/>
                        </a:rPr>
                        <a:t>하여야 한다</a:t>
                      </a:r>
                      <a:r>
                        <a:rPr lang="en-US" altLang="ko-KR" sz="1100" b="1" u="none" strike="noStrike">
                          <a:effectLst/>
                          <a:latin typeface="+mj-ea"/>
                          <a:ea typeface="+mj-ea"/>
                        </a:rPr>
                        <a:t>.</a:t>
                      </a:r>
                      <a:b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</a:br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....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609" marR="4609" marT="4609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9697887"/>
                  </a:ext>
                </a:extLst>
              </a:tr>
              <a:tr h="78876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2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609" marR="4609" marT="4609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  <a:latin typeface="+mj-ea"/>
                          <a:ea typeface="+mj-ea"/>
                        </a:rPr>
                        <a:t>안전성 확보 고시</a:t>
                      </a:r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(</a:t>
                      </a:r>
                      <a:r>
                        <a:rPr lang="ko-KR" altLang="en-US" sz="1100" u="none" strike="noStrike">
                          <a:effectLst/>
                          <a:latin typeface="+mj-ea"/>
                          <a:ea typeface="+mj-ea"/>
                        </a:rPr>
                        <a:t>안</a:t>
                      </a:r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)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609" marR="4609" marT="4609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  <a:latin typeface="+mj-ea"/>
                          <a:ea typeface="+mj-ea"/>
                        </a:rPr>
                        <a:t>제</a:t>
                      </a:r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5</a:t>
                      </a:r>
                      <a:r>
                        <a:rPr lang="ko-KR" altLang="en-US" sz="1100" u="none" strike="noStrike">
                          <a:effectLst/>
                          <a:latin typeface="+mj-ea"/>
                          <a:ea typeface="+mj-ea"/>
                        </a:rPr>
                        <a:t>조</a:t>
                      </a:r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(</a:t>
                      </a:r>
                      <a:r>
                        <a:rPr lang="ko-KR" altLang="en-US" sz="1100" u="none" strike="noStrike">
                          <a:effectLst/>
                          <a:latin typeface="+mj-ea"/>
                          <a:ea typeface="+mj-ea"/>
                        </a:rPr>
                        <a:t>위험의 평가 등</a:t>
                      </a:r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)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609" marR="4609" marT="4609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….</a:t>
                      </a:r>
                      <a:b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</a:br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② </a:t>
                      </a:r>
                      <a:r>
                        <a:rPr lang="ko-KR" altLang="en-US" sz="1100" u="none" strike="noStrike">
                          <a:effectLst/>
                          <a:latin typeface="+mj-ea"/>
                          <a:ea typeface="+mj-ea"/>
                        </a:rPr>
                        <a:t>인공지능사업자는 위험을 평가하기 위하여 위험평가조직을 구성하여야 하며</a:t>
                      </a:r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100" u="none" strike="noStrike">
                          <a:effectLst/>
                          <a:latin typeface="+mj-ea"/>
                          <a:ea typeface="+mj-ea"/>
                        </a:rPr>
                        <a:t>필요한 경우 외부 기관 또는 전문가가 참여하게 할 수 있다</a:t>
                      </a:r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.</a:t>
                      </a:r>
                      <a:b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</a:br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③ </a:t>
                      </a:r>
                      <a:r>
                        <a:rPr lang="ko-KR" altLang="en-US" sz="1100" u="none" strike="noStrike">
                          <a:effectLst/>
                          <a:latin typeface="+mj-ea"/>
                          <a:ea typeface="+mj-ea"/>
                        </a:rPr>
                        <a:t>인공지능사업자는 객관적인 위험평가를 수행하기 위하여 평가 기준</a:t>
                      </a:r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100" u="none" strike="noStrike">
                          <a:effectLst/>
                          <a:latin typeface="+mj-ea"/>
                          <a:ea typeface="+mj-ea"/>
                        </a:rPr>
                        <a:t>평가 방법 및 절차를 마련하여야 하며</a:t>
                      </a:r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100" u="none" strike="noStrike">
                          <a:effectLst/>
                          <a:latin typeface="+mj-ea"/>
                          <a:ea typeface="+mj-ea"/>
                        </a:rPr>
                        <a:t>제</a:t>
                      </a:r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2</a:t>
                      </a:r>
                      <a:r>
                        <a:rPr lang="ko-KR" altLang="en-US" sz="1100" u="none" strike="noStrike">
                          <a:effectLst/>
                          <a:latin typeface="+mj-ea"/>
                          <a:ea typeface="+mj-ea"/>
                        </a:rPr>
                        <a:t>항에 따른 </a:t>
                      </a:r>
                      <a:r>
                        <a:rPr lang="ko-KR" altLang="en-US" sz="1100" b="1" u="none" strike="noStrike">
                          <a:effectLst/>
                          <a:latin typeface="+mj-ea"/>
                          <a:ea typeface="+mj-ea"/>
                        </a:rPr>
                        <a:t>위험평가조직의 독립성을 최대한 존중하여야 한다</a:t>
                      </a:r>
                      <a:r>
                        <a:rPr lang="en-US" altLang="ko-KR" sz="1100" b="1" u="none" strike="noStrike">
                          <a:effectLst/>
                          <a:latin typeface="+mj-ea"/>
                          <a:ea typeface="+mj-ea"/>
                        </a:rPr>
                        <a:t>.</a:t>
                      </a:r>
                      <a:endParaRPr lang="ko-KR" altLang="en-US" sz="1100" b="1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609" marR="4609" marT="4609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4513355"/>
                  </a:ext>
                </a:extLst>
              </a:tr>
              <a:tr h="50698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3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609" marR="4609" marT="4609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  <a:latin typeface="+mj-ea"/>
                          <a:ea typeface="+mj-ea"/>
                        </a:rPr>
                        <a:t>인공지능 안전성 확보 가이드라인</a:t>
                      </a:r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(</a:t>
                      </a:r>
                      <a:r>
                        <a:rPr lang="ko-KR" altLang="en-US" sz="1100" u="none" strike="noStrike">
                          <a:effectLst/>
                          <a:latin typeface="+mj-ea"/>
                          <a:ea typeface="+mj-ea"/>
                        </a:rPr>
                        <a:t>안</a:t>
                      </a:r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)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609" marR="4609" marT="4609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3.2. </a:t>
                      </a:r>
                      <a:r>
                        <a:rPr lang="ko-KR" altLang="en-US" sz="1100" u="none" strike="noStrike">
                          <a:effectLst/>
                          <a:latin typeface="+mj-ea"/>
                          <a:ea typeface="+mj-ea"/>
                        </a:rPr>
                        <a:t>인공지능 위험 평가 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609" marR="4609" marT="4609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(</a:t>
                      </a:r>
                      <a:r>
                        <a:rPr lang="ko-KR" altLang="en-US" sz="1100" u="none" strike="noStrike">
                          <a:effectLst/>
                          <a:latin typeface="+mj-ea"/>
                          <a:ea typeface="+mj-ea"/>
                        </a:rPr>
                        <a:t>독립성 보장</a:t>
                      </a:r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) </a:t>
                      </a:r>
                      <a:r>
                        <a:rPr lang="ko-KR" altLang="en-US" sz="1100" u="none" strike="noStrike">
                          <a:effectLst/>
                          <a:latin typeface="+mj-ea"/>
                          <a:ea typeface="+mj-ea"/>
                        </a:rPr>
                        <a:t>위험평가조직은 기술 개발 부서</a:t>
                      </a:r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100" u="none" strike="noStrike">
                          <a:effectLst/>
                          <a:latin typeface="+mj-ea"/>
                          <a:ea typeface="+mj-ea"/>
                        </a:rPr>
                        <a:t>사업 운영 부서</a:t>
                      </a:r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100" u="none" strike="noStrike">
                          <a:effectLst/>
                          <a:latin typeface="+mj-ea"/>
                          <a:ea typeface="+mj-ea"/>
                        </a:rPr>
                        <a:t>마케팅 부서 </a:t>
                      </a:r>
                      <a:r>
                        <a:rPr lang="ko-KR" altLang="en-US" sz="1100" b="0" u="none" strike="noStrike">
                          <a:effectLst/>
                          <a:latin typeface="+mj-ea"/>
                          <a:ea typeface="+mj-ea"/>
                        </a:rPr>
                        <a:t>등과 </a:t>
                      </a:r>
                      <a:r>
                        <a:rPr lang="ko-KR" altLang="en-US" sz="1100" b="1" u="none" strike="noStrike">
                          <a:effectLst/>
                          <a:latin typeface="+mj-ea"/>
                          <a:ea typeface="+mj-ea"/>
                        </a:rPr>
                        <a:t>조직적으로 독립된 위치에 두는 것을 </a:t>
                      </a:r>
                      <a:r>
                        <a:rPr lang="ko-KR" altLang="en-US" sz="1100" b="1" u="none" strike="noStrike">
                          <a:solidFill>
                            <a:schemeClr val="accent2"/>
                          </a:solidFill>
                          <a:effectLst/>
                          <a:latin typeface="+mj-ea"/>
                          <a:ea typeface="+mj-ea"/>
                        </a:rPr>
                        <a:t>권장</a:t>
                      </a:r>
                      <a:r>
                        <a:rPr lang="ko-KR" altLang="en-US" sz="1100" b="1" u="none" strike="noStrike">
                          <a:effectLst/>
                          <a:latin typeface="+mj-ea"/>
                          <a:ea typeface="+mj-ea"/>
                        </a:rPr>
                        <a:t>하며</a:t>
                      </a:r>
                      <a:r>
                        <a:rPr lang="en-US" altLang="ko-KR" sz="1100" b="1" u="none" strike="noStrike">
                          <a:effectLst/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100" b="1" u="none" strike="noStrike">
                          <a:effectLst/>
                          <a:latin typeface="+mj-ea"/>
                          <a:ea typeface="+mj-ea"/>
                        </a:rPr>
                        <a:t>의사결정 라인 또한 독립적으로 </a:t>
                      </a:r>
                      <a:r>
                        <a:rPr lang="ko-KR" altLang="en-US" sz="1100" b="1" u="none" strike="noStrike">
                          <a:solidFill>
                            <a:schemeClr val="accent2"/>
                          </a:solidFill>
                          <a:effectLst/>
                          <a:latin typeface="+mj-ea"/>
                          <a:ea typeface="+mj-ea"/>
                        </a:rPr>
                        <a:t>구성될 필요가 있다</a:t>
                      </a:r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. </a:t>
                      </a:r>
                      <a:r>
                        <a:rPr lang="ko-KR" altLang="en-US" sz="1100" u="none" strike="noStrike">
                          <a:effectLst/>
                          <a:latin typeface="+mj-ea"/>
                          <a:ea typeface="+mj-ea"/>
                        </a:rPr>
                        <a:t>특히</a:t>
                      </a:r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100" u="none" strike="noStrike">
                          <a:effectLst/>
                          <a:latin typeface="+mj-ea"/>
                          <a:ea typeface="+mj-ea"/>
                        </a:rPr>
                        <a:t>평가조직이 독립성을 유지할 수 있도록 최고책임자에게 직접 평가 결과를 보고할 수 있는 체계를 마련하는 것이 중요하다</a:t>
                      </a:r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.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609" marR="4609" marT="4609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6547288"/>
                  </a:ext>
                </a:extLst>
              </a:tr>
              <a:tr h="150682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4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609" marR="4609" marT="4609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  <a:latin typeface="+mj-ea"/>
                          <a:ea typeface="+mj-ea"/>
                        </a:rPr>
                        <a:t>인공지능 안전성 확보 가이드라인</a:t>
                      </a:r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(</a:t>
                      </a:r>
                      <a:r>
                        <a:rPr lang="ko-KR" altLang="en-US" sz="1100" u="none" strike="noStrike">
                          <a:effectLst/>
                          <a:latin typeface="+mj-ea"/>
                          <a:ea typeface="+mj-ea"/>
                        </a:rPr>
                        <a:t>안</a:t>
                      </a:r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)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609" marR="4609" marT="4609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4.1. </a:t>
                      </a:r>
                      <a:r>
                        <a:rPr lang="ko-KR" altLang="en-US" sz="1100" u="none" strike="noStrike">
                          <a:effectLst/>
                          <a:latin typeface="+mj-ea"/>
                          <a:ea typeface="+mj-ea"/>
                        </a:rPr>
                        <a:t>위험관리 체계 구축 </a:t>
                      </a:r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· </a:t>
                      </a:r>
                      <a:r>
                        <a:rPr lang="ko-KR" altLang="en-US" sz="1100" u="none" strike="noStrike">
                          <a:effectLst/>
                          <a:latin typeface="+mj-ea"/>
                          <a:ea typeface="+mj-ea"/>
                        </a:rPr>
                        <a:t>운영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609" marR="4609" marT="4609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[</a:t>
                      </a:r>
                      <a:r>
                        <a:rPr lang="ko-KR" altLang="en-US" sz="1100" u="none" strike="noStrike">
                          <a:effectLst/>
                          <a:latin typeface="+mj-ea"/>
                          <a:ea typeface="+mj-ea"/>
                        </a:rPr>
                        <a:t>대응 조직</a:t>
                      </a:r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] </a:t>
                      </a:r>
                      <a:r>
                        <a:rPr lang="ko-KR" altLang="en-US" sz="1100" u="none" strike="noStrike">
                          <a:effectLst/>
                          <a:latin typeface="+mj-ea"/>
                          <a:ea typeface="+mj-ea"/>
                        </a:rPr>
                        <a:t>인공지능안전사고 대응 조직의 구성 및 운영 방식은 각 인공지능개발 사업자의 조직 규모</a:t>
                      </a:r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100" u="none" strike="noStrike">
                          <a:effectLst/>
                          <a:latin typeface="+mj-ea"/>
                          <a:ea typeface="+mj-ea"/>
                        </a:rPr>
                        <a:t>산업 분야</a:t>
                      </a:r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100" u="none" strike="noStrike">
                          <a:effectLst/>
                          <a:latin typeface="+mj-ea"/>
                          <a:ea typeface="+mj-ea"/>
                        </a:rPr>
                        <a:t>기술 수준</a:t>
                      </a:r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100" u="none" strike="noStrike">
                          <a:effectLst/>
                          <a:latin typeface="+mj-ea"/>
                          <a:ea typeface="+mj-ea"/>
                        </a:rPr>
                        <a:t>사업 목적에 따라 다양하게 설계될 수 있다</a:t>
                      </a:r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. </a:t>
                      </a:r>
                      <a:b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</a:br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….</a:t>
                      </a:r>
                      <a:b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</a:br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(</a:t>
                      </a:r>
                      <a:r>
                        <a:rPr lang="ko-KR" altLang="en-US" sz="1100" u="none" strike="noStrike">
                          <a:effectLst/>
                          <a:latin typeface="+mj-ea"/>
                          <a:ea typeface="+mj-ea"/>
                        </a:rPr>
                        <a:t>실행 체계</a:t>
                      </a:r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) </a:t>
                      </a:r>
                      <a:r>
                        <a:rPr lang="ko-KR" altLang="en-US" sz="1100" u="none" strike="noStrike">
                          <a:effectLst/>
                          <a:latin typeface="+mj-ea"/>
                          <a:ea typeface="+mj-ea"/>
                        </a:rPr>
                        <a:t>인공지능안전사고 대응의 중요성과 복잡성을 고려할 때</a:t>
                      </a:r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100" b="1" u="none" strike="noStrike">
                          <a:effectLst/>
                          <a:latin typeface="+mj-ea"/>
                          <a:ea typeface="+mj-ea"/>
                        </a:rPr>
                        <a:t>전담 조직을 별도로 설치하는 것이 </a:t>
                      </a:r>
                      <a:r>
                        <a:rPr lang="ko-KR" altLang="en-US" sz="1100" b="1" u="none" strike="noStrike">
                          <a:solidFill>
                            <a:schemeClr val="accent2"/>
                          </a:solidFill>
                          <a:effectLst/>
                          <a:latin typeface="+mj-ea"/>
                          <a:ea typeface="+mj-ea"/>
                        </a:rPr>
                        <a:t>권장</a:t>
                      </a:r>
                      <a:r>
                        <a:rPr lang="ko-KR" altLang="en-US" sz="1100" u="none" strike="noStrike">
                          <a:effectLst/>
                          <a:latin typeface="+mj-ea"/>
                          <a:ea typeface="+mj-ea"/>
                        </a:rPr>
                        <a:t>된다</a:t>
                      </a:r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.</a:t>
                      </a:r>
                      <a:b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</a:br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.....</a:t>
                      </a:r>
                      <a:b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</a:br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 (</a:t>
                      </a:r>
                      <a:r>
                        <a:rPr lang="ko-KR" altLang="en-US" sz="1100" u="none" strike="noStrike">
                          <a:effectLst/>
                          <a:latin typeface="+mj-ea"/>
                          <a:ea typeface="+mj-ea"/>
                        </a:rPr>
                        <a:t>보장 조건</a:t>
                      </a:r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) </a:t>
                      </a:r>
                      <a:r>
                        <a:rPr lang="ko-KR" altLang="en-US" sz="1100" u="none" strike="noStrike">
                          <a:effectLst/>
                          <a:latin typeface="+mj-ea"/>
                          <a:ea typeface="+mj-ea"/>
                        </a:rPr>
                        <a:t>안전사고 대응을 효과적으로 수행하기 위해서는 위험관리 조직이 조직 내의 </a:t>
                      </a:r>
                      <a:r>
                        <a:rPr lang="ko-KR" altLang="en-US" sz="1100" u="none" strike="noStrike" err="1">
                          <a:effectLst/>
                          <a:latin typeface="+mj-ea"/>
                          <a:ea typeface="+mj-ea"/>
                        </a:rPr>
                        <a:t>이해충돌로부터</a:t>
                      </a:r>
                      <a:r>
                        <a:rPr lang="ko-KR" altLang="en-US" sz="1100" u="none" strike="noStrike">
                          <a:effectLst/>
                          <a:latin typeface="+mj-ea"/>
                          <a:ea typeface="+mj-ea"/>
                        </a:rPr>
                        <a:t> 자유롭게 판단할 수 있도록 자율성을 보장할 필요가 있다</a:t>
                      </a:r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.</a:t>
                      </a:r>
                      <a:b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</a:br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....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609" marR="4609" marT="4609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1532213"/>
                  </a:ext>
                </a:extLst>
              </a:tr>
              <a:tr h="12620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5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609" marR="4609" marT="4609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  <a:latin typeface="+mj-ea"/>
                          <a:ea typeface="+mj-ea"/>
                        </a:rPr>
                        <a:t>고영향 인공지능 사업자 책무 가이드라인</a:t>
                      </a:r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(</a:t>
                      </a:r>
                      <a:r>
                        <a:rPr lang="ko-KR" altLang="en-US" sz="1100" u="none" strike="noStrike">
                          <a:effectLst/>
                          <a:latin typeface="+mj-ea"/>
                          <a:ea typeface="+mj-ea"/>
                        </a:rPr>
                        <a:t>안</a:t>
                      </a:r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) 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609" marR="4609" marT="4609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1-2 </a:t>
                      </a:r>
                      <a:r>
                        <a:rPr lang="ko-KR" altLang="en-US" sz="1100" u="none" strike="noStrike">
                          <a:effectLst/>
                          <a:latin typeface="+mj-ea"/>
                          <a:ea typeface="+mj-ea"/>
                        </a:rPr>
                        <a:t>위험관리 조직체계 수립 및 운영</a:t>
                      </a:r>
                      <a:br>
                        <a:rPr lang="ko-KR" altLang="en-US" sz="1100" u="none" strike="noStrike">
                          <a:effectLst/>
                          <a:latin typeface="+mj-ea"/>
                          <a:ea typeface="+mj-ea"/>
                        </a:rPr>
                      </a:br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1-2-1. </a:t>
                      </a:r>
                      <a:r>
                        <a:rPr lang="ko-KR" altLang="en-US" sz="1100" u="none" strike="noStrike">
                          <a:effectLst/>
                          <a:latin typeface="+mj-ea"/>
                          <a:ea typeface="+mj-ea"/>
                        </a:rPr>
                        <a:t>위험관리 조직체계 구성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609" marR="4609" marT="4609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100" u="none" strike="noStrike">
                          <a:effectLst/>
                          <a:latin typeface="+mj-ea"/>
                          <a:ea typeface="+mj-ea"/>
                        </a:rPr>
                        <a:t>목표</a:t>
                      </a:r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: </a:t>
                      </a:r>
                      <a:r>
                        <a:rPr lang="ko-KR" altLang="en-US" sz="1100" u="none" strike="noStrike">
                          <a:effectLst/>
                          <a:latin typeface="+mj-ea"/>
                          <a:ea typeface="+mj-ea"/>
                        </a:rPr>
                        <a:t>위험을 관리하는 담당 조직을 구성하거나 조직 내 위험관리를 담당하는 인력을 지정해야 함</a:t>
                      </a:r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.</a:t>
                      </a:r>
                      <a:b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</a:br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 ※ </a:t>
                      </a:r>
                      <a:r>
                        <a:rPr lang="ko-KR" altLang="en-US" sz="1100" u="none" strike="noStrike">
                          <a:effectLst/>
                          <a:latin typeface="+mj-ea"/>
                          <a:ea typeface="+mj-ea"/>
                        </a:rPr>
                        <a:t>사업자의 규모 및 역량을 고려하여 담당 조직을 구성할 수도 있고</a:t>
                      </a:r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100" u="none" strike="noStrike">
                          <a:effectLst/>
                          <a:latin typeface="+mj-ea"/>
                          <a:ea typeface="+mj-ea"/>
                        </a:rPr>
                        <a:t>겸임 인력을 지정할 수 있음</a:t>
                      </a:r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.</a:t>
                      </a:r>
                      <a:b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</a:br>
                      <a:r>
                        <a:rPr lang="ko-KR" altLang="en-US" sz="1100" u="none" strike="noStrike">
                          <a:effectLst/>
                          <a:latin typeface="+mj-ea"/>
                          <a:ea typeface="+mj-ea"/>
                        </a:rPr>
                        <a:t>설명</a:t>
                      </a:r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: </a:t>
                      </a:r>
                      <a:r>
                        <a:rPr lang="ko-KR" altLang="en-US" sz="1100" u="none" strike="noStrike">
                          <a:effectLst/>
                          <a:latin typeface="+mj-ea"/>
                          <a:ea typeface="+mj-ea"/>
                        </a:rPr>
                        <a:t>개발 및 이용사업자는 인공지능 시스템의 설계</a:t>
                      </a:r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·</a:t>
                      </a:r>
                      <a:r>
                        <a:rPr lang="ko-KR" altLang="en-US" sz="1100" u="none" strike="noStrike">
                          <a:effectLst/>
                          <a:latin typeface="+mj-ea"/>
                          <a:ea typeface="+mj-ea"/>
                        </a:rPr>
                        <a:t>개발</a:t>
                      </a:r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·</a:t>
                      </a:r>
                      <a:r>
                        <a:rPr lang="ko-KR" altLang="en-US" sz="1100" u="none" strike="noStrike">
                          <a:effectLst/>
                          <a:latin typeface="+mj-ea"/>
                          <a:ea typeface="+mj-ea"/>
                        </a:rPr>
                        <a:t>운영 과정에서 발생 가능한 법적</a:t>
                      </a:r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100" u="none" strike="noStrike">
                          <a:effectLst/>
                          <a:latin typeface="+mj-ea"/>
                          <a:ea typeface="+mj-ea"/>
                        </a:rPr>
                        <a:t>사회적 위험을 체계적으로 관리하기 위해 노력해야 함</a:t>
                      </a:r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.</a:t>
                      </a:r>
                      <a:b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</a:br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1100" u="none" strike="noStrike">
                          <a:effectLst/>
                          <a:latin typeface="+mj-ea"/>
                          <a:ea typeface="+mj-ea"/>
                        </a:rPr>
                        <a:t>위험관리 조직 또는 인력은 기술</a:t>
                      </a:r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100" u="none" strike="noStrike">
                          <a:effectLst/>
                          <a:latin typeface="+mj-ea"/>
                          <a:ea typeface="+mj-ea"/>
                        </a:rPr>
                        <a:t>법률</a:t>
                      </a:r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100" u="none" strike="noStrike">
                          <a:effectLst/>
                          <a:latin typeface="+mj-ea"/>
                          <a:ea typeface="+mj-ea"/>
                        </a:rPr>
                        <a:t>윤리 등 다양한 분야의 전문가 또는 담당자로 구성하도록 노력하여야 하며</a:t>
                      </a:r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100" u="none" strike="noStrike">
                          <a:effectLst/>
                          <a:latin typeface="+mj-ea"/>
                          <a:ea typeface="+mj-ea"/>
                        </a:rPr>
                        <a:t>이들의 책임과 권한을 정의해야 함</a:t>
                      </a:r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.</a:t>
                      </a:r>
                      <a:b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</a:br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- </a:t>
                      </a:r>
                      <a:r>
                        <a:rPr lang="ko-KR" altLang="en-US" sz="1100" u="none" strike="noStrike">
                          <a:solidFill>
                            <a:schemeClr val="accent2"/>
                          </a:solidFill>
                          <a:effectLst/>
                          <a:latin typeface="+mj-ea"/>
                          <a:ea typeface="+mj-ea"/>
                        </a:rPr>
                        <a:t>이 조직 또는 인력은 인공지능 기획</a:t>
                      </a:r>
                      <a:r>
                        <a:rPr lang="en-US" altLang="ko-KR" sz="1100" u="none" strike="noStrike">
                          <a:solidFill>
                            <a:schemeClr val="accent2"/>
                          </a:solidFill>
                          <a:effectLst/>
                          <a:latin typeface="+mj-ea"/>
                          <a:ea typeface="+mj-ea"/>
                        </a:rPr>
                        <a:t>·</a:t>
                      </a:r>
                      <a:r>
                        <a:rPr lang="ko-KR" altLang="en-US" sz="1100" u="none" strike="noStrike">
                          <a:solidFill>
                            <a:schemeClr val="accent2"/>
                          </a:solidFill>
                          <a:effectLst/>
                          <a:latin typeface="+mj-ea"/>
                          <a:ea typeface="+mj-ea"/>
                        </a:rPr>
                        <a:t>개발 업무와 분리되어야 하며</a:t>
                      </a:r>
                      <a:r>
                        <a:rPr lang="en-US" altLang="ko-KR" sz="1100" u="none" strike="noStrike">
                          <a:solidFill>
                            <a:schemeClr val="accent2"/>
                          </a:solidFill>
                          <a:effectLst/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100" u="none" strike="noStrike">
                          <a:solidFill>
                            <a:schemeClr val="accent2"/>
                          </a:solidFill>
                          <a:effectLst/>
                          <a:latin typeface="+mj-ea"/>
                          <a:ea typeface="+mj-ea"/>
                        </a:rPr>
                        <a:t>이해상충 방지를 위한 조직적</a:t>
                      </a:r>
                      <a:r>
                        <a:rPr lang="en-US" altLang="ko-KR" sz="1100" u="none" strike="noStrike">
                          <a:solidFill>
                            <a:schemeClr val="accent2"/>
                          </a:solidFill>
                          <a:effectLst/>
                          <a:latin typeface="+mj-ea"/>
                          <a:ea typeface="+mj-ea"/>
                        </a:rPr>
                        <a:t>·</a:t>
                      </a:r>
                      <a:r>
                        <a:rPr lang="ko-KR" altLang="en-US" sz="1100" u="none" strike="noStrike">
                          <a:solidFill>
                            <a:schemeClr val="accent2"/>
                          </a:solidFill>
                          <a:effectLst/>
                          <a:latin typeface="+mj-ea"/>
                          <a:ea typeface="+mj-ea"/>
                        </a:rPr>
                        <a:t>기능적 독립성이 최대한 확보되어야 함</a:t>
                      </a:r>
                      <a:r>
                        <a:rPr lang="en-US" altLang="ko-KR" sz="1100" u="none" strike="noStrike">
                          <a:effectLst/>
                          <a:latin typeface="+mj-ea"/>
                          <a:ea typeface="+mj-ea"/>
                        </a:rPr>
                        <a:t>.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4609" marR="4609" marT="4609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51626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86472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0B38581D-AE28-3567-5E95-71C1B508E74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EE2522C-6AB3-D5F7-DA29-8F39A7F7E5C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AI</a:t>
            </a:r>
            <a:r>
              <a:rPr lang="ko-KR" altLang="en-US" err="1"/>
              <a:t>거버넌스협의체</a:t>
            </a:r>
            <a:r>
              <a:rPr lang="ko-KR" altLang="en-US"/>
              <a:t> 구성 방안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1152001-E2AB-A110-2281-4B0B264D73D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/>
              <a:t>AI</a:t>
            </a:r>
            <a:r>
              <a:rPr lang="ko-KR" altLang="en-US" err="1"/>
              <a:t>거버넌스협의체</a:t>
            </a:r>
            <a:r>
              <a:rPr lang="ko-KR" altLang="en-US"/>
              <a:t> 구성 시 어떤 조직 내 위치할 것인지</a:t>
            </a:r>
            <a:r>
              <a:rPr lang="en-US" altLang="ko-KR"/>
              <a:t>, </a:t>
            </a:r>
            <a:r>
              <a:rPr lang="ko-KR" altLang="en-US"/>
              <a:t>기존 협의체의 역할을 고려한 방안이 필요함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6F26437-1449-E7CE-D19B-B9A568496F65}"/>
              </a:ext>
            </a:extLst>
          </p:cNvPr>
          <p:cNvSpPr/>
          <p:nvPr/>
        </p:nvSpPr>
        <p:spPr>
          <a:xfrm>
            <a:off x="334963" y="5929292"/>
            <a:ext cx="828000" cy="595329"/>
          </a:xfrm>
          <a:prstGeom prst="rect">
            <a:avLst/>
          </a:prstGeom>
          <a:solidFill>
            <a:srgbClr val="043B7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고려사항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EBB3CD9-1293-38D5-CC96-BC082ED446CE}"/>
              </a:ext>
            </a:extLst>
          </p:cNvPr>
          <p:cNvSpPr/>
          <p:nvPr/>
        </p:nvSpPr>
        <p:spPr>
          <a:xfrm>
            <a:off x="1216581" y="5929292"/>
            <a:ext cx="10675381" cy="595329"/>
          </a:xfrm>
          <a:prstGeom prst="rect">
            <a:avLst/>
          </a:prstGeom>
          <a:pattFill prst="dkUpDiag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협의체의 독립성</a:t>
            </a:r>
            <a:r>
              <a:rPr lang="en-US" altLang="ko-KR" sz="1200" dirty="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dirty="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실행력</a:t>
            </a:r>
            <a:r>
              <a:rPr lang="en-US" altLang="ko-KR" sz="1200" dirty="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dirty="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전문성</a:t>
            </a:r>
            <a:r>
              <a:rPr lang="en-US" altLang="ko-KR" sz="1200" dirty="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dirty="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전사 영향도</a:t>
            </a:r>
            <a:r>
              <a:rPr lang="en-US" altLang="ko-KR" sz="1200" dirty="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dirty="0" err="1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상시성</a:t>
            </a:r>
            <a:r>
              <a:rPr lang="en-US" altLang="ko-KR" sz="1200" dirty="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,</a:t>
            </a:r>
            <a:r>
              <a:rPr lang="ko-KR" altLang="en-US" sz="1200" dirty="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 의사결정 신속성 등을 고려한 </a:t>
            </a:r>
            <a:r>
              <a:rPr lang="en-US" altLang="ko-KR" sz="1200" dirty="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AI</a:t>
            </a:r>
            <a:r>
              <a:rPr lang="ko-KR" altLang="en-US" sz="1200" dirty="0" err="1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거버넌스협의체</a:t>
            </a:r>
            <a:r>
              <a:rPr lang="ko-KR" altLang="en-US" sz="1200" dirty="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 구성이 필요함</a:t>
            </a:r>
            <a:endParaRPr lang="en-US" altLang="ko-KR" sz="1200" dirty="0">
              <a:ln>
                <a:solidFill>
                  <a:schemeClr val="accent2">
                    <a:lumMod val="60000"/>
                    <a:lumOff val="40000"/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AI</a:t>
            </a:r>
            <a:r>
              <a:rPr lang="ko-KR" altLang="en-US" sz="1200" dirty="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조직이 </a:t>
            </a:r>
            <a:r>
              <a:rPr lang="en-US" altLang="ko-KR" sz="1200" dirty="0" err="1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Tech&amp;AI</a:t>
            </a:r>
            <a:r>
              <a:rPr lang="ko-KR" altLang="en-US" sz="1200" dirty="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부문 내 </a:t>
            </a:r>
            <a:r>
              <a:rPr lang="ko-KR" altLang="en-US" sz="1200" dirty="0" err="1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밀집되어있고</a:t>
            </a:r>
            <a:r>
              <a:rPr lang="en-US" altLang="ko-KR" sz="1200" dirty="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, AX</a:t>
            </a:r>
            <a:r>
              <a:rPr lang="ko-KR" altLang="en-US" sz="1200" dirty="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추진위원회에서 다수 논의사항을 旣수행 중임으로 </a:t>
            </a:r>
            <a:r>
              <a:rPr lang="en-US" altLang="ko-KR" sz="1200" dirty="0" err="1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Tech&amp;AI</a:t>
            </a:r>
            <a:r>
              <a:rPr lang="ko-KR" altLang="en-US" sz="1200" dirty="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부문內 </a:t>
            </a:r>
            <a:r>
              <a:rPr lang="en-US" altLang="ko-KR" sz="1200" dirty="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AX</a:t>
            </a:r>
            <a:r>
              <a:rPr lang="ko-KR" altLang="en-US" sz="1200" dirty="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추진위원회에 역할 추가부여를 권고함</a:t>
            </a:r>
            <a:endParaRPr lang="en-US" altLang="ko-KR" sz="1200" dirty="0">
              <a:ln>
                <a:solidFill>
                  <a:schemeClr val="accent2">
                    <a:lumMod val="60000"/>
                    <a:lumOff val="40000"/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FA4A7C6-77B8-78E7-0C99-781EE338AB54}"/>
              </a:ext>
            </a:extLst>
          </p:cNvPr>
          <p:cNvSpPr/>
          <p:nvPr/>
        </p:nvSpPr>
        <p:spPr>
          <a:xfrm>
            <a:off x="334964" y="1324198"/>
            <a:ext cx="828000" cy="214647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  <a:sym typeface="Arial"/>
              </a:rPr>
              <a:t>조직 內</a:t>
            </a:r>
          </a:p>
          <a:p>
            <a:pPr algn="ctr"/>
            <a:r>
              <a:rPr lang="ko-KR" altLang="en-US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  <a:sym typeface="Arial"/>
              </a:rPr>
              <a:t>위치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611EE0B-D2E0-3219-99B9-358C6A5126E7}"/>
              </a:ext>
            </a:extLst>
          </p:cNvPr>
          <p:cNvSpPr/>
          <p:nvPr/>
        </p:nvSpPr>
        <p:spPr>
          <a:xfrm>
            <a:off x="334964" y="3656027"/>
            <a:ext cx="828000" cy="214647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  <a:sym typeface="Arial"/>
              </a:rPr>
              <a:t>신설</a:t>
            </a:r>
            <a:br>
              <a: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  <a:sym typeface="Arial"/>
              </a:rPr>
            </a:br>
            <a:r>
              <a:rPr lang="ko-KR" altLang="en-US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  <a:sym typeface="Arial"/>
              </a:rPr>
              <a:t>여부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754747CC-E1AF-FA6D-961F-2B4BC0DBB50F}"/>
              </a:ext>
            </a:extLst>
          </p:cNvPr>
          <p:cNvGrpSpPr/>
          <p:nvPr/>
        </p:nvGrpSpPr>
        <p:grpSpPr>
          <a:xfrm>
            <a:off x="1307988" y="1457295"/>
            <a:ext cx="10476024" cy="369439"/>
            <a:chOff x="1307988" y="1413087"/>
            <a:chExt cx="10476024" cy="369439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25AC99A8-2A65-EE5B-78B3-1C076FE09140}"/>
                </a:ext>
              </a:extLst>
            </p:cNvPr>
            <p:cNvSpPr/>
            <p:nvPr/>
          </p:nvSpPr>
          <p:spPr>
            <a:xfrm>
              <a:off x="1307988" y="1413087"/>
              <a:ext cx="3274690" cy="369439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accent4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</a:rPr>
                <a:t> </a:t>
              </a:r>
              <a:r>
                <a:rPr lang="en-US" altLang="ko-KR" sz="1400" b="1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</a:rPr>
                <a:t>AI</a:t>
              </a:r>
              <a:r>
                <a:rPr lang="ko-KR" altLang="en-US" sz="1400" b="1" err="1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</a:rPr>
                <a:t>거버넌스협의체</a:t>
              </a:r>
              <a:r>
                <a:rPr lang="en-US" altLang="ko-KR" sz="1400" b="1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</a:rPr>
                <a:t>: </a:t>
              </a:r>
              <a:r>
                <a:rPr lang="ko-KR" altLang="en-US" sz="1400" b="1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</a:rPr>
                <a:t>이사회 산하</a:t>
              </a: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D53844D6-07A7-AC37-BC70-7D61A3150EB4}"/>
                </a:ext>
              </a:extLst>
            </p:cNvPr>
            <p:cNvSpPr/>
            <p:nvPr/>
          </p:nvSpPr>
          <p:spPr>
            <a:xfrm>
              <a:off x="4908656" y="1413087"/>
              <a:ext cx="3274690" cy="369439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accent4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b="1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</a:rPr>
                <a:t>AI</a:t>
              </a:r>
              <a:r>
                <a:rPr lang="ko-KR" altLang="en-US" sz="1400" b="1" err="1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</a:rPr>
                <a:t>거버넌스협의체</a:t>
              </a:r>
              <a:r>
                <a:rPr lang="en-US" altLang="ko-KR" sz="1400" b="1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</a:rPr>
                <a:t>: </a:t>
              </a:r>
              <a:r>
                <a:rPr lang="ko-KR" altLang="en-US" sz="1400" b="1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</a:rPr>
                <a:t>대표이사 산하</a:t>
              </a: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E3F06919-DC0E-7B20-AC2E-A74F02274CD6}"/>
                </a:ext>
              </a:extLst>
            </p:cNvPr>
            <p:cNvSpPr/>
            <p:nvPr/>
          </p:nvSpPr>
          <p:spPr>
            <a:xfrm>
              <a:off x="8509322" y="1413087"/>
              <a:ext cx="3274690" cy="369439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accent4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b="1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</a:rPr>
                <a:t>AI</a:t>
              </a:r>
              <a:r>
                <a:rPr lang="ko-KR" altLang="en-US" sz="1400" b="1" err="1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</a:rPr>
                <a:t>거버넌스협의체</a:t>
              </a:r>
              <a:r>
                <a:rPr lang="en-US" altLang="ko-KR" sz="1400" b="1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</a:rPr>
                <a:t>: </a:t>
              </a:r>
              <a:r>
                <a:rPr lang="ko-KR" altLang="en-US" sz="1400" b="1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</a:rPr>
                <a:t>그룹 산하</a:t>
              </a:r>
            </a:p>
          </p:txBody>
        </p:sp>
      </p:grpSp>
      <p:sp>
        <p:nvSpPr>
          <p:cNvPr id="13" name="Freeform 14">
            <a:extLst>
              <a:ext uri="{FF2B5EF4-FFF2-40B4-BE49-F238E27FC236}">
                <a16:creationId xmlns:a16="http://schemas.microsoft.com/office/drawing/2014/main" id="{01C655E1-D806-EFF4-3C22-BDC267695144}"/>
              </a:ext>
            </a:extLst>
          </p:cNvPr>
          <p:cNvSpPr>
            <a:spLocks/>
          </p:cNvSpPr>
          <p:nvPr/>
        </p:nvSpPr>
        <p:spPr bwMode="auto">
          <a:xfrm>
            <a:off x="5068347" y="2323973"/>
            <a:ext cx="895783" cy="647010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F5822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noAutofit/>
          </a:bodyPr>
          <a:lstStyle/>
          <a:p>
            <a:pPr algn="ctr" defTabSz="977172"/>
            <a:r>
              <a:rPr kumimoji="1" lang="en-US" altLang="ko-KR" sz="105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AI</a:t>
            </a:r>
            <a:r>
              <a:rPr kumimoji="1" lang="ko-KR" altLang="en-US" sz="105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거버넌스 협의체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680F756D-824D-2D0C-1974-15F13DDC7E8F}"/>
              </a:ext>
            </a:extLst>
          </p:cNvPr>
          <p:cNvSpPr/>
          <p:nvPr/>
        </p:nvSpPr>
        <p:spPr>
          <a:xfrm>
            <a:off x="6381347" y="2073183"/>
            <a:ext cx="1642310" cy="378970"/>
          </a:xfrm>
          <a:prstGeom prst="roundRect">
            <a:avLst>
              <a:gd name="adj" fmla="val 15960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대표이사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5E6B3DF7-7AD3-8613-978C-BC078EBEAE9E}"/>
              </a:ext>
            </a:extLst>
          </p:cNvPr>
          <p:cNvSpPr/>
          <p:nvPr/>
        </p:nvSpPr>
        <p:spPr>
          <a:xfrm>
            <a:off x="6381347" y="2842802"/>
            <a:ext cx="1642310" cy="378970"/>
          </a:xfrm>
          <a:prstGeom prst="roundRect">
            <a:avLst>
              <a:gd name="adj" fmla="val 15960"/>
            </a:avLst>
          </a:prstGeom>
          <a:solidFill>
            <a:srgbClr val="C55A11"/>
          </a:solidFill>
          <a:ln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AI</a:t>
            </a:r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거버넌스 부서 상위그룹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74EECBEB-9836-52A3-7139-6AC1527F7019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>
            <a:off x="7202502" y="2452154"/>
            <a:ext cx="0" cy="390647"/>
          </a:xfrm>
          <a:prstGeom prst="line">
            <a:avLst/>
          </a:prstGeom>
          <a:ln w="12700" cap="sq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BF283509-51C4-DF98-7AB6-257C9BB24EC4}"/>
              </a:ext>
            </a:extLst>
          </p:cNvPr>
          <p:cNvCxnSpPr>
            <a:cxnSpLocks/>
          </p:cNvCxnSpPr>
          <p:nvPr/>
        </p:nvCxnSpPr>
        <p:spPr>
          <a:xfrm>
            <a:off x="5997814" y="2648059"/>
            <a:ext cx="1204688" cy="0"/>
          </a:xfrm>
          <a:prstGeom prst="line">
            <a:avLst/>
          </a:prstGeom>
          <a:ln w="12700" cap="sq">
            <a:solidFill>
              <a:schemeClr val="tx1"/>
            </a:solidFill>
            <a:prstDash val="solid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</p:cxn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607EB3EB-AFF4-F1EC-6EE0-23D418E52352}"/>
              </a:ext>
            </a:extLst>
          </p:cNvPr>
          <p:cNvSpPr/>
          <p:nvPr/>
        </p:nvSpPr>
        <p:spPr>
          <a:xfrm>
            <a:off x="9965172" y="2073183"/>
            <a:ext cx="1642310" cy="378970"/>
          </a:xfrm>
          <a:prstGeom prst="roundRect">
            <a:avLst>
              <a:gd name="adj" fmla="val 15960"/>
            </a:avLst>
          </a:prstGeom>
          <a:solidFill>
            <a:srgbClr val="C55A11"/>
          </a:solidFill>
          <a:ln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AI</a:t>
            </a:r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거버넌스 부서 상위그룹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40B5024F-A993-592C-45FD-6191E744BC4E}"/>
              </a:ext>
            </a:extLst>
          </p:cNvPr>
          <p:cNvSpPr/>
          <p:nvPr/>
        </p:nvSpPr>
        <p:spPr>
          <a:xfrm>
            <a:off x="9965172" y="2842802"/>
            <a:ext cx="1642310" cy="378970"/>
          </a:xfrm>
          <a:prstGeom prst="roundRect">
            <a:avLst>
              <a:gd name="adj" fmla="val 15960"/>
            </a:avLst>
          </a:prstGeom>
          <a:solidFill>
            <a:srgbClr val="00B0F0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1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AI</a:t>
            </a:r>
            <a:r>
              <a:rPr lang="ko-KR" altLang="en-US" sz="11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거버넌스 </a:t>
            </a:r>
            <a:r>
              <a:rPr lang="en-US" altLang="ko-KR" sz="11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(</a:t>
            </a:r>
            <a:r>
              <a:rPr lang="ko-KR" altLang="en-US" sz="11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전담</a:t>
            </a:r>
            <a:r>
              <a:rPr lang="en-US" altLang="ko-KR" sz="11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)</a:t>
            </a:r>
            <a:r>
              <a:rPr lang="ko-KR" altLang="en-US" sz="11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부서</a:t>
            </a: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F8D51DA5-1354-FA3A-2706-C6007D9E0A50}"/>
              </a:ext>
            </a:extLst>
          </p:cNvPr>
          <p:cNvCxnSpPr>
            <a:cxnSpLocks/>
            <a:stCxn id="18" idx="2"/>
            <a:endCxn id="19" idx="0"/>
          </p:cNvCxnSpPr>
          <p:nvPr/>
        </p:nvCxnSpPr>
        <p:spPr>
          <a:xfrm>
            <a:off x="10786327" y="2452154"/>
            <a:ext cx="0" cy="390647"/>
          </a:xfrm>
          <a:prstGeom prst="line">
            <a:avLst/>
          </a:prstGeom>
          <a:ln w="12700" cap="sq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</p:cxnSp>
      <p:sp>
        <p:nvSpPr>
          <p:cNvPr id="21" name="Freeform 14">
            <a:extLst>
              <a:ext uri="{FF2B5EF4-FFF2-40B4-BE49-F238E27FC236}">
                <a16:creationId xmlns:a16="http://schemas.microsoft.com/office/drawing/2014/main" id="{C197F048-FC80-9FA1-0A88-DC8DFC63A292}"/>
              </a:ext>
            </a:extLst>
          </p:cNvPr>
          <p:cNvSpPr>
            <a:spLocks/>
          </p:cNvSpPr>
          <p:nvPr/>
        </p:nvSpPr>
        <p:spPr bwMode="auto">
          <a:xfrm>
            <a:off x="8685854" y="2323973"/>
            <a:ext cx="895783" cy="647010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F5822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noAutofit/>
          </a:bodyPr>
          <a:lstStyle/>
          <a:p>
            <a:pPr algn="ctr" defTabSz="977172"/>
            <a:r>
              <a:rPr kumimoji="1" lang="en-US" altLang="ko-KR" sz="105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AI</a:t>
            </a:r>
            <a:r>
              <a:rPr kumimoji="1" lang="ko-KR" altLang="en-US" sz="105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거버넌스 협의체</a:t>
            </a: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DF3D572D-33AE-0F8E-2146-B01BAC789CBD}"/>
              </a:ext>
            </a:extLst>
          </p:cNvPr>
          <p:cNvCxnSpPr>
            <a:cxnSpLocks/>
          </p:cNvCxnSpPr>
          <p:nvPr/>
        </p:nvCxnSpPr>
        <p:spPr>
          <a:xfrm>
            <a:off x="9581638" y="2636686"/>
            <a:ext cx="1204688" cy="0"/>
          </a:xfrm>
          <a:prstGeom prst="line">
            <a:avLst/>
          </a:prstGeom>
          <a:ln w="12700" cap="sq">
            <a:solidFill>
              <a:schemeClr val="tx1"/>
            </a:solidFill>
            <a:prstDash val="solid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</p:cxn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63DEFB85-AE66-0EA6-3B45-FFFE2469458E}"/>
              </a:ext>
            </a:extLst>
          </p:cNvPr>
          <p:cNvSpPr/>
          <p:nvPr/>
        </p:nvSpPr>
        <p:spPr>
          <a:xfrm>
            <a:off x="2758702" y="2073183"/>
            <a:ext cx="1642310" cy="378970"/>
          </a:xfrm>
          <a:prstGeom prst="roundRect">
            <a:avLst>
              <a:gd name="adj" fmla="val 15960"/>
            </a:avLst>
          </a:prstGeom>
          <a:solidFill>
            <a:schemeClr val="tx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이사회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183BF96C-EFF8-9D41-8149-BBD0713CADDA}"/>
              </a:ext>
            </a:extLst>
          </p:cNvPr>
          <p:cNvSpPr/>
          <p:nvPr/>
        </p:nvSpPr>
        <p:spPr>
          <a:xfrm>
            <a:off x="2758702" y="2842802"/>
            <a:ext cx="1642310" cy="378970"/>
          </a:xfrm>
          <a:prstGeom prst="roundRect">
            <a:avLst>
              <a:gd name="adj" fmla="val 15960"/>
            </a:avLst>
          </a:prstGeom>
          <a:solidFill>
            <a:srgbClr val="C55A11"/>
          </a:solidFill>
          <a:ln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AI</a:t>
            </a:r>
            <a:r>
              <a:rPr lang="ko-KR" altLang="en-US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거버넌스 부서 상위그룹</a:t>
            </a: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4D53C7C8-51B6-12A7-87A8-A0D1A3EA0F95}"/>
              </a:ext>
            </a:extLst>
          </p:cNvPr>
          <p:cNvCxnSpPr>
            <a:cxnSpLocks/>
            <a:stCxn id="23" idx="2"/>
            <a:endCxn id="24" idx="0"/>
          </p:cNvCxnSpPr>
          <p:nvPr/>
        </p:nvCxnSpPr>
        <p:spPr>
          <a:xfrm>
            <a:off x="3579857" y="2452154"/>
            <a:ext cx="0" cy="390647"/>
          </a:xfrm>
          <a:prstGeom prst="line">
            <a:avLst/>
          </a:prstGeom>
          <a:ln w="12700" cap="sq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70CDE649-12CE-E0E3-D3D7-D3CE490D90DF}"/>
              </a:ext>
            </a:extLst>
          </p:cNvPr>
          <p:cNvCxnSpPr>
            <a:cxnSpLocks/>
          </p:cNvCxnSpPr>
          <p:nvPr/>
        </p:nvCxnSpPr>
        <p:spPr>
          <a:xfrm>
            <a:off x="2375167" y="2648058"/>
            <a:ext cx="1204688" cy="1"/>
          </a:xfrm>
          <a:prstGeom prst="line">
            <a:avLst/>
          </a:prstGeom>
          <a:ln w="12700" cap="sq">
            <a:solidFill>
              <a:schemeClr val="tx1"/>
            </a:solidFill>
            <a:prstDash val="solid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</p:cxnSp>
      <p:sp>
        <p:nvSpPr>
          <p:cNvPr id="27" name="Freeform 14">
            <a:extLst>
              <a:ext uri="{FF2B5EF4-FFF2-40B4-BE49-F238E27FC236}">
                <a16:creationId xmlns:a16="http://schemas.microsoft.com/office/drawing/2014/main" id="{130D819F-67E5-FA4A-BFD4-02881D354002}"/>
              </a:ext>
            </a:extLst>
          </p:cNvPr>
          <p:cNvSpPr>
            <a:spLocks/>
          </p:cNvSpPr>
          <p:nvPr/>
        </p:nvSpPr>
        <p:spPr bwMode="auto">
          <a:xfrm>
            <a:off x="1489655" y="2323973"/>
            <a:ext cx="895783" cy="647010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F5822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noAutofit/>
          </a:bodyPr>
          <a:lstStyle/>
          <a:p>
            <a:pPr algn="ctr" defTabSz="977172"/>
            <a:r>
              <a:rPr kumimoji="1" lang="en-US" altLang="ko-KR" sz="105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AI</a:t>
            </a:r>
            <a:r>
              <a:rPr kumimoji="1" lang="ko-KR" altLang="en-US" sz="105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거버넌스 협의체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155FB174-1FE3-5BD8-32F5-26E91F80BA88}"/>
              </a:ext>
            </a:extLst>
          </p:cNvPr>
          <p:cNvSpPr/>
          <p:nvPr/>
        </p:nvSpPr>
        <p:spPr>
          <a:xfrm>
            <a:off x="1311381" y="3749360"/>
            <a:ext cx="5053265" cy="399309"/>
          </a:xfrm>
          <a:prstGeom prst="rect">
            <a:avLst/>
          </a:prstGeom>
          <a:solidFill>
            <a:schemeClr val="accent2"/>
          </a:solidFill>
          <a:ln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lnSpc>
                <a:spcPct val="110000"/>
              </a:lnSpc>
              <a:spcBef>
                <a:spcPct val="0"/>
              </a:spcBef>
              <a:defRPr/>
            </a:pPr>
            <a:r>
              <a:rPr lang="ko-KR" altLang="en-US" sz="1400" b="1" spc="-45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prstClr val="white"/>
                </a:solidFill>
              </a:rPr>
              <a:t>기존 위원회에 </a:t>
            </a:r>
            <a:r>
              <a:rPr lang="en-US" altLang="ko-KR" sz="1400" b="1" spc="-45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prstClr val="white"/>
                </a:solidFill>
              </a:rPr>
              <a:t>AI</a:t>
            </a:r>
            <a:r>
              <a:rPr lang="ko-KR" altLang="en-US" sz="1400" b="1" spc="-45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prstClr val="white"/>
                </a:solidFill>
              </a:rPr>
              <a:t>거버넌스 역할을 추가로 부여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122622FA-E48E-B0A1-EB05-9D743A3F130F}"/>
              </a:ext>
            </a:extLst>
          </p:cNvPr>
          <p:cNvSpPr/>
          <p:nvPr/>
        </p:nvSpPr>
        <p:spPr>
          <a:xfrm>
            <a:off x="6724955" y="3749360"/>
            <a:ext cx="5059057" cy="399309"/>
          </a:xfrm>
          <a:prstGeom prst="rect">
            <a:avLst/>
          </a:prstGeom>
          <a:solidFill>
            <a:schemeClr val="accent2"/>
          </a:solidFill>
          <a:ln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lnSpc>
                <a:spcPct val="110000"/>
              </a:lnSpc>
              <a:spcBef>
                <a:spcPct val="0"/>
              </a:spcBef>
              <a:defRPr/>
            </a:pPr>
            <a:r>
              <a:rPr lang="en-US" altLang="ko-KR" sz="1400" b="1" spc="-45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prstClr val="white"/>
                </a:solidFill>
              </a:rPr>
              <a:t>AI</a:t>
            </a:r>
            <a:r>
              <a:rPr lang="ko-KR" altLang="en-US" sz="1400" b="1" spc="-45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prstClr val="white"/>
                </a:solidFill>
              </a:rPr>
              <a:t>거버넌스협의체</a:t>
            </a:r>
            <a:r>
              <a:rPr lang="ko-KR" altLang="en-US" sz="1400" b="1" spc="-45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prstClr val="white"/>
                </a:solidFill>
              </a:rPr>
              <a:t> 신설</a:t>
            </a:r>
          </a:p>
        </p:txBody>
      </p:sp>
      <p:sp>
        <p:nvSpPr>
          <p:cNvPr id="31" name="모서리가 둥근 직사각형 64">
            <a:extLst>
              <a:ext uri="{FF2B5EF4-FFF2-40B4-BE49-F238E27FC236}">
                <a16:creationId xmlns:a16="http://schemas.microsoft.com/office/drawing/2014/main" id="{0056B313-F60C-53F3-93C9-0DF964D74714}"/>
              </a:ext>
            </a:extLst>
          </p:cNvPr>
          <p:cNvSpPr/>
          <p:nvPr/>
        </p:nvSpPr>
        <p:spPr>
          <a:xfrm>
            <a:off x="10007975" y="4424533"/>
            <a:ext cx="1633113" cy="1136959"/>
          </a:xfrm>
          <a:prstGeom prst="roundRect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 w="28575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ko-KR" altLang="en-US" sz="1400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ECD76DC3-3261-DBA8-FFD9-A6D33883B7E2}"/>
              </a:ext>
            </a:extLst>
          </p:cNvPr>
          <p:cNvSpPr/>
          <p:nvPr/>
        </p:nvSpPr>
        <p:spPr>
          <a:xfrm>
            <a:off x="6867882" y="4515153"/>
            <a:ext cx="1185590" cy="538314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043B72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noAutofit/>
          </a:bodyPr>
          <a:lstStyle/>
          <a:p>
            <a:pPr algn="ctr" defTabSz="977172"/>
            <a:r>
              <a:rPr kumimoji="1" lang="en-US" altLang="ko-KR" sz="105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AX</a:t>
            </a:r>
            <a:r>
              <a:rPr kumimoji="1" lang="ko-KR" altLang="en-US" sz="105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추진위원회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B6722F36-8776-87CF-1BDC-A279685EA322}"/>
              </a:ext>
            </a:extLst>
          </p:cNvPr>
          <p:cNvSpPr/>
          <p:nvPr/>
        </p:nvSpPr>
        <p:spPr>
          <a:xfrm>
            <a:off x="8556703" y="4515153"/>
            <a:ext cx="1185590" cy="538314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bg1">
                <a:lumMod val="50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noAutofit/>
          </a:bodyPr>
          <a:lstStyle/>
          <a:p>
            <a:pPr algn="ctr" defTabSz="977172"/>
            <a:r>
              <a:rPr kumimoji="1" lang="ko-KR" altLang="en-US" sz="105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정보보호</a:t>
            </a:r>
            <a:r>
              <a:rPr kumimoji="1" lang="en-US" altLang="ko-KR" sz="105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  <a:r>
              <a:rPr kumimoji="1" lang="ko-KR" altLang="en-US" sz="105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위원회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779AD0E3-09EB-2130-BD7C-42AD2F5FDE30}"/>
              </a:ext>
            </a:extLst>
          </p:cNvPr>
          <p:cNvSpPr/>
          <p:nvPr/>
        </p:nvSpPr>
        <p:spPr>
          <a:xfrm>
            <a:off x="10245526" y="4515153"/>
            <a:ext cx="1185590" cy="538314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F5822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noAutofit/>
          </a:bodyPr>
          <a:lstStyle/>
          <a:p>
            <a:pPr algn="ctr" defTabSz="977172"/>
            <a:r>
              <a:rPr kumimoji="1" lang="en-US" altLang="ko-KR" sz="105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AI</a:t>
            </a:r>
            <a:r>
              <a:rPr kumimoji="1" lang="ko-KR" altLang="en-US" sz="1050" b="1" kern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거버넌스협의체</a:t>
            </a:r>
            <a:endParaRPr kumimoji="1" lang="ko-KR" altLang="en-US" sz="1050" b="1" kern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27F2602-E6D9-FA39-CF97-C478F70109BE}"/>
              </a:ext>
            </a:extLst>
          </p:cNvPr>
          <p:cNvSpPr txBox="1"/>
          <p:nvPr/>
        </p:nvSpPr>
        <p:spPr>
          <a:xfrm>
            <a:off x="7050402" y="5413495"/>
            <a:ext cx="904074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8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</a:rPr>
              <a:t>논의사항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6B814B2-8AAA-9A5E-9232-EC2194AD73F0}"/>
              </a:ext>
            </a:extLst>
          </p:cNvPr>
          <p:cNvSpPr txBox="1"/>
          <p:nvPr/>
        </p:nvSpPr>
        <p:spPr>
          <a:xfrm>
            <a:off x="8702742" y="5445258"/>
            <a:ext cx="904074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8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</a:rPr>
              <a:t>논의사항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B1C7EBFB-BB76-581A-4A2C-71A0EAFA73AA}"/>
              </a:ext>
            </a:extLst>
          </p:cNvPr>
          <p:cNvSpPr/>
          <p:nvPr/>
        </p:nvSpPr>
        <p:spPr>
          <a:xfrm>
            <a:off x="2351565" y="4424533"/>
            <a:ext cx="1306033" cy="538315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F5822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noAutofit/>
          </a:bodyPr>
          <a:lstStyle/>
          <a:p>
            <a:pPr algn="ctr" defTabSz="977172"/>
            <a:r>
              <a:rPr kumimoji="1" lang="en-US" altLang="ko-KR" sz="105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AX</a:t>
            </a:r>
            <a:r>
              <a:rPr kumimoji="1" lang="ko-KR" altLang="en-US" sz="105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추진위원회</a:t>
            </a:r>
            <a:br>
              <a:rPr kumimoji="1" lang="en-US" altLang="ko-KR" sz="105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</a:br>
            <a:r>
              <a:rPr kumimoji="1" lang="en-US" altLang="ko-KR" sz="105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(</a:t>
            </a:r>
            <a:r>
              <a:rPr kumimoji="1" lang="ko-KR" altLang="en-US" sz="105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거버넌스 협의 포함</a:t>
            </a:r>
            <a:r>
              <a:rPr kumimoji="1" lang="en-US" altLang="ko-KR" sz="1050" b="1" ker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cs typeface="Arial" panose="020B0604020202020204" pitchFamily="34" charset="0"/>
              </a:rPr>
              <a:t>)</a:t>
            </a:r>
            <a:endParaRPr kumimoji="1" lang="ko-KR" altLang="en-US" sz="1050" b="1" kern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FAA478F-AEE3-BB75-D5D3-8C8B01A13F84}"/>
              </a:ext>
            </a:extLst>
          </p:cNvPr>
          <p:cNvSpPr txBox="1"/>
          <p:nvPr/>
        </p:nvSpPr>
        <p:spPr>
          <a:xfrm>
            <a:off x="3406831" y="5332592"/>
            <a:ext cx="904074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800">
                <a:ln>
                  <a:solidFill>
                    <a:schemeClr val="accent1">
                      <a:alpha val="0"/>
                    </a:schemeClr>
                  </a:solidFill>
                </a:ln>
              </a:rPr>
              <a:t>논의사항 확대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FB9433E-D156-E495-2EFD-B5560A8F35CF}"/>
              </a:ext>
            </a:extLst>
          </p:cNvPr>
          <p:cNvSpPr txBox="1"/>
          <p:nvPr/>
        </p:nvSpPr>
        <p:spPr>
          <a:xfrm>
            <a:off x="2492215" y="5323510"/>
            <a:ext cx="904074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8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</a:rPr>
              <a:t>논의사항</a:t>
            </a:r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7A85EF45-1928-3A11-258E-E51FB2AB05DD}"/>
              </a:ext>
            </a:extLst>
          </p:cNvPr>
          <p:cNvSpPr/>
          <p:nvPr/>
        </p:nvSpPr>
        <p:spPr>
          <a:xfrm>
            <a:off x="6867882" y="5220436"/>
            <a:ext cx="292325" cy="246447"/>
          </a:xfrm>
          <a:prstGeom prst="ellipse">
            <a:avLst/>
          </a:prstGeom>
          <a:solidFill>
            <a:srgbClr val="043B72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ko-KR" altLang="en-US" sz="1400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082ADB48-5E7C-DDF2-C162-98633C701BBE}"/>
              </a:ext>
            </a:extLst>
          </p:cNvPr>
          <p:cNvSpPr/>
          <p:nvPr/>
        </p:nvSpPr>
        <p:spPr>
          <a:xfrm>
            <a:off x="7314514" y="5212242"/>
            <a:ext cx="292325" cy="246447"/>
          </a:xfrm>
          <a:prstGeom prst="ellipse">
            <a:avLst/>
          </a:prstGeom>
          <a:solidFill>
            <a:srgbClr val="043B72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ko-KR" altLang="en-US" sz="1400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61231859-3F5A-C509-7291-9FBD2A076802}"/>
              </a:ext>
            </a:extLst>
          </p:cNvPr>
          <p:cNvSpPr/>
          <p:nvPr/>
        </p:nvSpPr>
        <p:spPr>
          <a:xfrm>
            <a:off x="7761147" y="5222003"/>
            <a:ext cx="292325" cy="246447"/>
          </a:xfrm>
          <a:prstGeom prst="ellipse">
            <a:avLst/>
          </a:prstGeom>
          <a:solidFill>
            <a:srgbClr val="043B72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ko-KR" altLang="en-US" sz="1400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E486F0EC-2D91-428F-AB70-02651668AD61}"/>
              </a:ext>
            </a:extLst>
          </p:cNvPr>
          <p:cNvSpPr/>
          <p:nvPr/>
        </p:nvSpPr>
        <p:spPr>
          <a:xfrm>
            <a:off x="8556906" y="5226370"/>
            <a:ext cx="292325" cy="246447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ko-KR" altLang="en-US" sz="1400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04FCF7A6-1B31-8ECD-9564-B2AEF2AE5ABD}"/>
              </a:ext>
            </a:extLst>
          </p:cNvPr>
          <p:cNvSpPr/>
          <p:nvPr/>
        </p:nvSpPr>
        <p:spPr>
          <a:xfrm>
            <a:off x="9003539" y="5218174"/>
            <a:ext cx="292325" cy="246447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ko-KR" altLang="en-US" sz="1400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95959858-9D2C-D256-C025-6FA6D2D669EE}"/>
              </a:ext>
            </a:extLst>
          </p:cNvPr>
          <p:cNvSpPr/>
          <p:nvPr/>
        </p:nvSpPr>
        <p:spPr>
          <a:xfrm>
            <a:off x="9450172" y="5227936"/>
            <a:ext cx="292325" cy="246447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ko-KR" altLang="en-US" sz="1400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77F6A0AA-34FB-1E8B-7DE6-55DBF4150CC7}"/>
              </a:ext>
            </a:extLst>
          </p:cNvPr>
          <p:cNvSpPr/>
          <p:nvPr/>
        </p:nvSpPr>
        <p:spPr>
          <a:xfrm>
            <a:off x="10250458" y="5214792"/>
            <a:ext cx="292325" cy="24644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ko-KR" altLang="en-US" sz="1400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5A172FD0-DE32-3C31-D95E-54CEDEF35405}"/>
              </a:ext>
            </a:extLst>
          </p:cNvPr>
          <p:cNvSpPr/>
          <p:nvPr/>
        </p:nvSpPr>
        <p:spPr>
          <a:xfrm>
            <a:off x="10697090" y="5206600"/>
            <a:ext cx="292325" cy="24644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ko-KR" altLang="en-US" sz="1400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80E23CE8-B8F2-8A62-E69D-F2B0975CBCF2}"/>
              </a:ext>
            </a:extLst>
          </p:cNvPr>
          <p:cNvSpPr/>
          <p:nvPr/>
        </p:nvSpPr>
        <p:spPr>
          <a:xfrm>
            <a:off x="11143722" y="5216360"/>
            <a:ext cx="292325" cy="24644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ko-KR" altLang="en-US" sz="1400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A392E6E6-D677-4EF4-7CA2-4FBC0392EF26}"/>
              </a:ext>
            </a:extLst>
          </p:cNvPr>
          <p:cNvSpPr/>
          <p:nvPr/>
        </p:nvSpPr>
        <p:spPr>
          <a:xfrm>
            <a:off x="2351566" y="5137363"/>
            <a:ext cx="292325" cy="246447"/>
          </a:xfrm>
          <a:prstGeom prst="ellipse">
            <a:avLst/>
          </a:prstGeom>
          <a:solidFill>
            <a:srgbClr val="043B72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ko-KR" altLang="en-US" sz="1400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1263E146-7D97-178C-F388-065AE26BAA6F}"/>
              </a:ext>
            </a:extLst>
          </p:cNvPr>
          <p:cNvSpPr/>
          <p:nvPr/>
        </p:nvSpPr>
        <p:spPr>
          <a:xfrm>
            <a:off x="3244722" y="5140138"/>
            <a:ext cx="292325" cy="246447"/>
          </a:xfrm>
          <a:prstGeom prst="ellipse">
            <a:avLst/>
          </a:prstGeom>
          <a:solidFill>
            <a:srgbClr val="043B72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ko-KR" altLang="en-US" sz="1400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12C7ED83-E9E6-3C90-E7AE-CD85770DEBF3}"/>
              </a:ext>
            </a:extLst>
          </p:cNvPr>
          <p:cNvSpPr/>
          <p:nvPr/>
        </p:nvSpPr>
        <p:spPr>
          <a:xfrm>
            <a:off x="4137878" y="5171271"/>
            <a:ext cx="292325" cy="24644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ko-KR" altLang="en-US" sz="1400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4DC17F03-3784-BE1A-A7AB-4C869709A036}"/>
              </a:ext>
            </a:extLst>
          </p:cNvPr>
          <p:cNvSpPr/>
          <p:nvPr/>
        </p:nvSpPr>
        <p:spPr>
          <a:xfrm>
            <a:off x="4584511" y="5163078"/>
            <a:ext cx="292325" cy="24644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ko-KR" altLang="en-US" sz="1400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53" name="타원 52">
            <a:extLst>
              <a:ext uri="{FF2B5EF4-FFF2-40B4-BE49-F238E27FC236}">
                <a16:creationId xmlns:a16="http://schemas.microsoft.com/office/drawing/2014/main" id="{CFCB94EB-8D24-57F6-532E-B8F9FE6BFB7C}"/>
              </a:ext>
            </a:extLst>
          </p:cNvPr>
          <p:cNvSpPr/>
          <p:nvPr/>
        </p:nvSpPr>
        <p:spPr>
          <a:xfrm>
            <a:off x="5031143" y="5172840"/>
            <a:ext cx="292325" cy="24644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ko-KR" altLang="en-US" sz="1400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7B959518-E513-CA5F-56D8-F1F31B426FC0}"/>
              </a:ext>
            </a:extLst>
          </p:cNvPr>
          <p:cNvSpPr/>
          <p:nvPr/>
        </p:nvSpPr>
        <p:spPr>
          <a:xfrm>
            <a:off x="2798199" y="5129817"/>
            <a:ext cx="292325" cy="246447"/>
          </a:xfrm>
          <a:prstGeom prst="ellipse">
            <a:avLst/>
          </a:prstGeom>
          <a:solidFill>
            <a:srgbClr val="043B72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ko-KR" altLang="en-US" sz="1400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25F79CFD-C0F4-BC33-37EE-B30A0D61CBA5}"/>
              </a:ext>
            </a:extLst>
          </p:cNvPr>
          <p:cNvCxnSpPr>
            <a:cxnSpLocks/>
            <a:endCxn id="40" idx="7"/>
          </p:cNvCxnSpPr>
          <p:nvPr/>
        </p:nvCxnSpPr>
        <p:spPr>
          <a:xfrm flipH="1">
            <a:off x="7117396" y="5053468"/>
            <a:ext cx="343282" cy="203060"/>
          </a:xfrm>
          <a:prstGeom prst="line">
            <a:avLst/>
          </a:prstGeom>
          <a:ln w="12700" cap="sq">
            <a:solidFill>
              <a:srgbClr val="043B7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A0FFDC84-663A-473B-F6F2-8B6376C53690}"/>
              </a:ext>
            </a:extLst>
          </p:cNvPr>
          <p:cNvCxnSpPr>
            <a:cxnSpLocks/>
            <a:endCxn id="42" idx="1"/>
          </p:cNvCxnSpPr>
          <p:nvPr/>
        </p:nvCxnSpPr>
        <p:spPr>
          <a:xfrm>
            <a:off x="7460677" y="5053468"/>
            <a:ext cx="343282" cy="204626"/>
          </a:xfrm>
          <a:prstGeom prst="line">
            <a:avLst/>
          </a:prstGeom>
          <a:ln w="12700" cap="sq">
            <a:solidFill>
              <a:srgbClr val="043B7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4039BB12-C9B3-3004-1269-0E4C943E6F5A}"/>
              </a:ext>
            </a:extLst>
          </p:cNvPr>
          <p:cNvCxnSpPr>
            <a:cxnSpLocks/>
            <a:endCxn id="41" idx="0"/>
          </p:cNvCxnSpPr>
          <p:nvPr/>
        </p:nvCxnSpPr>
        <p:spPr>
          <a:xfrm>
            <a:off x="7460677" y="5053468"/>
            <a:ext cx="0" cy="158773"/>
          </a:xfrm>
          <a:prstGeom prst="line">
            <a:avLst/>
          </a:prstGeom>
          <a:ln w="12700" cap="sq">
            <a:solidFill>
              <a:srgbClr val="043B7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7EAAC596-D00B-0F7F-F829-D824FB4D7E84}"/>
              </a:ext>
            </a:extLst>
          </p:cNvPr>
          <p:cNvCxnSpPr/>
          <p:nvPr/>
        </p:nvCxnSpPr>
        <p:spPr>
          <a:xfrm flipH="1">
            <a:off x="8804666" y="5049481"/>
            <a:ext cx="343282" cy="203060"/>
          </a:xfrm>
          <a:prstGeom prst="line">
            <a:avLst/>
          </a:prstGeom>
          <a:ln w="12700" cap="sq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7FBD53A4-603B-CCC6-CE75-4C501CDC7D66}"/>
              </a:ext>
            </a:extLst>
          </p:cNvPr>
          <p:cNvCxnSpPr/>
          <p:nvPr/>
        </p:nvCxnSpPr>
        <p:spPr>
          <a:xfrm>
            <a:off x="9147945" y="5049481"/>
            <a:ext cx="343282" cy="204626"/>
          </a:xfrm>
          <a:prstGeom prst="line">
            <a:avLst/>
          </a:prstGeom>
          <a:ln w="12700" cap="sq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3E4E34D8-6E45-9473-9C8D-1433153051A4}"/>
              </a:ext>
            </a:extLst>
          </p:cNvPr>
          <p:cNvCxnSpPr/>
          <p:nvPr/>
        </p:nvCxnSpPr>
        <p:spPr>
          <a:xfrm>
            <a:off x="9147945" y="5049481"/>
            <a:ext cx="0" cy="158773"/>
          </a:xfrm>
          <a:prstGeom prst="line">
            <a:avLst/>
          </a:prstGeom>
          <a:ln w="12700" cap="sq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</p:cxn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89B9BFFA-BB3D-E7AC-8D59-DA0817C4E464}"/>
              </a:ext>
            </a:extLst>
          </p:cNvPr>
          <p:cNvCxnSpPr>
            <a:cxnSpLocks/>
            <a:stCxn id="34" idx="2"/>
            <a:endCxn id="46" idx="7"/>
          </p:cNvCxnSpPr>
          <p:nvPr/>
        </p:nvCxnSpPr>
        <p:spPr>
          <a:xfrm flipH="1">
            <a:off x="10499973" y="5053467"/>
            <a:ext cx="338348" cy="197416"/>
          </a:xfrm>
          <a:prstGeom prst="line">
            <a:avLst/>
          </a:prstGeom>
          <a:ln w="12700" cap="sq">
            <a:solidFill>
              <a:srgbClr val="F082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</p:cxn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9566E88D-F00F-A2CE-B2CF-23660EDF3929}"/>
              </a:ext>
            </a:extLst>
          </p:cNvPr>
          <p:cNvCxnSpPr>
            <a:cxnSpLocks/>
            <a:stCxn id="34" idx="2"/>
            <a:endCxn id="48" idx="1"/>
          </p:cNvCxnSpPr>
          <p:nvPr/>
        </p:nvCxnSpPr>
        <p:spPr>
          <a:xfrm>
            <a:off x="10838321" y="5053467"/>
            <a:ext cx="348211" cy="198984"/>
          </a:xfrm>
          <a:prstGeom prst="line">
            <a:avLst/>
          </a:prstGeom>
          <a:ln w="12700" cap="sq">
            <a:solidFill>
              <a:srgbClr val="F082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89FA5EBF-E1D4-B3A8-0D32-3B4A01F7ED11}"/>
              </a:ext>
            </a:extLst>
          </p:cNvPr>
          <p:cNvCxnSpPr>
            <a:cxnSpLocks/>
            <a:stCxn id="34" idx="2"/>
          </p:cNvCxnSpPr>
          <p:nvPr/>
        </p:nvCxnSpPr>
        <p:spPr>
          <a:xfrm>
            <a:off x="10838321" y="5053467"/>
            <a:ext cx="12229" cy="147080"/>
          </a:xfrm>
          <a:prstGeom prst="line">
            <a:avLst/>
          </a:prstGeom>
          <a:ln w="12700" cap="sq">
            <a:solidFill>
              <a:srgbClr val="F082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</p:cxn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1598EE70-A812-9A11-D912-817874A20C37}"/>
              </a:ext>
            </a:extLst>
          </p:cNvPr>
          <p:cNvCxnSpPr>
            <a:cxnSpLocks/>
            <a:stCxn id="37" idx="2"/>
            <a:endCxn id="49" idx="7"/>
          </p:cNvCxnSpPr>
          <p:nvPr/>
        </p:nvCxnSpPr>
        <p:spPr>
          <a:xfrm flipH="1">
            <a:off x="2601081" y="4962848"/>
            <a:ext cx="403501" cy="210606"/>
          </a:xfrm>
          <a:prstGeom prst="line">
            <a:avLst/>
          </a:prstGeom>
          <a:ln w="12700" cap="sq">
            <a:solidFill>
              <a:srgbClr val="043B7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</p:cxn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04077DFA-DC0D-1C14-1E39-2F2F4DF4F3F8}"/>
              </a:ext>
            </a:extLst>
          </p:cNvPr>
          <p:cNvCxnSpPr>
            <a:cxnSpLocks/>
            <a:stCxn id="37" idx="2"/>
            <a:endCxn id="51" idx="1"/>
          </p:cNvCxnSpPr>
          <p:nvPr/>
        </p:nvCxnSpPr>
        <p:spPr>
          <a:xfrm>
            <a:off x="3004582" y="4962848"/>
            <a:ext cx="1176106" cy="244514"/>
          </a:xfrm>
          <a:prstGeom prst="line">
            <a:avLst/>
          </a:prstGeom>
          <a:ln w="12700" cap="sq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</p:cxn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626D3164-CD76-A75D-293B-482E00FCF380}"/>
              </a:ext>
            </a:extLst>
          </p:cNvPr>
          <p:cNvCxnSpPr>
            <a:cxnSpLocks/>
            <a:stCxn id="37" idx="2"/>
            <a:endCxn id="52" idx="1"/>
          </p:cNvCxnSpPr>
          <p:nvPr/>
        </p:nvCxnSpPr>
        <p:spPr>
          <a:xfrm>
            <a:off x="3004582" y="4962848"/>
            <a:ext cx="1622739" cy="236321"/>
          </a:xfrm>
          <a:prstGeom prst="line">
            <a:avLst/>
          </a:prstGeom>
          <a:solidFill>
            <a:srgbClr val="2F449D"/>
          </a:solidFill>
          <a:ln w="12700" cap="sq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</p:cxn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D7251CD4-59F4-F843-FE1B-990FE3A87D09}"/>
              </a:ext>
            </a:extLst>
          </p:cNvPr>
          <p:cNvCxnSpPr>
            <a:cxnSpLocks/>
            <a:stCxn id="37" idx="2"/>
            <a:endCxn id="53" idx="0"/>
          </p:cNvCxnSpPr>
          <p:nvPr/>
        </p:nvCxnSpPr>
        <p:spPr>
          <a:xfrm>
            <a:off x="3004582" y="4962848"/>
            <a:ext cx="2172724" cy="209992"/>
          </a:xfrm>
          <a:prstGeom prst="line">
            <a:avLst/>
          </a:prstGeom>
          <a:ln w="12700" cap="sq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</p:cxnSp>
      <p:sp>
        <p:nvSpPr>
          <p:cNvPr id="70" name="아래쪽 화살표[D] 102">
            <a:extLst>
              <a:ext uri="{FF2B5EF4-FFF2-40B4-BE49-F238E27FC236}">
                <a16:creationId xmlns:a16="http://schemas.microsoft.com/office/drawing/2014/main" id="{9EDEE0F4-7A47-54F8-D4C8-39E641527A7E}"/>
              </a:ext>
            </a:extLst>
          </p:cNvPr>
          <p:cNvSpPr/>
          <p:nvPr/>
        </p:nvSpPr>
        <p:spPr>
          <a:xfrm rot="16200000">
            <a:off x="3732384" y="5004423"/>
            <a:ext cx="210043" cy="530381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200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738C03E7-ECD4-9B5B-C8AF-1BAEAE35DF7C}"/>
              </a:ext>
            </a:extLst>
          </p:cNvPr>
          <p:cNvGrpSpPr/>
          <p:nvPr/>
        </p:nvGrpSpPr>
        <p:grpSpPr>
          <a:xfrm>
            <a:off x="4759702" y="1914559"/>
            <a:ext cx="3606800" cy="1452899"/>
            <a:chOff x="4759702" y="1841914"/>
            <a:chExt cx="3606800" cy="1480383"/>
          </a:xfrm>
        </p:grpSpPr>
        <p:cxnSp>
          <p:nvCxnSpPr>
            <p:cNvPr id="72" name="직선 연결선 71">
              <a:extLst>
                <a:ext uri="{FF2B5EF4-FFF2-40B4-BE49-F238E27FC236}">
                  <a16:creationId xmlns:a16="http://schemas.microsoft.com/office/drawing/2014/main" id="{E3050B1F-0B0F-E6D5-00FF-66EAEE9E755A}"/>
                </a:ext>
              </a:extLst>
            </p:cNvPr>
            <p:cNvCxnSpPr>
              <a:cxnSpLocks/>
            </p:cNvCxnSpPr>
            <p:nvPr/>
          </p:nvCxnSpPr>
          <p:spPr>
            <a:xfrm>
              <a:off x="4759702" y="1841914"/>
              <a:ext cx="0" cy="1480383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직선 연결선 72">
              <a:extLst>
                <a:ext uri="{FF2B5EF4-FFF2-40B4-BE49-F238E27FC236}">
                  <a16:creationId xmlns:a16="http://schemas.microsoft.com/office/drawing/2014/main" id="{B5910459-F734-76F9-7C01-60B64FC204E9}"/>
                </a:ext>
              </a:extLst>
            </p:cNvPr>
            <p:cNvCxnSpPr>
              <a:cxnSpLocks/>
            </p:cNvCxnSpPr>
            <p:nvPr/>
          </p:nvCxnSpPr>
          <p:spPr>
            <a:xfrm>
              <a:off x="8366502" y="1841914"/>
              <a:ext cx="0" cy="1480383"/>
            </a:xfrm>
            <a:prstGeom prst="line">
              <a:avLst/>
            </a:prstGeom>
            <a:ln w="19050">
              <a:solidFill>
                <a:schemeClr val="bg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C885DED4-17F6-9531-E111-968FA1DC72A9}"/>
              </a:ext>
            </a:extLst>
          </p:cNvPr>
          <p:cNvSpPr/>
          <p:nvPr/>
        </p:nvSpPr>
        <p:spPr>
          <a:xfrm>
            <a:off x="1216581" y="1331390"/>
            <a:ext cx="10675381" cy="2146476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ko-KR" altLang="en-US" sz="1200">
              <a:ln>
                <a:solidFill>
                  <a:schemeClr val="accent2">
                    <a:lumMod val="60000"/>
                    <a:lumOff val="40000"/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176BEDFC-207E-10E6-0E8C-E5E4FC3ECB28}"/>
              </a:ext>
            </a:extLst>
          </p:cNvPr>
          <p:cNvCxnSpPr>
            <a:cxnSpLocks/>
          </p:cNvCxnSpPr>
          <p:nvPr/>
        </p:nvCxnSpPr>
        <p:spPr>
          <a:xfrm>
            <a:off x="6559252" y="4223054"/>
            <a:ext cx="0" cy="1480383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28E87FC8-FC2C-06A8-9FB9-EC29658E8482}"/>
              </a:ext>
            </a:extLst>
          </p:cNvPr>
          <p:cNvSpPr/>
          <p:nvPr/>
        </p:nvSpPr>
        <p:spPr>
          <a:xfrm>
            <a:off x="1216581" y="3656028"/>
            <a:ext cx="10675381" cy="2146476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ko-KR" altLang="en-US" sz="1200">
              <a:ln>
                <a:solidFill>
                  <a:schemeClr val="accent2">
                    <a:lumMod val="60000"/>
                    <a:lumOff val="40000"/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55DF970-571F-C4E4-7C2C-A11746393190}"/>
              </a:ext>
            </a:extLst>
          </p:cNvPr>
          <p:cNvSpPr txBox="1"/>
          <p:nvPr/>
        </p:nvSpPr>
        <p:spPr>
          <a:xfrm>
            <a:off x="10433172" y="5445258"/>
            <a:ext cx="904074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8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</a:rPr>
              <a:t>논의사항</a:t>
            </a:r>
          </a:p>
        </p:txBody>
      </p: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259DFE9B-9BF5-8445-1CD8-F1F989ADA0EA}"/>
              </a:ext>
            </a:extLst>
          </p:cNvPr>
          <p:cNvGrpSpPr/>
          <p:nvPr/>
        </p:nvGrpSpPr>
        <p:grpSpPr>
          <a:xfrm>
            <a:off x="331785" y="26929"/>
            <a:ext cx="900000" cy="180000"/>
            <a:chOff x="407985" y="52329"/>
            <a:chExt cx="900000" cy="180000"/>
          </a:xfrm>
        </p:grpSpPr>
        <p:sp>
          <p:nvSpPr>
            <p:cNvPr id="79" name="사각형: 둥근 모서리 78">
              <a:extLst>
                <a:ext uri="{FF2B5EF4-FFF2-40B4-BE49-F238E27FC236}">
                  <a16:creationId xmlns:a16="http://schemas.microsoft.com/office/drawing/2014/main" id="{AE43AEF9-2336-2B5A-51F0-2FBB2E4C60FF}"/>
                </a:ext>
              </a:extLst>
            </p:cNvPr>
            <p:cNvSpPr/>
            <p:nvPr/>
          </p:nvSpPr>
          <p:spPr>
            <a:xfrm>
              <a:off x="407985" y="52329"/>
              <a:ext cx="180000" cy="18000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+mn-ea"/>
                </a:rPr>
                <a:t>1</a:t>
              </a:r>
            </a:p>
          </p:txBody>
        </p:sp>
        <p:sp>
          <p:nvSpPr>
            <p:cNvPr id="80" name="사각형: 둥근 모서리 79">
              <a:extLst>
                <a:ext uri="{FF2B5EF4-FFF2-40B4-BE49-F238E27FC236}">
                  <a16:creationId xmlns:a16="http://schemas.microsoft.com/office/drawing/2014/main" id="{74221E15-1FF8-1100-DBF2-F8D4AC50FFD5}"/>
                </a:ext>
              </a:extLst>
            </p:cNvPr>
            <p:cNvSpPr/>
            <p:nvPr/>
          </p:nvSpPr>
          <p:spPr>
            <a:xfrm>
              <a:off x="587985" y="52329"/>
              <a:ext cx="180000" cy="18000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+mn-ea"/>
                </a:rPr>
                <a:t>2</a:t>
              </a:r>
            </a:p>
          </p:txBody>
        </p:sp>
        <p:sp>
          <p:nvSpPr>
            <p:cNvPr id="81" name="사각형: 둥근 모서리 80">
              <a:extLst>
                <a:ext uri="{FF2B5EF4-FFF2-40B4-BE49-F238E27FC236}">
                  <a16:creationId xmlns:a16="http://schemas.microsoft.com/office/drawing/2014/main" id="{FE04485F-CFC3-1402-E8D5-0EDF0D7C464B}"/>
                </a:ext>
              </a:extLst>
            </p:cNvPr>
            <p:cNvSpPr/>
            <p:nvPr/>
          </p:nvSpPr>
          <p:spPr>
            <a:xfrm>
              <a:off x="767985" y="52329"/>
              <a:ext cx="180000" cy="18000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+mn-ea"/>
                </a:rPr>
                <a:t>3</a:t>
              </a:r>
            </a:p>
          </p:txBody>
        </p:sp>
        <p:sp>
          <p:nvSpPr>
            <p:cNvPr id="82" name="사각형: 둥근 모서리 81">
              <a:extLst>
                <a:ext uri="{FF2B5EF4-FFF2-40B4-BE49-F238E27FC236}">
                  <a16:creationId xmlns:a16="http://schemas.microsoft.com/office/drawing/2014/main" id="{DE46C070-DFE3-39B9-49D6-9900A35F3C0C}"/>
                </a:ext>
              </a:extLst>
            </p:cNvPr>
            <p:cNvSpPr/>
            <p:nvPr/>
          </p:nvSpPr>
          <p:spPr>
            <a:xfrm>
              <a:off x="947985" y="52329"/>
              <a:ext cx="180000" cy="180000"/>
            </a:xfrm>
            <a:prstGeom prst="round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+mn-ea"/>
                </a:rPr>
                <a:t>4</a:t>
              </a:r>
            </a:p>
          </p:txBody>
        </p:sp>
        <p:sp>
          <p:nvSpPr>
            <p:cNvPr id="83" name="사각형: 둥근 모서리 82">
              <a:extLst>
                <a:ext uri="{FF2B5EF4-FFF2-40B4-BE49-F238E27FC236}">
                  <a16:creationId xmlns:a16="http://schemas.microsoft.com/office/drawing/2014/main" id="{8E084895-CE0B-C92E-8042-C063A5947C68}"/>
                </a:ext>
              </a:extLst>
            </p:cNvPr>
            <p:cNvSpPr/>
            <p:nvPr/>
          </p:nvSpPr>
          <p:spPr>
            <a:xfrm>
              <a:off x="1127985" y="52329"/>
              <a:ext cx="180000" cy="180000"/>
            </a:xfrm>
            <a:prstGeom prst="round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+mn-ea"/>
                </a:rPr>
                <a:t>5</a:t>
              </a:r>
            </a:p>
          </p:txBody>
        </p:sp>
      </p:grpSp>
      <p:sp>
        <p:nvSpPr>
          <p:cNvPr id="84" name="Freeform 1754">
            <a:extLst>
              <a:ext uri="{FF2B5EF4-FFF2-40B4-BE49-F238E27FC236}">
                <a16:creationId xmlns:a16="http://schemas.microsoft.com/office/drawing/2014/main" id="{B90DB9DA-73E8-0D2A-02CB-457B3249D360}"/>
              </a:ext>
            </a:extLst>
          </p:cNvPr>
          <p:cNvSpPr>
            <a:spLocks noChangeAspect="1"/>
          </p:cNvSpPr>
          <p:nvPr/>
        </p:nvSpPr>
        <p:spPr bwMode="gray">
          <a:xfrm>
            <a:off x="8658226" y="1529438"/>
            <a:ext cx="292879" cy="216000"/>
          </a:xfrm>
          <a:custGeom>
            <a:avLst/>
            <a:gdLst>
              <a:gd name="T0" fmla="*/ 2147483646 w 4916"/>
              <a:gd name="T1" fmla="*/ 2147483646 h 3388"/>
              <a:gd name="T2" fmla="*/ 2147483646 w 4916"/>
              <a:gd name="T3" fmla="*/ 2147483646 h 3388"/>
              <a:gd name="T4" fmla="*/ 2147483646 w 4916"/>
              <a:gd name="T5" fmla="*/ 2147483646 h 3388"/>
              <a:gd name="T6" fmla="*/ 2147483646 w 4916"/>
              <a:gd name="T7" fmla="*/ 2147483646 h 3388"/>
              <a:gd name="T8" fmla="*/ 2147483646 w 4916"/>
              <a:gd name="T9" fmla="*/ 2147483646 h 3388"/>
              <a:gd name="T10" fmla="*/ 2147483646 w 4916"/>
              <a:gd name="T11" fmla="*/ 2147483646 h 3388"/>
              <a:gd name="T12" fmla="*/ 2147483646 w 4916"/>
              <a:gd name="T13" fmla="*/ 2147483646 h 3388"/>
              <a:gd name="T14" fmla="*/ 2147483646 w 4916"/>
              <a:gd name="T15" fmla="*/ 2147483646 h 3388"/>
              <a:gd name="T16" fmla="*/ 2147483646 w 4916"/>
              <a:gd name="T17" fmla="*/ 2147483646 h 3388"/>
              <a:gd name="T18" fmla="*/ 2147483646 w 4916"/>
              <a:gd name="T19" fmla="*/ 2147483646 h 3388"/>
              <a:gd name="T20" fmla="*/ 2147483646 w 4916"/>
              <a:gd name="T21" fmla="*/ 2147483646 h 3388"/>
              <a:gd name="T22" fmla="*/ 2147483646 w 4916"/>
              <a:gd name="T23" fmla="*/ 2147483646 h 3388"/>
              <a:gd name="T24" fmla="*/ 2147483646 w 4916"/>
              <a:gd name="T25" fmla="*/ 2147483646 h 3388"/>
              <a:gd name="T26" fmla="*/ 2147483646 w 4916"/>
              <a:gd name="T27" fmla="*/ 2147483646 h 3388"/>
              <a:gd name="T28" fmla="*/ 2147483646 w 4916"/>
              <a:gd name="T29" fmla="*/ 2147483646 h 3388"/>
              <a:gd name="T30" fmla="*/ 2147483646 w 4916"/>
              <a:gd name="T31" fmla="*/ 2147483646 h 3388"/>
              <a:gd name="T32" fmla="*/ 2147483646 w 4916"/>
              <a:gd name="T33" fmla="*/ 2147483646 h 3388"/>
              <a:gd name="T34" fmla="*/ 2147483646 w 4916"/>
              <a:gd name="T35" fmla="*/ 2147483646 h 3388"/>
              <a:gd name="T36" fmla="*/ 2147483646 w 4916"/>
              <a:gd name="T37" fmla="*/ 2147483646 h 3388"/>
              <a:gd name="T38" fmla="*/ 2147483646 w 4916"/>
              <a:gd name="T39" fmla="*/ 2147483646 h 3388"/>
              <a:gd name="T40" fmla="*/ 2147483646 w 4916"/>
              <a:gd name="T41" fmla="*/ 2147483646 h 3388"/>
              <a:gd name="T42" fmla="*/ 2147483646 w 4916"/>
              <a:gd name="T43" fmla="*/ 2147483646 h 3388"/>
              <a:gd name="T44" fmla="*/ 2147483646 w 4916"/>
              <a:gd name="T45" fmla="*/ 2147483646 h 3388"/>
              <a:gd name="T46" fmla="*/ 2147483646 w 4916"/>
              <a:gd name="T47" fmla="*/ 2147483646 h 3388"/>
              <a:gd name="T48" fmla="*/ 2147483646 w 4916"/>
              <a:gd name="T49" fmla="*/ 2147483646 h 3388"/>
              <a:gd name="T50" fmla="*/ 2147483646 w 4916"/>
              <a:gd name="T51" fmla="*/ 2147483646 h 3388"/>
              <a:gd name="T52" fmla="*/ 2147483646 w 4916"/>
              <a:gd name="T53" fmla="*/ 2147483646 h 3388"/>
              <a:gd name="T54" fmla="*/ 2147483646 w 4916"/>
              <a:gd name="T55" fmla="*/ 2147483646 h 3388"/>
              <a:gd name="T56" fmla="*/ 2147483646 w 4916"/>
              <a:gd name="T57" fmla="*/ 2147483646 h 3388"/>
              <a:gd name="T58" fmla="*/ 2147483646 w 4916"/>
              <a:gd name="T59" fmla="*/ 2147483646 h 3388"/>
              <a:gd name="T60" fmla="*/ 2147483646 w 4916"/>
              <a:gd name="T61" fmla="*/ 2147483646 h 3388"/>
              <a:gd name="T62" fmla="*/ 2147483646 w 4916"/>
              <a:gd name="T63" fmla="*/ 2147483646 h 3388"/>
              <a:gd name="T64" fmla="*/ 2147483646 w 4916"/>
              <a:gd name="T65" fmla="*/ 2147483646 h 3388"/>
              <a:gd name="T66" fmla="*/ 2147483646 w 4916"/>
              <a:gd name="T67" fmla="*/ 2147483646 h 3388"/>
              <a:gd name="T68" fmla="*/ 2147483646 w 4916"/>
              <a:gd name="T69" fmla="*/ 2147483646 h 3388"/>
              <a:gd name="T70" fmla="*/ 2147483646 w 4916"/>
              <a:gd name="T71" fmla="*/ 2147483646 h 3388"/>
              <a:gd name="T72" fmla="*/ 2147483646 w 4916"/>
              <a:gd name="T73" fmla="*/ 2147483646 h 3388"/>
              <a:gd name="T74" fmla="*/ 2147483646 w 4916"/>
              <a:gd name="T75" fmla="*/ 2147483646 h 3388"/>
              <a:gd name="T76" fmla="*/ 2147483646 w 4916"/>
              <a:gd name="T77" fmla="*/ 2147483646 h 3388"/>
              <a:gd name="T78" fmla="*/ 2147483646 w 4916"/>
              <a:gd name="T79" fmla="*/ 2147483646 h 3388"/>
              <a:gd name="T80" fmla="*/ 2147483646 w 4916"/>
              <a:gd name="T81" fmla="*/ 2147483646 h 3388"/>
              <a:gd name="T82" fmla="*/ 2147483646 w 4916"/>
              <a:gd name="T83" fmla="*/ 2147483646 h 3388"/>
              <a:gd name="T84" fmla="*/ 2147483646 w 4916"/>
              <a:gd name="T85" fmla="*/ 2147483646 h 3388"/>
              <a:gd name="T86" fmla="*/ 2147483646 w 4916"/>
              <a:gd name="T87" fmla="*/ 2147483646 h 3388"/>
              <a:gd name="T88" fmla="*/ 2147483646 w 4916"/>
              <a:gd name="T89" fmla="*/ 2147483646 h 3388"/>
              <a:gd name="T90" fmla="*/ 2147483646 w 4916"/>
              <a:gd name="T91" fmla="*/ 2147483646 h 3388"/>
              <a:gd name="T92" fmla="*/ 2147483646 w 4916"/>
              <a:gd name="T93" fmla="*/ 2147483646 h 3388"/>
              <a:gd name="T94" fmla="*/ 2147483646 w 4916"/>
              <a:gd name="T95" fmla="*/ 2147483646 h 3388"/>
              <a:gd name="T96" fmla="*/ 2147483646 w 4916"/>
              <a:gd name="T97" fmla="*/ 2147483646 h 3388"/>
              <a:gd name="T98" fmla="*/ 2147483646 w 4916"/>
              <a:gd name="T99" fmla="*/ 2147483646 h 3388"/>
              <a:gd name="T100" fmla="*/ 2147483646 w 4916"/>
              <a:gd name="T101" fmla="*/ 2147483646 h 3388"/>
              <a:gd name="T102" fmla="*/ 2147483646 w 4916"/>
              <a:gd name="T103" fmla="*/ 2147483646 h 3388"/>
              <a:gd name="T104" fmla="*/ 2147483646 w 4916"/>
              <a:gd name="T105" fmla="*/ 2147483646 h 3388"/>
              <a:gd name="T106" fmla="*/ 2147483646 w 4916"/>
              <a:gd name="T107" fmla="*/ 2147483646 h 3388"/>
              <a:gd name="T108" fmla="*/ 2147483646 w 4916"/>
              <a:gd name="T109" fmla="*/ 2147483646 h 3388"/>
              <a:gd name="T110" fmla="*/ 2147483646 w 4916"/>
              <a:gd name="T111" fmla="*/ 2147483646 h 3388"/>
              <a:gd name="T112" fmla="*/ 2147483646 w 4916"/>
              <a:gd name="T113" fmla="*/ 2147483646 h 3388"/>
              <a:gd name="T114" fmla="*/ 2147483646 w 4916"/>
              <a:gd name="T115" fmla="*/ 2147483646 h 3388"/>
              <a:gd name="T116" fmla="*/ 2147483646 w 4916"/>
              <a:gd name="T117" fmla="*/ 2147483646 h 3388"/>
              <a:gd name="T118" fmla="*/ 2147483646 w 4916"/>
              <a:gd name="T119" fmla="*/ 2147483646 h 3388"/>
              <a:gd name="T120" fmla="*/ 2147483646 w 4916"/>
              <a:gd name="T121" fmla="*/ 2147483646 h 3388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w 4916"/>
              <a:gd name="T184" fmla="*/ 0 h 3388"/>
              <a:gd name="T185" fmla="*/ 4916 w 4916"/>
              <a:gd name="T186" fmla="*/ 3388 h 3388"/>
            </a:gdLst>
            <a:ahLst/>
            <a:cxnLst>
              <a:cxn ang="T122">
                <a:pos x="T0" y="T1"/>
              </a:cxn>
              <a:cxn ang="T123">
                <a:pos x="T2" y="T3"/>
              </a:cxn>
              <a:cxn ang="T124">
                <a:pos x="T4" y="T5"/>
              </a:cxn>
              <a:cxn ang="T125">
                <a:pos x="T6" y="T7"/>
              </a:cxn>
              <a:cxn ang="T126">
                <a:pos x="T8" y="T9"/>
              </a:cxn>
              <a:cxn ang="T127">
                <a:pos x="T10" y="T11"/>
              </a:cxn>
              <a:cxn ang="T128">
                <a:pos x="T12" y="T13"/>
              </a:cxn>
              <a:cxn ang="T129">
                <a:pos x="T14" y="T15"/>
              </a:cxn>
              <a:cxn ang="T130">
                <a:pos x="T16" y="T17"/>
              </a:cxn>
              <a:cxn ang="T131">
                <a:pos x="T18" y="T19"/>
              </a:cxn>
              <a:cxn ang="T132">
                <a:pos x="T20" y="T21"/>
              </a:cxn>
              <a:cxn ang="T133">
                <a:pos x="T22" y="T23"/>
              </a:cxn>
              <a:cxn ang="T134">
                <a:pos x="T24" y="T25"/>
              </a:cxn>
              <a:cxn ang="T135">
                <a:pos x="T26" y="T27"/>
              </a:cxn>
              <a:cxn ang="T136">
                <a:pos x="T28" y="T29"/>
              </a:cxn>
              <a:cxn ang="T137">
                <a:pos x="T30" y="T31"/>
              </a:cxn>
              <a:cxn ang="T138">
                <a:pos x="T32" y="T33"/>
              </a:cxn>
              <a:cxn ang="T139">
                <a:pos x="T34" y="T35"/>
              </a:cxn>
              <a:cxn ang="T140">
                <a:pos x="T36" y="T37"/>
              </a:cxn>
              <a:cxn ang="T141">
                <a:pos x="T38" y="T39"/>
              </a:cxn>
              <a:cxn ang="T142">
                <a:pos x="T40" y="T41"/>
              </a:cxn>
              <a:cxn ang="T143">
                <a:pos x="T42" y="T43"/>
              </a:cxn>
              <a:cxn ang="T144">
                <a:pos x="T44" y="T45"/>
              </a:cxn>
              <a:cxn ang="T145">
                <a:pos x="T46" y="T47"/>
              </a:cxn>
              <a:cxn ang="T146">
                <a:pos x="T48" y="T49"/>
              </a:cxn>
              <a:cxn ang="T147">
                <a:pos x="T50" y="T51"/>
              </a:cxn>
              <a:cxn ang="T148">
                <a:pos x="T52" y="T53"/>
              </a:cxn>
              <a:cxn ang="T149">
                <a:pos x="T54" y="T55"/>
              </a:cxn>
              <a:cxn ang="T150">
                <a:pos x="T56" y="T57"/>
              </a:cxn>
              <a:cxn ang="T151">
                <a:pos x="T58" y="T59"/>
              </a:cxn>
              <a:cxn ang="T152">
                <a:pos x="T60" y="T61"/>
              </a:cxn>
              <a:cxn ang="T153">
                <a:pos x="T62" y="T63"/>
              </a:cxn>
              <a:cxn ang="T154">
                <a:pos x="T64" y="T65"/>
              </a:cxn>
              <a:cxn ang="T155">
                <a:pos x="T66" y="T67"/>
              </a:cxn>
              <a:cxn ang="T156">
                <a:pos x="T68" y="T69"/>
              </a:cxn>
              <a:cxn ang="T157">
                <a:pos x="T70" y="T71"/>
              </a:cxn>
              <a:cxn ang="T158">
                <a:pos x="T72" y="T73"/>
              </a:cxn>
              <a:cxn ang="T159">
                <a:pos x="T74" y="T75"/>
              </a:cxn>
              <a:cxn ang="T160">
                <a:pos x="T76" y="T77"/>
              </a:cxn>
              <a:cxn ang="T161">
                <a:pos x="T78" y="T79"/>
              </a:cxn>
              <a:cxn ang="T162">
                <a:pos x="T80" y="T81"/>
              </a:cxn>
              <a:cxn ang="T163">
                <a:pos x="T82" y="T83"/>
              </a:cxn>
              <a:cxn ang="T164">
                <a:pos x="T84" y="T85"/>
              </a:cxn>
              <a:cxn ang="T165">
                <a:pos x="T86" y="T87"/>
              </a:cxn>
              <a:cxn ang="T166">
                <a:pos x="T88" y="T89"/>
              </a:cxn>
              <a:cxn ang="T167">
                <a:pos x="T90" y="T91"/>
              </a:cxn>
              <a:cxn ang="T168">
                <a:pos x="T92" y="T93"/>
              </a:cxn>
              <a:cxn ang="T169">
                <a:pos x="T94" y="T95"/>
              </a:cxn>
              <a:cxn ang="T170">
                <a:pos x="T96" y="T97"/>
              </a:cxn>
              <a:cxn ang="T171">
                <a:pos x="T98" y="T99"/>
              </a:cxn>
              <a:cxn ang="T172">
                <a:pos x="T100" y="T101"/>
              </a:cxn>
              <a:cxn ang="T173">
                <a:pos x="T102" y="T103"/>
              </a:cxn>
              <a:cxn ang="T174">
                <a:pos x="T104" y="T105"/>
              </a:cxn>
              <a:cxn ang="T175">
                <a:pos x="T106" y="T107"/>
              </a:cxn>
              <a:cxn ang="T176">
                <a:pos x="T108" y="T109"/>
              </a:cxn>
              <a:cxn ang="T177">
                <a:pos x="T110" y="T111"/>
              </a:cxn>
              <a:cxn ang="T178">
                <a:pos x="T112" y="T113"/>
              </a:cxn>
              <a:cxn ang="T179">
                <a:pos x="T114" y="T115"/>
              </a:cxn>
              <a:cxn ang="T180">
                <a:pos x="T116" y="T117"/>
              </a:cxn>
              <a:cxn ang="T181">
                <a:pos x="T118" y="T119"/>
              </a:cxn>
              <a:cxn ang="T182">
                <a:pos x="T120" y="T121"/>
              </a:cxn>
            </a:cxnLst>
            <a:rect l="T183" t="T184" r="T185" b="T186"/>
            <a:pathLst>
              <a:path w="4916" h="3388">
                <a:moveTo>
                  <a:pt x="0" y="1792"/>
                </a:moveTo>
                <a:lnTo>
                  <a:pt x="12" y="1808"/>
                </a:lnTo>
                <a:lnTo>
                  <a:pt x="25" y="1823"/>
                </a:lnTo>
                <a:lnTo>
                  <a:pt x="38" y="1838"/>
                </a:lnTo>
                <a:lnTo>
                  <a:pt x="53" y="1853"/>
                </a:lnTo>
                <a:lnTo>
                  <a:pt x="68" y="1867"/>
                </a:lnTo>
                <a:lnTo>
                  <a:pt x="83" y="1883"/>
                </a:lnTo>
                <a:lnTo>
                  <a:pt x="100" y="1897"/>
                </a:lnTo>
                <a:lnTo>
                  <a:pt x="116" y="1911"/>
                </a:lnTo>
                <a:lnTo>
                  <a:pt x="131" y="1927"/>
                </a:lnTo>
                <a:lnTo>
                  <a:pt x="148" y="1941"/>
                </a:lnTo>
                <a:lnTo>
                  <a:pt x="162" y="1955"/>
                </a:lnTo>
                <a:lnTo>
                  <a:pt x="178" y="1971"/>
                </a:lnTo>
                <a:lnTo>
                  <a:pt x="193" y="1985"/>
                </a:lnTo>
                <a:lnTo>
                  <a:pt x="206" y="2000"/>
                </a:lnTo>
                <a:lnTo>
                  <a:pt x="219" y="2014"/>
                </a:lnTo>
                <a:lnTo>
                  <a:pt x="231" y="2030"/>
                </a:lnTo>
                <a:lnTo>
                  <a:pt x="244" y="2058"/>
                </a:lnTo>
                <a:lnTo>
                  <a:pt x="261" y="2080"/>
                </a:lnTo>
                <a:lnTo>
                  <a:pt x="281" y="2098"/>
                </a:lnTo>
                <a:lnTo>
                  <a:pt x="301" y="2114"/>
                </a:lnTo>
                <a:lnTo>
                  <a:pt x="322" y="2129"/>
                </a:lnTo>
                <a:lnTo>
                  <a:pt x="342" y="2148"/>
                </a:lnTo>
                <a:lnTo>
                  <a:pt x="359" y="2169"/>
                </a:lnTo>
                <a:lnTo>
                  <a:pt x="375" y="2195"/>
                </a:lnTo>
                <a:lnTo>
                  <a:pt x="391" y="2223"/>
                </a:lnTo>
                <a:lnTo>
                  <a:pt x="415" y="2256"/>
                </a:lnTo>
                <a:lnTo>
                  <a:pt x="441" y="2294"/>
                </a:lnTo>
                <a:lnTo>
                  <a:pt x="471" y="2333"/>
                </a:lnTo>
                <a:lnTo>
                  <a:pt x="501" y="2373"/>
                </a:lnTo>
                <a:lnTo>
                  <a:pt x="527" y="2409"/>
                </a:lnTo>
                <a:lnTo>
                  <a:pt x="551" y="2442"/>
                </a:lnTo>
                <a:lnTo>
                  <a:pt x="569" y="2469"/>
                </a:lnTo>
                <a:lnTo>
                  <a:pt x="580" y="2492"/>
                </a:lnTo>
                <a:lnTo>
                  <a:pt x="597" y="2519"/>
                </a:lnTo>
                <a:lnTo>
                  <a:pt x="616" y="2552"/>
                </a:lnTo>
                <a:lnTo>
                  <a:pt x="638" y="2586"/>
                </a:lnTo>
                <a:lnTo>
                  <a:pt x="663" y="2626"/>
                </a:lnTo>
                <a:lnTo>
                  <a:pt x="689" y="2666"/>
                </a:lnTo>
                <a:lnTo>
                  <a:pt x="717" y="2708"/>
                </a:lnTo>
                <a:lnTo>
                  <a:pt x="747" y="2752"/>
                </a:lnTo>
                <a:lnTo>
                  <a:pt x="775" y="2794"/>
                </a:lnTo>
                <a:lnTo>
                  <a:pt x="803" y="2838"/>
                </a:lnTo>
                <a:lnTo>
                  <a:pt x="830" y="2878"/>
                </a:lnTo>
                <a:lnTo>
                  <a:pt x="855" y="2916"/>
                </a:lnTo>
                <a:lnTo>
                  <a:pt x="878" y="2952"/>
                </a:lnTo>
                <a:lnTo>
                  <a:pt x="897" y="2983"/>
                </a:lnTo>
                <a:lnTo>
                  <a:pt x="914" y="3011"/>
                </a:lnTo>
                <a:lnTo>
                  <a:pt x="926" y="3032"/>
                </a:lnTo>
                <a:lnTo>
                  <a:pt x="937" y="3034"/>
                </a:lnTo>
                <a:lnTo>
                  <a:pt x="946" y="3035"/>
                </a:lnTo>
                <a:lnTo>
                  <a:pt x="957" y="3037"/>
                </a:lnTo>
                <a:lnTo>
                  <a:pt x="966" y="3039"/>
                </a:lnTo>
                <a:lnTo>
                  <a:pt x="977" y="3039"/>
                </a:lnTo>
                <a:lnTo>
                  <a:pt x="987" y="3042"/>
                </a:lnTo>
                <a:lnTo>
                  <a:pt x="997" y="3043"/>
                </a:lnTo>
                <a:lnTo>
                  <a:pt x="1007" y="3045"/>
                </a:lnTo>
                <a:lnTo>
                  <a:pt x="1009" y="3055"/>
                </a:lnTo>
                <a:lnTo>
                  <a:pt x="1012" y="3064"/>
                </a:lnTo>
                <a:lnTo>
                  <a:pt x="1014" y="3073"/>
                </a:lnTo>
                <a:lnTo>
                  <a:pt x="1016" y="3083"/>
                </a:lnTo>
                <a:lnTo>
                  <a:pt x="1025" y="3083"/>
                </a:lnTo>
                <a:lnTo>
                  <a:pt x="1033" y="3085"/>
                </a:lnTo>
                <a:lnTo>
                  <a:pt x="1043" y="3086"/>
                </a:lnTo>
                <a:lnTo>
                  <a:pt x="1052" y="3087"/>
                </a:lnTo>
                <a:lnTo>
                  <a:pt x="1060" y="3090"/>
                </a:lnTo>
                <a:lnTo>
                  <a:pt x="1069" y="3091"/>
                </a:lnTo>
                <a:lnTo>
                  <a:pt x="1079" y="3092"/>
                </a:lnTo>
                <a:lnTo>
                  <a:pt x="1088" y="3093"/>
                </a:lnTo>
                <a:lnTo>
                  <a:pt x="1104" y="3103"/>
                </a:lnTo>
                <a:lnTo>
                  <a:pt x="1121" y="3113"/>
                </a:lnTo>
                <a:lnTo>
                  <a:pt x="1137" y="3121"/>
                </a:lnTo>
                <a:lnTo>
                  <a:pt x="1152" y="3130"/>
                </a:lnTo>
                <a:lnTo>
                  <a:pt x="1168" y="3139"/>
                </a:lnTo>
                <a:lnTo>
                  <a:pt x="1185" y="3147"/>
                </a:lnTo>
                <a:lnTo>
                  <a:pt x="1202" y="3156"/>
                </a:lnTo>
                <a:lnTo>
                  <a:pt x="1217" y="3165"/>
                </a:lnTo>
                <a:lnTo>
                  <a:pt x="1229" y="3166"/>
                </a:lnTo>
                <a:lnTo>
                  <a:pt x="1240" y="3167"/>
                </a:lnTo>
                <a:lnTo>
                  <a:pt x="1251" y="3169"/>
                </a:lnTo>
                <a:lnTo>
                  <a:pt x="1262" y="3170"/>
                </a:lnTo>
                <a:lnTo>
                  <a:pt x="1274" y="3170"/>
                </a:lnTo>
                <a:lnTo>
                  <a:pt x="1285" y="3171"/>
                </a:lnTo>
                <a:lnTo>
                  <a:pt x="1297" y="3172"/>
                </a:lnTo>
                <a:lnTo>
                  <a:pt x="1308" y="3172"/>
                </a:lnTo>
                <a:lnTo>
                  <a:pt x="1317" y="3183"/>
                </a:lnTo>
                <a:lnTo>
                  <a:pt x="1326" y="3195"/>
                </a:lnTo>
                <a:lnTo>
                  <a:pt x="1335" y="3206"/>
                </a:lnTo>
                <a:lnTo>
                  <a:pt x="1343" y="3215"/>
                </a:lnTo>
                <a:lnTo>
                  <a:pt x="1363" y="3217"/>
                </a:lnTo>
                <a:lnTo>
                  <a:pt x="1383" y="3219"/>
                </a:lnTo>
                <a:lnTo>
                  <a:pt x="1403" y="3221"/>
                </a:lnTo>
                <a:lnTo>
                  <a:pt x="1422" y="3221"/>
                </a:lnTo>
                <a:lnTo>
                  <a:pt x="1443" y="3223"/>
                </a:lnTo>
                <a:lnTo>
                  <a:pt x="1462" y="3223"/>
                </a:lnTo>
                <a:lnTo>
                  <a:pt x="1482" y="3224"/>
                </a:lnTo>
                <a:lnTo>
                  <a:pt x="1502" y="3225"/>
                </a:lnTo>
                <a:lnTo>
                  <a:pt x="1525" y="3238"/>
                </a:lnTo>
                <a:lnTo>
                  <a:pt x="1547" y="3251"/>
                </a:lnTo>
                <a:lnTo>
                  <a:pt x="1571" y="3264"/>
                </a:lnTo>
                <a:lnTo>
                  <a:pt x="1595" y="3278"/>
                </a:lnTo>
                <a:lnTo>
                  <a:pt x="1619" y="3293"/>
                </a:lnTo>
                <a:lnTo>
                  <a:pt x="1643" y="3306"/>
                </a:lnTo>
                <a:lnTo>
                  <a:pt x="1667" y="3319"/>
                </a:lnTo>
                <a:lnTo>
                  <a:pt x="1692" y="3332"/>
                </a:lnTo>
                <a:lnTo>
                  <a:pt x="1701" y="3332"/>
                </a:lnTo>
                <a:lnTo>
                  <a:pt x="1711" y="3332"/>
                </a:lnTo>
                <a:lnTo>
                  <a:pt x="1721" y="3332"/>
                </a:lnTo>
                <a:lnTo>
                  <a:pt x="1732" y="3332"/>
                </a:lnTo>
                <a:lnTo>
                  <a:pt x="1742" y="3332"/>
                </a:lnTo>
                <a:lnTo>
                  <a:pt x="1751" y="3332"/>
                </a:lnTo>
                <a:lnTo>
                  <a:pt x="1762" y="3332"/>
                </a:lnTo>
                <a:lnTo>
                  <a:pt x="1772" y="3332"/>
                </a:lnTo>
                <a:lnTo>
                  <a:pt x="1780" y="3340"/>
                </a:lnTo>
                <a:lnTo>
                  <a:pt x="1790" y="3346"/>
                </a:lnTo>
                <a:lnTo>
                  <a:pt x="1799" y="3352"/>
                </a:lnTo>
                <a:lnTo>
                  <a:pt x="1809" y="3358"/>
                </a:lnTo>
                <a:lnTo>
                  <a:pt x="1817" y="3364"/>
                </a:lnTo>
                <a:lnTo>
                  <a:pt x="1826" y="3368"/>
                </a:lnTo>
                <a:lnTo>
                  <a:pt x="1835" y="3373"/>
                </a:lnTo>
                <a:lnTo>
                  <a:pt x="1843" y="3378"/>
                </a:lnTo>
                <a:lnTo>
                  <a:pt x="1871" y="3385"/>
                </a:lnTo>
                <a:lnTo>
                  <a:pt x="1889" y="3388"/>
                </a:lnTo>
                <a:lnTo>
                  <a:pt x="1901" y="3384"/>
                </a:lnTo>
                <a:lnTo>
                  <a:pt x="1905" y="3377"/>
                </a:lnTo>
                <a:lnTo>
                  <a:pt x="1905" y="3368"/>
                </a:lnTo>
                <a:lnTo>
                  <a:pt x="1899" y="3355"/>
                </a:lnTo>
                <a:lnTo>
                  <a:pt x="1891" y="3341"/>
                </a:lnTo>
                <a:lnTo>
                  <a:pt x="1883" y="3327"/>
                </a:lnTo>
                <a:lnTo>
                  <a:pt x="1876" y="3312"/>
                </a:lnTo>
                <a:lnTo>
                  <a:pt x="1868" y="3298"/>
                </a:lnTo>
                <a:lnTo>
                  <a:pt x="1864" y="3286"/>
                </a:lnTo>
                <a:lnTo>
                  <a:pt x="1863" y="3275"/>
                </a:lnTo>
                <a:lnTo>
                  <a:pt x="1867" y="3268"/>
                </a:lnTo>
                <a:lnTo>
                  <a:pt x="1877" y="3264"/>
                </a:lnTo>
                <a:lnTo>
                  <a:pt x="1896" y="3266"/>
                </a:lnTo>
                <a:lnTo>
                  <a:pt x="1922" y="3273"/>
                </a:lnTo>
                <a:lnTo>
                  <a:pt x="1935" y="3251"/>
                </a:lnTo>
                <a:lnTo>
                  <a:pt x="1947" y="3231"/>
                </a:lnTo>
                <a:lnTo>
                  <a:pt x="1957" y="3213"/>
                </a:lnTo>
                <a:lnTo>
                  <a:pt x="1965" y="3194"/>
                </a:lnTo>
                <a:lnTo>
                  <a:pt x="1975" y="3176"/>
                </a:lnTo>
                <a:lnTo>
                  <a:pt x="1984" y="3154"/>
                </a:lnTo>
                <a:lnTo>
                  <a:pt x="1995" y="3134"/>
                </a:lnTo>
                <a:lnTo>
                  <a:pt x="2007" y="3111"/>
                </a:lnTo>
                <a:lnTo>
                  <a:pt x="2008" y="3098"/>
                </a:lnTo>
                <a:lnTo>
                  <a:pt x="2013" y="3083"/>
                </a:lnTo>
                <a:lnTo>
                  <a:pt x="2019" y="3067"/>
                </a:lnTo>
                <a:lnTo>
                  <a:pt x="2026" y="3049"/>
                </a:lnTo>
                <a:lnTo>
                  <a:pt x="2035" y="3030"/>
                </a:lnTo>
                <a:lnTo>
                  <a:pt x="2041" y="3013"/>
                </a:lnTo>
                <a:lnTo>
                  <a:pt x="2045" y="2998"/>
                </a:lnTo>
                <a:lnTo>
                  <a:pt x="2046" y="2985"/>
                </a:lnTo>
                <a:lnTo>
                  <a:pt x="2059" y="2966"/>
                </a:lnTo>
                <a:lnTo>
                  <a:pt x="2071" y="2946"/>
                </a:lnTo>
                <a:lnTo>
                  <a:pt x="2085" y="2927"/>
                </a:lnTo>
                <a:lnTo>
                  <a:pt x="2096" y="2908"/>
                </a:lnTo>
                <a:lnTo>
                  <a:pt x="2107" y="2890"/>
                </a:lnTo>
                <a:lnTo>
                  <a:pt x="2118" y="2872"/>
                </a:lnTo>
                <a:lnTo>
                  <a:pt x="2130" y="2854"/>
                </a:lnTo>
                <a:lnTo>
                  <a:pt x="2142" y="2835"/>
                </a:lnTo>
                <a:lnTo>
                  <a:pt x="2148" y="2782"/>
                </a:lnTo>
                <a:lnTo>
                  <a:pt x="2159" y="2741"/>
                </a:lnTo>
                <a:lnTo>
                  <a:pt x="2171" y="2700"/>
                </a:lnTo>
                <a:lnTo>
                  <a:pt x="2174" y="2648"/>
                </a:lnTo>
                <a:lnTo>
                  <a:pt x="2187" y="2640"/>
                </a:lnTo>
                <a:lnTo>
                  <a:pt x="2201" y="2628"/>
                </a:lnTo>
                <a:lnTo>
                  <a:pt x="2217" y="2616"/>
                </a:lnTo>
                <a:lnTo>
                  <a:pt x="2232" y="2603"/>
                </a:lnTo>
                <a:lnTo>
                  <a:pt x="2247" y="2589"/>
                </a:lnTo>
                <a:lnTo>
                  <a:pt x="2263" y="2576"/>
                </a:lnTo>
                <a:lnTo>
                  <a:pt x="2276" y="2565"/>
                </a:lnTo>
                <a:lnTo>
                  <a:pt x="2289" y="2556"/>
                </a:lnTo>
                <a:lnTo>
                  <a:pt x="2298" y="2505"/>
                </a:lnTo>
                <a:lnTo>
                  <a:pt x="2304" y="2464"/>
                </a:lnTo>
                <a:lnTo>
                  <a:pt x="2309" y="2424"/>
                </a:lnTo>
                <a:lnTo>
                  <a:pt x="2320" y="2370"/>
                </a:lnTo>
                <a:lnTo>
                  <a:pt x="2330" y="2360"/>
                </a:lnTo>
                <a:lnTo>
                  <a:pt x="2347" y="2349"/>
                </a:lnTo>
                <a:lnTo>
                  <a:pt x="2366" y="2336"/>
                </a:lnTo>
                <a:lnTo>
                  <a:pt x="2388" y="2322"/>
                </a:lnTo>
                <a:lnTo>
                  <a:pt x="2412" y="2307"/>
                </a:lnTo>
                <a:lnTo>
                  <a:pt x="2431" y="2294"/>
                </a:lnTo>
                <a:lnTo>
                  <a:pt x="2448" y="2284"/>
                </a:lnTo>
                <a:lnTo>
                  <a:pt x="2457" y="2274"/>
                </a:lnTo>
                <a:lnTo>
                  <a:pt x="2455" y="2260"/>
                </a:lnTo>
                <a:lnTo>
                  <a:pt x="2455" y="2246"/>
                </a:lnTo>
                <a:lnTo>
                  <a:pt x="2459" y="2234"/>
                </a:lnTo>
                <a:lnTo>
                  <a:pt x="2462" y="2221"/>
                </a:lnTo>
                <a:lnTo>
                  <a:pt x="2467" y="2208"/>
                </a:lnTo>
                <a:lnTo>
                  <a:pt x="2470" y="2195"/>
                </a:lnTo>
                <a:lnTo>
                  <a:pt x="2472" y="2180"/>
                </a:lnTo>
                <a:lnTo>
                  <a:pt x="2470" y="2167"/>
                </a:lnTo>
                <a:lnTo>
                  <a:pt x="2482" y="2165"/>
                </a:lnTo>
                <a:lnTo>
                  <a:pt x="2493" y="2161"/>
                </a:lnTo>
                <a:lnTo>
                  <a:pt x="2504" y="2158"/>
                </a:lnTo>
                <a:lnTo>
                  <a:pt x="2516" y="2154"/>
                </a:lnTo>
                <a:lnTo>
                  <a:pt x="2528" y="2150"/>
                </a:lnTo>
                <a:lnTo>
                  <a:pt x="2538" y="2147"/>
                </a:lnTo>
                <a:lnTo>
                  <a:pt x="2549" y="2141"/>
                </a:lnTo>
                <a:lnTo>
                  <a:pt x="2560" y="2138"/>
                </a:lnTo>
                <a:lnTo>
                  <a:pt x="2565" y="2118"/>
                </a:lnTo>
                <a:lnTo>
                  <a:pt x="2573" y="2099"/>
                </a:lnTo>
                <a:lnTo>
                  <a:pt x="2580" y="2080"/>
                </a:lnTo>
                <a:lnTo>
                  <a:pt x="2589" y="2059"/>
                </a:lnTo>
                <a:lnTo>
                  <a:pt x="2597" y="2063"/>
                </a:lnTo>
                <a:lnTo>
                  <a:pt x="2603" y="2065"/>
                </a:lnTo>
                <a:lnTo>
                  <a:pt x="2610" y="2068"/>
                </a:lnTo>
                <a:lnTo>
                  <a:pt x="2618" y="2070"/>
                </a:lnTo>
                <a:lnTo>
                  <a:pt x="2625" y="2073"/>
                </a:lnTo>
                <a:lnTo>
                  <a:pt x="2634" y="2075"/>
                </a:lnTo>
                <a:lnTo>
                  <a:pt x="2642" y="2078"/>
                </a:lnTo>
                <a:lnTo>
                  <a:pt x="2650" y="2080"/>
                </a:lnTo>
                <a:lnTo>
                  <a:pt x="2657" y="2063"/>
                </a:lnTo>
                <a:lnTo>
                  <a:pt x="2664" y="2046"/>
                </a:lnTo>
                <a:lnTo>
                  <a:pt x="2668" y="2028"/>
                </a:lnTo>
                <a:lnTo>
                  <a:pt x="2673" y="2012"/>
                </a:lnTo>
                <a:lnTo>
                  <a:pt x="2678" y="2007"/>
                </a:lnTo>
                <a:lnTo>
                  <a:pt x="2683" y="2002"/>
                </a:lnTo>
                <a:lnTo>
                  <a:pt x="2689" y="1998"/>
                </a:lnTo>
                <a:lnTo>
                  <a:pt x="2694" y="1991"/>
                </a:lnTo>
                <a:lnTo>
                  <a:pt x="2700" y="1987"/>
                </a:lnTo>
                <a:lnTo>
                  <a:pt x="2705" y="1982"/>
                </a:lnTo>
                <a:lnTo>
                  <a:pt x="2712" y="1976"/>
                </a:lnTo>
                <a:lnTo>
                  <a:pt x="2716" y="1971"/>
                </a:lnTo>
                <a:lnTo>
                  <a:pt x="2726" y="1955"/>
                </a:lnTo>
                <a:lnTo>
                  <a:pt x="2736" y="1940"/>
                </a:lnTo>
                <a:lnTo>
                  <a:pt x="2747" y="1924"/>
                </a:lnTo>
                <a:lnTo>
                  <a:pt x="2760" y="1908"/>
                </a:lnTo>
                <a:lnTo>
                  <a:pt x="2771" y="1892"/>
                </a:lnTo>
                <a:lnTo>
                  <a:pt x="2783" y="1877"/>
                </a:lnTo>
                <a:lnTo>
                  <a:pt x="2798" y="1860"/>
                </a:lnTo>
                <a:lnTo>
                  <a:pt x="2811" y="1844"/>
                </a:lnTo>
                <a:lnTo>
                  <a:pt x="2834" y="1825"/>
                </a:lnTo>
                <a:lnTo>
                  <a:pt x="2859" y="1804"/>
                </a:lnTo>
                <a:lnTo>
                  <a:pt x="2882" y="1783"/>
                </a:lnTo>
                <a:lnTo>
                  <a:pt x="2906" y="1764"/>
                </a:lnTo>
                <a:lnTo>
                  <a:pt x="2929" y="1743"/>
                </a:lnTo>
                <a:lnTo>
                  <a:pt x="2953" y="1722"/>
                </a:lnTo>
                <a:lnTo>
                  <a:pt x="2974" y="1700"/>
                </a:lnTo>
                <a:lnTo>
                  <a:pt x="2998" y="1678"/>
                </a:lnTo>
                <a:lnTo>
                  <a:pt x="3019" y="1656"/>
                </a:lnTo>
                <a:lnTo>
                  <a:pt x="3043" y="1635"/>
                </a:lnTo>
                <a:lnTo>
                  <a:pt x="3067" y="1612"/>
                </a:lnTo>
                <a:lnTo>
                  <a:pt x="3089" y="1589"/>
                </a:lnTo>
                <a:lnTo>
                  <a:pt x="3112" y="1565"/>
                </a:lnTo>
                <a:lnTo>
                  <a:pt x="3135" y="1542"/>
                </a:lnTo>
                <a:lnTo>
                  <a:pt x="3160" y="1520"/>
                </a:lnTo>
                <a:lnTo>
                  <a:pt x="3183" y="1496"/>
                </a:lnTo>
                <a:lnTo>
                  <a:pt x="3208" y="1471"/>
                </a:lnTo>
                <a:lnTo>
                  <a:pt x="3233" y="1448"/>
                </a:lnTo>
                <a:lnTo>
                  <a:pt x="3259" y="1424"/>
                </a:lnTo>
                <a:lnTo>
                  <a:pt x="3284" y="1400"/>
                </a:lnTo>
                <a:lnTo>
                  <a:pt x="3311" y="1375"/>
                </a:lnTo>
                <a:lnTo>
                  <a:pt x="3339" y="1350"/>
                </a:lnTo>
                <a:lnTo>
                  <a:pt x="3368" y="1326"/>
                </a:lnTo>
                <a:lnTo>
                  <a:pt x="3397" y="1302"/>
                </a:lnTo>
                <a:lnTo>
                  <a:pt x="3428" y="1277"/>
                </a:lnTo>
                <a:lnTo>
                  <a:pt x="3458" y="1252"/>
                </a:lnTo>
                <a:lnTo>
                  <a:pt x="3489" y="1227"/>
                </a:lnTo>
                <a:lnTo>
                  <a:pt x="3523" y="1201"/>
                </a:lnTo>
                <a:lnTo>
                  <a:pt x="3556" y="1178"/>
                </a:lnTo>
                <a:lnTo>
                  <a:pt x="3591" y="1152"/>
                </a:lnTo>
                <a:lnTo>
                  <a:pt x="3628" y="1127"/>
                </a:lnTo>
                <a:lnTo>
                  <a:pt x="3666" y="1102"/>
                </a:lnTo>
                <a:lnTo>
                  <a:pt x="3682" y="1091"/>
                </a:lnTo>
                <a:lnTo>
                  <a:pt x="3700" y="1080"/>
                </a:lnTo>
                <a:lnTo>
                  <a:pt x="3717" y="1070"/>
                </a:lnTo>
                <a:lnTo>
                  <a:pt x="3733" y="1059"/>
                </a:lnTo>
                <a:lnTo>
                  <a:pt x="3751" y="1050"/>
                </a:lnTo>
                <a:lnTo>
                  <a:pt x="3768" y="1039"/>
                </a:lnTo>
                <a:lnTo>
                  <a:pt x="3785" y="1029"/>
                </a:lnTo>
                <a:lnTo>
                  <a:pt x="3805" y="1020"/>
                </a:lnTo>
                <a:lnTo>
                  <a:pt x="3814" y="1013"/>
                </a:lnTo>
                <a:lnTo>
                  <a:pt x="3825" y="1009"/>
                </a:lnTo>
                <a:lnTo>
                  <a:pt x="3836" y="1004"/>
                </a:lnTo>
                <a:lnTo>
                  <a:pt x="3846" y="1000"/>
                </a:lnTo>
                <a:lnTo>
                  <a:pt x="3856" y="994"/>
                </a:lnTo>
                <a:lnTo>
                  <a:pt x="3866" y="990"/>
                </a:lnTo>
                <a:lnTo>
                  <a:pt x="3876" y="983"/>
                </a:lnTo>
                <a:lnTo>
                  <a:pt x="3888" y="978"/>
                </a:lnTo>
                <a:lnTo>
                  <a:pt x="3906" y="967"/>
                </a:lnTo>
                <a:lnTo>
                  <a:pt x="3925" y="956"/>
                </a:lnTo>
                <a:lnTo>
                  <a:pt x="3943" y="946"/>
                </a:lnTo>
                <a:lnTo>
                  <a:pt x="3961" y="933"/>
                </a:lnTo>
                <a:lnTo>
                  <a:pt x="3980" y="923"/>
                </a:lnTo>
                <a:lnTo>
                  <a:pt x="3998" y="910"/>
                </a:lnTo>
                <a:lnTo>
                  <a:pt x="4017" y="899"/>
                </a:lnTo>
                <a:lnTo>
                  <a:pt x="4035" y="887"/>
                </a:lnTo>
                <a:lnTo>
                  <a:pt x="4047" y="879"/>
                </a:lnTo>
                <a:lnTo>
                  <a:pt x="4060" y="869"/>
                </a:lnTo>
                <a:lnTo>
                  <a:pt x="4071" y="860"/>
                </a:lnTo>
                <a:lnTo>
                  <a:pt x="4085" y="851"/>
                </a:lnTo>
                <a:lnTo>
                  <a:pt x="4097" y="842"/>
                </a:lnTo>
                <a:lnTo>
                  <a:pt x="4111" y="833"/>
                </a:lnTo>
                <a:lnTo>
                  <a:pt x="4123" y="825"/>
                </a:lnTo>
                <a:lnTo>
                  <a:pt x="4136" y="815"/>
                </a:lnTo>
                <a:lnTo>
                  <a:pt x="4141" y="803"/>
                </a:lnTo>
                <a:lnTo>
                  <a:pt x="4146" y="792"/>
                </a:lnTo>
                <a:lnTo>
                  <a:pt x="4152" y="781"/>
                </a:lnTo>
                <a:lnTo>
                  <a:pt x="4156" y="772"/>
                </a:lnTo>
                <a:lnTo>
                  <a:pt x="4165" y="764"/>
                </a:lnTo>
                <a:lnTo>
                  <a:pt x="4172" y="759"/>
                </a:lnTo>
                <a:lnTo>
                  <a:pt x="4180" y="751"/>
                </a:lnTo>
                <a:lnTo>
                  <a:pt x="4189" y="745"/>
                </a:lnTo>
                <a:lnTo>
                  <a:pt x="4198" y="738"/>
                </a:lnTo>
                <a:lnTo>
                  <a:pt x="4207" y="732"/>
                </a:lnTo>
                <a:lnTo>
                  <a:pt x="4215" y="725"/>
                </a:lnTo>
                <a:lnTo>
                  <a:pt x="4224" y="719"/>
                </a:lnTo>
                <a:lnTo>
                  <a:pt x="4227" y="725"/>
                </a:lnTo>
                <a:lnTo>
                  <a:pt x="4230" y="731"/>
                </a:lnTo>
                <a:lnTo>
                  <a:pt x="4233" y="737"/>
                </a:lnTo>
                <a:lnTo>
                  <a:pt x="4235" y="743"/>
                </a:lnTo>
                <a:lnTo>
                  <a:pt x="4249" y="734"/>
                </a:lnTo>
                <a:lnTo>
                  <a:pt x="4261" y="728"/>
                </a:lnTo>
                <a:lnTo>
                  <a:pt x="4275" y="719"/>
                </a:lnTo>
                <a:lnTo>
                  <a:pt x="4289" y="711"/>
                </a:lnTo>
                <a:lnTo>
                  <a:pt x="4302" y="704"/>
                </a:lnTo>
                <a:lnTo>
                  <a:pt x="4316" y="695"/>
                </a:lnTo>
                <a:lnTo>
                  <a:pt x="4330" y="688"/>
                </a:lnTo>
                <a:lnTo>
                  <a:pt x="4341" y="681"/>
                </a:lnTo>
                <a:lnTo>
                  <a:pt x="4351" y="666"/>
                </a:lnTo>
                <a:lnTo>
                  <a:pt x="4360" y="649"/>
                </a:lnTo>
                <a:lnTo>
                  <a:pt x="4369" y="633"/>
                </a:lnTo>
                <a:lnTo>
                  <a:pt x="4378" y="619"/>
                </a:lnTo>
                <a:lnTo>
                  <a:pt x="4389" y="609"/>
                </a:lnTo>
                <a:lnTo>
                  <a:pt x="4401" y="600"/>
                </a:lnTo>
                <a:lnTo>
                  <a:pt x="4413" y="592"/>
                </a:lnTo>
                <a:lnTo>
                  <a:pt x="4426" y="584"/>
                </a:lnTo>
                <a:lnTo>
                  <a:pt x="4437" y="576"/>
                </a:lnTo>
                <a:lnTo>
                  <a:pt x="4449" y="567"/>
                </a:lnTo>
                <a:lnTo>
                  <a:pt x="4459" y="556"/>
                </a:lnTo>
                <a:lnTo>
                  <a:pt x="4470" y="548"/>
                </a:lnTo>
                <a:lnTo>
                  <a:pt x="4475" y="534"/>
                </a:lnTo>
                <a:lnTo>
                  <a:pt x="4479" y="519"/>
                </a:lnTo>
                <a:lnTo>
                  <a:pt x="4483" y="505"/>
                </a:lnTo>
                <a:lnTo>
                  <a:pt x="4490" y="489"/>
                </a:lnTo>
                <a:lnTo>
                  <a:pt x="4500" y="481"/>
                </a:lnTo>
                <a:lnTo>
                  <a:pt x="4514" y="473"/>
                </a:lnTo>
                <a:lnTo>
                  <a:pt x="4525" y="466"/>
                </a:lnTo>
                <a:lnTo>
                  <a:pt x="4537" y="457"/>
                </a:lnTo>
                <a:lnTo>
                  <a:pt x="4548" y="448"/>
                </a:lnTo>
                <a:lnTo>
                  <a:pt x="4561" y="439"/>
                </a:lnTo>
                <a:lnTo>
                  <a:pt x="4571" y="432"/>
                </a:lnTo>
                <a:lnTo>
                  <a:pt x="4581" y="424"/>
                </a:lnTo>
                <a:lnTo>
                  <a:pt x="4595" y="420"/>
                </a:lnTo>
                <a:lnTo>
                  <a:pt x="4609" y="416"/>
                </a:lnTo>
                <a:lnTo>
                  <a:pt x="4622" y="412"/>
                </a:lnTo>
                <a:lnTo>
                  <a:pt x="4634" y="408"/>
                </a:lnTo>
                <a:lnTo>
                  <a:pt x="4648" y="403"/>
                </a:lnTo>
                <a:lnTo>
                  <a:pt x="4660" y="400"/>
                </a:lnTo>
                <a:lnTo>
                  <a:pt x="4672" y="395"/>
                </a:lnTo>
                <a:lnTo>
                  <a:pt x="4685" y="392"/>
                </a:lnTo>
                <a:lnTo>
                  <a:pt x="4692" y="384"/>
                </a:lnTo>
                <a:lnTo>
                  <a:pt x="4698" y="375"/>
                </a:lnTo>
                <a:lnTo>
                  <a:pt x="4704" y="368"/>
                </a:lnTo>
                <a:lnTo>
                  <a:pt x="4710" y="359"/>
                </a:lnTo>
                <a:lnTo>
                  <a:pt x="4716" y="351"/>
                </a:lnTo>
                <a:lnTo>
                  <a:pt x="4722" y="342"/>
                </a:lnTo>
                <a:lnTo>
                  <a:pt x="4728" y="333"/>
                </a:lnTo>
                <a:lnTo>
                  <a:pt x="4735" y="324"/>
                </a:lnTo>
                <a:lnTo>
                  <a:pt x="4745" y="318"/>
                </a:lnTo>
                <a:lnTo>
                  <a:pt x="4755" y="311"/>
                </a:lnTo>
                <a:lnTo>
                  <a:pt x="4764" y="305"/>
                </a:lnTo>
                <a:lnTo>
                  <a:pt x="4773" y="298"/>
                </a:lnTo>
                <a:lnTo>
                  <a:pt x="4784" y="291"/>
                </a:lnTo>
                <a:lnTo>
                  <a:pt x="4793" y="284"/>
                </a:lnTo>
                <a:lnTo>
                  <a:pt x="4802" y="277"/>
                </a:lnTo>
                <a:lnTo>
                  <a:pt x="4810" y="269"/>
                </a:lnTo>
                <a:lnTo>
                  <a:pt x="4816" y="274"/>
                </a:lnTo>
                <a:lnTo>
                  <a:pt x="4824" y="279"/>
                </a:lnTo>
                <a:lnTo>
                  <a:pt x="4831" y="285"/>
                </a:lnTo>
                <a:lnTo>
                  <a:pt x="4835" y="290"/>
                </a:lnTo>
                <a:lnTo>
                  <a:pt x="4845" y="282"/>
                </a:lnTo>
                <a:lnTo>
                  <a:pt x="4856" y="274"/>
                </a:lnTo>
                <a:lnTo>
                  <a:pt x="4865" y="266"/>
                </a:lnTo>
                <a:lnTo>
                  <a:pt x="4876" y="258"/>
                </a:lnTo>
                <a:lnTo>
                  <a:pt x="4885" y="248"/>
                </a:lnTo>
                <a:lnTo>
                  <a:pt x="4895" y="239"/>
                </a:lnTo>
                <a:lnTo>
                  <a:pt x="4906" y="231"/>
                </a:lnTo>
                <a:lnTo>
                  <a:pt x="4916" y="222"/>
                </a:lnTo>
                <a:lnTo>
                  <a:pt x="4904" y="228"/>
                </a:lnTo>
                <a:lnTo>
                  <a:pt x="4893" y="234"/>
                </a:lnTo>
                <a:lnTo>
                  <a:pt x="4881" y="241"/>
                </a:lnTo>
                <a:lnTo>
                  <a:pt x="4867" y="245"/>
                </a:lnTo>
                <a:lnTo>
                  <a:pt x="4856" y="251"/>
                </a:lnTo>
                <a:lnTo>
                  <a:pt x="4845" y="256"/>
                </a:lnTo>
                <a:lnTo>
                  <a:pt x="4833" y="261"/>
                </a:lnTo>
                <a:lnTo>
                  <a:pt x="4821" y="266"/>
                </a:lnTo>
                <a:lnTo>
                  <a:pt x="4832" y="241"/>
                </a:lnTo>
                <a:lnTo>
                  <a:pt x="4841" y="218"/>
                </a:lnTo>
                <a:lnTo>
                  <a:pt x="4847" y="194"/>
                </a:lnTo>
                <a:lnTo>
                  <a:pt x="4852" y="171"/>
                </a:lnTo>
                <a:lnTo>
                  <a:pt x="4844" y="178"/>
                </a:lnTo>
                <a:lnTo>
                  <a:pt x="4835" y="187"/>
                </a:lnTo>
                <a:lnTo>
                  <a:pt x="4826" y="195"/>
                </a:lnTo>
                <a:lnTo>
                  <a:pt x="4815" y="203"/>
                </a:lnTo>
                <a:lnTo>
                  <a:pt x="4806" y="211"/>
                </a:lnTo>
                <a:lnTo>
                  <a:pt x="4796" y="219"/>
                </a:lnTo>
                <a:lnTo>
                  <a:pt x="4785" y="228"/>
                </a:lnTo>
                <a:lnTo>
                  <a:pt x="4775" y="237"/>
                </a:lnTo>
                <a:lnTo>
                  <a:pt x="4768" y="247"/>
                </a:lnTo>
                <a:lnTo>
                  <a:pt x="4759" y="256"/>
                </a:lnTo>
                <a:lnTo>
                  <a:pt x="4752" y="266"/>
                </a:lnTo>
                <a:lnTo>
                  <a:pt x="4745" y="277"/>
                </a:lnTo>
                <a:lnTo>
                  <a:pt x="4738" y="288"/>
                </a:lnTo>
                <a:lnTo>
                  <a:pt x="4729" y="298"/>
                </a:lnTo>
                <a:lnTo>
                  <a:pt x="4722" y="309"/>
                </a:lnTo>
                <a:lnTo>
                  <a:pt x="4715" y="320"/>
                </a:lnTo>
                <a:lnTo>
                  <a:pt x="4708" y="324"/>
                </a:lnTo>
                <a:lnTo>
                  <a:pt x="4701" y="329"/>
                </a:lnTo>
                <a:lnTo>
                  <a:pt x="4694" y="335"/>
                </a:lnTo>
                <a:lnTo>
                  <a:pt x="4687" y="341"/>
                </a:lnTo>
                <a:lnTo>
                  <a:pt x="4679" y="346"/>
                </a:lnTo>
                <a:lnTo>
                  <a:pt x="4673" y="351"/>
                </a:lnTo>
                <a:lnTo>
                  <a:pt x="4667" y="355"/>
                </a:lnTo>
                <a:lnTo>
                  <a:pt x="4660" y="360"/>
                </a:lnTo>
                <a:lnTo>
                  <a:pt x="4655" y="359"/>
                </a:lnTo>
                <a:lnTo>
                  <a:pt x="4650" y="358"/>
                </a:lnTo>
                <a:lnTo>
                  <a:pt x="4646" y="355"/>
                </a:lnTo>
                <a:lnTo>
                  <a:pt x="4641" y="354"/>
                </a:lnTo>
                <a:lnTo>
                  <a:pt x="4636" y="353"/>
                </a:lnTo>
                <a:lnTo>
                  <a:pt x="4632" y="351"/>
                </a:lnTo>
                <a:lnTo>
                  <a:pt x="4626" y="349"/>
                </a:lnTo>
                <a:lnTo>
                  <a:pt x="4622" y="349"/>
                </a:lnTo>
                <a:lnTo>
                  <a:pt x="4600" y="366"/>
                </a:lnTo>
                <a:lnTo>
                  <a:pt x="4579" y="384"/>
                </a:lnTo>
                <a:lnTo>
                  <a:pt x="4558" y="402"/>
                </a:lnTo>
                <a:lnTo>
                  <a:pt x="4536" y="420"/>
                </a:lnTo>
                <a:lnTo>
                  <a:pt x="4514" y="438"/>
                </a:lnTo>
                <a:lnTo>
                  <a:pt x="4490" y="457"/>
                </a:lnTo>
                <a:lnTo>
                  <a:pt x="4469" y="476"/>
                </a:lnTo>
                <a:lnTo>
                  <a:pt x="4445" y="494"/>
                </a:lnTo>
                <a:lnTo>
                  <a:pt x="4435" y="499"/>
                </a:lnTo>
                <a:lnTo>
                  <a:pt x="4426" y="505"/>
                </a:lnTo>
                <a:lnTo>
                  <a:pt x="4415" y="509"/>
                </a:lnTo>
                <a:lnTo>
                  <a:pt x="4406" y="515"/>
                </a:lnTo>
                <a:lnTo>
                  <a:pt x="4396" y="519"/>
                </a:lnTo>
                <a:lnTo>
                  <a:pt x="4388" y="524"/>
                </a:lnTo>
                <a:lnTo>
                  <a:pt x="4378" y="530"/>
                </a:lnTo>
                <a:lnTo>
                  <a:pt x="4369" y="535"/>
                </a:lnTo>
                <a:lnTo>
                  <a:pt x="4363" y="533"/>
                </a:lnTo>
                <a:lnTo>
                  <a:pt x="4357" y="530"/>
                </a:lnTo>
                <a:lnTo>
                  <a:pt x="4351" y="528"/>
                </a:lnTo>
                <a:lnTo>
                  <a:pt x="4347" y="524"/>
                </a:lnTo>
                <a:lnTo>
                  <a:pt x="4340" y="522"/>
                </a:lnTo>
                <a:lnTo>
                  <a:pt x="4336" y="519"/>
                </a:lnTo>
                <a:lnTo>
                  <a:pt x="4330" y="517"/>
                </a:lnTo>
                <a:lnTo>
                  <a:pt x="4324" y="515"/>
                </a:lnTo>
                <a:lnTo>
                  <a:pt x="4299" y="533"/>
                </a:lnTo>
                <a:lnTo>
                  <a:pt x="4274" y="549"/>
                </a:lnTo>
                <a:lnTo>
                  <a:pt x="4249" y="568"/>
                </a:lnTo>
                <a:lnTo>
                  <a:pt x="4224" y="585"/>
                </a:lnTo>
                <a:lnTo>
                  <a:pt x="4201" y="602"/>
                </a:lnTo>
                <a:lnTo>
                  <a:pt x="4174" y="620"/>
                </a:lnTo>
                <a:lnTo>
                  <a:pt x="4150" y="637"/>
                </a:lnTo>
                <a:lnTo>
                  <a:pt x="4125" y="654"/>
                </a:lnTo>
                <a:lnTo>
                  <a:pt x="4099" y="671"/>
                </a:lnTo>
                <a:lnTo>
                  <a:pt x="4075" y="691"/>
                </a:lnTo>
                <a:lnTo>
                  <a:pt x="4050" y="707"/>
                </a:lnTo>
                <a:lnTo>
                  <a:pt x="4025" y="725"/>
                </a:lnTo>
                <a:lnTo>
                  <a:pt x="4000" y="742"/>
                </a:lnTo>
                <a:lnTo>
                  <a:pt x="3975" y="760"/>
                </a:lnTo>
                <a:lnTo>
                  <a:pt x="3950" y="778"/>
                </a:lnTo>
                <a:lnTo>
                  <a:pt x="3925" y="797"/>
                </a:lnTo>
                <a:lnTo>
                  <a:pt x="3918" y="788"/>
                </a:lnTo>
                <a:lnTo>
                  <a:pt x="3912" y="781"/>
                </a:lnTo>
                <a:lnTo>
                  <a:pt x="3906" y="771"/>
                </a:lnTo>
                <a:lnTo>
                  <a:pt x="3902" y="761"/>
                </a:lnTo>
                <a:lnTo>
                  <a:pt x="3912" y="754"/>
                </a:lnTo>
                <a:lnTo>
                  <a:pt x="3920" y="747"/>
                </a:lnTo>
                <a:lnTo>
                  <a:pt x="3931" y="738"/>
                </a:lnTo>
                <a:lnTo>
                  <a:pt x="3939" y="730"/>
                </a:lnTo>
                <a:lnTo>
                  <a:pt x="3949" y="721"/>
                </a:lnTo>
                <a:lnTo>
                  <a:pt x="3958" y="713"/>
                </a:lnTo>
                <a:lnTo>
                  <a:pt x="3969" y="704"/>
                </a:lnTo>
                <a:lnTo>
                  <a:pt x="3979" y="696"/>
                </a:lnTo>
                <a:lnTo>
                  <a:pt x="3986" y="694"/>
                </a:lnTo>
                <a:lnTo>
                  <a:pt x="3993" y="691"/>
                </a:lnTo>
                <a:lnTo>
                  <a:pt x="4000" y="691"/>
                </a:lnTo>
                <a:lnTo>
                  <a:pt x="4009" y="688"/>
                </a:lnTo>
                <a:lnTo>
                  <a:pt x="4017" y="685"/>
                </a:lnTo>
                <a:lnTo>
                  <a:pt x="4024" y="683"/>
                </a:lnTo>
                <a:lnTo>
                  <a:pt x="4033" y="680"/>
                </a:lnTo>
                <a:lnTo>
                  <a:pt x="4040" y="677"/>
                </a:lnTo>
                <a:lnTo>
                  <a:pt x="4044" y="670"/>
                </a:lnTo>
                <a:lnTo>
                  <a:pt x="4049" y="663"/>
                </a:lnTo>
                <a:lnTo>
                  <a:pt x="4054" y="657"/>
                </a:lnTo>
                <a:lnTo>
                  <a:pt x="4060" y="650"/>
                </a:lnTo>
                <a:lnTo>
                  <a:pt x="4064" y="643"/>
                </a:lnTo>
                <a:lnTo>
                  <a:pt x="4069" y="636"/>
                </a:lnTo>
                <a:lnTo>
                  <a:pt x="4075" y="628"/>
                </a:lnTo>
                <a:lnTo>
                  <a:pt x="4080" y="621"/>
                </a:lnTo>
                <a:lnTo>
                  <a:pt x="4090" y="617"/>
                </a:lnTo>
                <a:lnTo>
                  <a:pt x="4098" y="611"/>
                </a:lnTo>
                <a:lnTo>
                  <a:pt x="4109" y="606"/>
                </a:lnTo>
                <a:lnTo>
                  <a:pt x="4119" y="600"/>
                </a:lnTo>
                <a:lnTo>
                  <a:pt x="4127" y="595"/>
                </a:lnTo>
                <a:lnTo>
                  <a:pt x="4136" y="590"/>
                </a:lnTo>
                <a:lnTo>
                  <a:pt x="4146" y="584"/>
                </a:lnTo>
                <a:lnTo>
                  <a:pt x="4156" y="579"/>
                </a:lnTo>
                <a:lnTo>
                  <a:pt x="4163" y="565"/>
                </a:lnTo>
                <a:lnTo>
                  <a:pt x="4170" y="552"/>
                </a:lnTo>
                <a:lnTo>
                  <a:pt x="4176" y="539"/>
                </a:lnTo>
                <a:lnTo>
                  <a:pt x="4184" y="524"/>
                </a:lnTo>
                <a:lnTo>
                  <a:pt x="4190" y="517"/>
                </a:lnTo>
                <a:lnTo>
                  <a:pt x="4198" y="511"/>
                </a:lnTo>
                <a:lnTo>
                  <a:pt x="4205" y="505"/>
                </a:lnTo>
                <a:lnTo>
                  <a:pt x="4211" y="499"/>
                </a:lnTo>
                <a:lnTo>
                  <a:pt x="4218" y="493"/>
                </a:lnTo>
                <a:lnTo>
                  <a:pt x="4226" y="487"/>
                </a:lnTo>
                <a:lnTo>
                  <a:pt x="4234" y="481"/>
                </a:lnTo>
                <a:lnTo>
                  <a:pt x="4242" y="475"/>
                </a:lnTo>
                <a:lnTo>
                  <a:pt x="4235" y="473"/>
                </a:lnTo>
                <a:lnTo>
                  <a:pt x="4230" y="470"/>
                </a:lnTo>
                <a:lnTo>
                  <a:pt x="4224" y="468"/>
                </a:lnTo>
                <a:lnTo>
                  <a:pt x="4218" y="464"/>
                </a:lnTo>
                <a:lnTo>
                  <a:pt x="4213" y="462"/>
                </a:lnTo>
                <a:lnTo>
                  <a:pt x="4207" y="458"/>
                </a:lnTo>
                <a:lnTo>
                  <a:pt x="4202" y="455"/>
                </a:lnTo>
                <a:lnTo>
                  <a:pt x="4196" y="450"/>
                </a:lnTo>
                <a:lnTo>
                  <a:pt x="4207" y="442"/>
                </a:lnTo>
                <a:lnTo>
                  <a:pt x="4217" y="433"/>
                </a:lnTo>
                <a:lnTo>
                  <a:pt x="4228" y="425"/>
                </a:lnTo>
                <a:lnTo>
                  <a:pt x="4241" y="416"/>
                </a:lnTo>
                <a:lnTo>
                  <a:pt x="4252" y="408"/>
                </a:lnTo>
                <a:lnTo>
                  <a:pt x="4263" y="400"/>
                </a:lnTo>
                <a:lnTo>
                  <a:pt x="4274" y="392"/>
                </a:lnTo>
                <a:lnTo>
                  <a:pt x="4286" y="383"/>
                </a:lnTo>
                <a:lnTo>
                  <a:pt x="4291" y="377"/>
                </a:lnTo>
                <a:lnTo>
                  <a:pt x="4299" y="372"/>
                </a:lnTo>
                <a:lnTo>
                  <a:pt x="4307" y="366"/>
                </a:lnTo>
                <a:lnTo>
                  <a:pt x="4312" y="359"/>
                </a:lnTo>
                <a:lnTo>
                  <a:pt x="4321" y="349"/>
                </a:lnTo>
                <a:lnTo>
                  <a:pt x="4332" y="337"/>
                </a:lnTo>
                <a:lnTo>
                  <a:pt x="4339" y="326"/>
                </a:lnTo>
                <a:lnTo>
                  <a:pt x="4347" y="315"/>
                </a:lnTo>
                <a:lnTo>
                  <a:pt x="4356" y="304"/>
                </a:lnTo>
                <a:lnTo>
                  <a:pt x="4364" y="293"/>
                </a:lnTo>
                <a:lnTo>
                  <a:pt x="4374" y="282"/>
                </a:lnTo>
                <a:lnTo>
                  <a:pt x="4382" y="271"/>
                </a:lnTo>
                <a:lnTo>
                  <a:pt x="4360" y="281"/>
                </a:lnTo>
                <a:lnTo>
                  <a:pt x="4341" y="290"/>
                </a:lnTo>
                <a:lnTo>
                  <a:pt x="4320" y="299"/>
                </a:lnTo>
                <a:lnTo>
                  <a:pt x="4301" y="308"/>
                </a:lnTo>
                <a:lnTo>
                  <a:pt x="4279" y="318"/>
                </a:lnTo>
                <a:lnTo>
                  <a:pt x="4259" y="327"/>
                </a:lnTo>
                <a:lnTo>
                  <a:pt x="4238" y="338"/>
                </a:lnTo>
                <a:lnTo>
                  <a:pt x="4217" y="349"/>
                </a:lnTo>
                <a:lnTo>
                  <a:pt x="4213" y="346"/>
                </a:lnTo>
                <a:lnTo>
                  <a:pt x="4209" y="343"/>
                </a:lnTo>
                <a:lnTo>
                  <a:pt x="4204" y="342"/>
                </a:lnTo>
                <a:lnTo>
                  <a:pt x="4200" y="339"/>
                </a:lnTo>
                <a:lnTo>
                  <a:pt x="4194" y="338"/>
                </a:lnTo>
                <a:lnTo>
                  <a:pt x="4189" y="335"/>
                </a:lnTo>
                <a:lnTo>
                  <a:pt x="4185" y="335"/>
                </a:lnTo>
                <a:lnTo>
                  <a:pt x="4180" y="334"/>
                </a:lnTo>
                <a:lnTo>
                  <a:pt x="4186" y="328"/>
                </a:lnTo>
                <a:lnTo>
                  <a:pt x="4194" y="322"/>
                </a:lnTo>
                <a:lnTo>
                  <a:pt x="4200" y="316"/>
                </a:lnTo>
                <a:lnTo>
                  <a:pt x="4205" y="309"/>
                </a:lnTo>
                <a:lnTo>
                  <a:pt x="4211" y="303"/>
                </a:lnTo>
                <a:lnTo>
                  <a:pt x="4217" y="297"/>
                </a:lnTo>
                <a:lnTo>
                  <a:pt x="4224" y="291"/>
                </a:lnTo>
                <a:lnTo>
                  <a:pt x="4232" y="285"/>
                </a:lnTo>
                <a:lnTo>
                  <a:pt x="4251" y="271"/>
                </a:lnTo>
                <a:lnTo>
                  <a:pt x="4272" y="253"/>
                </a:lnTo>
                <a:lnTo>
                  <a:pt x="4297" y="234"/>
                </a:lnTo>
                <a:lnTo>
                  <a:pt x="4324" y="214"/>
                </a:lnTo>
                <a:lnTo>
                  <a:pt x="4351" y="195"/>
                </a:lnTo>
                <a:lnTo>
                  <a:pt x="4376" y="177"/>
                </a:lnTo>
                <a:lnTo>
                  <a:pt x="4398" y="162"/>
                </a:lnTo>
                <a:lnTo>
                  <a:pt x="4414" y="147"/>
                </a:lnTo>
                <a:lnTo>
                  <a:pt x="4419" y="124"/>
                </a:lnTo>
                <a:lnTo>
                  <a:pt x="4415" y="112"/>
                </a:lnTo>
                <a:lnTo>
                  <a:pt x="4408" y="112"/>
                </a:lnTo>
                <a:lnTo>
                  <a:pt x="4399" y="119"/>
                </a:lnTo>
                <a:lnTo>
                  <a:pt x="4387" y="127"/>
                </a:lnTo>
                <a:lnTo>
                  <a:pt x="4376" y="135"/>
                </a:lnTo>
                <a:lnTo>
                  <a:pt x="4367" y="140"/>
                </a:lnTo>
                <a:lnTo>
                  <a:pt x="4360" y="139"/>
                </a:lnTo>
                <a:lnTo>
                  <a:pt x="4351" y="146"/>
                </a:lnTo>
                <a:lnTo>
                  <a:pt x="4338" y="152"/>
                </a:lnTo>
                <a:lnTo>
                  <a:pt x="4322" y="160"/>
                </a:lnTo>
                <a:lnTo>
                  <a:pt x="4307" y="165"/>
                </a:lnTo>
                <a:lnTo>
                  <a:pt x="4291" y="173"/>
                </a:lnTo>
                <a:lnTo>
                  <a:pt x="4275" y="178"/>
                </a:lnTo>
                <a:lnTo>
                  <a:pt x="4261" y="187"/>
                </a:lnTo>
                <a:lnTo>
                  <a:pt x="4251" y="194"/>
                </a:lnTo>
                <a:lnTo>
                  <a:pt x="4247" y="203"/>
                </a:lnTo>
                <a:lnTo>
                  <a:pt x="4244" y="213"/>
                </a:lnTo>
                <a:lnTo>
                  <a:pt x="4241" y="223"/>
                </a:lnTo>
                <a:lnTo>
                  <a:pt x="4238" y="234"/>
                </a:lnTo>
                <a:lnTo>
                  <a:pt x="4232" y="239"/>
                </a:lnTo>
                <a:lnTo>
                  <a:pt x="4227" y="245"/>
                </a:lnTo>
                <a:lnTo>
                  <a:pt x="4221" y="251"/>
                </a:lnTo>
                <a:lnTo>
                  <a:pt x="4215" y="256"/>
                </a:lnTo>
                <a:lnTo>
                  <a:pt x="4207" y="262"/>
                </a:lnTo>
                <a:lnTo>
                  <a:pt x="4202" y="267"/>
                </a:lnTo>
                <a:lnTo>
                  <a:pt x="4194" y="273"/>
                </a:lnTo>
                <a:lnTo>
                  <a:pt x="4186" y="278"/>
                </a:lnTo>
                <a:lnTo>
                  <a:pt x="4180" y="271"/>
                </a:lnTo>
                <a:lnTo>
                  <a:pt x="4176" y="264"/>
                </a:lnTo>
                <a:lnTo>
                  <a:pt x="4170" y="258"/>
                </a:lnTo>
                <a:lnTo>
                  <a:pt x="4163" y="251"/>
                </a:lnTo>
                <a:lnTo>
                  <a:pt x="4158" y="244"/>
                </a:lnTo>
                <a:lnTo>
                  <a:pt x="4150" y="238"/>
                </a:lnTo>
                <a:lnTo>
                  <a:pt x="4143" y="232"/>
                </a:lnTo>
                <a:lnTo>
                  <a:pt x="4138" y="225"/>
                </a:lnTo>
                <a:lnTo>
                  <a:pt x="4146" y="212"/>
                </a:lnTo>
                <a:lnTo>
                  <a:pt x="4154" y="200"/>
                </a:lnTo>
                <a:lnTo>
                  <a:pt x="4161" y="187"/>
                </a:lnTo>
                <a:lnTo>
                  <a:pt x="4170" y="173"/>
                </a:lnTo>
                <a:lnTo>
                  <a:pt x="4180" y="167"/>
                </a:lnTo>
                <a:lnTo>
                  <a:pt x="4188" y="160"/>
                </a:lnTo>
                <a:lnTo>
                  <a:pt x="4197" y="152"/>
                </a:lnTo>
                <a:lnTo>
                  <a:pt x="4205" y="145"/>
                </a:lnTo>
                <a:lnTo>
                  <a:pt x="4214" y="137"/>
                </a:lnTo>
                <a:lnTo>
                  <a:pt x="4222" y="130"/>
                </a:lnTo>
                <a:lnTo>
                  <a:pt x="4230" y="123"/>
                </a:lnTo>
                <a:lnTo>
                  <a:pt x="4238" y="116"/>
                </a:lnTo>
                <a:lnTo>
                  <a:pt x="4245" y="106"/>
                </a:lnTo>
                <a:lnTo>
                  <a:pt x="4249" y="99"/>
                </a:lnTo>
                <a:lnTo>
                  <a:pt x="4255" y="90"/>
                </a:lnTo>
                <a:lnTo>
                  <a:pt x="4260" y="82"/>
                </a:lnTo>
                <a:lnTo>
                  <a:pt x="4266" y="73"/>
                </a:lnTo>
                <a:lnTo>
                  <a:pt x="4271" y="65"/>
                </a:lnTo>
                <a:lnTo>
                  <a:pt x="4277" y="55"/>
                </a:lnTo>
                <a:lnTo>
                  <a:pt x="4284" y="47"/>
                </a:lnTo>
                <a:lnTo>
                  <a:pt x="4274" y="48"/>
                </a:lnTo>
                <a:lnTo>
                  <a:pt x="4264" y="50"/>
                </a:lnTo>
                <a:lnTo>
                  <a:pt x="4255" y="52"/>
                </a:lnTo>
                <a:lnTo>
                  <a:pt x="4245" y="52"/>
                </a:lnTo>
                <a:lnTo>
                  <a:pt x="4234" y="55"/>
                </a:lnTo>
                <a:lnTo>
                  <a:pt x="4224" y="56"/>
                </a:lnTo>
                <a:lnTo>
                  <a:pt x="4214" y="59"/>
                </a:lnTo>
                <a:lnTo>
                  <a:pt x="4204" y="60"/>
                </a:lnTo>
                <a:lnTo>
                  <a:pt x="4207" y="44"/>
                </a:lnTo>
                <a:lnTo>
                  <a:pt x="4211" y="30"/>
                </a:lnTo>
                <a:lnTo>
                  <a:pt x="4213" y="16"/>
                </a:lnTo>
                <a:lnTo>
                  <a:pt x="4215" y="0"/>
                </a:lnTo>
                <a:lnTo>
                  <a:pt x="4205" y="7"/>
                </a:lnTo>
                <a:lnTo>
                  <a:pt x="4196" y="13"/>
                </a:lnTo>
                <a:lnTo>
                  <a:pt x="4185" y="19"/>
                </a:lnTo>
                <a:lnTo>
                  <a:pt x="4176" y="26"/>
                </a:lnTo>
                <a:lnTo>
                  <a:pt x="4167" y="33"/>
                </a:lnTo>
                <a:lnTo>
                  <a:pt x="4158" y="41"/>
                </a:lnTo>
                <a:lnTo>
                  <a:pt x="4150" y="48"/>
                </a:lnTo>
                <a:lnTo>
                  <a:pt x="4139" y="55"/>
                </a:lnTo>
                <a:lnTo>
                  <a:pt x="4134" y="63"/>
                </a:lnTo>
                <a:lnTo>
                  <a:pt x="4129" y="73"/>
                </a:lnTo>
                <a:lnTo>
                  <a:pt x="4123" y="82"/>
                </a:lnTo>
                <a:lnTo>
                  <a:pt x="4119" y="92"/>
                </a:lnTo>
                <a:lnTo>
                  <a:pt x="4113" y="102"/>
                </a:lnTo>
                <a:lnTo>
                  <a:pt x="4108" y="112"/>
                </a:lnTo>
                <a:lnTo>
                  <a:pt x="4101" y="123"/>
                </a:lnTo>
                <a:lnTo>
                  <a:pt x="4097" y="134"/>
                </a:lnTo>
                <a:lnTo>
                  <a:pt x="4088" y="134"/>
                </a:lnTo>
                <a:lnTo>
                  <a:pt x="4080" y="134"/>
                </a:lnTo>
                <a:lnTo>
                  <a:pt x="4071" y="134"/>
                </a:lnTo>
                <a:lnTo>
                  <a:pt x="4064" y="134"/>
                </a:lnTo>
                <a:lnTo>
                  <a:pt x="4054" y="134"/>
                </a:lnTo>
                <a:lnTo>
                  <a:pt x="4047" y="134"/>
                </a:lnTo>
                <a:lnTo>
                  <a:pt x="4038" y="134"/>
                </a:lnTo>
                <a:lnTo>
                  <a:pt x="4030" y="133"/>
                </a:lnTo>
                <a:lnTo>
                  <a:pt x="4016" y="143"/>
                </a:lnTo>
                <a:lnTo>
                  <a:pt x="4000" y="154"/>
                </a:lnTo>
                <a:lnTo>
                  <a:pt x="3986" y="165"/>
                </a:lnTo>
                <a:lnTo>
                  <a:pt x="3972" y="175"/>
                </a:lnTo>
                <a:lnTo>
                  <a:pt x="3956" y="186"/>
                </a:lnTo>
                <a:lnTo>
                  <a:pt x="3941" y="197"/>
                </a:lnTo>
                <a:lnTo>
                  <a:pt x="3928" y="207"/>
                </a:lnTo>
                <a:lnTo>
                  <a:pt x="3910" y="218"/>
                </a:lnTo>
                <a:lnTo>
                  <a:pt x="3863" y="251"/>
                </a:lnTo>
                <a:lnTo>
                  <a:pt x="3815" y="280"/>
                </a:lnTo>
                <a:lnTo>
                  <a:pt x="3768" y="307"/>
                </a:lnTo>
                <a:lnTo>
                  <a:pt x="3720" y="331"/>
                </a:lnTo>
                <a:lnTo>
                  <a:pt x="3672" y="357"/>
                </a:lnTo>
                <a:lnTo>
                  <a:pt x="3625" y="381"/>
                </a:lnTo>
                <a:lnTo>
                  <a:pt x="3577" y="405"/>
                </a:lnTo>
                <a:lnTo>
                  <a:pt x="3530" y="428"/>
                </a:lnTo>
                <a:lnTo>
                  <a:pt x="3483" y="456"/>
                </a:lnTo>
                <a:lnTo>
                  <a:pt x="3436" y="485"/>
                </a:lnTo>
                <a:lnTo>
                  <a:pt x="3389" y="516"/>
                </a:lnTo>
                <a:lnTo>
                  <a:pt x="3342" y="549"/>
                </a:lnTo>
                <a:lnTo>
                  <a:pt x="3296" y="590"/>
                </a:lnTo>
                <a:lnTo>
                  <a:pt x="3250" y="633"/>
                </a:lnTo>
                <a:lnTo>
                  <a:pt x="3203" y="682"/>
                </a:lnTo>
                <a:lnTo>
                  <a:pt x="3155" y="736"/>
                </a:lnTo>
                <a:lnTo>
                  <a:pt x="3112" y="764"/>
                </a:lnTo>
                <a:lnTo>
                  <a:pt x="3078" y="786"/>
                </a:lnTo>
                <a:lnTo>
                  <a:pt x="3052" y="803"/>
                </a:lnTo>
                <a:lnTo>
                  <a:pt x="3036" y="812"/>
                </a:lnTo>
                <a:lnTo>
                  <a:pt x="3028" y="815"/>
                </a:lnTo>
                <a:lnTo>
                  <a:pt x="3026" y="814"/>
                </a:lnTo>
                <a:lnTo>
                  <a:pt x="3028" y="809"/>
                </a:lnTo>
                <a:lnTo>
                  <a:pt x="3035" y="800"/>
                </a:lnTo>
                <a:lnTo>
                  <a:pt x="3044" y="790"/>
                </a:lnTo>
                <a:lnTo>
                  <a:pt x="3055" y="778"/>
                </a:lnTo>
                <a:lnTo>
                  <a:pt x="3070" y="766"/>
                </a:lnTo>
                <a:lnTo>
                  <a:pt x="3083" y="754"/>
                </a:lnTo>
                <a:lnTo>
                  <a:pt x="3094" y="743"/>
                </a:lnTo>
                <a:lnTo>
                  <a:pt x="3104" y="732"/>
                </a:lnTo>
                <a:lnTo>
                  <a:pt x="3112" y="725"/>
                </a:lnTo>
                <a:lnTo>
                  <a:pt x="3114" y="721"/>
                </a:lnTo>
                <a:lnTo>
                  <a:pt x="3136" y="710"/>
                </a:lnTo>
                <a:lnTo>
                  <a:pt x="3154" y="700"/>
                </a:lnTo>
                <a:lnTo>
                  <a:pt x="3167" y="691"/>
                </a:lnTo>
                <a:lnTo>
                  <a:pt x="3175" y="685"/>
                </a:lnTo>
                <a:lnTo>
                  <a:pt x="3180" y="682"/>
                </a:lnTo>
                <a:lnTo>
                  <a:pt x="3183" y="677"/>
                </a:lnTo>
                <a:lnTo>
                  <a:pt x="3180" y="675"/>
                </a:lnTo>
                <a:lnTo>
                  <a:pt x="3177" y="674"/>
                </a:lnTo>
                <a:lnTo>
                  <a:pt x="3173" y="674"/>
                </a:lnTo>
                <a:lnTo>
                  <a:pt x="3169" y="674"/>
                </a:lnTo>
                <a:lnTo>
                  <a:pt x="3164" y="673"/>
                </a:lnTo>
                <a:lnTo>
                  <a:pt x="3160" y="671"/>
                </a:lnTo>
                <a:lnTo>
                  <a:pt x="3158" y="669"/>
                </a:lnTo>
                <a:lnTo>
                  <a:pt x="3158" y="666"/>
                </a:lnTo>
                <a:lnTo>
                  <a:pt x="3160" y="660"/>
                </a:lnTo>
                <a:lnTo>
                  <a:pt x="3165" y="654"/>
                </a:lnTo>
                <a:lnTo>
                  <a:pt x="3173" y="645"/>
                </a:lnTo>
                <a:lnTo>
                  <a:pt x="3185" y="633"/>
                </a:lnTo>
                <a:lnTo>
                  <a:pt x="3203" y="620"/>
                </a:lnTo>
                <a:lnTo>
                  <a:pt x="3225" y="603"/>
                </a:lnTo>
                <a:lnTo>
                  <a:pt x="3253" y="584"/>
                </a:lnTo>
                <a:lnTo>
                  <a:pt x="3287" y="560"/>
                </a:lnTo>
                <a:lnTo>
                  <a:pt x="3327" y="533"/>
                </a:lnTo>
                <a:lnTo>
                  <a:pt x="3375" y="503"/>
                </a:lnTo>
                <a:lnTo>
                  <a:pt x="3432" y="466"/>
                </a:lnTo>
                <a:lnTo>
                  <a:pt x="3495" y="426"/>
                </a:lnTo>
                <a:lnTo>
                  <a:pt x="3569" y="383"/>
                </a:lnTo>
                <a:lnTo>
                  <a:pt x="3651" y="331"/>
                </a:lnTo>
                <a:lnTo>
                  <a:pt x="3744" y="278"/>
                </a:lnTo>
                <a:lnTo>
                  <a:pt x="3849" y="216"/>
                </a:lnTo>
                <a:lnTo>
                  <a:pt x="3962" y="150"/>
                </a:lnTo>
                <a:lnTo>
                  <a:pt x="3989" y="133"/>
                </a:lnTo>
                <a:lnTo>
                  <a:pt x="4011" y="116"/>
                </a:lnTo>
                <a:lnTo>
                  <a:pt x="4029" y="99"/>
                </a:lnTo>
                <a:lnTo>
                  <a:pt x="4042" y="84"/>
                </a:lnTo>
                <a:lnTo>
                  <a:pt x="4050" y="71"/>
                </a:lnTo>
                <a:lnTo>
                  <a:pt x="4054" y="61"/>
                </a:lnTo>
                <a:lnTo>
                  <a:pt x="4054" y="54"/>
                </a:lnTo>
                <a:lnTo>
                  <a:pt x="4050" y="52"/>
                </a:lnTo>
                <a:lnTo>
                  <a:pt x="4025" y="56"/>
                </a:lnTo>
                <a:lnTo>
                  <a:pt x="3998" y="69"/>
                </a:lnTo>
                <a:lnTo>
                  <a:pt x="3972" y="88"/>
                </a:lnTo>
                <a:lnTo>
                  <a:pt x="3944" y="106"/>
                </a:lnTo>
                <a:lnTo>
                  <a:pt x="3920" y="126"/>
                </a:lnTo>
                <a:lnTo>
                  <a:pt x="3899" y="139"/>
                </a:lnTo>
                <a:lnTo>
                  <a:pt x="3883" y="143"/>
                </a:lnTo>
                <a:lnTo>
                  <a:pt x="3870" y="133"/>
                </a:lnTo>
                <a:lnTo>
                  <a:pt x="3857" y="154"/>
                </a:lnTo>
                <a:lnTo>
                  <a:pt x="3855" y="162"/>
                </a:lnTo>
                <a:lnTo>
                  <a:pt x="3857" y="160"/>
                </a:lnTo>
                <a:lnTo>
                  <a:pt x="3860" y="151"/>
                </a:lnTo>
                <a:lnTo>
                  <a:pt x="3858" y="143"/>
                </a:lnTo>
                <a:lnTo>
                  <a:pt x="3845" y="143"/>
                </a:lnTo>
                <a:lnTo>
                  <a:pt x="3813" y="152"/>
                </a:lnTo>
                <a:lnTo>
                  <a:pt x="3759" y="177"/>
                </a:lnTo>
                <a:lnTo>
                  <a:pt x="3741" y="187"/>
                </a:lnTo>
                <a:lnTo>
                  <a:pt x="3722" y="197"/>
                </a:lnTo>
                <a:lnTo>
                  <a:pt x="3702" y="208"/>
                </a:lnTo>
                <a:lnTo>
                  <a:pt x="3678" y="222"/>
                </a:lnTo>
                <a:lnTo>
                  <a:pt x="3656" y="237"/>
                </a:lnTo>
                <a:lnTo>
                  <a:pt x="3630" y="251"/>
                </a:lnTo>
                <a:lnTo>
                  <a:pt x="3603" y="267"/>
                </a:lnTo>
                <a:lnTo>
                  <a:pt x="3577" y="284"/>
                </a:lnTo>
                <a:lnTo>
                  <a:pt x="3548" y="301"/>
                </a:lnTo>
                <a:lnTo>
                  <a:pt x="3520" y="318"/>
                </a:lnTo>
                <a:lnTo>
                  <a:pt x="3491" y="337"/>
                </a:lnTo>
                <a:lnTo>
                  <a:pt x="3460" y="357"/>
                </a:lnTo>
                <a:lnTo>
                  <a:pt x="3431" y="375"/>
                </a:lnTo>
                <a:lnTo>
                  <a:pt x="3400" y="395"/>
                </a:lnTo>
                <a:lnTo>
                  <a:pt x="3368" y="415"/>
                </a:lnTo>
                <a:lnTo>
                  <a:pt x="3338" y="435"/>
                </a:lnTo>
                <a:lnTo>
                  <a:pt x="3307" y="456"/>
                </a:lnTo>
                <a:lnTo>
                  <a:pt x="3274" y="476"/>
                </a:lnTo>
                <a:lnTo>
                  <a:pt x="3244" y="496"/>
                </a:lnTo>
                <a:lnTo>
                  <a:pt x="3214" y="516"/>
                </a:lnTo>
                <a:lnTo>
                  <a:pt x="3184" y="535"/>
                </a:lnTo>
                <a:lnTo>
                  <a:pt x="3154" y="556"/>
                </a:lnTo>
                <a:lnTo>
                  <a:pt x="3127" y="574"/>
                </a:lnTo>
                <a:lnTo>
                  <a:pt x="3098" y="594"/>
                </a:lnTo>
                <a:lnTo>
                  <a:pt x="3072" y="611"/>
                </a:lnTo>
                <a:lnTo>
                  <a:pt x="3046" y="628"/>
                </a:lnTo>
                <a:lnTo>
                  <a:pt x="3022" y="645"/>
                </a:lnTo>
                <a:lnTo>
                  <a:pt x="2998" y="660"/>
                </a:lnTo>
                <a:lnTo>
                  <a:pt x="2974" y="677"/>
                </a:lnTo>
                <a:lnTo>
                  <a:pt x="2955" y="691"/>
                </a:lnTo>
                <a:lnTo>
                  <a:pt x="2936" y="704"/>
                </a:lnTo>
                <a:lnTo>
                  <a:pt x="2918" y="715"/>
                </a:lnTo>
                <a:lnTo>
                  <a:pt x="2869" y="749"/>
                </a:lnTo>
                <a:lnTo>
                  <a:pt x="2819" y="783"/>
                </a:lnTo>
                <a:lnTo>
                  <a:pt x="2771" y="816"/>
                </a:lnTo>
                <a:lnTo>
                  <a:pt x="2723" y="847"/>
                </a:lnTo>
                <a:lnTo>
                  <a:pt x="2675" y="879"/>
                </a:lnTo>
                <a:lnTo>
                  <a:pt x="2628" y="910"/>
                </a:lnTo>
                <a:lnTo>
                  <a:pt x="2581" y="940"/>
                </a:lnTo>
                <a:lnTo>
                  <a:pt x="2536" y="970"/>
                </a:lnTo>
                <a:lnTo>
                  <a:pt x="2491" y="1000"/>
                </a:lnTo>
                <a:lnTo>
                  <a:pt x="2447" y="1031"/>
                </a:lnTo>
                <a:lnTo>
                  <a:pt x="2402" y="1060"/>
                </a:lnTo>
                <a:lnTo>
                  <a:pt x="2359" y="1089"/>
                </a:lnTo>
                <a:lnTo>
                  <a:pt x="2316" y="1117"/>
                </a:lnTo>
                <a:lnTo>
                  <a:pt x="2273" y="1148"/>
                </a:lnTo>
                <a:lnTo>
                  <a:pt x="2232" y="1178"/>
                </a:lnTo>
                <a:lnTo>
                  <a:pt x="2191" y="1206"/>
                </a:lnTo>
                <a:lnTo>
                  <a:pt x="2168" y="1227"/>
                </a:lnTo>
                <a:lnTo>
                  <a:pt x="2146" y="1249"/>
                </a:lnTo>
                <a:lnTo>
                  <a:pt x="2125" y="1271"/>
                </a:lnTo>
                <a:lnTo>
                  <a:pt x="2104" y="1293"/>
                </a:lnTo>
                <a:lnTo>
                  <a:pt x="2085" y="1316"/>
                </a:lnTo>
                <a:lnTo>
                  <a:pt x="2065" y="1338"/>
                </a:lnTo>
                <a:lnTo>
                  <a:pt x="2048" y="1362"/>
                </a:lnTo>
                <a:lnTo>
                  <a:pt x="2029" y="1384"/>
                </a:lnTo>
                <a:lnTo>
                  <a:pt x="2010" y="1407"/>
                </a:lnTo>
                <a:lnTo>
                  <a:pt x="1994" y="1430"/>
                </a:lnTo>
                <a:lnTo>
                  <a:pt x="1975" y="1453"/>
                </a:lnTo>
                <a:lnTo>
                  <a:pt x="1957" y="1475"/>
                </a:lnTo>
                <a:lnTo>
                  <a:pt x="1938" y="1498"/>
                </a:lnTo>
                <a:lnTo>
                  <a:pt x="1920" y="1518"/>
                </a:lnTo>
                <a:lnTo>
                  <a:pt x="1901" y="1539"/>
                </a:lnTo>
                <a:lnTo>
                  <a:pt x="1881" y="1559"/>
                </a:lnTo>
                <a:lnTo>
                  <a:pt x="1859" y="1580"/>
                </a:lnTo>
                <a:lnTo>
                  <a:pt x="1835" y="1607"/>
                </a:lnTo>
                <a:lnTo>
                  <a:pt x="1811" y="1637"/>
                </a:lnTo>
                <a:lnTo>
                  <a:pt x="1786" y="1671"/>
                </a:lnTo>
                <a:lnTo>
                  <a:pt x="1762" y="1704"/>
                </a:lnTo>
                <a:lnTo>
                  <a:pt x="1738" y="1734"/>
                </a:lnTo>
                <a:lnTo>
                  <a:pt x="1717" y="1760"/>
                </a:lnTo>
                <a:lnTo>
                  <a:pt x="1697" y="1779"/>
                </a:lnTo>
                <a:lnTo>
                  <a:pt x="1669" y="1799"/>
                </a:lnTo>
                <a:lnTo>
                  <a:pt x="1651" y="1814"/>
                </a:lnTo>
                <a:lnTo>
                  <a:pt x="1638" y="1823"/>
                </a:lnTo>
                <a:lnTo>
                  <a:pt x="1629" y="1830"/>
                </a:lnTo>
                <a:lnTo>
                  <a:pt x="1618" y="1836"/>
                </a:lnTo>
                <a:lnTo>
                  <a:pt x="1607" y="1846"/>
                </a:lnTo>
                <a:lnTo>
                  <a:pt x="1593" y="1859"/>
                </a:lnTo>
                <a:lnTo>
                  <a:pt x="1571" y="1880"/>
                </a:lnTo>
                <a:lnTo>
                  <a:pt x="1550" y="1913"/>
                </a:lnTo>
                <a:lnTo>
                  <a:pt x="1531" y="1947"/>
                </a:lnTo>
                <a:lnTo>
                  <a:pt x="1514" y="1983"/>
                </a:lnTo>
                <a:lnTo>
                  <a:pt x="1499" y="2021"/>
                </a:lnTo>
                <a:lnTo>
                  <a:pt x="1482" y="2057"/>
                </a:lnTo>
                <a:lnTo>
                  <a:pt x="1466" y="2093"/>
                </a:lnTo>
                <a:lnTo>
                  <a:pt x="1452" y="2128"/>
                </a:lnTo>
                <a:lnTo>
                  <a:pt x="1435" y="2161"/>
                </a:lnTo>
                <a:lnTo>
                  <a:pt x="1420" y="2132"/>
                </a:lnTo>
                <a:lnTo>
                  <a:pt x="1402" y="2104"/>
                </a:lnTo>
                <a:lnTo>
                  <a:pt x="1383" y="2075"/>
                </a:lnTo>
                <a:lnTo>
                  <a:pt x="1363" y="2046"/>
                </a:lnTo>
                <a:lnTo>
                  <a:pt x="1340" y="2018"/>
                </a:lnTo>
                <a:lnTo>
                  <a:pt x="1319" y="1989"/>
                </a:lnTo>
                <a:lnTo>
                  <a:pt x="1296" y="1961"/>
                </a:lnTo>
                <a:lnTo>
                  <a:pt x="1274" y="1933"/>
                </a:lnTo>
                <a:lnTo>
                  <a:pt x="1251" y="1903"/>
                </a:lnTo>
                <a:lnTo>
                  <a:pt x="1230" y="1874"/>
                </a:lnTo>
                <a:lnTo>
                  <a:pt x="1210" y="1847"/>
                </a:lnTo>
                <a:lnTo>
                  <a:pt x="1192" y="1818"/>
                </a:lnTo>
                <a:lnTo>
                  <a:pt x="1175" y="1789"/>
                </a:lnTo>
                <a:lnTo>
                  <a:pt x="1159" y="1761"/>
                </a:lnTo>
                <a:lnTo>
                  <a:pt x="1146" y="1732"/>
                </a:lnTo>
                <a:lnTo>
                  <a:pt x="1137" y="1705"/>
                </a:lnTo>
                <a:lnTo>
                  <a:pt x="1121" y="1665"/>
                </a:lnTo>
                <a:lnTo>
                  <a:pt x="1105" y="1624"/>
                </a:lnTo>
                <a:lnTo>
                  <a:pt x="1087" y="1580"/>
                </a:lnTo>
                <a:lnTo>
                  <a:pt x="1068" y="1537"/>
                </a:lnTo>
                <a:lnTo>
                  <a:pt x="1050" y="1493"/>
                </a:lnTo>
                <a:lnTo>
                  <a:pt x="1032" y="1449"/>
                </a:lnTo>
                <a:lnTo>
                  <a:pt x="1016" y="1407"/>
                </a:lnTo>
                <a:lnTo>
                  <a:pt x="1003" y="1367"/>
                </a:lnTo>
                <a:lnTo>
                  <a:pt x="979" y="1376"/>
                </a:lnTo>
                <a:lnTo>
                  <a:pt x="958" y="1386"/>
                </a:lnTo>
                <a:lnTo>
                  <a:pt x="935" y="1394"/>
                </a:lnTo>
                <a:lnTo>
                  <a:pt x="914" y="1403"/>
                </a:lnTo>
                <a:lnTo>
                  <a:pt x="891" y="1411"/>
                </a:lnTo>
                <a:lnTo>
                  <a:pt x="870" y="1418"/>
                </a:lnTo>
                <a:lnTo>
                  <a:pt x="847" y="1426"/>
                </a:lnTo>
                <a:lnTo>
                  <a:pt x="825" y="1435"/>
                </a:lnTo>
                <a:lnTo>
                  <a:pt x="808" y="1443"/>
                </a:lnTo>
                <a:lnTo>
                  <a:pt x="790" y="1450"/>
                </a:lnTo>
                <a:lnTo>
                  <a:pt x="773" y="1459"/>
                </a:lnTo>
                <a:lnTo>
                  <a:pt x="755" y="1467"/>
                </a:lnTo>
                <a:lnTo>
                  <a:pt x="738" y="1475"/>
                </a:lnTo>
                <a:lnTo>
                  <a:pt x="721" y="1484"/>
                </a:lnTo>
                <a:lnTo>
                  <a:pt x="704" y="1491"/>
                </a:lnTo>
                <a:lnTo>
                  <a:pt x="687" y="1499"/>
                </a:lnTo>
                <a:lnTo>
                  <a:pt x="669" y="1507"/>
                </a:lnTo>
                <a:lnTo>
                  <a:pt x="652" y="1515"/>
                </a:lnTo>
                <a:lnTo>
                  <a:pt x="636" y="1522"/>
                </a:lnTo>
                <a:lnTo>
                  <a:pt x="619" y="1531"/>
                </a:lnTo>
                <a:lnTo>
                  <a:pt x="602" y="1537"/>
                </a:lnTo>
                <a:lnTo>
                  <a:pt x="586" y="1546"/>
                </a:lnTo>
                <a:lnTo>
                  <a:pt x="569" y="1553"/>
                </a:lnTo>
                <a:lnTo>
                  <a:pt x="553" y="1561"/>
                </a:lnTo>
                <a:lnTo>
                  <a:pt x="550" y="1561"/>
                </a:lnTo>
                <a:lnTo>
                  <a:pt x="541" y="1561"/>
                </a:lnTo>
                <a:lnTo>
                  <a:pt x="527" y="1563"/>
                </a:lnTo>
                <a:lnTo>
                  <a:pt x="511" y="1567"/>
                </a:lnTo>
                <a:lnTo>
                  <a:pt x="491" y="1571"/>
                </a:lnTo>
                <a:lnTo>
                  <a:pt x="469" y="1577"/>
                </a:lnTo>
                <a:lnTo>
                  <a:pt x="445" y="1585"/>
                </a:lnTo>
                <a:lnTo>
                  <a:pt x="421" y="1592"/>
                </a:lnTo>
                <a:lnTo>
                  <a:pt x="396" y="1598"/>
                </a:lnTo>
                <a:lnTo>
                  <a:pt x="373" y="1605"/>
                </a:lnTo>
                <a:lnTo>
                  <a:pt x="351" y="1612"/>
                </a:lnTo>
                <a:lnTo>
                  <a:pt x="333" y="1616"/>
                </a:lnTo>
                <a:lnTo>
                  <a:pt x="315" y="1620"/>
                </a:lnTo>
                <a:lnTo>
                  <a:pt x="304" y="1624"/>
                </a:lnTo>
                <a:lnTo>
                  <a:pt x="297" y="1624"/>
                </a:lnTo>
                <a:lnTo>
                  <a:pt x="294" y="1622"/>
                </a:lnTo>
                <a:lnTo>
                  <a:pt x="275" y="1633"/>
                </a:lnTo>
                <a:lnTo>
                  <a:pt x="256" y="1643"/>
                </a:lnTo>
                <a:lnTo>
                  <a:pt x="237" y="1654"/>
                </a:lnTo>
                <a:lnTo>
                  <a:pt x="219" y="1665"/>
                </a:lnTo>
                <a:lnTo>
                  <a:pt x="199" y="1675"/>
                </a:lnTo>
                <a:lnTo>
                  <a:pt x="180" y="1685"/>
                </a:lnTo>
                <a:lnTo>
                  <a:pt x="161" y="1696"/>
                </a:lnTo>
                <a:lnTo>
                  <a:pt x="143" y="1707"/>
                </a:lnTo>
                <a:lnTo>
                  <a:pt x="124" y="1718"/>
                </a:lnTo>
                <a:lnTo>
                  <a:pt x="106" y="1729"/>
                </a:lnTo>
                <a:lnTo>
                  <a:pt x="87" y="1739"/>
                </a:lnTo>
                <a:lnTo>
                  <a:pt x="70" y="1750"/>
                </a:lnTo>
                <a:lnTo>
                  <a:pt x="53" y="1760"/>
                </a:lnTo>
                <a:lnTo>
                  <a:pt x="35" y="1771"/>
                </a:lnTo>
                <a:lnTo>
                  <a:pt x="18" y="1781"/>
                </a:lnTo>
                <a:lnTo>
                  <a:pt x="0" y="1792"/>
                </a:lnTo>
                <a:close/>
              </a:path>
            </a:pathLst>
          </a:custGeom>
          <a:solidFill>
            <a:srgbClr val="043B72"/>
          </a:solidFill>
          <a:ln w="19050">
            <a:solidFill>
              <a:srgbClr val="FFFFFF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96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ea"/>
              <a:sym typeface="나눔고딕"/>
            </a:endParaRPr>
          </a:p>
        </p:txBody>
      </p:sp>
      <p:sp>
        <p:nvSpPr>
          <p:cNvPr id="85" name="Freeform 1754">
            <a:extLst>
              <a:ext uri="{FF2B5EF4-FFF2-40B4-BE49-F238E27FC236}">
                <a16:creationId xmlns:a16="http://schemas.microsoft.com/office/drawing/2014/main" id="{BAEDA262-DD1C-D9E6-DDC4-5936BA736D11}"/>
              </a:ext>
            </a:extLst>
          </p:cNvPr>
          <p:cNvSpPr>
            <a:spLocks noChangeAspect="1"/>
          </p:cNvSpPr>
          <p:nvPr/>
        </p:nvSpPr>
        <p:spPr bwMode="gray">
          <a:xfrm>
            <a:off x="1489655" y="3855566"/>
            <a:ext cx="292879" cy="216000"/>
          </a:xfrm>
          <a:custGeom>
            <a:avLst/>
            <a:gdLst>
              <a:gd name="T0" fmla="*/ 2147483646 w 4916"/>
              <a:gd name="T1" fmla="*/ 2147483646 h 3388"/>
              <a:gd name="T2" fmla="*/ 2147483646 w 4916"/>
              <a:gd name="T3" fmla="*/ 2147483646 h 3388"/>
              <a:gd name="T4" fmla="*/ 2147483646 w 4916"/>
              <a:gd name="T5" fmla="*/ 2147483646 h 3388"/>
              <a:gd name="T6" fmla="*/ 2147483646 w 4916"/>
              <a:gd name="T7" fmla="*/ 2147483646 h 3388"/>
              <a:gd name="T8" fmla="*/ 2147483646 w 4916"/>
              <a:gd name="T9" fmla="*/ 2147483646 h 3388"/>
              <a:gd name="T10" fmla="*/ 2147483646 w 4916"/>
              <a:gd name="T11" fmla="*/ 2147483646 h 3388"/>
              <a:gd name="T12" fmla="*/ 2147483646 w 4916"/>
              <a:gd name="T13" fmla="*/ 2147483646 h 3388"/>
              <a:gd name="T14" fmla="*/ 2147483646 w 4916"/>
              <a:gd name="T15" fmla="*/ 2147483646 h 3388"/>
              <a:gd name="T16" fmla="*/ 2147483646 w 4916"/>
              <a:gd name="T17" fmla="*/ 2147483646 h 3388"/>
              <a:gd name="T18" fmla="*/ 2147483646 w 4916"/>
              <a:gd name="T19" fmla="*/ 2147483646 h 3388"/>
              <a:gd name="T20" fmla="*/ 2147483646 w 4916"/>
              <a:gd name="T21" fmla="*/ 2147483646 h 3388"/>
              <a:gd name="T22" fmla="*/ 2147483646 w 4916"/>
              <a:gd name="T23" fmla="*/ 2147483646 h 3388"/>
              <a:gd name="T24" fmla="*/ 2147483646 w 4916"/>
              <a:gd name="T25" fmla="*/ 2147483646 h 3388"/>
              <a:gd name="T26" fmla="*/ 2147483646 w 4916"/>
              <a:gd name="T27" fmla="*/ 2147483646 h 3388"/>
              <a:gd name="T28" fmla="*/ 2147483646 w 4916"/>
              <a:gd name="T29" fmla="*/ 2147483646 h 3388"/>
              <a:gd name="T30" fmla="*/ 2147483646 w 4916"/>
              <a:gd name="T31" fmla="*/ 2147483646 h 3388"/>
              <a:gd name="T32" fmla="*/ 2147483646 w 4916"/>
              <a:gd name="T33" fmla="*/ 2147483646 h 3388"/>
              <a:gd name="T34" fmla="*/ 2147483646 w 4916"/>
              <a:gd name="T35" fmla="*/ 2147483646 h 3388"/>
              <a:gd name="T36" fmla="*/ 2147483646 w 4916"/>
              <a:gd name="T37" fmla="*/ 2147483646 h 3388"/>
              <a:gd name="T38" fmla="*/ 2147483646 w 4916"/>
              <a:gd name="T39" fmla="*/ 2147483646 h 3388"/>
              <a:gd name="T40" fmla="*/ 2147483646 w 4916"/>
              <a:gd name="T41" fmla="*/ 2147483646 h 3388"/>
              <a:gd name="T42" fmla="*/ 2147483646 w 4916"/>
              <a:gd name="T43" fmla="*/ 2147483646 h 3388"/>
              <a:gd name="T44" fmla="*/ 2147483646 w 4916"/>
              <a:gd name="T45" fmla="*/ 2147483646 h 3388"/>
              <a:gd name="T46" fmla="*/ 2147483646 w 4916"/>
              <a:gd name="T47" fmla="*/ 2147483646 h 3388"/>
              <a:gd name="T48" fmla="*/ 2147483646 w 4916"/>
              <a:gd name="T49" fmla="*/ 2147483646 h 3388"/>
              <a:gd name="T50" fmla="*/ 2147483646 w 4916"/>
              <a:gd name="T51" fmla="*/ 2147483646 h 3388"/>
              <a:gd name="T52" fmla="*/ 2147483646 w 4916"/>
              <a:gd name="T53" fmla="*/ 2147483646 h 3388"/>
              <a:gd name="T54" fmla="*/ 2147483646 w 4916"/>
              <a:gd name="T55" fmla="*/ 2147483646 h 3388"/>
              <a:gd name="T56" fmla="*/ 2147483646 w 4916"/>
              <a:gd name="T57" fmla="*/ 2147483646 h 3388"/>
              <a:gd name="T58" fmla="*/ 2147483646 w 4916"/>
              <a:gd name="T59" fmla="*/ 2147483646 h 3388"/>
              <a:gd name="T60" fmla="*/ 2147483646 w 4916"/>
              <a:gd name="T61" fmla="*/ 2147483646 h 3388"/>
              <a:gd name="T62" fmla="*/ 2147483646 w 4916"/>
              <a:gd name="T63" fmla="*/ 2147483646 h 3388"/>
              <a:gd name="T64" fmla="*/ 2147483646 w 4916"/>
              <a:gd name="T65" fmla="*/ 2147483646 h 3388"/>
              <a:gd name="T66" fmla="*/ 2147483646 w 4916"/>
              <a:gd name="T67" fmla="*/ 2147483646 h 3388"/>
              <a:gd name="T68" fmla="*/ 2147483646 w 4916"/>
              <a:gd name="T69" fmla="*/ 2147483646 h 3388"/>
              <a:gd name="T70" fmla="*/ 2147483646 w 4916"/>
              <a:gd name="T71" fmla="*/ 2147483646 h 3388"/>
              <a:gd name="T72" fmla="*/ 2147483646 w 4916"/>
              <a:gd name="T73" fmla="*/ 2147483646 h 3388"/>
              <a:gd name="T74" fmla="*/ 2147483646 w 4916"/>
              <a:gd name="T75" fmla="*/ 2147483646 h 3388"/>
              <a:gd name="T76" fmla="*/ 2147483646 w 4916"/>
              <a:gd name="T77" fmla="*/ 2147483646 h 3388"/>
              <a:gd name="T78" fmla="*/ 2147483646 w 4916"/>
              <a:gd name="T79" fmla="*/ 2147483646 h 3388"/>
              <a:gd name="T80" fmla="*/ 2147483646 w 4916"/>
              <a:gd name="T81" fmla="*/ 2147483646 h 3388"/>
              <a:gd name="T82" fmla="*/ 2147483646 w 4916"/>
              <a:gd name="T83" fmla="*/ 2147483646 h 3388"/>
              <a:gd name="T84" fmla="*/ 2147483646 w 4916"/>
              <a:gd name="T85" fmla="*/ 2147483646 h 3388"/>
              <a:gd name="T86" fmla="*/ 2147483646 w 4916"/>
              <a:gd name="T87" fmla="*/ 2147483646 h 3388"/>
              <a:gd name="T88" fmla="*/ 2147483646 w 4916"/>
              <a:gd name="T89" fmla="*/ 2147483646 h 3388"/>
              <a:gd name="T90" fmla="*/ 2147483646 w 4916"/>
              <a:gd name="T91" fmla="*/ 2147483646 h 3388"/>
              <a:gd name="T92" fmla="*/ 2147483646 w 4916"/>
              <a:gd name="T93" fmla="*/ 2147483646 h 3388"/>
              <a:gd name="T94" fmla="*/ 2147483646 w 4916"/>
              <a:gd name="T95" fmla="*/ 2147483646 h 3388"/>
              <a:gd name="T96" fmla="*/ 2147483646 w 4916"/>
              <a:gd name="T97" fmla="*/ 2147483646 h 3388"/>
              <a:gd name="T98" fmla="*/ 2147483646 w 4916"/>
              <a:gd name="T99" fmla="*/ 2147483646 h 3388"/>
              <a:gd name="T100" fmla="*/ 2147483646 w 4916"/>
              <a:gd name="T101" fmla="*/ 2147483646 h 3388"/>
              <a:gd name="T102" fmla="*/ 2147483646 w 4916"/>
              <a:gd name="T103" fmla="*/ 2147483646 h 3388"/>
              <a:gd name="T104" fmla="*/ 2147483646 w 4916"/>
              <a:gd name="T105" fmla="*/ 2147483646 h 3388"/>
              <a:gd name="T106" fmla="*/ 2147483646 w 4916"/>
              <a:gd name="T107" fmla="*/ 2147483646 h 3388"/>
              <a:gd name="T108" fmla="*/ 2147483646 w 4916"/>
              <a:gd name="T109" fmla="*/ 2147483646 h 3388"/>
              <a:gd name="T110" fmla="*/ 2147483646 w 4916"/>
              <a:gd name="T111" fmla="*/ 2147483646 h 3388"/>
              <a:gd name="T112" fmla="*/ 2147483646 w 4916"/>
              <a:gd name="T113" fmla="*/ 2147483646 h 3388"/>
              <a:gd name="T114" fmla="*/ 2147483646 w 4916"/>
              <a:gd name="T115" fmla="*/ 2147483646 h 3388"/>
              <a:gd name="T116" fmla="*/ 2147483646 w 4916"/>
              <a:gd name="T117" fmla="*/ 2147483646 h 3388"/>
              <a:gd name="T118" fmla="*/ 2147483646 w 4916"/>
              <a:gd name="T119" fmla="*/ 2147483646 h 3388"/>
              <a:gd name="T120" fmla="*/ 2147483646 w 4916"/>
              <a:gd name="T121" fmla="*/ 2147483646 h 3388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w 4916"/>
              <a:gd name="T184" fmla="*/ 0 h 3388"/>
              <a:gd name="T185" fmla="*/ 4916 w 4916"/>
              <a:gd name="T186" fmla="*/ 3388 h 3388"/>
            </a:gdLst>
            <a:ahLst/>
            <a:cxnLst>
              <a:cxn ang="T122">
                <a:pos x="T0" y="T1"/>
              </a:cxn>
              <a:cxn ang="T123">
                <a:pos x="T2" y="T3"/>
              </a:cxn>
              <a:cxn ang="T124">
                <a:pos x="T4" y="T5"/>
              </a:cxn>
              <a:cxn ang="T125">
                <a:pos x="T6" y="T7"/>
              </a:cxn>
              <a:cxn ang="T126">
                <a:pos x="T8" y="T9"/>
              </a:cxn>
              <a:cxn ang="T127">
                <a:pos x="T10" y="T11"/>
              </a:cxn>
              <a:cxn ang="T128">
                <a:pos x="T12" y="T13"/>
              </a:cxn>
              <a:cxn ang="T129">
                <a:pos x="T14" y="T15"/>
              </a:cxn>
              <a:cxn ang="T130">
                <a:pos x="T16" y="T17"/>
              </a:cxn>
              <a:cxn ang="T131">
                <a:pos x="T18" y="T19"/>
              </a:cxn>
              <a:cxn ang="T132">
                <a:pos x="T20" y="T21"/>
              </a:cxn>
              <a:cxn ang="T133">
                <a:pos x="T22" y="T23"/>
              </a:cxn>
              <a:cxn ang="T134">
                <a:pos x="T24" y="T25"/>
              </a:cxn>
              <a:cxn ang="T135">
                <a:pos x="T26" y="T27"/>
              </a:cxn>
              <a:cxn ang="T136">
                <a:pos x="T28" y="T29"/>
              </a:cxn>
              <a:cxn ang="T137">
                <a:pos x="T30" y="T31"/>
              </a:cxn>
              <a:cxn ang="T138">
                <a:pos x="T32" y="T33"/>
              </a:cxn>
              <a:cxn ang="T139">
                <a:pos x="T34" y="T35"/>
              </a:cxn>
              <a:cxn ang="T140">
                <a:pos x="T36" y="T37"/>
              </a:cxn>
              <a:cxn ang="T141">
                <a:pos x="T38" y="T39"/>
              </a:cxn>
              <a:cxn ang="T142">
                <a:pos x="T40" y="T41"/>
              </a:cxn>
              <a:cxn ang="T143">
                <a:pos x="T42" y="T43"/>
              </a:cxn>
              <a:cxn ang="T144">
                <a:pos x="T44" y="T45"/>
              </a:cxn>
              <a:cxn ang="T145">
                <a:pos x="T46" y="T47"/>
              </a:cxn>
              <a:cxn ang="T146">
                <a:pos x="T48" y="T49"/>
              </a:cxn>
              <a:cxn ang="T147">
                <a:pos x="T50" y="T51"/>
              </a:cxn>
              <a:cxn ang="T148">
                <a:pos x="T52" y="T53"/>
              </a:cxn>
              <a:cxn ang="T149">
                <a:pos x="T54" y="T55"/>
              </a:cxn>
              <a:cxn ang="T150">
                <a:pos x="T56" y="T57"/>
              </a:cxn>
              <a:cxn ang="T151">
                <a:pos x="T58" y="T59"/>
              </a:cxn>
              <a:cxn ang="T152">
                <a:pos x="T60" y="T61"/>
              </a:cxn>
              <a:cxn ang="T153">
                <a:pos x="T62" y="T63"/>
              </a:cxn>
              <a:cxn ang="T154">
                <a:pos x="T64" y="T65"/>
              </a:cxn>
              <a:cxn ang="T155">
                <a:pos x="T66" y="T67"/>
              </a:cxn>
              <a:cxn ang="T156">
                <a:pos x="T68" y="T69"/>
              </a:cxn>
              <a:cxn ang="T157">
                <a:pos x="T70" y="T71"/>
              </a:cxn>
              <a:cxn ang="T158">
                <a:pos x="T72" y="T73"/>
              </a:cxn>
              <a:cxn ang="T159">
                <a:pos x="T74" y="T75"/>
              </a:cxn>
              <a:cxn ang="T160">
                <a:pos x="T76" y="T77"/>
              </a:cxn>
              <a:cxn ang="T161">
                <a:pos x="T78" y="T79"/>
              </a:cxn>
              <a:cxn ang="T162">
                <a:pos x="T80" y="T81"/>
              </a:cxn>
              <a:cxn ang="T163">
                <a:pos x="T82" y="T83"/>
              </a:cxn>
              <a:cxn ang="T164">
                <a:pos x="T84" y="T85"/>
              </a:cxn>
              <a:cxn ang="T165">
                <a:pos x="T86" y="T87"/>
              </a:cxn>
              <a:cxn ang="T166">
                <a:pos x="T88" y="T89"/>
              </a:cxn>
              <a:cxn ang="T167">
                <a:pos x="T90" y="T91"/>
              </a:cxn>
              <a:cxn ang="T168">
                <a:pos x="T92" y="T93"/>
              </a:cxn>
              <a:cxn ang="T169">
                <a:pos x="T94" y="T95"/>
              </a:cxn>
              <a:cxn ang="T170">
                <a:pos x="T96" y="T97"/>
              </a:cxn>
              <a:cxn ang="T171">
                <a:pos x="T98" y="T99"/>
              </a:cxn>
              <a:cxn ang="T172">
                <a:pos x="T100" y="T101"/>
              </a:cxn>
              <a:cxn ang="T173">
                <a:pos x="T102" y="T103"/>
              </a:cxn>
              <a:cxn ang="T174">
                <a:pos x="T104" y="T105"/>
              </a:cxn>
              <a:cxn ang="T175">
                <a:pos x="T106" y="T107"/>
              </a:cxn>
              <a:cxn ang="T176">
                <a:pos x="T108" y="T109"/>
              </a:cxn>
              <a:cxn ang="T177">
                <a:pos x="T110" y="T111"/>
              </a:cxn>
              <a:cxn ang="T178">
                <a:pos x="T112" y="T113"/>
              </a:cxn>
              <a:cxn ang="T179">
                <a:pos x="T114" y="T115"/>
              </a:cxn>
              <a:cxn ang="T180">
                <a:pos x="T116" y="T117"/>
              </a:cxn>
              <a:cxn ang="T181">
                <a:pos x="T118" y="T119"/>
              </a:cxn>
              <a:cxn ang="T182">
                <a:pos x="T120" y="T121"/>
              </a:cxn>
            </a:cxnLst>
            <a:rect l="T183" t="T184" r="T185" b="T186"/>
            <a:pathLst>
              <a:path w="4916" h="3388">
                <a:moveTo>
                  <a:pt x="0" y="1792"/>
                </a:moveTo>
                <a:lnTo>
                  <a:pt x="12" y="1808"/>
                </a:lnTo>
                <a:lnTo>
                  <a:pt x="25" y="1823"/>
                </a:lnTo>
                <a:lnTo>
                  <a:pt x="38" y="1838"/>
                </a:lnTo>
                <a:lnTo>
                  <a:pt x="53" y="1853"/>
                </a:lnTo>
                <a:lnTo>
                  <a:pt x="68" y="1867"/>
                </a:lnTo>
                <a:lnTo>
                  <a:pt x="83" y="1883"/>
                </a:lnTo>
                <a:lnTo>
                  <a:pt x="100" y="1897"/>
                </a:lnTo>
                <a:lnTo>
                  <a:pt x="116" y="1911"/>
                </a:lnTo>
                <a:lnTo>
                  <a:pt x="131" y="1927"/>
                </a:lnTo>
                <a:lnTo>
                  <a:pt x="148" y="1941"/>
                </a:lnTo>
                <a:lnTo>
                  <a:pt x="162" y="1955"/>
                </a:lnTo>
                <a:lnTo>
                  <a:pt x="178" y="1971"/>
                </a:lnTo>
                <a:lnTo>
                  <a:pt x="193" y="1985"/>
                </a:lnTo>
                <a:lnTo>
                  <a:pt x="206" y="2000"/>
                </a:lnTo>
                <a:lnTo>
                  <a:pt x="219" y="2014"/>
                </a:lnTo>
                <a:lnTo>
                  <a:pt x="231" y="2030"/>
                </a:lnTo>
                <a:lnTo>
                  <a:pt x="244" y="2058"/>
                </a:lnTo>
                <a:lnTo>
                  <a:pt x="261" y="2080"/>
                </a:lnTo>
                <a:lnTo>
                  <a:pt x="281" y="2098"/>
                </a:lnTo>
                <a:lnTo>
                  <a:pt x="301" y="2114"/>
                </a:lnTo>
                <a:lnTo>
                  <a:pt x="322" y="2129"/>
                </a:lnTo>
                <a:lnTo>
                  <a:pt x="342" y="2148"/>
                </a:lnTo>
                <a:lnTo>
                  <a:pt x="359" y="2169"/>
                </a:lnTo>
                <a:lnTo>
                  <a:pt x="375" y="2195"/>
                </a:lnTo>
                <a:lnTo>
                  <a:pt x="391" y="2223"/>
                </a:lnTo>
                <a:lnTo>
                  <a:pt x="415" y="2256"/>
                </a:lnTo>
                <a:lnTo>
                  <a:pt x="441" y="2294"/>
                </a:lnTo>
                <a:lnTo>
                  <a:pt x="471" y="2333"/>
                </a:lnTo>
                <a:lnTo>
                  <a:pt x="501" y="2373"/>
                </a:lnTo>
                <a:lnTo>
                  <a:pt x="527" y="2409"/>
                </a:lnTo>
                <a:lnTo>
                  <a:pt x="551" y="2442"/>
                </a:lnTo>
                <a:lnTo>
                  <a:pt x="569" y="2469"/>
                </a:lnTo>
                <a:lnTo>
                  <a:pt x="580" y="2492"/>
                </a:lnTo>
                <a:lnTo>
                  <a:pt x="597" y="2519"/>
                </a:lnTo>
                <a:lnTo>
                  <a:pt x="616" y="2552"/>
                </a:lnTo>
                <a:lnTo>
                  <a:pt x="638" y="2586"/>
                </a:lnTo>
                <a:lnTo>
                  <a:pt x="663" y="2626"/>
                </a:lnTo>
                <a:lnTo>
                  <a:pt x="689" y="2666"/>
                </a:lnTo>
                <a:lnTo>
                  <a:pt x="717" y="2708"/>
                </a:lnTo>
                <a:lnTo>
                  <a:pt x="747" y="2752"/>
                </a:lnTo>
                <a:lnTo>
                  <a:pt x="775" y="2794"/>
                </a:lnTo>
                <a:lnTo>
                  <a:pt x="803" y="2838"/>
                </a:lnTo>
                <a:lnTo>
                  <a:pt x="830" y="2878"/>
                </a:lnTo>
                <a:lnTo>
                  <a:pt x="855" y="2916"/>
                </a:lnTo>
                <a:lnTo>
                  <a:pt x="878" y="2952"/>
                </a:lnTo>
                <a:lnTo>
                  <a:pt x="897" y="2983"/>
                </a:lnTo>
                <a:lnTo>
                  <a:pt x="914" y="3011"/>
                </a:lnTo>
                <a:lnTo>
                  <a:pt x="926" y="3032"/>
                </a:lnTo>
                <a:lnTo>
                  <a:pt x="937" y="3034"/>
                </a:lnTo>
                <a:lnTo>
                  <a:pt x="946" y="3035"/>
                </a:lnTo>
                <a:lnTo>
                  <a:pt x="957" y="3037"/>
                </a:lnTo>
                <a:lnTo>
                  <a:pt x="966" y="3039"/>
                </a:lnTo>
                <a:lnTo>
                  <a:pt x="977" y="3039"/>
                </a:lnTo>
                <a:lnTo>
                  <a:pt x="987" y="3042"/>
                </a:lnTo>
                <a:lnTo>
                  <a:pt x="997" y="3043"/>
                </a:lnTo>
                <a:lnTo>
                  <a:pt x="1007" y="3045"/>
                </a:lnTo>
                <a:lnTo>
                  <a:pt x="1009" y="3055"/>
                </a:lnTo>
                <a:lnTo>
                  <a:pt x="1012" y="3064"/>
                </a:lnTo>
                <a:lnTo>
                  <a:pt x="1014" y="3073"/>
                </a:lnTo>
                <a:lnTo>
                  <a:pt x="1016" y="3083"/>
                </a:lnTo>
                <a:lnTo>
                  <a:pt x="1025" y="3083"/>
                </a:lnTo>
                <a:lnTo>
                  <a:pt x="1033" y="3085"/>
                </a:lnTo>
                <a:lnTo>
                  <a:pt x="1043" y="3086"/>
                </a:lnTo>
                <a:lnTo>
                  <a:pt x="1052" y="3087"/>
                </a:lnTo>
                <a:lnTo>
                  <a:pt x="1060" y="3090"/>
                </a:lnTo>
                <a:lnTo>
                  <a:pt x="1069" y="3091"/>
                </a:lnTo>
                <a:lnTo>
                  <a:pt x="1079" y="3092"/>
                </a:lnTo>
                <a:lnTo>
                  <a:pt x="1088" y="3093"/>
                </a:lnTo>
                <a:lnTo>
                  <a:pt x="1104" y="3103"/>
                </a:lnTo>
                <a:lnTo>
                  <a:pt x="1121" y="3113"/>
                </a:lnTo>
                <a:lnTo>
                  <a:pt x="1137" y="3121"/>
                </a:lnTo>
                <a:lnTo>
                  <a:pt x="1152" y="3130"/>
                </a:lnTo>
                <a:lnTo>
                  <a:pt x="1168" y="3139"/>
                </a:lnTo>
                <a:lnTo>
                  <a:pt x="1185" y="3147"/>
                </a:lnTo>
                <a:lnTo>
                  <a:pt x="1202" y="3156"/>
                </a:lnTo>
                <a:lnTo>
                  <a:pt x="1217" y="3165"/>
                </a:lnTo>
                <a:lnTo>
                  <a:pt x="1229" y="3166"/>
                </a:lnTo>
                <a:lnTo>
                  <a:pt x="1240" y="3167"/>
                </a:lnTo>
                <a:lnTo>
                  <a:pt x="1251" y="3169"/>
                </a:lnTo>
                <a:lnTo>
                  <a:pt x="1262" y="3170"/>
                </a:lnTo>
                <a:lnTo>
                  <a:pt x="1274" y="3170"/>
                </a:lnTo>
                <a:lnTo>
                  <a:pt x="1285" y="3171"/>
                </a:lnTo>
                <a:lnTo>
                  <a:pt x="1297" y="3172"/>
                </a:lnTo>
                <a:lnTo>
                  <a:pt x="1308" y="3172"/>
                </a:lnTo>
                <a:lnTo>
                  <a:pt x="1317" y="3183"/>
                </a:lnTo>
                <a:lnTo>
                  <a:pt x="1326" y="3195"/>
                </a:lnTo>
                <a:lnTo>
                  <a:pt x="1335" y="3206"/>
                </a:lnTo>
                <a:lnTo>
                  <a:pt x="1343" y="3215"/>
                </a:lnTo>
                <a:lnTo>
                  <a:pt x="1363" y="3217"/>
                </a:lnTo>
                <a:lnTo>
                  <a:pt x="1383" y="3219"/>
                </a:lnTo>
                <a:lnTo>
                  <a:pt x="1403" y="3221"/>
                </a:lnTo>
                <a:lnTo>
                  <a:pt x="1422" y="3221"/>
                </a:lnTo>
                <a:lnTo>
                  <a:pt x="1443" y="3223"/>
                </a:lnTo>
                <a:lnTo>
                  <a:pt x="1462" y="3223"/>
                </a:lnTo>
                <a:lnTo>
                  <a:pt x="1482" y="3224"/>
                </a:lnTo>
                <a:lnTo>
                  <a:pt x="1502" y="3225"/>
                </a:lnTo>
                <a:lnTo>
                  <a:pt x="1525" y="3238"/>
                </a:lnTo>
                <a:lnTo>
                  <a:pt x="1547" y="3251"/>
                </a:lnTo>
                <a:lnTo>
                  <a:pt x="1571" y="3264"/>
                </a:lnTo>
                <a:lnTo>
                  <a:pt x="1595" y="3278"/>
                </a:lnTo>
                <a:lnTo>
                  <a:pt x="1619" y="3293"/>
                </a:lnTo>
                <a:lnTo>
                  <a:pt x="1643" y="3306"/>
                </a:lnTo>
                <a:lnTo>
                  <a:pt x="1667" y="3319"/>
                </a:lnTo>
                <a:lnTo>
                  <a:pt x="1692" y="3332"/>
                </a:lnTo>
                <a:lnTo>
                  <a:pt x="1701" y="3332"/>
                </a:lnTo>
                <a:lnTo>
                  <a:pt x="1711" y="3332"/>
                </a:lnTo>
                <a:lnTo>
                  <a:pt x="1721" y="3332"/>
                </a:lnTo>
                <a:lnTo>
                  <a:pt x="1732" y="3332"/>
                </a:lnTo>
                <a:lnTo>
                  <a:pt x="1742" y="3332"/>
                </a:lnTo>
                <a:lnTo>
                  <a:pt x="1751" y="3332"/>
                </a:lnTo>
                <a:lnTo>
                  <a:pt x="1762" y="3332"/>
                </a:lnTo>
                <a:lnTo>
                  <a:pt x="1772" y="3332"/>
                </a:lnTo>
                <a:lnTo>
                  <a:pt x="1780" y="3340"/>
                </a:lnTo>
                <a:lnTo>
                  <a:pt x="1790" y="3346"/>
                </a:lnTo>
                <a:lnTo>
                  <a:pt x="1799" y="3352"/>
                </a:lnTo>
                <a:lnTo>
                  <a:pt x="1809" y="3358"/>
                </a:lnTo>
                <a:lnTo>
                  <a:pt x="1817" y="3364"/>
                </a:lnTo>
                <a:lnTo>
                  <a:pt x="1826" y="3368"/>
                </a:lnTo>
                <a:lnTo>
                  <a:pt x="1835" y="3373"/>
                </a:lnTo>
                <a:lnTo>
                  <a:pt x="1843" y="3378"/>
                </a:lnTo>
                <a:lnTo>
                  <a:pt x="1871" y="3385"/>
                </a:lnTo>
                <a:lnTo>
                  <a:pt x="1889" y="3388"/>
                </a:lnTo>
                <a:lnTo>
                  <a:pt x="1901" y="3384"/>
                </a:lnTo>
                <a:lnTo>
                  <a:pt x="1905" y="3377"/>
                </a:lnTo>
                <a:lnTo>
                  <a:pt x="1905" y="3368"/>
                </a:lnTo>
                <a:lnTo>
                  <a:pt x="1899" y="3355"/>
                </a:lnTo>
                <a:lnTo>
                  <a:pt x="1891" y="3341"/>
                </a:lnTo>
                <a:lnTo>
                  <a:pt x="1883" y="3327"/>
                </a:lnTo>
                <a:lnTo>
                  <a:pt x="1876" y="3312"/>
                </a:lnTo>
                <a:lnTo>
                  <a:pt x="1868" y="3298"/>
                </a:lnTo>
                <a:lnTo>
                  <a:pt x="1864" y="3286"/>
                </a:lnTo>
                <a:lnTo>
                  <a:pt x="1863" y="3275"/>
                </a:lnTo>
                <a:lnTo>
                  <a:pt x="1867" y="3268"/>
                </a:lnTo>
                <a:lnTo>
                  <a:pt x="1877" y="3264"/>
                </a:lnTo>
                <a:lnTo>
                  <a:pt x="1896" y="3266"/>
                </a:lnTo>
                <a:lnTo>
                  <a:pt x="1922" y="3273"/>
                </a:lnTo>
                <a:lnTo>
                  <a:pt x="1935" y="3251"/>
                </a:lnTo>
                <a:lnTo>
                  <a:pt x="1947" y="3231"/>
                </a:lnTo>
                <a:lnTo>
                  <a:pt x="1957" y="3213"/>
                </a:lnTo>
                <a:lnTo>
                  <a:pt x="1965" y="3194"/>
                </a:lnTo>
                <a:lnTo>
                  <a:pt x="1975" y="3176"/>
                </a:lnTo>
                <a:lnTo>
                  <a:pt x="1984" y="3154"/>
                </a:lnTo>
                <a:lnTo>
                  <a:pt x="1995" y="3134"/>
                </a:lnTo>
                <a:lnTo>
                  <a:pt x="2007" y="3111"/>
                </a:lnTo>
                <a:lnTo>
                  <a:pt x="2008" y="3098"/>
                </a:lnTo>
                <a:lnTo>
                  <a:pt x="2013" y="3083"/>
                </a:lnTo>
                <a:lnTo>
                  <a:pt x="2019" y="3067"/>
                </a:lnTo>
                <a:lnTo>
                  <a:pt x="2026" y="3049"/>
                </a:lnTo>
                <a:lnTo>
                  <a:pt x="2035" y="3030"/>
                </a:lnTo>
                <a:lnTo>
                  <a:pt x="2041" y="3013"/>
                </a:lnTo>
                <a:lnTo>
                  <a:pt x="2045" y="2998"/>
                </a:lnTo>
                <a:lnTo>
                  <a:pt x="2046" y="2985"/>
                </a:lnTo>
                <a:lnTo>
                  <a:pt x="2059" y="2966"/>
                </a:lnTo>
                <a:lnTo>
                  <a:pt x="2071" y="2946"/>
                </a:lnTo>
                <a:lnTo>
                  <a:pt x="2085" y="2927"/>
                </a:lnTo>
                <a:lnTo>
                  <a:pt x="2096" y="2908"/>
                </a:lnTo>
                <a:lnTo>
                  <a:pt x="2107" y="2890"/>
                </a:lnTo>
                <a:lnTo>
                  <a:pt x="2118" y="2872"/>
                </a:lnTo>
                <a:lnTo>
                  <a:pt x="2130" y="2854"/>
                </a:lnTo>
                <a:lnTo>
                  <a:pt x="2142" y="2835"/>
                </a:lnTo>
                <a:lnTo>
                  <a:pt x="2148" y="2782"/>
                </a:lnTo>
                <a:lnTo>
                  <a:pt x="2159" y="2741"/>
                </a:lnTo>
                <a:lnTo>
                  <a:pt x="2171" y="2700"/>
                </a:lnTo>
                <a:lnTo>
                  <a:pt x="2174" y="2648"/>
                </a:lnTo>
                <a:lnTo>
                  <a:pt x="2187" y="2640"/>
                </a:lnTo>
                <a:lnTo>
                  <a:pt x="2201" y="2628"/>
                </a:lnTo>
                <a:lnTo>
                  <a:pt x="2217" y="2616"/>
                </a:lnTo>
                <a:lnTo>
                  <a:pt x="2232" y="2603"/>
                </a:lnTo>
                <a:lnTo>
                  <a:pt x="2247" y="2589"/>
                </a:lnTo>
                <a:lnTo>
                  <a:pt x="2263" y="2576"/>
                </a:lnTo>
                <a:lnTo>
                  <a:pt x="2276" y="2565"/>
                </a:lnTo>
                <a:lnTo>
                  <a:pt x="2289" y="2556"/>
                </a:lnTo>
                <a:lnTo>
                  <a:pt x="2298" y="2505"/>
                </a:lnTo>
                <a:lnTo>
                  <a:pt x="2304" y="2464"/>
                </a:lnTo>
                <a:lnTo>
                  <a:pt x="2309" y="2424"/>
                </a:lnTo>
                <a:lnTo>
                  <a:pt x="2320" y="2370"/>
                </a:lnTo>
                <a:lnTo>
                  <a:pt x="2330" y="2360"/>
                </a:lnTo>
                <a:lnTo>
                  <a:pt x="2347" y="2349"/>
                </a:lnTo>
                <a:lnTo>
                  <a:pt x="2366" y="2336"/>
                </a:lnTo>
                <a:lnTo>
                  <a:pt x="2388" y="2322"/>
                </a:lnTo>
                <a:lnTo>
                  <a:pt x="2412" y="2307"/>
                </a:lnTo>
                <a:lnTo>
                  <a:pt x="2431" y="2294"/>
                </a:lnTo>
                <a:lnTo>
                  <a:pt x="2448" y="2284"/>
                </a:lnTo>
                <a:lnTo>
                  <a:pt x="2457" y="2274"/>
                </a:lnTo>
                <a:lnTo>
                  <a:pt x="2455" y="2260"/>
                </a:lnTo>
                <a:lnTo>
                  <a:pt x="2455" y="2246"/>
                </a:lnTo>
                <a:lnTo>
                  <a:pt x="2459" y="2234"/>
                </a:lnTo>
                <a:lnTo>
                  <a:pt x="2462" y="2221"/>
                </a:lnTo>
                <a:lnTo>
                  <a:pt x="2467" y="2208"/>
                </a:lnTo>
                <a:lnTo>
                  <a:pt x="2470" y="2195"/>
                </a:lnTo>
                <a:lnTo>
                  <a:pt x="2472" y="2180"/>
                </a:lnTo>
                <a:lnTo>
                  <a:pt x="2470" y="2167"/>
                </a:lnTo>
                <a:lnTo>
                  <a:pt x="2482" y="2165"/>
                </a:lnTo>
                <a:lnTo>
                  <a:pt x="2493" y="2161"/>
                </a:lnTo>
                <a:lnTo>
                  <a:pt x="2504" y="2158"/>
                </a:lnTo>
                <a:lnTo>
                  <a:pt x="2516" y="2154"/>
                </a:lnTo>
                <a:lnTo>
                  <a:pt x="2528" y="2150"/>
                </a:lnTo>
                <a:lnTo>
                  <a:pt x="2538" y="2147"/>
                </a:lnTo>
                <a:lnTo>
                  <a:pt x="2549" y="2141"/>
                </a:lnTo>
                <a:lnTo>
                  <a:pt x="2560" y="2138"/>
                </a:lnTo>
                <a:lnTo>
                  <a:pt x="2565" y="2118"/>
                </a:lnTo>
                <a:lnTo>
                  <a:pt x="2573" y="2099"/>
                </a:lnTo>
                <a:lnTo>
                  <a:pt x="2580" y="2080"/>
                </a:lnTo>
                <a:lnTo>
                  <a:pt x="2589" y="2059"/>
                </a:lnTo>
                <a:lnTo>
                  <a:pt x="2597" y="2063"/>
                </a:lnTo>
                <a:lnTo>
                  <a:pt x="2603" y="2065"/>
                </a:lnTo>
                <a:lnTo>
                  <a:pt x="2610" y="2068"/>
                </a:lnTo>
                <a:lnTo>
                  <a:pt x="2618" y="2070"/>
                </a:lnTo>
                <a:lnTo>
                  <a:pt x="2625" y="2073"/>
                </a:lnTo>
                <a:lnTo>
                  <a:pt x="2634" y="2075"/>
                </a:lnTo>
                <a:lnTo>
                  <a:pt x="2642" y="2078"/>
                </a:lnTo>
                <a:lnTo>
                  <a:pt x="2650" y="2080"/>
                </a:lnTo>
                <a:lnTo>
                  <a:pt x="2657" y="2063"/>
                </a:lnTo>
                <a:lnTo>
                  <a:pt x="2664" y="2046"/>
                </a:lnTo>
                <a:lnTo>
                  <a:pt x="2668" y="2028"/>
                </a:lnTo>
                <a:lnTo>
                  <a:pt x="2673" y="2012"/>
                </a:lnTo>
                <a:lnTo>
                  <a:pt x="2678" y="2007"/>
                </a:lnTo>
                <a:lnTo>
                  <a:pt x="2683" y="2002"/>
                </a:lnTo>
                <a:lnTo>
                  <a:pt x="2689" y="1998"/>
                </a:lnTo>
                <a:lnTo>
                  <a:pt x="2694" y="1991"/>
                </a:lnTo>
                <a:lnTo>
                  <a:pt x="2700" y="1987"/>
                </a:lnTo>
                <a:lnTo>
                  <a:pt x="2705" y="1982"/>
                </a:lnTo>
                <a:lnTo>
                  <a:pt x="2712" y="1976"/>
                </a:lnTo>
                <a:lnTo>
                  <a:pt x="2716" y="1971"/>
                </a:lnTo>
                <a:lnTo>
                  <a:pt x="2726" y="1955"/>
                </a:lnTo>
                <a:lnTo>
                  <a:pt x="2736" y="1940"/>
                </a:lnTo>
                <a:lnTo>
                  <a:pt x="2747" y="1924"/>
                </a:lnTo>
                <a:lnTo>
                  <a:pt x="2760" y="1908"/>
                </a:lnTo>
                <a:lnTo>
                  <a:pt x="2771" y="1892"/>
                </a:lnTo>
                <a:lnTo>
                  <a:pt x="2783" y="1877"/>
                </a:lnTo>
                <a:lnTo>
                  <a:pt x="2798" y="1860"/>
                </a:lnTo>
                <a:lnTo>
                  <a:pt x="2811" y="1844"/>
                </a:lnTo>
                <a:lnTo>
                  <a:pt x="2834" y="1825"/>
                </a:lnTo>
                <a:lnTo>
                  <a:pt x="2859" y="1804"/>
                </a:lnTo>
                <a:lnTo>
                  <a:pt x="2882" y="1783"/>
                </a:lnTo>
                <a:lnTo>
                  <a:pt x="2906" y="1764"/>
                </a:lnTo>
                <a:lnTo>
                  <a:pt x="2929" y="1743"/>
                </a:lnTo>
                <a:lnTo>
                  <a:pt x="2953" y="1722"/>
                </a:lnTo>
                <a:lnTo>
                  <a:pt x="2974" y="1700"/>
                </a:lnTo>
                <a:lnTo>
                  <a:pt x="2998" y="1678"/>
                </a:lnTo>
                <a:lnTo>
                  <a:pt x="3019" y="1656"/>
                </a:lnTo>
                <a:lnTo>
                  <a:pt x="3043" y="1635"/>
                </a:lnTo>
                <a:lnTo>
                  <a:pt x="3067" y="1612"/>
                </a:lnTo>
                <a:lnTo>
                  <a:pt x="3089" y="1589"/>
                </a:lnTo>
                <a:lnTo>
                  <a:pt x="3112" y="1565"/>
                </a:lnTo>
                <a:lnTo>
                  <a:pt x="3135" y="1542"/>
                </a:lnTo>
                <a:lnTo>
                  <a:pt x="3160" y="1520"/>
                </a:lnTo>
                <a:lnTo>
                  <a:pt x="3183" y="1496"/>
                </a:lnTo>
                <a:lnTo>
                  <a:pt x="3208" y="1471"/>
                </a:lnTo>
                <a:lnTo>
                  <a:pt x="3233" y="1448"/>
                </a:lnTo>
                <a:lnTo>
                  <a:pt x="3259" y="1424"/>
                </a:lnTo>
                <a:lnTo>
                  <a:pt x="3284" y="1400"/>
                </a:lnTo>
                <a:lnTo>
                  <a:pt x="3311" y="1375"/>
                </a:lnTo>
                <a:lnTo>
                  <a:pt x="3339" y="1350"/>
                </a:lnTo>
                <a:lnTo>
                  <a:pt x="3368" y="1326"/>
                </a:lnTo>
                <a:lnTo>
                  <a:pt x="3397" y="1302"/>
                </a:lnTo>
                <a:lnTo>
                  <a:pt x="3428" y="1277"/>
                </a:lnTo>
                <a:lnTo>
                  <a:pt x="3458" y="1252"/>
                </a:lnTo>
                <a:lnTo>
                  <a:pt x="3489" y="1227"/>
                </a:lnTo>
                <a:lnTo>
                  <a:pt x="3523" y="1201"/>
                </a:lnTo>
                <a:lnTo>
                  <a:pt x="3556" y="1178"/>
                </a:lnTo>
                <a:lnTo>
                  <a:pt x="3591" y="1152"/>
                </a:lnTo>
                <a:lnTo>
                  <a:pt x="3628" y="1127"/>
                </a:lnTo>
                <a:lnTo>
                  <a:pt x="3666" y="1102"/>
                </a:lnTo>
                <a:lnTo>
                  <a:pt x="3682" y="1091"/>
                </a:lnTo>
                <a:lnTo>
                  <a:pt x="3700" y="1080"/>
                </a:lnTo>
                <a:lnTo>
                  <a:pt x="3717" y="1070"/>
                </a:lnTo>
                <a:lnTo>
                  <a:pt x="3733" y="1059"/>
                </a:lnTo>
                <a:lnTo>
                  <a:pt x="3751" y="1050"/>
                </a:lnTo>
                <a:lnTo>
                  <a:pt x="3768" y="1039"/>
                </a:lnTo>
                <a:lnTo>
                  <a:pt x="3785" y="1029"/>
                </a:lnTo>
                <a:lnTo>
                  <a:pt x="3805" y="1020"/>
                </a:lnTo>
                <a:lnTo>
                  <a:pt x="3814" y="1013"/>
                </a:lnTo>
                <a:lnTo>
                  <a:pt x="3825" y="1009"/>
                </a:lnTo>
                <a:lnTo>
                  <a:pt x="3836" y="1004"/>
                </a:lnTo>
                <a:lnTo>
                  <a:pt x="3846" y="1000"/>
                </a:lnTo>
                <a:lnTo>
                  <a:pt x="3856" y="994"/>
                </a:lnTo>
                <a:lnTo>
                  <a:pt x="3866" y="990"/>
                </a:lnTo>
                <a:lnTo>
                  <a:pt x="3876" y="983"/>
                </a:lnTo>
                <a:lnTo>
                  <a:pt x="3888" y="978"/>
                </a:lnTo>
                <a:lnTo>
                  <a:pt x="3906" y="967"/>
                </a:lnTo>
                <a:lnTo>
                  <a:pt x="3925" y="956"/>
                </a:lnTo>
                <a:lnTo>
                  <a:pt x="3943" y="946"/>
                </a:lnTo>
                <a:lnTo>
                  <a:pt x="3961" y="933"/>
                </a:lnTo>
                <a:lnTo>
                  <a:pt x="3980" y="923"/>
                </a:lnTo>
                <a:lnTo>
                  <a:pt x="3998" y="910"/>
                </a:lnTo>
                <a:lnTo>
                  <a:pt x="4017" y="899"/>
                </a:lnTo>
                <a:lnTo>
                  <a:pt x="4035" y="887"/>
                </a:lnTo>
                <a:lnTo>
                  <a:pt x="4047" y="879"/>
                </a:lnTo>
                <a:lnTo>
                  <a:pt x="4060" y="869"/>
                </a:lnTo>
                <a:lnTo>
                  <a:pt x="4071" y="860"/>
                </a:lnTo>
                <a:lnTo>
                  <a:pt x="4085" y="851"/>
                </a:lnTo>
                <a:lnTo>
                  <a:pt x="4097" y="842"/>
                </a:lnTo>
                <a:lnTo>
                  <a:pt x="4111" y="833"/>
                </a:lnTo>
                <a:lnTo>
                  <a:pt x="4123" y="825"/>
                </a:lnTo>
                <a:lnTo>
                  <a:pt x="4136" y="815"/>
                </a:lnTo>
                <a:lnTo>
                  <a:pt x="4141" y="803"/>
                </a:lnTo>
                <a:lnTo>
                  <a:pt x="4146" y="792"/>
                </a:lnTo>
                <a:lnTo>
                  <a:pt x="4152" y="781"/>
                </a:lnTo>
                <a:lnTo>
                  <a:pt x="4156" y="772"/>
                </a:lnTo>
                <a:lnTo>
                  <a:pt x="4165" y="764"/>
                </a:lnTo>
                <a:lnTo>
                  <a:pt x="4172" y="759"/>
                </a:lnTo>
                <a:lnTo>
                  <a:pt x="4180" y="751"/>
                </a:lnTo>
                <a:lnTo>
                  <a:pt x="4189" y="745"/>
                </a:lnTo>
                <a:lnTo>
                  <a:pt x="4198" y="738"/>
                </a:lnTo>
                <a:lnTo>
                  <a:pt x="4207" y="732"/>
                </a:lnTo>
                <a:lnTo>
                  <a:pt x="4215" y="725"/>
                </a:lnTo>
                <a:lnTo>
                  <a:pt x="4224" y="719"/>
                </a:lnTo>
                <a:lnTo>
                  <a:pt x="4227" y="725"/>
                </a:lnTo>
                <a:lnTo>
                  <a:pt x="4230" y="731"/>
                </a:lnTo>
                <a:lnTo>
                  <a:pt x="4233" y="737"/>
                </a:lnTo>
                <a:lnTo>
                  <a:pt x="4235" y="743"/>
                </a:lnTo>
                <a:lnTo>
                  <a:pt x="4249" y="734"/>
                </a:lnTo>
                <a:lnTo>
                  <a:pt x="4261" y="728"/>
                </a:lnTo>
                <a:lnTo>
                  <a:pt x="4275" y="719"/>
                </a:lnTo>
                <a:lnTo>
                  <a:pt x="4289" y="711"/>
                </a:lnTo>
                <a:lnTo>
                  <a:pt x="4302" y="704"/>
                </a:lnTo>
                <a:lnTo>
                  <a:pt x="4316" y="695"/>
                </a:lnTo>
                <a:lnTo>
                  <a:pt x="4330" y="688"/>
                </a:lnTo>
                <a:lnTo>
                  <a:pt x="4341" y="681"/>
                </a:lnTo>
                <a:lnTo>
                  <a:pt x="4351" y="666"/>
                </a:lnTo>
                <a:lnTo>
                  <a:pt x="4360" y="649"/>
                </a:lnTo>
                <a:lnTo>
                  <a:pt x="4369" y="633"/>
                </a:lnTo>
                <a:lnTo>
                  <a:pt x="4378" y="619"/>
                </a:lnTo>
                <a:lnTo>
                  <a:pt x="4389" y="609"/>
                </a:lnTo>
                <a:lnTo>
                  <a:pt x="4401" y="600"/>
                </a:lnTo>
                <a:lnTo>
                  <a:pt x="4413" y="592"/>
                </a:lnTo>
                <a:lnTo>
                  <a:pt x="4426" y="584"/>
                </a:lnTo>
                <a:lnTo>
                  <a:pt x="4437" y="576"/>
                </a:lnTo>
                <a:lnTo>
                  <a:pt x="4449" y="567"/>
                </a:lnTo>
                <a:lnTo>
                  <a:pt x="4459" y="556"/>
                </a:lnTo>
                <a:lnTo>
                  <a:pt x="4470" y="548"/>
                </a:lnTo>
                <a:lnTo>
                  <a:pt x="4475" y="534"/>
                </a:lnTo>
                <a:lnTo>
                  <a:pt x="4479" y="519"/>
                </a:lnTo>
                <a:lnTo>
                  <a:pt x="4483" y="505"/>
                </a:lnTo>
                <a:lnTo>
                  <a:pt x="4490" y="489"/>
                </a:lnTo>
                <a:lnTo>
                  <a:pt x="4500" y="481"/>
                </a:lnTo>
                <a:lnTo>
                  <a:pt x="4514" y="473"/>
                </a:lnTo>
                <a:lnTo>
                  <a:pt x="4525" y="466"/>
                </a:lnTo>
                <a:lnTo>
                  <a:pt x="4537" y="457"/>
                </a:lnTo>
                <a:lnTo>
                  <a:pt x="4548" y="448"/>
                </a:lnTo>
                <a:lnTo>
                  <a:pt x="4561" y="439"/>
                </a:lnTo>
                <a:lnTo>
                  <a:pt x="4571" y="432"/>
                </a:lnTo>
                <a:lnTo>
                  <a:pt x="4581" y="424"/>
                </a:lnTo>
                <a:lnTo>
                  <a:pt x="4595" y="420"/>
                </a:lnTo>
                <a:lnTo>
                  <a:pt x="4609" y="416"/>
                </a:lnTo>
                <a:lnTo>
                  <a:pt x="4622" y="412"/>
                </a:lnTo>
                <a:lnTo>
                  <a:pt x="4634" y="408"/>
                </a:lnTo>
                <a:lnTo>
                  <a:pt x="4648" y="403"/>
                </a:lnTo>
                <a:lnTo>
                  <a:pt x="4660" y="400"/>
                </a:lnTo>
                <a:lnTo>
                  <a:pt x="4672" y="395"/>
                </a:lnTo>
                <a:lnTo>
                  <a:pt x="4685" y="392"/>
                </a:lnTo>
                <a:lnTo>
                  <a:pt x="4692" y="384"/>
                </a:lnTo>
                <a:lnTo>
                  <a:pt x="4698" y="375"/>
                </a:lnTo>
                <a:lnTo>
                  <a:pt x="4704" y="368"/>
                </a:lnTo>
                <a:lnTo>
                  <a:pt x="4710" y="359"/>
                </a:lnTo>
                <a:lnTo>
                  <a:pt x="4716" y="351"/>
                </a:lnTo>
                <a:lnTo>
                  <a:pt x="4722" y="342"/>
                </a:lnTo>
                <a:lnTo>
                  <a:pt x="4728" y="333"/>
                </a:lnTo>
                <a:lnTo>
                  <a:pt x="4735" y="324"/>
                </a:lnTo>
                <a:lnTo>
                  <a:pt x="4745" y="318"/>
                </a:lnTo>
                <a:lnTo>
                  <a:pt x="4755" y="311"/>
                </a:lnTo>
                <a:lnTo>
                  <a:pt x="4764" y="305"/>
                </a:lnTo>
                <a:lnTo>
                  <a:pt x="4773" y="298"/>
                </a:lnTo>
                <a:lnTo>
                  <a:pt x="4784" y="291"/>
                </a:lnTo>
                <a:lnTo>
                  <a:pt x="4793" y="284"/>
                </a:lnTo>
                <a:lnTo>
                  <a:pt x="4802" y="277"/>
                </a:lnTo>
                <a:lnTo>
                  <a:pt x="4810" y="269"/>
                </a:lnTo>
                <a:lnTo>
                  <a:pt x="4816" y="274"/>
                </a:lnTo>
                <a:lnTo>
                  <a:pt x="4824" y="279"/>
                </a:lnTo>
                <a:lnTo>
                  <a:pt x="4831" y="285"/>
                </a:lnTo>
                <a:lnTo>
                  <a:pt x="4835" y="290"/>
                </a:lnTo>
                <a:lnTo>
                  <a:pt x="4845" y="282"/>
                </a:lnTo>
                <a:lnTo>
                  <a:pt x="4856" y="274"/>
                </a:lnTo>
                <a:lnTo>
                  <a:pt x="4865" y="266"/>
                </a:lnTo>
                <a:lnTo>
                  <a:pt x="4876" y="258"/>
                </a:lnTo>
                <a:lnTo>
                  <a:pt x="4885" y="248"/>
                </a:lnTo>
                <a:lnTo>
                  <a:pt x="4895" y="239"/>
                </a:lnTo>
                <a:lnTo>
                  <a:pt x="4906" y="231"/>
                </a:lnTo>
                <a:lnTo>
                  <a:pt x="4916" y="222"/>
                </a:lnTo>
                <a:lnTo>
                  <a:pt x="4904" y="228"/>
                </a:lnTo>
                <a:lnTo>
                  <a:pt x="4893" y="234"/>
                </a:lnTo>
                <a:lnTo>
                  <a:pt x="4881" y="241"/>
                </a:lnTo>
                <a:lnTo>
                  <a:pt x="4867" y="245"/>
                </a:lnTo>
                <a:lnTo>
                  <a:pt x="4856" y="251"/>
                </a:lnTo>
                <a:lnTo>
                  <a:pt x="4845" y="256"/>
                </a:lnTo>
                <a:lnTo>
                  <a:pt x="4833" y="261"/>
                </a:lnTo>
                <a:lnTo>
                  <a:pt x="4821" y="266"/>
                </a:lnTo>
                <a:lnTo>
                  <a:pt x="4832" y="241"/>
                </a:lnTo>
                <a:lnTo>
                  <a:pt x="4841" y="218"/>
                </a:lnTo>
                <a:lnTo>
                  <a:pt x="4847" y="194"/>
                </a:lnTo>
                <a:lnTo>
                  <a:pt x="4852" y="171"/>
                </a:lnTo>
                <a:lnTo>
                  <a:pt x="4844" y="178"/>
                </a:lnTo>
                <a:lnTo>
                  <a:pt x="4835" y="187"/>
                </a:lnTo>
                <a:lnTo>
                  <a:pt x="4826" y="195"/>
                </a:lnTo>
                <a:lnTo>
                  <a:pt x="4815" y="203"/>
                </a:lnTo>
                <a:lnTo>
                  <a:pt x="4806" y="211"/>
                </a:lnTo>
                <a:lnTo>
                  <a:pt x="4796" y="219"/>
                </a:lnTo>
                <a:lnTo>
                  <a:pt x="4785" y="228"/>
                </a:lnTo>
                <a:lnTo>
                  <a:pt x="4775" y="237"/>
                </a:lnTo>
                <a:lnTo>
                  <a:pt x="4768" y="247"/>
                </a:lnTo>
                <a:lnTo>
                  <a:pt x="4759" y="256"/>
                </a:lnTo>
                <a:lnTo>
                  <a:pt x="4752" y="266"/>
                </a:lnTo>
                <a:lnTo>
                  <a:pt x="4745" y="277"/>
                </a:lnTo>
                <a:lnTo>
                  <a:pt x="4738" y="288"/>
                </a:lnTo>
                <a:lnTo>
                  <a:pt x="4729" y="298"/>
                </a:lnTo>
                <a:lnTo>
                  <a:pt x="4722" y="309"/>
                </a:lnTo>
                <a:lnTo>
                  <a:pt x="4715" y="320"/>
                </a:lnTo>
                <a:lnTo>
                  <a:pt x="4708" y="324"/>
                </a:lnTo>
                <a:lnTo>
                  <a:pt x="4701" y="329"/>
                </a:lnTo>
                <a:lnTo>
                  <a:pt x="4694" y="335"/>
                </a:lnTo>
                <a:lnTo>
                  <a:pt x="4687" y="341"/>
                </a:lnTo>
                <a:lnTo>
                  <a:pt x="4679" y="346"/>
                </a:lnTo>
                <a:lnTo>
                  <a:pt x="4673" y="351"/>
                </a:lnTo>
                <a:lnTo>
                  <a:pt x="4667" y="355"/>
                </a:lnTo>
                <a:lnTo>
                  <a:pt x="4660" y="360"/>
                </a:lnTo>
                <a:lnTo>
                  <a:pt x="4655" y="359"/>
                </a:lnTo>
                <a:lnTo>
                  <a:pt x="4650" y="358"/>
                </a:lnTo>
                <a:lnTo>
                  <a:pt x="4646" y="355"/>
                </a:lnTo>
                <a:lnTo>
                  <a:pt x="4641" y="354"/>
                </a:lnTo>
                <a:lnTo>
                  <a:pt x="4636" y="353"/>
                </a:lnTo>
                <a:lnTo>
                  <a:pt x="4632" y="351"/>
                </a:lnTo>
                <a:lnTo>
                  <a:pt x="4626" y="349"/>
                </a:lnTo>
                <a:lnTo>
                  <a:pt x="4622" y="349"/>
                </a:lnTo>
                <a:lnTo>
                  <a:pt x="4600" y="366"/>
                </a:lnTo>
                <a:lnTo>
                  <a:pt x="4579" y="384"/>
                </a:lnTo>
                <a:lnTo>
                  <a:pt x="4558" y="402"/>
                </a:lnTo>
                <a:lnTo>
                  <a:pt x="4536" y="420"/>
                </a:lnTo>
                <a:lnTo>
                  <a:pt x="4514" y="438"/>
                </a:lnTo>
                <a:lnTo>
                  <a:pt x="4490" y="457"/>
                </a:lnTo>
                <a:lnTo>
                  <a:pt x="4469" y="476"/>
                </a:lnTo>
                <a:lnTo>
                  <a:pt x="4445" y="494"/>
                </a:lnTo>
                <a:lnTo>
                  <a:pt x="4435" y="499"/>
                </a:lnTo>
                <a:lnTo>
                  <a:pt x="4426" y="505"/>
                </a:lnTo>
                <a:lnTo>
                  <a:pt x="4415" y="509"/>
                </a:lnTo>
                <a:lnTo>
                  <a:pt x="4406" y="515"/>
                </a:lnTo>
                <a:lnTo>
                  <a:pt x="4396" y="519"/>
                </a:lnTo>
                <a:lnTo>
                  <a:pt x="4388" y="524"/>
                </a:lnTo>
                <a:lnTo>
                  <a:pt x="4378" y="530"/>
                </a:lnTo>
                <a:lnTo>
                  <a:pt x="4369" y="535"/>
                </a:lnTo>
                <a:lnTo>
                  <a:pt x="4363" y="533"/>
                </a:lnTo>
                <a:lnTo>
                  <a:pt x="4357" y="530"/>
                </a:lnTo>
                <a:lnTo>
                  <a:pt x="4351" y="528"/>
                </a:lnTo>
                <a:lnTo>
                  <a:pt x="4347" y="524"/>
                </a:lnTo>
                <a:lnTo>
                  <a:pt x="4340" y="522"/>
                </a:lnTo>
                <a:lnTo>
                  <a:pt x="4336" y="519"/>
                </a:lnTo>
                <a:lnTo>
                  <a:pt x="4330" y="517"/>
                </a:lnTo>
                <a:lnTo>
                  <a:pt x="4324" y="515"/>
                </a:lnTo>
                <a:lnTo>
                  <a:pt x="4299" y="533"/>
                </a:lnTo>
                <a:lnTo>
                  <a:pt x="4274" y="549"/>
                </a:lnTo>
                <a:lnTo>
                  <a:pt x="4249" y="568"/>
                </a:lnTo>
                <a:lnTo>
                  <a:pt x="4224" y="585"/>
                </a:lnTo>
                <a:lnTo>
                  <a:pt x="4201" y="602"/>
                </a:lnTo>
                <a:lnTo>
                  <a:pt x="4174" y="620"/>
                </a:lnTo>
                <a:lnTo>
                  <a:pt x="4150" y="637"/>
                </a:lnTo>
                <a:lnTo>
                  <a:pt x="4125" y="654"/>
                </a:lnTo>
                <a:lnTo>
                  <a:pt x="4099" y="671"/>
                </a:lnTo>
                <a:lnTo>
                  <a:pt x="4075" y="691"/>
                </a:lnTo>
                <a:lnTo>
                  <a:pt x="4050" y="707"/>
                </a:lnTo>
                <a:lnTo>
                  <a:pt x="4025" y="725"/>
                </a:lnTo>
                <a:lnTo>
                  <a:pt x="4000" y="742"/>
                </a:lnTo>
                <a:lnTo>
                  <a:pt x="3975" y="760"/>
                </a:lnTo>
                <a:lnTo>
                  <a:pt x="3950" y="778"/>
                </a:lnTo>
                <a:lnTo>
                  <a:pt x="3925" y="797"/>
                </a:lnTo>
                <a:lnTo>
                  <a:pt x="3918" y="788"/>
                </a:lnTo>
                <a:lnTo>
                  <a:pt x="3912" y="781"/>
                </a:lnTo>
                <a:lnTo>
                  <a:pt x="3906" y="771"/>
                </a:lnTo>
                <a:lnTo>
                  <a:pt x="3902" y="761"/>
                </a:lnTo>
                <a:lnTo>
                  <a:pt x="3912" y="754"/>
                </a:lnTo>
                <a:lnTo>
                  <a:pt x="3920" y="747"/>
                </a:lnTo>
                <a:lnTo>
                  <a:pt x="3931" y="738"/>
                </a:lnTo>
                <a:lnTo>
                  <a:pt x="3939" y="730"/>
                </a:lnTo>
                <a:lnTo>
                  <a:pt x="3949" y="721"/>
                </a:lnTo>
                <a:lnTo>
                  <a:pt x="3958" y="713"/>
                </a:lnTo>
                <a:lnTo>
                  <a:pt x="3969" y="704"/>
                </a:lnTo>
                <a:lnTo>
                  <a:pt x="3979" y="696"/>
                </a:lnTo>
                <a:lnTo>
                  <a:pt x="3986" y="694"/>
                </a:lnTo>
                <a:lnTo>
                  <a:pt x="3993" y="691"/>
                </a:lnTo>
                <a:lnTo>
                  <a:pt x="4000" y="691"/>
                </a:lnTo>
                <a:lnTo>
                  <a:pt x="4009" y="688"/>
                </a:lnTo>
                <a:lnTo>
                  <a:pt x="4017" y="685"/>
                </a:lnTo>
                <a:lnTo>
                  <a:pt x="4024" y="683"/>
                </a:lnTo>
                <a:lnTo>
                  <a:pt x="4033" y="680"/>
                </a:lnTo>
                <a:lnTo>
                  <a:pt x="4040" y="677"/>
                </a:lnTo>
                <a:lnTo>
                  <a:pt x="4044" y="670"/>
                </a:lnTo>
                <a:lnTo>
                  <a:pt x="4049" y="663"/>
                </a:lnTo>
                <a:lnTo>
                  <a:pt x="4054" y="657"/>
                </a:lnTo>
                <a:lnTo>
                  <a:pt x="4060" y="650"/>
                </a:lnTo>
                <a:lnTo>
                  <a:pt x="4064" y="643"/>
                </a:lnTo>
                <a:lnTo>
                  <a:pt x="4069" y="636"/>
                </a:lnTo>
                <a:lnTo>
                  <a:pt x="4075" y="628"/>
                </a:lnTo>
                <a:lnTo>
                  <a:pt x="4080" y="621"/>
                </a:lnTo>
                <a:lnTo>
                  <a:pt x="4090" y="617"/>
                </a:lnTo>
                <a:lnTo>
                  <a:pt x="4098" y="611"/>
                </a:lnTo>
                <a:lnTo>
                  <a:pt x="4109" y="606"/>
                </a:lnTo>
                <a:lnTo>
                  <a:pt x="4119" y="600"/>
                </a:lnTo>
                <a:lnTo>
                  <a:pt x="4127" y="595"/>
                </a:lnTo>
                <a:lnTo>
                  <a:pt x="4136" y="590"/>
                </a:lnTo>
                <a:lnTo>
                  <a:pt x="4146" y="584"/>
                </a:lnTo>
                <a:lnTo>
                  <a:pt x="4156" y="579"/>
                </a:lnTo>
                <a:lnTo>
                  <a:pt x="4163" y="565"/>
                </a:lnTo>
                <a:lnTo>
                  <a:pt x="4170" y="552"/>
                </a:lnTo>
                <a:lnTo>
                  <a:pt x="4176" y="539"/>
                </a:lnTo>
                <a:lnTo>
                  <a:pt x="4184" y="524"/>
                </a:lnTo>
                <a:lnTo>
                  <a:pt x="4190" y="517"/>
                </a:lnTo>
                <a:lnTo>
                  <a:pt x="4198" y="511"/>
                </a:lnTo>
                <a:lnTo>
                  <a:pt x="4205" y="505"/>
                </a:lnTo>
                <a:lnTo>
                  <a:pt x="4211" y="499"/>
                </a:lnTo>
                <a:lnTo>
                  <a:pt x="4218" y="493"/>
                </a:lnTo>
                <a:lnTo>
                  <a:pt x="4226" y="487"/>
                </a:lnTo>
                <a:lnTo>
                  <a:pt x="4234" y="481"/>
                </a:lnTo>
                <a:lnTo>
                  <a:pt x="4242" y="475"/>
                </a:lnTo>
                <a:lnTo>
                  <a:pt x="4235" y="473"/>
                </a:lnTo>
                <a:lnTo>
                  <a:pt x="4230" y="470"/>
                </a:lnTo>
                <a:lnTo>
                  <a:pt x="4224" y="468"/>
                </a:lnTo>
                <a:lnTo>
                  <a:pt x="4218" y="464"/>
                </a:lnTo>
                <a:lnTo>
                  <a:pt x="4213" y="462"/>
                </a:lnTo>
                <a:lnTo>
                  <a:pt x="4207" y="458"/>
                </a:lnTo>
                <a:lnTo>
                  <a:pt x="4202" y="455"/>
                </a:lnTo>
                <a:lnTo>
                  <a:pt x="4196" y="450"/>
                </a:lnTo>
                <a:lnTo>
                  <a:pt x="4207" y="442"/>
                </a:lnTo>
                <a:lnTo>
                  <a:pt x="4217" y="433"/>
                </a:lnTo>
                <a:lnTo>
                  <a:pt x="4228" y="425"/>
                </a:lnTo>
                <a:lnTo>
                  <a:pt x="4241" y="416"/>
                </a:lnTo>
                <a:lnTo>
                  <a:pt x="4252" y="408"/>
                </a:lnTo>
                <a:lnTo>
                  <a:pt x="4263" y="400"/>
                </a:lnTo>
                <a:lnTo>
                  <a:pt x="4274" y="392"/>
                </a:lnTo>
                <a:lnTo>
                  <a:pt x="4286" y="383"/>
                </a:lnTo>
                <a:lnTo>
                  <a:pt x="4291" y="377"/>
                </a:lnTo>
                <a:lnTo>
                  <a:pt x="4299" y="372"/>
                </a:lnTo>
                <a:lnTo>
                  <a:pt x="4307" y="366"/>
                </a:lnTo>
                <a:lnTo>
                  <a:pt x="4312" y="359"/>
                </a:lnTo>
                <a:lnTo>
                  <a:pt x="4321" y="349"/>
                </a:lnTo>
                <a:lnTo>
                  <a:pt x="4332" y="337"/>
                </a:lnTo>
                <a:lnTo>
                  <a:pt x="4339" y="326"/>
                </a:lnTo>
                <a:lnTo>
                  <a:pt x="4347" y="315"/>
                </a:lnTo>
                <a:lnTo>
                  <a:pt x="4356" y="304"/>
                </a:lnTo>
                <a:lnTo>
                  <a:pt x="4364" y="293"/>
                </a:lnTo>
                <a:lnTo>
                  <a:pt x="4374" y="282"/>
                </a:lnTo>
                <a:lnTo>
                  <a:pt x="4382" y="271"/>
                </a:lnTo>
                <a:lnTo>
                  <a:pt x="4360" y="281"/>
                </a:lnTo>
                <a:lnTo>
                  <a:pt x="4341" y="290"/>
                </a:lnTo>
                <a:lnTo>
                  <a:pt x="4320" y="299"/>
                </a:lnTo>
                <a:lnTo>
                  <a:pt x="4301" y="308"/>
                </a:lnTo>
                <a:lnTo>
                  <a:pt x="4279" y="318"/>
                </a:lnTo>
                <a:lnTo>
                  <a:pt x="4259" y="327"/>
                </a:lnTo>
                <a:lnTo>
                  <a:pt x="4238" y="338"/>
                </a:lnTo>
                <a:lnTo>
                  <a:pt x="4217" y="349"/>
                </a:lnTo>
                <a:lnTo>
                  <a:pt x="4213" y="346"/>
                </a:lnTo>
                <a:lnTo>
                  <a:pt x="4209" y="343"/>
                </a:lnTo>
                <a:lnTo>
                  <a:pt x="4204" y="342"/>
                </a:lnTo>
                <a:lnTo>
                  <a:pt x="4200" y="339"/>
                </a:lnTo>
                <a:lnTo>
                  <a:pt x="4194" y="338"/>
                </a:lnTo>
                <a:lnTo>
                  <a:pt x="4189" y="335"/>
                </a:lnTo>
                <a:lnTo>
                  <a:pt x="4185" y="335"/>
                </a:lnTo>
                <a:lnTo>
                  <a:pt x="4180" y="334"/>
                </a:lnTo>
                <a:lnTo>
                  <a:pt x="4186" y="328"/>
                </a:lnTo>
                <a:lnTo>
                  <a:pt x="4194" y="322"/>
                </a:lnTo>
                <a:lnTo>
                  <a:pt x="4200" y="316"/>
                </a:lnTo>
                <a:lnTo>
                  <a:pt x="4205" y="309"/>
                </a:lnTo>
                <a:lnTo>
                  <a:pt x="4211" y="303"/>
                </a:lnTo>
                <a:lnTo>
                  <a:pt x="4217" y="297"/>
                </a:lnTo>
                <a:lnTo>
                  <a:pt x="4224" y="291"/>
                </a:lnTo>
                <a:lnTo>
                  <a:pt x="4232" y="285"/>
                </a:lnTo>
                <a:lnTo>
                  <a:pt x="4251" y="271"/>
                </a:lnTo>
                <a:lnTo>
                  <a:pt x="4272" y="253"/>
                </a:lnTo>
                <a:lnTo>
                  <a:pt x="4297" y="234"/>
                </a:lnTo>
                <a:lnTo>
                  <a:pt x="4324" y="214"/>
                </a:lnTo>
                <a:lnTo>
                  <a:pt x="4351" y="195"/>
                </a:lnTo>
                <a:lnTo>
                  <a:pt x="4376" y="177"/>
                </a:lnTo>
                <a:lnTo>
                  <a:pt x="4398" y="162"/>
                </a:lnTo>
                <a:lnTo>
                  <a:pt x="4414" y="147"/>
                </a:lnTo>
                <a:lnTo>
                  <a:pt x="4419" y="124"/>
                </a:lnTo>
                <a:lnTo>
                  <a:pt x="4415" y="112"/>
                </a:lnTo>
                <a:lnTo>
                  <a:pt x="4408" y="112"/>
                </a:lnTo>
                <a:lnTo>
                  <a:pt x="4399" y="119"/>
                </a:lnTo>
                <a:lnTo>
                  <a:pt x="4387" y="127"/>
                </a:lnTo>
                <a:lnTo>
                  <a:pt x="4376" y="135"/>
                </a:lnTo>
                <a:lnTo>
                  <a:pt x="4367" y="140"/>
                </a:lnTo>
                <a:lnTo>
                  <a:pt x="4360" y="139"/>
                </a:lnTo>
                <a:lnTo>
                  <a:pt x="4351" y="146"/>
                </a:lnTo>
                <a:lnTo>
                  <a:pt x="4338" y="152"/>
                </a:lnTo>
                <a:lnTo>
                  <a:pt x="4322" y="160"/>
                </a:lnTo>
                <a:lnTo>
                  <a:pt x="4307" y="165"/>
                </a:lnTo>
                <a:lnTo>
                  <a:pt x="4291" y="173"/>
                </a:lnTo>
                <a:lnTo>
                  <a:pt x="4275" y="178"/>
                </a:lnTo>
                <a:lnTo>
                  <a:pt x="4261" y="187"/>
                </a:lnTo>
                <a:lnTo>
                  <a:pt x="4251" y="194"/>
                </a:lnTo>
                <a:lnTo>
                  <a:pt x="4247" y="203"/>
                </a:lnTo>
                <a:lnTo>
                  <a:pt x="4244" y="213"/>
                </a:lnTo>
                <a:lnTo>
                  <a:pt x="4241" y="223"/>
                </a:lnTo>
                <a:lnTo>
                  <a:pt x="4238" y="234"/>
                </a:lnTo>
                <a:lnTo>
                  <a:pt x="4232" y="239"/>
                </a:lnTo>
                <a:lnTo>
                  <a:pt x="4227" y="245"/>
                </a:lnTo>
                <a:lnTo>
                  <a:pt x="4221" y="251"/>
                </a:lnTo>
                <a:lnTo>
                  <a:pt x="4215" y="256"/>
                </a:lnTo>
                <a:lnTo>
                  <a:pt x="4207" y="262"/>
                </a:lnTo>
                <a:lnTo>
                  <a:pt x="4202" y="267"/>
                </a:lnTo>
                <a:lnTo>
                  <a:pt x="4194" y="273"/>
                </a:lnTo>
                <a:lnTo>
                  <a:pt x="4186" y="278"/>
                </a:lnTo>
                <a:lnTo>
                  <a:pt x="4180" y="271"/>
                </a:lnTo>
                <a:lnTo>
                  <a:pt x="4176" y="264"/>
                </a:lnTo>
                <a:lnTo>
                  <a:pt x="4170" y="258"/>
                </a:lnTo>
                <a:lnTo>
                  <a:pt x="4163" y="251"/>
                </a:lnTo>
                <a:lnTo>
                  <a:pt x="4158" y="244"/>
                </a:lnTo>
                <a:lnTo>
                  <a:pt x="4150" y="238"/>
                </a:lnTo>
                <a:lnTo>
                  <a:pt x="4143" y="232"/>
                </a:lnTo>
                <a:lnTo>
                  <a:pt x="4138" y="225"/>
                </a:lnTo>
                <a:lnTo>
                  <a:pt x="4146" y="212"/>
                </a:lnTo>
                <a:lnTo>
                  <a:pt x="4154" y="200"/>
                </a:lnTo>
                <a:lnTo>
                  <a:pt x="4161" y="187"/>
                </a:lnTo>
                <a:lnTo>
                  <a:pt x="4170" y="173"/>
                </a:lnTo>
                <a:lnTo>
                  <a:pt x="4180" y="167"/>
                </a:lnTo>
                <a:lnTo>
                  <a:pt x="4188" y="160"/>
                </a:lnTo>
                <a:lnTo>
                  <a:pt x="4197" y="152"/>
                </a:lnTo>
                <a:lnTo>
                  <a:pt x="4205" y="145"/>
                </a:lnTo>
                <a:lnTo>
                  <a:pt x="4214" y="137"/>
                </a:lnTo>
                <a:lnTo>
                  <a:pt x="4222" y="130"/>
                </a:lnTo>
                <a:lnTo>
                  <a:pt x="4230" y="123"/>
                </a:lnTo>
                <a:lnTo>
                  <a:pt x="4238" y="116"/>
                </a:lnTo>
                <a:lnTo>
                  <a:pt x="4245" y="106"/>
                </a:lnTo>
                <a:lnTo>
                  <a:pt x="4249" y="99"/>
                </a:lnTo>
                <a:lnTo>
                  <a:pt x="4255" y="90"/>
                </a:lnTo>
                <a:lnTo>
                  <a:pt x="4260" y="82"/>
                </a:lnTo>
                <a:lnTo>
                  <a:pt x="4266" y="73"/>
                </a:lnTo>
                <a:lnTo>
                  <a:pt x="4271" y="65"/>
                </a:lnTo>
                <a:lnTo>
                  <a:pt x="4277" y="55"/>
                </a:lnTo>
                <a:lnTo>
                  <a:pt x="4284" y="47"/>
                </a:lnTo>
                <a:lnTo>
                  <a:pt x="4274" y="48"/>
                </a:lnTo>
                <a:lnTo>
                  <a:pt x="4264" y="50"/>
                </a:lnTo>
                <a:lnTo>
                  <a:pt x="4255" y="52"/>
                </a:lnTo>
                <a:lnTo>
                  <a:pt x="4245" y="52"/>
                </a:lnTo>
                <a:lnTo>
                  <a:pt x="4234" y="55"/>
                </a:lnTo>
                <a:lnTo>
                  <a:pt x="4224" y="56"/>
                </a:lnTo>
                <a:lnTo>
                  <a:pt x="4214" y="59"/>
                </a:lnTo>
                <a:lnTo>
                  <a:pt x="4204" y="60"/>
                </a:lnTo>
                <a:lnTo>
                  <a:pt x="4207" y="44"/>
                </a:lnTo>
                <a:lnTo>
                  <a:pt x="4211" y="30"/>
                </a:lnTo>
                <a:lnTo>
                  <a:pt x="4213" y="16"/>
                </a:lnTo>
                <a:lnTo>
                  <a:pt x="4215" y="0"/>
                </a:lnTo>
                <a:lnTo>
                  <a:pt x="4205" y="7"/>
                </a:lnTo>
                <a:lnTo>
                  <a:pt x="4196" y="13"/>
                </a:lnTo>
                <a:lnTo>
                  <a:pt x="4185" y="19"/>
                </a:lnTo>
                <a:lnTo>
                  <a:pt x="4176" y="26"/>
                </a:lnTo>
                <a:lnTo>
                  <a:pt x="4167" y="33"/>
                </a:lnTo>
                <a:lnTo>
                  <a:pt x="4158" y="41"/>
                </a:lnTo>
                <a:lnTo>
                  <a:pt x="4150" y="48"/>
                </a:lnTo>
                <a:lnTo>
                  <a:pt x="4139" y="55"/>
                </a:lnTo>
                <a:lnTo>
                  <a:pt x="4134" y="63"/>
                </a:lnTo>
                <a:lnTo>
                  <a:pt x="4129" y="73"/>
                </a:lnTo>
                <a:lnTo>
                  <a:pt x="4123" y="82"/>
                </a:lnTo>
                <a:lnTo>
                  <a:pt x="4119" y="92"/>
                </a:lnTo>
                <a:lnTo>
                  <a:pt x="4113" y="102"/>
                </a:lnTo>
                <a:lnTo>
                  <a:pt x="4108" y="112"/>
                </a:lnTo>
                <a:lnTo>
                  <a:pt x="4101" y="123"/>
                </a:lnTo>
                <a:lnTo>
                  <a:pt x="4097" y="134"/>
                </a:lnTo>
                <a:lnTo>
                  <a:pt x="4088" y="134"/>
                </a:lnTo>
                <a:lnTo>
                  <a:pt x="4080" y="134"/>
                </a:lnTo>
                <a:lnTo>
                  <a:pt x="4071" y="134"/>
                </a:lnTo>
                <a:lnTo>
                  <a:pt x="4064" y="134"/>
                </a:lnTo>
                <a:lnTo>
                  <a:pt x="4054" y="134"/>
                </a:lnTo>
                <a:lnTo>
                  <a:pt x="4047" y="134"/>
                </a:lnTo>
                <a:lnTo>
                  <a:pt x="4038" y="134"/>
                </a:lnTo>
                <a:lnTo>
                  <a:pt x="4030" y="133"/>
                </a:lnTo>
                <a:lnTo>
                  <a:pt x="4016" y="143"/>
                </a:lnTo>
                <a:lnTo>
                  <a:pt x="4000" y="154"/>
                </a:lnTo>
                <a:lnTo>
                  <a:pt x="3986" y="165"/>
                </a:lnTo>
                <a:lnTo>
                  <a:pt x="3972" y="175"/>
                </a:lnTo>
                <a:lnTo>
                  <a:pt x="3956" y="186"/>
                </a:lnTo>
                <a:lnTo>
                  <a:pt x="3941" y="197"/>
                </a:lnTo>
                <a:lnTo>
                  <a:pt x="3928" y="207"/>
                </a:lnTo>
                <a:lnTo>
                  <a:pt x="3910" y="218"/>
                </a:lnTo>
                <a:lnTo>
                  <a:pt x="3863" y="251"/>
                </a:lnTo>
                <a:lnTo>
                  <a:pt x="3815" y="280"/>
                </a:lnTo>
                <a:lnTo>
                  <a:pt x="3768" y="307"/>
                </a:lnTo>
                <a:lnTo>
                  <a:pt x="3720" y="331"/>
                </a:lnTo>
                <a:lnTo>
                  <a:pt x="3672" y="357"/>
                </a:lnTo>
                <a:lnTo>
                  <a:pt x="3625" y="381"/>
                </a:lnTo>
                <a:lnTo>
                  <a:pt x="3577" y="405"/>
                </a:lnTo>
                <a:lnTo>
                  <a:pt x="3530" y="428"/>
                </a:lnTo>
                <a:lnTo>
                  <a:pt x="3483" y="456"/>
                </a:lnTo>
                <a:lnTo>
                  <a:pt x="3436" y="485"/>
                </a:lnTo>
                <a:lnTo>
                  <a:pt x="3389" y="516"/>
                </a:lnTo>
                <a:lnTo>
                  <a:pt x="3342" y="549"/>
                </a:lnTo>
                <a:lnTo>
                  <a:pt x="3296" y="590"/>
                </a:lnTo>
                <a:lnTo>
                  <a:pt x="3250" y="633"/>
                </a:lnTo>
                <a:lnTo>
                  <a:pt x="3203" y="682"/>
                </a:lnTo>
                <a:lnTo>
                  <a:pt x="3155" y="736"/>
                </a:lnTo>
                <a:lnTo>
                  <a:pt x="3112" y="764"/>
                </a:lnTo>
                <a:lnTo>
                  <a:pt x="3078" y="786"/>
                </a:lnTo>
                <a:lnTo>
                  <a:pt x="3052" y="803"/>
                </a:lnTo>
                <a:lnTo>
                  <a:pt x="3036" y="812"/>
                </a:lnTo>
                <a:lnTo>
                  <a:pt x="3028" y="815"/>
                </a:lnTo>
                <a:lnTo>
                  <a:pt x="3026" y="814"/>
                </a:lnTo>
                <a:lnTo>
                  <a:pt x="3028" y="809"/>
                </a:lnTo>
                <a:lnTo>
                  <a:pt x="3035" y="800"/>
                </a:lnTo>
                <a:lnTo>
                  <a:pt x="3044" y="790"/>
                </a:lnTo>
                <a:lnTo>
                  <a:pt x="3055" y="778"/>
                </a:lnTo>
                <a:lnTo>
                  <a:pt x="3070" y="766"/>
                </a:lnTo>
                <a:lnTo>
                  <a:pt x="3083" y="754"/>
                </a:lnTo>
                <a:lnTo>
                  <a:pt x="3094" y="743"/>
                </a:lnTo>
                <a:lnTo>
                  <a:pt x="3104" y="732"/>
                </a:lnTo>
                <a:lnTo>
                  <a:pt x="3112" y="725"/>
                </a:lnTo>
                <a:lnTo>
                  <a:pt x="3114" y="721"/>
                </a:lnTo>
                <a:lnTo>
                  <a:pt x="3136" y="710"/>
                </a:lnTo>
                <a:lnTo>
                  <a:pt x="3154" y="700"/>
                </a:lnTo>
                <a:lnTo>
                  <a:pt x="3167" y="691"/>
                </a:lnTo>
                <a:lnTo>
                  <a:pt x="3175" y="685"/>
                </a:lnTo>
                <a:lnTo>
                  <a:pt x="3180" y="682"/>
                </a:lnTo>
                <a:lnTo>
                  <a:pt x="3183" y="677"/>
                </a:lnTo>
                <a:lnTo>
                  <a:pt x="3180" y="675"/>
                </a:lnTo>
                <a:lnTo>
                  <a:pt x="3177" y="674"/>
                </a:lnTo>
                <a:lnTo>
                  <a:pt x="3173" y="674"/>
                </a:lnTo>
                <a:lnTo>
                  <a:pt x="3169" y="674"/>
                </a:lnTo>
                <a:lnTo>
                  <a:pt x="3164" y="673"/>
                </a:lnTo>
                <a:lnTo>
                  <a:pt x="3160" y="671"/>
                </a:lnTo>
                <a:lnTo>
                  <a:pt x="3158" y="669"/>
                </a:lnTo>
                <a:lnTo>
                  <a:pt x="3158" y="666"/>
                </a:lnTo>
                <a:lnTo>
                  <a:pt x="3160" y="660"/>
                </a:lnTo>
                <a:lnTo>
                  <a:pt x="3165" y="654"/>
                </a:lnTo>
                <a:lnTo>
                  <a:pt x="3173" y="645"/>
                </a:lnTo>
                <a:lnTo>
                  <a:pt x="3185" y="633"/>
                </a:lnTo>
                <a:lnTo>
                  <a:pt x="3203" y="620"/>
                </a:lnTo>
                <a:lnTo>
                  <a:pt x="3225" y="603"/>
                </a:lnTo>
                <a:lnTo>
                  <a:pt x="3253" y="584"/>
                </a:lnTo>
                <a:lnTo>
                  <a:pt x="3287" y="560"/>
                </a:lnTo>
                <a:lnTo>
                  <a:pt x="3327" y="533"/>
                </a:lnTo>
                <a:lnTo>
                  <a:pt x="3375" y="503"/>
                </a:lnTo>
                <a:lnTo>
                  <a:pt x="3432" y="466"/>
                </a:lnTo>
                <a:lnTo>
                  <a:pt x="3495" y="426"/>
                </a:lnTo>
                <a:lnTo>
                  <a:pt x="3569" y="383"/>
                </a:lnTo>
                <a:lnTo>
                  <a:pt x="3651" y="331"/>
                </a:lnTo>
                <a:lnTo>
                  <a:pt x="3744" y="278"/>
                </a:lnTo>
                <a:lnTo>
                  <a:pt x="3849" y="216"/>
                </a:lnTo>
                <a:lnTo>
                  <a:pt x="3962" y="150"/>
                </a:lnTo>
                <a:lnTo>
                  <a:pt x="3989" y="133"/>
                </a:lnTo>
                <a:lnTo>
                  <a:pt x="4011" y="116"/>
                </a:lnTo>
                <a:lnTo>
                  <a:pt x="4029" y="99"/>
                </a:lnTo>
                <a:lnTo>
                  <a:pt x="4042" y="84"/>
                </a:lnTo>
                <a:lnTo>
                  <a:pt x="4050" y="71"/>
                </a:lnTo>
                <a:lnTo>
                  <a:pt x="4054" y="61"/>
                </a:lnTo>
                <a:lnTo>
                  <a:pt x="4054" y="54"/>
                </a:lnTo>
                <a:lnTo>
                  <a:pt x="4050" y="52"/>
                </a:lnTo>
                <a:lnTo>
                  <a:pt x="4025" y="56"/>
                </a:lnTo>
                <a:lnTo>
                  <a:pt x="3998" y="69"/>
                </a:lnTo>
                <a:lnTo>
                  <a:pt x="3972" y="88"/>
                </a:lnTo>
                <a:lnTo>
                  <a:pt x="3944" y="106"/>
                </a:lnTo>
                <a:lnTo>
                  <a:pt x="3920" y="126"/>
                </a:lnTo>
                <a:lnTo>
                  <a:pt x="3899" y="139"/>
                </a:lnTo>
                <a:lnTo>
                  <a:pt x="3883" y="143"/>
                </a:lnTo>
                <a:lnTo>
                  <a:pt x="3870" y="133"/>
                </a:lnTo>
                <a:lnTo>
                  <a:pt x="3857" y="154"/>
                </a:lnTo>
                <a:lnTo>
                  <a:pt x="3855" y="162"/>
                </a:lnTo>
                <a:lnTo>
                  <a:pt x="3857" y="160"/>
                </a:lnTo>
                <a:lnTo>
                  <a:pt x="3860" y="151"/>
                </a:lnTo>
                <a:lnTo>
                  <a:pt x="3858" y="143"/>
                </a:lnTo>
                <a:lnTo>
                  <a:pt x="3845" y="143"/>
                </a:lnTo>
                <a:lnTo>
                  <a:pt x="3813" y="152"/>
                </a:lnTo>
                <a:lnTo>
                  <a:pt x="3759" y="177"/>
                </a:lnTo>
                <a:lnTo>
                  <a:pt x="3741" y="187"/>
                </a:lnTo>
                <a:lnTo>
                  <a:pt x="3722" y="197"/>
                </a:lnTo>
                <a:lnTo>
                  <a:pt x="3702" y="208"/>
                </a:lnTo>
                <a:lnTo>
                  <a:pt x="3678" y="222"/>
                </a:lnTo>
                <a:lnTo>
                  <a:pt x="3656" y="237"/>
                </a:lnTo>
                <a:lnTo>
                  <a:pt x="3630" y="251"/>
                </a:lnTo>
                <a:lnTo>
                  <a:pt x="3603" y="267"/>
                </a:lnTo>
                <a:lnTo>
                  <a:pt x="3577" y="284"/>
                </a:lnTo>
                <a:lnTo>
                  <a:pt x="3548" y="301"/>
                </a:lnTo>
                <a:lnTo>
                  <a:pt x="3520" y="318"/>
                </a:lnTo>
                <a:lnTo>
                  <a:pt x="3491" y="337"/>
                </a:lnTo>
                <a:lnTo>
                  <a:pt x="3460" y="357"/>
                </a:lnTo>
                <a:lnTo>
                  <a:pt x="3431" y="375"/>
                </a:lnTo>
                <a:lnTo>
                  <a:pt x="3400" y="395"/>
                </a:lnTo>
                <a:lnTo>
                  <a:pt x="3368" y="415"/>
                </a:lnTo>
                <a:lnTo>
                  <a:pt x="3338" y="435"/>
                </a:lnTo>
                <a:lnTo>
                  <a:pt x="3307" y="456"/>
                </a:lnTo>
                <a:lnTo>
                  <a:pt x="3274" y="476"/>
                </a:lnTo>
                <a:lnTo>
                  <a:pt x="3244" y="496"/>
                </a:lnTo>
                <a:lnTo>
                  <a:pt x="3214" y="516"/>
                </a:lnTo>
                <a:lnTo>
                  <a:pt x="3184" y="535"/>
                </a:lnTo>
                <a:lnTo>
                  <a:pt x="3154" y="556"/>
                </a:lnTo>
                <a:lnTo>
                  <a:pt x="3127" y="574"/>
                </a:lnTo>
                <a:lnTo>
                  <a:pt x="3098" y="594"/>
                </a:lnTo>
                <a:lnTo>
                  <a:pt x="3072" y="611"/>
                </a:lnTo>
                <a:lnTo>
                  <a:pt x="3046" y="628"/>
                </a:lnTo>
                <a:lnTo>
                  <a:pt x="3022" y="645"/>
                </a:lnTo>
                <a:lnTo>
                  <a:pt x="2998" y="660"/>
                </a:lnTo>
                <a:lnTo>
                  <a:pt x="2974" y="677"/>
                </a:lnTo>
                <a:lnTo>
                  <a:pt x="2955" y="691"/>
                </a:lnTo>
                <a:lnTo>
                  <a:pt x="2936" y="704"/>
                </a:lnTo>
                <a:lnTo>
                  <a:pt x="2918" y="715"/>
                </a:lnTo>
                <a:lnTo>
                  <a:pt x="2869" y="749"/>
                </a:lnTo>
                <a:lnTo>
                  <a:pt x="2819" y="783"/>
                </a:lnTo>
                <a:lnTo>
                  <a:pt x="2771" y="816"/>
                </a:lnTo>
                <a:lnTo>
                  <a:pt x="2723" y="847"/>
                </a:lnTo>
                <a:lnTo>
                  <a:pt x="2675" y="879"/>
                </a:lnTo>
                <a:lnTo>
                  <a:pt x="2628" y="910"/>
                </a:lnTo>
                <a:lnTo>
                  <a:pt x="2581" y="940"/>
                </a:lnTo>
                <a:lnTo>
                  <a:pt x="2536" y="970"/>
                </a:lnTo>
                <a:lnTo>
                  <a:pt x="2491" y="1000"/>
                </a:lnTo>
                <a:lnTo>
                  <a:pt x="2447" y="1031"/>
                </a:lnTo>
                <a:lnTo>
                  <a:pt x="2402" y="1060"/>
                </a:lnTo>
                <a:lnTo>
                  <a:pt x="2359" y="1089"/>
                </a:lnTo>
                <a:lnTo>
                  <a:pt x="2316" y="1117"/>
                </a:lnTo>
                <a:lnTo>
                  <a:pt x="2273" y="1148"/>
                </a:lnTo>
                <a:lnTo>
                  <a:pt x="2232" y="1178"/>
                </a:lnTo>
                <a:lnTo>
                  <a:pt x="2191" y="1206"/>
                </a:lnTo>
                <a:lnTo>
                  <a:pt x="2168" y="1227"/>
                </a:lnTo>
                <a:lnTo>
                  <a:pt x="2146" y="1249"/>
                </a:lnTo>
                <a:lnTo>
                  <a:pt x="2125" y="1271"/>
                </a:lnTo>
                <a:lnTo>
                  <a:pt x="2104" y="1293"/>
                </a:lnTo>
                <a:lnTo>
                  <a:pt x="2085" y="1316"/>
                </a:lnTo>
                <a:lnTo>
                  <a:pt x="2065" y="1338"/>
                </a:lnTo>
                <a:lnTo>
                  <a:pt x="2048" y="1362"/>
                </a:lnTo>
                <a:lnTo>
                  <a:pt x="2029" y="1384"/>
                </a:lnTo>
                <a:lnTo>
                  <a:pt x="2010" y="1407"/>
                </a:lnTo>
                <a:lnTo>
                  <a:pt x="1994" y="1430"/>
                </a:lnTo>
                <a:lnTo>
                  <a:pt x="1975" y="1453"/>
                </a:lnTo>
                <a:lnTo>
                  <a:pt x="1957" y="1475"/>
                </a:lnTo>
                <a:lnTo>
                  <a:pt x="1938" y="1498"/>
                </a:lnTo>
                <a:lnTo>
                  <a:pt x="1920" y="1518"/>
                </a:lnTo>
                <a:lnTo>
                  <a:pt x="1901" y="1539"/>
                </a:lnTo>
                <a:lnTo>
                  <a:pt x="1881" y="1559"/>
                </a:lnTo>
                <a:lnTo>
                  <a:pt x="1859" y="1580"/>
                </a:lnTo>
                <a:lnTo>
                  <a:pt x="1835" y="1607"/>
                </a:lnTo>
                <a:lnTo>
                  <a:pt x="1811" y="1637"/>
                </a:lnTo>
                <a:lnTo>
                  <a:pt x="1786" y="1671"/>
                </a:lnTo>
                <a:lnTo>
                  <a:pt x="1762" y="1704"/>
                </a:lnTo>
                <a:lnTo>
                  <a:pt x="1738" y="1734"/>
                </a:lnTo>
                <a:lnTo>
                  <a:pt x="1717" y="1760"/>
                </a:lnTo>
                <a:lnTo>
                  <a:pt x="1697" y="1779"/>
                </a:lnTo>
                <a:lnTo>
                  <a:pt x="1669" y="1799"/>
                </a:lnTo>
                <a:lnTo>
                  <a:pt x="1651" y="1814"/>
                </a:lnTo>
                <a:lnTo>
                  <a:pt x="1638" y="1823"/>
                </a:lnTo>
                <a:lnTo>
                  <a:pt x="1629" y="1830"/>
                </a:lnTo>
                <a:lnTo>
                  <a:pt x="1618" y="1836"/>
                </a:lnTo>
                <a:lnTo>
                  <a:pt x="1607" y="1846"/>
                </a:lnTo>
                <a:lnTo>
                  <a:pt x="1593" y="1859"/>
                </a:lnTo>
                <a:lnTo>
                  <a:pt x="1571" y="1880"/>
                </a:lnTo>
                <a:lnTo>
                  <a:pt x="1550" y="1913"/>
                </a:lnTo>
                <a:lnTo>
                  <a:pt x="1531" y="1947"/>
                </a:lnTo>
                <a:lnTo>
                  <a:pt x="1514" y="1983"/>
                </a:lnTo>
                <a:lnTo>
                  <a:pt x="1499" y="2021"/>
                </a:lnTo>
                <a:lnTo>
                  <a:pt x="1482" y="2057"/>
                </a:lnTo>
                <a:lnTo>
                  <a:pt x="1466" y="2093"/>
                </a:lnTo>
                <a:lnTo>
                  <a:pt x="1452" y="2128"/>
                </a:lnTo>
                <a:lnTo>
                  <a:pt x="1435" y="2161"/>
                </a:lnTo>
                <a:lnTo>
                  <a:pt x="1420" y="2132"/>
                </a:lnTo>
                <a:lnTo>
                  <a:pt x="1402" y="2104"/>
                </a:lnTo>
                <a:lnTo>
                  <a:pt x="1383" y="2075"/>
                </a:lnTo>
                <a:lnTo>
                  <a:pt x="1363" y="2046"/>
                </a:lnTo>
                <a:lnTo>
                  <a:pt x="1340" y="2018"/>
                </a:lnTo>
                <a:lnTo>
                  <a:pt x="1319" y="1989"/>
                </a:lnTo>
                <a:lnTo>
                  <a:pt x="1296" y="1961"/>
                </a:lnTo>
                <a:lnTo>
                  <a:pt x="1274" y="1933"/>
                </a:lnTo>
                <a:lnTo>
                  <a:pt x="1251" y="1903"/>
                </a:lnTo>
                <a:lnTo>
                  <a:pt x="1230" y="1874"/>
                </a:lnTo>
                <a:lnTo>
                  <a:pt x="1210" y="1847"/>
                </a:lnTo>
                <a:lnTo>
                  <a:pt x="1192" y="1818"/>
                </a:lnTo>
                <a:lnTo>
                  <a:pt x="1175" y="1789"/>
                </a:lnTo>
                <a:lnTo>
                  <a:pt x="1159" y="1761"/>
                </a:lnTo>
                <a:lnTo>
                  <a:pt x="1146" y="1732"/>
                </a:lnTo>
                <a:lnTo>
                  <a:pt x="1137" y="1705"/>
                </a:lnTo>
                <a:lnTo>
                  <a:pt x="1121" y="1665"/>
                </a:lnTo>
                <a:lnTo>
                  <a:pt x="1105" y="1624"/>
                </a:lnTo>
                <a:lnTo>
                  <a:pt x="1087" y="1580"/>
                </a:lnTo>
                <a:lnTo>
                  <a:pt x="1068" y="1537"/>
                </a:lnTo>
                <a:lnTo>
                  <a:pt x="1050" y="1493"/>
                </a:lnTo>
                <a:lnTo>
                  <a:pt x="1032" y="1449"/>
                </a:lnTo>
                <a:lnTo>
                  <a:pt x="1016" y="1407"/>
                </a:lnTo>
                <a:lnTo>
                  <a:pt x="1003" y="1367"/>
                </a:lnTo>
                <a:lnTo>
                  <a:pt x="979" y="1376"/>
                </a:lnTo>
                <a:lnTo>
                  <a:pt x="958" y="1386"/>
                </a:lnTo>
                <a:lnTo>
                  <a:pt x="935" y="1394"/>
                </a:lnTo>
                <a:lnTo>
                  <a:pt x="914" y="1403"/>
                </a:lnTo>
                <a:lnTo>
                  <a:pt x="891" y="1411"/>
                </a:lnTo>
                <a:lnTo>
                  <a:pt x="870" y="1418"/>
                </a:lnTo>
                <a:lnTo>
                  <a:pt x="847" y="1426"/>
                </a:lnTo>
                <a:lnTo>
                  <a:pt x="825" y="1435"/>
                </a:lnTo>
                <a:lnTo>
                  <a:pt x="808" y="1443"/>
                </a:lnTo>
                <a:lnTo>
                  <a:pt x="790" y="1450"/>
                </a:lnTo>
                <a:lnTo>
                  <a:pt x="773" y="1459"/>
                </a:lnTo>
                <a:lnTo>
                  <a:pt x="755" y="1467"/>
                </a:lnTo>
                <a:lnTo>
                  <a:pt x="738" y="1475"/>
                </a:lnTo>
                <a:lnTo>
                  <a:pt x="721" y="1484"/>
                </a:lnTo>
                <a:lnTo>
                  <a:pt x="704" y="1491"/>
                </a:lnTo>
                <a:lnTo>
                  <a:pt x="687" y="1499"/>
                </a:lnTo>
                <a:lnTo>
                  <a:pt x="669" y="1507"/>
                </a:lnTo>
                <a:lnTo>
                  <a:pt x="652" y="1515"/>
                </a:lnTo>
                <a:lnTo>
                  <a:pt x="636" y="1522"/>
                </a:lnTo>
                <a:lnTo>
                  <a:pt x="619" y="1531"/>
                </a:lnTo>
                <a:lnTo>
                  <a:pt x="602" y="1537"/>
                </a:lnTo>
                <a:lnTo>
                  <a:pt x="586" y="1546"/>
                </a:lnTo>
                <a:lnTo>
                  <a:pt x="569" y="1553"/>
                </a:lnTo>
                <a:lnTo>
                  <a:pt x="553" y="1561"/>
                </a:lnTo>
                <a:lnTo>
                  <a:pt x="550" y="1561"/>
                </a:lnTo>
                <a:lnTo>
                  <a:pt x="541" y="1561"/>
                </a:lnTo>
                <a:lnTo>
                  <a:pt x="527" y="1563"/>
                </a:lnTo>
                <a:lnTo>
                  <a:pt x="511" y="1567"/>
                </a:lnTo>
                <a:lnTo>
                  <a:pt x="491" y="1571"/>
                </a:lnTo>
                <a:lnTo>
                  <a:pt x="469" y="1577"/>
                </a:lnTo>
                <a:lnTo>
                  <a:pt x="445" y="1585"/>
                </a:lnTo>
                <a:lnTo>
                  <a:pt x="421" y="1592"/>
                </a:lnTo>
                <a:lnTo>
                  <a:pt x="396" y="1598"/>
                </a:lnTo>
                <a:lnTo>
                  <a:pt x="373" y="1605"/>
                </a:lnTo>
                <a:lnTo>
                  <a:pt x="351" y="1612"/>
                </a:lnTo>
                <a:lnTo>
                  <a:pt x="333" y="1616"/>
                </a:lnTo>
                <a:lnTo>
                  <a:pt x="315" y="1620"/>
                </a:lnTo>
                <a:lnTo>
                  <a:pt x="304" y="1624"/>
                </a:lnTo>
                <a:lnTo>
                  <a:pt x="297" y="1624"/>
                </a:lnTo>
                <a:lnTo>
                  <a:pt x="294" y="1622"/>
                </a:lnTo>
                <a:lnTo>
                  <a:pt x="275" y="1633"/>
                </a:lnTo>
                <a:lnTo>
                  <a:pt x="256" y="1643"/>
                </a:lnTo>
                <a:lnTo>
                  <a:pt x="237" y="1654"/>
                </a:lnTo>
                <a:lnTo>
                  <a:pt x="219" y="1665"/>
                </a:lnTo>
                <a:lnTo>
                  <a:pt x="199" y="1675"/>
                </a:lnTo>
                <a:lnTo>
                  <a:pt x="180" y="1685"/>
                </a:lnTo>
                <a:lnTo>
                  <a:pt x="161" y="1696"/>
                </a:lnTo>
                <a:lnTo>
                  <a:pt x="143" y="1707"/>
                </a:lnTo>
                <a:lnTo>
                  <a:pt x="124" y="1718"/>
                </a:lnTo>
                <a:lnTo>
                  <a:pt x="106" y="1729"/>
                </a:lnTo>
                <a:lnTo>
                  <a:pt x="87" y="1739"/>
                </a:lnTo>
                <a:lnTo>
                  <a:pt x="70" y="1750"/>
                </a:lnTo>
                <a:lnTo>
                  <a:pt x="53" y="1760"/>
                </a:lnTo>
                <a:lnTo>
                  <a:pt x="35" y="1771"/>
                </a:lnTo>
                <a:lnTo>
                  <a:pt x="18" y="1781"/>
                </a:lnTo>
                <a:lnTo>
                  <a:pt x="0" y="1792"/>
                </a:lnTo>
                <a:close/>
              </a:path>
            </a:pathLst>
          </a:custGeom>
          <a:solidFill>
            <a:srgbClr val="043B72"/>
          </a:solidFill>
          <a:ln w="19050">
            <a:solidFill>
              <a:srgbClr val="FFFFFF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96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ea"/>
              <a:sym typeface="나눔고딕"/>
            </a:endParaRPr>
          </a:p>
        </p:txBody>
      </p: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77F33E7C-53E8-3962-7DEB-88FCB4F971D1}"/>
              </a:ext>
            </a:extLst>
          </p:cNvPr>
          <p:cNvCxnSpPr>
            <a:cxnSpLocks/>
            <a:stCxn id="37" idx="2"/>
            <a:endCxn id="54" idx="0"/>
          </p:cNvCxnSpPr>
          <p:nvPr/>
        </p:nvCxnSpPr>
        <p:spPr>
          <a:xfrm flipH="1">
            <a:off x="2944362" y="4962848"/>
            <a:ext cx="60220" cy="166969"/>
          </a:xfrm>
          <a:prstGeom prst="line">
            <a:avLst/>
          </a:prstGeom>
          <a:ln w="12700" cap="sq">
            <a:solidFill>
              <a:srgbClr val="043B7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</p:cxn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D1204E78-34F8-FB63-89F9-E4EFEAE7D21D}"/>
              </a:ext>
            </a:extLst>
          </p:cNvPr>
          <p:cNvCxnSpPr>
            <a:cxnSpLocks/>
            <a:stCxn id="37" idx="2"/>
            <a:endCxn id="50" idx="1"/>
          </p:cNvCxnSpPr>
          <p:nvPr/>
        </p:nvCxnSpPr>
        <p:spPr>
          <a:xfrm>
            <a:off x="3004582" y="4962848"/>
            <a:ext cx="282950" cy="213381"/>
          </a:xfrm>
          <a:prstGeom prst="line">
            <a:avLst/>
          </a:prstGeom>
          <a:ln w="12700" cap="sq">
            <a:solidFill>
              <a:srgbClr val="043B7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177F6589-11F7-FE9E-D483-EDC582560CEC}"/>
              </a:ext>
            </a:extLst>
          </p:cNvPr>
          <p:cNvSpPr txBox="1"/>
          <p:nvPr/>
        </p:nvSpPr>
        <p:spPr>
          <a:xfrm>
            <a:off x="4299829" y="5323510"/>
            <a:ext cx="904074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kumimoji="1" sz="8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ko-KR" altLang="en-US"/>
              <a:t>논의사항</a:t>
            </a:r>
          </a:p>
        </p:txBody>
      </p:sp>
    </p:spTree>
    <p:extLst>
      <p:ext uri="{BB962C8B-B14F-4D97-AF65-F5344CB8AC3E}">
        <p14:creationId xmlns:p14="http://schemas.microsoft.com/office/powerpoint/2010/main" val="15778952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텍스트 개체 틀 52">
            <a:extLst>
              <a:ext uri="{FF2B5EF4-FFF2-40B4-BE49-F238E27FC236}">
                <a16:creationId xmlns:a16="http://schemas.microsoft.com/office/drawing/2014/main" id="{BCAFA482-1CC1-36A3-4AFE-2E5C4260CED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4" name="텍스트 개체 틀 53">
            <a:extLst>
              <a:ext uri="{FF2B5EF4-FFF2-40B4-BE49-F238E27FC236}">
                <a16:creationId xmlns:a16="http://schemas.microsoft.com/office/drawing/2014/main" id="{EBB33F5F-6022-3BDE-4B7B-766D01EA34C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/>
              <a:t>他 금융사는 </a:t>
            </a:r>
            <a:r>
              <a:rPr lang="en-US" altLang="ko-KR"/>
              <a:t>AI</a:t>
            </a:r>
            <a:r>
              <a:rPr lang="ko-KR" altLang="en-US" err="1"/>
              <a:t>거버넌스협의체를</a:t>
            </a:r>
            <a:r>
              <a:rPr lang="ko-KR" altLang="en-US"/>
              <a:t> 구성하여</a:t>
            </a:r>
            <a:r>
              <a:rPr lang="en-US" altLang="ko-KR"/>
              <a:t>,</a:t>
            </a:r>
            <a:r>
              <a:rPr lang="ko-KR" altLang="en-US"/>
              <a:t> </a:t>
            </a:r>
            <a:r>
              <a:rPr lang="en-US" altLang="ko-KR"/>
              <a:t>AI</a:t>
            </a:r>
            <a:r>
              <a:rPr lang="ko-KR" altLang="en-US"/>
              <a:t>와 관련한 위험관리에 대한 전략 수립 및 의사결정 등의 역할을 수행함</a:t>
            </a:r>
          </a:p>
        </p:txBody>
      </p:sp>
      <p:sp>
        <p:nvSpPr>
          <p:cNvPr id="55" name="텍스트 개체 틀 54">
            <a:extLst>
              <a:ext uri="{FF2B5EF4-FFF2-40B4-BE49-F238E27FC236}">
                <a16:creationId xmlns:a16="http://schemas.microsoft.com/office/drawing/2014/main" id="{CFD4491A-00A3-459A-C31D-35EDE19BBCC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[Back-up] AI</a:t>
            </a:r>
            <a:r>
              <a:rPr lang="ko-KR" altLang="en-US" err="1"/>
              <a:t>거버넌스협의체</a:t>
            </a:r>
            <a:r>
              <a:rPr lang="ko-KR" altLang="en-US"/>
              <a:t> 구성 사례</a:t>
            </a:r>
          </a:p>
        </p:txBody>
      </p:sp>
      <p:sp>
        <p:nvSpPr>
          <p:cNvPr id="56" name="텍스트 개체 틀 55">
            <a:extLst>
              <a:ext uri="{FF2B5EF4-FFF2-40B4-BE49-F238E27FC236}">
                <a16:creationId xmlns:a16="http://schemas.microsoft.com/office/drawing/2014/main" id="{041B8635-30C5-8A16-2421-2005D9489E0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81298" y="1364818"/>
            <a:ext cx="6232971" cy="258532"/>
          </a:xfrm>
        </p:spPr>
        <p:txBody>
          <a:bodyPr/>
          <a:lstStyle/>
          <a:p>
            <a:r>
              <a:rPr lang="en-US" altLang="ko-KR"/>
              <a:t>AI</a:t>
            </a:r>
            <a:r>
              <a:rPr lang="ko-KR" altLang="en-US"/>
              <a:t>거버넌스 협의체 구성 위원과 현황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013C8994-366D-2AF8-58CA-4EB4C912EBDC}"/>
              </a:ext>
            </a:extLst>
          </p:cNvPr>
          <p:cNvGrpSpPr/>
          <p:nvPr/>
        </p:nvGrpSpPr>
        <p:grpSpPr>
          <a:xfrm>
            <a:off x="334963" y="5739099"/>
            <a:ext cx="11557000" cy="785526"/>
            <a:chOff x="395515" y="5739099"/>
            <a:chExt cx="11393440" cy="707117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2717B530-C66F-61E8-FBA0-BC3A42601ED5}"/>
                </a:ext>
              </a:extLst>
            </p:cNvPr>
            <p:cNvSpPr/>
            <p:nvPr/>
          </p:nvSpPr>
          <p:spPr>
            <a:xfrm>
              <a:off x="395515" y="5739099"/>
              <a:ext cx="972000" cy="707117"/>
            </a:xfrm>
            <a:prstGeom prst="rect">
              <a:avLst/>
            </a:prstGeom>
            <a:solidFill>
              <a:srgbClr val="043B72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1200" b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+mn-ea"/>
                </a:rPr>
                <a:t>주요 </a:t>
              </a:r>
              <a:br>
                <a:rPr lang="en-US" altLang="ko-KR" sz="1200" b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+mn-ea"/>
                </a:rPr>
              </a:br>
              <a:r>
                <a:rPr lang="ko-KR" altLang="en-US" sz="1200" b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+mn-ea"/>
                </a:rPr>
                <a:t>현황</a:t>
              </a: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E70185D9-C86B-CD10-A896-5B2A5E0C3797}"/>
                </a:ext>
              </a:extLst>
            </p:cNvPr>
            <p:cNvSpPr/>
            <p:nvPr/>
          </p:nvSpPr>
          <p:spPr>
            <a:xfrm>
              <a:off x="1480121" y="5739099"/>
              <a:ext cx="3347999" cy="707117"/>
            </a:xfrm>
            <a:prstGeom prst="rect">
              <a:avLst/>
            </a:prstGeom>
            <a:pattFill prst="dkUpDiag">
              <a:fgClr>
                <a:schemeClr val="accent1">
                  <a:lumMod val="20000"/>
                  <a:lumOff val="80000"/>
                </a:schemeClr>
              </a:fgClr>
              <a:bgClr>
                <a:schemeClr val="bg1"/>
              </a:bgClr>
            </a:pattFill>
            <a:ln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72000" rtlCol="0" anchor="ctr"/>
            <a:lstStyle/>
            <a:p>
              <a:pPr marL="171450" indent="-17145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en-US" altLang="ko-KR" sz="1200">
                  <a:ln>
                    <a:solidFill>
                      <a:schemeClr val="accent2">
                        <a:lumMod val="60000"/>
                        <a:lumOff val="40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AI</a:t>
              </a:r>
              <a:r>
                <a:rPr lang="ko-KR" altLang="ko-KR" sz="1200">
                  <a:ln>
                    <a:solidFill>
                      <a:schemeClr val="accent2">
                        <a:lumMod val="60000"/>
                        <a:lumOff val="40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·</a:t>
              </a:r>
              <a:r>
                <a:rPr lang="en-US" altLang="ko-KR" sz="1200">
                  <a:ln>
                    <a:solidFill>
                      <a:schemeClr val="accent2">
                        <a:lumMod val="60000"/>
                        <a:lumOff val="40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DT </a:t>
              </a:r>
              <a:r>
                <a:rPr lang="ko-KR" altLang="en-US" sz="1200">
                  <a:ln>
                    <a:solidFill>
                      <a:schemeClr val="accent2">
                        <a:lumMod val="60000"/>
                        <a:lumOff val="40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추진그룹 대표 주도 下</a:t>
              </a:r>
              <a:r>
                <a:rPr lang="en-US" altLang="ko-KR" sz="1200">
                  <a:ln>
                    <a:solidFill>
                      <a:schemeClr val="accent2">
                        <a:lumMod val="60000"/>
                        <a:lumOff val="40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,</a:t>
              </a:r>
              <a:r>
                <a:rPr lang="ko-KR" altLang="en-US" sz="1200">
                  <a:ln>
                    <a:solidFill>
                      <a:schemeClr val="accent2">
                        <a:lumMod val="60000"/>
                        <a:lumOff val="40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 </a:t>
              </a:r>
              <a:r>
                <a:rPr lang="ko-KR" altLang="en-US" sz="1200" b="1" u="sng">
                  <a:ln>
                    <a:solidFill>
                      <a:schemeClr val="accent2">
                        <a:lumMod val="60000"/>
                        <a:lumOff val="40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全영역에서 </a:t>
              </a:r>
              <a:r>
                <a:rPr lang="en-US" altLang="ko-KR" sz="1200" b="1" u="sng">
                  <a:ln>
                    <a:solidFill>
                      <a:schemeClr val="accent2">
                        <a:lumMod val="60000"/>
                        <a:lumOff val="40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AI</a:t>
              </a:r>
              <a:r>
                <a:rPr lang="ko-KR" altLang="en-US" sz="1200" b="1" u="sng">
                  <a:ln>
                    <a:solidFill>
                      <a:schemeClr val="accent2">
                        <a:lumMod val="60000"/>
                        <a:lumOff val="40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거버넌스를 커버 中</a:t>
              </a: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FE3AB91D-FED5-40E1-74CC-C4CBCACBC9CA}"/>
                </a:ext>
              </a:extLst>
            </p:cNvPr>
            <p:cNvSpPr/>
            <p:nvPr/>
          </p:nvSpPr>
          <p:spPr>
            <a:xfrm>
              <a:off x="4960540" y="5739099"/>
              <a:ext cx="3347999" cy="707117"/>
            </a:xfrm>
            <a:prstGeom prst="rect">
              <a:avLst/>
            </a:prstGeom>
            <a:pattFill prst="dkUpDiag">
              <a:fgClr>
                <a:schemeClr val="accent1">
                  <a:lumMod val="20000"/>
                  <a:lumOff val="80000"/>
                </a:schemeClr>
              </a:fgClr>
              <a:bgClr>
                <a:schemeClr val="bg1"/>
              </a:bgClr>
            </a:pattFill>
            <a:ln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72000" rtlCol="0" anchor="ctr"/>
            <a:lstStyle/>
            <a:p>
              <a:pPr marL="171450" indent="-17145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ko-KR" altLang="en-US" sz="1200">
                  <a:ln>
                    <a:solidFill>
                      <a:schemeClr val="accent2">
                        <a:lumMod val="60000"/>
                        <a:lumOff val="40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협의체內 </a:t>
              </a:r>
              <a:r>
                <a:rPr lang="ko-KR" altLang="en-US" sz="1200" err="1">
                  <a:ln>
                    <a:solidFill>
                      <a:schemeClr val="accent2">
                        <a:lumMod val="60000"/>
                        <a:lumOff val="40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리스크부서와</a:t>
              </a:r>
              <a:r>
                <a:rPr lang="ko-KR" altLang="en-US" sz="1200">
                  <a:ln>
                    <a:solidFill>
                      <a:schemeClr val="accent2">
                        <a:lumMod val="60000"/>
                        <a:lumOff val="40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 </a:t>
              </a:r>
              <a:r>
                <a:rPr lang="en-US" altLang="ko-KR" sz="1200">
                  <a:ln>
                    <a:solidFill>
                      <a:schemeClr val="accent2">
                        <a:lumMod val="60000"/>
                        <a:lumOff val="40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IT</a:t>
              </a:r>
              <a:r>
                <a:rPr lang="ko-KR" altLang="en-US" sz="1200">
                  <a:ln>
                    <a:solidFill>
                      <a:schemeClr val="accent2">
                        <a:lumMod val="60000"/>
                        <a:lumOff val="40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시스템부서 부재로 </a:t>
              </a:r>
              <a:r>
                <a:rPr lang="ko-KR" altLang="en-US" sz="1200" b="1" u="sng">
                  <a:ln>
                    <a:solidFill>
                      <a:schemeClr val="accent2">
                        <a:lumMod val="60000"/>
                        <a:lumOff val="40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리스크 및 인프라 관련 위험 관리가 미흡함 </a:t>
              </a: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01865C9A-33E5-0BCE-36B0-F45911C9BCE1}"/>
                </a:ext>
              </a:extLst>
            </p:cNvPr>
            <p:cNvSpPr/>
            <p:nvPr/>
          </p:nvSpPr>
          <p:spPr>
            <a:xfrm>
              <a:off x="8440956" y="5739099"/>
              <a:ext cx="3347999" cy="707117"/>
            </a:xfrm>
            <a:prstGeom prst="rect">
              <a:avLst/>
            </a:prstGeom>
            <a:pattFill prst="dkUpDiag">
              <a:fgClr>
                <a:schemeClr val="accent1">
                  <a:lumMod val="20000"/>
                  <a:lumOff val="80000"/>
                </a:schemeClr>
              </a:fgClr>
              <a:bgClr>
                <a:schemeClr val="bg1"/>
              </a:bgClr>
            </a:pattFill>
            <a:ln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72000" rtlCol="0" anchor="ctr"/>
            <a:lstStyle/>
            <a:p>
              <a:pPr marL="171450" indent="-17145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ko-KR" altLang="en-US" sz="1200">
                  <a:ln>
                    <a:solidFill>
                      <a:schemeClr val="accent2">
                        <a:lumMod val="60000"/>
                        <a:lumOff val="40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사안별 성격과 필요에 따라 </a:t>
              </a:r>
              <a:r>
                <a:rPr lang="ko-KR" altLang="en-US" sz="1200" b="1" u="sng">
                  <a:ln>
                    <a:solidFill>
                      <a:schemeClr val="accent2">
                        <a:lumMod val="60000"/>
                        <a:lumOff val="40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구성원을 유연하게 조정함</a:t>
              </a:r>
            </a:p>
          </p:txBody>
        </p:sp>
      </p:grp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7B47408-3023-7A4E-CA90-20AFA50B99B2}"/>
              </a:ext>
            </a:extLst>
          </p:cNvPr>
          <p:cNvSpPr/>
          <p:nvPr/>
        </p:nvSpPr>
        <p:spPr>
          <a:xfrm>
            <a:off x="334963" y="2131881"/>
            <a:ext cx="985954" cy="307591"/>
          </a:xfrm>
          <a:prstGeom prst="rect">
            <a:avLst/>
          </a:prstGeom>
          <a:solidFill>
            <a:srgbClr val="F4B183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협의체명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5993797-ED76-D0BF-D8AD-6E5B1588678A}"/>
              </a:ext>
            </a:extLst>
          </p:cNvPr>
          <p:cNvSpPr/>
          <p:nvPr/>
        </p:nvSpPr>
        <p:spPr>
          <a:xfrm>
            <a:off x="334963" y="2489273"/>
            <a:ext cx="985954" cy="3093522"/>
          </a:xfrm>
          <a:prstGeom prst="rect">
            <a:avLst/>
          </a:prstGeom>
          <a:solidFill>
            <a:srgbClr val="F4B183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위원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784EB73-9DE8-2AA2-5469-85692320B888}"/>
              </a:ext>
            </a:extLst>
          </p:cNvPr>
          <p:cNvSpPr/>
          <p:nvPr/>
        </p:nvSpPr>
        <p:spPr>
          <a:xfrm>
            <a:off x="1435140" y="1717860"/>
            <a:ext cx="3396062" cy="374652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K</a:t>
            </a:r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은행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E8FDD2A-7553-7F27-9EF1-3DCF74C2A37C}"/>
              </a:ext>
            </a:extLst>
          </p:cNvPr>
          <p:cNvSpPr/>
          <p:nvPr/>
        </p:nvSpPr>
        <p:spPr>
          <a:xfrm>
            <a:off x="4965520" y="1717860"/>
            <a:ext cx="3396062" cy="374652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N</a:t>
            </a:r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은행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4E41D8B-71C7-A93F-A626-C1DB386D46C1}"/>
              </a:ext>
            </a:extLst>
          </p:cNvPr>
          <p:cNvSpPr/>
          <p:nvPr/>
        </p:nvSpPr>
        <p:spPr>
          <a:xfrm>
            <a:off x="8495901" y="1717860"/>
            <a:ext cx="3396062" cy="374652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M</a:t>
            </a:r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금고 </a:t>
            </a:r>
            <a:r>
              <a:rPr lang="en-US" altLang="ko-KR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(</a:t>
            </a:r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案</a:t>
            </a:r>
            <a:r>
              <a:rPr lang="en-US" altLang="ko-KR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)</a:t>
            </a:r>
            <a:endParaRPr lang="ko-KR" altLang="en-US" sz="1400" b="1">
              <a:ln>
                <a:solidFill>
                  <a:schemeClr val="bg1"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52238CF-EFE6-F97D-21D7-AFD36F11C285}"/>
              </a:ext>
            </a:extLst>
          </p:cNvPr>
          <p:cNvSpPr/>
          <p:nvPr/>
        </p:nvSpPr>
        <p:spPr>
          <a:xfrm>
            <a:off x="1435140" y="2143376"/>
            <a:ext cx="3396062" cy="299722"/>
          </a:xfrm>
          <a:prstGeom prst="rect">
            <a:avLst/>
          </a:prstGeom>
          <a:solidFill>
            <a:srgbClr val="C55A11"/>
          </a:solidFill>
          <a:ln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AI</a:t>
            </a:r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윤리위원회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8FB02AF-9113-EECE-CA53-C15BBF8F04BE}"/>
              </a:ext>
            </a:extLst>
          </p:cNvPr>
          <p:cNvSpPr/>
          <p:nvPr/>
        </p:nvSpPr>
        <p:spPr>
          <a:xfrm>
            <a:off x="1435140" y="3882237"/>
            <a:ext cx="3396062" cy="299722"/>
          </a:xfrm>
          <a:prstGeom prst="rect">
            <a:avLst/>
          </a:prstGeo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err="1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리스크관리그룹</a:t>
            </a:r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 대표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7B8E2C1-F89F-C99F-1748-6123411AF173}"/>
              </a:ext>
            </a:extLst>
          </p:cNvPr>
          <p:cNvSpPr/>
          <p:nvPr/>
        </p:nvSpPr>
        <p:spPr>
          <a:xfrm>
            <a:off x="1435140" y="4230479"/>
            <a:ext cx="3396062" cy="299722"/>
          </a:xfrm>
          <a:prstGeom prst="rect">
            <a:avLst/>
          </a:prstGeo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소비자보호그룹 대표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9D9F472-C1FE-9246-55E0-05514DA59538}"/>
              </a:ext>
            </a:extLst>
          </p:cNvPr>
          <p:cNvSpPr/>
          <p:nvPr/>
        </p:nvSpPr>
        <p:spPr>
          <a:xfrm>
            <a:off x="1435140" y="4578720"/>
            <a:ext cx="3396062" cy="299722"/>
          </a:xfrm>
          <a:prstGeom prst="rect">
            <a:avLst/>
          </a:prstGeo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err="1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테크인프라</a:t>
            </a:r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 본부장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1C40AEF-E8FA-1654-EC49-F7DD8FF58C8F}"/>
              </a:ext>
            </a:extLst>
          </p:cNvPr>
          <p:cNvSpPr/>
          <p:nvPr/>
        </p:nvSpPr>
        <p:spPr>
          <a:xfrm>
            <a:off x="1435140" y="4926962"/>
            <a:ext cx="3396062" cy="647965"/>
          </a:xfrm>
          <a:prstGeom prst="rect">
            <a:avLst/>
          </a:prstGeo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정보보호 본부장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661321E-0312-0858-6F4A-CFFC6768E6EB}"/>
              </a:ext>
            </a:extLst>
          </p:cNvPr>
          <p:cNvSpPr/>
          <p:nvPr/>
        </p:nvSpPr>
        <p:spPr>
          <a:xfrm>
            <a:off x="4965520" y="2141032"/>
            <a:ext cx="3396062" cy="299722"/>
          </a:xfrm>
          <a:prstGeom prst="rect">
            <a:avLst/>
          </a:prstGeom>
          <a:solidFill>
            <a:srgbClr val="C55A11"/>
          </a:solidFill>
          <a:ln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AI</a:t>
            </a:r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거버넌스 협의회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895694B-4B0E-FBE0-B358-EF8A2E61B86B}"/>
              </a:ext>
            </a:extLst>
          </p:cNvPr>
          <p:cNvSpPr/>
          <p:nvPr/>
        </p:nvSpPr>
        <p:spPr>
          <a:xfrm>
            <a:off x="4965520" y="3185755"/>
            <a:ext cx="3396062" cy="299722"/>
          </a:xfrm>
          <a:prstGeom prst="rect">
            <a:avLst/>
          </a:prstGeo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데이터 담당부서장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4464522-33CC-2F54-47B3-6AD60A6AB00C}"/>
              </a:ext>
            </a:extLst>
          </p:cNvPr>
          <p:cNvSpPr/>
          <p:nvPr/>
        </p:nvSpPr>
        <p:spPr>
          <a:xfrm>
            <a:off x="4965520" y="3533996"/>
            <a:ext cx="3396062" cy="299722"/>
          </a:xfrm>
          <a:prstGeom prst="rect">
            <a:avLst/>
          </a:prstGeo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IT</a:t>
            </a:r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기획 담당부서장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A1508DF-A4DF-B901-D87F-293016AE849D}"/>
              </a:ext>
            </a:extLst>
          </p:cNvPr>
          <p:cNvSpPr/>
          <p:nvPr/>
        </p:nvSpPr>
        <p:spPr>
          <a:xfrm>
            <a:off x="4965520" y="4230479"/>
            <a:ext cx="3396062" cy="299722"/>
          </a:xfrm>
          <a:prstGeom prst="rect">
            <a:avLst/>
          </a:prstGeo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소비자보호 담당부서장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9AA193F0-02CE-FAA3-2261-3946EB32000F}"/>
              </a:ext>
            </a:extLst>
          </p:cNvPr>
          <p:cNvSpPr/>
          <p:nvPr/>
        </p:nvSpPr>
        <p:spPr>
          <a:xfrm>
            <a:off x="4965520" y="4578720"/>
            <a:ext cx="3396062" cy="2997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solidFill>
                  <a:schemeClr val="bg1">
                    <a:lumMod val="65000"/>
                  </a:schemeClr>
                </a:solidFill>
                <a:latin typeface="+mn-ea"/>
              </a:rPr>
              <a:t>IT</a:t>
            </a:r>
            <a:r>
              <a:rPr lang="ko-KR" altLang="en-US" sz="1100">
                <a:solidFill>
                  <a:schemeClr val="bg1">
                    <a:lumMod val="65000"/>
                  </a:schemeClr>
                </a:solidFill>
                <a:latin typeface="+mn-ea"/>
              </a:rPr>
              <a:t>시스템부 담당부서장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C50FAA18-D929-4521-6EB2-40017946E1FE}"/>
              </a:ext>
            </a:extLst>
          </p:cNvPr>
          <p:cNvSpPr/>
          <p:nvPr/>
        </p:nvSpPr>
        <p:spPr>
          <a:xfrm>
            <a:off x="4965520" y="4926961"/>
            <a:ext cx="3396062" cy="299722"/>
          </a:xfrm>
          <a:prstGeom prst="rect">
            <a:avLst/>
          </a:prstGeo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정보보안 담당부서장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F026764-C9AB-406A-B025-BC28FFDB9499}"/>
              </a:ext>
            </a:extLst>
          </p:cNvPr>
          <p:cNvSpPr/>
          <p:nvPr/>
        </p:nvSpPr>
        <p:spPr>
          <a:xfrm>
            <a:off x="4965520" y="5275204"/>
            <a:ext cx="3396062" cy="299722"/>
          </a:xfrm>
          <a:prstGeom prst="rect">
            <a:avLst/>
          </a:prstGeo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고객정보보호 담당부서장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CDE3E62-B6D3-2BB1-93CD-30415E981296}"/>
              </a:ext>
            </a:extLst>
          </p:cNvPr>
          <p:cNvSpPr/>
          <p:nvPr/>
        </p:nvSpPr>
        <p:spPr>
          <a:xfrm>
            <a:off x="4965520" y="2837514"/>
            <a:ext cx="3396062" cy="299722"/>
          </a:xfrm>
          <a:prstGeom prst="rect">
            <a:avLst/>
          </a:prstGeo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디지털 전략사업 </a:t>
            </a:r>
            <a:r>
              <a:rPr lang="ko-KR" altLang="en-US" sz="1200" err="1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부문장</a:t>
            </a:r>
            <a:endParaRPr lang="ko-KR" altLang="en-US" sz="1200">
              <a:ln>
                <a:solidFill>
                  <a:schemeClr val="accent2">
                    <a:lumMod val="60000"/>
                    <a:lumOff val="40000"/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7BFFA728-955D-1C54-43DF-1C340EB8B9D4}"/>
              </a:ext>
            </a:extLst>
          </p:cNvPr>
          <p:cNvSpPr/>
          <p:nvPr/>
        </p:nvSpPr>
        <p:spPr>
          <a:xfrm>
            <a:off x="1435140" y="2837514"/>
            <a:ext cx="3396062" cy="982289"/>
          </a:xfrm>
          <a:prstGeom prst="rect">
            <a:avLst/>
          </a:prstGeo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AI</a:t>
            </a:r>
            <a:r>
              <a:rPr lang="ko-KR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·</a:t>
            </a: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DT </a:t>
            </a:r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추진그룹 대표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A85A2567-8472-BBD2-6280-C03FD1043CE2}"/>
              </a:ext>
            </a:extLst>
          </p:cNvPr>
          <p:cNvSpPr/>
          <p:nvPr/>
        </p:nvSpPr>
        <p:spPr>
          <a:xfrm>
            <a:off x="4965520" y="3882237"/>
            <a:ext cx="3396062" cy="2997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err="1">
                <a:solidFill>
                  <a:schemeClr val="bg1">
                    <a:lumMod val="65000"/>
                  </a:schemeClr>
                </a:solidFill>
                <a:latin typeface="+mn-ea"/>
              </a:rPr>
              <a:t>리스크관리</a:t>
            </a:r>
            <a:r>
              <a:rPr lang="ko-KR" altLang="en-US" sz="1100">
                <a:solidFill>
                  <a:schemeClr val="bg1">
                    <a:lumMod val="65000"/>
                  </a:schemeClr>
                </a:solidFill>
                <a:latin typeface="+mn-ea"/>
              </a:rPr>
              <a:t> 담당부서장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A7CBD9A-5AA1-CACD-25DC-1949C44B89FD}"/>
              </a:ext>
            </a:extLst>
          </p:cNvPr>
          <p:cNvSpPr/>
          <p:nvPr/>
        </p:nvSpPr>
        <p:spPr>
          <a:xfrm>
            <a:off x="8495901" y="2835169"/>
            <a:ext cx="3396062" cy="2747625"/>
          </a:xfrm>
          <a:prstGeom prst="rect">
            <a:avLst/>
          </a:prstGeo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유연하게 안건에 따라</a:t>
            </a: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,</a:t>
            </a:r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 </a:t>
            </a:r>
            <a:b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</a:br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협의체 위원을 조정 구성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C2FD3386-305E-7E29-D9D3-165BFAE88912}"/>
              </a:ext>
            </a:extLst>
          </p:cNvPr>
          <p:cNvGrpSpPr/>
          <p:nvPr/>
        </p:nvGrpSpPr>
        <p:grpSpPr>
          <a:xfrm>
            <a:off x="2987101" y="5636291"/>
            <a:ext cx="7352883" cy="37465"/>
            <a:chOff x="3137123" y="5667572"/>
            <a:chExt cx="7248833" cy="72000"/>
          </a:xfrm>
          <a:solidFill>
            <a:srgbClr val="043B72"/>
          </a:solidFill>
        </p:grpSpPr>
        <p:sp>
          <p:nvSpPr>
            <p:cNvPr id="50" name="이등변 삼각형 49">
              <a:extLst>
                <a:ext uri="{FF2B5EF4-FFF2-40B4-BE49-F238E27FC236}">
                  <a16:creationId xmlns:a16="http://schemas.microsoft.com/office/drawing/2014/main" id="{2183B20B-3796-A342-9A76-886E4A175380}"/>
                </a:ext>
              </a:extLst>
            </p:cNvPr>
            <p:cNvSpPr/>
            <p:nvPr/>
          </p:nvSpPr>
          <p:spPr>
            <a:xfrm rot="10800000">
              <a:off x="3137123" y="5667572"/>
              <a:ext cx="288000" cy="72000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51" name="이등변 삼각형 50">
              <a:extLst>
                <a:ext uri="{FF2B5EF4-FFF2-40B4-BE49-F238E27FC236}">
                  <a16:creationId xmlns:a16="http://schemas.microsoft.com/office/drawing/2014/main" id="{9BCA3663-C071-4B00-513C-BED6C8B9861B}"/>
                </a:ext>
              </a:extLst>
            </p:cNvPr>
            <p:cNvSpPr/>
            <p:nvPr/>
          </p:nvSpPr>
          <p:spPr>
            <a:xfrm rot="10800000">
              <a:off x="6617540" y="5667572"/>
              <a:ext cx="288000" cy="72000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52" name="이등변 삼각형 51">
              <a:extLst>
                <a:ext uri="{FF2B5EF4-FFF2-40B4-BE49-F238E27FC236}">
                  <a16:creationId xmlns:a16="http://schemas.microsoft.com/office/drawing/2014/main" id="{98AAD1E1-5A2B-CC53-6EF4-D1B6F4A4E3F8}"/>
                </a:ext>
              </a:extLst>
            </p:cNvPr>
            <p:cNvSpPr/>
            <p:nvPr/>
          </p:nvSpPr>
          <p:spPr>
            <a:xfrm rot="10800000">
              <a:off x="10097956" y="5667572"/>
              <a:ext cx="288000" cy="72000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9B8F58B5-A22A-4B97-6748-D7CEDDC5F286}"/>
              </a:ext>
            </a:extLst>
          </p:cNvPr>
          <p:cNvGrpSpPr/>
          <p:nvPr/>
        </p:nvGrpSpPr>
        <p:grpSpPr>
          <a:xfrm>
            <a:off x="2545015" y="1768615"/>
            <a:ext cx="258935" cy="265660"/>
            <a:chOff x="2444115" y="2050000"/>
            <a:chExt cx="255270" cy="255270"/>
          </a:xfrm>
        </p:grpSpPr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5303180B-AB1A-C26F-D6A1-DEC8576C1D51}"/>
                </a:ext>
              </a:extLst>
            </p:cNvPr>
            <p:cNvSpPr/>
            <p:nvPr/>
          </p:nvSpPr>
          <p:spPr>
            <a:xfrm>
              <a:off x="2444115" y="2050000"/>
              <a:ext cx="255270" cy="255270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pic>
          <p:nvPicPr>
            <p:cNvPr id="49" name="Picture 2" descr="KB 국민 로고 소개 (ai파일)">
              <a:extLst>
                <a:ext uri="{FF2B5EF4-FFF2-40B4-BE49-F238E27FC236}">
                  <a16:creationId xmlns:a16="http://schemas.microsoft.com/office/drawing/2014/main" id="{9DB28EB3-9DB9-9BA6-FF2B-3F86A4A5286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clrChange>
                <a:clrFrom>
                  <a:srgbClr val="F9F9F9"/>
                </a:clrFrom>
                <a:clrTo>
                  <a:srgbClr val="F9F9F9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054" t="22190" r="23617" b="22050"/>
            <a:stretch>
              <a:fillRect/>
            </a:stretch>
          </p:blipFill>
          <p:spPr bwMode="auto">
            <a:xfrm>
              <a:off x="2460307" y="2099433"/>
              <a:ext cx="222885" cy="1607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29DA48B1-92DE-57A6-1DF8-CE2D795EFBD3}"/>
              </a:ext>
            </a:extLst>
          </p:cNvPr>
          <p:cNvGrpSpPr/>
          <p:nvPr/>
        </p:nvGrpSpPr>
        <p:grpSpPr>
          <a:xfrm>
            <a:off x="6043250" y="1768615"/>
            <a:ext cx="263337" cy="265660"/>
            <a:chOff x="5892841" y="2046405"/>
            <a:chExt cx="259610" cy="255270"/>
          </a:xfrm>
        </p:grpSpPr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C1F59CA1-F9D1-756D-E20F-466832876349}"/>
                </a:ext>
              </a:extLst>
            </p:cNvPr>
            <p:cNvSpPr/>
            <p:nvPr/>
          </p:nvSpPr>
          <p:spPr>
            <a:xfrm>
              <a:off x="5895276" y="2046405"/>
              <a:ext cx="255270" cy="255270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pic>
          <p:nvPicPr>
            <p:cNvPr id="47" name="Picture 4" descr="NH농협 CI 소개 (ai파일)">
              <a:extLst>
                <a:ext uri="{FF2B5EF4-FFF2-40B4-BE49-F238E27FC236}">
                  <a16:creationId xmlns:a16="http://schemas.microsoft.com/office/drawing/2014/main" id="{6566B279-DDFB-2AA5-F6D5-0EBF87966C4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212" t="29692" r="20987" b="30247"/>
            <a:stretch>
              <a:fillRect/>
            </a:stretch>
          </p:blipFill>
          <p:spPr bwMode="auto">
            <a:xfrm>
              <a:off x="5892841" y="2109480"/>
              <a:ext cx="259610" cy="12475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9C70F0F0-CF19-F62C-CEC9-E27CA2F2489E}"/>
              </a:ext>
            </a:extLst>
          </p:cNvPr>
          <p:cNvGrpSpPr/>
          <p:nvPr/>
        </p:nvGrpSpPr>
        <p:grpSpPr>
          <a:xfrm>
            <a:off x="9325841" y="1768615"/>
            <a:ext cx="258935" cy="265660"/>
            <a:chOff x="9243276" y="2046405"/>
            <a:chExt cx="255270" cy="255270"/>
          </a:xfrm>
        </p:grpSpPr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349FE3E6-B255-CCA1-3BC0-9ACCE30235FA}"/>
                </a:ext>
              </a:extLst>
            </p:cNvPr>
            <p:cNvSpPr/>
            <p:nvPr/>
          </p:nvSpPr>
          <p:spPr>
            <a:xfrm>
              <a:off x="9243276" y="2046405"/>
              <a:ext cx="255270" cy="255270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pic>
          <p:nvPicPr>
            <p:cNvPr id="45" name="Picture 6" descr="MG손보 손절수순에…MG새마을금고 “상표권 계약 해지추진” - 매일경제">
              <a:extLst>
                <a:ext uri="{FF2B5EF4-FFF2-40B4-BE49-F238E27FC236}">
                  <a16:creationId xmlns:a16="http://schemas.microsoft.com/office/drawing/2014/main" id="{08A0527A-EE44-E1A9-3EB3-1E1BAE2B934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760" t="3390" r="22832" b="30791"/>
            <a:stretch>
              <a:fillRect/>
            </a:stretch>
          </p:blipFill>
          <p:spPr bwMode="auto">
            <a:xfrm>
              <a:off x="9255766" y="2065794"/>
              <a:ext cx="230289" cy="20069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57C7AC18-DB19-DBD0-315F-31C0AB96C023}"/>
              </a:ext>
            </a:extLst>
          </p:cNvPr>
          <p:cNvSpPr/>
          <p:nvPr/>
        </p:nvSpPr>
        <p:spPr>
          <a:xfrm>
            <a:off x="334963" y="1717860"/>
            <a:ext cx="965859" cy="374652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구분</a:t>
            </a:r>
          </a:p>
        </p:txBody>
      </p:sp>
      <p:sp>
        <p:nvSpPr>
          <p:cNvPr id="37" name="Freeform 1754">
            <a:extLst>
              <a:ext uri="{FF2B5EF4-FFF2-40B4-BE49-F238E27FC236}">
                <a16:creationId xmlns:a16="http://schemas.microsoft.com/office/drawing/2014/main" id="{40726EFD-F8C3-8D0E-BB72-1B1EA74E7B09}"/>
              </a:ext>
            </a:extLst>
          </p:cNvPr>
          <p:cNvSpPr>
            <a:spLocks noChangeAspect="1"/>
          </p:cNvSpPr>
          <p:nvPr/>
        </p:nvSpPr>
        <p:spPr bwMode="gray">
          <a:xfrm>
            <a:off x="1435140" y="2837514"/>
            <a:ext cx="306968" cy="270540"/>
          </a:xfrm>
          <a:custGeom>
            <a:avLst/>
            <a:gdLst>
              <a:gd name="T0" fmla="*/ 2147483646 w 4916"/>
              <a:gd name="T1" fmla="*/ 2147483646 h 3388"/>
              <a:gd name="T2" fmla="*/ 2147483646 w 4916"/>
              <a:gd name="T3" fmla="*/ 2147483646 h 3388"/>
              <a:gd name="T4" fmla="*/ 2147483646 w 4916"/>
              <a:gd name="T5" fmla="*/ 2147483646 h 3388"/>
              <a:gd name="T6" fmla="*/ 2147483646 w 4916"/>
              <a:gd name="T7" fmla="*/ 2147483646 h 3388"/>
              <a:gd name="T8" fmla="*/ 2147483646 w 4916"/>
              <a:gd name="T9" fmla="*/ 2147483646 h 3388"/>
              <a:gd name="T10" fmla="*/ 2147483646 w 4916"/>
              <a:gd name="T11" fmla="*/ 2147483646 h 3388"/>
              <a:gd name="T12" fmla="*/ 2147483646 w 4916"/>
              <a:gd name="T13" fmla="*/ 2147483646 h 3388"/>
              <a:gd name="T14" fmla="*/ 2147483646 w 4916"/>
              <a:gd name="T15" fmla="*/ 2147483646 h 3388"/>
              <a:gd name="T16" fmla="*/ 2147483646 w 4916"/>
              <a:gd name="T17" fmla="*/ 2147483646 h 3388"/>
              <a:gd name="T18" fmla="*/ 2147483646 w 4916"/>
              <a:gd name="T19" fmla="*/ 2147483646 h 3388"/>
              <a:gd name="T20" fmla="*/ 2147483646 w 4916"/>
              <a:gd name="T21" fmla="*/ 2147483646 h 3388"/>
              <a:gd name="T22" fmla="*/ 2147483646 w 4916"/>
              <a:gd name="T23" fmla="*/ 2147483646 h 3388"/>
              <a:gd name="T24" fmla="*/ 2147483646 w 4916"/>
              <a:gd name="T25" fmla="*/ 2147483646 h 3388"/>
              <a:gd name="T26" fmla="*/ 2147483646 w 4916"/>
              <a:gd name="T27" fmla="*/ 2147483646 h 3388"/>
              <a:gd name="T28" fmla="*/ 2147483646 w 4916"/>
              <a:gd name="T29" fmla="*/ 2147483646 h 3388"/>
              <a:gd name="T30" fmla="*/ 2147483646 w 4916"/>
              <a:gd name="T31" fmla="*/ 2147483646 h 3388"/>
              <a:gd name="T32" fmla="*/ 2147483646 w 4916"/>
              <a:gd name="T33" fmla="*/ 2147483646 h 3388"/>
              <a:gd name="T34" fmla="*/ 2147483646 w 4916"/>
              <a:gd name="T35" fmla="*/ 2147483646 h 3388"/>
              <a:gd name="T36" fmla="*/ 2147483646 w 4916"/>
              <a:gd name="T37" fmla="*/ 2147483646 h 3388"/>
              <a:gd name="T38" fmla="*/ 2147483646 w 4916"/>
              <a:gd name="T39" fmla="*/ 2147483646 h 3388"/>
              <a:gd name="T40" fmla="*/ 2147483646 w 4916"/>
              <a:gd name="T41" fmla="*/ 2147483646 h 3388"/>
              <a:gd name="T42" fmla="*/ 2147483646 w 4916"/>
              <a:gd name="T43" fmla="*/ 2147483646 h 3388"/>
              <a:gd name="T44" fmla="*/ 2147483646 w 4916"/>
              <a:gd name="T45" fmla="*/ 2147483646 h 3388"/>
              <a:gd name="T46" fmla="*/ 2147483646 w 4916"/>
              <a:gd name="T47" fmla="*/ 2147483646 h 3388"/>
              <a:gd name="T48" fmla="*/ 2147483646 w 4916"/>
              <a:gd name="T49" fmla="*/ 2147483646 h 3388"/>
              <a:gd name="T50" fmla="*/ 2147483646 w 4916"/>
              <a:gd name="T51" fmla="*/ 2147483646 h 3388"/>
              <a:gd name="T52" fmla="*/ 2147483646 w 4916"/>
              <a:gd name="T53" fmla="*/ 2147483646 h 3388"/>
              <a:gd name="T54" fmla="*/ 2147483646 w 4916"/>
              <a:gd name="T55" fmla="*/ 2147483646 h 3388"/>
              <a:gd name="T56" fmla="*/ 2147483646 w 4916"/>
              <a:gd name="T57" fmla="*/ 2147483646 h 3388"/>
              <a:gd name="T58" fmla="*/ 2147483646 w 4916"/>
              <a:gd name="T59" fmla="*/ 2147483646 h 3388"/>
              <a:gd name="T60" fmla="*/ 2147483646 w 4916"/>
              <a:gd name="T61" fmla="*/ 2147483646 h 3388"/>
              <a:gd name="T62" fmla="*/ 2147483646 w 4916"/>
              <a:gd name="T63" fmla="*/ 2147483646 h 3388"/>
              <a:gd name="T64" fmla="*/ 2147483646 w 4916"/>
              <a:gd name="T65" fmla="*/ 2147483646 h 3388"/>
              <a:gd name="T66" fmla="*/ 2147483646 w 4916"/>
              <a:gd name="T67" fmla="*/ 2147483646 h 3388"/>
              <a:gd name="T68" fmla="*/ 2147483646 w 4916"/>
              <a:gd name="T69" fmla="*/ 2147483646 h 3388"/>
              <a:gd name="T70" fmla="*/ 2147483646 w 4916"/>
              <a:gd name="T71" fmla="*/ 2147483646 h 3388"/>
              <a:gd name="T72" fmla="*/ 2147483646 w 4916"/>
              <a:gd name="T73" fmla="*/ 2147483646 h 3388"/>
              <a:gd name="T74" fmla="*/ 2147483646 w 4916"/>
              <a:gd name="T75" fmla="*/ 2147483646 h 3388"/>
              <a:gd name="T76" fmla="*/ 2147483646 w 4916"/>
              <a:gd name="T77" fmla="*/ 2147483646 h 3388"/>
              <a:gd name="T78" fmla="*/ 2147483646 w 4916"/>
              <a:gd name="T79" fmla="*/ 2147483646 h 3388"/>
              <a:gd name="T80" fmla="*/ 2147483646 w 4916"/>
              <a:gd name="T81" fmla="*/ 2147483646 h 3388"/>
              <a:gd name="T82" fmla="*/ 2147483646 w 4916"/>
              <a:gd name="T83" fmla="*/ 2147483646 h 3388"/>
              <a:gd name="T84" fmla="*/ 2147483646 w 4916"/>
              <a:gd name="T85" fmla="*/ 2147483646 h 3388"/>
              <a:gd name="T86" fmla="*/ 2147483646 w 4916"/>
              <a:gd name="T87" fmla="*/ 2147483646 h 3388"/>
              <a:gd name="T88" fmla="*/ 2147483646 w 4916"/>
              <a:gd name="T89" fmla="*/ 2147483646 h 3388"/>
              <a:gd name="T90" fmla="*/ 2147483646 w 4916"/>
              <a:gd name="T91" fmla="*/ 2147483646 h 3388"/>
              <a:gd name="T92" fmla="*/ 2147483646 w 4916"/>
              <a:gd name="T93" fmla="*/ 2147483646 h 3388"/>
              <a:gd name="T94" fmla="*/ 2147483646 w 4916"/>
              <a:gd name="T95" fmla="*/ 2147483646 h 3388"/>
              <a:gd name="T96" fmla="*/ 2147483646 w 4916"/>
              <a:gd name="T97" fmla="*/ 2147483646 h 3388"/>
              <a:gd name="T98" fmla="*/ 2147483646 w 4916"/>
              <a:gd name="T99" fmla="*/ 2147483646 h 3388"/>
              <a:gd name="T100" fmla="*/ 2147483646 w 4916"/>
              <a:gd name="T101" fmla="*/ 2147483646 h 3388"/>
              <a:gd name="T102" fmla="*/ 2147483646 w 4916"/>
              <a:gd name="T103" fmla="*/ 2147483646 h 3388"/>
              <a:gd name="T104" fmla="*/ 2147483646 w 4916"/>
              <a:gd name="T105" fmla="*/ 2147483646 h 3388"/>
              <a:gd name="T106" fmla="*/ 2147483646 w 4916"/>
              <a:gd name="T107" fmla="*/ 2147483646 h 3388"/>
              <a:gd name="T108" fmla="*/ 2147483646 w 4916"/>
              <a:gd name="T109" fmla="*/ 2147483646 h 3388"/>
              <a:gd name="T110" fmla="*/ 2147483646 w 4916"/>
              <a:gd name="T111" fmla="*/ 2147483646 h 3388"/>
              <a:gd name="T112" fmla="*/ 2147483646 w 4916"/>
              <a:gd name="T113" fmla="*/ 2147483646 h 3388"/>
              <a:gd name="T114" fmla="*/ 2147483646 w 4916"/>
              <a:gd name="T115" fmla="*/ 2147483646 h 3388"/>
              <a:gd name="T116" fmla="*/ 2147483646 w 4916"/>
              <a:gd name="T117" fmla="*/ 2147483646 h 3388"/>
              <a:gd name="T118" fmla="*/ 2147483646 w 4916"/>
              <a:gd name="T119" fmla="*/ 2147483646 h 3388"/>
              <a:gd name="T120" fmla="*/ 2147483646 w 4916"/>
              <a:gd name="T121" fmla="*/ 2147483646 h 3388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w 4916"/>
              <a:gd name="T184" fmla="*/ 0 h 3388"/>
              <a:gd name="T185" fmla="*/ 4916 w 4916"/>
              <a:gd name="T186" fmla="*/ 3388 h 3388"/>
            </a:gdLst>
            <a:ahLst/>
            <a:cxnLst>
              <a:cxn ang="T122">
                <a:pos x="T0" y="T1"/>
              </a:cxn>
              <a:cxn ang="T123">
                <a:pos x="T2" y="T3"/>
              </a:cxn>
              <a:cxn ang="T124">
                <a:pos x="T4" y="T5"/>
              </a:cxn>
              <a:cxn ang="T125">
                <a:pos x="T6" y="T7"/>
              </a:cxn>
              <a:cxn ang="T126">
                <a:pos x="T8" y="T9"/>
              </a:cxn>
              <a:cxn ang="T127">
                <a:pos x="T10" y="T11"/>
              </a:cxn>
              <a:cxn ang="T128">
                <a:pos x="T12" y="T13"/>
              </a:cxn>
              <a:cxn ang="T129">
                <a:pos x="T14" y="T15"/>
              </a:cxn>
              <a:cxn ang="T130">
                <a:pos x="T16" y="T17"/>
              </a:cxn>
              <a:cxn ang="T131">
                <a:pos x="T18" y="T19"/>
              </a:cxn>
              <a:cxn ang="T132">
                <a:pos x="T20" y="T21"/>
              </a:cxn>
              <a:cxn ang="T133">
                <a:pos x="T22" y="T23"/>
              </a:cxn>
              <a:cxn ang="T134">
                <a:pos x="T24" y="T25"/>
              </a:cxn>
              <a:cxn ang="T135">
                <a:pos x="T26" y="T27"/>
              </a:cxn>
              <a:cxn ang="T136">
                <a:pos x="T28" y="T29"/>
              </a:cxn>
              <a:cxn ang="T137">
                <a:pos x="T30" y="T31"/>
              </a:cxn>
              <a:cxn ang="T138">
                <a:pos x="T32" y="T33"/>
              </a:cxn>
              <a:cxn ang="T139">
                <a:pos x="T34" y="T35"/>
              </a:cxn>
              <a:cxn ang="T140">
                <a:pos x="T36" y="T37"/>
              </a:cxn>
              <a:cxn ang="T141">
                <a:pos x="T38" y="T39"/>
              </a:cxn>
              <a:cxn ang="T142">
                <a:pos x="T40" y="T41"/>
              </a:cxn>
              <a:cxn ang="T143">
                <a:pos x="T42" y="T43"/>
              </a:cxn>
              <a:cxn ang="T144">
                <a:pos x="T44" y="T45"/>
              </a:cxn>
              <a:cxn ang="T145">
                <a:pos x="T46" y="T47"/>
              </a:cxn>
              <a:cxn ang="T146">
                <a:pos x="T48" y="T49"/>
              </a:cxn>
              <a:cxn ang="T147">
                <a:pos x="T50" y="T51"/>
              </a:cxn>
              <a:cxn ang="T148">
                <a:pos x="T52" y="T53"/>
              </a:cxn>
              <a:cxn ang="T149">
                <a:pos x="T54" y="T55"/>
              </a:cxn>
              <a:cxn ang="T150">
                <a:pos x="T56" y="T57"/>
              </a:cxn>
              <a:cxn ang="T151">
                <a:pos x="T58" y="T59"/>
              </a:cxn>
              <a:cxn ang="T152">
                <a:pos x="T60" y="T61"/>
              </a:cxn>
              <a:cxn ang="T153">
                <a:pos x="T62" y="T63"/>
              </a:cxn>
              <a:cxn ang="T154">
                <a:pos x="T64" y="T65"/>
              </a:cxn>
              <a:cxn ang="T155">
                <a:pos x="T66" y="T67"/>
              </a:cxn>
              <a:cxn ang="T156">
                <a:pos x="T68" y="T69"/>
              </a:cxn>
              <a:cxn ang="T157">
                <a:pos x="T70" y="T71"/>
              </a:cxn>
              <a:cxn ang="T158">
                <a:pos x="T72" y="T73"/>
              </a:cxn>
              <a:cxn ang="T159">
                <a:pos x="T74" y="T75"/>
              </a:cxn>
              <a:cxn ang="T160">
                <a:pos x="T76" y="T77"/>
              </a:cxn>
              <a:cxn ang="T161">
                <a:pos x="T78" y="T79"/>
              </a:cxn>
              <a:cxn ang="T162">
                <a:pos x="T80" y="T81"/>
              </a:cxn>
              <a:cxn ang="T163">
                <a:pos x="T82" y="T83"/>
              </a:cxn>
              <a:cxn ang="T164">
                <a:pos x="T84" y="T85"/>
              </a:cxn>
              <a:cxn ang="T165">
                <a:pos x="T86" y="T87"/>
              </a:cxn>
              <a:cxn ang="T166">
                <a:pos x="T88" y="T89"/>
              </a:cxn>
              <a:cxn ang="T167">
                <a:pos x="T90" y="T91"/>
              </a:cxn>
              <a:cxn ang="T168">
                <a:pos x="T92" y="T93"/>
              </a:cxn>
              <a:cxn ang="T169">
                <a:pos x="T94" y="T95"/>
              </a:cxn>
              <a:cxn ang="T170">
                <a:pos x="T96" y="T97"/>
              </a:cxn>
              <a:cxn ang="T171">
                <a:pos x="T98" y="T99"/>
              </a:cxn>
              <a:cxn ang="T172">
                <a:pos x="T100" y="T101"/>
              </a:cxn>
              <a:cxn ang="T173">
                <a:pos x="T102" y="T103"/>
              </a:cxn>
              <a:cxn ang="T174">
                <a:pos x="T104" y="T105"/>
              </a:cxn>
              <a:cxn ang="T175">
                <a:pos x="T106" y="T107"/>
              </a:cxn>
              <a:cxn ang="T176">
                <a:pos x="T108" y="T109"/>
              </a:cxn>
              <a:cxn ang="T177">
                <a:pos x="T110" y="T111"/>
              </a:cxn>
              <a:cxn ang="T178">
                <a:pos x="T112" y="T113"/>
              </a:cxn>
              <a:cxn ang="T179">
                <a:pos x="T114" y="T115"/>
              </a:cxn>
              <a:cxn ang="T180">
                <a:pos x="T116" y="T117"/>
              </a:cxn>
              <a:cxn ang="T181">
                <a:pos x="T118" y="T119"/>
              </a:cxn>
              <a:cxn ang="T182">
                <a:pos x="T120" y="T121"/>
              </a:cxn>
            </a:cxnLst>
            <a:rect l="T183" t="T184" r="T185" b="T186"/>
            <a:pathLst>
              <a:path w="4916" h="3388">
                <a:moveTo>
                  <a:pt x="0" y="1792"/>
                </a:moveTo>
                <a:lnTo>
                  <a:pt x="12" y="1808"/>
                </a:lnTo>
                <a:lnTo>
                  <a:pt x="25" y="1823"/>
                </a:lnTo>
                <a:lnTo>
                  <a:pt x="38" y="1838"/>
                </a:lnTo>
                <a:lnTo>
                  <a:pt x="53" y="1853"/>
                </a:lnTo>
                <a:lnTo>
                  <a:pt x="68" y="1867"/>
                </a:lnTo>
                <a:lnTo>
                  <a:pt x="83" y="1883"/>
                </a:lnTo>
                <a:lnTo>
                  <a:pt x="100" y="1897"/>
                </a:lnTo>
                <a:lnTo>
                  <a:pt x="116" y="1911"/>
                </a:lnTo>
                <a:lnTo>
                  <a:pt x="131" y="1927"/>
                </a:lnTo>
                <a:lnTo>
                  <a:pt x="148" y="1941"/>
                </a:lnTo>
                <a:lnTo>
                  <a:pt x="162" y="1955"/>
                </a:lnTo>
                <a:lnTo>
                  <a:pt x="178" y="1971"/>
                </a:lnTo>
                <a:lnTo>
                  <a:pt x="193" y="1985"/>
                </a:lnTo>
                <a:lnTo>
                  <a:pt x="206" y="2000"/>
                </a:lnTo>
                <a:lnTo>
                  <a:pt x="219" y="2014"/>
                </a:lnTo>
                <a:lnTo>
                  <a:pt x="231" y="2030"/>
                </a:lnTo>
                <a:lnTo>
                  <a:pt x="244" y="2058"/>
                </a:lnTo>
                <a:lnTo>
                  <a:pt x="261" y="2080"/>
                </a:lnTo>
                <a:lnTo>
                  <a:pt x="281" y="2098"/>
                </a:lnTo>
                <a:lnTo>
                  <a:pt x="301" y="2114"/>
                </a:lnTo>
                <a:lnTo>
                  <a:pt x="322" y="2129"/>
                </a:lnTo>
                <a:lnTo>
                  <a:pt x="342" y="2148"/>
                </a:lnTo>
                <a:lnTo>
                  <a:pt x="359" y="2169"/>
                </a:lnTo>
                <a:lnTo>
                  <a:pt x="375" y="2195"/>
                </a:lnTo>
                <a:lnTo>
                  <a:pt x="391" y="2223"/>
                </a:lnTo>
                <a:lnTo>
                  <a:pt x="415" y="2256"/>
                </a:lnTo>
                <a:lnTo>
                  <a:pt x="441" y="2294"/>
                </a:lnTo>
                <a:lnTo>
                  <a:pt x="471" y="2333"/>
                </a:lnTo>
                <a:lnTo>
                  <a:pt x="501" y="2373"/>
                </a:lnTo>
                <a:lnTo>
                  <a:pt x="527" y="2409"/>
                </a:lnTo>
                <a:lnTo>
                  <a:pt x="551" y="2442"/>
                </a:lnTo>
                <a:lnTo>
                  <a:pt x="569" y="2469"/>
                </a:lnTo>
                <a:lnTo>
                  <a:pt x="580" y="2492"/>
                </a:lnTo>
                <a:lnTo>
                  <a:pt x="597" y="2519"/>
                </a:lnTo>
                <a:lnTo>
                  <a:pt x="616" y="2552"/>
                </a:lnTo>
                <a:lnTo>
                  <a:pt x="638" y="2586"/>
                </a:lnTo>
                <a:lnTo>
                  <a:pt x="663" y="2626"/>
                </a:lnTo>
                <a:lnTo>
                  <a:pt x="689" y="2666"/>
                </a:lnTo>
                <a:lnTo>
                  <a:pt x="717" y="2708"/>
                </a:lnTo>
                <a:lnTo>
                  <a:pt x="747" y="2752"/>
                </a:lnTo>
                <a:lnTo>
                  <a:pt x="775" y="2794"/>
                </a:lnTo>
                <a:lnTo>
                  <a:pt x="803" y="2838"/>
                </a:lnTo>
                <a:lnTo>
                  <a:pt x="830" y="2878"/>
                </a:lnTo>
                <a:lnTo>
                  <a:pt x="855" y="2916"/>
                </a:lnTo>
                <a:lnTo>
                  <a:pt x="878" y="2952"/>
                </a:lnTo>
                <a:lnTo>
                  <a:pt x="897" y="2983"/>
                </a:lnTo>
                <a:lnTo>
                  <a:pt x="914" y="3011"/>
                </a:lnTo>
                <a:lnTo>
                  <a:pt x="926" y="3032"/>
                </a:lnTo>
                <a:lnTo>
                  <a:pt x="937" y="3034"/>
                </a:lnTo>
                <a:lnTo>
                  <a:pt x="946" y="3035"/>
                </a:lnTo>
                <a:lnTo>
                  <a:pt x="957" y="3037"/>
                </a:lnTo>
                <a:lnTo>
                  <a:pt x="966" y="3039"/>
                </a:lnTo>
                <a:lnTo>
                  <a:pt x="977" y="3039"/>
                </a:lnTo>
                <a:lnTo>
                  <a:pt x="987" y="3042"/>
                </a:lnTo>
                <a:lnTo>
                  <a:pt x="997" y="3043"/>
                </a:lnTo>
                <a:lnTo>
                  <a:pt x="1007" y="3045"/>
                </a:lnTo>
                <a:lnTo>
                  <a:pt x="1009" y="3055"/>
                </a:lnTo>
                <a:lnTo>
                  <a:pt x="1012" y="3064"/>
                </a:lnTo>
                <a:lnTo>
                  <a:pt x="1014" y="3073"/>
                </a:lnTo>
                <a:lnTo>
                  <a:pt x="1016" y="3083"/>
                </a:lnTo>
                <a:lnTo>
                  <a:pt x="1025" y="3083"/>
                </a:lnTo>
                <a:lnTo>
                  <a:pt x="1033" y="3085"/>
                </a:lnTo>
                <a:lnTo>
                  <a:pt x="1043" y="3086"/>
                </a:lnTo>
                <a:lnTo>
                  <a:pt x="1052" y="3087"/>
                </a:lnTo>
                <a:lnTo>
                  <a:pt x="1060" y="3090"/>
                </a:lnTo>
                <a:lnTo>
                  <a:pt x="1069" y="3091"/>
                </a:lnTo>
                <a:lnTo>
                  <a:pt x="1079" y="3092"/>
                </a:lnTo>
                <a:lnTo>
                  <a:pt x="1088" y="3093"/>
                </a:lnTo>
                <a:lnTo>
                  <a:pt x="1104" y="3103"/>
                </a:lnTo>
                <a:lnTo>
                  <a:pt x="1121" y="3113"/>
                </a:lnTo>
                <a:lnTo>
                  <a:pt x="1137" y="3121"/>
                </a:lnTo>
                <a:lnTo>
                  <a:pt x="1152" y="3130"/>
                </a:lnTo>
                <a:lnTo>
                  <a:pt x="1168" y="3139"/>
                </a:lnTo>
                <a:lnTo>
                  <a:pt x="1185" y="3147"/>
                </a:lnTo>
                <a:lnTo>
                  <a:pt x="1202" y="3156"/>
                </a:lnTo>
                <a:lnTo>
                  <a:pt x="1217" y="3165"/>
                </a:lnTo>
                <a:lnTo>
                  <a:pt x="1229" y="3166"/>
                </a:lnTo>
                <a:lnTo>
                  <a:pt x="1240" y="3167"/>
                </a:lnTo>
                <a:lnTo>
                  <a:pt x="1251" y="3169"/>
                </a:lnTo>
                <a:lnTo>
                  <a:pt x="1262" y="3170"/>
                </a:lnTo>
                <a:lnTo>
                  <a:pt x="1274" y="3170"/>
                </a:lnTo>
                <a:lnTo>
                  <a:pt x="1285" y="3171"/>
                </a:lnTo>
                <a:lnTo>
                  <a:pt x="1297" y="3172"/>
                </a:lnTo>
                <a:lnTo>
                  <a:pt x="1308" y="3172"/>
                </a:lnTo>
                <a:lnTo>
                  <a:pt x="1317" y="3183"/>
                </a:lnTo>
                <a:lnTo>
                  <a:pt x="1326" y="3195"/>
                </a:lnTo>
                <a:lnTo>
                  <a:pt x="1335" y="3206"/>
                </a:lnTo>
                <a:lnTo>
                  <a:pt x="1343" y="3215"/>
                </a:lnTo>
                <a:lnTo>
                  <a:pt x="1363" y="3217"/>
                </a:lnTo>
                <a:lnTo>
                  <a:pt x="1383" y="3219"/>
                </a:lnTo>
                <a:lnTo>
                  <a:pt x="1403" y="3221"/>
                </a:lnTo>
                <a:lnTo>
                  <a:pt x="1422" y="3221"/>
                </a:lnTo>
                <a:lnTo>
                  <a:pt x="1443" y="3223"/>
                </a:lnTo>
                <a:lnTo>
                  <a:pt x="1462" y="3223"/>
                </a:lnTo>
                <a:lnTo>
                  <a:pt x="1482" y="3224"/>
                </a:lnTo>
                <a:lnTo>
                  <a:pt x="1502" y="3225"/>
                </a:lnTo>
                <a:lnTo>
                  <a:pt x="1525" y="3238"/>
                </a:lnTo>
                <a:lnTo>
                  <a:pt x="1547" y="3251"/>
                </a:lnTo>
                <a:lnTo>
                  <a:pt x="1571" y="3264"/>
                </a:lnTo>
                <a:lnTo>
                  <a:pt x="1595" y="3278"/>
                </a:lnTo>
                <a:lnTo>
                  <a:pt x="1619" y="3293"/>
                </a:lnTo>
                <a:lnTo>
                  <a:pt x="1643" y="3306"/>
                </a:lnTo>
                <a:lnTo>
                  <a:pt x="1667" y="3319"/>
                </a:lnTo>
                <a:lnTo>
                  <a:pt x="1692" y="3332"/>
                </a:lnTo>
                <a:lnTo>
                  <a:pt x="1701" y="3332"/>
                </a:lnTo>
                <a:lnTo>
                  <a:pt x="1711" y="3332"/>
                </a:lnTo>
                <a:lnTo>
                  <a:pt x="1721" y="3332"/>
                </a:lnTo>
                <a:lnTo>
                  <a:pt x="1732" y="3332"/>
                </a:lnTo>
                <a:lnTo>
                  <a:pt x="1742" y="3332"/>
                </a:lnTo>
                <a:lnTo>
                  <a:pt x="1751" y="3332"/>
                </a:lnTo>
                <a:lnTo>
                  <a:pt x="1762" y="3332"/>
                </a:lnTo>
                <a:lnTo>
                  <a:pt x="1772" y="3332"/>
                </a:lnTo>
                <a:lnTo>
                  <a:pt x="1780" y="3340"/>
                </a:lnTo>
                <a:lnTo>
                  <a:pt x="1790" y="3346"/>
                </a:lnTo>
                <a:lnTo>
                  <a:pt x="1799" y="3352"/>
                </a:lnTo>
                <a:lnTo>
                  <a:pt x="1809" y="3358"/>
                </a:lnTo>
                <a:lnTo>
                  <a:pt x="1817" y="3364"/>
                </a:lnTo>
                <a:lnTo>
                  <a:pt x="1826" y="3368"/>
                </a:lnTo>
                <a:lnTo>
                  <a:pt x="1835" y="3373"/>
                </a:lnTo>
                <a:lnTo>
                  <a:pt x="1843" y="3378"/>
                </a:lnTo>
                <a:lnTo>
                  <a:pt x="1871" y="3385"/>
                </a:lnTo>
                <a:lnTo>
                  <a:pt x="1889" y="3388"/>
                </a:lnTo>
                <a:lnTo>
                  <a:pt x="1901" y="3384"/>
                </a:lnTo>
                <a:lnTo>
                  <a:pt x="1905" y="3377"/>
                </a:lnTo>
                <a:lnTo>
                  <a:pt x="1905" y="3368"/>
                </a:lnTo>
                <a:lnTo>
                  <a:pt x="1899" y="3355"/>
                </a:lnTo>
                <a:lnTo>
                  <a:pt x="1891" y="3341"/>
                </a:lnTo>
                <a:lnTo>
                  <a:pt x="1883" y="3327"/>
                </a:lnTo>
                <a:lnTo>
                  <a:pt x="1876" y="3312"/>
                </a:lnTo>
                <a:lnTo>
                  <a:pt x="1868" y="3298"/>
                </a:lnTo>
                <a:lnTo>
                  <a:pt x="1864" y="3286"/>
                </a:lnTo>
                <a:lnTo>
                  <a:pt x="1863" y="3275"/>
                </a:lnTo>
                <a:lnTo>
                  <a:pt x="1867" y="3268"/>
                </a:lnTo>
                <a:lnTo>
                  <a:pt x="1877" y="3264"/>
                </a:lnTo>
                <a:lnTo>
                  <a:pt x="1896" y="3266"/>
                </a:lnTo>
                <a:lnTo>
                  <a:pt x="1922" y="3273"/>
                </a:lnTo>
                <a:lnTo>
                  <a:pt x="1935" y="3251"/>
                </a:lnTo>
                <a:lnTo>
                  <a:pt x="1947" y="3231"/>
                </a:lnTo>
                <a:lnTo>
                  <a:pt x="1957" y="3213"/>
                </a:lnTo>
                <a:lnTo>
                  <a:pt x="1965" y="3194"/>
                </a:lnTo>
                <a:lnTo>
                  <a:pt x="1975" y="3176"/>
                </a:lnTo>
                <a:lnTo>
                  <a:pt x="1984" y="3154"/>
                </a:lnTo>
                <a:lnTo>
                  <a:pt x="1995" y="3134"/>
                </a:lnTo>
                <a:lnTo>
                  <a:pt x="2007" y="3111"/>
                </a:lnTo>
                <a:lnTo>
                  <a:pt x="2008" y="3098"/>
                </a:lnTo>
                <a:lnTo>
                  <a:pt x="2013" y="3083"/>
                </a:lnTo>
                <a:lnTo>
                  <a:pt x="2019" y="3067"/>
                </a:lnTo>
                <a:lnTo>
                  <a:pt x="2026" y="3049"/>
                </a:lnTo>
                <a:lnTo>
                  <a:pt x="2035" y="3030"/>
                </a:lnTo>
                <a:lnTo>
                  <a:pt x="2041" y="3013"/>
                </a:lnTo>
                <a:lnTo>
                  <a:pt x="2045" y="2998"/>
                </a:lnTo>
                <a:lnTo>
                  <a:pt x="2046" y="2985"/>
                </a:lnTo>
                <a:lnTo>
                  <a:pt x="2059" y="2966"/>
                </a:lnTo>
                <a:lnTo>
                  <a:pt x="2071" y="2946"/>
                </a:lnTo>
                <a:lnTo>
                  <a:pt x="2085" y="2927"/>
                </a:lnTo>
                <a:lnTo>
                  <a:pt x="2096" y="2908"/>
                </a:lnTo>
                <a:lnTo>
                  <a:pt x="2107" y="2890"/>
                </a:lnTo>
                <a:lnTo>
                  <a:pt x="2118" y="2872"/>
                </a:lnTo>
                <a:lnTo>
                  <a:pt x="2130" y="2854"/>
                </a:lnTo>
                <a:lnTo>
                  <a:pt x="2142" y="2835"/>
                </a:lnTo>
                <a:lnTo>
                  <a:pt x="2148" y="2782"/>
                </a:lnTo>
                <a:lnTo>
                  <a:pt x="2159" y="2741"/>
                </a:lnTo>
                <a:lnTo>
                  <a:pt x="2171" y="2700"/>
                </a:lnTo>
                <a:lnTo>
                  <a:pt x="2174" y="2648"/>
                </a:lnTo>
                <a:lnTo>
                  <a:pt x="2187" y="2640"/>
                </a:lnTo>
                <a:lnTo>
                  <a:pt x="2201" y="2628"/>
                </a:lnTo>
                <a:lnTo>
                  <a:pt x="2217" y="2616"/>
                </a:lnTo>
                <a:lnTo>
                  <a:pt x="2232" y="2603"/>
                </a:lnTo>
                <a:lnTo>
                  <a:pt x="2247" y="2589"/>
                </a:lnTo>
                <a:lnTo>
                  <a:pt x="2263" y="2576"/>
                </a:lnTo>
                <a:lnTo>
                  <a:pt x="2276" y="2565"/>
                </a:lnTo>
                <a:lnTo>
                  <a:pt x="2289" y="2556"/>
                </a:lnTo>
                <a:lnTo>
                  <a:pt x="2298" y="2505"/>
                </a:lnTo>
                <a:lnTo>
                  <a:pt x="2304" y="2464"/>
                </a:lnTo>
                <a:lnTo>
                  <a:pt x="2309" y="2424"/>
                </a:lnTo>
                <a:lnTo>
                  <a:pt x="2320" y="2370"/>
                </a:lnTo>
                <a:lnTo>
                  <a:pt x="2330" y="2360"/>
                </a:lnTo>
                <a:lnTo>
                  <a:pt x="2347" y="2349"/>
                </a:lnTo>
                <a:lnTo>
                  <a:pt x="2366" y="2336"/>
                </a:lnTo>
                <a:lnTo>
                  <a:pt x="2388" y="2322"/>
                </a:lnTo>
                <a:lnTo>
                  <a:pt x="2412" y="2307"/>
                </a:lnTo>
                <a:lnTo>
                  <a:pt x="2431" y="2294"/>
                </a:lnTo>
                <a:lnTo>
                  <a:pt x="2448" y="2284"/>
                </a:lnTo>
                <a:lnTo>
                  <a:pt x="2457" y="2274"/>
                </a:lnTo>
                <a:lnTo>
                  <a:pt x="2455" y="2260"/>
                </a:lnTo>
                <a:lnTo>
                  <a:pt x="2455" y="2246"/>
                </a:lnTo>
                <a:lnTo>
                  <a:pt x="2459" y="2234"/>
                </a:lnTo>
                <a:lnTo>
                  <a:pt x="2462" y="2221"/>
                </a:lnTo>
                <a:lnTo>
                  <a:pt x="2467" y="2208"/>
                </a:lnTo>
                <a:lnTo>
                  <a:pt x="2470" y="2195"/>
                </a:lnTo>
                <a:lnTo>
                  <a:pt x="2472" y="2180"/>
                </a:lnTo>
                <a:lnTo>
                  <a:pt x="2470" y="2167"/>
                </a:lnTo>
                <a:lnTo>
                  <a:pt x="2482" y="2165"/>
                </a:lnTo>
                <a:lnTo>
                  <a:pt x="2493" y="2161"/>
                </a:lnTo>
                <a:lnTo>
                  <a:pt x="2504" y="2158"/>
                </a:lnTo>
                <a:lnTo>
                  <a:pt x="2516" y="2154"/>
                </a:lnTo>
                <a:lnTo>
                  <a:pt x="2528" y="2150"/>
                </a:lnTo>
                <a:lnTo>
                  <a:pt x="2538" y="2147"/>
                </a:lnTo>
                <a:lnTo>
                  <a:pt x="2549" y="2141"/>
                </a:lnTo>
                <a:lnTo>
                  <a:pt x="2560" y="2138"/>
                </a:lnTo>
                <a:lnTo>
                  <a:pt x="2565" y="2118"/>
                </a:lnTo>
                <a:lnTo>
                  <a:pt x="2573" y="2099"/>
                </a:lnTo>
                <a:lnTo>
                  <a:pt x="2580" y="2080"/>
                </a:lnTo>
                <a:lnTo>
                  <a:pt x="2589" y="2059"/>
                </a:lnTo>
                <a:lnTo>
                  <a:pt x="2597" y="2063"/>
                </a:lnTo>
                <a:lnTo>
                  <a:pt x="2603" y="2065"/>
                </a:lnTo>
                <a:lnTo>
                  <a:pt x="2610" y="2068"/>
                </a:lnTo>
                <a:lnTo>
                  <a:pt x="2618" y="2070"/>
                </a:lnTo>
                <a:lnTo>
                  <a:pt x="2625" y="2073"/>
                </a:lnTo>
                <a:lnTo>
                  <a:pt x="2634" y="2075"/>
                </a:lnTo>
                <a:lnTo>
                  <a:pt x="2642" y="2078"/>
                </a:lnTo>
                <a:lnTo>
                  <a:pt x="2650" y="2080"/>
                </a:lnTo>
                <a:lnTo>
                  <a:pt x="2657" y="2063"/>
                </a:lnTo>
                <a:lnTo>
                  <a:pt x="2664" y="2046"/>
                </a:lnTo>
                <a:lnTo>
                  <a:pt x="2668" y="2028"/>
                </a:lnTo>
                <a:lnTo>
                  <a:pt x="2673" y="2012"/>
                </a:lnTo>
                <a:lnTo>
                  <a:pt x="2678" y="2007"/>
                </a:lnTo>
                <a:lnTo>
                  <a:pt x="2683" y="2002"/>
                </a:lnTo>
                <a:lnTo>
                  <a:pt x="2689" y="1998"/>
                </a:lnTo>
                <a:lnTo>
                  <a:pt x="2694" y="1991"/>
                </a:lnTo>
                <a:lnTo>
                  <a:pt x="2700" y="1987"/>
                </a:lnTo>
                <a:lnTo>
                  <a:pt x="2705" y="1982"/>
                </a:lnTo>
                <a:lnTo>
                  <a:pt x="2712" y="1976"/>
                </a:lnTo>
                <a:lnTo>
                  <a:pt x="2716" y="1971"/>
                </a:lnTo>
                <a:lnTo>
                  <a:pt x="2726" y="1955"/>
                </a:lnTo>
                <a:lnTo>
                  <a:pt x="2736" y="1940"/>
                </a:lnTo>
                <a:lnTo>
                  <a:pt x="2747" y="1924"/>
                </a:lnTo>
                <a:lnTo>
                  <a:pt x="2760" y="1908"/>
                </a:lnTo>
                <a:lnTo>
                  <a:pt x="2771" y="1892"/>
                </a:lnTo>
                <a:lnTo>
                  <a:pt x="2783" y="1877"/>
                </a:lnTo>
                <a:lnTo>
                  <a:pt x="2798" y="1860"/>
                </a:lnTo>
                <a:lnTo>
                  <a:pt x="2811" y="1844"/>
                </a:lnTo>
                <a:lnTo>
                  <a:pt x="2834" y="1825"/>
                </a:lnTo>
                <a:lnTo>
                  <a:pt x="2859" y="1804"/>
                </a:lnTo>
                <a:lnTo>
                  <a:pt x="2882" y="1783"/>
                </a:lnTo>
                <a:lnTo>
                  <a:pt x="2906" y="1764"/>
                </a:lnTo>
                <a:lnTo>
                  <a:pt x="2929" y="1743"/>
                </a:lnTo>
                <a:lnTo>
                  <a:pt x="2953" y="1722"/>
                </a:lnTo>
                <a:lnTo>
                  <a:pt x="2974" y="1700"/>
                </a:lnTo>
                <a:lnTo>
                  <a:pt x="2998" y="1678"/>
                </a:lnTo>
                <a:lnTo>
                  <a:pt x="3019" y="1656"/>
                </a:lnTo>
                <a:lnTo>
                  <a:pt x="3043" y="1635"/>
                </a:lnTo>
                <a:lnTo>
                  <a:pt x="3067" y="1612"/>
                </a:lnTo>
                <a:lnTo>
                  <a:pt x="3089" y="1589"/>
                </a:lnTo>
                <a:lnTo>
                  <a:pt x="3112" y="1565"/>
                </a:lnTo>
                <a:lnTo>
                  <a:pt x="3135" y="1542"/>
                </a:lnTo>
                <a:lnTo>
                  <a:pt x="3160" y="1520"/>
                </a:lnTo>
                <a:lnTo>
                  <a:pt x="3183" y="1496"/>
                </a:lnTo>
                <a:lnTo>
                  <a:pt x="3208" y="1471"/>
                </a:lnTo>
                <a:lnTo>
                  <a:pt x="3233" y="1448"/>
                </a:lnTo>
                <a:lnTo>
                  <a:pt x="3259" y="1424"/>
                </a:lnTo>
                <a:lnTo>
                  <a:pt x="3284" y="1400"/>
                </a:lnTo>
                <a:lnTo>
                  <a:pt x="3311" y="1375"/>
                </a:lnTo>
                <a:lnTo>
                  <a:pt x="3339" y="1350"/>
                </a:lnTo>
                <a:lnTo>
                  <a:pt x="3368" y="1326"/>
                </a:lnTo>
                <a:lnTo>
                  <a:pt x="3397" y="1302"/>
                </a:lnTo>
                <a:lnTo>
                  <a:pt x="3428" y="1277"/>
                </a:lnTo>
                <a:lnTo>
                  <a:pt x="3458" y="1252"/>
                </a:lnTo>
                <a:lnTo>
                  <a:pt x="3489" y="1227"/>
                </a:lnTo>
                <a:lnTo>
                  <a:pt x="3523" y="1201"/>
                </a:lnTo>
                <a:lnTo>
                  <a:pt x="3556" y="1178"/>
                </a:lnTo>
                <a:lnTo>
                  <a:pt x="3591" y="1152"/>
                </a:lnTo>
                <a:lnTo>
                  <a:pt x="3628" y="1127"/>
                </a:lnTo>
                <a:lnTo>
                  <a:pt x="3666" y="1102"/>
                </a:lnTo>
                <a:lnTo>
                  <a:pt x="3682" y="1091"/>
                </a:lnTo>
                <a:lnTo>
                  <a:pt x="3700" y="1080"/>
                </a:lnTo>
                <a:lnTo>
                  <a:pt x="3717" y="1070"/>
                </a:lnTo>
                <a:lnTo>
                  <a:pt x="3733" y="1059"/>
                </a:lnTo>
                <a:lnTo>
                  <a:pt x="3751" y="1050"/>
                </a:lnTo>
                <a:lnTo>
                  <a:pt x="3768" y="1039"/>
                </a:lnTo>
                <a:lnTo>
                  <a:pt x="3785" y="1029"/>
                </a:lnTo>
                <a:lnTo>
                  <a:pt x="3805" y="1020"/>
                </a:lnTo>
                <a:lnTo>
                  <a:pt x="3814" y="1013"/>
                </a:lnTo>
                <a:lnTo>
                  <a:pt x="3825" y="1009"/>
                </a:lnTo>
                <a:lnTo>
                  <a:pt x="3836" y="1004"/>
                </a:lnTo>
                <a:lnTo>
                  <a:pt x="3846" y="1000"/>
                </a:lnTo>
                <a:lnTo>
                  <a:pt x="3856" y="994"/>
                </a:lnTo>
                <a:lnTo>
                  <a:pt x="3866" y="990"/>
                </a:lnTo>
                <a:lnTo>
                  <a:pt x="3876" y="983"/>
                </a:lnTo>
                <a:lnTo>
                  <a:pt x="3888" y="978"/>
                </a:lnTo>
                <a:lnTo>
                  <a:pt x="3906" y="967"/>
                </a:lnTo>
                <a:lnTo>
                  <a:pt x="3925" y="956"/>
                </a:lnTo>
                <a:lnTo>
                  <a:pt x="3943" y="946"/>
                </a:lnTo>
                <a:lnTo>
                  <a:pt x="3961" y="933"/>
                </a:lnTo>
                <a:lnTo>
                  <a:pt x="3980" y="923"/>
                </a:lnTo>
                <a:lnTo>
                  <a:pt x="3998" y="910"/>
                </a:lnTo>
                <a:lnTo>
                  <a:pt x="4017" y="899"/>
                </a:lnTo>
                <a:lnTo>
                  <a:pt x="4035" y="887"/>
                </a:lnTo>
                <a:lnTo>
                  <a:pt x="4047" y="879"/>
                </a:lnTo>
                <a:lnTo>
                  <a:pt x="4060" y="869"/>
                </a:lnTo>
                <a:lnTo>
                  <a:pt x="4071" y="860"/>
                </a:lnTo>
                <a:lnTo>
                  <a:pt x="4085" y="851"/>
                </a:lnTo>
                <a:lnTo>
                  <a:pt x="4097" y="842"/>
                </a:lnTo>
                <a:lnTo>
                  <a:pt x="4111" y="833"/>
                </a:lnTo>
                <a:lnTo>
                  <a:pt x="4123" y="825"/>
                </a:lnTo>
                <a:lnTo>
                  <a:pt x="4136" y="815"/>
                </a:lnTo>
                <a:lnTo>
                  <a:pt x="4141" y="803"/>
                </a:lnTo>
                <a:lnTo>
                  <a:pt x="4146" y="792"/>
                </a:lnTo>
                <a:lnTo>
                  <a:pt x="4152" y="781"/>
                </a:lnTo>
                <a:lnTo>
                  <a:pt x="4156" y="772"/>
                </a:lnTo>
                <a:lnTo>
                  <a:pt x="4165" y="764"/>
                </a:lnTo>
                <a:lnTo>
                  <a:pt x="4172" y="759"/>
                </a:lnTo>
                <a:lnTo>
                  <a:pt x="4180" y="751"/>
                </a:lnTo>
                <a:lnTo>
                  <a:pt x="4189" y="745"/>
                </a:lnTo>
                <a:lnTo>
                  <a:pt x="4198" y="738"/>
                </a:lnTo>
                <a:lnTo>
                  <a:pt x="4207" y="732"/>
                </a:lnTo>
                <a:lnTo>
                  <a:pt x="4215" y="725"/>
                </a:lnTo>
                <a:lnTo>
                  <a:pt x="4224" y="719"/>
                </a:lnTo>
                <a:lnTo>
                  <a:pt x="4227" y="725"/>
                </a:lnTo>
                <a:lnTo>
                  <a:pt x="4230" y="731"/>
                </a:lnTo>
                <a:lnTo>
                  <a:pt x="4233" y="737"/>
                </a:lnTo>
                <a:lnTo>
                  <a:pt x="4235" y="743"/>
                </a:lnTo>
                <a:lnTo>
                  <a:pt x="4249" y="734"/>
                </a:lnTo>
                <a:lnTo>
                  <a:pt x="4261" y="728"/>
                </a:lnTo>
                <a:lnTo>
                  <a:pt x="4275" y="719"/>
                </a:lnTo>
                <a:lnTo>
                  <a:pt x="4289" y="711"/>
                </a:lnTo>
                <a:lnTo>
                  <a:pt x="4302" y="704"/>
                </a:lnTo>
                <a:lnTo>
                  <a:pt x="4316" y="695"/>
                </a:lnTo>
                <a:lnTo>
                  <a:pt x="4330" y="688"/>
                </a:lnTo>
                <a:lnTo>
                  <a:pt x="4341" y="681"/>
                </a:lnTo>
                <a:lnTo>
                  <a:pt x="4351" y="666"/>
                </a:lnTo>
                <a:lnTo>
                  <a:pt x="4360" y="649"/>
                </a:lnTo>
                <a:lnTo>
                  <a:pt x="4369" y="633"/>
                </a:lnTo>
                <a:lnTo>
                  <a:pt x="4378" y="619"/>
                </a:lnTo>
                <a:lnTo>
                  <a:pt x="4389" y="609"/>
                </a:lnTo>
                <a:lnTo>
                  <a:pt x="4401" y="600"/>
                </a:lnTo>
                <a:lnTo>
                  <a:pt x="4413" y="592"/>
                </a:lnTo>
                <a:lnTo>
                  <a:pt x="4426" y="584"/>
                </a:lnTo>
                <a:lnTo>
                  <a:pt x="4437" y="576"/>
                </a:lnTo>
                <a:lnTo>
                  <a:pt x="4449" y="567"/>
                </a:lnTo>
                <a:lnTo>
                  <a:pt x="4459" y="556"/>
                </a:lnTo>
                <a:lnTo>
                  <a:pt x="4470" y="548"/>
                </a:lnTo>
                <a:lnTo>
                  <a:pt x="4475" y="534"/>
                </a:lnTo>
                <a:lnTo>
                  <a:pt x="4479" y="519"/>
                </a:lnTo>
                <a:lnTo>
                  <a:pt x="4483" y="505"/>
                </a:lnTo>
                <a:lnTo>
                  <a:pt x="4490" y="489"/>
                </a:lnTo>
                <a:lnTo>
                  <a:pt x="4500" y="481"/>
                </a:lnTo>
                <a:lnTo>
                  <a:pt x="4514" y="473"/>
                </a:lnTo>
                <a:lnTo>
                  <a:pt x="4525" y="466"/>
                </a:lnTo>
                <a:lnTo>
                  <a:pt x="4537" y="457"/>
                </a:lnTo>
                <a:lnTo>
                  <a:pt x="4548" y="448"/>
                </a:lnTo>
                <a:lnTo>
                  <a:pt x="4561" y="439"/>
                </a:lnTo>
                <a:lnTo>
                  <a:pt x="4571" y="432"/>
                </a:lnTo>
                <a:lnTo>
                  <a:pt x="4581" y="424"/>
                </a:lnTo>
                <a:lnTo>
                  <a:pt x="4595" y="420"/>
                </a:lnTo>
                <a:lnTo>
                  <a:pt x="4609" y="416"/>
                </a:lnTo>
                <a:lnTo>
                  <a:pt x="4622" y="412"/>
                </a:lnTo>
                <a:lnTo>
                  <a:pt x="4634" y="408"/>
                </a:lnTo>
                <a:lnTo>
                  <a:pt x="4648" y="403"/>
                </a:lnTo>
                <a:lnTo>
                  <a:pt x="4660" y="400"/>
                </a:lnTo>
                <a:lnTo>
                  <a:pt x="4672" y="395"/>
                </a:lnTo>
                <a:lnTo>
                  <a:pt x="4685" y="392"/>
                </a:lnTo>
                <a:lnTo>
                  <a:pt x="4692" y="384"/>
                </a:lnTo>
                <a:lnTo>
                  <a:pt x="4698" y="375"/>
                </a:lnTo>
                <a:lnTo>
                  <a:pt x="4704" y="368"/>
                </a:lnTo>
                <a:lnTo>
                  <a:pt x="4710" y="359"/>
                </a:lnTo>
                <a:lnTo>
                  <a:pt x="4716" y="351"/>
                </a:lnTo>
                <a:lnTo>
                  <a:pt x="4722" y="342"/>
                </a:lnTo>
                <a:lnTo>
                  <a:pt x="4728" y="333"/>
                </a:lnTo>
                <a:lnTo>
                  <a:pt x="4735" y="324"/>
                </a:lnTo>
                <a:lnTo>
                  <a:pt x="4745" y="318"/>
                </a:lnTo>
                <a:lnTo>
                  <a:pt x="4755" y="311"/>
                </a:lnTo>
                <a:lnTo>
                  <a:pt x="4764" y="305"/>
                </a:lnTo>
                <a:lnTo>
                  <a:pt x="4773" y="298"/>
                </a:lnTo>
                <a:lnTo>
                  <a:pt x="4784" y="291"/>
                </a:lnTo>
                <a:lnTo>
                  <a:pt x="4793" y="284"/>
                </a:lnTo>
                <a:lnTo>
                  <a:pt x="4802" y="277"/>
                </a:lnTo>
                <a:lnTo>
                  <a:pt x="4810" y="269"/>
                </a:lnTo>
                <a:lnTo>
                  <a:pt x="4816" y="274"/>
                </a:lnTo>
                <a:lnTo>
                  <a:pt x="4824" y="279"/>
                </a:lnTo>
                <a:lnTo>
                  <a:pt x="4831" y="285"/>
                </a:lnTo>
                <a:lnTo>
                  <a:pt x="4835" y="290"/>
                </a:lnTo>
                <a:lnTo>
                  <a:pt x="4845" y="282"/>
                </a:lnTo>
                <a:lnTo>
                  <a:pt x="4856" y="274"/>
                </a:lnTo>
                <a:lnTo>
                  <a:pt x="4865" y="266"/>
                </a:lnTo>
                <a:lnTo>
                  <a:pt x="4876" y="258"/>
                </a:lnTo>
                <a:lnTo>
                  <a:pt x="4885" y="248"/>
                </a:lnTo>
                <a:lnTo>
                  <a:pt x="4895" y="239"/>
                </a:lnTo>
                <a:lnTo>
                  <a:pt x="4906" y="231"/>
                </a:lnTo>
                <a:lnTo>
                  <a:pt x="4916" y="222"/>
                </a:lnTo>
                <a:lnTo>
                  <a:pt x="4904" y="228"/>
                </a:lnTo>
                <a:lnTo>
                  <a:pt x="4893" y="234"/>
                </a:lnTo>
                <a:lnTo>
                  <a:pt x="4881" y="241"/>
                </a:lnTo>
                <a:lnTo>
                  <a:pt x="4867" y="245"/>
                </a:lnTo>
                <a:lnTo>
                  <a:pt x="4856" y="251"/>
                </a:lnTo>
                <a:lnTo>
                  <a:pt x="4845" y="256"/>
                </a:lnTo>
                <a:lnTo>
                  <a:pt x="4833" y="261"/>
                </a:lnTo>
                <a:lnTo>
                  <a:pt x="4821" y="266"/>
                </a:lnTo>
                <a:lnTo>
                  <a:pt x="4832" y="241"/>
                </a:lnTo>
                <a:lnTo>
                  <a:pt x="4841" y="218"/>
                </a:lnTo>
                <a:lnTo>
                  <a:pt x="4847" y="194"/>
                </a:lnTo>
                <a:lnTo>
                  <a:pt x="4852" y="171"/>
                </a:lnTo>
                <a:lnTo>
                  <a:pt x="4844" y="178"/>
                </a:lnTo>
                <a:lnTo>
                  <a:pt x="4835" y="187"/>
                </a:lnTo>
                <a:lnTo>
                  <a:pt x="4826" y="195"/>
                </a:lnTo>
                <a:lnTo>
                  <a:pt x="4815" y="203"/>
                </a:lnTo>
                <a:lnTo>
                  <a:pt x="4806" y="211"/>
                </a:lnTo>
                <a:lnTo>
                  <a:pt x="4796" y="219"/>
                </a:lnTo>
                <a:lnTo>
                  <a:pt x="4785" y="228"/>
                </a:lnTo>
                <a:lnTo>
                  <a:pt x="4775" y="237"/>
                </a:lnTo>
                <a:lnTo>
                  <a:pt x="4768" y="247"/>
                </a:lnTo>
                <a:lnTo>
                  <a:pt x="4759" y="256"/>
                </a:lnTo>
                <a:lnTo>
                  <a:pt x="4752" y="266"/>
                </a:lnTo>
                <a:lnTo>
                  <a:pt x="4745" y="277"/>
                </a:lnTo>
                <a:lnTo>
                  <a:pt x="4738" y="288"/>
                </a:lnTo>
                <a:lnTo>
                  <a:pt x="4729" y="298"/>
                </a:lnTo>
                <a:lnTo>
                  <a:pt x="4722" y="309"/>
                </a:lnTo>
                <a:lnTo>
                  <a:pt x="4715" y="320"/>
                </a:lnTo>
                <a:lnTo>
                  <a:pt x="4708" y="324"/>
                </a:lnTo>
                <a:lnTo>
                  <a:pt x="4701" y="329"/>
                </a:lnTo>
                <a:lnTo>
                  <a:pt x="4694" y="335"/>
                </a:lnTo>
                <a:lnTo>
                  <a:pt x="4687" y="341"/>
                </a:lnTo>
                <a:lnTo>
                  <a:pt x="4679" y="346"/>
                </a:lnTo>
                <a:lnTo>
                  <a:pt x="4673" y="351"/>
                </a:lnTo>
                <a:lnTo>
                  <a:pt x="4667" y="355"/>
                </a:lnTo>
                <a:lnTo>
                  <a:pt x="4660" y="360"/>
                </a:lnTo>
                <a:lnTo>
                  <a:pt x="4655" y="359"/>
                </a:lnTo>
                <a:lnTo>
                  <a:pt x="4650" y="358"/>
                </a:lnTo>
                <a:lnTo>
                  <a:pt x="4646" y="355"/>
                </a:lnTo>
                <a:lnTo>
                  <a:pt x="4641" y="354"/>
                </a:lnTo>
                <a:lnTo>
                  <a:pt x="4636" y="353"/>
                </a:lnTo>
                <a:lnTo>
                  <a:pt x="4632" y="351"/>
                </a:lnTo>
                <a:lnTo>
                  <a:pt x="4626" y="349"/>
                </a:lnTo>
                <a:lnTo>
                  <a:pt x="4622" y="349"/>
                </a:lnTo>
                <a:lnTo>
                  <a:pt x="4600" y="366"/>
                </a:lnTo>
                <a:lnTo>
                  <a:pt x="4579" y="384"/>
                </a:lnTo>
                <a:lnTo>
                  <a:pt x="4558" y="402"/>
                </a:lnTo>
                <a:lnTo>
                  <a:pt x="4536" y="420"/>
                </a:lnTo>
                <a:lnTo>
                  <a:pt x="4514" y="438"/>
                </a:lnTo>
                <a:lnTo>
                  <a:pt x="4490" y="457"/>
                </a:lnTo>
                <a:lnTo>
                  <a:pt x="4469" y="476"/>
                </a:lnTo>
                <a:lnTo>
                  <a:pt x="4445" y="494"/>
                </a:lnTo>
                <a:lnTo>
                  <a:pt x="4435" y="499"/>
                </a:lnTo>
                <a:lnTo>
                  <a:pt x="4426" y="505"/>
                </a:lnTo>
                <a:lnTo>
                  <a:pt x="4415" y="509"/>
                </a:lnTo>
                <a:lnTo>
                  <a:pt x="4406" y="515"/>
                </a:lnTo>
                <a:lnTo>
                  <a:pt x="4396" y="519"/>
                </a:lnTo>
                <a:lnTo>
                  <a:pt x="4388" y="524"/>
                </a:lnTo>
                <a:lnTo>
                  <a:pt x="4378" y="530"/>
                </a:lnTo>
                <a:lnTo>
                  <a:pt x="4369" y="535"/>
                </a:lnTo>
                <a:lnTo>
                  <a:pt x="4363" y="533"/>
                </a:lnTo>
                <a:lnTo>
                  <a:pt x="4357" y="530"/>
                </a:lnTo>
                <a:lnTo>
                  <a:pt x="4351" y="528"/>
                </a:lnTo>
                <a:lnTo>
                  <a:pt x="4347" y="524"/>
                </a:lnTo>
                <a:lnTo>
                  <a:pt x="4340" y="522"/>
                </a:lnTo>
                <a:lnTo>
                  <a:pt x="4336" y="519"/>
                </a:lnTo>
                <a:lnTo>
                  <a:pt x="4330" y="517"/>
                </a:lnTo>
                <a:lnTo>
                  <a:pt x="4324" y="515"/>
                </a:lnTo>
                <a:lnTo>
                  <a:pt x="4299" y="533"/>
                </a:lnTo>
                <a:lnTo>
                  <a:pt x="4274" y="549"/>
                </a:lnTo>
                <a:lnTo>
                  <a:pt x="4249" y="568"/>
                </a:lnTo>
                <a:lnTo>
                  <a:pt x="4224" y="585"/>
                </a:lnTo>
                <a:lnTo>
                  <a:pt x="4201" y="602"/>
                </a:lnTo>
                <a:lnTo>
                  <a:pt x="4174" y="620"/>
                </a:lnTo>
                <a:lnTo>
                  <a:pt x="4150" y="637"/>
                </a:lnTo>
                <a:lnTo>
                  <a:pt x="4125" y="654"/>
                </a:lnTo>
                <a:lnTo>
                  <a:pt x="4099" y="671"/>
                </a:lnTo>
                <a:lnTo>
                  <a:pt x="4075" y="691"/>
                </a:lnTo>
                <a:lnTo>
                  <a:pt x="4050" y="707"/>
                </a:lnTo>
                <a:lnTo>
                  <a:pt x="4025" y="725"/>
                </a:lnTo>
                <a:lnTo>
                  <a:pt x="4000" y="742"/>
                </a:lnTo>
                <a:lnTo>
                  <a:pt x="3975" y="760"/>
                </a:lnTo>
                <a:lnTo>
                  <a:pt x="3950" y="778"/>
                </a:lnTo>
                <a:lnTo>
                  <a:pt x="3925" y="797"/>
                </a:lnTo>
                <a:lnTo>
                  <a:pt x="3918" y="788"/>
                </a:lnTo>
                <a:lnTo>
                  <a:pt x="3912" y="781"/>
                </a:lnTo>
                <a:lnTo>
                  <a:pt x="3906" y="771"/>
                </a:lnTo>
                <a:lnTo>
                  <a:pt x="3902" y="761"/>
                </a:lnTo>
                <a:lnTo>
                  <a:pt x="3912" y="754"/>
                </a:lnTo>
                <a:lnTo>
                  <a:pt x="3920" y="747"/>
                </a:lnTo>
                <a:lnTo>
                  <a:pt x="3931" y="738"/>
                </a:lnTo>
                <a:lnTo>
                  <a:pt x="3939" y="730"/>
                </a:lnTo>
                <a:lnTo>
                  <a:pt x="3949" y="721"/>
                </a:lnTo>
                <a:lnTo>
                  <a:pt x="3958" y="713"/>
                </a:lnTo>
                <a:lnTo>
                  <a:pt x="3969" y="704"/>
                </a:lnTo>
                <a:lnTo>
                  <a:pt x="3979" y="696"/>
                </a:lnTo>
                <a:lnTo>
                  <a:pt x="3986" y="694"/>
                </a:lnTo>
                <a:lnTo>
                  <a:pt x="3993" y="691"/>
                </a:lnTo>
                <a:lnTo>
                  <a:pt x="4000" y="691"/>
                </a:lnTo>
                <a:lnTo>
                  <a:pt x="4009" y="688"/>
                </a:lnTo>
                <a:lnTo>
                  <a:pt x="4017" y="685"/>
                </a:lnTo>
                <a:lnTo>
                  <a:pt x="4024" y="683"/>
                </a:lnTo>
                <a:lnTo>
                  <a:pt x="4033" y="680"/>
                </a:lnTo>
                <a:lnTo>
                  <a:pt x="4040" y="677"/>
                </a:lnTo>
                <a:lnTo>
                  <a:pt x="4044" y="670"/>
                </a:lnTo>
                <a:lnTo>
                  <a:pt x="4049" y="663"/>
                </a:lnTo>
                <a:lnTo>
                  <a:pt x="4054" y="657"/>
                </a:lnTo>
                <a:lnTo>
                  <a:pt x="4060" y="650"/>
                </a:lnTo>
                <a:lnTo>
                  <a:pt x="4064" y="643"/>
                </a:lnTo>
                <a:lnTo>
                  <a:pt x="4069" y="636"/>
                </a:lnTo>
                <a:lnTo>
                  <a:pt x="4075" y="628"/>
                </a:lnTo>
                <a:lnTo>
                  <a:pt x="4080" y="621"/>
                </a:lnTo>
                <a:lnTo>
                  <a:pt x="4090" y="617"/>
                </a:lnTo>
                <a:lnTo>
                  <a:pt x="4098" y="611"/>
                </a:lnTo>
                <a:lnTo>
                  <a:pt x="4109" y="606"/>
                </a:lnTo>
                <a:lnTo>
                  <a:pt x="4119" y="600"/>
                </a:lnTo>
                <a:lnTo>
                  <a:pt x="4127" y="595"/>
                </a:lnTo>
                <a:lnTo>
                  <a:pt x="4136" y="590"/>
                </a:lnTo>
                <a:lnTo>
                  <a:pt x="4146" y="584"/>
                </a:lnTo>
                <a:lnTo>
                  <a:pt x="4156" y="579"/>
                </a:lnTo>
                <a:lnTo>
                  <a:pt x="4163" y="565"/>
                </a:lnTo>
                <a:lnTo>
                  <a:pt x="4170" y="552"/>
                </a:lnTo>
                <a:lnTo>
                  <a:pt x="4176" y="539"/>
                </a:lnTo>
                <a:lnTo>
                  <a:pt x="4184" y="524"/>
                </a:lnTo>
                <a:lnTo>
                  <a:pt x="4190" y="517"/>
                </a:lnTo>
                <a:lnTo>
                  <a:pt x="4198" y="511"/>
                </a:lnTo>
                <a:lnTo>
                  <a:pt x="4205" y="505"/>
                </a:lnTo>
                <a:lnTo>
                  <a:pt x="4211" y="499"/>
                </a:lnTo>
                <a:lnTo>
                  <a:pt x="4218" y="493"/>
                </a:lnTo>
                <a:lnTo>
                  <a:pt x="4226" y="487"/>
                </a:lnTo>
                <a:lnTo>
                  <a:pt x="4234" y="481"/>
                </a:lnTo>
                <a:lnTo>
                  <a:pt x="4242" y="475"/>
                </a:lnTo>
                <a:lnTo>
                  <a:pt x="4235" y="473"/>
                </a:lnTo>
                <a:lnTo>
                  <a:pt x="4230" y="470"/>
                </a:lnTo>
                <a:lnTo>
                  <a:pt x="4224" y="468"/>
                </a:lnTo>
                <a:lnTo>
                  <a:pt x="4218" y="464"/>
                </a:lnTo>
                <a:lnTo>
                  <a:pt x="4213" y="462"/>
                </a:lnTo>
                <a:lnTo>
                  <a:pt x="4207" y="458"/>
                </a:lnTo>
                <a:lnTo>
                  <a:pt x="4202" y="455"/>
                </a:lnTo>
                <a:lnTo>
                  <a:pt x="4196" y="450"/>
                </a:lnTo>
                <a:lnTo>
                  <a:pt x="4207" y="442"/>
                </a:lnTo>
                <a:lnTo>
                  <a:pt x="4217" y="433"/>
                </a:lnTo>
                <a:lnTo>
                  <a:pt x="4228" y="425"/>
                </a:lnTo>
                <a:lnTo>
                  <a:pt x="4241" y="416"/>
                </a:lnTo>
                <a:lnTo>
                  <a:pt x="4252" y="408"/>
                </a:lnTo>
                <a:lnTo>
                  <a:pt x="4263" y="400"/>
                </a:lnTo>
                <a:lnTo>
                  <a:pt x="4274" y="392"/>
                </a:lnTo>
                <a:lnTo>
                  <a:pt x="4286" y="383"/>
                </a:lnTo>
                <a:lnTo>
                  <a:pt x="4291" y="377"/>
                </a:lnTo>
                <a:lnTo>
                  <a:pt x="4299" y="372"/>
                </a:lnTo>
                <a:lnTo>
                  <a:pt x="4307" y="366"/>
                </a:lnTo>
                <a:lnTo>
                  <a:pt x="4312" y="359"/>
                </a:lnTo>
                <a:lnTo>
                  <a:pt x="4321" y="349"/>
                </a:lnTo>
                <a:lnTo>
                  <a:pt x="4332" y="337"/>
                </a:lnTo>
                <a:lnTo>
                  <a:pt x="4339" y="326"/>
                </a:lnTo>
                <a:lnTo>
                  <a:pt x="4347" y="315"/>
                </a:lnTo>
                <a:lnTo>
                  <a:pt x="4356" y="304"/>
                </a:lnTo>
                <a:lnTo>
                  <a:pt x="4364" y="293"/>
                </a:lnTo>
                <a:lnTo>
                  <a:pt x="4374" y="282"/>
                </a:lnTo>
                <a:lnTo>
                  <a:pt x="4382" y="271"/>
                </a:lnTo>
                <a:lnTo>
                  <a:pt x="4360" y="281"/>
                </a:lnTo>
                <a:lnTo>
                  <a:pt x="4341" y="290"/>
                </a:lnTo>
                <a:lnTo>
                  <a:pt x="4320" y="299"/>
                </a:lnTo>
                <a:lnTo>
                  <a:pt x="4301" y="308"/>
                </a:lnTo>
                <a:lnTo>
                  <a:pt x="4279" y="318"/>
                </a:lnTo>
                <a:lnTo>
                  <a:pt x="4259" y="327"/>
                </a:lnTo>
                <a:lnTo>
                  <a:pt x="4238" y="338"/>
                </a:lnTo>
                <a:lnTo>
                  <a:pt x="4217" y="349"/>
                </a:lnTo>
                <a:lnTo>
                  <a:pt x="4213" y="346"/>
                </a:lnTo>
                <a:lnTo>
                  <a:pt x="4209" y="343"/>
                </a:lnTo>
                <a:lnTo>
                  <a:pt x="4204" y="342"/>
                </a:lnTo>
                <a:lnTo>
                  <a:pt x="4200" y="339"/>
                </a:lnTo>
                <a:lnTo>
                  <a:pt x="4194" y="338"/>
                </a:lnTo>
                <a:lnTo>
                  <a:pt x="4189" y="335"/>
                </a:lnTo>
                <a:lnTo>
                  <a:pt x="4185" y="335"/>
                </a:lnTo>
                <a:lnTo>
                  <a:pt x="4180" y="334"/>
                </a:lnTo>
                <a:lnTo>
                  <a:pt x="4186" y="328"/>
                </a:lnTo>
                <a:lnTo>
                  <a:pt x="4194" y="322"/>
                </a:lnTo>
                <a:lnTo>
                  <a:pt x="4200" y="316"/>
                </a:lnTo>
                <a:lnTo>
                  <a:pt x="4205" y="309"/>
                </a:lnTo>
                <a:lnTo>
                  <a:pt x="4211" y="303"/>
                </a:lnTo>
                <a:lnTo>
                  <a:pt x="4217" y="297"/>
                </a:lnTo>
                <a:lnTo>
                  <a:pt x="4224" y="291"/>
                </a:lnTo>
                <a:lnTo>
                  <a:pt x="4232" y="285"/>
                </a:lnTo>
                <a:lnTo>
                  <a:pt x="4251" y="271"/>
                </a:lnTo>
                <a:lnTo>
                  <a:pt x="4272" y="253"/>
                </a:lnTo>
                <a:lnTo>
                  <a:pt x="4297" y="234"/>
                </a:lnTo>
                <a:lnTo>
                  <a:pt x="4324" y="214"/>
                </a:lnTo>
                <a:lnTo>
                  <a:pt x="4351" y="195"/>
                </a:lnTo>
                <a:lnTo>
                  <a:pt x="4376" y="177"/>
                </a:lnTo>
                <a:lnTo>
                  <a:pt x="4398" y="162"/>
                </a:lnTo>
                <a:lnTo>
                  <a:pt x="4414" y="147"/>
                </a:lnTo>
                <a:lnTo>
                  <a:pt x="4419" y="124"/>
                </a:lnTo>
                <a:lnTo>
                  <a:pt x="4415" y="112"/>
                </a:lnTo>
                <a:lnTo>
                  <a:pt x="4408" y="112"/>
                </a:lnTo>
                <a:lnTo>
                  <a:pt x="4399" y="119"/>
                </a:lnTo>
                <a:lnTo>
                  <a:pt x="4387" y="127"/>
                </a:lnTo>
                <a:lnTo>
                  <a:pt x="4376" y="135"/>
                </a:lnTo>
                <a:lnTo>
                  <a:pt x="4367" y="140"/>
                </a:lnTo>
                <a:lnTo>
                  <a:pt x="4360" y="139"/>
                </a:lnTo>
                <a:lnTo>
                  <a:pt x="4351" y="146"/>
                </a:lnTo>
                <a:lnTo>
                  <a:pt x="4338" y="152"/>
                </a:lnTo>
                <a:lnTo>
                  <a:pt x="4322" y="160"/>
                </a:lnTo>
                <a:lnTo>
                  <a:pt x="4307" y="165"/>
                </a:lnTo>
                <a:lnTo>
                  <a:pt x="4291" y="173"/>
                </a:lnTo>
                <a:lnTo>
                  <a:pt x="4275" y="178"/>
                </a:lnTo>
                <a:lnTo>
                  <a:pt x="4261" y="187"/>
                </a:lnTo>
                <a:lnTo>
                  <a:pt x="4251" y="194"/>
                </a:lnTo>
                <a:lnTo>
                  <a:pt x="4247" y="203"/>
                </a:lnTo>
                <a:lnTo>
                  <a:pt x="4244" y="213"/>
                </a:lnTo>
                <a:lnTo>
                  <a:pt x="4241" y="223"/>
                </a:lnTo>
                <a:lnTo>
                  <a:pt x="4238" y="234"/>
                </a:lnTo>
                <a:lnTo>
                  <a:pt x="4232" y="239"/>
                </a:lnTo>
                <a:lnTo>
                  <a:pt x="4227" y="245"/>
                </a:lnTo>
                <a:lnTo>
                  <a:pt x="4221" y="251"/>
                </a:lnTo>
                <a:lnTo>
                  <a:pt x="4215" y="256"/>
                </a:lnTo>
                <a:lnTo>
                  <a:pt x="4207" y="262"/>
                </a:lnTo>
                <a:lnTo>
                  <a:pt x="4202" y="267"/>
                </a:lnTo>
                <a:lnTo>
                  <a:pt x="4194" y="273"/>
                </a:lnTo>
                <a:lnTo>
                  <a:pt x="4186" y="278"/>
                </a:lnTo>
                <a:lnTo>
                  <a:pt x="4180" y="271"/>
                </a:lnTo>
                <a:lnTo>
                  <a:pt x="4176" y="264"/>
                </a:lnTo>
                <a:lnTo>
                  <a:pt x="4170" y="258"/>
                </a:lnTo>
                <a:lnTo>
                  <a:pt x="4163" y="251"/>
                </a:lnTo>
                <a:lnTo>
                  <a:pt x="4158" y="244"/>
                </a:lnTo>
                <a:lnTo>
                  <a:pt x="4150" y="238"/>
                </a:lnTo>
                <a:lnTo>
                  <a:pt x="4143" y="232"/>
                </a:lnTo>
                <a:lnTo>
                  <a:pt x="4138" y="225"/>
                </a:lnTo>
                <a:lnTo>
                  <a:pt x="4146" y="212"/>
                </a:lnTo>
                <a:lnTo>
                  <a:pt x="4154" y="200"/>
                </a:lnTo>
                <a:lnTo>
                  <a:pt x="4161" y="187"/>
                </a:lnTo>
                <a:lnTo>
                  <a:pt x="4170" y="173"/>
                </a:lnTo>
                <a:lnTo>
                  <a:pt x="4180" y="167"/>
                </a:lnTo>
                <a:lnTo>
                  <a:pt x="4188" y="160"/>
                </a:lnTo>
                <a:lnTo>
                  <a:pt x="4197" y="152"/>
                </a:lnTo>
                <a:lnTo>
                  <a:pt x="4205" y="145"/>
                </a:lnTo>
                <a:lnTo>
                  <a:pt x="4214" y="137"/>
                </a:lnTo>
                <a:lnTo>
                  <a:pt x="4222" y="130"/>
                </a:lnTo>
                <a:lnTo>
                  <a:pt x="4230" y="123"/>
                </a:lnTo>
                <a:lnTo>
                  <a:pt x="4238" y="116"/>
                </a:lnTo>
                <a:lnTo>
                  <a:pt x="4245" y="106"/>
                </a:lnTo>
                <a:lnTo>
                  <a:pt x="4249" y="99"/>
                </a:lnTo>
                <a:lnTo>
                  <a:pt x="4255" y="90"/>
                </a:lnTo>
                <a:lnTo>
                  <a:pt x="4260" y="82"/>
                </a:lnTo>
                <a:lnTo>
                  <a:pt x="4266" y="73"/>
                </a:lnTo>
                <a:lnTo>
                  <a:pt x="4271" y="65"/>
                </a:lnTo>
                <a:lnTo>
                  <a:pt x="4277" y="55"/>
                </a:lnTo>
                <a:lnTo>
                  <a:pt x="4284" y="47"/>
                </a:lnTo>
                <a:lnTo>
                  <a:pt x="4274" y="48"/>
                </a:lnTo>
                <a:lnTo>
                  <a:pt x="4264" y="50"/>
                </a:lnTo>
                <a:lnTo>
                  <a:pt x="4255" y="52"/>
                </a:lnTo>
                <a:lnTo>
                  <a:pt x="4245" y="52"/>
                </a:lnTo>
                <a:lnTo>
                  <a:pt x="4234" y="55"/>
                </a:lnTo>
                <a:lnTo>
                  <a:pt x="4224" y="56"/>
                </a:lnTo>
                <a:lnTo>
                  <a:pt x="4214" y="59"/>
                </a:lnTo>
                <a:lnTo>
                  <a:pt x="4204" y="60"/>
                </a:lnTo>
                <a:lnTo>
                  <a:pt x="4207" y="44"/>
                </a:lnTo>
                <a:lnTo>
                  <a:pt x="4211" y="30"/>
                </a:lnTo>
                <a:lnTo>
                  <a:pt x="4213" y="16"/>
                </a:lnTo>
                <a:lnTo>
                  <a:pt x="4215" y="0"/>
                </a:lnTo>
                <a:lnTo>
                  <a:pt x="4205" y="7"/>
                </a:lnTo>
                <a:lnTo>
                  <a:pt x="4196" y="13"/>
                </a:lnTo>
                <a:lnTo>
                  <a:pt x="4185" y="19"/>
                </a:lnTo>
                <a:lnTo>
                  <a:pt x="4176" y="26"/>
                </a:lnTo>
                <a:lnTo>
                  <a:pt x="4167" y="33"/>
                </a:lnTo>
                <a:lnTo>
                  <a:pt x="4158" y="41"/>
                </a:lnTo>
                <a:lnTo>
                  <a:pt x="4150" y="48"/>
                </a:lnTo>
                <a:lnTo>
                  <a:pt x="4139" y="55"/>
                </a:lnTo>
                <a:lnTo>
                  <a:pt x="4134" y="63"/>
                </a:lnTo>
                <a:lnTo>
                  <a:pt x="4129" y="73"/>
                </a:lnTo>
                <a:lnTo>
                  <a:pt x="4123" y="82"/>
                </a:lnTo>
                <a:lnTo>
                  <a:pt x="4119" y="92"/>
                </a:lnTo>
                <a:lnTo>
                  <a:pt x="4113" y="102"/>
                </a:lnTo>
                <a:lnTo>
                  <a:pt x="4108" y="112"/>
                </a:lnTo>
                <a:lnTo>
                  <a:pt x="4101" y="123"/>
                </a:lnTo>
                <a:lnTo>
                  <a:pt x="4097" y="134"/>
                </a:lnTo>
                <a:lnTo>
                  <a:pt x="4088" y="134"/>
                </a:lnTo>
                <a:lnTo>
                  <a:pt x="4080" y="134"/>
                </a:lnTo>
                <a:lnTo>
                  <a:pt x="4071" y="134"/>
                </a:lnTo>
                <a:lnTo>
                  <a:pt x="4064" y="134"/>
                </a:lnTo>
                <a:lnTo>
                  <a:pt x="4054" y="134"/>
                </a:lnTo>
                <a:lnTo>
                  <a:pt x="4047" y="134"/>
                </a:lnTo>
                <a:lnTo>
                  <a:pt x="4038" y="134"/>
                </a:lnTo>
                <a:lnTo>
                  <a:pt x="4030" y="133"/>
                </a:lnTo>
                <a:lnTo>
                  <a:pt x="4016" y="143"/>
                </a:lnTo>
                <a:lnTo>
                  <a:pt x="4000" y="154"/>
                </a:lnTo>
                <a:lnTo>
                  <a:pt x="3986" y="165"/>
                </a:lnTo>
                <a:lnTo>
                  <a:pt x="3972" y="175"/>
                </a:lnTo>
                <a:lnTo>
                  <a:pt x="3956" y="186"/>
                </a:lnTo>
                <a:lnTo>
                  <a:pt x="3941" y="197"/>
                </a:lnTo>
                <a:lnTo>
                  <a:pt x="3928" y="207"/>
                </a:lnTo>
                <a:lnTo>
                  <a:pt x="3910" y="218"/>
                </a:lnTo>
                <a:lnTo>
                  <a:pt x="3863" y="251"/>
                </a:lnTo>
                <a:lnTo>
                  <a:pt x="3815" y="280"/>
                </a:lnTo>
                <a:lnTo>
                  <a:pt x="3768" y="307"/>
                </a:lnTo>
                <a:lnTo>
                  <a:pt x="3720" y="331"/>
                </a:lnTo>
                <a:lnTo>
                  <a:pt x="3672" y="357"/>
                </a:lnTo>
                <a:lnTo>
                  <a:pt x="3625" y="381"/>
                </a:lnTo>
                <a:lnTo>
                  <a:pt x="3577" y="405"/>
                </a:lnTo>
                <a:lnTo>
                  <a:pt x="3530" y="428"/>
                </a:lnTo>
                <a:lnTo>
                  <a:pt x="3483" y="456"/>
                </a:lnTo>
                <a:lnTo>
                  <a:pt x="3436" y="485"/>
                </a:lnTo>
                <a:lnTo>
                  <a:pt x="3389" y="516"/>
                </a:lnTo>
                <a:lnTo>
                  <a:pt x="3342" y="549"/>
                </a:lnTo>
                <a:lnTo>
                  <a:pt x="3296" y="590"/>
                </a:lnTo>
                <a:lnTo>
                  <a:pt x="3250" y="633"/>
                </a:lnTo>
                <a:lnTo>
                  <a:pt x="3203" y="682"/>
                </a:lnTo>
                <a:lnTo>
                  <a:pt x="3155" y="736"/>
                </a:lnTo>
                <a:lnTo>
                  <a:pt x="3112" y="764"/>
                </a:lnTo>
                <a:lnTo>
                  <a:pt x="3078" y="786"/>
                </a:lnTo>
                <a:lnTo>
                  <a:pt x="3052" y="803"/>
                </a:lnTo>
                <a:lnTo>
                  <a:pt x="3036" y="812"/>
                </a:lnTo>
                <a:lnTo>
                  <a:pt x="3028" y="815"/>
                </a:lnTo>
                <a:lnTo>
                  <a:pt x="3026" y="814"/>
                </a:lnTo>
                <a:lnTo>
                  <a:pt x="3028" y="809"/>
                </a:lnTo>
                <a:lnTo>
                  <a:pt x="3035" y="800"/>
                </a:lnTo>
                <a:lnTo>
                  <a:pt x="3044" y="790"/>
                </a:lnTo>
                <a:lnTo>
                  <a:pt x="3055" y="778"/>
                </a:lnTo>
                <a:lnTo>
                  <a:pt x="3070" y="766"/>
                </a:lnTo>
                <a:lnTo>
                  <a:pt x="3083" y="754"/>
                </a:lnTo>
                <a:lnTo>
                  <a:pt x="3094" y="743"/>
                </a:lnTo>
                <a:lnTo>
                  <a:pt x="3104" y="732"/>
                </a:lnTo>
                <a:lnTo>
                  <a:pt x="3112" y="725"/>
                </a:lnTo>
                <a:lnTo>
                  <a:pt x="3114" y="721"/>
                </a:lnTo>
                <a:lnTo>
                  <a:pt x="3136" y="710"/>
                </a:lnTo>
                <a:lnTo>
                  <a:pt x="3154" y="700"/>
                </a:lnTo>
                <a:lnTo>
                  <a:pt x="3167" y="691"/>
                </a:lnTo>
                <a:lnTo>
                  <a:pt x="3175" y="685"/>
                </a:lnTo>
                <a:lnTo>
                  <a:pt x="3180" y="682"/>
                </a:lnTo>
                <a:lnTo>
                  <a:pt x="3183" y="677"/>
                </a:lnTo>
                <a:lnTo>
                  <a:pt x="3180" y="675"/>
                </a:lnTo>
                <a:lnTo>
                  <a:pt x="3177" y="674"/>
                </a:lnTo>
                <a:lnTo>
                  <a:pt x="3173" y="674"/>
                </a:lnTo>
                <a:lnTo>
                  <a:pt x="3169" y="674"/>
                </a:lnTo>
                <a:lnTo>
                  <a:pt x="3164" y="673"/>
                </a:lnTo>
                <a:lnTo>
                  <a:pt x="3160" y="671"/>
                </a:lnTo>
                <a:lnTo>
                  <a:pt x="3158" y="669"/>
                </a:lnTo>
                <a:lnTo>
                  <a:pt x="3158" y="666"/>
                </a:lnTo>
                <a:lnTo>
                  <a:pt x="3160" y="660"/>
                </a:lnTo>
                <a:lnTo>
                  <a:pt x="3165" y="654"/>
                </a:lnTo>
                <a:lnTo>
                  <a:pt x="3173" y="645"/>
                </a:lnTo>
                <a:lnTo>
                  <a:pt x="3185" y="633"/>
                </a:lnTo>
                <a:lnTo>
                  <a:pt x="3203" y="620"/>
                </a:lnTo>
                <a:lnTo>
                  <a:pt x="3225" y="603"/>
                </a:lnTo>
                <a:lnTo>
                  <a:pt x="3253" y="584"/>
                </a:lnTo>
                <a:lnTo>
                  <a:pt x="3287" y="560"/>
                </a:lnTo>
                <a:lnTo>
                  <a:pt x="3327" y="533"/>
                </a:lnTo>
                <a:lnTo>
                  <a:pt x="3375" y="503"/>
                </a:lnTo>
                <a:lnTo>
                  <a:pt x="3432" y="466"/>
                </a:lnTo>
                <a:lnTo>
                  <a:pt x="3495" y="426"/>
                </a:lnTo>
                <a:lnTo>
                  <a:pt x="3569" y="383"/>
                </a:lnTo>
                <a:lnTo>
                  <a:pt x="3651" y="331"/>
                </a:lnTo>
                <a:lnTo>
                  <a:pt x="3744" y="278"/>
                </a:lnTo>
                <a:lnTo>
                  <a:pt x="3849" y="216"/>
                </a:lnTo>
                <a:lnTo>
                  <a:pt x="3962" y="150"/>
                </a:lnTo>
                <a:lnTo>
                  <a:pt x="3989" y="133"/>
                </a:lnTo>
                <a:lnTo>
                  <a:pt x="4011" y="116"/>
                </a:lnTo>
                <a:lnTo>
                  <a:pt x="4029" y="99"/>
                </a:lnTo>
                <a:lnTo>
                  <a:pt x="4042" y="84"/>
                </a:lnTo>
                <a:lnTo>
                  <a:pt x="4050" y="71"/>
                </a:lnTo>
                <a:lnTo>
                  <a:pt x="4054" y="61"/>
                </a:lnTo>
                <a:lnTo>
                  <a:pt x="4054" y="54"/>
                </a:lnTo>
                <a:lnTo>
                  <a:pt x="4050" y="52"/>
                </a:lnTo>
                <a:lnTo>
                  <a:pt x="4025" y="56"/>
                </a:lnTo>
                <a:lnTo>
                  <a:pt x="3998" y="69"/>
                </a:lnTo>
                <a:lnTo>
                  <a:pt x="3972" y="88"/>
                </a:lnTo>
                <a:lnTo>
                  <a:pt x="3944" y="106"/>
                </a:lnTo>
                <a:lnTo>
                  <a:pt x="3920" y="126"/>
                </a:lnTo>
                <a:lnTo>
                  <a:pt x="3899" y="139"/>
                </a:lnTo>
                <a:lnTo>
                  <a:pt x="3883" y="143"/>
                </a:lnTo>
                <a:lnTo>
                  <a:pt x="3870" y="133"/>
                </a:lnTo>
                <a:lnTo>
                  <a:pt x="3857" y="154"/>
                </a:lnTo>
                <a:lnTo>
                  <a:pt x="3855" y="162"/>
                </a:lnTo>
                <a:lnTo>
                  <a:pt x="3857" y="160"/>
                </a:lnTo>
                <a:lnTo>
                  <a:pt x="3860" y="151"/>
                </a:lnTo>
                <a:lnTo>
                  <a:pt x="3858" y="143"/>
                </a:lnTo>
                <a:lnTo>
                  <a:pt x="3845" y="143"/>
                </a:lnTo>
                <a:lnTo>
                  <a:pt x="3813" y="152"/>
                </a:lnTo>
                <a:lnTo>
                  <a:pt x="3759" y="177"/>
                </a:lnTo>
                <a:lnTo>
                  <a:pt x="3741" y="187"/>
                </a:lnTo>
                <a:lnTo>
                  <a:pt x="3722" y="197"/>
                </a:lnTo>
                <a:lnTo>
                  <a:pt x="3702" y="208"/>
                </a:lnTo>
                <a:lnTo>
                  <a:pt x="3678" y="222"/>
                </a:lnTo>
                <a:lnTo>
                  <a:pt x="3656" y="237"/>
                </a:lnTo>
                <a:lnTo>
                  <a:pt x="3630" y="251"/>
                </a:lnTo>
                <a:lnTo>
                  <a:pt x="3603" y="267"/>
                </a:lnTo>
                <a:lnTo>
                  <a:pt x="3577" y="284"/>
                </a:lnTo>
                <a:lnTo>
                  <a:pt x="3548" y="301"/>
                </a:lnTo>
                <a:lnTo>
                  <a:pt x="3520" y="318"/>
                </a:lnTo>
                <a:lnTo>
                  <a:pt x="3491" y="337"/>
                </a:lnTo>
                <a:lnTo>
                  <a:pt x="3460" y="357"/>
                </a:lnTo>
                <a:lnTo>
                  <a:pt x="3431" y="375"/>
                </a:lnTo>
                <a:lnTo>
                  <a:pt x="3400" y="395"/>
                </a:lnTo>
                <a:lnTo>
                  <a:pt x="3368" y="415"/>
                </a:lnTo>
                <a:lnTo>
                  <a:pt x="3338" y="435"/>
                </a:lnTo>
                <a:lnTo>
                  <a:pt x="3307" y="456"/>
                </a:lnTo>
                <a:lnTo>
                  <a:pt x="3274" y="476"/>
                </a:lnTo>
                <a:lnTo>
                  <a:pt x="3244" y="496"/>
                </a:lnTo>
                <a:lnTo>
                  <a:pt x="3214" y="516"/>
                </a:lnTo>
                <a:lnTo>
                  <a:pt x="3184" y="535"/>
                </a:lnTo>
                <a:lnTo>
                  <a:pt x="3154" y="556"/>
                </a:lnTo>
                <a:lnTo>
                  <a:pt x="3127" y="574"/>
                </a:lnTo>
                <a:lnTo>
                  <a:pt x="3098" y="594"/>
                </a:lnTo>
                <a:lnTo>
                  <a:pt x="3072" y="611"/>
                </a:lnTo>
                <a:lnTo>
                  <a:pt x="3046" y="628"/>
                </a:lnTo>
                <a:lnTo>
                  <a:pt x="3022" y="645"/>
                </a:lnTo>
                <a:lnTo>
                  <a:pt x="2998" y="660"/>
                </a:lnTo>
                <a:lnTo>
                  <a:pt x="2974" y="677"/>
                </a:lnTo>
                <a:lnTo>
                  <a:pt x="2955" y="691"/>
                </a:lnTo>
                <a:lnTo>
                  <a:pt x="2936" y="704"/>
                </a:lnTo>
                <a:lnTo>
                  <a:pt x="2918" y="715"/>
                </a:lnTo>
                <a:lnTo>
                  <a:pt x="2869" y="749"/>
                </a:lnTo>
                <a:lnTo>
                  <a:pt x="2819" y="783"/>
                </a:lnTo>
                <a:lnTo>
                  <a:pt x="2771" y="816"/>
                </a:lnTo>
                <a:lnTo>
                  <a:pt x="2723" y="847"/>
                </a:lnTo>
                <a:lnTo>
                  <a:pt x="2675" y="879"/>
                </a:lnTo>
                <a:lnTo>
                  <a:pt x="2628" y="910"/>
                </a:lnTo>
                <a:lnTo>
                  <a:pt x="2581" y="940"/>
                </a:lnTo>
                <a:lnTo>
                  <a:pt x="2536" y="970"/>
                </a:lnTo>
                <a:lnTo>
                  <a:pt x="2491" y="1000"/>
                </a:lnTo>
                <a:lnTo>
                  <a:pt x="2447" y="1031"/>
                </a:lnTo>
                <a:lnTo>
                  <a:pt x="2402" y="1060"/>
                </a:lnTo>
                <a:lnTo>
                  <a:pt x="2359" y="1089"/>
                </a:lnTo>
                <a:lnTo>
                  <a:pt x="2316" y="1117"/>
                </a:lnTo>
                <a:lnTo>
                  <a:pt x="2273" y="1148"/>
                </a:lnTo>
                <a:lnTo>
                  <a:pt x="2232" y="1178"/>
                </a:lnTo>
                <a:lnTo>
                  <a:pt x="2191" y="1206"/>
                </a:lnTo>
                <a:lnTo>
                  <a:pt x="2168" y="1227"/>
                </a:lnTo>
                <a:lnTo>
                  <a:pt x="2146" y="1249"/>
                </a:lnTo>
                <a:lnTo>
                  <a:pt x="2125" y="1271"/>
                </a:lnTo>
                <a:lnTo>
                  <a:pt x="2104" y="1293"/>
                </a:lnTo>
                <a:lnTo>
                  <a:pt x="2085" y="1316"/>
                </a:lnTo>
                <a:lnTo>
                  <a:pt x="2065" y="1338"/>
                </a:lnTo>
                <a:lnTo>
                  <a:pt x="2048" y="1362"/>
                </a:lnTo>
                <a:lnTo>
                  <a:pt x="2029" y="1384"/>
                </a:lnTo>
                <a:lnTo>
                  <a:pt x="2010" y="1407"/>
                </a:lnTo>
                <a:lnTo>
                  <a:pt x="1994" y="1430"/>
                </a:lnTo>
                <a:lnTo>
                  <a:pt x="1975" y="1453"/>
                </a:lnTo>
                <a:lnTo>
                  <a:pt x="1957" y="1475"/>
                </a:lnTo>
                <a:lnTo>
                  <a:pt x="1938" y="1498"/>
                </a:lnTo>
                <a:lnTo>
                  <a:pt x="1920" y="1518"/>
                </a:lnTo>
                <a:lnTo>
                  <a:pt x="1901" y="1539"/>
                </a:lnTo>
                <a:lnTo>
                  <a:pt x="1881" y="1559"/>
                </a:lnTo>
                <a:lnTo>
                  <a:pt x="1859" y="1580"/>
                </a:lnTo>
                <a:lnTo>
                  <a:pt x="1835" y="1607"/>
                </a:lnTo>
                <a:lnTo>
                  <a:pt x="1811" y="1637"/>
                </a:lnTo>
                <a:lnTo>
                  <a:pt x="1786" y="1671"/>
                </a:lnTo>
                <a:lnTo>
                  <a:pt x="1762" y="1704"/>
                </a:lnTo>
                <a:lnTo>
                  <a:pt x="1738" y="1734"/>
                </a:lnTo>
                <a:lnTo>
                  <a:pt x="1717" y="1760"/>
                </a:lnTo>
                <a:lnTo>
                  <a:pt x="1697" y="1779"/>
                </a:lnTo>
                <a:lnTo>
                  <a:pt x="1669" y="1799"/>
                </a:lnTo>
                <a:lnTo>
                  <a:pt x="1651" y="1814"/>
                </a:lnTo>
                <a:lnTo>
                  <a:pt x="1638" y="1823"/>
                </a:lnTo>
                <a:lnTo>
                  <a:pt x="1629" y="1830"/>
                </a:lnTo>
                <a:lnTo>
                  <a:pt x="1618" y="1836"/>
                </a:lnTo>
                <a:lnTo>
                  <a:pt x="1607" y="1846"/>
                </a:lnTo>
                <a:lnTo>
                  <a:pt x="1593" y="1859"/>
                </a:lnTo>
                <a:lnTo>
                  <a:pt x="1571" y="1880"/>
                </a:lnTo>
                <a:lnTo>
                  <a:pt x="1550" y="1913"/>
                </a:lnTo>
                <a:lnTo>
                  <a:pt x="1531" y="1947"/>
                </a:lnTo>
                <a:lnTo>
                  <a:pt x="1514" y="1983"/>
                </a:lnTo>
                <a:lnTo>
                  <a:pt x="1499" y="2021"/>
                </a:lnTo>
                <a:lnTo>
                  <a:pt x="1482" y="2057"/>
                </a:lnTo>
                <a:lnTo>
                  <a:pt x="1466" y="2093"/>
                </a:lnTo>
                <a:lnTo>
                  <a:pt x="1452" y="2128"/>
                </a:lnTo>
                <a:lnTo>
                  <a:pt x="1435" y="2161"/>
                </a:lnTo>
                <a:lnTo>
                  <a:pt x="1420" y="2132"/>
                </a:lnTo>
                <a:lnTo>
                  <a:pt x="1402" y="2104"/>
                </a:lnTo>
                <a:lnTo>
                  <a:pt x="1383" y="2075"/>
                </a:lnTo>
                <a:lnTo>
                  <a:pt x="1363" y="2046"/>
                </a:lnTo>
                <a:lnTo>
                  <a:pt x="1340" y="2018"/>
                </a:lnTo>
                <a:lnTo>
                  <a:pt x="1319" y="1989"/>
                </a:lnTo>
                <a:lnTo>
                  <a:pt x="1296" y="1961"/>
                </a:lnTo>
                <a:lnTo>
                  <a:pt x="1274" y="1933"/>
                </a:lnTo>
                <a:lnTo>
                  <a:pt x="1251" y="1903"/>
                </a:lnTo>
                <a:lnTo>
                  <a:pt x="1230" y="1874"/>
                </a:lnTo>
                <a:lnTo>
                  <a:pt x="1210" y="1847"/>
                </a:lnTo>
                <a:lnTo>
                  <a:pt x="1192" y="1818"/>
                </a:lnTo>
                <a:lnTo>
                  <a:pt x="1175" y="1789"/>
                </a:lnTo>
                <a:lnTo>
                  <a:pt x="1159" y="1761"/>
                </a:lnTo>
                <a:lnTo>
                  <a:pt x="1146" y="1732"/>
                </a:lnTo>
                <a:lnTo>
                  <a:pt x="1137" y="1705"/>
                </a:lnTo>
                <a:lnTo>
                  <a:pt x="1121" y="1665"/>
                </a:lnTo>
                <a:lnTo>
                  <a:pt x="1105" y="1624"/>
                </a:lnTo>
                <a:lnTo>
                  <a:pt x="1087" y="1580"/>
                </a:lnTo>
                <a:lnTo>
                  <a:pt x="1068" y="1537"/>
                </a:lnTo>
                <a:lnTo>
                  <a:pt x="1050" y="1493"/>
                </a:lnTo>
                <a:lnTo>
                  <a:pt x="1032" y="1449"/>
                </a:lnTo>
                <a:lnTo>
                  <a:pt x="1016" y="1407"/>
                </a:lnTo>
                <a:lnTo>
                  <a:pt x="1003" y="1367"/>
                </a:lnTo>
                <a:lnTo>
                  <a:pt x="979" y="1376"/>
                </a:lnTo>
                <a:lnTo>
                  <a:pt x="958" y="1386"/>
                </a:lnTo>
                <a:lnTo>
                  <a:pt x="935" y="1394"/>
                </a:lnTo>
                <a:lnTo>
                  <a:pt x="914" y="1403"/>
                </a:lnTo>
                <a:lnTo>
                  <a:pt x="891" y="1411"/>
                </a:lnTo>
                <a:lnTo>
                  <a:pt x="870" y="1418"/>
                </a:lnTo>
                <a:lnTo>
                  <a:pt x="847" y="1426"/>
                </a:lnTo>
                <a:lnTo>
                  <a:pt x="825" y="1435"/>
                </a:lnTo>
                <a:lnTo>
                  <a:pt x="808" y="1443"/>
                </a:lnTo>
                <a:lnTo>
                  <a:pt x="790" y="1450"/>
                </a:lnTo>
                <a:lnTo>
                  <a:pt x="773" y="1459"/>
                </a:lnTo>
                <a:lnTo>
                  <a:pt x="755" y="1467"/>
                </a:lnTo>
                <a:lnTo>
                  <a:pt x="738" y="1475"/>
                </a:lnTo>
                <a:lnTo>
                  <a:pt x="721" y="1484"/>
                </a:lnTo>
                <a:lnTo>
                  <a:pt x="704" y="1491"/>
                </a:lnTo>
                <a:lnTo>
                  <a:pt x="687" y="1499"/>
                </a:lnTo>
                <a:lnTo>
                  <a:pt x="669" y="1507"/>
                </a:lnTo>
                <a:lnTo>
                  <a:pt x="652" y="1515"/>
                </a:lnTo>
                <a:lnTo>
                  <a:pt x="636" y="1522"/>
                </a:lnTo>
                <a:lnTo>
                  <a:pt x="619" y="1531"/>
                </a:lnTo>
                <a:lnTo>
                  <a:pt x="602" y="1537"/>
                </a:lnTo>
                <a:lnTo>
                  <a:pt x="586" y="1546"/>
                </a:lnTo>
                <a:lnTo>
                  <a:pt x="569" y="1553"/>
                </a:lnTo>
                <a:lnTo>
                  <a:pt x="553" y="1561"/>
                </a:lnTo>
                <a:lnTo>
                  <a:pt x="550" y="1561"/>
                </a:lnTo>
                <a:lnTo>
                  <a:pt x="541" y="1561"/>
                </a:lnTo>
                <a:lnTo>
                  <a:pt x="527" y="1563"/>
                </a:lnTo>
                <a:lnTo>
                  <a:pt x="511" y="1567"/>
                </a:lnTo>
                <a:lnTo>
                  <a:pt x="491" y="1571"/>
                </a:lnTo>
                <a:lnTo>
                  <a:pt x="469" y="1577"/>
                </a:lnTo>
                <a:lnTo>
                  <a:pt x="445" y="1585"/>
                </a:lnTo>
                <a:lnTo>
                  <a:pt x="421" y="1592"/>
                </a:lnTo>
                <a:lnTo>
                  <a:pt x="396" y="1598"/>
                </a:lnTo>
                <a:lnTo>
                  <a:pt x="373" y="1605"/>
                </a:lnTo>
                <a:lnTo>
                  <a:pt x="351" y="1612"/>
                </a:lnTo>
                <a:lnTo>
                  <a:pt x="333" y="1616"/>
                </a:lnTo>
                <a:lnTo>
                  <a:pt x="315" y="1620"/>
                </a:lnTo>
                <a:lnTo>
                  <a:pt x="304" y="1624"/>
                </a:lnTo>
                <a:lnTo>
                  <a:pt x="297" y="1624"/>
                </a:lnTo>
                <a:lnTo>
                  <a:pt x="294" y="1622"/>
                </a:lnTo>
                <a:lnTo>
                  <a:pt x="275" y="1633"/>
                </a:lnTo>
                <a:lnTo>
                  <a:pt x="256" y="1643"/>
                </a:lnTo>
                <a:lnTo>
                  <a:pt x="237" y="1654"/>
                </a:lnTo>
                <a:lnTo>
                  <a:pt x="219" y="1665"/>
                </a:lnTo>
                <a:lnTo>
                  <a:pt x="199" y="1675"/>
                </a:lnTo>
                <a:lnTo>
                  <a:pt x="180" y="1685"/>
                </a:lnTo>
                <a:lnTo>
                  <a:pt x="161" y="1696"/>
                </a:lnTo>
                <a:lnTo>
                  <a:pt x="143" y="1707"/>
                </a:lnTo>
                <a:lnTo>
                  <a:pt x="124" y="1718"/>
                </a:lnTo>
                <a:lnTo>
                  <a:pt x="106" y="1729"/>
                </a:lnTo>
                <a:lnTo>
                  <a:pt x="87" y="1739"/>
                </a:lnTo>
                <a:lnTo>
                  <a:pt x="70" y="1750"/>
                </a:lnTo>
                <a:lnTo>
                  <a:pt x="53" y="1760"/>
                </a:lnTo>
                <a:lnTo>
                  <a:pt x="35" y="1771"/>
                </a:lnTo>
                <a:lnTo>
                  <a:pt x="18" y="1781"/>
                </a:lnTo>
                <a:lnTo>
                  <a:pt x="0" y="1792"/>
                </a:lnTo>
                <a:close/>
              </a:path>
            </a:pathLst>
          </a:custGeom>
          <a:solidFill>
            <a:srgbClr val="F58220"/>
          </a:solidFill>
          <a:ln w="19050">
            <a:solidFill>
              <a:srgbClr val="FFFFFF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96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ea"/>
              <a:sym typeface="나눔고딕"/>
            </a:endParaRPr>
          </a:p>
        </p:txBody>
      </p:sp>
      <p:sp>
        <p:nvSpPr>
          <p:cNvPr id="38" name="Freeform 1754">
            <a:extLst>
              <a:ext uri="{FF2B5EF4-FFF2-40B4-BE49-F238E27FC236}">
                <a16:creationId xmlns:a16="http://schemas.microsoft.com/office/drawing/2014/main" id="{FE416AA6-2465-39B8-6F23-4825FE94FE49}"/>
              </a:ext>
            </a:extLst>
          </p:cNvPr>
          <p:cNvSpPr>
            <a:spLocks noChangeAspect="1"/>
          </p:cNvSpPr>
          <p:nvPr/>
        </p:nvSpPr>
        <p:spPr bwMode="gray">
          <a:xfrm>
            <a:off x="4965520" y="2821114"/>
            <a:ext cx="306968" cy="270540"/>
          </a:xfrm>
          <a:custGeom>
            <a:avLst/>
            <a:gdLst>
              <a:gd name="T0" fmla="*/ 2147483646 w 4916"/>
              <a:gd name="T1" fmla="*/ 2147483646 h 3388"/>
              <a:gd name="T2" fmla="*/ 2147483646 w 4916"/>
              <a:gd name="T3" fmla="*/ 2147483646 h 3388"/>
              <a:gd name="T4" fmla="*/ 2147483646 w 4916"/>
              <a:gd name="T5" fmla="*/ 2147483646 h 3388"/>
              <a:gd name="T6" fmla="*/ 2147483646 w 4916"/>
              <a:gd name="T7" fmla="*/ 2147483646 h 3388"/>
              <a:gd name="T8" fmla="*/ 2147483646 w 4916"/>
              <a:gd name="T9" fmla="*/ 2147483646 h 3388"/>
              <a:gd name="T10" fmla="*/ 2147483646 w 4916"/>
              <a:gd name="T11" fmla="*/ 2147483646 h 3388"/>
              <a:gd name="T12" fmla="*/ 2147483646 w 4916"/>
              <a:gd name="T13" fmla="*/ 2147483646 h 3388"/>
              <a:gd name="T14" fmla="*/ 2147483646 w 4916"/>
              <a:gd name="T15" fmla="*/ 2147483646 h 3388"/>
              <a:gd name="T16" fmla="*/ 2147483646 w 4916"/>
              <a:gd name="T17" fmla="*/ 2147483646 h 3388"/>
              <a:gd name="T18" fmla="*/ 2147483646 w 4916"/>
              <a:gd name="T19" fmla="*/ 2147483646 h 3388"/>
              <a:gd name="T20" fmla="*/ 2147483646 w 4916"/>
              <a:gd name="T21" fmla="*/ 2147483646 h 3388"/>
              <a:gd name="T22" fmla="*/ 2147483646 w 4916"/>
              <a:gd name="T23" fmla="*/ 2147483646 h 3388"/>
              <a:gd name="T24" fmla="*/ 2147483646 w 4916"/>
              <a:gd name="T25" fmla="*/ 2147483646 h 3388"/>
              <a:gd name="T26" fmla="*/ 2147483646 w 4916"/>
              <a:gd name="T27" fmla="*/ 2147483646 h 3388"/>
              <a:gd name="T28" fmla="*/ 2147483646 w 4916"/>
              <a:gd name="T29" fmla="*/ 2147483646 h 3388"/>
              <a:gd name="T30" fmla="*/ 2147483646 w 4916"/>
              <a:gd name="T31" fmla="*/ 2147483646 h 3388"/>
              <a:gd name="T32" fmla="*/ 2147483646 w 4916"/>
              <a:gd name="T33" fmla="*/ 2147483646 h 3388"/>
              <a:gd name="T34" fmla="*/ 2147483646 w 4916"/>
              <a:gd name="T35" fmla="*/ 2147483646 h 3388"/>
              <a:gd name="T36" fmla="*/ 2147483646 w 4916"/>
              <a:gd name="T37" fmla="*/ 2147483646 h 3388"/>
              <a:gd name="T38" fmla="*/ 2147483646 w 4916"/>
              <a:gd name="T39" fmla="*/ 2147483646 h 3388"/>
              <a:gd name="T40" fmla="*/ 2147483646 w 4916"/>
              <a:gd name="T41" fmla="*/ 2147483646 h 3388"/>
              <a:gd name="T42" fmla="*/ 2147483646 w 4916"/>
              <a:gd name="T43" fmla="*/ 2147483646 h 3388"/>
              <a:gd name="T44" fmla="*/ 2147483646 w 4916"/>
              <a:gd name="T45" fmla="*/ 2147483646 h 3388"/>
              <a:gd name="T46" fmla="*/ 2147483646 w 4916"/>
              <a:gd name="T47" fmla="*/ 2147483646 h 3388"/>
              <a:gd name="T48" fmla="*/ 2147483646 w 4916"/>
              <a:gd name="T49" fmla="*/ 2147483646 h 3388"/>
              <a:gd name="T50" fmla="*/ 2147483646 w 4916"/>
              <a:gd name="T51" fmla="*/ 2147483646 h 3388"/>
              <a:gd name="T52" fmla="*/ 2147483646 w 4916"/>
              <a:gd name="T53" fmla="*/ 2147483646 h 3388"/>
              <a:gd name="T54" fmla="*/ 2147483646 w 4916"/>
              <a:gd name="T55" fmla="*/ 2147483646 h 3388"/>
              <a:gd name="T56" fmla="*/ 2147483646 w 4916"/>
              <a:gd name="T57" fmla="*/ 2147483646 h 3388"/>
              <a:gd name="T58" fmla="*/ 2147483646 w 4916"/>
              <a:gd name="T59" fmla="*/ 2147483646 h 3388"/>
              <a:gd name="T60" fmla="*/ 2147483646 w 4916"/>
              <a:gd name="T61" fmla="*/ 2147483646 h 3388"/>
              <a:gd name="T62" fmla="*/ 2147483646 w 4916"/>
              <a:gd name="T63" fmla="*/ 2147483646 h 3388"/>
              <a:gd name="T64" fmla="*/ 2147483646 w 4916"/>
              <a:gd name="T65" fmla="*/ 2147483646 h 3388"/>
              <a:gd name="T66" fmla="*/ 2147483646 w 4916"/>
              <a:gd name="T67" fmla="*/ 2147483646 h 3388"/>
              <a:gd name="T68" fmla="*/ 2147483646 w 4916"/>
              <a:gd name="T69" fmla="*/ 2147483646 h 3388"/>
              <a:gd name="T70" fmla="*/ 2147483646 w 4916"/>
              <a:gd name="T71" fmla="*/ 2147483646 h 3388"/>
              <a:gd name="T72" fmla="*/ 2147483646 w 4916"/>
              <a:gd name="T73" fmla="*/ 2147483646 h 3388"/>
              <a:gd name="T74" fmla="*/ 2147483646 w 4916"/>
              <a:gd name="T75" fmla="*/ 2147483646 h 3388"/>
              <a:gd name="T76" fmla="*/ 2147483646 w 4916"/>
              <a:gd name="T77" fmla="*/ 2147483646 h 3388"/>
              <a:gd name="T78" fmla="*/ 2147483646 w 4916"/>
              <a:gd name="T79" fmla="*/ 2147483646 h 3388"/>
              <a:gd name="T80" fmla="*/ 2147483646 w 4916"/>
              <a:gd name="T81" fmla="*/ 2147483646 h 3388"/>
              <a:gd name="T82" fmla="*/ 2147483646 w 4916"/>
              <a:gd name="T83" fmla="*/ 2147483646 h 3388"/>
              <a:gd name="T84" fmla="*/ 2147483646 w 4916"/>
              <a:gd name="T85" fmla="*/ 2147483646 h 3388"/>
              <a:gd name="T86" fmla="*/ 2147483646 w 4916"/>
              <a:gd name="T87" fmla="*/ 2147483646 h 3388"/>
              <a:gd name="T88" fmla="*/ 2147483646 w 4916"/>
              <a:gd name="T89" fmla="*/ 2147483646 h 3388"/>
              <a:gd name="T90" fmla="*/ 2147483646 w 4916"/>
              <a:gd name="T91" fmla="*/ 2147483646 h 3388"/>
              <a:gd name="T92" fmla="*/ 2147483646 w 4916"/>
              <a:gd name="T93" fmla="*/ 2147483646 h 3388"/>
              <a:gd name="T94" fmla="*/ 2147483646 w 4916"/>
              <a:gd name="T95" fmla="*/ 2147483646 h 3388"/>
              <a:gd name="T96" fmla="*/ 2147483646 w 4916"/>
              <a:gd name="T97" fmla="*/ 2147483646 h 3388"/>
              <a:gd name="T98" fmla="*/ 2147483646 w 4916"/>
              <a:gd name="T99" fmla="*/ 2147483646 h 3388"/>
              <a:gd name="T100" fmla="*/ 2147483646 w 4916"/>
              <a:gd name="T101" fmla="*/ 2147483646 h 3388"/>
              <a:gd name="T102" fmla="*/ 2147483646 w 4916"/>
              <a:gd name="T103" fmla="*/ 2147483646 h 3388"/>
              <a:gd name="T104" fmla="*/ 2147483646 w 4916"/>
              <a:gd name="T105" fmla="*/ 2147483646 h 3388"/>
              <a:gd name="T106" fmla="*/ 2147483646 w 4916"/>
              <a:gd name="T107" fmla="*/ 2147483646 h 3388"/>
              <a:gd name="T108" fmla="*/ 2147483646 w 4916"/>
              <a:gd name="T109" fmla="*/ 2147483646 h 3388"/>
              <a:gd name="T110" fmla="*/ 2147483646 w 4916"/>
              <a:gd name="T111" fmla="*/ 2147483646 h 3388"/>
              <a:gd name="T112" fmla="*/ 2147483646 w 4916"/>
              <a:gd name="T113" fmla="*/ 2147483646 h 3388"/>
              <a:gd name="T114" fmla="*/ 2147483646 w 4916"/>
              <a:gd name="T115" fmla="*/ 2147483646 h 3388"/>
              <a:gd name="T116" fmla="*/ 2147483646 w 4916"/>
              <a:gd name="T117" fmla="*/ 2147483646 h 3388"/>
              <a:gd name="T118" fmla="*/ 2147483646 w 4916"/>
              <a:gd name="T119" fmla="*/ 2147483646 h 3388"/>
              <a:gd name="T120" fmla="*/ 2147483646 w 4916"/>
              <a:gd name="T121" fmla="*/ 2147483646 h 3388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w 4916"/>
              <a:gd name="T184" fmla="*/ 0 h 3388"/>
              <a:gd name="T185" fmla="*/ 4916 w 4916"/>
              <a:gd name="T186" fmla="*/ 3388 h 3388"/>
            </a:gdLst>
            <a:ahLst/>
            <a:cxnLst>
              <a:cxn ang="T122">
                <a:pos x="T0" y="T1"/>
              </a:cxn>
              <a:cxn ang="T123">
                <a:pos x="T2" y="T3"/>
              </a:cxn>
              <a:cxn ang="T124">
                <a:pos x="T4" y="T5"/>
              </a:cxn>
              <a:cxn ang="T125">
                <a:pos x="T6" y="T7"/>
              </a:cxn>
              <a:cxn ang="T126">
                <a:pos x="T8" y="T9"/>
              </a:cxn>
              <a:cxn ang="T127">
                <a:pos x="T10" y="T11"/>
              </a:cxn>
              <a:cxn ang="T128">
                <a:pos x="T12" y="T13"/>
              </a:cxn>
              <a:cxn ang="T129">
                <a:pos x="T14" y="T15"/>
              </a:cxn>
              <a:cxn ang="T130">
                <a:pos x="T16" y="T17"/>
              </a:cxn>
              <a:cxn ang="T131">
                <a:pos x="T18" y="T19"/>
              </a:cxn>
              <a:cxn ang="T132">
                <a:pos x="T20" y="T21"/>
              </a:cxn>
              <a:cxn ang="T133">
                <a:pos x="T22" y="T23"/>
              </a:cxn>
              <a:cxn ang="T134">
                <a:pos x="T24" y="T25"/>
              </a:cxn>
              <a:cxn ang="T135">
                <a:pos x="T26" y="T27"/>
              </a:cxn>
              <a:cxn ang="T136">
                <a:pos x="T28" y="T29"/>
              </a:cxn>
              <a:cxn ang="T137">
                <a:pos x="T30" y="T31"/>
              </a:cxn>
              <a:cxn ang="T138">
                <a:pos x="T32" y="T33"/>
              </a:cxn>
              <a:cxn ang="T139">
                <a:pos x="T34" y="T35"/>
              </a:cxn>
              <a:cxn ang="T140">
                <a:pos x="T36" y="T37"/>
              </a:cxn>
              <a:cxn ang="T141">
                <a:pos x="T38" y="T39"/>
              </a:cxn>
              <a:cxn ang="T142">
                <a:pos x="T40" y="T41"/>
              </a:cxn>
              <a:cxn ang="T143">
                <a:pos x="T42" y="T43"/>
              </a:cxn>
              <a:cxn ang="T144">
                <a:pos x="T44" y="T45"/>
              </a:cxn>
              <a:cxn ang="T145">
                <a:pos x="T46" y="T47"/>
              </a:cxn>
              <a:cxn ang="T146">
                <a:pos x="T48" y="T49"/>
              </a:cxn>
              <a:cxn ang="T147">
                <a:pos x="T50" y="T51"/>
              </a:cxn>
              <a:cxn ang="T148">
                <a:pos x="T52" y="T53"/>
              </a:cxn>
              <a:cxn ang="T149">
                <a:pos x="T54" y="T55"/>
              </a:cxn>
              <a:cxn ang="T150">
                <a:pos x="T56" y="T57"/>
              </a:cxn>
              <a:cxn ang="T151">
                <a:pos x="T58" y="T59"/>
              </a:cxn>
              <a:cxn ang="T152">
                <a:pos x="T60" y="T61"/>
              </a:cxn>
              <a:cxn ang="T153">
                <a:pos x="T62" y="T63"/>
              </a:cxn>
              <a:cxn ang="T154">
                <a:pos x="T64" y="T65"/>
              </a:cxn>
              <a:cxn ang="T155">
                <a:pos x="T66" y="T67"/>
              </a:cxn>
              <a:cxn ang="T156">
                <a:pos x="T68" y="T69"/>
              </a:cxn>
              <a:cxn ang="T157">
                <a:pos x="T70" y="T71"/>
              </a:cxn>
              <a:cxn ang="T158">
                <a:pos x="T72" y="T73"/>
              </a:cxn>
              <a:cxn ang="T159">
                <a:pos x="T74" y="T75"/>
              </a:cxn>
              <a:cxn ang="T160">
                <a:pos x="T76" y="T77"/>
              </a:cxn>
              <a:cxn ang="T161">
                <a:pos x="T78" y="T79"/>
              </a:cxn>
              <a:cxn ang="T162">
                <a:pos x="T80" y="T81"/>
              </a:cxn>
              <a:cxn ang="T163">
                <a:pos x="T82" y="T83"/>
              </a:cxn>
              <a:cxn ang="T164">
                <a:pos x="T84" y="T85"/>
              </a:cxn>
              <a:cxn ang="T165">
                <a:pos x="T86" y="T87"/>
              </a:cxn>
              <a:cxn ang="T166">
                <a:pos x="T88" y="T89"/>
              </a:cxn>
              <a:cxn ang="T167">
                <a:pos x="T90" y="T91"/>
              </a:cxn>
              <a:cxn ang="T168">
                <a:pos x="T92" y="T93"/>
              </a:cxn>
              <a:cxn ang="T169">
                <a:pos x="T94" y="T95"/>
              </a:cxn>
              <a:cxn ang="T170">
                <a:pos x="T96" y="T97"/>
              </a:cxn>
              <a:cxn ang="T171">
                <a:pos x="T98" y="T99"/>
              </a:cxn>
              <a:cxn ang="T172">
                <a:pos x="T100" y="T101"/>
              </a:cxn>
              <a:cxn ang="T173">
                <a:pos x="T102" y="T103"/>
              </a:cxn>
              <a:cxn ang="T174">
                <a:pos x="T104" y="T105"/>
              </a:cxn>
              <a:cxn ang="T175">
                <a:pos x="T106" y="T107"/>
              </a:cxn>
              <a:cxn ang="T176">
                <a:pos x="T108" y="T109"/>
              </a:cxn>
              <a:cxn ang="T177">
                <a:pos x="T110" y="T111"/>
              </a:cxn>
              <a:cxn ang="T178">
                <a:pos x="T112" y="T113"/>
              </a:cxn>
              <a:cxn ang="T179">
                <a:pos x="T114" y="T115"/>
              </a:cxn>
              <a:cxn ang="T180">
                <a:pos x="T116" y="T117"/>
              </a:cxn>
              <a:cxn ang="T181">
                <a:pos x="T118" y="T119"/>
              </a:cxn>
              <a:cxn ang="T182">
                <a:pos x="T120" y="T121"/>
              </a:cxn>
            </a:cxnLst>
            <a:rect l="T183" t="T184" r="T185" b="T186"/>
            <a:pathLst>
              <a:path w="4916" h="3388">
                <a:moveTo>
                  <a:pt x="0" y="1792"/>
                </a:moveTo>
                <a:lnTo>
                  <a:pt x="12" y="1808"/>
                </a:lnTo>
                <a:lnTo>
                  <a:pt x="25" y="1823"/>
                </a:lnTo>
                <a:lnTo>
                  <a:pt x="38" y="1838"/>
                </a:lnTo>
                <a:lnTo>
                  <a:pt x="53" y="1853"/>
                </a:lnTo>
                <a:lnTo>
                  <a:pt x="68" y="1867"/>
                </a:lnTo>
                <a:lnTo>
                  <a:pt x="83" y="1883"/>
                </a:lnTo>
                <a:lnTo>
                  <a:pt x="100" y="1897"/>
                </a:lnTo>
                <a:lnTo>
                  <a:pt x="116" y="1911"/>
                </a:lnTo>
                <a:lnTo>
                  <a:pt x="131" y="1927"/>
                </a:lnTo>
                <a:lnTo>
                  <a:pt x="148" y="1941"/>
                </a:lnTo>
                <a:lnTo>
                  <a:pt x="162" y="1955"/>
                </a:lnTo>
                <a:lnTo>
                  <a:pt x="178" y="1971"/>
                </a:lnTo>
                <a:lnTo>
                  <a:pt x="193" y="1985"/>
                </a:lnTo>
                <a:lnTo>
                  <a:pt x="206" y="2000"/>
                </a:lnTo>
                <a:lnTo>
                  <a:pt x="219" y="2014"/>
                </a:lnTo>
                <a:lnTo>
                  <a:pt x="231" y="2030"/>
                </a:lnTo>
                <a:lnTo>
                  <a:pt x="244" y="2058"/>
                </a:lnTo>
                <a:lnTo>
                  <a:pt x="261" y="2080"/>
                </a:lnTo>
                <a:lnTo>
                  <a:pt x="281" y="2098"/>
                </a:lnTo>
                <a:lnTo>
                  <a:pt x="301" y="2114"/>
                </a:lnTo>
                <a:lnTo>
                  <a:pt x="322" y="2129"/>
                </a:lnTo>
                <a:lnTo>
                  <a:pt x="342" y="2148"/>
                </a:lnTo>
                <a:lnTo>
                  <a:pt x="359" y="2169"/>
                </a:lnTo>
                <a:lnTo>
                  <a:pt x="375" y="2195"/>
                </a:lnTo>
                <a:lnTo>
                  <a:pt x="391" y="2223"/>
                </a:lnTo>
                <a:lnTo>
                  <a:pt x="415" y="2256"/>
                </a:lnTo>
                <a:lnTo>
                  <a:pt x="441" y="2294"/>
                </a:lnTo>
                <a:lnTo>
                  <a:pt x="471" y="2333"/>
                </a:lnTo>
                <a:lnTo>
                  <a:pt x="501" y="2373"/>
                </a:lnTo>
                <a:lnTo>
                  <a:pt x="527" y="2409"/>
                </a:lnTo>
                <a:lnTo>
                  <a:pt x="551" y="2442"/>
                </a:lnTo>
                <a:lnTo>
                  <a:pt x="569" y="2469"/>
                </a:lnTo>
                <a:lnTo>
                  <a:pt x="580" y="2492"/>
                </a:lnTo>
                <a:lnTo>
                  <a:pt x="597" y="2519"/>
                </a:lnTo>
                <a:lnTo>
                  <a:pt x="616" y="2552"/>
                </a:lnTo>
                <a:lnTo>
                  <a:pt x="638" y="2586"/>
                </a:lnTo>
                <a:lnTo>
                  <a:pt x="663" y="2626"/>
                </a:lnTo>
                <a:lnTo>
                  <a:pt x="689" y="2666"/>
                </a:lnTo>
                <a:lnTo>
                  <a:pt x="717" y="2708"/>
                </a:lnTo>
                <a:lnTo>
                  <a:pt x="747" y="2752"/>
                </a:lnTo>
                <a:lnTo>
                  <a:pt x="775" y="2794"/>
                </a:lnTo>
                <a:lnTo>
                  <a:pt x="803" y="2838"/>
                </a:lnTo>
                <a:lnTo>
                  <a:pt x="830" y="2878"/>
                </a:lnTo>
                <a:lnTo>
                  <a:pt x="855" y="2916"/>
                </a:lnTo>
                <a:lnTo>
                  <a:pt x="878" y="2952"/>
                </a:lnTo>
                <a:lnTo>
                  <a:pt x="897" y="2983"/>
                </a:lnTo>
                <a:lnTo>
                  <a:pt x="914" y="3011"/>
                </a:lnTo>
                <a:lnTo>
                  <a:pt x="926" y="3032"/>
                </a:lnTo>
                <a:lnTo>
                  <a:pt x="937" y="3034"/>
                </a:lnTo>
                <a:lnTo>
                  <a:pt x="946" y="3035"/>
                </a:lnTo>
                <a:lnTo>
                  <a:pt x="957" y="3037"/>
                </a:lnTo>
                <a:lnTo>
                  <a:pt x="966" y="3039"/>
                </a:lnTo>
                <a:lnTo>
                  <a:pt x="977" y="3039"/>
                </a:lnTo>
                <a:lnTo>
                  <a:pt x="987" y="3042"/>
                </a:lnTo>
                <a:lnTo>
                  <a:pt x="997" y="3043"/>
                </a:lnTo>
                <a:lnTo>
                  <a:pt x="1007" y="3045"/>
                </a:lnTo>
                <a:lnTo>
                  <a:pt x="1009" y="3055"/>
                </a:lnTo>
                <a:lnTo>
                  <a:pt x="1012" y="3064"/>
                </a:lnTo>
                <a:lnTo>
                  <a:pt x="1014" y="3073"/>
                </a:lnTo>
                <a:lnTo>
                  <a:pt x="1016" y="3083"/>
                </a:lnTo>
                <a:lnTo>
                  <a:pt x="1025" y="3083"/>
                </a:lnTo>
                <a:lnTo>
                  <a:pt x="1033" y="3085"/>
                </a:lnTo>
                <a:lnTo>
                  <a:pt x="1043" y="3086"/>
                </a:lnTo>
                <a:lnTo>
                  <a:pt x="1052" y="3087"/>
                </a:lnTo>
                <a:lnTo>
                  <a:pt x="1060" y="3090"/>
                </a:lnTo>
                <a:lnTo>
                  <a:pt x="1069" y="3091"/>
                </a:lnTo>
                <a:lnTo>
                  <a:pt x="1079" y="3092"/>
                </a:lnTo>
                <a:lnTo>
                  <a:pt x="1088" y="3093"/>
                </a:lnTo>
                <a:lnTo>
                  <a:pt x="1104" y="3103"/>
                </a:lnTo>
                <a:lnTo>
                  <a:pt x="1121" y="3113"/>
                </a:lnTo>
                <a:lnTo>
                  <a:pt x="1137" y="3121"/>
                </a:lnTo>
                <a:lnTo>
                  <a:pt x="1152" y="3130"/>
                </a:lnTo>
                <a:lnTo>
                  <a:pt x="1168" y="3139"/>
                </a:lnTo>
                <a:lnTo>
                  <a:pt x="1185" y="3147"/>
                </a:lnTo>
                <a:lnTo>
                  <a:pt x="1202" y="3156"/>
                </a:lnTo>
                <a:lnTo>
                  <a:pt x="1217" y="3165"/>
                </a:lnTo>
                <a:lnTo>
                  <a:pt x="1229" y="3166"/>
                </a:lnTo>
                <a:lnTo>
                  <a:pt x="1240" y="3167"/>
                </a:lnTo>
                <a:lnTo>
                  <a:pt x="1251" y="3169"/>
                </a:lnTo>
                <a:lnTo>
                  <a:pt x="1262" y="3170"/>
                </a:lnTo>
                <a:lnTo>
                  <a:pt x="1274" y="3170"/>
                </a:lnTo>
                <a:lnTo>
                  <a:pt x="1285" y="3171"/>
                </a:lnTo>
                <a:lnTo>
                  <a:pt x="1297" y="3172"/>
                </a:lnTo>
                <a:lnTo>
                  <a:pt x="1308" y="3172"/>
                </a:lnTo>
                <a:lnTo>
                  <a:pt x="1317" y="3183"/>
                </a:lnTo>
                <a:lnTo>
                  <a:pt x="1326" y="3195"/>
                </a:lnTo>
                <a:lnTo>
                  <a:pt x="1335" y="3206"/>
                </a:lnTo>
                <a:lnTo>
                  <a:pt x="1343" y="3215"/>
                </a:lnTo>
                <a:lnTo>
                  <a:pt x="1363" y="3217"/>
                </a:lnTo>
                <a:lnTo>
                  <a:pt x="1383" y="3219"/>
                </a:lnTo>
                <a:lnTo>
                  <a:pt x="1403" y="3221"/>
                </a:lnTo>
                <a:lnTo>
                  <a:pt x="1422" y="3221"/>
                </a:lnTo>
                <a:lnTo>
                  <a:pt x="1443" y="3223"/>
                </a:lnTo>
                <a:lnTo>
                  <a:pt x="1462" y="3223"/>
                </a:lnTo>
                <a:lnTo>
                  <a:pt x="1482" y="3224"/>
                </a:lnTo>
                <a:lnTo>
                  <a:pt x="1502" y="3225"/>
                </a:lnTo>
                <a:lnTo>
                  <a:pt x="1525" y="3238"/>
                </a:lnTo>
                <a:lnTo>
                  <a:pt x="1547" y="3251"/>
                </a:lnTo>
                <a:lnTo>
                  <a:pt x="1571" y="3264"/>
                </a:lnTo>
                <a:lnTo>
                  <a:pt x="1595" y="3278"/>
                </a:lnTo>
                <a:lnTo>
                  <a:pt x="1619" y="3293"/>
                </a:lnTo>
                <a:lnTo>
                  <a:pt x="1643" y="3306"/>
                </a:lnTo>
                <a:lnTo>
                  <a:pt x="1667" y="3319"/>
                </a:lnTo>
                <a:lnTo>
                  <a:pt x="1692" y="3332"/>
                </a:lnTo>
                <a:lnTo>
                  <a:pt x="1701" y="3332"/>
                </a:lnTo>
                <a:lnTo>
                  <a:pt x="1711" y="3332"/>
                </a:lnTo>
                <a:lnTo>
                  <a:pt x="1721" y="3332"/>
                </a:lnTo>
                <a:lnTo>
                  <a:pt x="1732" y="3332"/>
                </a:lnTo>
                <a:lnTo>
                  <a:pt x="1742" y="3332"/>
                </a:lnTo>
                <a:lnTo>
                  <a:pt x="1751" y="3332"/>
                </a:lnTo>
                <a:lnTo>
                  <a:pt x="1762" y="3332"/>
                </a:lnTo>
                <a:lnTo>
                  <a:pt x="1772" y="3332"/>
                </a:lnTo>
                <a:lnTo>
                  <a:pt x="1780" y="3340"/>
                </a:lnTo>
                <a:lnTo>
                  <a:pt x="1790" y="3346"/>
                </a:lnTo>
                <a:lnTo>
                  <a:pt x="1799" y="3352"/>
                </a:lnTo>
                <a:lnTo>
                  <a:pt x="1809" y="3358"/>
                </a:lnTo>
                <a:lnTo>
                  <a:pt x="1817" y="3364"/>
                </a:lnTo>
                <a:lnTo>
                  <a:pt x="1826" y="3368"/>
                </a:lnTo>
                <a:lnTo>
                  <a:pt x="1835" y="3373"/>
                </a:lnTo>
                <a:lnTo>
                  <a:pt x="1843" y="3378"/>
                </a:lnTo>
                <a:lnTo>
                  <a:pt x="1871" y="3385"/>
                </a:lnTo>
                <a:lnTo>
                  <a:pt x="1889" y="3388"/>
                </a:lnTo>
                <a:lnTo>
                  <a:pt x="1901" y="3384"/>
                </a:lnTo>
                <a:lnTo>
                  <a:pt x="1905" y="3377"/>
                </a:lnTo>
                <a:lnTo>
                  <a:pt x="1905" y="3368"/>
                </a:lnTo>
                <a:lnTo>
                  <a:pt x="1899" y="3355"/>
                </a:lnTo>
                <a:lnTo>
                  <a:pt x="1891" y="3341"/>
                </a:lnTo>
                <a:lnTo>
                  <a:pt x="1883" y="3327"/>
                </a:lnTo>
                <a:lnTo>
                  <a:pt x="1876" y="3312"/>
                </a:lnTo>
                <a:lnTo>
                  <a:pt x="1868" y="3298"/>
                </a:lnTo>
                <a:lnTo>
                  <a:pt x="1864" y="3286"/>
                </a:lnTo>
                <a:lnTo>
                  <a:pt x="1863" y="3275"/>
                </a:lnTo>
                <a:lnTo>
                  <a:pt x="1867" y="3268"/>
                </a:lnTo>
                <a:lnTo>
                  <a:pt x="1877" y="3264"/>
                </a:lnTo>
                <a:lnTo>
                  <a:pt x="1896" y="3266"/>
                </a:lnTo>
                <a:lnTo>
                  <a:pt x="1922" y="3273"/>
                </a:lnTo>
                <a:lnTo>
                  <a:pt x="1935" y="3251"/>
                </a:lnTo>
                <a:lnTo>
                  <a:pt x="1947" y="3231"/>
                </a:lnTo>
                <a:lnTo>
                  <a:pt x="1957" y="3213"/>
                </a:lnTo>
                <a:lnTo>
                  <a:pt x="1965" y="3194"/>
                </a:lnTo>
                <a:lnTo>
                  <a:pt x="1975" y="3176"/>
                </a:lnTo>
                <a:lnTo>
                  <a:pt x="1984" y="3154"/>
                </a:lnTo>
                <a:lnTo>
                  <a:pt x="1995" y="3134"/>
                </a:lnTo>
                <a:lnTo>
                  <a:pt x="2007" y="3111"/>
                </a:lnTo>
                <a:lnTo>
                  <a:pt x="2008" y="3098"/>
                </a:lnTo>
                <a:lnTo>
                  <a:pt x="2013" y="3083"/>
                </a:lnTo>
                <a:lnTo>
                  <a:pt x="2019" y="3067"/>
                </a:lnTo>
                <a:lnTo>
                  <a:pt x="2026" y="3049"/>
                </a:lnTo>
                <a:lnTo>
                  <a:pt x="2035" y="3030"/>
                </a:lnTo>
                <a:lnTo>
                  <a:pt x="2041" y="3013"/>
                </a:lnTo>
                <a:lnTo>
                  <a:pt x="2045" y="2998"/>
                </a:lnTo>
                <a:lnTo>
                  <a:pt x="2046" y="2985"/>
                </a:lnTo>
                <a:lnTo>
                  <a:pt x="2059" y="2966"/>
                </a:lnTo>
                <a:lnTo>
                  <a:pt x="2071" y="2946"/>
                </a:lnTo>
                <a:lnTo>
                  <a:pt x="2085" y="2927"/>
                </a:lnTo>
                <a:lnTo>
                  <a:pt x="2096" y="2908"/>
                </a:lnTo>
                <a:lnTo>
                  <a:pt x="2107" y="2890"/>
                </a:lnTo>
                <a:lnTo>
                  <a:pt x="2118" y="2872"/>
                </a:lnTo>
                <a:lnTo>
                  <a:pt x="2130" y="2854"/>
                </a:lnTo>
                <a:lnTo>
                  <a:pt x="2142" y="2835"/>
                </a:lnTo>
                <a:lnTo>
                  <a:pt x="2148" y="2782"/>
                </a:lnTo>
                <a:lnTo>
                  <a:pt x="2159" y="2741"/>
                </a:lnTo>
                <a:lnTo>
                  <a:pt x="2171" y="2700"/>
                </a:lnTo>
                <a:lnTo>
                  <a:pt x="2174" y="2648"/>
                </a:lnTo>
                <a:lnTo>
                  <a:pt x="2187" y="2640"/>
                </a:lnTo>
                <a:lnTo>
                  <a:pt x="2201" y="2628"/>
                </a:lnTo>
                <a:lnTo>
                  <a:pt x="2217" y="2616"/>
                </a:lnTo>
                <a:lnTo>
                  <a:pt x="2232" y="2603"/>
                </a:lnTo>
                <a:lnTo>
                  <a:pt x="2247" y="2589"/>
                </a:lnTo>
                <a:lnTo>
                  <a:pt x="2263" y="2576"/>
                </a:lnTo>
                <a:lnTo>
                  <a:pt x="2276" y="2565"/>
                </a:lnTo>
                <a:lnTo>
                  <a:pt x="2289" y="2556"/>
                </a:lnTo>
                <a:lnTo>
                  <a:pt x="2298" y="2505"/>
                </a:lnTo>
                <a:lnTo>
                  <a:pt x="2304" y="2464"/>
                </a:lnTo>
                <a:lnTo>
                  <a:pt x="2309" y="2424"/>
                </a:lnTo>
                <a:lnTo>
                  <a:pt x="2320" y="2370"/>
                </a:lnTo>
                <a:lnTo>
                  <a:pt x="2330" y="2360"/>
                </a:lnTo>
                <a:lnTo>
                  <a:pt x="2347" y="2349"/>
                </a:lnTo>
                <a:lnTo>
                  <a:pt x="2366" y="2336"/>
                </a:lnTo>
                <a:lnTo>
                  <a:pt x="2388" y="2322"/>
                </a:lnTo>
                <a:lnTo>
                  <a:pt x="2412" y="2307"/>
                </a:lnTo>
                <a:lnTo>
                  <a:pt x="2431" y="2294"/>
                </a:lnTo>
                <a:lnTo>
                  <a:pt x="2448" y="2284"/>
                </a:lnTo>
                <a:lnTo>
                  <a:pt x="2457" y="2274"/>
                </a:lnTo>
                <a:lnTo>
                  <a:pt x="2455" y="2260"/>
                </a:lnTo>
                <a:lnTo>
                  <a:pt x="2455" y="2246"/>
                </a:lnTo>
                <a:lnTo>
                  <a:pt x="2459" y="2234"/>
                </a:lnTo>
                <a:lnTo>
                  <a:pt x="2462" y="2221"/>
                </a:lnTo>
                <a:lnTo>
                  <a:pt x="2467" y="2208"/>
                </a:lnTo>
                <a:lnTo>
                  <a:pt x="2470" y="2195"/>
                </a:lnTo>
                <a:lnTo>
                  <a:pt x="2472" y="2180"/>
                </a:lnTo>
                <a:lnTo>
                  <a:pt x="2470" y="2167"/>
                </a:lnTo>
                <a:lnTo>
                  <a:pt x="2482" y="2165"/>
                </a:lnTo>
                <a:lnTo>
                  <a:pt x="2493" y="2161"/>
                </a:lnTo>
                <a:lnTo>
                  <a:pt x="2504" y="2158"/>
                </a:lnTo>
                <a:lnTo>
                  <a:pt x="2516" y="2154"/>
                </a:lnTo>
                <a:lnTo>
                  <a:pt x="2528" y="2150"/>
                </a:lnTo>
                <a:lnTo>
                  <a:pt x="2538" y="2147"/>
                </a:lnTo>
                <a:lnTo>
                  <a:pt x="2549" y="2141"/>
                </a:lnTo>
                <a:lnTo>
                  <a:pt x="2560" y="2138"/>
                </a:lnTo>
                <a:lnTo>
                  <a:pt x="2565" y="2118"/>
                </a:lnTo>
                <a:lnTo>
                  <a:pt x="2573" y="2099"/>
                </a:lnTo>
                <a:lnTo>
                  <a:pt x="2580" y="2080"/>
                </a:lnTo>
                <a:lnTo>
                  <a:pt x="2589" y="2059"/>
                </a:lnTo>
                <a:lnTo>
                  <a:pt x="2597" y="2063"/>
                </a:lnTo>
                <a:lnTo>
                  <a:pt x="2603" y="2065"/>
                </a:lnTo>
                <a:lnTo>
                  <a:pt x="2610" y="2068"/>
                </a:lnTo>
                <a:lnTo>
                  <a:pt x="2618" y="2070"/>
                </a:lnTo>
                <a:lnTo>
                  <a:pt x="2625" y="2073"/>
                </a:lnTo>
                <a:lnTo>
                  <a:pt x="2634" y="2075"/>
                </a:lnTo>
                <a:lnTo>
                  <a:pt x="2642" y="2078"/>
                </a:lnTo>
                <a:lnTo>
                  <a:pt x="2650" y="2080"/>
                </a:lnTo>
                <a:lnTo>
                  <a:pt x="2657" y="2063"/>
                </a:lnTo>
                <a:lnTo>
                  <a:pt x="2664" y="2046"/>
                </a:lnTo>
                <a:lnTo>
                  <a:pt x="2668" y="2028"/>
                </a:lnTo>
                <a:lnTo>
                  <a:pt x="2673" y="2012"/>
                </a:lnTo>
                <a:lnTo>
                  <a:pt x="2678" y="2007"/>
                </a:lnTo>
                <a:lnTo>
                  <a:pt x="2683" y="2002"/>
                </a:lnTo>
                <a:lnTo>
                  <a:pt x="2689" y="1998"/>
                </a:lnTo>
                <a:lnTo>
                  <a:pt x="2694" y="1991"/>
                </a:lnTo>
                <a:lnTo>
                  <a:pt x="2700" y="1987"/>
                </a:lnTo>
                <a:lnTo>
                  <a:pt x="2705" y="1982"/>
                </a:lnTo>
                <a:lnTo>
                  <a:pt x="2712" y="1976"/>
                </a:lnTo>
                <a:lnTo>
                  <a:pt x="2716" y="1971"/>
                </a:lnTo>
                <a:lnTo>
                  <a:pt x="2726" y="1955"/>
                </a:lnTo>
                <a:lnTo>
                  <a:pt x="2736" y="1940"/>
                </a:lnTo>
                <a:lnTo>
                  <a:pt x="2747" y="1924"/>
                </a:lnTo>
                <a:lnTo>
                  <a:pt x="2760" y="1908"/>
                </a:lnTo>
                <a:lnTo>
                  <a:pt x="2771" y="1892"/>
                </a:lnTo>
                <a:lnTo>
                  <a:pt x="2783" y="1877"/>
                </a:lnTo>
                <a:lnTo>
                  <a:pt x="2798" y="1860"/>
                </a:lnTo>
                <a:lnTo>
                  <a:pt x="2811" y="1844"/>
                </a:lnTo>
                <a:lnTo>
                  <a:pt x="2834" y="1825"/>
                </a:lnTo>
                <a:lnTo>
                  <a:pt x="2859" y="1804"/>
                </a:lnTo>
                <a:lnTo>
                  <a:pt x="2882" y="1783"/>
                </a:lnTo>
                <a:lnTo>
                  <a:pt x="2906" y="1764"/>
                </a:lnTo>
                <a:lnTo>
                  <a:pt x="2929" y="1743"/>
                </a:lnTo>
                <a:lnTo>
                  <a:pt x="2953" y="1722"/>
                </a:lnTo>
                <a:lnTo>
                  <a:pt x="2974" y="1700"/>
                </a:lnTo>
                <a:lnTo>
                  <a:pt x="2998" y="1678"/>
                </a:lnTo>
                <a:lnTo>
                  <a:pt x="3019" y="1656"/>
                </a:lnTo>
                <a:lnTo>
                  <a:pt x="3043" y="1635"/>
                </a:lnTo>
                <a:lnTo>
                  <a:pt x="3067" y="1612"/>
                </a:lnTo>
                <a:lnTo>
                  <a:pt x="3089" y="1589"/>
                </a:lnTo>
                <a:lnTo>
                  <a:pt x="3112" y="1565"/>
                </a:lnTo>
                <a:lnTo>
                  <a:pt x="3135" y="1542"/>
                </a:lnTo>
                <a:lnTo>
                  <a:pt x="3160" y="1520"/>
                </a:lnTo>
                <a:lnTo>
                  <a:pt x="3183" y="1496"/>
                </a:lnTo>
                <a:lnTo>
                  <a:pt x="3208" y="1471"/>
                </a:lnTo>
                <a:lnTo>
                  <a:pt x="3233" y="1448"/>
                </a:lnTo>
                <a:lnTo>
                  <a:pt x="3259" y="1424"/>
                </a:lnTo>
                <a:lnTo>
                  <a:pt x="3284" y="1400"/>
                </a:lnTo>
                <a:lnTo>
                  <a:pt x="3311" y="1375"/>
                </a:lnTo>
                <a:lnTo>
                  <a:pt x="3339" y="1350"/>
                </a:lnTo>
                <a:lnTo>
                  <a:pt x="3368" y="1326"/>
                </a:lnTo>
                <a:lnTo>
                  <a:pt x="3397" y="1302"/>
                </a:lnTo>
                <a:lnTo>
                  <a:pt x="3428" y="1277"/>
                </a:lnTo>
                <a:lnTo>
                  <a:pt x="3458" y="1252"/>
                </a:lnTo>
                <a:lnTo>
                  <a:pt x="3489" y="1227"/>
                </a:lnTo>
                <a:lnTo>
                  <a:pt x="3523" y="1201"/>
                </a:lnTo>
                <a:lnTo>
                  <a:pt x="3556" y="1178"/>
                </a:lnTo>
                <a:lnTo>
                  <a:pt x="3591" y="1152"/>
                </a:lnTo>
                <a:lnTo>
                  <a:pt x="3628" y="1127"/>
                </a:lnTo>
                <a:lnTo>
                  <a:pt x="3666" y="1102"/>
                </a:lnTo>
                <a:lnTo>
                  <a:pt x="3682" y="1091"/>
                </a:lnTo>
                <a:lnTo>
                  <a:pt x="3700" y="1080"/>
                </a:lnTo>
                <a:lnTo>
                  <a:pt x="3717" y="1070"/>
                </a:lnTo>
                <a:lnTo>
                  <a:pt x="3733" y="1059"/>
                </a:lnTo>
                <a:lnTo>
                  <a:pt x="3751" y="1050"/>
                </a:lnTo>
                <a:lnTo>
                  <a:pt x="3768" y="1039"/>
                </a:lnTo>
                <a:lnTo>
                  <a:pt x="3785" y="1029"/>
                </a:lnTo>
                <a:lnTo>
                  <a:pt x="3805" y="1020"/>
                </a:lnTo>
                <a:lnTo>
                  <a:pt x="3814" y="1013"/>
                </a:lnTo>
                <a:lnTo>
                  <a:pt x="3825" y="1009"/>
                </a:lnTo>
                <a:lnTo>
                  <a:pt x="3836" y="1004"/>
                </a:lnTo>
                <a:lnTo>
                  <a:pt x="3846" y="1000"/>
                </a:lnTo>
                <a:lnTo>
                  <a:pt x="3856" y="994"/>
                </a:lnTo>
                <a:lnTo>
                  <a:pt x="3866" y="990"/>
                </a:lnTo>
                <a:lnTo>
                  <a:pt x="3876" y="983"/>
                </a:lnTo>
                <a:lnTo>
                  <a:pt x="3888" y="978"/>
                </a:lnTo>
                <a:lnTo>
                  <a:pt x="3906" y="967"/>
                </a:lnTo>
                <a:lnTo>
                  <a:pt x="3925" y="956"/>
                </a:lnTo>
                <a:lnTo>
                  <a:pt x="3943" y="946"/>
                </a:lnTo>
                <a:lnTo>
                  <a:pt x="3961" y="933"/>
                </a:lnTo>
                <a:lnTo>
                  <a:pt x="3980" y="923"/>
                </a:lnTo>
                <a:lnTo>
                  <a:pt x="3998" y="910"/>
                </a:lnTo>
                <a:lnTo>
                  <a:pt x="4017" y="899"/>
                </a:lnTo>
                <a:lnTo>
                  <a:pt x="4035" y="887"/>
                </a:lnTo>
                <a:lnTo>
                  <a:pt x="4047" y="879"/>
                </a:lnTo>
                <a:lnTo>
                  <a:pt x="4060" y="869"/>
                </a:lnTo>
                <a:lnTo>
                  <a:pt x="4071" y="860"/>
                </a:lnTo>
                <a:lnTo>
                  <a:pt x="4085" y="851"/>
                </a:lnTo>
                <a:lnTo>
                  <a:pt x="4097" y="842"/>
                </a:lnTo>
                <a:lnTo>
                  <a:pt x="4111" y="833"/>
                </a:lnTo>
                <a:lnTo>
                  <a:pt x="4123" y="825"/>
                </a:lnTo>
                <a:lnTo>
                  <a:pt x="4136" y="815"/>
                </a:lnTo>
                <a:lnTo>
                  <a:pt x="4141" y="803"/>
                </a:lnTo>
                <a:lnTo>
                  <a:pt x="4146" y="792"/>
                </a:lnTo>
                <a:lnTo>
                  <a:pt x="4152" y="781"/>
                </a:lnTo>
                <a:lnTo>
                  <a:pt x="4156" y="772"/>
                </a:lnTo>
                <a:lnTo>
                  <a:pt x="4165" y="764"/>
                </a:lnTo>
                <a:lnTo>
                  <a:pt x="4172" y="759"/>
                </a:lnTo>
                <a:lnTo>
                  <a:pt x="4180" y="751"/>
                </a:lnTo>
                <a:lnTo>
                  <a:pt x="4189" y="745"/>
                </a:lnTo>
                <a:lnTo>
                  <a:pt x="4198" y="738"/>
                </a:lnTo>
                <a:lnTo>
                  <a:pt x="4207" y="732"/>
                </a:lnTo>
                <a:lnTo>
                  <a:pt x="4215" y="725"/>
                </a:lnTo>
                <a:lnTo>
                  <a:pt x="4224" y="719"/>
                </a:lnTo>
                <a:lnTo>
                  <a:pt x="4227" y="725"/>
                </a:lnTo>
                <a:lnTo>
                  <a:pt x="4230" y="731"/>
                </a:lnTo>
                <a:lnTo>
                  <a:pt x="4233" y="737"/>
                </a:lnTo>
                <a:lnTo>
                  <a:pt x="4235" y="743"/>
                </a:lnTo>
                <a:lnTo>
                  <a:pt x="4249" y="734"/>
                </a:lnTo>
                <a:lnTo>
                  <a:pt x="4261" y="728"/>
                </a:lnTo>
                <a:lnTo>
                  <a:pt x="4275" y="719"/>
                </a:lnTo>
                <a:lnTo>
                  <a:pt x="4289" y="711"/>
                </a:lnTo>
                <a:lnTo>
                  <a:pt x="4302" y="704"/>
                </a:lnTo>
                <a:lnTo>
                  <a:pt x="4316" y="695"/>
                </a:lnTo>
                <a:lnTo>
                  <a:pt x="4330" y="688"/>
                </a:lnTo>
                <a:lnTo>
                  <a:pt x="4341" y="681"/>
                </a:lnTo>
                <a:lnTo>
                  <a:pt x="4351" y="666"/>
                </a:lnTo>
                <a:lnTo>
                  <a:pt x="4360" y="649"/>
                </a:lnTo>
                <a:lnTo>
                  <a:pt x="4369" y="633"/>
                </a:lnTo>
                <a:lnTo>
                  <a:pt x="4378" y="619"/>
                </a:lnTo>
                <a:lnTo>
                  <a:pt x="4389" y="609"/>
                </a:lnTo>
                <a:lnTo>
                  <a:pt x="4401" y="600"/>
                </a:lnTo>
                <a:lnTo>
                  <a:pt x="4413" y="592"/>
                </a:lnTo>
                <a:lnTo>
                  <a:pt x="4426" y="584"/>
                </a:lnTo>
                <a:lnTo>
                  <a:pt x="4437" y="576"/>
                </a:lnTo>
                <a:lnTo>
                  <a:pt x="4449" y="567"/>
                </a:lnTo>
                <a:lnTo>
                  <a:pt x="4459" y="556"/>
                </a:lnTo>
                <a:lnTo>
                  <a:pt x="4470" y="548"/>
                </a:lnTo>
                <a:lnTo>
                  <a:pt x="4475" y="534"/>
                </a:lnTo>
                <a:lnTo>
                  <a:pt x="4479" y="519"/>
                </a:lnTo>
                <a:lnTo>
                  <a:pt x="4483" y="505"/>
                </a:lnTo>
                <a:lnTo>
                  <a:pt x="4490" y="489"/>
                </a:lnTo>
                <a:lnTo>
                  <a:pt x="4500" y="481"/>
                </a:lnTo>
                <a:lnTo>
                  <a:pt x="4514" y="473"/>
                </a:lnTo>
                <a:lnTo>
                  <a:pt x="4525" y="466"/>
                </a:lnTo>
                <a:lnTo>
                  <a:pt x="4537" y="457"/>
                </a:lnTo>
                <a:lnTo>
                  <a:pt x="4548" y="448"/>
                </a:lnTo>
                <a:lnTo>
                  <a:pt x="4561" y="439"/>
                </a:lnTo>
                <a:lnTo>
                  <a:pt x="4571" y="432"/>
                </a:lnTo>
                <a:lnTo>
                  <a:pt x="4581" y="424"/>
                </a:lnTo>
                <a:lnTo>
                  <a:pt x="4595" y="420"/>
                </a:lnTo>
                <a:lnTo>
                  <a:pt x="4609" y="416"/>
                </a:lnTo>
                <a:lnTo>
                  <a:pt x="4622" y="412"/>
                </a:lnTo>
                <a:lnTo>
                  <a:pt x="4634" y="408"/>
                </a:lnTo>
                <a:lnTo>
                  <a:pt x="4648" y="403"/>
                </a:lnTo>
                <a:lnTo>
                  <a:pt x="4660" y="400"/>
                </a:lnTo>
                <a:lnTo>
                  <a:pt x="4672" y="395"/>
                </a:lnTo>
                <a:lnTo>
                  <a:pt x="4685" y="392"/>
                </a:lnTo>
                <a:lnTo>
                  <a:pt x="4692" y="384"/>
                </a:lnTo>
                <a:lnTo>
                  <a:pt x="4698" y="375"/>
                </a:lnTo>
                <a:lnTo>
                  <a:pt x="4704" y="368"/>
                </a:lnTo>
                <a:lnTo>
                  <a:pt x="4710" y="359"/>
                </a:lnTo>
                <a:lnTo>
                  <a:pt x="4716" y="351"/>
                </a:lnTo>
                <a:lnTo>
                  <a:pt x="4722" y="342"/>
                </a:lnTo>
                <a:lnTo>
                  <a:pt x="4728" y="333"/>
                </a:lnTo>
                <a:lnTo>
                  <a:pt x="4735" y="324"/>
                </a:lnTo>
                <a:lnTo>
                  <a:pt x="4745" y="318"/>
                </a:lnTo>
                <a:lnTo>
                  <a:pt x="4755" y="311"/>
                </a:lnTo>
                <a:lnTo>
                  <a:pt x="4764" y="305"/>
                </a:lnTo>
                <a:lnTo>
                  <a:pt x="4773" y="298"/>
                </a:lnTo>
                <a:lnTo>
                  <a:pt x="4784" y="291"/>
                </a:lnTo>
                <a:lnTo>
                  <a:pt x="4793" y="284"/>
                </a:lnTo>
                <a:lnTo>
                  <a:pt x="4802" y="277"/>
                </a:lnTo>
                <a:lnTo>
                  <a:pt x="4810" y="269"/>
                </a:lnTo>
                <a:lnTo>
                  <a:pt x="4816" y="274"/>
                </a:lnTo>
                <a:lnTo>
                  <a:pt x="4824" y="279"/>
                </a:lnTo>
                <a:lnTo>
                  <a:pt x="4831" y="285"/>
                </a:lnTo>
                <a:lnTo>
                  <a:pt x="4835" y="290"/>
                </a:lnTo>
                <a:lnTo>
                  <a:pt x="4845" y="282"/>
                </a:lnTo>
                <a:lnTo>
                  <a:pt x="4856" y="274"/>
                </a:lnTo>
                <a:lnTo>
                  <a:pt x="4865" y="266"/>
                </a:lnTo>
                <a:lnTo>
                  <a:pt x="4876" y="258"/>
                </a:lnTo>
                <a:lnTo>
                  <a:pt x="4885" y="248"/>
                </a:lnTo>
                <a:lnTo>
                  <a:pt x="4895" y="239"/>
                </a:lnTo>
                <a:lnTo>
                  <a:pt x="4906" y="231"/>
                </a:lnTo>
                <a:lnTo>
                  <a:pt x="4916" y="222"/>
                </a:lnTo>
                <a:lnTo>
                  <a:pt x="4904" y="228"/>
                </a:lnTo>
                <a:lnTo>
                  <a:pt x="4893" y="234"/>
                </a:lnTo>
                <a:lnTo>
                  <a:pt x="4881" y="241"/>
                </a:lnTo>
                <a:lnTo>
                  <a:pt x="4867" y="245"/>
                </a:lnTo>
                <a:lnTo>
                  <a:pt x="4856" y="251"/>
                </a:lnTo>
                <a:lnTo>
                  <a:pt x="4845" y="256"/>
                </a:lnTo>
                <a:lnTo>
                  <a:pt x="4833" y="261"/>
                </a:lnTo>
                <a:lnTo>
                  <a:pt x="4821" y="266"/>
                </a:lnTo>
                <a:lnTo>
                  <a:pt x="4832" y="241"/>
                </a:lnTo>
                <a:lnTo>
                  <a:pt x="4841" y="218"/>
                </a:lnTo>
                <a:lnTo>
                  <a:pt x="4847" y="194"/>
                </a:lnTo>
                <a:lnTo>
                  <a:pt x="4852" y="171"/>
                </a:lnTo>
                <a:lnTo>
                  <a:pt x="4844" y="178"/>
                </a:lnTo>
                <a:lnTo>
                  <a:pt x="4835" y="187"/>
                </a:lnTo>
                <a:lnTo>
                  <a:pt x="4826" y="195"/>
                </a:lnTo>
                <a:lnTo>
                  <a:pt x="4815" y="203"/>
                </a:lnTo>
                <a:lnTo>
                  <a:pt x="4806" y="211"/>
                </a:lnTo>
                <a:lnTo>
                  <a:pt x="4796" y="219"/>
                </a:lnTo>
                <a:lnTo>
                  <a:pt x="4785" y="228"/>
                </a:lnTo>
                <a:lnTo>
                  <a:pt x="4775" y="237"/>
                </a:lnTo>
                <a:lnTo>
                  <a:pt x="4768" y="247"/>
                </a:lnTo>
                <a:lnTo>
                  <a:pt x="4759" y="256"/>
                </a:lnTo>
                <a:lnTo>
                  <a:pt x="4752" y="266"/>
                </a:lnTo>
                <a:lnTo>
                  <a:pt x="4745" y="277"/>
                </a:lnTo>
                <a:lnTo>
                  <a:pt x="4738" y="288"/>
                </a:lnTo>
                <a:lnTo>
                  <a:pt x="4729" y="298"/>
                </a:lnTo>
                <a:lnTo>
                  <a:pt x="4722" y="309"/>
                </a:lnTo>
                <a:lnTo>
                  <a:pt x="4715" y="320"/>
                </a:lnTo>
                <a:lnTo>
                  <a:pt x="4708" y="324"/>
                </a:lnTo>
                <a:lnTo>
                  <a:pt x="4701" y="329"/>
                </a:lnTo>
                <a:lnTo>
                  <a:pt x="4694" y="335"/>
                </a:lnTo>
                <a:lnTo>
                  <a:pt x="4687" y="341"/>
                </a:lnTo>
                <a:lnTo>
                  <a:pt x="4679" y="346"/>
                </a:lnTo>
                <a:lnTo>
                  <a:pt x="4673" y="351"/>
                </a:lnTo>
                <a:lnTo>
                  <a:pt x="4667" y="355"/>
                </a:lnTo>
                <a:lnTo>
                  <a:pt x="4660" y="360"/>
                </a:lnTo>
                <a:lnTo>
                  <a:pt x="4655" y="359"/>
                </a:lnTo>
                <a:lnTo>
                  <a:pt x="4650" y="358"/>
                </a:lnTo>
                <a:lnTo>
                  <a:pt x="4646" y="355"/>
                </a:lnTo>
                <a:lnTo>
                  <a:pt x="4641" y="354"/>
                </a:lnTo>
                <a:lnTo>
                  <a:pt x="4636" y="353"/>
                </a:lnTo>
                <a:lnTo>
                  <a:pt x="4632" y="351"/>
                </a:lnTo>
                <a:lnTo>
                  <a:pt x="4626" y="349"/>
                </a:lnTo>
                <a:lnTo>
                  <a:pt x="4622" y="349"/>
                </a:lnTo>
                <a:lnTo>
                  <a:pt x="4600" y="366"/>
                </a:lnTo>
                <a:lnTo>
                  <a:pt x="4579" y="384"/>
                </a:lnTo>
                <a:lnTo>
                  <a:pt x="4558" y="402"/>
                </a:lnTo>
                <a:lnTo>
                  <a:pt x="4536" y="420"/>
                </a:lnTo>
                <a:lnTo>
                  <a:pt x="4514" y="438"/>
                </a:lnTo>
                <a:lnTo>
                  <a:pt x="4490" y="457"/>
                </a:lnTo>
                <a:lnTo>
                  <a:pt x="4469" y="476"/>
                </a:lnTo>
                <a:lnTo>
                  <a:pt x="4445" y="494"/>
                </a:lnTo>
                <a:lnTo>
                  <a:pt x="4435" y="499"/>
                </a:lnTo>
                <a:lnTo>
                  <a:pt x="4426" y="505"/>
                </a:lnTo>
                <a:lnTo>
                  <a:pt x="4415" y="509"/>
                </a:lnTo>
                <a:lnTo>
                  <a:pt x="4406" y="515"/>
                </a:lnTo>
                <a:lnTo>
                  <a:pt x="4396" y="519"/>
                </a:lnTo>
                <a:lnTo>
                  <a:pt x="4388" y="524"/>
                </a:lnTo>
                <a:lnTo>
                  <a:pt x="4378" y="530"/>
                </a:lnTo>
                <a:lnTo>
                  <a:pt x="4369" y="535"/>
                </a:lnTo>
                <a:lnTo>
                  <a:pt x="4363" y="533"/>
                </a:lnTo>
                <a:lnTo>
                  <a:pt x="4357" y="530"/>
                </a:lnTo>
                <a:lnTo>
                  <a:pt x="4351" y="528"/>
                </a:lnTo>
                <a:lnTo>
                  <a:pt x="4347" y="524"/>
                </a:lnTo>
                <a:lnTo>
                  <a:pt x="4340" y="522"/>
                </a:lnTo>
                <a:lnTo>
                  <a:pt x="4336" y="519"/>
                </a:lnTo>
                <a:lnTo>
                  <a:pt x="4330" y="517"/>
                </a:lnTo>
                <a:lnTo>
                  <a:pt x="4324" y="515"/>
                </a:lnTo>
                <a:lnTo>
                  <a:pt x="4299" y="533"/>
                </a:lnTo>
                <a:lnTo>
                  <a:pt x="4274" y="549"/>
                </a:lnTo>
                <a:lnTo>
                  <a:pt x="4249" y="568"/>
                </a:lnTo>
                <a:lnTo>
                  <a:pt x="4224" y="585"/>
                </a:lnTo>
                <a:lnTo>
                  <a:pt x="4201" y="602"/>
                </a:lnTo>
                <a:lnTo>
                  <a:pt x="4174" y="620"/>
                </a:lnTo>
                <a:lnTo>
                  <a:pt x="4150" y="637"/>
                </a:lnTo>
                <a:lnTo>
                  <a:pt x="4125" y="654"/>
                </a:lnTo>
                <a:lnTo>
                  <a:pt x="4099" y="671"/>
                </a:lnTo>
                <a:lnTo>
                  <a:pt x="4075" y="691"/>
                </a:lnTo>
                <a:lnTo>
                  <a:pt x="4050" y="707"/>
                </a:lnTo>
                <a:lnTo>
                  <a:pt x="4025" y="725"/>
                </a:lnTo>
                <a:lnTo>
                  <a:pt x="4000" y="742"/>
                </a:lnTo>
                <a:lnTo>
                  <a:pt x="3975" y="760"/>
                </a:lnTo>
                <a:lnTo>
                  <a:pt x="3950" y="778"/>
                </a:lnTo>
                <a:lnTo>
                  <a:pt x="3925" y="797"/>
                </a:lnTo>
                <a:lnTo>
                  <a:pt x="3918" y="788"/>
                </a:lnTo>
                <a:lnTo>
                  <a:pt x="3912" y="781"/>
                </a:lnTo>
                <a:lnTo>
                  <a:pt x="3906" y="771"/>
                </a:lnTo>
                <a:lnTo>
                  <a:pt x="3902" y="761"/>
                </a:lnTo>
                <a:lnTo>
                  <a:pt x="3912" y="754"/>
                </a:lnTo>
                <a:lnTo>
                  <a:pt x="3920" y="747"/>
                </a:lnTo>
                <a:lnTo>
                  <a:pt x="3931" y="738"/>
                </a:lnTo>
                <a:lnTo>
                  <a:pt x="3939" y="730"/>
                </a:lnTo>
                <a:lnTo>
                  <a:pt x="3949" y="721"/>
                </a:lnTo>
                <a:lnTo>
                  <a:pt x="3958" y="713"/>
                </a:lnTo>
                <a:lnTo>
                  <a:pt x="3969" y="704"/>
                </a:lnTo>
                <a:lnTo>
                  <a:pt x="3979" y="696"/>
                </a:lnTo>
                <a:lnTo>
                  <a:pt x="3986" y="694"/>
                </a:lnTo>
                <a:lnTo>
                  <a:pt x="3993" y="691"/>
                </a:lnTo>
                <a:lnTo>
                  <a:pt x="4000" y="691"/>
                </a:lnTo>
                <a:lnTo>
                  <a:pt x="4009" y="688"/>
                </a:lnTo>
                <a:lnTo>
                  <a:pt x="4017" y="685"/>
                </a:lnTo>
                <a:lnTo>
                  <a:pt x="4024" y="683"/>
                </a:lnTo>
                <a:lnTo>
                  <a:pt x="4033" y="680"/>
                </a:lnTo>
                <a:lnTo>
                  <a:pt x="4040" y="677"/>
                </a:lnTo>
                <a:lnTo>
                  <a:pt x="4044" y="670"/>
                </a:lnTo>
                <a:lnTo>
                  <a:pt x="4049" y="663"/>
                </a:lnTo>
                <a:lnTo>
                  <a:pt x="4054" y="657"/>
                </a:lnTo>
                <a:lnTo>
                  <a:pt x="4060" y="650"/>
                </a:lnTo>
                <a:lnTo>
                  <a:pt x="4064" y="643"/>
                </a:lnTo>
                <a:lnTo>
                  <a:pt x="4069" y="636"/>
                </a:lnTo>
                <a:lnTo>
                  <a:pt x="4075" y="628"/>
                </a:lnTo>
                <a:lnTo>
                  <a:pt x="4080" y="621"/>
                </a:lnTo>
                <a:lnTo>
                  <a:pt x="4090" y="617"/>
                </a:lnTo>
                <a:lnTo>
                  <a:pt x="4098" y="611"/>
                </a:lnTo>
                <a:lnTo>
                  <a:pt x="4109" y="606"/>
                </a:lnTo>
                <a:lnTo>
                  <a:pt x="4119" y="600"/>
                </a:lnTo>
                <a:lnTo>
                  <a:pt x="4127" y="595"/>
                </a:lnTo>
                <a:lnTo>
                  <a:pt x="4136" y="590"/>
                </a:lnTo>
                <a:lnTo>
                  <a:pt x="4146" y="584"/>
                </a:lnTo>
                <a:lnTo>
                  <a:pt x="4156" y="579"/>
                </a:lnTo>
                <a:lnTo>
                  <a:pt x="4163" y="565"/>
                </a:lnTo>
                <a:lnTo>
                  <a:pt x="4170" y="552"/>
                </a:lnTo>
                <a:lnTo>
                  <a:pt x="4176" y="539"/>
                </a:lnTo>
                <a:lnTo>
                  <a:pt x="4184" y="524"/>
                </a:lnTo>
                <a:lnTo>
                  <a:pt x="4190" y="517"/>
                </a:lnTo>
                <a:lnTo>
                  <a:pt x="4198" y="511"/>
                </a:lnTo>
                <a:lnTo>
                  <a:pt x="4205" y="505"/>
                </a:lnTo>
                <a:lnTo>
                  <a:pt x="4211" y="499"/>
                </a:lnTo>
                <a:lnTo>
                  <a:pt x="4218" y="493"/>
                </a:lnTo>
                <a:lnTo>
                  <a:pt x="4226" y="487"/>
                </a:lnTo>
                <a:lnTo>
                  <a:pt x="4234" y="481"/>
                </a:lnTo>
                <a:lnTo>
                  <a:pt x="4242" y="475"/>
                </a:lnTo>
                <a:lnTo>
                  <a:pt x="4235" y="473"/>
                </a:lnTo>
                <a:lnTo>
                  <a:pt x="4230" y="470"/>
                </a:lnTo>
                <a:lnTo>
                  <a:pt x="4224" y="468"/>
                </a:lnTo>
                <a:lnTo>
                  <a:pt x="4218" y="464"/>
                </a:lnTo>
                <a:lnTo>
                  <a:pt x="4213" y="462"/>
                </a:lnTo>
                <a:lnTo>
                  <a:pt x="4207" y="458"/>
                </a:lnTo>
                <a:lnTo>
                  <a:pt x="4202" y="455"/>
                </a:lnTo>
                <a:lnTo>
                  <a:pt x="4196" y="450"/>
                </a:lnTo>
                <a:lnTo>
                  <a:pt x="4207" y="442"/>
                </a:lnTo>
                <a:lnTo>
                  <a:pt x="4217" y="433"/>
                </a:lnTo>
                <a:lnTo>
                  <a:pt x="4228" y="425"/>
                </a:lnTo>
                <a:lnTo>
                  <a:pt x="4241" y="416"/>
                </a:lnTo>
                <a:lnTo>
                  <a:pt x="4252" y="408"/>
                </a:lnTo>
                <a:lnTo>
                  <a:pt x="4263" y="400"/>
                </a:lnTo>
                <a:lnTo>
                  <a:pt x="4274" y="392"/>
                </a:lnTo>
                <a:lnTo>
                  <a:pt x="4286" y="383"/>
                </a:lnTo>
                <a:lnTo>
                  <a:pt x="4291" y="377"/>
                </a:lnTo>
                <a:lnTo>
                  <a:pt x="4299" y="372"/>
                </a:lnTo>
                <a:lnTo>
                  <a:pt x="4307" y="366"/>
                </a:lnTo>
                <a:lnTo>
                  <a:pt x="4312" y="359"/>
                </a:lnTo>
                <a:lnTo>
                  <a:pt x="4321" y="349"/>
                </a:lnTo>
                <a:lnTo>
                  <a:pt x="4332" y="337"/>
                </a:lnTo>
                <a:lnTo>
                  <a:pt x="4339" y="326"/>
                </a:lnTo>
                <a:lnTo>
                  <a:pt x="4347" y="315"/>
                </a:lnTo>
                <a:lnTo>
                  <a:pt x="4356" y="304"/>
                </a:lnTo>
                <a:lnTo>
                  <a:pt x="4364" y="293"/>
                </a:lnTo>
                <a:lnTo>
                  <a:pt x="4374" y="282"/>
                </a:lnTo>
                <a:lnTo>
                  <a:pt x="4382" y="271"/>
                </a:lnTo>
                <a:lnTo>
                  <a:pt x="4360" y="281"/>
                </a:lnTo>
                <a:lnTo>
                  <a:pt x="4341" y="290"/>
                </a:lnTo>
                <a:lnTo>
                  <a:pt x="4320" y="299"/>
                </a:lnTo>
                <a:lnTo>
                  <a:pt x="4301" y="308"/>
                </a:lnTo>
                <a:lnTo>
                  <a:pt x="4279" y="318"/>
                </a:lnTo>
                <a:lnTo>
                  <a:pt x="4259" y="327"/>
                </a:lnTo>
                <a:lnTo>
                  <a:pt x="4238" y="338"/>
                </a:lnTo>
                <a:lnTo>
                  <a:pt x="4217" y="349"/>
                </a:lnTo>
                <a:lnTo>
                  <a:pt x="4213" y="346"/>
                </a:lnTo>
                <a:lnTo>
                  <a:pt x="4209" y="343"/>
                </a:lnTo>
                <a:lnTo>
                  <a:pt x="4204" y="342"/>
                </a:lnTo>
                <a:lnTo>
                  <a:pt x="4200" y="339"/>
                </a:lnTo>
                <a:lnTo>
                  <a:pt x="4194" y="338"/>
                </a:lnTo>
                <a:lnTo>
                  <a:pt x="4189" y="335"/>
                </a:lnTo>
                <a:lnTo>
                  <a:pt x="4185" y="335"/>
                </a:lnTo>
                <a:lnTo>
                  <a:pt x="4180" y="334"/>
                </a:lnTo>
                <a:lnTo>
                  <a:pt x="4186" y="328"/>
                </a:lnTo>
                <a:lnTo>
                  <a:pt x="4194" y="322"/>
                </a:lnTo>
                <a:lnTo>
                  <a:pt x="4200" y="316"/>
                </a:lnTo>
                <a:lnTo>
                  <a:pt x="4205" y="309"/>
                </a:lnTo>
                <a:lnTo>
                  <a:pt x="4211" y="303"/>
                </a:lnTo>
                <a:lnTo>
                  <a:pt x="4217" y="297"/>
                </a:lnTo>
                <a:lnTo>
                  <a:pt x="4224" y="291"/>
                </a:lnTo>
                <a:lnTo>
                  <a:pt x="4232" y="285"/>
                </a:lnTo>
                <a:lnTo>
                  <a:pt x="4251" y="271"/>
                </a:lnTo>
                <a:lnTo>
                  <a:pt x="4272" y="253"/>
                </a:lnTo>
                <a:lnTo>
                  <a:pt x="4297" y="234"/>
                </a:lnTo>
                <a:lnTo>
                  <a:pt x="4324" y="214"/>
                </a:lnTo>
                <a:lnTo>
                  <a:pt x="4351" y="195"/>
                </a:lnTo>
                <a:lnTo>
                  <a:pt x="4376" y="177"/>
                </a:lnTo>
                <a:lnTo>
                  <a:pt x="4398" y="162"/>
                </a:lnTo>
                <a:lnTo>
                  <a:pt x="4414" y="147"/>
                </a:lnTo>
                <a:lnTo>
                  <a:pt x="4419" y="124"/>
                </a:lnTo>
                <a:lnTo>
                  <a:pt x="4415" y="112"/>
                </a:lnTo>
                <a:lnTo>
                  <a:pt x="4408" y="112"/>
                </a:lnTo>
                <a:lnTo>
                  <a:pt x="4399" y="119"/>
                </a:lnTo>
                <a:lnTo>
                  <a:pt x="4387" y="127"/>
                </a:lnTo>
                <a:lnTo>
                  <a:pt x="4376" y="135"/>
                </a:lnTo>
                <a:lnTo>
                  <a:pt x="4367" y="140"/>
                </a:lnTo>
                <a:lnTo>
                  <a:pt x="4360" y="139"/>
                </a:lnTo>
                <a:lnTo>
                  <a:pt x="4351" y="146"/>
                </a:lnTo>
                <a:lnTo>
                  <a:pt x="4338" y="152"/>
                </a:lnTo>
                <a:lnTo>
                  <a:pt x="4322" y="160"/>
                </a:lnTo>
                <a:lnTo>
                  <a:pt x="4307" y="165"/>
                </a:lnTo>
                <a:lnTo>
                  <a:pt x="4291" y="173"/>
                </a:lnTo>
                <a:lnTo>
                  <a:pt x="4275" y="178"/>
                </a:lnTo>
                <a:lnTo>
                  <a:pt x="4261" y="187"/>
                </a:lnTo>
                <a:lnTo>
                  <a:pt x="4251" y="194"/>
                </a:lnTo>
                <a:lnTo>
                  <a:pt x="4247" y="203"/>
                </a:lnTo>
                <a:lnTo>
                  <a:pt x="4244" y="213"/>
                </a:lnTo>
                <a:lnTo>
                  <a:pt x="4241" y="223"/>
                </a:lnTo>
                <a:lnTo>
                  <a:pt x="4238" y="234"/>
                </a:lnTo>
                <a:lnTo>
                  <a:pt x="4232" y="239"/>
                </a:lnTo>
                <a:lnTo>
                  <a:pt x="4227" y="245"/>
                </a:lnTo>
                <a:lnTo>
                  <a:pt x="4221" y="251"/>
                </a:lnTo>
                <a:lnTo>
                  <a:pt x="4215" y="256"/>
                </a:lnTo>
                <a:lnTo>
                  <a:pt x="4207" y="262"/>
                </a:lnTo>
                <a:lnTo>
                  <a:pt x="4202" y="267"/>
                </a:lnTo>
                <a:lnTo>
                  <a:pt x="4194" y="273"/>
                </a:lnTo>
                <a:lnTo>
                  <a:pt x="4186" y="278"/>
                </a:lnTo>
                <a:lnTo>
                  <a:pt x="4180" y="271"/>
                </a:lnTo>
                <a:lnTo>
                  <a:pt x="4176" y="264"/>
                </a:lnTo>
                <a:lnTo>
                  <a:pt x="4170" y="258"/>
                </a:lnTo>
                <a:lnTo>
                  <a:pt x="4163" y="251"/>
                </a:lnTo>
                <a:lnTo>
                  <a:pt x="4158" y="244"/>
                </a:lnTo>
                <a:lnTo>
                  <a:pt x="4150" y="238"/>
                </a:lnTo>
                <a:lnTo>
                  <a:pt x="4143" y="232"/>
                </a:lnTo>
                <a:lnTo>
                  <a:pt x="4138" y="225"/>
                </a:lnTo>
                <a:lnTo>
                  <a:pt x="4146" y="212"/>
                </a:lnTo>
                <a:lnTo>
                  <a:pt x="4154" y="200"/>
                </a:lnTo>
                <a:lnTo>
                  <a:pt x="4161" y="187"/>
                </a:lnTo>
                <a:lnTo>
                  <a:pt x="4170" y="173"/>
                </a:lnTo>
                <a:lnTo>
                  <a:pt x="4180" y="167"/>
                </a:lnTo>
                <a:lnTo>
                  <a:pt x="4188" y="160"/>
                </a:lnTo>
                <a:lnTo>
                  <a:pt x="4197" y="152"/>
                </a:lnTo>
                <a:lnTo>
                  <a:pt x="4205" y="145"/>
                </a:lnTo>
                <a:lnTo>
                  <a:pt x="4214" y="137"/>
                </a:lnTo>
                <a:lnTo>
                  <a:pt x="4222" y="130"/>
                </a:lnTo>
                <a:lnTo>
                  <a:pt x="4230" y="123"/>
                </a:lnTo>
                <a:lnTo>
                  <a:pt x="4238" y="116"/>
                </a:lnTo>
                <a:lnTo>
                  <a:pt x="4245" y="106"/>
                </a:lnTo>
                <a:lnTo>
                  <a:pt x="4249" y="99"/>
                </a:lnTo>
                <a:lnTo>
                  <a:pt x="4255" y="90"/>
                </a:lnTo>
                <a:lnTo>
                  <a:pt x="4260" y="82"/>
                </a:lnTo>
                <a:lnTo>
                  <a:pt x="4266" y="73"/>
                </a:lnTo>
                <a:lnTo>
                  <a:pt x="4271" y="65"/>
                </a:lnTo>
                <a:lnTo>
                  <a:pt x="4277" y="55"/>
                </a:lnTo>
                <a:lnTo>
                  <a:pt x="4284" y="47"/>
                </a:lnTo>
                <a:lnTo>
                  <a:pt x="4274" y="48"/>
                </a:lnTo>
                <a:lnTo>
                  <a:pt x="4264" y="50"/>
                </a:lnTo>
                <a:lnTo>
                  <a:pt x="4255" y="52"/>
                </a:lnTo>
                <a:lnTo>
                  <a:pt x="4245" y="52"/>
                </a:lnTo>
                <a:lnTo>
                  <a:pt x="4234" y="55"/>
                </a:lnTo>
                <a:lnTo>
                  <a:pt x="4224" y="56"/>
                </a:lnTo>
                <a:lnTo>
                  <a:pt x="4214" y="59"/>
                </a:lnTo>
                <a:lnTo>
                  <a:pt x="4204" y="60"/>
                </a:lnTo>
                <a:lnTo>
                  <a:pt x="4207" y="44"/>
                </a:lnTo>
                <a:lnTo>
                  <a:pt x="4211" y="30"/>
                </a:lnTo>
                <a:lnTo>
                  <a:pt x="4213" y="16"/>
                </a:lnTo>
                <a:lnTo>
                  <a:pt x="4215" y="0"/>
                </a:lnTo>
                <a:lnTo>
                  <a:pt x="4205" y="7"/>
                </a:lnTo>
                <a:lnTo>
                  <a:pt x="4196" y="13"/>
                </a:lnTo>
                <a:lnTo>
                  <a:pt x="4185" y="19"/>
                </a:lnTo>
                <a:lnTo>
                  <a:pt x="4176" y="26"/>
                </a:lnTo>
                <a:lnTo>
                  <a:pt x="4167" y="33"/>
                </a:lnTo>
                <a:lnTo>
                  <a:pt x="4158" y="41"/>
                </a:lnTo>
                <a:lnTo>
                  <a:pt x="4150" y="48"/>
                </a:lnTo>
                <a:lnTo>
                  <a:pt x="4139" y="55"/>
                </a:lnTo>
                <a:lnTo>
                  <a:pt x="4134" y="63"/>
                </a:lnTo>
                <a:lnTo>
                  <a:pt x="4129" y="73"/>
                </a:lnTo>
                <a:lnTo>
                  <a:pt x="4123" y="82"/>
                </a:lnTo>
                <a:lnTo>
                  <a:pt x="4119" y="92"/>
                </a:lnTo>
                <a:lnTo>
                  <a:pt x="4113" y="102"/>
                </a:lnTo>
                <a:lnTo>
                  <a:pt x="4108" y="112"/>
                </a:lnTo>
                <a:lnTo>
                  <a:pt x="4101" y="123"/>
                </a:lnTo>
                <a:lnTo>
                  <a:pt x="4097" y="134"/>
                </a:lnTo>
                <a:lnTo>
                  <a:pt x="4088" y="134"/>
                </a:lnTo>
                <a:lnTo>
                  <a:pt x="4080" y="134"/>
                </a:lnTo>
                <a:lnTo>
                  <a:pt x="4071" y="134"/>
                </a:lnTo>
                <a:lnTo>
                  <a:pt x="4064" y="134"/>
                </a:lnTo>
                <a:lnTo>
                  <a:pt x="4054" y="134"/>
                </a:lnTo>
                <a:lnTo>
                  <a:pt x="4047" y="134"/>
                </a:lnTo>
                <a:lnTo>
                  <a:pt x="4038" y="134"/>
                </a:lnTo>
                <a:lnTo>
                  <a:pt x="4030" y="133"/>
                </a:lnTo>
                <a:lnTo>
                  <a:pt x="4016" y="143"/>
                </a:lnTo>
                <a:lnTo>
                  <a:pt x="4000" y="154"/>
                </a:lnTo>
                <a:lnTo>
                  <a:pt x="3986" y="165"/>
                </a:lnTo>
                <a:lnTo>
                  <a:pt x="3972" y="175"/>
                </a:lnTo>
                <a:lnTo>
                  <a:pt x="3956" y="186"/>
                </a:lnTo>
                <a:lnTo>
                  <a:pt x="3941" y="197"/>
                </a:lnTo>
                <a:lnTo>
                  <a:pt x="3928" y="207"/>
                </a:lnTo>
                <a:lnTo>
                  <a:pt x="3910" y="218"/>
                </a:lnTo>
                <a:lnTo>
                  <a:pt x="3863" y="251"/>
                </a:lnTo>
                <a:lnTo>
                  <a:pt x="3815" y="280"/>
                </a:lnTo>
                <a:lnTo>
                  <a:pt x="3768" y="307"/>
                </a:lnTo>
                <a:lnTo>
                  <a:pt x="3720" y="331"/>
                </a:lnTo>
                <a:lnTo>
                  <a:pt x="3672" y="357"/>
                </a:lnTo>
                <a:lnTo>
                  <a:pt x="3625" y="381"/>
                </a:lnTo>
                <a:lnTo>
                  <a:pt x="3577" y="405"/>
                </a:lnTo>
                <a:lnTo>
                  <a:pt x="3530" y="428"/>
                </a:lnTo>
                <a:lnTo>
                  <a:pt x="3483" y="456"/>
                </a:lnTo>
                <a:lnTo>
                  <a:pt x="3436" y="485"/>
                </a:lnTo>
                <a:lnTo>
                  <a:pt x="3389" y="516"/>
                </a:lnTo>
                <a:lnTo>
                  <a:pt x="3342" y="549"/>
                </a:lnTo>
                <a:lnTo>
                  <a:pt x="3296" y="590"/>
                </a:lnTo>
                <a:lnTo>
                  <a:pt x="3250" y="633"/>
                </a:lnTo>
                <a:lnTo>
                  <a:pt x="3203" y="682"/>
                </a:lnTo>
                <a:lnTo>
                  <a:pt x="3155" y="736"/>
                </a:lnTo>
                <a:lnTo>
                  <a:pt x="3112" y="764"/>
                </a:lnTo>
                <a:lnTo>
                  <a:pt x="3078" y="786"/>
                </a:lnTo>
                <a:lnTo>
                  <a:pt x="3052" y="803"/>
                </a:lnTo>
                <a:lnTo>
                  <a:pt x="3036" y="812"/>
                </a:lnTo>
                <a:lnTo>
                  <a:pt x="3028" y="815"/>
                </a:lnTo>
                <a:lnTo>
                  <a:pt x="3026" y="814"/>
                </a:lnTo>
                <a:lnTo>
                  <a:pt x="3028" y="809"/>
                </a:lnTo>
                <a:lnTo>
                  <a:pt x="3035" y="800"/>
                </a:lnTo>
                <a:lnTo>
                  <a:pt x="3044" y="790"/>
                </a:lnTo>
                <a:lnTo>
                  <a:pt x="3055" y="778"/>
                </a:lnTo>
                <a:lnTo>
                  <a:pt x="3070" y="766"/>
                </a:lnTo>
                <a:lnTo>
                  <a:pt x="3083" y="754"/>
                </a:lnTo>
                <a:lnTo>
                  <a:pt x="3094" y="743"/>
                </a:lnTo>
                <a:lnTo>
                  <a:pt x="3104" y="732"/>
                </a:lnTo>
                <a:lnTo>
                  <a:pt x="3112" y="725"/>
                </a:lnTo>
                <a:lnTo>
                  <a:pt x="3114" y="721"/>
                </a:lnTo>
                <a:lnTo>
                  <a:pt x="3136" y="710"/>
                </a:lnTo>
                <a:lnTo>
                  <a:pt x="3154" y="700"/>
                </a:lnTo>
                <a:lnTo>
                  <a:pt x="3167" y="691"/>
                </a:lnTo>
                <a:lnTo>
                  <a:pt x="3175" y="685"/>
                </a:lnTo>
                <a:lnTo>
                  <a:pt x="3180" y="682"/>
                </a:lnTo>
                <a:lnTo>
                  <a:pt x="3183" y="677"/>
                </a:lnTo>
                <a:lnTo>
                  <a:pt x="3180" y="675"/>
                </a:lnTo>
                <a:lnTo>
                  <a:pt x="3177" y="674"/>
                </a:lnTo>
                <a:lnTo>
                  <a:pt x="3173" y="674"/>
                </a:lnTo>
                <a:lnTo>
                  <a:pt x="3169" y="674"/>
                </a:lnTo>
                <a:lnTo>
                  <a:pt x="3164" y="673"/>
                </a:lnTo>
                <a:lnTo>
                  <a:pt x="3160" y="671"/>
                </a:lnTo>
                <a:lnTo>
                  <a:pt x="3158" y="669"/>
                </a:lnTo>
                <a:lnTo>
                  <a:pt x="3158" y="666"/>
                </a:lnTo>
                <a:lnTo>
                  <a:pt x="3160" y="660"/>
                </a:lnTo>
                <a:lnTo>
                  <a:pt x="3165" y="654"/>
                </a:lnTo>
                <a:lnTo>
                  <a:pt x="3173" y="645"/>
                </a:lnTo>
                <a:lnTo>
                  <a:pt x="3185" y="633"/>
                </a:lnTo>
                <a:lnTo>
                  <a:pt x="3203" y="620"/>
                </a:lnTo>
                <a:lnTo>
                  <a:pt x="3225" y="603"/>
                </a:lnTo>
                <a:lnTo>
                  <a:pt x="3253" y="584"/>
                </a:lnTo>
                <a:lnTo>
                  <a:pt x="3287" y="560"/>
                </a:lnTo>
                <a:lnTo>
                  <a:pt x="3327" y="533"/>
                </a:lnTo>
                <a:lnTo>
                  <a:pt x="3375" y="503"/>
                </a:lnTo>
                <a:lnTo>
                  <a:pt x="3432" y="466"/>
                </a:lnTo>
                <a:lnTo>
                  <a:pt x="3495" y="426"/>
                </a:lnTo>
                <a:lnTo>
                  <a:pt x="3569" y="383"/>
                </a:lnTo>
                <a:lnTo>
                  <a:pt x="3651" y="331"/>
                </a:lnTo>
                <a:lnTo>
                  <a:pt x="3744" y="278"/>
                </a:lnTo>
                <a:lnTo>
                  <a:pt x="3849" y="216"/>
                </a:lnTo>
                <a:lnTo>
                  <a:pt x="3962" y="150"/>
                </a:lnTo>
                <a:lnTo>
                  <a:pt x="3989" y="133"/>
                </a:lnTo>
                <a:lnTo>
                  <a:pt x="4011" y="116"/>
                </a:lnTo>
                <a:lnTo>
                  <a:pt x="4029" y="99"/>
                </a:lnTo>
                <a:lnTo>
                  <a:pt x="4042" y="84"/>
                </a:lnTo>
                <a:lnTo>
                  <a:pt x="4050" y="71"/>
                </a:lnTo>
                <a:lnTo>
                  <a:pt x="4054" y="61"/>
                </a:lnTo>
                <a:lnTo>
                  <a:pt x="4054" y="54"/>
                </a:lnTo>
                <a:lnTo>
                  <a:pt x="4050" y="52"/>
                </a:lnTo>
                <a:lnTo>
                  <a:pt x="4025" y="56"/>
                </a:lnTo>
                <a:lnTo>
                  <a:pt x="3998" y="69"/>
                </a:lnTo>
                <a:lnTo>
                  <a:pt x="3972" y="88"/>
                </a:lnTo>
                <a:lnTo>
                  <a:pt x="3944" y="106"/>
                </a:lnTo>
                <a:lnTo>
                  <a:pt x="3920" y="126"/>
                </a:lnTo>
                <a:lnTo>
                  <a:pt x="3899" y="139"/>
                </a:lnTo>
                <a:lnTo>
                  <a:pt x="3883" y="143"/>
                </a:lnTo>
                <a:lnTo>
                  <a:pt x="3870" y="133"/>
                </a:lnTo>
                <a:lnTo>
                  <a:pt x="3857" y="154"/>
                </a:lnTo>
                <a:lnTo>
                  <a:pt x="3855" y="162"/>
                </a:lnTo>
                <a:lnTo>
                  <a:pt x="3857" y="160"/>
                </a:lnTo>
                <a:lnTo>
                  <a:pt x="3860" y="151"/>
                </a:lnTo>
                <a:lnTo>
                  <a:pt x="3858" y="143"/>
                </a:lnTo>
                <a:lnTo>
                  <a:pt x="3845" y="143"/>
                </a:lnTo>
                <a:lnTo>
                  <a:pt x="3813" y="152"/>
                </a:lnTo>
                <a:lnTo>
                  <a:pt x="3759" y="177"/>
                </a:lnTo>
                <a:lnTo>
                  <a:pt x="3741" y="187"/>
                </a:lnTo>
                <a:lnTo>
                  <a:pt x="3722" y="197"/>
                </a:lnTo>
                <a:lnTo>
                  <a:pt x="3702" y="208"/>
                </a:lnTo>
                <a:lnTo>
                  <a:pt x="3678" y="222"/>
                </a:lnTo>
                <a:lnTo>
                  <a:pt x="3656" y="237"/>
                </a:lnTo>
                <a:lnTo>
                  <a:pt x="3630" y="251"/>
                </a:lnTo>
                <a:lnTo>
                  <a:pt x="3603" y="267"/>
                </a:lnTo>
                <a:lnTo>
                  <a:pt x="3577" y="284"/>
                </a:lnTo>
                <a:lnTo>
                  <a:pt x="3548" y="301"/>
                </a:lnTo>
                <a:lnTo>
                  <a:pt x="3520" y="318"/>
                </a:lnTo>
                <a:lnTo>
                  <a:pt x="3491" y="337"/>
                </a:lnTo>
                <a:lnTo>
                  <a:pt x="3460" y="357"/>
                </a:lnTo>
                <a:lnTo>
                  <a:pt x="3431" y="375"/>
                </a:lnTo>
                <a:lnTo>
                  <a:pt x="3400" y="395"/>
                </a:lnTo>
                <a:lnTo>
                  <a:pt x="3368" y="415"/>
                </a:lnTo>
                <a:lnTo>
                  <a:pt x="3338" y="435"/>
                </a:lnTo>
                <a:lnTo>
                  <a:pt x="3307" y="456"/>
                </a:lnTo>
                <a:lnTo>
                  <a:pt x="3274" y="476"/>
                </a:lnTo>
                <a:lnTo>
                  <a:pt x="3244" y="496"/>
                </a:lnTo>
                <a:lnTo>
                  <a:pt x="3214" y="516"/>
                </a:lnTo>
                <a:lnTo>
                  <a:pt x="3184" y="535"/>
                </a:lnTo>
                <a:lnTo>
                  <a:pt x="3154" y="556"/>
                </a:lnTo>
                <a:lnTo>
                  <a:pt x="3127" y="574"/>
                </a:lnTo>
                <a:lnTo>
                  <a:pt x="3098" y="594"/>
                </a:lnTo>
                <a:lnTo>
                  <a:pt x="3072" y="611"/>
                </a:lnTo>
                <a:lnTo>
                  <a:pt x="3046" y="628"/>
                </a:lnTo>
                <a:lnTo>
                  <a:pt x="3022" y="645"/>
                </a:lnTo>
                <a:lnTo>
                  <a:pt x="2998" y="660"/>
                </a:lnTo>
                <a:lnTo>
                  <a:pt x="2974" y="677"/>
                </a:lnTo>
                <a:lnTo>
                  <a:pt x="2955" y="691"/>
                </a:lnTo>
                <a:lnTo>
                  <a:pt x="2936" y="704"/>
                </a:lnTo>
                <a:lnTo>
                  <a:pt x="2918" y="715"/>
                </a:lnTo>
                <a:lnTo>
                  <a:pt x="2869" y="749"/>
                </a:lnTo>
                <a:lnTo>
                  <a:pt x="2819" y="783"/>
                </a:lnTo>
                <a:lnTo>
                  <a:pt x="2771" y="816"/>
                </a:lnTo>
                <a:lnTo>
                  <a:pt x="2723" y="847"/>
                </a:lnTo>
                <a:lnTo>
                  <a:pt x="2675" y="879"/>
                </a:lnTo>
                <a:lnTo>
                  <a:pt x="2628" y="910"/>
                </a:lnTo>
                <a:lnTo>
                  <a:pt x="2581" y="940"/>
                </a:lnTo>
                <a:lnTo>
                  <a:pt x="2536" y="970"/>
                </a:lnTo>
                <a:lnTo>
                  <a:pt x="2491" y="1000"/>
                </a:lnTo>
                <a:lnTo>
                  <a:pt x="2447" y="1031"/>
                </a:lnTo>
                <a:lnTo>
                  <a:pt x="2402" y="1060"/>
                </a:lnTo>
                <a:lnTo>
                  <a:pt x="2359" y="1089"/>
                </a:lnTo>
                <a:lnTo>
                  <a:pt x="2316" y="1117"/>
                </a:lnTo>
                <a:lnTo>
                  <a:pt x="2273" y="1148"/>
                </a:lnTo>
                <a:lnTo>
                  <a:pt x="2232" y="1178"/>
                </a:lnTo>
                <a:lnTo>
                  <a:pt x="2191" y="1206"/>
                </a:lnTo>
                <a:lnTo>
                  <a:pt x="2168" y="1227"/>
                </a:lnTo>
                <a:lnTo>
                  <a:pt x="2146" y="1249"/>
                </a:lnTo>
                <a:lnTo>
                  <a:pt x="2125" y="1271"/>
                </a:lnTo>
                <a:lnTo>
                  <a:pt x="2104" y="1293"/>
                </a:lnTo>
                <a:lnTo>
                  <a:pt x="2085" y="1316"/>
                </a:lnTo>
                <a:lnTo>
                  <a:pt x="2065" y="1338"/>
                </a:lnTo>
                <a:lnTo>
                  <a:pt x="2048" y="1362"/>
                </a:lnTo>
                <a:lnTo>
                  <a:pt x="2029" y="1384"/>
                </a:lnTo>
                <a:lnTo>
                  <a:pt x="2010" y="1407"/>
                </a:lnTo>
                <a:lnTo>
                  <a:pt x="1994" y="1430"/>
                </a:lnTo>
                <a:lnTo>
                  <a:pt x="1975" y="1453"/>
                </a:lnTo>
                <a:lnTo>
                  <a:pt x="1957" y="1475"/>
                </a:lnTo>
                <a:lnTo>
                  <a:pt x="1938" y="1498"/>
                </a:lnTo>
                <a:lnTo>
                  <a:pt x="1920" y="1518"/>
                </a:lnTo>
                <a:lnTo>
                  <a:pt x="1901" y="1539"/>
                </a:lnTo>
                <a:lnTo>
                  <a:pt x="1881" y="1559"/>
                </a:lnTo>
                <a:lnTo>
                  <a:pt x="1859" y="1580"/>
                </a:lnTo>
                <a:lnTo>
                  <a:pt x="1835" y="1607"/>
                </a:lnTo>
                <a:lnTo>
                  <a:pt x="1811" y="1637"/>
                </a:lnTo>
                <a:lnTo>
                  <a:pt x="1786" y="1671"/>
                </a:lnTo>
                <a:lnTo>
                  <a:pt x="1762" y="1704"/>
                </a:lnTo>
                <a:lnTo>
                  <a:pt x="1738" y="1734"/>
                </a:lnTo>
                <a:lnTo>
                  <a:pt x="1717" y="1760"/>
                </a:lnTo>
                <a:lnTo>
                  <a:pt x="1697" y="1779"/>
                </a:lnTo>
                <a:lnTo>
                  <a:pt x="1669" y="1799"/>
                </a:lnTo>
                <a:lnTo>
                  <a:pt x="1651" y="1814"/>
                </a:lnTo>
                <a:lnTo>
                  <a:pt x="1638" y="1823"/>
                </a:lnTo>
                <a:lnTo>
                  <a:pt x="1629" y="1830"/>
                </a:lnTo>
                <a:lnTo>
                  <a:pt x="1618" y="1836"/>
                </a:lnTo>
                <a:lnTo>
                  <a:pt x="1607" y="1846"/>
                </a:lnTo>
                <a:lnTo>
                  <a:pt x="1593" y="1859"/>
                </a:lnTo>
                <a:lnTo>
                  <a:pt x="1571" y="1880"/>
                </a:lnTo>
                <a:lnTo>
                  <a:pt x="1550" y="1913"/>
                </a:lnTo>
                <a:lnTo>
                  <a:pt x="1531" y="1947"/>
                </a:lnTo>
                <a:lnTo>
                  <a:pt x="1514" y="1983"/>
                </a:lnTo>
                <a:lnTo>
                  <a:pt x="1499" y="2021"/>
                </a:lnTo>
                <a:lnTo>
                  <a:pt x="1482" y="2057"/>
                </a:lnTo>
                <a:lnTo>
                  <a:pt x="1466" y="2093"/>
                </a:lnTo>
                <a:lnTo>
                  <a:pt x="1452" y="2128"/>
                </a:lnTo>
                <a:lnTo>
                  <a:pt x="1435" y="2161"/>
                </a:lnTo>
                <a:lnTo>
                  <a:pt x="1420" y="2132"/>
                </a:lnTo>
                <a:lnTo>
                  <a:pt x="1402" y="2104"/>
                </a:lnTo>
                <a:lnTo>
                  <a:pt x="1383" y="2075"/>
                </a:lnTo>
                <a:lnTo>
                  <a:pt x="1363" y="2046"/>
                </a:lnTo>
                <a:lnTo>
                  <a:pt x="1340" y="2018"/>
                </a:lnTo>
                <a:lnTo>
                  <a:pt x="1319" y="1989"/>
                </a:lnTo>
                <a:lnTo>
                  <a:pt x="1296" y="1961"/>
                </a:lnTo>
                <a:lnTo>
                  <a:pt x="1274" y="1933"/>
                </a:lnTo>
                <a:lnTo>
                  <a:pt x="1251" y="1903"/>
                </a:lnTo>
                <a:lnTo>
                  <a:pt x="1230" y="1874"/>
                </a:lnTo>
                <a:lnTo>
                  <a:pt x="1210" y="1847"/>
                </a:lnTo>
                <a:lnTo>
                  <a:pt x="1192" y="1818"/>
                </a:lnTo>
                <a:lnTo>
                  <a:pt x="1175" y="1789"/>
                </a:lnTo>
                <a:lnTo>
                  <a:pt x="1159" y="1761"/>
                </a:lnTo>
                <a:lnTo>
                  <a:pt x="1146" y="1732"/>
                </a:lnTo>
                <a:lnTo>
                  <a:pt x="1137" y="1705"/>
                </a:lnTo>
                <a:lnTo>
                  <a:pt x="1121" y="1665"/>
                </a:lnTo>
                <a:lnTo>
                  <a:pt x="1105" y="1624"/>
                </a:lnTo>
                <a:lnTo>
                  <a:pt x="1087" y="1580"/>
                </a:lnTo>
                <a:lnTo>
                  <a:pt x="1068" y="1537"/>
                </a:lnTo>
                <a:lnTo>
                  <a:pt x="1050" y="1493"/>
                </a:lnTo>
                <a:lnTo>
                  <a:pt x="1032" y="1449"/>
                </a:lnTo>
                <a:lnTo>
                  <a:pt x="1016" y="1407"/>
                </a:lnTo>
                <a:lnTo>
                  <a:pt x="1003" y="1367"/>
                </a:lnTo>
                <a:lnTo>
                  <a:pt x="979" y="1376"/>
                </a:lnTo>
                <a:lnTo>
                  <a:pt x="958" y="1386"/>
                </a:lnTo>
                <a:lnTo>
                  <a:pt x="935" y="1394"/>
                </a:lnTo>
                <a:lnTo>
                  <a:pt x="914" y="1403"/>
                </a:lnTo>
                <a:lnTo>
                  <a:pt x="891" y="1411"/>
                </a:lnTo>
                <a:lnTo>
                  <a:pt x="870" y="1418"/>
                </a:lnTo>
                <a:lnTo>
                  <a:pt x="847" y="1426"/>
                </a:lnTo>
                <a:lnTo>
                  <a:pt x="825" y="1435"/>
                </a:lnTo>
                <a:lnTo>
                  <a:pt x="808" y="1443"/>
                </a:lnTo>
                <a:lnTo>
                  <a:pt x="790" y="1450"/>
                </a:lnTo>
                <a:lnTo>
                  <a:pt x="773" y="1459"/>
                </a:lnTo>
                <a:lnTo>
                  <a:pt x="755" y="1467"/>
                </a:lnTo>
                <a:lnTo>
                  <a:pt x="738" y="1475"/>
                </a:lnTo>
                <a:lnTo>
                  <a:pt x="721" y="1484"/>
                </a:lnTo>
                <a:lnTo>
                  <a:pt x="704" y="1491"/>
                </a:lnTo>
                <a:lnTo>
                  <a:pt x="687" y="1499"/>
                </a:lnTo>
                <a:lnTo>
                  <a:pt x="669" y="1507"/>
                </a:lnTo>
                <a:lnTo>
                  <a:pt x="652" y="1515"/>
                </a:lnTo>
                <a:lnTo>
                  <a:pt x="636" y="1522"/>
                </a:lnTo>
                <a:lnTo>
                  <a:pt x="619" y="1531"/>
                </a:lnTo>
                <a:lnTo>
                  <a:pt x="602" y="1537"/>
                </a:lnTo>
                <a:lnTo>
                  <a:pt x="586" y="1546"/>
                </a:lnTo>
                <a:lnTo>
                  <a:pt x="569" y="1553"/>
                </a:lnTo>
                <a:lnTo>
                  <a:pt x="553" y="1561"/>
                </a:lnTo>
                <a:lnTo>
                  <a:pt x="550" y="1561"/>
                </a:lnTo>
                <a:lnTo>
                  <a:pt x="541" y="1561"/>
                </a:lnTo>
                <a:lnTo>
                  <a:pt x="527" y="1563"/>
                </a:lnTo>
                <a:lnTo>
                  <a:pt x="511" y="1567"/>
                </a:lnTo>
                <a:lnTo>
                  <a:pt x="491" y="1571"/>
                </a:lnTo>
                <a:lnTo>
                  <a:pt x="469" y="1577"/>
                </a:lnTo>
                <a:lnTo>
                  <a:pt x="445" y="1585"/>
                </a:lnTo>
                <a:lnTo>
                  <a:pt x="421" y="1592"/>
                </a:lnTo>
                <a:lnTo>
                  <a:pt x="396" y="1598"/>
                </a:lnTo>
                <a:lnTo>
                  <a:pt x="373" y="1605"/>
                </a:lnTo>
                <a:lnTo>
                  <a:pt x="351" y="1612"/>
                </a:lnTo>
                <a:lnTo>
                  <a:pt x="333" y="1616"/>
                </a:lnTo>
                <a:lnTo>
                  <a:pt x="315" y="1620"/>
                </a:lnTo>
                <a:lnTo>
                  <a:pt x="304" y="1624"/>
                </a:lnTo>
                <a:lnTo>
                  <a:pt x="297" y="1624"/>
                </a:lnTo>
                <a:lnTo>
                  <a:pt x="294" y="1622"/>
                </a:lnTo>
                <a:lnTo>
                  <a:pt x="275" y="1633"/>
                </a:lnTo>
                <a:lnTo>
                  <a:pt x="256" y="1643"/>
                </a:lnTo>
                <a:lnTo>
                  <a:pt x="237" y="1654"/>
                </a:lnTo>
                <a:lnTo>
                  <a:pt x="219" y="1665"/>
                </a:lnTo>
                <a:lnTo>
                  <a:pt x="199" y="1675"/>
                </a:lnTo>
                <a:lnTo>
                  <a:pt x="180" y="1685"/>
                </a:lnTo>
                <a:lnTo>
                  <a:pt x="161" y="1696"/>
                </a:lnTo>
                <a:lnTo>
                  <a:pt x="143" y="1707"/>
                </a:lnTo>
                <a:lnTo>
                  <a:pt x="124" y="1718"/>
                </a:lnTo>
                <a:lnTo>
                  <a:pt x="106" y="1729"/>
                </a:lnTo>
                <a:lnTo>
                  <a:pt x="87" y="1739"/>
                </a:lnTo>
                <a:lnTo>
                  <a:pt x="70" y="1750"/>
                </a:lnTo>
                <a:lnTo>
                  <a:pt x="53" y="1760"/>
                </a:lnTo>
                <a:lnTo>
                  <a:pt x="35" y="1771"/>
                </a:lnTo>
                <a:lnTo>
                  <a:pt x="18" y="1781"/>
                </a:lnTo>
                <a:lnTo>
                  <a:pt x="0" y="1792"/>
                </a:lnTo>
                <a:close/>
              </a:path>
            </a:pathLst>
          </a:custGeom>
          <a:solidFill>
            <a:srgbClr val="F58220"/>
          </a:solidFill>
          <a:ln w="19050">
            <a:solidFill>
              <a:srgbClr val="FFFFFF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96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ea"/>
              <a:sym typeface="나눔고딕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D088818C-856B-0E22-6F43-ECCBFAE5A34A}"/>
              </a:ext>
            </a:extLst>
          </p:cNvPr>
          <p:cNvSpPr/>
          <p:nvPr/>
        </p:nvSpPr>
        <p:spPr>
          <a:xfrm>
            <a:off x="8495901" y="2143376"/>
            <a:ext cx="3396062" cy="299722"/>
          </a:xfrm>
          <a:prstGeom prst="rect">
            <a:avLst/>
          </a:prstGeom>
          <a:solidFill>
            <a:srgbClr val="C55A11"/>
          </a:solidFill>
          <a:ln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AI</a:t>
            </a:r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협의체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37246E28-CC69-FC55-5123-094956A0CF0C}"/>
              </a:ext>
            </a:extLst>
          </p:cNvPr>
          <p:cNvSpPr/>
          <p:nvPr/>
        </p:nvSpPr>
        <p:spPr>
          <a:xfrm>
            <a:off x="4965520" y="2489273"/>
            <a:ext cx="3396062" cy="2997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>
                <a:solidFill>
                  <a:schemeClr val="bg1">
                    <a:lumMod val="65000"/>
                  </a:schemeClr>
                </a:solidFill>
                <a:latin typeface="+mn-ea"/>
              </a:rPr>
              <a:t>경영기획부문장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A4F4D3F2-301D-2659-38DA-9B9E1BCC8B0B}"/>
              </a:ext>
            </a:extLst>
          </p:cNvPr>
          <p:cNvSpPr/>
          <p:nvPr/>
        </p:nvSpPr>
        <p:spPr>
          <a:xfrm>
            <a:off x="8495901" y="2489273"/>
            <a:ext cx="3396062" cy="299722"/>
          </a:xfrm>
          <a:prstGeom prst="rect">
            <a:avLst/>
          </a:prstGeo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전략기획본부장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C7D4D236-85D1-44EF-8C72-03DE0F369D30}"/>
              </a:ext>
            </a:extLst>
          </p:cNvPr>
          <p:cNvSpPr/>
          <p:nvPr/>
        </p:nvSpPr>
        <p:spPr>
          <a:xfrm>
            <a:off x="1435138" y="2489273"/>
            <a:ext cx="3396062" cy="2997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>
                <a:solidFill>
                  <a:schemeClr val="bg1">
                    <a:lumMod val="65000"/>
                  </a:schemeClr>
                </a:solidFill>
                <a:latin typeface="+mn-ea"/>
              </a:rPr>
              <a:t>경영기획그룹 대표</a:t>
            </a:r>
          </a:p>
        </p:txBody>
      </p:sp>
      <p:sp>
        <p:nvSpPr>
          <p:cNvPr id="43" name="Freeform 1754">
            <a:extLst>
              <a:ext uri="{FF2B5EF4-FFF2-40B4-BE49-F238E27FC236}">
                <a16:creationId xmlns:a16="http://schemas.microsoft.com/office/drawing/2014/main" id="{316C90DF-5DE4-6511-00AF-5B7508239D50}"/>
              </a:ext>
            </a:extLst>
          </p:cNvPr>
          <p:cNvSpPr>
            <a:spLocks noChangeAspect="1"/>
          </p:cNvSpPr>
          <p:nvPr/>
        </p:nvSpPr>
        <p:spPr bwMode="gray">
          <a:xfrm>
            <a:off x="8495901" y="2489273"/>
            <a:ext cx="306968" cy="270540"/>
          </a:xfrm>
          <a:custGeom>
            <a:avLst/>
            <a:gdLst>
              <a:gd name="T0" fmla="*/ 2147483646 w 4916"/>
              <a:gd name="T1" fmla="*/ 2147483646 h 3388"/>
              <a:gd name="T2" fmla="*/ 2147483646 w 4916"/>
              <a:gd name="T3" fmla="*/ 2147483646 h 3388"/>
              <a:gd name="T4" fmla="*/ 2147483646 w 4916"/>
              <a:gd name="T5" fmla="*/ 2147483646 h 3388"/>
              <a:gd name="T6" fmla="*/ 2147483646 w 4916"/>
              <a:gd name="T7" fmla="*/ 2147483646 h 3388"/>
              <a:gd name="T8" fmla="*/ 2147483646 w 4916"/>
              <a:gd name="T9" fmla="*/ 2147483646 h 3388"/>
              <a:gd name="T10" fmla="*/ 2147483646 w 4916"/>
              <a:gd name="T11" fmla="*/ 2147483646 h 3388"/>
              <a:gd name="T12" fmla="*/ 2147483646 w 4916"/>
              <a:gd name="T13" fmla="*/ 2147483646 h 3388"/>
              <a:gd name="T14" fmla="*/ 2147483646 w 4916"/>
              <a:gd name="T15" fmla="*/ 2147483646 h 3388"/>
              <a:gd name="T16" fmla="*/ 2147483646 w 4916"/>
              <a:gd name="T17" fmla="*/ 2147483646 h 3388"/>
              <a:gd name="T18" fmla="*/ 2147483646 w 4916"/>
              <a:gd name="T19" fmla="*/ 2147483646 h 3388"/>
              <a:gd name="T20" fmla="*/ 2147483646 w 4916"/>
              <a:gd name="T21" fmla="*/ 2147483646 h 3388"/>
              <a:gd name="T22" fmla="*/ 2147483646 w 4916"/>
              <a:gd name="T23" fmla="*/ 2147483646 h 3388"/>
              <a:gd name="T24" fmla="*/ 2147483646 w 4916"/>
              <a:gd name="T25" fmla="*/ 2147483646 h 3388"/>
              <a:gd name="T26" fmla="*/ 2147483646 w 4916"/>
              <a:gd name="T27" fmla="*/ 2147483646 h 3388"/>
              <a:gd name="T28" fmla="*/ 2147483646 w 4916"/>
              <a:gd name="T29" fmla="*/ 2147483646 h 3388"/>
              <a:gd name="T30" fmla="*/ 2147483646 w 4916"/>
              <a:gd name="T31" fmla="*/ 2147483646 h 3388"/>
              <a:gd name="T32" fmla="*/ 2147483646 w 4916"/>
              <a:gd name="T33" fmla="*/ 2147483646 h 3388"/>
              <a:gd name="T34" fmla="*/ 2147483646 w 4916"/>
              <a:gd name="T35" fmla="*/ 2147483646 h 3388"/>
              <a:gd name="T36" fmla="*/ 2147483646 w 4916"/>
              <a:gd name="T37" fmla="*/ 2147483646 h 3388"/>
              <a:gd name="T38" fmla="*/ 2147483646 w 4916"/>
              <a:gd name="T39" fmla="*/ 2147483646 h 3388"/>
              <a:gd name="T40" fmla="*/ 2147483646 w 4916"/>
              <a:gd name="T41" fmla="*/ 2147483646 h 3388"/>
              <a:gd name="T42" fmla="*/ 2147483646 w 4916"/>
              <a:gd name="T43" fmla="*/ 2147483646 h 3388"/>
              <a:gd name="T44" fmla="*/ 2147483646 w 4916"/>
              <a:gd name="T45" fmla="*/ 2147483646 h 3388"/>
              <a:gd name="T46" fmla="*/ 2147483646 w 4916"/>
              <a:gd name="T47" fmla="*/ 2147483646 h 3388"/>
              <a:gd name="T48" fmla="*/ 2147483646 w 4916"/>
              <a:gd name="T49" fmla="*/ 2147483646 h 3388"/>
              <a:gd name="T50" fmla="*/ 2147483646 w 4916"/>
              <a:gd name="T51" fmla="*/ 2147483646 h 3388"/>
              <a:gd name="T52" fmla="*/ 2147483646 w 4916"/>
              <a:gd name="T53" fmla="*/ 2147483646 h 3388"/>
              <a:gd name="T54" fmla="*/ 2147483646 w 4916"/>
              <a:gd name="T55" fmla="*/ 2147483646 h 3388"/>
              <a:gd name="T56" fmla="*/ 2147483646 w 4916"/>
              <a:gd name="T57" fmla="*/ 2147483646 h 3388"/>
              <a:gd name="T58" fmla="*/ 2147483646 w 4916"/>
              <a:gd name="T59" fmla="*/ 2147483646 h 3388"/>
              <a:gd name="T60" fmla="*/ 2147483646 w 4916"/>
              <a:gd name="T61" fmla="*/ 2147483646 h 3388"/>
              <a:gd name="T62" fmla="*/ 2147483646 w 4916"/>
              <a:gd name="T63" fmla="*/ 2147483646 h 3388"/>
              <a:gd name="T64" fmla="*/ 2147483646 w 4916"/>
              <a:gd name="T65" fmla="*/ 2147483646 h 3388"/>
              <a:gd name="T66" fmla="*/ 2147483646 w 4916"/>
              <a:gd name="T67" fmla="*/ 2147483646 h 3388"/>
              <a:gd name="T68" fmla="*/ 2147483646 w 4916"/>
              <a:gd name="T69" fmla="*/ 2147483646 h 3388"/>
              <a:gd name="T70" fmla="*/ 2147483646 w 4916"/>
              <a:gd name="T71" fmla="*/ 2147483646 h 3388"/>
              <a:gd name="T72" fmla="*/ 2147483646 w 4916"/>
              <a:gd name="T73" fmla="*/ 2147483646 h 3388"/>
              <a:gd name="T74" fmla="*/ 2147483646 w 4916"/>
              <a:gd name="T75" fmla="*/ 2147483646 h 3388"/>
              <a:gd name="T76" fmla="*/ 2147483646 w 4916"/>
              <a:gd name="T77" fmla="*/ 2147483646 h 3388"/>
              <a:gd name="T78" fmla="*/ 2147483646 w 4916"/>
              <a:gd name="T79" fmla="*/ 2147483646 h 3388"/>
              <a:gd name="T80" fmla="*/ 2147483646 w 4916"/>
              <a:gd name="T81" fmla="*/ 2147483646 h 3388"/>
              <a:gd name="T82" fmla="*/ 2147483646 w 4916"/>
              <a:gd name="T83" fmla="*/ 2147483646 h 3388"/>
              <a:gd name="T84" fmla="*/ 2147483646 w 4916"/>
              <a:gd name="T85" fmla="*/ 2147483646 h 3388"/>
              <a:gd name="T86" fmla="*/ 2147483646 w 4916"/>
              <a:gd name="T87" fmla="*/ 2147483646 h 3388"/>
              <a:gd name="T88" fmla="*/ 2147483646 w 4916"/>
              <a:gd name="T89" fmla="*/ 2147483646 h 3388"/>
              <a:gd name="T90" fmla="*/ 2147483646 w 4916"/>
              <a:gd name="T91" fmla="*/ 2147483646 h 3388"/>
              <a:gd name="T92" fmla="*/ 2147483646 w 4916"/>
              <a:gd name="T93" fmla="*/ 2147483646 h 3388"/>
              <a:gd name="T94" fmla="*/ 2147483646 w 4916"/>
              <a:gd name="T95" fmla="*/ 2147483646 h 3388"/>
              <a:gd name="T96" fmla="*/ 2147483646 w 4916"/>
              <a:gd name="T97" fmla="*/ 2147483646 h 3388"/>
              <a:gd name="T98" fmla="*/ 2147483646 w 4916"/>
              <a:gd name="T99" fmla="*/ 2147483646 h 3388"/>
              <a:gd name="T100" fmla="*/ 2147483646 w 4916"/>
              <a:gd name="T101" fmla="*/ 2147483646 h 3388"/>
              <a:gd name="T102" fmla="*/ 2147483646 w 4916"/>
              <a:gd name="T103" fmla="*/ 2147483646 h 3388"/>
              <a:gd name="T104" fmla="*/ 2147483646 w 4916"/>
              <a:gd name="T105" fmla="*/ 2147483646 h 3388"/>
              <a:gd name="T106" fmla="*/ 2147483646 w 4916"/>
              <a:gd name="T107" fmla="*/ 2147483646 h 3388"/>
              <a:gd name="T108" fmla="*/ 2147483646 w 4916"/>
              <a:gd name="T109" fmla="*/ 2147483646 h 3388"/>
              <a:gd name="T110" fmla="*/ 2147483646 w 4916"/>
              <a:gd name="T111" fmla="*/ 2147483646 h 3388"/>
              <a:gd name="T112" fmla="*/ 2147483646 w 4916"/>
              <a:gd name="T113" fmla="*/ 2147483646 h 3388"/>
              <a:gd name="T114" fmla="*/ 2147483646 w 4916"/>
              <a:gd name="T115" fmla="*/ 2147483646 h 3388"/>
              <a:gd name="T116" fmla="*/ 2147483646 w 4916"/>
              <a:gd name="T117" fmla="*/ 2147483646 h 3388"/>
              <a:gd name="T118" fmla="*/ 2147483646 w 4916"/>
              <a:gd name="T119" fmla="*/ 2147483646 h 3388"/>
              <a:gd name="T120" fmla="*/ 2147483646 w 4916"/>
              <a:gd name="T121" fmla="*/ 2147483646 h 3388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w 4916"/>
              <a:gd name="T184" fmla="*/ 0 h 3388"/>
              <a:gd name="T185" fmla="*/ 4916 w 4916"/>
              <a:gd name="T186" fmla="*/ 3388 h 3388"/>
            </a:gdLst>
            <a:ahLst/>
            <a:cxnLst>
              <a:cxn ang="T122">
                <a:pos x="T0" y="T1"/>
              </a:cxn>
              <a:cxn ang="T123">
                <a:pos x="T2" y="T3"/>
              </a:cxn>
              <a:cxn ang="T124">
                <a:pos x="T4" y="T5"/>
              </a:cxn>
              <a:cxn ang="T125">
                <a:pos x="T6" y="T7"/>
              </a:cxn>
              <a:cxn ang="T126">
                <a:pos x="T8" y="T9"/>
              </a:cxn>
              <a:cxn ang="T127">
                <a:pos x="T10" y="T11"/>
              </a:cxn>
              <a:cxn ang="T128">
                <a:pos x="T12" y="T13"/>
              </a:cxn>
              <a:cxn ang="T129">
                <a:pos x="T14" y="T15"/>
              </a:cxn>
              <a:cxn ang="T130">
                <a:pos x="T16" y="T17"/>
              </a:cxn>
              <a:cxn ang="T131">
                <a:pos x="T18" y="T19"/>
              </a:cxn>
              <a:cxn ang="T132">
                <a:pos x="T20" y="T21"/>
              </a:cxn>
              <a:cxn ang="T133">
                <a:pos x="T22" y="T23"/>
              </a:cxn>
              <a:cxn ang="T134">
                <a:pos x="T24" y="T25"/>
              </a:cxn>
              <a:cxn ang="T135">
                <a:pos x="T26" y="T27"/>
              </a:cxn>
              <a:cxn ang="T136">
                <a:pos x="T28" y="T29"/>
              </a:cxn>
              <a:cxn ang="T137">
                <a:pos x="T30" y="T31"/>
              </a:cxn>
              <a:cxn ang="T138">
                <a:pos x="T32" y="T33"/>
              </a:cxn>
              <a:cxn ang="T139">
                <a:pos x="T34" y="T35"/>
              </a:cxn>
              <a:cxn ang="T140">
                <a:pos x="T36" y="T37"/>
              </a:cxn>
              <a:cxn ang="T141">
                <a:pos x="T38" y="T39"/>
              </a:cxn>
              <a:cxn ang="T142">
                <a:pos x="T40" y="T41"/>
              </a:cxn>
              <a:cxn ang="T143">
                <a:pos x="T42" y="T43"/>
              </a:cxn>
              <a:cxn ang="T144">
                <a:pos x="T44" y="T45"/>
              </a:cxn>
              <a:cxn ang="T145">
                <a:pos x="T46" y="T47"/>
              </a:cxn>
              <a:cxn ang="T146">
                <a:pos x="T48" y="T49"/>
              </a:cxn>
              <a:cxn ang="T147">
                <a:pos x="T50" y="T51"/>
              </a:cxn>
              <a:cxn ang="T148">
                <a:pos x="T52" y="T53"/>
              </a:cxn>
              <a:cxn ang="T149">
                <a:pos x="T54" y="T55"/>
              </a:cxn>
              <a:cxn ang="T150">
                <a:pos x="T56" y="T57"/>
              </a:cxn>
              <a:cxn ang="T151">
                <a:pos x="T58" y="T59"/>
              </a:cxn>
              <a:cxn ang="T152">
                <a:pos x="T60" y="T61"/>
              </a:cxn>
              <a:cxn ang="T153">
                <a:pos x="T62" y="T63"/>
              </a:cxn>
              <a:cxn ang="T154">
                <a:pos x="T64" y="T65"/>
              </a:cxn>
              <a:cxn ang="T155">
                <a:pos x="T66" y="T67"/>
              </a:cxn>
              <a:cxn ang="T156">
                <a:pos x="T68" y="T69"/>
              </a:cxn>
              <a:cxn ang="T157">
                <a:pos x="T70" y="T71"/>
              </a:cxn>
              <a:cxn ang="T158">
                <a:pos x="T72" y="T73"/>
              </a:cxn>
              <a:cxn ang="T159">
                <a:pos x="T74" y="T75"/>
              </a:cxn>
              <a:cxn ang="T160">
                <a:pos x="T76" y="T77"/>
              </a:cxn>
              <a:cxn ang="T161">
                <a:pos x="T78" y="T79"/>
              </a:cxn>
              <a:cxn ang="T162">
                <a:pos x="T80" y="T81"/>
              </a:cxn>
              <a:cxn ang="T163">
                <a:pos x="T82" y="T83"/>
              </a:cxn>
              <a:cxn ang="T164">
                <a:pos x="T84" y="T85"/>
              </a:cxn>
              <a:cxn ang="T165">
                <a:pos x="T86" y="T87"/>
              </a:cxn>
              <a:cxn ang="T166">
                <a:pos x="T88" y="T89"/>
              </a:cxn>
              <a:cxn ang="T167">
                <a:pos x="T90" y="T91"/>
              </a:cxn>
              <a:cxn ang="T168">
                <a:pos x="T92" y="T93"/>
              </a:cxn>
              <a:cxn ang="T169">
                <a:pos x="T94" y="T95"/>
              </a:cxn>
              <a:cxn ang="T170">
                <a:pos x="T96" y="T97"/>
              </a:cxn>
              <a:cxn ang="T171">
                <a:pos x="T98" y="T99"/>
              </a:cxn>
              <a:cxn ang="T172">
                <a:pos x="T100" y="T101"/>
              </a:cxn>
              <a:cxn ang="T173">
                <a:pos x="T102" y="T103"/>
              </a:cxn>
              <a:cxn ang="T174">
                <a:pos x="T104" y="T105"/>
              </a:cxn>
              <a:cxn ang="T175">
                <a:pos x="T106" y="T107"/>
              </a:cxn>
              <a:cxn ang="T176">
                <a:pos x="T108" y="T109"/>
              </a:cxn>
              <a:cxn ang="T177">
                <a:pos x="T110" y="T111"/>
              </a:cxn>
              <a:cxn ang="T178">
                <a:pos x="T112" y="T113"/>
              </a:cxn>
              <a:cxn ang="T179">
                <a:pos x="T114" y="T115"/>
              </a:cxn>
              <a:cxn ang="T180">
                <a:pos x="T116" y="T117"/>
              </a:cxn>
              <a:cxn ang="T181">
                <a:pos x="T118" y="T119"/>
              </a:cxn>
              <a:cxn ang="T182">
                <a:pos x="T120" y="T121"/>
              </a:cxn>
            </a:cxnLst>
            <a:rect l="T183" t="T184" r="T185" b="T186"/>
            <a:pathLst>
              <a:path w="4916" h="3388">
                <a:moveTo>
                  <a:pt x="0" y="1792"/>
                </a:moveTo>
                <a:lnTo>
                  <a:pt x="12" y="1808"/>
                </a:lnTo>
                <a:lnTo>
                  <a:pt x="25" y="1823"/>
                </a:lnTo>
                <a:lnTo>
                  <a:pt x="38" y="1838"/>
                </a:lnTo>
                <a:lnTo>
                  <a:pt x="53" y="1853"/>
                </a:lnTo>
                <a:lnTo>
                  <a:pt x="68" y="1867"/>
                </a:lnTo>
                <a:lnTo>
                  <a:pt x="83" y="1883"/>
                </a:lnTo>
                <a:lnTo>
                  <a:pt x="100" y="1897"/>
                </a:lnTo>
                <a:lnTo>
                  <a:pt x="116" y="1911"/>
                </a:lnTo>
                <a:lnTo>
                  <a:pt x="131" y="1927"/>
                </a:lnTo>
                <a:lnTo>
                  <a:pt x="148" y="1941"/>
                </a:lnTo>
                <a:lnTo>
                  <a:pt x="162" y="1955"/>
                </a:lnTo>
                <a:lnTo>
                  <a:pt x="178" y="1971"/>
                </a:lnTo>
                <a:lnTo>
                  <a:pt x="193" y="1985"/>
                </a:lnTo>
                <a:lnTo>
                  <a:pt x="206" y="2000"/>
                </a:lnTo>
                <a:lnTo>
                  <a:pt x="219" y="2014"/>
                </a:lnTo>
                <a:lnTo>
                  <a:pt x="231" y="2030"/>
                </a:lnTo>
                <a:lnTo>
                  <a:pt x="244" y="2058"/>
                </a:lnTo>
                <a:lnTo>
                  <a:pt x="261" y="2080"/>
                </a:lnTo>
                <a:lnTo>
                  <a:pt x="281" y="2098"/>
                </a:lnTo>
                <a:lnTo>
                  <a:pt x="301" y="2114"/>
                </a:lnTo>
                <a:lnTo>
                  <a:pt x="322" y="2129"/>
                </a:lnTo>
                <a:lnTo>
                  <a:pt x="342" y="2148"/>
                </a:lnTo>
                <a:lnTo>
                  <a:pt x="359" y="2169"/>
                </a:lnTo>
                <a:lnTo>
                  <a:pt x="375" y="2195"/>
                </a:lnTo>
                <a:lnTo>
                  <a:pt x="391" y="2223"/>
                </a:lnTo>
                <a:lnTo>
                  <a:pt x="415" y="2256"/>
                </a:lnTo>
                <a:lnTo>
                  <a:pt x="441" y="2294"/>
                </a:lnTo>
                <a:lnTo>
                  <a:pt x="471" y="2333"/>
                </a:lnTo>
                <a:lnTo>
                  <a:pt x="501" y="2373"/>
                </a:lnTo>
                <a:lnTo>
                  <a:pt x="527" y="2409"/>
                </a:lnTo>
                <a:lnTo>
                  <a:pt x="551" y="2442"/>
                </a:lnTo>
                <a:lnTo>
                  <a:pt x="569" y="2469"/>
                </a:lnTo>
                <a:lnTo>
                  <a:pt x="580" y="2492"/>
                </a:lnTo>
                <a:lnTo>
                  <a:pt x="597" y="2519"/>
                </a:lnTo>
                <a:lnTo>
                  <a:pt x="616" y="2552"/>
                </a:lnTo>
                <a:lnTo>
                  <a:pt x="638" y="2586"/>
                </a:lnTo>
                <a:lnTo>
                  <a:pt x="663" y="2626"/>
                </a:lnTo>
                <a:lnTo>
                  <a:pt x="689" y="2666"/>
                </a:lnTo>
                <a:lnTo>
                  <a:pt x="717" y="2708"/>
                </a:lnTo>
                <a:lnTo>
                  <a:pt x="747" y="2752"/>
                </a:lnTo>
                <a:lnTo>
                  <a:pt x="775" y="2794"/>
                </a:lnTo>
                <a:lnTo>
                  <a:pt x="803" y="2838"/>
                </a:lnTo>
                <a:lnTo>
                  <a:pt x="830" y="2878"/>
                </a:lnTo>
                <a:lnTo>
                  <a:pt x="855" y="2916"/>
                </a:lnTo>
                <a:lnTo>
                  <a:pt x="878" y="2952"/>
                </a:lnTo>
                <a:lnTo>
                  <a:pt x="897" y="2983"/>
                </a:lnTo>
                <a:lnTo>
                  <a:pt x="914" y="3011"/>
                </a:lnTo>
                <a:lnTo>
                  <a:pt x="926" y="3032"/>
                </a:lnTo>
                <a:lnTo>
                  <a:pt x="937" y="3034"/>
                </a:lnTo>
                <a:lnTo>
                  <a:pt x="946" y="3035"/>
                </a:lnTo>
                <a:lnTo>
                  <a:pt x="957" y="3037"/>
                </a:lnTo>
                <a:lnTo>
                  <a:pt x="966" y="3039"/>
                </a:lnTo>
                <a:lnTo>
                  <a:pt x="977" y="3039"/>
                </a:lnTo>
                <a:lnTo>
                  <a:pt x="987" y="3042"/>
                </a:lnTo>
                <a:lnTo>
                  <a:pt x="997" y="3043"/>
                </a:lnTo>
                <a:lnTo>
                  <a:pt x="1007" y="3045"/>
                </a:lnTo>
                <a:lnTo>
                  <a:pt x="1009" y="3055"/>
                </a:lnTo>
                <a:lnTo>
                  <a:pt x="1012" y="3064"/>
                </a:lnTo>
                <a:lnTo>
                  <a:pt x="1014" y="3073"/>
                </a:lnTo>
                <a:lnTo>
                  <a:pt x="1016" y="3083"/>
                </a:lnTo>
                <a:lnTo>
                  <a:pt x="1025" y="3083"/>
                </a:lnTo>
                <a:lnTo>
                  <a:pt x="1033" y="3085"/>
                </a:lnTo>
                <a:lnTo>
                  <a:pt x="1043" y="3086"/>
                </a:lnTo>
                <a:lnTo>
                  <a:pt x="1052" y="3087"/>
                </a:lnTo>
                <a:lnTo>
                  <a:pt x="1060" y="3090"/>
                </a:lnTo>
                <a:lnTo>
                  <a:pt x="1069" y="3091"/>
                </a:lnTo>
                <a:lnTo>
                  <a:pt x="1079" y="3092"/>
                </a:lnTo>
                <a:lnTo>
                  <a:pt x="1088" y="3093"/>
                </a:lnTo>
                <a:lnTo>
                  <a:pt x="1104" y="3103"/>
                </a:lnTo>
                <a:lnTo>
                  <a:pt x="1121" y="3113"/>
                </a:lnTo>
                <a:lnTo>
                  <a:pt x="1137" y="3121"/>
                </a:lnTo>
                <a:lnTo>
                  <a:pt x="1152" y="3130"/>
                </a:lnTo>
                <a:lnTo>
                  <a:pt x="1168" y="3139"/>
                </a:lnTo>
                <a:lnTo>
                  <a:pt x="1185" y="3147"/>
                </a:lnTo>
                <a:lnTo>
                  <a:pt x="1202" y="3156"/>
                </a:lnTo>
                <a:lnTo>
                  <a:pt x="1217" y="3165"/>
                </a:lnTo>
                <a:lnTo>
                  <a:pt x="1229" y="3166"/>
                </a:lnTo>
                <a:lnTo>
                  <a:pt x="1240" y="3167"/>
                </a:lnTo>
                <a:lnTo>
                  <a:pt x="1251" y="3169"/>
                </a:lnTo>
                <a:lnTo>
                  <a:pt x="1262" y="3170"/>
                </a:lnTo>
                <a:lnTo>
                  <a:pt x="1274" y="3170"/>
                </a:lnTo>
                <a:lnTo>
                  <a:pt x="1285" y="3171"/>
                </a:lnTo>
                <a:lnTo>
                  <a:pt x="1297" y="3172"/>
                </a:lnTo>
                <a:lnTo>
                  <a:pt x="1308" y="3172"/>
                </a:lnTo>
                <a:lnTo>
                  <a:pt x="1317" y="3183"/>
                </a:lnTo>
                <a:lnTo>
                  <a:pt x="1326" y="3195"/>
                </a:lnTo>
                <a:lnTo>
                  <a:pt x="1335" y="3206"/>
                </a:lnTo>
                <a:lnTo>
                  <a:pt x="1343" y="3215"/>
                </a:lnTo>
                <a:lnTo>
                  <a:pt x="1363" y="3217"/>
                </a:lnTo>
                <a:lnTo>
                  <a:pt x="1383" y="3219"/>
                </a:lnTo>
                <a:lnTo>
                  <a:pt x="1403" y="3221"/>
                </a:lnTo>
                <a:lnTo>
                  <a:pt x="1422" y="3221"/>
                </a:lnTo>
                <a:lnTo>
                  <a:pt x="1443" y="3223"/>
                </a:lnTo>
                <a:lnTo>
                  <a:pt x="1462" y="3223"/>
                </a:lnTo>
                <a:lnTo>
                  <a:pt x="1482" y="3224"/>
                </a:lnTo>
                <a:lnTo>
                  <a:pt x="1502" y="3225"/>
                </a:lnTo>
                <a:lnTo>
                  <a:pt x="1525" y="3238"/>
                </a:lnTo>
                <a:lnTo>
                  <a:pt x="1547" y="3251"/>
                </a:lnTo>
                <a:lnTo>
                  <a:pt x="1571" y="3264"/>
                </a:lnTo>
                <a:lnTo>
                  <a:pt x="1595" y="3278"/>
                </a:lnTo>
                <a:lnTo>
                  <a:pt x="1619" y="3293"/>
                </a:lnTo>
                <a:lnTo>
                  <a:pt x="1643" y="3306"/>
                </a:lnTo>
                <a:lnTo>
                  <a:pt x="1667" y="3319"/>
                </a:lnTo>
                <a:lnTo>
                  <a:pt x="1692" y="3332"/>
                </a:lnTo>
                <a:lnTo>
                  <a:pt x="1701" y="3332"/>
                </a:lnTo>
                <a:lnTo>
                  <a:pt x="1711" y="3332"/>
                </a:lnTo>
                <a:lnTo>
                  <a:pt x="1721" y="3332"/>
                </a:lnTo>
                <a:lnTo>
                  <a:pt x="1732" y="3332"/>
                </a:lnTo>
                <a:lnTo>
                  <a:pt x="1742" y="3332"/>
                </a:lnTo>
                <a:lnTo>
                  <a:pt x="1751" y="3332"/>
                </a:lnTo>
                <a:lnTo>
                  <a:pt x="1762" y="3332"/>
                </a:lnTo>
                <a:lnTo>
                  <a:pt x="1772" y="3332"/>
                </a:lnTo>
                <a:lnTo>
                  <a:pt x="1780" y="3340"/>
                </a:lnTo>
                <a:lnTo>
                  <a:pt x="1790" y="3346"/>
                </a:lnTo>
                <a:lnTo>
                  <a:pt x="1799" y="3352"/>
                </a:lnTo>
                <a:lnTo>
                  <a:pt x="1809" y="3358"/>
                </a:lnTo>
                <a:lnTo>
                  <a:pt x="1817" y="3364"/>
                </a:lnTo>
                <a:lnTo>
                  <a:pt x="1826" y="3368"/>
                </a:lnTo>
                <a:lnTo>
                  <a:pt x="1835" y="3373"/>
                </a:lnTo>
                <a:lnTo>
                  <a:pt x="1843" y="3378"/>
                </a:lnTo>
                <a:lnTo>
                  <a:pt x="1871" y="3385"/>
                </a:lnTo>
                <a:lnTo>
                  <a:pt x="1889" y="3388"/>
                </a:lnTo>
                <a:lnTo>
                  <a:pt x="1901" y="3384"/>
                </a:lnTo>
                <a:lnTo>
                  <a:pt x="1905" y="3377"/>
                </a:lnTo>
                <a:lnTo>
                  <a:pt x="1905" y="3368"/>
                </a:lnTo>
                <a:lnTo>
                  <a:pt x="1899" y="3355"/>
                </a:lnTo>
                <a:lnTo>
                  <a:pt x="1891" y="3341"/>
                </a:lnTo>
                <a:lnTo>
                  <a:pt x="1883" y="3327"/>
                </a:lnTo>
                <a:lnTo>
                  <a:pt x="1876" y="3312"/>
                </a:lnTo>
                <a:lnTo>
                  <a:pt x="1868" y="3298"/>
                </a:lnTo>
                <a:lnTo>
                  <a:pt x="1864" y="3286"/>
                </a:lnTo>
                <a:lnTo>
                  <a:pt x="1863" y="3275"/>
                </a:lnTo>
                <a:lnTo>
                  <a:pt x="1867" y="3268"/>
                </a:lnTo>
                <a:lnTo>
                  <a:pt x="1877" y="3264"/>
                </a:lnTo>
                <a:lnTo>
                  <a:pt x="1896" y="3266"/>
                </a:lnTo>
                <a:lnTo>
                  <a:pt x="1922" y="3273"/>
                </a:lnTo>
                <a:lnTo>
                  <a:pt x="1935" y="3251"/>
                </a:lnTo>
                <a:lnTo>
                  <a:pt x="1947" y="3231"/>
                </a:lnTo>
                <a:lnTo>
                  <a:pt x="1957" y="3213"/>
                </a:lnTo>
                <a:lnTo>
                  <a:pt x="1965" y="3194"/>
                </a:lnTo>
                <a:lnTo>
                  <a:pt x="1975" y="3176"/>
                </a:lnTo>
                <a:lnTo>
                  <a:pt x="1984" y="3154"/>
                </a:lnTo>
                <a:lnTo>
                  <a:pt x="1995" y="3134"/>
                </a:lnTo>
                <a:lnTo>
                  <a:pt x="2007" y="3111"/>
                </a:lnTo>
                <a:lnTo>
                  <a:pt x="2008" y="3098"/>
                </a:lnTo>
                <a:lnTo>
                  <a:pt x="2013" y="3083"/>
                </a:lnTo>
                <a:lnTo>
                  <a:pt x="2019" y="3067"/>
                </a:lnTo>
                <a:lnTo>
                  <a:pt x="2026" y="3049"/>
                </a:lnTo>
                <a:lnTo>
                  <a:pt x="2035" y="3030"/>
                </a:lnTo>
                <a:lnTo>
                  <a:pt x="2041" y="3013"/>
                </a:lnTo>
                <a:lnTo>
                  <a:pt x="2045" y="2998"/>
                </a:lnTo>
                <a:lnTo>
                  <a:pt x="2046" y="2985"/>
                </a:lnTo>
                <a:lnTo>
                  <a:pt x="2059" y="2966"/>
                </a:lnTo>
                <a:lnTo>
                  <a:pt x="2071" y="2946"/>
                </a:lnTo>
                <a:lnTo>
                  <a:pt x="2085" y="2927"/>
                </a:lnTo>
                <a:lnTo>
                  <a:pt x="2096" y="2908"/>
                </a:lnTo>
                <a:lnTo>
                  <a:pt x="2107" y="2890"/>
                </a:lnTo>
                <a:lnTo>
                  <a:pt x="2118" y="2872"/>
                </a:lnTo>
                <a:lnTo>
                  <a:pt x="2130" y="2854"/>
                </a:lnTo>
                <a:lnTo>
                  <a:pt x="2142" y="2835"/>
                </a:lnTo>
                <a:lnTo>
                  <a:pt x="2148" y="2782"/>
                </a:lnTo>
                <a:lnTo>
                  <a:pt x="2159" y="2741"/>
                </a:lnTo>
                <a:lnTo>
                  <a:pt x="2171" y="2700"/>
                </a:lnTo>
                <a:lnTo>
                  <a:pt x="2174" y="2648"/>
                </a:lnTo>
                <a:lnTo>
                  <a:pt x="2187" y="2640"/>
                </a:lnTo>
                <a:lnTo>
                  <a:pt x="2201" y="2628"/>
                </a:lnTo>
                <a:lnTo>
                  <a:pt x="2217" y="2616"/>
                </a:lnTo>
                <a:lnTo>
                  <a:pt x="2232" y="2603"/>
                </a:lnTo>
                <a:lnTo>
                  <a:pt x="2247" y="2589"/>
                </a:lnTo>
                <a:lnTo>
                  <a:pt x="2263" y="2576"/>
                </a:lnTo>
                <a:lnTo>
                  <a:pt x="2276" y="2565"/>
                </a:lnTo>
                <a:lnTo>
                  <a:pt x="2289" y="2556"/>
                </a:lnTo>
                <a:lnTo>
                  <a:pt x="2298" y="2505"/>
                </a:lnTo>
                <a:lnTo>
                  <a:pt x="2304" y="2464"/>
                </a:lnTo>
                <a:lnTo>
                  <a:pt x="2309" y="2424"/>
                </a:lnTo>
                <a:lnTo>
                  <a:pt x="2320" y="2370"/>
                </a:lnTo>
                <a:lnTo>
                  <a:pt x="2330" y="2360"/>
                </a:lnTo>
                <a:lnTo>
                  <a:pt x="2347" y="2349"/>
                </a:lnTo>
                <a:lnTo>
                  <a:pt x="2366" y="2336"/>
                </a:lnTo>
                <a:lnTo>
                  <a:pt x="2388" y="2322"/>
                </a:lnTo>
                <a:lnTo>
                  <a:pt x="2412" y="2307"/>
                </a:lnTo>
                <a:lnTo>
                  <a:pt x="2431" y="2294"/>
                </a:lnTo>
                <a:lnTo>
                  <a:pt x="2448" y="2284"/>
                </a:lnTo>
                <a:lnTo>
                  <a:pt x="2457" y="2274"/>
                </a:lnTo>
                <a:lnTo>
                  <a:pt x="2455" y="2260"/>
                </a:lnTo>
                <a:lnTo>
                  <a:pt x="2455" y="2246"/>
                </a:lnTo>
                <a:lnTo>
                  <a:pt x="2459" y="2234"/>
                </a:lnTo>
                <a:lnTo>
                  <a:pt x="2462" y="2221"/>
                </a:lnTo>
                <a:lnTo>
                  <a:pt x="2467" y="2208"/>
                </a:lnTo>
                <a:lnTo>
                  <a:pt x="2470" y="2195"/>
                </a:lnTo>
                <a:lnTo>
                  <a:pt x="2472" y="2180"/>
                </a:lnTo>
                <a:lnTo>
                  <a:pt x="2470" y="2167"/>
                </a:lnTo>
                <a:lnTo>
                  <a:pt x="2482" y="2165"/>
                </a:lnTo>
                <a:lnTo>
                  <a:pt x="2493" y="2161"/>
                </a:lnTo>
                <a:lnTo>
                  <a:pt x="2504" y="2158"/>
                </a:lnTo>
                <a:lnTo>
                  <a:pt x="2516" y="2154"/>
                </a:lnTo>
                <a:lnTo>
                  <a:pt x="2528" y="2150"/>
                </a:lnTo>
                <a:lnTo>
                  <a:pt x="2538" y="2147"/>
                </a:lnTo>
                <a:lnTo>
                  <a:pt x="2549" y="2141"/>
                </a:lnTo>
                <a:lnTo>
                  <a:pt x="2560" y="2138"/>
                </a:lnTo>
                <a:lnTo>
                  <a:pt x="2565" y="2118"/>
                </a:lnTo>
                <a:lnTo>
                  <a:pt x="2573" y="2099"/>
                </a:lnTo>
                <a:lnTo>
                  <a:pt x="2580" y="2080"/>
                </a:lnTo>
                <a:lnTo>
                  <a:pt x="2589" y="2059"/>
                </a:lnTo>
                <a:lnTo>
                  <a:pt x="2597" y="2063"/>
                </a:lnTo>
                <a:lnTo>
                  <a:pt x="2603" y="2065"/>
                </a:lnTo>
                <a:lnTo>
                  <a:pt x="2610" y="2068"/>
                </a:lnTo>
                <a:lnTo>
                  <a:pt x="2618" y="2070"/>
                </a:lnTo>
                <a:lnTo>
                  <a:pt x="2625" y="2073"/>
                </a:lnTo>
                <a:lnTo>
                  <a:pt x="2634" y="2075"/>
                </a:lnTo>
                <a:lnTo>
                  <a:pt x="2642" y="2078"/>
                </a:lnTo>
                <a:lnTo>
                  <a:pt x="2650" y="2080"/>
                </a:lnTo>
                <a:lnTo>
                  <a:pt x="2657" y="2063"/>
                </a:lnTo>
                <a:lnTo>
                  <a:pt x="2664" y="2046"/>
                </a:lnTo>
                <a:lnTo>
                  <a:pt x="2668" y="2028"/>
                </a:lnTo>
                <a:lnTo>
                  <a:pt x="2673" y="2012"/>
                </a:lnTo>
                <a:lnTo>
                  <a:pt x="2678" y="2007"/>
                </a:lnTo>
                <a:lnTo>
                  <a:pt x="2683" y="2002"/>
                </a:lnTo>
                <a:lnTo>
                  <a:pt x="2689" y="1998"/>
                </a:lnTo>
                <a:lnTo>
                  <a:pt x="2694" y="1991"/>
                </a:lnTo>
                <a:lnTo>
                  <a:pt x="2700" y="1987"/>
                </a:lnTo>
                <a:lnTo>
                  <a:pt x="2705" y="1982"/>
                </a:lnTo>
                <a:lnTo>
                  <a:pt x="2712" y="1976"/>
                </a:lnTo>
                <a:lnTo>
                  <a:pt x="2716" y="1971"/>
                </a:lnTo>
                <a:lnTo>
                  <a:pt x="2726" y="1955"/>
                </a:lnTo>
                <a:lnTo>
                  <a:pt x="2736" y="1940"/>
                </a:lnTo>
                <a:lnTo>
                  <a:pt x="2747" y="1924"/>
                </a:lnTo>
                <a:lnTo>
                  <a:pt x="2760" y="1908"/>
                </a:lnTo>
                <a:lnTo>
                  <a:pt x="2771" y="1892"/>
                </a:lnTo>
                <a:lnTo>
                  <a:pt x="2783" y="1877"/>
                </a:lnTo>
                <a:lnTo>
                  <a:pt x="2798" y="1860"/>
                </a:lnTo>
                <a:lnTo>
                  <a:pt x="2811" y="1844"/>
                </a:lnTo>
                <a:lnTo>
                  <a:pt x="2834" y="1825"/>
                </a:lnTo>
                <a:lnTo>
                  <a:pt x="2859" y="1804"/>
                </a:lnTo>
                <a:lnTo>
                  <a:pt x="2882" y="1783"/>
                </a:lnTo>
                <a:lnTo>
                  <a:pt x="2906" y="1764"/>
                </a:lnTo>
                <a:lnTo>
                  <a:pt x="2929" y="1743"/>
                </a:lnTo>
                <a:lnTo>
                  <a:pt x="2953" y="1722"/>
                </a:lnTo>
                <a:lnTo>
                  <a:pt x="2974" y="1700"/>
                </a:lnTo>
                <a:lnTo>
                  <a:pt x="2998" y="1678"/>
                </a:lnTo>
                <a:lnTo>
                  <a:pt x="3019" y="1656"/>
                </a:lnTo>
                <a:lnTo>
                  <a:pt x="3043" y="1635"/>
                </a:lnTo>
                <a:lnTo>
                  <a:pt x="3067" y="1612"/>
                </a:lnTo>
                <a:lnTo>
                  <a:pt x="3089" y="1589"/>
                </a:lnTo>
                <a:lnTo>
                  <a:pt x="3112" y="1565"/>
                </a:lnTo>
                <a:lnTo>
                  <a:pt x="3135" y="1542"/>
                </a:lnTo>
                <a:lnTo>
                  <a:pt x="3160" y="1520"/>
                </a:lnTo>
                <a:lnTo>
                  <a:pt x="3183" y="1496"/>
                </a:lnTo>
                <a:lnTo>
                  <a:pt x="3208" y="1471"/>
                </a:lnTo>
                <a:lnTo>
                  <a:pt x="3233" y="1448"/>
                </a:lnTo>
                <a:lnTo>
                  <a:pt x="3259" y="1424"/>
                </a:lnTo>
                <a:lnTo>
                  <a:pt x="3284" y="1400"/>
                </a:lnTo>
                <a:lnTo>
                  <a:pt x="3311" y="1375"/>
                </a:lnTo>
                <a:lnTo>
                  <a:pt x="3339" y="1350"/>
                </a:lnTo>
                <a:lnTo>
                  <a:pt x="3368" y="1326"/>
                </a:lnTo>
                <a:lnTo>
                  <a:pt x="3397" y="1302"/>
                </a:lnTo>
                <a:lnTo>
                  <a:pt x="3428" y="1277"/>
                </a:lnTo>
                <a:lnTo>
                  <a:pt x="3458" y="1252"/>
                </a:lnTo>
                <a:lnTo>
                  <a:pt x="3489" y="1227"/>
                </a:lnTo>
                <a:lnTo>
                  <a:pt x="3523" y="1201"/>
                </a:lnTo>
                <a:lnTo>
                  <a:pt x="3556" y="1178"/>
                </a:lnTo>
                <a:lnTo>
                  <a:pt x="3591" y="1152"/>
                </a:lnTo>
                <a:lnTo>
                  <a:pt x="3628" y="1127"/>
                </a:lnTo>
                <a:lnTo>
                  <a:pt x="3666" y="1102"/>
                </a:lnTo>
                <a:lnTo>
                  <a:pt x="3682" y="1091"/>
                </a:lnTo>
                <a:lnTo>
                  <a:pt x="3700" y="1080"/>
                </a:lnTo>
                <a:lnTo>
                  <a:pt x="3717" y="1070"/>
                </a:lnTo>
                <a:lnTo>
                  <a:pt x="3733" y="1059"/>
                </a:lnTo>
                <a:lnTo>
                  <a:pt x="3751" y="1050"/>
                </a:lnTo>
                <a:lnTo>
                  <a:pt x="3768" y="1039"/>
                </a:lnTo>
                <a:lnTo>
                  <a:pt x="3785" y="1029"/>
                </a:lnTo>
                <a:lnTo>
                  <a:pt x="3805" y="1020"/>
                </a:lnTo>
                <a:lnTo>
                  <a:pt x="3814" y="1013"/>
                </a:lnTo>
                <a:lnTo>
                  <a:pt x="3825" y="1009"/>
                </a:lnTo>
                <a:lnTo>
                  <a:pt x="3836" y="1004"/>
                </a:lnTo>
                <a:lnTo>
                  <a:pt x="3846" y="1000"/>
                </a:lnTo>
                <a:lnTo>
                  <a:pt x="3856" y="994"/>
                </a:lnTo>
                <a:lnTo>
                  <a:pt x="3866" y="990"/>
                </a:lnTo>
                <a:lnTo>
                  <a:pt x="3876" y="983"/>
                </a:lnTo>
                <a:lnTo>
                  <a:pt x="3888" y="978"/>
                </a:lnTo>
                <a:lnTo>
                  <a:pt x="3906" y="967"/>
                </a:lnTo>
                <a:lnTo>
                  <a:pt x="3925" y="956"/>
                </a:lnTo>
                <a:lnTo>
                  <a:pt x="3943" y="946"/>
                </a:lnTo>
                <a:lnTo>
                  <a:pt x="3961" y="933"/>
                </a:lnTo>
                <a:lnTo>
                  <a:pt x="3980" y="923"/>
                </a:lnTo>
                <a:lnTo>
                  <a:pt x="3998" y="910"/>
                </a:lnTo>
                <a:lnTo>
                  <a:pt x="4017" y="899"/>
                </a:lnTo>
                <a:lnTo>
                  <a:pt x="4035" y="887"/>
                </a:lnTo>
                <a:lnTo>
                  <a:pt x="4047" y="879"/>
                </a:lnTo>
                <a:lnTo>
                  <a:pt x="4060" y="869"/>
                </a:lnTo>
                <a:lnTo>
                  <a:pt x="4071" y="860"/>
                </a:lnTo>
                <a:lnTo>
                  <a:pt x="4085" y="851"/>
                </a:lnTo>
                <a:lnTo>
                  <a:pt x="4097" y="842"/>
                </a:lnTo>
                <a:lnTo>
                  <a:pt x="4111" y="833"/>
                </a:lnTo>
                <a:lnTo>
                  <a:pt x="4123" y="825"/>
                </a:lnTo>
                <a:lnTo>
                  <a:pt x="4136" y="815"/>
                </a:lnTo>
                <a:lnTo>
                  <a:pt x="4141" y="803"/>
                </a:lnTo>
                <a:lnTo>
                  <a:pt x="4146" y="792"/>
                </a:lnTo>
                <a:lnTo>
                  <a:pt x="4152" y="781"/>
                </a:lnTo>
                <a:lnTo>
                  <a:pt x="4156" y="772"/>
                </a:lnTo>
                <a:lnTo>
                  <a:pt x="4165" y="764"/>
                </a:lnTo>
                <a:lnTo>
                  <a:pt x="4172" y="759"/>
                </a:lnTo>
                <a:lnTo>
                  <a:pt x="4180" y="751"/>
                </a:lnTo>
                <a:lnTo>
                  <a:pt x="4189" y="745"/>
                </a:lnTo>
                <a:lnTo>
                  <a:pt x="4198" y="738"/>
                </a:lnTo>
                <a:lnTo>
                  <a:pt x="4207" y="732"/>
                </a:lnTo>
                <a:lnTo>
                  <a:pt x="4215" y="725"/>
                </a:lnTo>
                <a:lnTo>
                  <a:pt x="4224" y="719"/>
                </a:lnTo>
                <a:lnTo>
                  <a:pt x="4227" y="725"/>
                </a:lnTo>
                <a:lnTo>
                  <a:pt x="4230" y="731"/>
                </a:lnTo>
                <a:lnTo>
                  <a:pt x="4233" y="737"/>
                </a:lnTo>
                <a:lnTo>
                  <a:pt x="4235" y="743"/>
                </a:lnTo>
                <a:lnTo>
                  <a:pt x="4249" y="734"/>
                </a:lnTo>
                <a:lnTo>
                  <a:pt x="4261" y="728"/>
                </a:lnTo>
                <a:lnTo>
                  <a:pt x="4275" y="719"/>
                </a:lnTo>
                <a:lnTo>
                  <a:pt x="4289" y="711"/>
                </a:lnTo>
                <a:lnTo>
                  <a:pt x="4302" y="704"/>
                </a:lnTo>
                <a:lnTo>
                  <a:pt x="4316" y="695"/>
                </a:lnTo>
                <a:lnTo>
                  <a:pt x="4330" y="688"/>
                </a:lnTo>
                <a:lnTo>
                  <a:pt x="4341" y="681"/>
                </a:lnTo>
                <a:lnTo>
                  <a:pt x="4351" y="666"/>
                </a:lnTo>
                <a:lnTo>
                  <a:pt x="4360" y="649"/>
                </a:lnTo>
                <a:lnTo>
                  <a:pt x="4369" y="633"/>
                </a:lnTo>
                <a:lnTo>
                  <a:pt x="4378" y="619"/>
                </a:lnTo>
                <a:lnTo>
                  <a:pt x="4389" y="609"/>
                </a:lnTo>
                <a:lnTo>
                  <a:pt x="4401" y="600"/>
                </a:lnTo>
                <a:lnTo>
                  <a:pt x="4413" y="592"/>
                </a:lnTo>
                <a:lnTo>
                  <a:pt x="4426" y="584"/>
                </a:lnTo>
                <a:lnTo>
                  <a:pt x="4437" y="576"/>
                </a:lnTo>
                <a:lnTo>
                  <a:pt x="4449" y="567"/>
                </a:lnTo>
                <a:lnTo>
                  <a:pt x="4459" y="556"/>
                </a:lnTo>
                <a:lnTo>
                  <a:pt x="4470" y="548"/>
                </a:lnTo>
                <a:lnTo>
                  <a:pt x="4475" y="534"/>
                </a:lnTo>
                <a:lnTo>
                  <a:pt x="4479" y="519"/>
                </a:lnTo>
                <a:lnTo>
                  <a:pt x="4483" y="505"/>
                </a:lnTo>
                <a:lnTo>
                  <a:pt x="4490" y="489"/>
                </a:lnTo>
                <a:lnTo>
                  <a:pt x="4500" y="481"/>
                </a:lnTo>
                <a:lnTo>
                  <a:pt x="4514" y="473"/>
                </a:lnTo>
                <a:lnTo>
                  <a:pt x="4525" y="466"/>
                </a:lnTo>
                <a:lnTo>
                  <a:pt x="4537" y="457"/>
                </a:lnTo>
                <a:lnTo>
                  <a:pt x="4548" y="448"/>
                </a:lnTo>
                <a:lnTo>
                  <a:pt x="4561" y="439"/>
                </a:lnTo>
                <a:lnTo>
                  <a:pt x="4571" y="432"/>
                </a:lnTo>
                <a:lnTo>
                  <a:pt x="4581" y="424"/>
                </a:lnTo>
                <a:lnTo>
                  <a:pt x="4595" y="420"/>
                </a:lnTo>
                <a:lnTo>
                  <a:pt x="4609" y="416"/>
                </a:lnTo>
                <a:lnTo>
                  <a:pt x="4622" y="412"/>
                </a:lnTo>
                <a:lnTo>
                  <a:pt x="4634" y="408"/>
                </a:lnTo>
                <a:lnTo>
                  <a:pt x="4648" y="403"/>
                </a:lnTo>
                <a:lnTo>
                  <a:pt x="4660" y="400"/>
                </a:lnTo>
                <a:lnTo>
                  <a:pt x="4672" y="395"/>
                </a:lnTo>
                <a:lnTo>
                  <a:pt x="4685" y="392"/>
                </a:lnTo>
                <a:lnTo>
                  <a:pt x="4692" y="384"/>
                </a:lnTo>
                <a:lnTo>
                  <a:pt x="4698" y="375"/>
                </a:lnTo>
                <a:lnTo>
                  <a:pt x="4704" y="368"/>
                </a:lnTo>
                <a:lnTo>
                  <a:pt x="4710" y="359"/>
                </a:lnTo>
                <a:lnTo>
                  <a:pt x="4716" y="351"/>
                </a:lnTo>
                <a:lnTo>
                  <a:pt x="4722" y="342"/>
                </a:lnTo>
                <a:lnTo>
                  <a:pt x="4728" y="333"/>
                </a:lnTo>
                <a:lnTo>
                  <a:pt x="4735" y="324"/>
                </a:lnTo>
                <a:lnTo>
                  <a:pt x="4745" y="318"/>
                </a:lnTo>
                <a:lnTo>
                  <a:pt x="4755" y="311"/>
                </a:lnTo>
                <a:lnTo>
                  <a:pt x="4764" y="305"/>
                </a:lnTo>
                <a:lnTo>
                  <a:pt x="4773" y="298"/>
                </a:lnTo>
                <a:lnTo>
                  <a:pt x="4784" y="291"/>
                </a:lnTo>
                <a:lnTo>
                  <a:pt x="4793" y="284"/>
                </a:lnTo>
                <a:lnTo>
                  <a:pt x="4802" y="277"/>
                </a:lnTo>
                <a:lnTo>
                  <a:pt x="4810" y="269"/>
                </a:lnTo>
                <a:lnTo>
                  <a:pt x="4816" y="274"/>
                </a:lnTo>
                <a:lnTo>
                  <a:pt x="4824" y="279"/>
                </a:lnTo>
                <a:lnTo>
                  <a:pt x="4831" y="285"/>
                </a:lnTo>
                <a:lnTo>
                  <a:pt x="4835" y="290"/>
                </a:lnTo>
                <a:lnTo>
                  <a:pt x="4845" y="282"/>
                </a:lnTo>
                <a:lnTo>
                  <a:pt x="4856" y="274"/>
                </a:lnTo>
                <a:lnTo>
                  <a:pt x="4865" y="266"/>
                </a:lnTo>
                <a:lnTo>
                  <a:pt x="4876" y="258"/>
                </a:lnTo>
                <a:lnTo>
                  <a:pt x="4885" y="248"/>
                </a:lnTo>
                <a:lnTo>
                  <a:pt x="4895" y="239"/>
                </a:lnTo>
                <a:lnTo>
                  <a:pt x="4906" y="231"/>
                </a:lnTo>
                <a:lnTo>
                  <a:pt x="4916" y="222"/>
                </a:lnTo>
                <a:lnTo>
                  <a:pt x="4904" y="228"/>
                </a:lnTo>
                <a:lnTo>
                  <a:pt x="4893" y="234"/>
                </a:lnTo>
                <a:lnTo>
                  <a:pt x="4881" y="241"/>
                </a:lnTo>
                <a:lnTo>
                  <a:pt x="4867" y="245"/>
                </a:lnTo>
                <a:lnTo>
                  <a:pt x="4856" y="251"/>
                </a:lnTo>
                <a:lnTo>
                  <a:pt x="4845" y="256"/>
                </a:lnTo>
                <a:lnTo>
                  <a:pt x="4833" y="261"/>
                </a:lnTo>
                <a:lnTo>
                  <a:pt x="4821" y="266"/>
                </a:lnTo>
                <a:lnTo>
                  <a:pt x="4832" y="241"/>
                </a:lnTo>
                <a:lnTo>
                  <a:pt x="4841" y="218"/>
                </a:lnTo>
                <a:lnTo>
                  <a:pt x="4847" y="194"/>
                </a:lnTo>
                <a:lnTo>
                  <a:pt x="4852" y="171"/>
                </a:lnTo>
                <a:lnTo>
                  <a:pt x="4844" y="178"/>
                </a:lnTo>
                <a:lnTo>
                  <a:pt x="4835" y="187"/>
                </a:lnTo>
                <a:lnTo>
                  <a:pt x="4826" y="195"/>
                </a:lnTo>
                <a:lnTo>
                  <a:pt x="4815" y="203"/>
                </a:lnTo>
                <a:lnTo>
                  <a:pt x="4806" y="211"/>
                </a:lnTo>
                <a:lnTo>
                  <a:pt x="4796" y="219"/>
                </a:lnTo>
                <a:lnTo>
                  <a:pt x="4785" y="228"/>
                </a:lnTo>
                <a:lnTo>
                  <a:pt x="4775" y="237"/>
                </a:lnTo>
                <a:lnTo>
                  <a:pt x="4768" y="247"/>
                </a:lnTo>
                <a:lnTo>
                  <a:pt x="4759" y="256"/>
                </a:lnTo>
                <a:lnTo>
                  <a:pt x="4752" y="266"/>
                </a:lnTo>
                <a:lnTo>
                  <a:pt x="4745" y="277"/>
                </a:lnTo>
                <a:lnTo>
                  <a:pt x="4738" y="288"/>
                </a:lnTo>
                <a:lnTo>
                  <a:pt x="4729" y="298"/>
                </a:lnTo>
                <a:lnTo>
                  <a:pt x="4722" y="309"/>
                </a:lnTo>
                <a:lnTo>
                  <a:pt x="4715" y="320"/>
                </a:lnTo>
                <a:lnTo>
                  <a:pt x="4708" y="324"/>
                </a:lnTo>
                <a:lnTo>
                  <a:pt x="4701" y="329"/>
                </a:lnTo>
                <a:lnTo>
                  <a:pt x="4694" y="335"/>
                </a:lnTo>
                <a:lnTo>
                  <a:pt x="4687" y="341"/>
                </a:lnTo>
                <a:lnTo>
                  <a:pt x="4679" y="346"/>
                </a:lnTo>
                <a:lnTo>
                  <a:pt x="4673" y="351"/>
                </a:lnTo>
                <a:lnTo>
                  <a:pt x="4667" y="355"/>
                </a:lnTo>
                <a:lnTo>
                  <a:pt x="4660" y="360"/>
                </a:lnTo>
                <a:lnTo>
                  <a:pt x="4655" y="359"/>
                </a:lnTo>
                <a:lnTo>
                  <a:pt x="4650" y="358"/>
                </a:lnTo>
                <a:lnTo>
                  <a:pt x="4646" y="355"/>
                </a:lnTo>
                <a:lnTo>
                  <a:pt x="4641" y="354"/>
                </a:lnTo>
                <a:lnTo>
                  <a:pt x="4636" y="353"/>
                </a:lnTo>
                <a:lnTo>
                  <a:pt x="4632" y="351"/>
                </a:lnTo>
                <a:lnTo>
                  <a:pt x="4626" y="349"/>
                </a:lnTo>
                <a:lnTo>
                  <a:pt x="4622" y="349"/>
                </a:lnTo>
                <a:lnTo>
                  <a:pt x="4600" y="366"/>
                </a:lnTo>
                <a:lnTo>
                  <a:pt x="4579" y="384"/>
                </a:lnTo>
                <a:lnTo>
                  <a:pt x="4558" y="402"/>
                </a:lnTo>
                <a:lnTo>
                  <a:pt x="4536" y="420"/>
                </a:lnTo>
                <a:lnTo>
                  <a:pt x="4514" y="438"/>
                </a:lnTo>
                <a:lnTo>
                  <a:pt x="4490" y="457"/>
                </a:lnTo>
                <a:lnTo>
                  <a:pt x="4469" y="476"/>
                </a:lnTo>
                <a:lnTo>
                  <a:pt x="4445" y="494"/>
                </a:lnTo>
                <a:lnTo>
                  <a:pt x="4435" y="499"/>
                </a:lnTo>
                <a:lnTo>
                  <a:pt x="4426" y="505"/>
                </a:lnTo>
                <a:lnTo>
                  <a:pt x="4415" y="509"/>
                </a:lnTo>
                <a:lnTo>
                  <a:pt x="4406" y="515"/>
                </a:lnTo>
                <a:lnTo>
                  <a:pt x="4396" y="519"/>
                </a:lnTo>
                <a:lnTo>
                  <a:pt x="4388" y="524"/>
                </a:lnTo>
                <a:lnTo>
                  <a:pt x="4378" y="530"/>
                </a:lnTo>
                <a:lnTo>
                  <a:pt x="4369" y="535"/>
                </a:lnTo>
                <a:lnTo>
                  <a:pt x="4363" y="533"/>
                </a:lnTo>
                <a:lnTo>
                  <a:pt x="4357" y="530"/>
                </a:lnTo>
                <a:lnTo>
                  <a:pt x="4351" y="528"/>
                </a:lnTo>
                <a:lnTo>
                  <a:pt x="4347" y="524"/>
                </a:lnTo>
                <a:lnTo>
                  <a:pt x="4340" y="522"/>
                </a:lnTo>
                <a:lnTo>
                  <a:pt x="4336" y="519"/>
                </a:lnTo>
                <a:lnTo>
                  <a:pt x="4330" y="517"/>
                </a:lnTo>
                <a:lnTo>
                  <a:pt x="4324" y="515"/>
                </a:lnTo>
                <a:lnTo>
                  <a:pt x="4299" y="533"/>
                </a:lnTo>
                <a:lnTo>
                  <a:pt x="4274" y="549"/>
                </a:lnTo>
                <a:lnTo>
                  <a:pt x="4249" y="568"/>
                </a:lnTo>
                <a:lnTo>
                  <a:pt x="4224" y="585"/>
                </a:lnTo>
                <a:lnTo>
                  <a:pt x="4201" y="602"/>
                </a:lnTo>
                <a:lnTo>
                  <a:pt x="4174" y="620"/>
                </a:lnTo>
                <a:lnTo>
                  <a:pt x="4150" y="637"/>
                </a:lnTo>
                <a:lnTo>
                  <a:pt x="4125" y="654"/>
                </a:lnTo>
                <a:lnTo>
                  <a:pt x="4099" y="671"/>
                </a:lnTo>
                <a:lnTo>
                  <a:pt x="4075" y="691"/>
                </a:lnTo>
                <a:lnTo>
                  <a:pt x="4050" y="707"/>
                </a:lnTo>
                <a:lnTo>
                  <a:pt x="4025" y="725"/>
                </a:lnTo>
                <a:lnTo>
                  <a:pt x="4000" y="742"/>
                </a:lnTo>
                <a:lnTo>
                  <a:pt x="3975" y="760"/>
                </a:lnTo>
                <a:lnTo>
                  <a:pt x="3950" y="778"/>
                </a:lnTo>
                <a:lnTo>
                  <a:pt x="3925" y="797"/>
                </a:lnTo>
                <a:lnTo>
                  <a:pt x="3918" y="788"/>
                </a:lnTo>
                <a:lnTo>
                  <a:pt x="3912" y="781"/>
                </a:lnTo>
                <a:lnTo>
                  <a:pt x="3906" y="771"/>
                </a:lnTo>
                <a:lnTo>
                  <a:pt x="3902" y="761"/>
                </a:lnTo>
                <a:lnTo>
                  <a:pt x="3912" y="754"/>
                </a:lnTo>
                <a:lnTo>
                  <a:pt x="3920" y="747"/>
                </a:lnTo>
                <a:lnTo>
                  <a:pt x="3931" y="738"/>
                </a:lnTo>
                <a:lnTo>
                  <a:pt x="3939" y="730"/>
                </a:lnTo>
                <a:lnTo>
                  <a:pt x="3949" y="721"/>
                </a:lnTo>
                <a:lnTo>
                  <a:pt x="3958" y="713"/>
                </a:lnTo>
                <a:lnTo>
                  <a:pt x="3969" y="704"/>
                </a:lnTo>
                <a:lnTo>
                  <a:pt x="3979" y="696"/>
                </a:lnTo>
                <a:lnTo>
                  <a:pt x="3986" y="694"/>
                </a:lnTo>
                <a:lnTo>
                  <a:pt x="3993" y="691"/>
                </a:lnTo>
                <a:lnTo>
                  <a:pt x="4000" y="691"/>
                </a:lnTo>
                <a:lnTo>
                  <a:pt x="4009" y="688"/>
                </a:lnTo>
                <a:lnTo>
                  <a:pt x="4017" y="685"/>
                </a:lnTo>
                <a:lnTo>
                  <a:pt x="4024" y="683"/>
                </a:lnTo>
                <a:lnTo>
                  <a:pt x="4033" y="680"/>
                </a:lnTo>
                <a:lnTo>
                  <a:pt x="4040" y="677"/>
                </a:lnTo>
                <a:lnTo>
                  <a:pt x="4044" y="670"/>
                </a:lnTo>
                <a:lnTo>
                  <a:pt x="4049" y="663"/>
                </a:lnTo>
                <a:lnTo>
                  <a:pt x="4054" y="657"/>
                </a:lnTo>
                <a:lnTo>
                  <a:pt x="4060" y="650"/>
                </a:lnTo>
                <a:lnTo>
                  <a:pt x="4064" y="643"/>
                </a:lnTo>
                <a:lnTo>
                  <a:pt x="4069" y="636"/>
                </a:lnTo>
                <a:lnTo>
                  <a:pt x="4075" y="628"/>
                </a:lnTo>
                <a:lnTo>
                  <a:pt x="4080" y="621"/>
                </a:lnTo>
                <a:lnTo>
                  <a:pt x="4090" y="617"/>
                </a:lnTo>
                <a:lnTo>
                  <a:pt x="4098" y="611"/>
                </a:lnTo>
                <a:lnTo>
                  <a:pt x="4109" y="606"/>
                </a:lnTo>
                <a:lnTo>
                  <a:pt x="4119" y="600"/>
                </a:lnTo>
                <a:lnTo>
                  <a:pt x="4127" y="595"/>
                </a:lnTo>
                <a:lnTo>
                  <a:pt x="4136" y="590"/>
                </a:lnTo>
                <a:lnTo>
                  <a:pt x="4146" y="584"/>
                </a:lnTo>
                <a:lnTo>
                  <a:pt x="4156" y="579"/>
                </a:lnTo>
                <a:lnTo>
                  <a:pt x="4163" y="565"/>
                </a:lnTo>
                <a:lnTo>
                  <a:pt x="4170" y="552"/>
                </a:lnTo>
                <a:lnTo>
                  <a:pt x="4176" y="539"/>
                </a:lnTo>
                <a:lnTo>
                  <a:pt x="4184" y="524"/>
                </a:lnTo>
                <a:lnTo>
                  <a:pt x="4190" y="517"/>
                </a:lnTo>
                <a:lnTo>
                  <a:pt x="4198" y="511"/>
                </a:lnTo>
                <a:lnTo>
                  <a:pt x="4205" y="505"/>
                </a:lnTo>
                <a:lnTo>
                  <a:pt x="4211" y="499"/>
                </a:lnTo>
                <a:lnTo>
                  <a:pt x="4218" y="493"/>
                </a:lnTo>
                <a:lnTo>
                  <a:pt x="4226" y="487"/>
                </a:lnTo>
                <a:lnTo>
                  <a:pt x="4234" y="481"/>
                </a:lnTo>
                <a:lnTo>
                  <a:pt x="4242" y="475"/>
                </a:lnTo>
                <a:lnTo>
                  <a:pt x="4235" y="473"/>
                </a:lnTo>
                <a:lnTo>
                  <a:pt x="4230" y="470"/>
                </a:lnTo>
                <a:lnTo>
                  <a:pt x="4224" y="468"/>
                </a:lnTo>
                <a:lnTo>
                  <a:pt x="4218" y="464"/>
                </a:lnTo>
                <a:lnTo>
                  <a:pt x="4213" y="462"/>
                </a:lnTo>
                <a:lnTo>
                  <a:pt x="4207" y="458"/>
                </a:lnTo>
                <a:lnTo>
                  <a:pt x="4202" y="455"/>
                </a:lnTo>
                <a:lnTo>
                  <a:pt x="4196" y="450"/>
                </a:lnTo>
                <a:lnTo>
                  <a:pt x="4207" y="442"/>
                </a:lnTo>
                <a:lnTo>
                  <a:pt x="4217" y="433"/>
                </a:lnTo>
                <a:lnTo>
                  <a:pt x="4228" y="425"/>
                </a:lnTo>
                <a:lnTo>
                  <a:pt x="4241" y="416"/>
                </a:lnTo>
                <a:lnTo>
                  <a:pt x="4252" y="408"/>
                </a:lnTo>
                <a:lnTo>
                  <a:pt x="4263" y="400"/>
                </a:lnTo>
                <a:lnTo>
                  <a:pt x="4274" y="392"/>
                </a:lnTo>
                <a:lnTo>
                  <a:pt x="4286" y="383"/>
                </a:lnTo>
                <a:lnTo>
                  <a:pt x="4291" y="377"/>
                </a:lnTo>
                <a:lnTo>
                  <a:pt x="4299" y="372"/>
                </a:lnTo>
                <a:lnTo>
                  <a:pt x="4307" y="366"/>
                </a:lnTo>
                <a:lnTo>
                  <a:pt x="4312" y="359"/>
                </a:lnTo>
                <a:lnTo>
                  <a:pt x="4321" y="349"/>
                </a:lnTo>
                <a:lnTo>
                  <a:pt x="4332" y="337"/>
                </a:lnTo>
                <a:lnTo>
                  <a:pt x="4339" y="326"/>
                </a:lnTo>
                <a:lnTo>
                  <a:pt x="4347" y="315"/>
                </a:lnTo>
                <a:lnTo>
                  <a:pt x="4356" y="304"/>
                </a:lnTo>
                <a:lnTo>
                  <a:pt x="4364" y="293"/>
                </a:lnTo>
                <a:lnTo>
                  <a:pt x="4374" y="282"/>
                </a:lnTo>
                <a:lnTo>
                  <a:pt x="4382" y="271"/>
                </a:lnTo>
                <a:lnTo>
                  <a:pt x="4360" y="281"/>
                </a:lnTo>
                <a:lnTo>
                  <a:pt x="4341" y="290"/>
                </a:lnTo>
                <a:lnTo>
                  <a:pt x="4320" y="299"/>
                </a:lnTo>
                <a:lnTo>
                  <a:pt x="4301" y="308"/>
                </a:lnTo>
                <a:lnTo>
                  <a:pt x="4279" y="318"/>
                </a:lnTo>
                <a:lnTo>
                  <a:pt x="4259" y="327"/>
                </a:lnTo>
                <a:lnTo>
                  <a:pt x="4238" y="338"/>
                </a:lnTo>
                <a:lnTo>
                  <a:pt x="4217" y="349"/>
                </a:lnTo>
                <a:lnTo>
                  <a:pt x="4213" y="346"/>
                </a:lnTo>
                <a:lnTo>
                  <a:pt x="4209" y="343"/>
                </a:lnTo>
                <a:lnTo>
                  <a:pt x="4204" y="342"/>
                </a:lnTo>
                <a:lnTo>
                  <a:pt x="4200" y="339"/>
                </a:lnTo>
                <a:lnTo>
                  <a:pt x="4194" y="338"/>
                </a:lnTo>
                <a:lnTo>
                  <a:pt x="4189" y="335"/>
                </a:lnTo>
                <a:lnTo>
                  <a:pt x="4185" y="335"/>
                </a:lnTo>
                <a:lnTo>
                  <a:pt x="4180" y="334"/>
                </a:lnTo>
                <a:lnTo>
                  <a:pt x="4186" y="328"/>
                </a:lnTo>
                <a:lnTo>
                  <a:pt x="4194" y="322"/>
                </a:lnTo>
                <a:lnTo>
                  <a:pt x="4200" y="316"/>
                </a:lnTo>
                <a:lnTo>
                  <a:pt x="4205" y="309"/>
                </a:lnTo>
                <a:lnTo>
                  <a:pt x="4211" y="303"/>
                </a:lnTo>
                <a:lnTo>
                  <a:pt x="4217" y="297"/>
                </a:lnTo>
                <a:lnTo>
                  <a:pt x="4224" y="291"/>
                </a:lnTo>
                <a:lnTo>
                  <a:pt x="4232" y="285"/>
                </a:lnTo>
                <a:lnTo>
                  <a:pt x="4251" y="271"/>
                </a:lnTo>
                <a:lnTo>
                  <a:pt x="4272" y="253"/>
                </a:lnTo>
                <a:lnTo>
                  <a:pt x="4297" y="234"/>
                </a:lnTo>
                <a:lnTo>
                  <a:pt x="4324" y="214"/>
                </a:lnTo>
                <a:lnTo>
                  <a:pt x="4351" y="195"/>
                </a:lnTo>
                <a:lnTo>
                  <a:pt x="4376" y="177"/>
                </a:lnTo>
                <a:lnTo>
                  <a:pt x="4398" y="162"/>
                </a:lnTo>
                <a:lnTo>
                  <a:pt x="4414" y="147"/>
                </a:lnTo>
                <a:lnTo>
                  <a:pt x="4419" y="124"/>
                </a:lnTo>
                <a:lnTo>
                  <a:pt x="4415" y="112"/>
                </a:lnTo>
                <a:lnTo>
                  <a:pt x="4408" y="112"/>
                </a:lnTo>
                <a:lnTo>
                  <a:pt x="4399" y="119"/>
                </a:lnTo>
                <a:lnTo>
                  <a:pt x="4387" y="127"/>
                </a:lnTo>
                <a:lnTo>
                  <a:pt x="4376" y="135"/>
                </a:lnTo>
                <a:lnTo>
                  <a:pt x="4367" y="140"/>
                </a:lnTo>
                <a:lnTo>
                  <a:pt x="4360" y="139"/>
                </a:lnTo>
                <a:lnTo>
                  <a:pt x="4351" y="146"/>
                </a:lnTo>
                <a:lnTo>
                  <a:pt x="4338" y="152"/>
                </a:lnTo>
                <a:lnTo>
                  <a:pt x="4322" y="160"/>
                </a:lnTo>
                <a:lnTo>
                  <a:pt x="4307" y="165"/>
                </a:lnTo>
                <a:lnTo>
                  <a:pt x="4291" y="173"/>
                </a:lnTo>
                <a:lnTo>
                  <a:pt x="4275" y="178"/>
                </a:lnTo>
                <a:lnTo>
                  <a:pt x="4261" y="187"/>
                </a:lnTo>
                <a:lnTo>
                  <a:pt x="4251" y="194"/>
                </a:lnTo>
                <a:lnTo>
                  <a:pt x="4247" y="203"/>
                </a:lnTo>
                <a:lnTo>
                  <a:pt x="4244" y="213"/>
                </a:lnTo>
                <a:lnTo>
                  <a:pt x="4241" y="223"/>
                </a:lnTo>
                <a:lnTo>
                  <a:pt x="4238" y="234"/>
                </a:lnTo>
                <a:lnTo>
                  <a:pt x="4232" y="239"/>
                </a:lnTo>
                <a:lnTo>
                  <a:pt x="4227" y="245"/>
                </a:lnTo>
                <a:lnTo>
                  <a:pt x="4221" y="251"/>
                </a:lnTo>
                <a:lnTo>
                  <a:pt x="4215" y="256"/>
                </a:lnTo>
                <a:lnTo>
                  <a:pt x="4207" y="262"/>
                </a:lnTo>
                <a:lnTo>
                  <a:pt x="4202" y="267"/>
                </a:lnTo>
                <a:lnTo>
                  <a:pt x="4194" y="273"/>
                </a:lnTo>
                <a:lnTo>
                  <a:pt x="4186" y="278"/>
                </a:lnTo>
                <a:lnTo>
                  <a:pt x="4180" y="271"/>
                </a:lnTo>
                <a:lnTo>
                  <a:pt x="4176" y="264"/>
                </a:lnTo>
                <a:lnTo>
                  <a:pt x="4170" y="258"/>
                </a:lnTo>
                <a:lnTo>
                  <a:pt x="4163" y="251"/>
                </a:lnTo>
                <a:lnTo>
                  <a:pt x="4158" y="244"/>
                </a:lnTo>
                <a:lnTo>
                  <a:pt x="4150" y="238"/>
                </a:lnTo>
                <a:lnTo>
                  <a:pt x="4143" y="232"/>
                </a:lnTo>
                <a:lnTo>
                  <a:pt x="4138" y="225"/>
                </a:lnTo>
                <a:lnTo>
                  <a:pt x="4146" y="212"/>
                </a:lnTo>
                <a:lnTo>
                  <a:pt x="4154" y="200"/>
                </a:lnTo>
                <a:lnTo>
                  <a:pt x="4161" y="187"/>
                </a:lnTo>
                <a:lnTo>
                  <a:pt x="4170" y="173"/>
                </a:lnTo>
                <a:lnTo>
                  <a:pt x="4180" y="167"/>
                </a:lnTo>
                <a:lnTo>
                  <a:pt x="4188" y="160"/>
                </a:lnTo>
                <a:lnTo>
                  <a:pt x="4197" y="152"/>
                </a:lnTo>
                <a:lnTo>
                  <a:pt x="4205" y="145"/>
                </a:lnTo>
                <a:lnTo>
                  <a:pt x="4214" y="137"/>
                </a:lnTo>
                <a:lnTo>
                  <a:pt x="4222" y="130"/>
                </a:lnTo>
                <a:lnTo>
                  <a:pt x="4230" y="123"/>
                </a:lnTo>
                <a:lnTo>
                  <a:pt x="4238" y="116"/>
                </a:lnTo>
                <a:lnTo>
                  <a:pt x="4245" y="106"/>
                </a:lnTo>
                <a:lnTo>
                  <a:pt x="4249" y="99"/>
                </a:lnTo>
                <a:lnTo>
                  <a:pt x="4255" y="90"/>
                </a:lnTo>
                <a:lnTo>
                  <a:pt x="4260" y="82"/>
                </a:lnTo>
                <a:lnTo>
                  <a:pt x="4266" y="73"/>
                </a:lnTo>
                <a:lnTo>
                  <a:pt x="4271" y="65"/>
                </a:lnTo>
                <a:lnTo>
                  <a:pt x="4277" y="55"/>
                </a:lnTo>
                <a:lnTo>
                  <a:pt x="4284" y="47"/>
                </a:lnTo>
                <a:lnTo>
                  <a:pt x="4274" y="48"/>
                </a:lnTo>
                <a:lnTo>
                  <a:pt x="4264" y="50"/>
                </a:lnTo>
                <a:lnTo>
                  <a:pt x="4255" y="52"/>
                </a:lnTo>
                <a:lnTo>
                  <a:pt x="4245" y="52"/>
                </a:lnTo>
                <a:lnTo>
                  <a:pt x="4234" y="55"/>
                </a:lnTo>
                <a:lnTo>
                  <a:pt x="4224" y="56"/>
                </a:lnTo>
                <a:lnTo>
                  <a:pt x="4214" y="59"/>
                </a:lnTo>
                <a:lnTo>
                  <a:pt x="4204" y="60"/>
                </a:lnTo>
                <a:lnTo>
                  <a:pt x="4207" y="44"/>
                </a:lnTo>
                <a:lnTo>
                  <a:pt x="4211" y="30"/>
                </a:lnTo>
                <a:lnTo>
                  <a:pt x="4213" y="16"/>
                </a:lnTo>
                <a:lnTo>
                  <a:pt x="4215" y="0"/>
                </a:lnTo>
                <a:lnTo>
                  <a:pt x="4205" y="7"/>
                </a:lnTo>
                <a:lnTo>
                  <a:pt x="4196" y="13"/>
                </a:lnTo>
                <a:lnTo>
                  <a:pt x="4185" y="19"/>
                </a:lnTo>
                <a:lnTo>
                  <a:pt x="4176" y="26"/>
                </a:lnTo>
                <a:lnTo>
                  <a:pt x="4167" y="33"/>
                </a:lnTo>
                <a:lnTo>
                  <a:pt x="4158" y="41"/>
                </a:lnTo>
                <a:lnTo>
                  <a:pt x="4150" y="48"/>
                </a:lnTo>
                <a:lnTo>
                  <a:pt x="4139" y="55"/>
                </a:lnTo>
                <a:lnTo>
                  <a:pt x="4134" y="63"/>
                </a:lnTo>
                <a:lnTo>
                  <a:pt x="4129" y="73"/>
                </a:lnTo>
                <a:lnTo>
                  <a:pt x="4123" y="82"/>
                </a:lnTo>
                <a:lnTo>
                  <a:pt x="4119" y="92"/>
                </a:lnTo>
                <a:lnTo>
                  <a:pt x="4113" y="102"/>
                </a:lnTo>
                <a:lnTo>
                  <a:pt x="4108" y="112"/>
                </a:lnTo>
                <a:lnTo>
                  <a:pt x="4101" y="123"/>
                </a:lnTo>
                <a:lnTo>
                  <a:pt x="4097" y="134"/>
                </a:lnTo>
                <a:lnTo>
                  <a:pt x="4088" y="134"/>
                </a:lnTo>
                <a:lnTo>
                  <a:pt x="4080" y="134"/>
                </a:lnTo>
                <a:lnTo>
                  <a:pt x="4071" y="134"/>
                </a:lnTo>
                <a:lnTo>
                  <a:pt x="4064" y="134"/>
                </a:lnTo>
                <a:lnTo>
                  <a:pt x="4054" y="134"/>
                </a:lnTo>
                <a:lnTo>
                  <a:pt x="4047" y="134"/>
                </a:lnTo>
                <a:lnTo>
                  <a:pt x="4038" y="134"/>
                </a:lnTo>
                <a:lnTo>
                  <a:pt x="4030" y="133"/>
                </a:lnTo>
                <a:lnTo>
                  <a:pt x="4016" y="143"/>
                </a:lnTo>
                <a:lnTo>
                  <a:pt x="4000" y="154"/>
                </a:lnTo>
                <a:lnTo>
                  <a:pt x="3986" y="165"/>
                </a:lnTo>
                <a:lnTo>
                  <a:pt x="3972" y="175"/>
                </a:lnTo>
                <a:lnTo>
                  <a:pt x="3956" y="186"/>
                </a:lnTo>
                <a:lnTo>
                  <a:pt x="3941" y="197"/>
                </a:lnTo>
                <a:lnTo>
                  <a:pt x="3928" y="207"/>
                </a:lnTo>
                <a:lnTo>
                  <a:pt x="3910" y="218"/>
                </a:lnTo>
                <a:lnTo>
                  <a:pt x="3863" y="251"/>
                </a:lnTo>
                <a:lnTo>
                  <a:pt x="3815" y="280"/>
                </a:lnTo>
                <a:lnTo>
                  <a:pt x="3768" y="307"/>
                </a:lnTo>
                <a:lnTo>
                  <a:pt x="3720" y="331"/>
                </a:lnTo>
                <a:lnTo>
                  <a:pt x="3672" y="357"/>
                </a:lnTo>
                <a:lnTo>
                  <a:pt x="3625" y="381"/>
                </a:lnTo>
                <a:lnTo>
                  <a:pt x="3577" y="405"/>
                </a:lnTo>
                <a:lnTo>
                  <a:pt x="3530" y="428"/>
                </a:lnTo>
                <a:lnTo>
                  <a:pt x="3483" y="456"/>
                </a:lnTo>
                <a:lnTo>
                  <a:pt x="3436" y="485"/>
                </a:lnTo>
                <a:lnTo>
                  <a:pt x="3389" y="516"/>
                </a:lnTo>
                <a:lnTo>
                  <a:pt x="3342" y="549"/>
                </a:lnTo>
                <a:lnTo>
                  <a:pt x="3296" y="590"/>
                </a:lnTo>
                <a:lnTo>
                  <a:pt x="3250" y="633"/>
                </a:lnTo>
                <a:lnTo>
                  <a:pt x="3203" y="682"/>
                </a:lnTo>
                <a:lnTo>
                  <a:pt x="3155" y="736"/>
                </a:lnTo>
                <a:lnTo>
                  <a:pt x="3112" y="764"/>
                </a:lnTo>
                <a:lnTo>
                  <a:pt x="3078" y="786"/>
                </a:lnTo>
                <a:lnTo>
                  <a:pt x="3052" y="803"/>
                </a:lnTo>
                <a:lnTo>
                  <a:pt x="3036" y="812"/>
                </a:lnTo>
                <a:lnTo>
                  <a:pt x="3028" y="815"/>
                </a:lnTo>
                <a:lnTo>
                  <a:pt x="3026" y="814"/>
                </a:lnTo>
                <a:lnTo>
                  <a:pt x="3028" y="809"/>
                </a:lnTo>
                <a:lnTo>
                  <a:pt x="3035" y="800"/>
                </a:lnTo>
                <a:lnTo>
                  <a:pt x="3044" y="790"/>
                </a:lnTo>
                <a:lnTo>
                  <a:pt x="3055" y="778"/>
                </a:lnTo>
                <a:lnTo>
                  <a:pt x="3070" y="766"/>
                </a:lnTo>
                <a:lnTo>
                  <a:pt x="3083" y="754"/>
                </a:lnTo>
                <a:lnTo>
                  <a:pt x="3094" y="743"/>
                </a:lnTo>
                <a:lnTo>
                  <a:pt x="3104" y="732"/>
                </a:lnTo>
                <a:lnTo>
                  <a:pt x="3112" y="725"/>
                </a:lnTo>
                <a:lnTo>
                  <a:pt x="3114" y="721"/>
                </a:lnTo>
                <a:lnTo>
                  <a:pt x="3136" y="710"/>
                </a:lnTo>
                <a:lnTo>
                  <a:pt x="3154" y="700"/>
                </a:lnTo>
                <a:lnTo>
                  <a:pt x="3167" y="691"/>
                </a:lnTo>
                <a:lnTo>
                  <a:pt x="3175" y="685"/>
                </a:lnTo>
                <a:lnTo>
                  <a:pt x="3180" y="682"/>
                </a:lnTo>
                <a:lnTo>
                  <a:pt x="3183" y="677"/>
                </a:lnTo>
                <a:lnTo>
                  <a:pt x="3180" y="675"/>
                </a:lnTo>
                <a:lnTo>
                  <a:pt x="3177" y="674"/>
                </a:lnTo>
                <a:lnTo>
                  <a:pt x="3173" y="674"/>
                </a:lnTo>
                <a:lnTo>
                  <a:pt x="3169" y="674"/>
                </a:lnTo>
                <a:lnTo>
                  <a:pt x="3164" y="673"/>
                </a:lnTo>
                <a:lnTo>
                  <a:pt x="3160" y="671"/>
                </a:lnTo>
                <a:lnTo>
                  <a:pt x="3158" y="669"/>
                </a:lnTo>
                <a:lnTo>
                  <a:pt x="3158" y="666"/>
                </a:lnTo>
                <a:lnTo>
                  <a:pt x="3160" y="660"/>
                </a:lnTo>
                <a:lnTo>
                  <a:pt x="3165" y="654"/>
                </a:lnTo>
                <a:lnTo>
                  <a:pt x="3173" y="645"/>
                </a:lnTo>
                <a:lnTo>
                  <a:pt x="3185" y="633"/>
                </a:lnTo>
                <a:lnTo>
                  <a:pt x="3203" y="620"/>
                </a:lnTo>
                <a:lnTo>
                  <a:pt x="3225" y="603"/>
                </a:lnTo>
                <a:lnTo>
                  <a:pt x="3253" y="584"/>
                </a:lnTo>
                <a:lnTo>
                  <a:pt x="3287" y="560"/>
                </a:lnTo>
                <a:lnTo>
                  <a:pt x="3327" y="533"/>
                </a:lnTo>
                <a:lnTo>
                  <a:pt x="3375" y="503"/>
                </a:lnTo>
                <a:lnTo>
                  <a:pt x="3432" y="466"/>
                </a:lnTo>
                <a:lnTo>
                  <a:pt x="3495" y="426"/>
                </a:lnTo>
                <a:lnTo>
                  <a:pt x="3569" y="383"/>
                </a:lnTo>
                <a:lnTo>
                  <a:pt x="3651" y="331"/>
                </a:lnTo>
                <a:lnTo>
                  <a:pt x="3744" y="278"/>
                </a:lnTo>
                <a:lnTo>
                  <a:pt x="3849" y="216"/>
                </a:lnTo>
                <a:lnTo>
                  <a:pt x="3962" y="150"/>
                </a:lnTo>
                <a:lnTo>
                  <a:pt x="3989" y="133"/>
                </a:lnTo>
                <a:lnTo>
                  <a:pt x="4011" y="116"/>
                </a:lnTo>
                <a:lnTo>
                  <a:pt x="4029" y="99"/>
                </a:lnTo>
                <a:lnTo>
                  <a:pt x="4042" y="84"/>
                </a:lnTo>
                <a:lnTo>
                  <a:pt x="4050" y="71"/>
                </a:lnTo>
                <a:lnTo>
                  <a:pt x="4054" y="61"/>
                </a:lnTo>
                <a:lnTo>
                  <a:pt x="4054" y="54"/>
                </a:lnTo>
                <a:lnTo>
                  <a:pt x="4050" y="52"/>
                </a:lnTo>
                <a:lnTo>
                  <a:pt x="4025" y="56"/>
                </a:lnTo>
                <a:lnTo>
                  <a:pt x="3998" y="69"/>
                </a:lnTo>
                <a:lnTo>
                  <a:pt x="3972" y="88"/>
                </a:lnTo>
                <a:lnTo>
                  <a:pt x="3944" y="106"/>
                </a:lnTo>
                <a:lnTo>
                  <a:pt x="3920" y="126"/>
                </a:lnTo>
                <a:lnTo>
                  <a:pt x="3899" y="139"/>
                </a:lnTo>
                <a:lnTo>
                  <a:pt x="3883" y="143"/>
                </a:lnTo>
                <a:lnTo>
                  <a:pt x="3870" y="133"/>
                </a:lnTo>
                <a:lnTo>
                  <a:pt x="3857" y="154"/>
                </a:lnTo>
                <a:lnTo>
                  <a:pt x="3855" y="162"/>
                </a:lnTo>
                <a:lnTo>
                  <a:pt x="3857" y="160"/>
                </a:lnTo>
                <a:lnTo>
                  <a:pt x="3860" y="151"/>
                </a:lnTo>
                <a:lnTo>
                  <a:pt x="3858" y="143"/>
                </a:lnTo>
                <a:lnTo>
                  <a:pt x="3845" y="143"/>
                </a:lnTo>
                <a:lnTo>
                  <a:pt x="3813" y="152"/>
                </a:lnTo>
                <a:lnTo>
                  <a:pt x="3759" y="177"/>
                </a:lnTo>
                <a:lnTo>
                  <a:pt x="3741" y="187"/>
                </a:lnTo>
                <a:lnTo>
                  <a:pt x="3722" y="197"/>
                </a:lnTo>
                <a:lnTo>
                  <a:pt x="3702" y="208"/>
                </a:lnTo>
                <a:lnTo>
                  <a:pt x="3678" y="222"/>
                </a:lnTo>
                <a:lnTo>
                  <a:pt x="3656" y="237"/>
                </a:lnTo>
                <a:lnTo>
                  <a:pt x="3630" y="251"/>
                </a:lnTo>
                <a:lnTo>
                  <a:pt x="3603" y="267"/>
                </a:lnTo>
                <a:lnTo>
                  <a:pt x="3577" y="284"/>
                </a:lnTo>
                <a:lnTo>
                  <a:pt x="3548" y="301"/>
                </a:lnTo>
                <a:lnTo>
                  <a:pt x="3520" y="318"/>
                </a:lnTo>
                <a:lnTo>
                  <a:pt x="3491" y="337"/>
                </a:lnTo>
                <a:lnTo>
                  <a:pt x="3460" y="357"/>
                </a:lnTo>
                <a:lnTo>
                  <a:pt x="3431" y="375"/>
                </a:lnTo>
                <a:lnTo>
                  <a:pt x="3400" y="395"/>
                </a:lnTo>
                <a:lnTo>
                  <a:pt x="3368" y="415"/>
                </a:lnTo>
                <a:lnTo>
                  <a:pt x="3338" y="435"/>
                </a:lnTo>
                <a:lnTo>
                  <a:pt x="3307" y="456"/>
                </a:lnTo>
                <a:lnTo>
                  <a:pt x="3274" y="476"/>
                </a:lnTo>
                <a:lnTo>
                  <a:pt x="3244" y="496"/>
                </a:lnTo>
                <a:lnTo>
                  <a:pt x="3214" y="516"/>
                </a:lnTo>
                <a:lnTo>
                  <a:pt x="3184" y="535"/>
                </a:lnTo>
                <a:lnTo>
                  <a:pt x="3154" y="556"/>
                </a:lnTo>
                <a:lnTo>
                  <a:pt x="3127" y="574"/>
                </a:lnTo>
                <a:lnTo>
                  <a:pt x="3098" y="594"/>
                </a:lnTo>
                <a:lnTo>
                  <a:pt x="3072" y="611"/>
                </a:lnTo>
                <a:lnTo>
                  <a:pt x="3046" y="628"/>
                </a:lnTo>
                <a:lnTo>
                  <a:pt x="3022" y="645"/>
                </a:lnTo>
                <a:lnTo>
                  <a:pt x="2998" y="660"/>
                </a:lnTo>
                <a:lnTo>
                  <a:pt x="2974" y="677"/>
                </a:lnTo>
                <a:lnTo>
                  <a:pt x="2955" y="691"/>
                </a:lnTo>
                <a:lnTo>
                  <a:pt x="2936" y="704"/>
                </a:lnTo>
                <a:lnTo>
                  <a:pt x="2918" y="715"/>
                </a:lnTo>
                <a:lnTo>
                  <a:pt x="2869" y="749"/>
                </a:lnTo>
                <a:lnTo>
                  <a:pt x="2819" y="783"/>
                </a:lnTo>
                <a:lnTo>
                  <a:pt x="2771" y="816"/>
                </a:lnTo>
                <a:lnTo>
                  <a:pt x="2723" y="847"/>
                </a:lnTo>
                <a:lnTo>
                  <a:pt x="2675" y="879"/>
                </a:lnTo>
                <a:lnTo>
                  <a:pt x="2628" y="910"/>
                </a:lnTo>
                <a:lnTo>
                  <a:pt x="2581" y="940"/>
                </a:lnTo>
                <a:lnTo>
                  <a:pt x="2536" y="970"/>
                </a:lnTo>
                <a:lnTo>
                  <a:pt x="2491" y="1000"/>
                </a:lnTo>
                <a:lnTo>
                  <a:pt x="2447" y="1031"/>
                </a:lnTo>
                <a:lnTo>
                  <a:pt x="2402" y="1060"/>
                </a:lnTo>
                <a:lnTo>
                  <a:pt x="2359" y="1089"/>
                </a:lnTo>
                <a:lnTo>
                  <a:pt x="2316" y="1117"/>
                </a:lnTo>
                <a:lnTo>
                  <a:pt x="2273" y="1148"/>
                </a:lnTo>
                <a:lnTo>
                  <a:pt x="2232" y="1178"/>
                </a:lnTo>
                <a:lnTo>
                  <a:pt x="2191" y="1206"/>
                </a:lnTo>
                <a:lnTo>
                  <a:pt x="2168" y="1227"/>
                </a:lnTo>
                <a:lnTo>
                  <a:pt x="2146" y="1249"/>
                </a:lnTo>
                <a:lnTo>
                  <a:pt x="2125" y="1271"/>
                </a:lnTo>
                <a:lnTo>
                  <a:pt x="2104" y="1293"/>
                </a:lnTo>
                <a:lnTo>
                  <a:pt x="2085" y="1316"/>
                </a:lnTo>
                <a:lnTo>
                  <a:pt x="2065" y="1338"/>
                </a:lnTo>
                <a:lnTo>
                  <a:pt x="2048" y="1362"/>
                </a:lnTo>
                <a:lnTo>
                  <a:pt x="2029" y="1384"/>
                </a:lnTo>
                <a:lnTo>
                  <a:pt x="2010" y="1407"/>
                </a:lnTo>
                <a:lnTo>
                  <a:pt x="1994" y="1430"/>
                </a:lnTo>
                <a:lnTo>
                  <a:pt x="1975" y="1453"/>
                </a:lnTo>
                <a:lnTo>
                  <a:pt x="1957" y="1475"/>
                </a:lnTo>
                <a:lnTo>
                  <a:pt x="1938" y="1498"/>
                </a:lnTo>
                <a:lnTo>
                  <a:pt x="1920" y="1518"/>
                </a:lnTo>
                <a:lnTo>
                  <a:pt x="1901" y="1539"/>
                </a:lnTo>
                <a:lnTo>
                  <a:pt x="1881" y="1559"/>
                </a:lnTo>
                <a:lnTo>
                  <a:pt x="1859" y="1580"/>
                </a:lnTo>
                <a:lnTo>
                  <a:pt x="1835" y="1607"/>
                </a:lnTo>
                <a:lnTo>
                  <a:pt x="1811" y="1637"/>
                </a:lnTo>
                <a:lnTo>
                  <a:pt x="1786" y="1671"/>
                </a:lnTo>
                <a:lnTo>
                  <a:pt x="1762" y="1704"/>
                </a:lnTo>
                <a:lnTo>
                  <a:pt x="1738" y="1734"/>
                </a:lnTo>
                <a:lnTo>
                  <a:pt x="1717" y="1760"/>
                </a:lnTo>
                <a:lnTo>
                  <a:pt x="1697" y="1779"/>
                </a:lnTo>
                <a:lnTo>
                  <a:pt x="1669" y="1799"/>
                </a:lnTo>
                <a:lnTo>
                  <a:pt x="1651" y="1814"/>
                </a:lnTo>
                <a:lnTo>
                  <a:pt x="1638" y="1823"/>
                </a:lnTo>
                <a:lnTo>
                  <a:pt x="1629" y="1830"/>
                </a:lnTo>
                <a:lnTo>
                  <a:pt x="1618" y="1836"/>
                </a:lnTo>
                <a:lnTo>
                  <a:pt x="1607" y="1846"/>
                </a:lnTo>
                <a:lnTo>
                  <a:pt x="1593" y="1859"/>
                </a:lnTo>
                <a:lnTo>
                  <a:pt x="1571" y="1880"/>
                </a:lnTo>
                <a:lnTo>
                  <a:pt x="1550" y="1913"/>
                </a:lnTo>
                <a:lnTo>
                  <a:pt x="1531" y="1947"/>
                </a:lnTo>
                <a:lnTo>
                  <a:pt x="1514" y="1983"/>
                </a:lnTo>
                <a:lnTo>
                  <a:pt x="1499" y="2021"/>
                </a:lnTo>
                <a:lnTo>
                  <a:pt x="1482" y="2057"/>
                </a:lnTo>
                <a:lnTo>
                  <a:pt x="1466" y="2093"/>
                </a:lnTo>
                <a:lnTo>
                  <a:pt x="1452" y="2128"/>
                </a:lnTo>
                <a:lnTo>
                  <a:pt x="1435" y="2161"/>
                </a:lnTo>
                <a:lnTo>
                  <a:pt x="1420" y="2132"/>
                </a:lnTo>
                <a:lnTo>
                  <a:pt x="1402" y="2104"/>
                </a:lnTo>
                <a:lnTo>
                  <a:pt x="1383" y="2075"/>
                </a:lnTo>
                <a:lnTo>
                  <a:pt x="1363" y="2046"/>
                </a:lnTo>
                <a:lnTo>
                  <a:pt x="1340" y="2018"/>
                </a:lnTo>
                <a:lnTo>
                  <a:pt x="1319" y="1989"/>
                </a:lnTo>
                <a:lnTo>
                  <a:pt x="1296" y="1961"/>
                </a:lnTo>
                <a:lnTo>
                  <a:pt x="1274" y="1933"/>
                </a:lnTo>
                <a:lnTo>
                  <a:pt x="1251" y="1903"/>
                </a:lnTo>
                <a:lnTo>
                  <a:pt x="1230" y="1874"/>
                </a:lnTo>
                <a:lnTo>
                  <a:pt x="1210" y="1847"/>
                </a:lnTo>
                <a:lnTo>
                  <a:pt x="1192" y="1818"/>
                </a:lnTo>
                <a:lnTo>
                  <a:pt x="1175" y="1789"/>
                </a:lnTo>
                <a:lnTo>
                  <a:pt x="1159" y="1761"/>
                </a:lnTo>
                <a:lnTo>
                  <a:pt x="1146" y="1732"/>
                </a:lnTo>
                <a:lnTo>
                  <a:pt x="1137" y="1705"/>
                </a:lnTo>
                <a:lnTo>
                  <a:pt x="1121" y="1665"/>
                </a:lnTo>
                <a:lnTo>
                  <a:pt x="1105" y="1624"/>
                </a:lnTo>
                <a:lnTo>
                  <a:pt x="1087" y="1580"/>
                </a:lnTo>
                <a:lnTo>
                  <a:pt x="1068" y="1537"/>
                </a:lnTo>
                <a:lnTo>
                  <a:pt x="1050" y="1493"/>
                </a:lnTo>
                <a:lnTo>
                  <a:pt x="1032" y="1449"/>
                </a:lnTo>
                <a:lnTo>
                  <a:pt x="1016" y="1407"/>
                </a:lnTo>
                <a:lnTo>
                  <a:pt x="1003" y="1367"/>
                </a:lnTo>
                <a:lnTo>
                  <a:pt x="979" y="1376"/>
                </a:lnTo>
                <a:lnTo>
                  <a:pt x="958" y="1386"/>
                </a:lnTo>
                <a:lnTo>
                  <a:pt x="935" y="1394"/>
                </a:lnTo>
                <a:lnTo>
                  <a:pt x="914" y="1403"/>
                </a:lnTo>
                <a:lnTo>
                  <a:pt x="891" y="1411"/>
                </a:lnTo>
                <a:lnTo>
                  <a:pt x="870" y="1418"/>
                </a:lnTo>
                <a:lnTo>
                  <a:pt x="847" y="1426"/>
                </a:lnTo>
                <a:lnTo>
                  <a:pt x="825" y="1435"/>
                </a:lnTo>
                <a:lnTo>
                  <a:pt x="808" y="1443"/>
                </a:lnTo>
                <a:lnTo>
                  <a:pt x="790" y="1450"/>
                </a:lnTo>
                <a:lnTo>
                  <a:pt x="773" y="1459"/>
                </a:lnTo>
                <a:lnTo>
                  <a:pt x="755" y="1467"/>
                </a:lnTo>
                <a:lnTo>
                  <a:pt x="738" y="1475"/>
                </a:lnTo>
                <a:lnTo>
                  <a:pt x="721" y="1484"/>
                </a:lnTo>
                <a:lnTo>
                  <a:pt x="704" y="1491"/>
                </a:lnTo>
                <a:lnTo>
                  <a:pt x="687" y="1499"/>
                </a:lnTo>
                <a:lnTo>
                  <a:pt x="669" y="1507"/>
                </a:lnTo>
                <a:lnTo>
                  <a:pt x="652" y="1515"/>
                </a:lnTo>
                <a:lnTo>
                  <a:pt x="636" y="1522"/>
                </a:lnTo>
                <a:lnTo>
                  <a:pt x="619" y="1531"/>
                </a:lnTo>
                <a:lnTo>
                  <a:pt x="602" y="1537"/>
                </a:lnTo>
                <a:lnTo>
                  <a:pt x="586" y="1546"/>
                </a:lnTo>
                <a:lnTo>
                  <a:pt x="569" y="1553"/>
                </a:lnTo>
                <a:lnTo>
                  <a:pt x="553" y="1561"/>
                </a:lnTo>
                <a:lnTo>
                  <a:pt x="550" y="1561"/>
                </a:lnTo>
                <a:lnTo>
                  <a:pt x="541" y="1561"/>
                </a:lnTo>
                <a:lnTo>
                  <a:pt x="527" y="1563"/>
                </a:lnTo>
                <a:lnTo>
                  <a:pt x="511" y="1567"/>
                </a:lnTo>
                <a:lnTo>
                  <a:pt x="491" y="1571"/>
                </a:lnTo>
                <a:lnTo>
                  <a:pt x="469" y="1577"/>
                </a:lnTo>
                <a:lnTo>
                  <a:pt x="445" y="1585"/>
                </a:lnTo>
                <a:lnTo>
                  <a:pt x="421" y="1592"/>
                </a:lnTo>
                <a:lnTo>
                  <a:pt x="396" y="1598"/>
                </a:lnTo>
                <a:lnTo>
                  <a:pt x="373" y="1605"/>
                </a:lnTo>
                <a:lnTo>
                  <a:pt x="351" y="1612"/>
                </a:lnTo>
                <a:lnTo>
                  <a:pt x="333" y="1616"/>
                </a:lnTo>
                <a:lnTo>
                  <a:pt x="315" y="1620"/>
                </a:lnTo>
                <a:lnTo>
                  <a:pt x="304" y="1624"/>
                </a:lnTo>
                <a:lnTo>
                  <a:pt x="297" y="1624"/>
                </a:lnTo>
                <a:lnTo>
                  <a:pt x="294" y="1622"/>
                </a:lnTo>
                <a:lnTo>
                  <a:pt x="275" y="1633"/>
                </a:lnTo>
                <a:lnTo>
                  <a:pt x="256" y="1643"/>
                </a:lnTo>
                <a:lnTo>
                  <a:pt x="237" y="1654"/>
                </a:lnTo>
                <a:lnTo>
                  <a:pt x="219" y="1665"/>
                </a:lnTo>
                <a:lnTo>
                  <a:pt x="199" y="1675"/>
                </a:lnTo>
                <a:lnTo>
                  <a:pt x="180" y="1685"/>
                </a:lnTo>
                <a:lnTo>
                  <a:pt x="161" y="1696"/>
                </a:lnTo>
                <a:lnTo>
                  <a:pt x="143" y="1707"/>
                </a:lnTo>
                <a:lnTo>
                  <a:pt x="124" y="1718"/>
                </a:lnTo>
                <a:lnTo>
                  <a:pt x="106" y="1729"/>
                </a:lnTo>
                <a:lnTo>
                  <a:pt x="87" y="1739"/>
                </a:lnTo>
                <a:lnTo>
                  <a:pt x="70" y="1750"/>
                </a:lnTo>
                <a:lnTo>
                  <a:pt x="53" y="1760"/>
                </a:lnTo>
                <a:lnTo>
                  <a:pt x="35" y="1771"/>
                </a:lnTo>
                <a:lnTo>
                  <a:pt x="18" y="1781"/>
                </a:lnTo>
                <a:lnTo>
                  <a:pt x="0" y="1792"/>
                </a:lnTo>
                <a:close/>
              </a:path>
            </a:pathLst>
          </a:custGeom>
          <a:solidFill>
            <a:srgbClr val="F58220"/>
          </a:solidFill>
          <a:ln w="19050">
            <a:solidFill>
              <a:srgbClr val="FFFFFF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96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n-ea"/>
              <a:sym typeface="나눔고딕"/>
            </a:endParaRPr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E69E8DFB-B63C-26D4-9295-9A6A520B6D6B}"/>
              </a:ext>
            </a:extLst>
          </p:cNvPr>
          <p:cNvGrpSpPr/>
          <p:nvPr/>
        </p:nvGrpSpPr>
        <p:grpSpPr>
          <a:xfrm>
            <a:off x="10606951" y="1421332"/>
            <a:ext cx="1288754" cy="252000"/>
            <a:chOff x="10521226" y="1602307"/>
            <a:chExt cx="1288754" cy="252000"/>
          </a:xfrm>
        </p:grpSpPr>
        <p:sp>
          <p:nvSpPr>
            <p:cNvPr id="58" name="Freeform 1754">
              <a:extLst>
                <a:ext uri="{FF2B5EF4-FFF2-40B4-BE49-F238E27FC236}">
                  <a16:creationId xmlns:a16="http://schemas.microsoft.com/office/drawing/2014/main" id="{6D10594F-D3EF-D298-F2D8-013322E85021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10913392" y="1629221"/>
              <a:ext cx="216000" cy="185549"/>
            </a:xfrm>
            <a:custGeom>
              <a:avLst/>
              <a:gdLst>
                <a:gd name="T0" fmla="*/ 2147483646 w 4916"/>
                <a:gd name="T1" fmla="*/ 2147483646 h 3388"/>
                <a:gd name="T2" fmla="*/ 2147483646 w 4916"/>
                <a:gd name="T3" fmla="*/ 2147483646 h 3388"/>
                <a:gd name="T4" fmla="*/ 2147483646 w 4916"/>
                <a:gd name="T5" fmla="*/ 2147483646 h 3388"/>
                <a:gd name="T6" fmla="*/ 2147483646 w 4916"/>
                <a:gd name="T7" fmla="*/ 2147483646 h 3388"/>
                <a:gd name="T8" fmla="*/ 2147483646 w 4916"/>
                <a:gd name="T9" fmla="*/ 2147483646 h 3388"/>
                <a:gd name="T10" fmla="*/ 2147483646 w 4916"/>
                <a:gd name="T11" fmla="*/ 2147483646 h 3388"/>
                <a:gd name="T12" fmla="*/ 2147483646 w 4916"/>
                <a:gd name="T13" fmla="*/ 2147483646 h 3388"/>
                <a:gd name="T14" fmla="*/ 2147483646 w 4916"/>
                <a:gd name="T15" fmla="*/ 2147483646 h 3388"/>
                <a:gd name="T16" fmla="*/ 2147483646 w 4916"/>
                <a:gd name="T17" fmla="*/ 2147483646 h 3388"/>
                <a:gd name="T18" fmla="*/ 2147483646 w 4916"/>
                <a:gd name="T19" fmla="*/ 2147483646 h 3388"/>
                <a:gd name="T20" fmla="*/ 2147483646 w 4916"/>
                <a:gd name="T21" fmla="*/ 2147483646 h 3388"/>
                <a:gd name="T22" fmla="*/ 2147483646 w 4916"/>
                <a:gd name="T23" fmla="*/ 2147483646 h 3388"/>
                <a:gd name="T24" fmla="*/ 2147483646 w 4916"/>
                <a:gd name="T25" fmla="*/ 2147483646 h 3388"/>
                <a:gd name="T26" fmla="*/ 2147483646 w 4916"/>
                <a:gd name="T27" fmla="*/ 2147483646 h 3388"/>
                <a:gd name="T28" fmla="*/ 2147483646 w 4916"/>
                <a:gd name="T29" fmla="*/ 2147483646 h 3388"/>
                <a:gd name="T30" fmla="*/ 2147483646 w 4916"/>
                <a:gd name="T31" fmla="*/ 2147483646 h 3388"/>
                <a:gd name="T32" fmla="*/ 2147483646 w 4916"/>
                <a:gd name="T33" fmla="*/ 2147483646 h 3388"/>
                <a:gd name="T34" fmla="*/ 2147483646 w 4916"/>
                <a:gd name="T35" fmla="*/ 2147483646 h 3388"/>
                <a:gd name="T36" fmla="*/ 2147483646 w 4916"/>
                <a:gd name="T37" fmla="*/ 2147483646 h 3388"/>
                <a:gd name="T38" fmla="*/ 2147483646 w 4916"/>
                <a:gd name="T39" fmla="*/ 2147483646 h 3388"/>
                <a:gd name="T40" fmla="*/ 2147483646 w 4916"/>
                <a:gd name="T41" fmla="*/ 2147483646 h 3388"/>
                <a:gd name="T42" fmla="*/ 2147483646 w 4916"/>
                <a:gd name="T43" fmla="*/ 2147483646 h 3388"/>
                <a:gd name="T44" fmla="*/ 2147483646 w 4916"/>
                <a:gd name="T45" fmla="*/ 2147483646 h 3388"/>
                <a:gd name="T46" fmla="*/ 2147483646 w 4916"/>
                <a:gd name="T47" fmla="*/ 2147483646 h 3388"/>
                <a:gd name="T48" fmla="*/ 2147483646 w 4916"/>
                <a:gd name="T49" fmla="*/ 2147483646 h 3388"/>
                <a:gd name="T50" fmla="*/ 2147483646 w 4916"/>
                <a:gd name="T51" fmla="*/ 2147483646 h 3388"/>
                <a:gd name="T52" fmla="*/ 2147483646 w 4916"/>
                <a:gd name="T53" fmla="*/ 2147483646 h 3388"/>
                <a:gd name="T54" fmla="*/ 2147483646 w 4916"/>
                <a:gd name="T55" fmla="*/ 2147483646 h 3388"/>
                <a:gd name="T56" fmla="*/ 2147483646 w 4916"/>
                <a:gd name="T57" fmla="*/ 2147483646 h 3388"/>
                <a:gd name="T58" fmla="*/ 2147483646 w 4916"/>
                <a:gd name="T59" fmla="*/ 2147483646 h 3388"/>
                <a:gd name="T60" fmla="*/ 2147483646 w 4916"/>
                <a:gd name="T61" fmla="*/ 2147483646 h 3388"/>
                <a:gd name="T62" fmla="*/ 2147483646 w 4916"/>
                <a:gd name="T63" fmla="*/ 2147483646 h 3388"/>
                <a:gd name="T64" fmla="*/ 2147483646 w 4916"/>
                <a:gd name="T65" fmla="*/ 2147483646 h 3388"/>
                <a:gd name="T66" fmla="*/ 2147483646 w 4916"/>
                <a:gd name="T67" fmla="*/ 2147483646 h 3388"/>
                <a:gd name="T68" fmla="*/ 2147483646 w 4916"/>
                <a:gd name="T69" fmla="*/ 2147483646 h 3388"/>
                <a:gd name="T70" fmla="*/ 2147483646 w 4916"/>
                <a:gd name="T71" fmla="*/ 2147483646 h 3388"/>
                <a:gd name="T72" fmla="*/ 2147483646 w 4916"/>
                <a:gd name="T73" fmla="*/ 2147483646 h 3388"/>
                <a:gd name="T74" fmla="*/ 2147483646 w 4916"/>
                <a:gd name="T75" fmla="*/ 2147483646 h 3388"/>
                <a:gd name="T76" fmla="*/ 2147483646 w 4916"/>
                <a:gd name="T77" fmla="*/ 2147483646 h 3388"/>
                <a:gd name="T78" fmla="*/ 2147483646 w 4916"/>
                <a:gd name="T79" fmla="*/ 2147483646 h 3388"/>
                <a:gd name="T80" fmla="*/ 2147483646 w 4916"/>
                <a:gd name="T81" fmla="*/ 2147483646 h 3388"/>
                <a:gd name="T82" fmla="*/ 2147483646 w 4916"/>
                <a:gd name="T83" fmla="*/ 2147483646 h 3388"/>
                <a:gd name="T84" fmla="*/ 2147483646 w 4916"/>
                <a:gd name="T85" fmla="*/ 2147483646 h 3388"/>
                <a:gd name="T86" fmla="*/ 2147483646 w 4916"/>
                <a:gd name="T87" fmla="*/ 2147483646 h 3388"/>
                <a:gd name="T88" fmla="*/ 2147483646 w 4916"/>
                <a:gd name="T89" fmla="*/ 2147483646 h 3388"/>
                <a:gd name="T90" fmla="*/ 2147483646 w 4916"/>
                <a:gd name="T91" fmla="*/ 2147483646 h 3388"/>
                <a:gd name="T92" fmla="*/ 2147483646 w 4916"/>
                <a:gd name="T93" fmla="*/ 2147483646 h 3388"/>
                <a:gd name="T94" fmla="*/ 2147483646 w 4916"/>
                <a:gd name="T95" fmla="*/ 2147483646 h 3388"/>
                <a:gd name="T96" fmla="*/ 2147483646 w 4916"/>
                <a:gd name="T97" fmla="*/ 2147483646 h 3388"/>
                <a:gd name="T98" fmla="*/ 2147483646 w 4916"/>
                <a:gd name="T99" fmla="*/ 2147483646 h 3388"/>
                <a:gd name="T100" fmla="*/ 2147483646 w 4916"/>
                <a:gd name="T101" fmla="*/ 2147483646 h 3388"/>
                <a:gd name="T102" fmla="*/ 2147483646 w 4916"/>
                <a:gd name="T103" fmla="*/ 2147483646 h 3388"/>
                <a:gd name="T104" fmla="*/ 2147483646 w 4916"/>
                <a:gd name="T105" fmla="*/ 2147483646 h 3388"/>
                <a:gd name="T106" fmla="*/ 2147483646 w 4916"/>
                <a:gd name="T107" fmla="*/ 2147483646 h 3388"/>
                <a:gd name="T108" fmla="*/ 2147483646 w 4916"/>
                <a:gd name="T109" fmla="*/ 2147483646 h 3388"/>
                <a:gd name="T110" fmla="*/ 2147483646 w 4916"/>
                <a:gd name="T111" fmla="*/ 2147483646 h 3388"/>
                <a:gd name="T112" fmla="*/ 2147483646 w 4916"/>
                <a:gd name="T113" fmla="*/ 2147483646 h 3388"/>
                <a:gd name="T114" fmla="*/ 2147483646 w 4916"/>
                <a:gd name="T115" fmla="*/ 2147483646 h 3388"/>
                <a:gd name="T116" fmla="*/ 2147483646 w 4916"/>
                <a:gd name="T117" fmla="*/ 2147483646 h 3388"/>
                <a:gd name="T118" fmla="*/ 2147483646 w 4916"/>
                <a:gd name="T119" fmla="*/ 2147483646 h 3388"/>
                <a:gd name="T120" fmla="*/ 2147483646 w 4916"/>
                <a:gd name="T121" fmla="*/ 2147483646 h 3388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4916"/>
                <a:gd name="T184" fmla="*/ 0 h 3388"/>
                <a:gd name="T185" fmla="*/ 4916 w 4916"/>
                <a:gd name="T186" fmla="*/ 3388 h 3388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4916" h="3388">
                  <a:moveTo>
                    <a:pt x="0" y="1792"/>
                  </a:moveTo>
                  <a:lnTo>
                    <a:pt x="12" y="1808"/>
                  </a:lnTo>
                  <a:lnTo>
                    <a:pt x="25" y="1823"/>
                  </a:lnTo>
                  <a:lnTo>
                    <a:pt x="38" y="1838"/>
                  </a:lnTo>
                  <a:lnTo>
                    <a:pt x="53" y="1853"/>
                  </a:lnTo>
                  <a:lnTo>
                    <a:pt x="68" y="1867"/>
                  </a:lnTo>
                  <a:lnTo>
                    <a:pt x="83" y="1883"/>
                  </a:lnTo>
                  <a:lnTo>
                    <a:pt x="100" y="1897"/>
                  </a:lnTo>
                  <a:lnTo>
                    <a:pt x="116" y="1911"/>
                  </a:lnTo>
                  <a:lnTo>
                    <a:pt x="131" y="1927"/>
                  </a:lnTo>
                  <a:lnTo>
                    <a:pt x="148" y="1941"/>
                  </a:lnTo>
                  <a:lnTo>
                    <a:pt x="162" y="1955"/>
                  </a:lnTo>
                  <a:lnTo>
                    <a:pt x="178" y="1971"/>
                  </a:lnTo>
                  <a:lnTo>
                    <a:pt x="193" y="1985"/>
                  </a:lnTo>
                  <a:lnTo>
                    <a:pt x="206" y="2000"/>
                  </a:lnTo>
                  <a:lnTo>
                    <a:pt x="219" y="2014"/>
                  </a:lnTo>
                  <a:lnTo>
                    <a:pt x="231" y="2030"/>
                  </a:lnTo>
                  <a:lnTo>
                    <a:pt x="244" y="2058"/>
                  </a:lnTo>
                  <a:lnTo>
                    <a:pt x="261" y="2080"/>
                  </a:lnTo>
                  <a:lnTo>
                    <a:pt x="281" y="2098"/>
                  </a:lnTo>
                  <a:lnTo>
                    <a:pt x="301" y="2114"/>
                  </a:lnTo>
                  <a:lnTo>
                    <a:pt x="322" y="2129"/>
                  </a:lnTo>
                  <a:lnTo>
                    <a:pt x="342" y="2148"/>
                  </a:lnTo>
                  <a:lnTo>
                    <a:pt x="359" y="2169"/>
                  </a:lnTo>
                  <a:lnTo>
                    <a:pt x="375" y="2195"/>
                  </a:lnTo>
                  <a:lnTo>
                    <a:pt x="391" y="2223"/>
                  </a:lnTo>
                  <a:lnTo>
                    <a:pt x="415" y="2256"/>
                  </a:lnTo>
                  <a:lnTo>
                    <a:pt x="441" y="2294"/>
                  </a:lnTo>
                  <a:lnTo>
                    <a:pt x="471" y="2333"/>
                  </a:lnTo>
                  <a:lnTo>
                    <a:pt x="501" y="2373"/>
                  </a:lnTo>
                  <a:lnTo>
                    <a:pt x="527" y="2409"/>
                  </a:lnTo>
                  <a:lnTo>
                    <a:pt x="551" y="2442"/>
                  </a:lnTo>
                  <a:lnTo>
                    <a:pt x="569" y="2469"/>
                  </a:lnTo>
                  <a:lnTo>
                    <a:pt x="580" y="2492"/>
                  </a:lnTo>
                  <a:lnTo>
                    <a:pt x="597" y="2519"/>
                  </a:lnTo>
                  <a:lnTo>
                    <a:pt x="616" y="2552"/>
                  </a:lnTo>
                  <a:lnTo>
                    <a:pt x="638" y="2586"/>
                  </a:lnTo>
                  <a:lnTo>
                    <a:pt x="663" y="2626"/>
                  </a:lnTo>
                  <a:lnTo>
                    <a:pt x="689" y="2666"/>
                  </a:lnTo>
                  <a:lnTo>
                    <a:pt x="717" y="2708"/>
                  </a:lnTo>
                  <a:lnTo>
                    <a:pt x="747" y="2752"/>
                  </a:lnTo>
                  <a:lnTo>
                    <a:pt x="775" y="2794"/>
                  </a:lnTo>
                  <a:lnTo>
                    <a:pt x="803" y="2838"/>
                  </a:lnTo>
                  <a:lnTo>
                    <a:pt x="830" y="2878"/>
                  </a:lnTo>
                  <a:lnTo>
                    <a:pt x="855" y="2916"/>
                  </a:lnTo>
                  <a:lnTo>
                    <a:pt x="878" y="2952"/>
                  </a:lnTo>
                  <a:lnTo>
                    <a:pt x="897" y="2983"/>
                  </a:lnTo>
                  <a:lnTo>
                    <a:pt x="914" y="3011"/>
                  </a:lnTo>
                  <a:lnTo>
                    <a:pt x="926" y="3032"/>
                  </a:lnTo>
                  <a:lnTo>
                    <a:pt x="937" y="3034"/>
                  </a:lnTo>
                  <a:lnTo>
                    <a:pt x="946" y="3035"/>
                  </a:lnTo>
                  <a:lnTo>
                    <a:pt x="957" y="3037"/>
                  </a:lnTo>
                  <a:lnTo>
                    <a:pt x="966" y="3039"/>
                  </a:lnTo>
                  <a:lnTo>
                    <a:pt x="977" y="3039"/>
                  </a:lnTo>
                  <a:lnTo>
                    <a:pt x="987" y="3042"/>
                  </a:lnTo>
                  <a:lnTo>
                    <a:pt x="997" y="3043"/>
                  </a:lnTo>
                  <a:lnTo>
                    <a:pt x="1007" y="3045"/>
                  </a:lnTo>
                  <a:lnTo>
                    <a:pt x="1009" y="3055"/>
                  </a:lnTo>
                  <a:lnTo>
                    <a:pt x="1012" y="3064"/>
                  </a:lnTo>
                  <a:lnTo>
                    <a:pt x="1014" y="3073"/>
                  </a:lnTo>
                  <a:lnTo>
                    <a:pt x="1016" y="3083"/>
                  </a:lnTo>
                  <a:lnTo>
                    <a:pt x="1025" y="3083"/>
                  </a:lnTo>
                  <a:lnTo>
                    <a:pt x="1033" y="3085"/>
                  </a:lnTo>
                  <a:lnTo>
                    <a:pt x="1043" y="3086"/>
                  </a:lnTo>
                  <a:lnTo>
                    <a:pt x="1052" y="3087"/>
                  </a:lnTo>
                  <a:lnTo>
                    <a:pt x="1060" y="3090"/>
                  </a:lnTo>
                  <a:lnTo>
                    <a:pt x="1069" y="3091"/>
                  </a:lnTo>
                  <a:lnTo>
                    <a:pt x="1079" y="3092"/>
                  </a:lnTo>
                  <a:lnTo>
                    <a:pt x="1088" y="3093"/>
                  </a:lnTo>
                  <a:lnTo>
                    <a:pt x="1104" y="3103"/>
                  </a:lnTo>
                  <a:lnTo>
                    <a:pt x="1121" y="3113"/>
                  </a:lnTo>
                  <a:lnTo>
                    <a:pt x="1137" y="3121"/>
                  </a:lnTo>
                  <a:lnTo>
                    <a:pt x="1152" y="3130"/>
                  </a:lnTo>
                  <a:lnTo>
                    <a:pt x="1168" y="3139"/>
                  </a:lnTo>
                  <a:lnTo>
                    <a:pt x="1185" y="3147"/>
                  </a:lnTo>
                  <a:lnTo>
                    <a:pt x="1202" y="3156"/>
                  </a:lnTo>
                  <a:lnTo>
                    <a:pt x="1217" y="3165"/>
                  </a:lnTo>
                  <a:lnTo>
                    <a:pt x="1229" y="3166"/>
                  </a:lnTo>
                  <a:lnTo>
                    <a:pt x="1240" y="3167"/>
                  </a:lnTo>
                  <a:lnTo>
                    <a:pt x="1251" y="3169"/>
                  </a:lnTo>
                  <a:lnTo>
                    <a:pt x="1262" y="3170"/>
                  </a:lnTo>
                  <a:lnTo>
                    <a:pt x="1274" y="3170"/>
                  </a:lnTo>
                  <a:lnTo>
                    <a:pt x="1285" y="3171"/>
                  </a:lnTo>
                  <a:lnTo>
                    <a:pt x="1297" y="3172"/>
                  </a:lnTo>
                  <a:lnTo>
                    <a:pt x="1308" y="3172"/>
                  </a:lnTo>
                  <a:lnTo>
                    <a:pt x="1317" y="3183"/>
                  </a:lnTo>
                  <a:lnTo>
                    <a:pt x="1326" y="3195"/>
                  </a:lnTo>
                  <a:lnTo>
                    <a:pt x="1335" y="3206"/>
                  </a:lnTo>
                  <a:lnTo>
                    <a:pt x="1343" y="3215"/>
                  </a:lnTo>
                  <a:lnTo>
                    <a:pt x="1363" y="3217"/>
                  </a:lnTo>
                  <a:lnTo>
                    <a:pt x="1383" y="3219"/>
                  </a:lnTo>
                  <a:lnTo>
                    <a:pt x="1403" y="3221"/>
                  </a:lnTo>
                  <a:lnTo>
                    <a:pt x="1422" y="3221"/>
                  </a:lnTo>
                  <a:lnTo>
                    <a:pt x="1443" y="3223"/>
                  </a:lnTo>
                  <a:lnTo>
                    <a:pt x="1462" y="3223"/>
                  </a:lnTo>
                  <a:lnTo>
                    <a:pt x="1482" y="3224"/>
                  </a:lnTo>
                  <a:lnTo>
                    <a:pt x="1502" y="3225"/>
                  </a:lnTo>
                  <a:lnTo>
                    <a:pt x="1525" y="3238"/>
                  </a:lnTo>
                  <a:lnTo>
                    <a:pt x="1547" y="3251"/>
                  </a:lnTo>
                  <a:lnTo>
                    <a:pt x="1571" y="3264"/>
                  </a:lnTo>
                  <a:lnTo>
                    <a:pt x="1595" y="3278"/>
                  </a:lnTo>
                  <a:lnTo>
                    <a:pt x="1619" y="3293"/>
                  </a:lnTo>
                  <a:lnTo>
                    <a:pt x="1643" y="3306"/>
                  </a:lnTo>
                  <a:lnTo>
                    <a:pt x="1667" y="3319"/>
                  </a:lnTo>
                  <a:lnTo>
                    <a:pt x="1692" y="3332"/>
                  </a:lnTo>
                  <a:lnTo>
                    <a:pt x="1701" y="3332"/>
                  </a:lnTo>
                  <a:lnTo>
                    <a:pt x="1711" y="3332"/>
                  </a:lnTo>
                  <a:lnTo>
                    <a:pt x="1721" y="3332"/>
                  </a:lnTo>
                  <a:lnTo>
                    <a:pt x="1732" y="3332"/>
                  </a:lnTo>
                  <a:lnTo>
                    <a:pt x="1742" y="3332"/>
                  </a:lnTo>
                  <a:lnTo>
                    <a:pt x="1751" y="3332"/>
                  </a:lnTo>
                  <a:lnTo>
                    <a:pt x="1762" y="3332"/>
                  </a:lnTo>
                  <a:lnTo>
                    <a:pt x="1772" y="3332"/>
                  </a:lnTo>
                  <a:lnTo>
                    <a:pt x="1780" y="3340"/>
                  </a:lnTo>
                  <a:lnTo>
                    <a:pt x="1790" y="3346"/>
                  </a:lnTo>
                  <a:lnTo>
                    <a:pt x="1799" y="3352"/>
                  </a:lnTo>
                  <a:lnTo>
                    <a:pt x="1809" y="3358"/>
                  </a:lnTo>
                  <a:lnTo>
                    <a:pt x="1817" y="3364"/>
                  </a:lnTo>
                  <a:lnTo>
                    <a:pt x="1826" y="3368"/>
                  </a:lnTo>
                  <a:lnTo>
                    <a:pt x="1835" y="3373"/>
                  </a:lnTo>
                  <a:lnTo>
                    <a:pt x="1843" y="3378"/>
                  </a:lnTo>
                  <a:lnTo>
                    <a:pt x="1871" y="3385"/>
                  </a:lnTo>
                  <a:lnTo>
                    <a:pt x="1889" y="3388"/>
                  </a:lnTo>
                  <a:lnTo>
                    <a:pt x="1901" y="3384"/>
                  </a:lnTo>
                  <a:lnTo>
                    <a:pt x="1905" y="3377"/>
                  </a:lnTo>
                  <a:lnTo>
                    <a:pt x="1905" y="3368"/>
                  </a:lnTo>
                  <a:lnTo>
                    <a:pt x="1899" y="3355"/>
                  </a:lnTo>
                  <a:lnTo>
                    <a:pt x="1891" y="3341"/>
                  </a:lnTo>
                  <a:lnTo>
                    <a:pt x="1883" y="3327"/>
                  </a:lnTo>
                  <a:lnTo>
                    <a:pt x="1876" y="3312"/>
                  </a:lnTo>
                  <a:lnTo>
                    <a:pt x="1868" y="3298"/>
                  </a:lnTo>
                  <a:lnTo>
                    <a:pt x="1864" y="3286"/>
                  </a:lnTo>
                  <a:lnTo>
                    <a:pt x="1863" y="3275"/>
                  </a:lnTo>
                  <a:lnTo>
                    <a:pt x="1867" y="3268"/>
                  </a:lnTo>
                  <a:lnTo>
                    <a:pt x="1877" y="3264"/>
                  </a:lnTo>
                  <a:lnTo>
                    <a:pt x="1896" y="3266"/>
                  </a:lnTo>
                  <a:lnTo>
                    <a:pt x="1922" y="3273"/>
                  </a:lnTo>
                  <a:lnTo>
                    <a:pt x="1935" y="3251"/>
                  </a:lnTo>
                  <a:lnTo>
                    <a:pt x="1947" y="3231"/>
                  </a:lnTo>
                  <a:lnTo>
                    <a:pt x="1957" y="3213"/>
                  </a:lnTo>
                  <a:lnTo>
                    <a:pt x="1965" y="3194"/>
                  </a:lnTo>
                  <a:lnTo>
                    <a:pt x="1975" y="3176"/>
                  </a:lnTo>
                  <a:lnTo>
                    <a:pt x="1984" y="3154"/>
                  </a:lnTo>
                  <a:lnTo>
                    <a:pt x="1995" y="3134"/>
                  </a:lnTo>
                  <a:lnTo>
                    <a:pt x="2007" y="3111"/>
                  </a:lnTo>
                  <a:lnTo>
                    <a:pt x="2008" y="3098"/>
                  </a:lnTo>
                  <a:lnTo>
                    <a:pt x="2013" y="3083"/>
                  </a:lnTo>
                  <a:lnTo>
                    <a:pt x="2019" y="3067"/>
                  </a:lnTo>
                  <a:lnTo>
                    <a:pt x="2026" y="3049"/>
                  </a:lnTo>
                  <a:lnTo>
                    <a:pt x="2035" y="3030"/>
                  </a:lnTo>
                  <a:lnTo>
                    <a:pt x="2041" y="3013"/>
                  </a:lnTo>
                  <a:lnTo>
                    <a:pt x="2045" y="2998"/>
                  </a:lnTo>
                  <a:lnTo>
                    <a:pt x="2046" y="2985"/>
                  </a:lnTo>
                  <a:lnTo>
                    <a:pt x="2059" y="2966"/>
                  </a:lnTo>
                  <a:lnTo>
                    <a:pt x="2071" y="2946"/>
                  </a:lnTo>
                  <a:lnTo>
                    <a:pt x="2085" y="2927"/>
                  </a:lnTo>
                  <a:lnTo>
                    <a:pt x="2096" y="2908"/>
                  </a:lnTo>
                  <a:lnTo>
                    <a:pt x="2107" y="2890"/>
                  </a:lnTo>
                  <a:lnTo>
                    <a:pt x="2118" y="2872"/>
                  </a:lnTo>
                  <a:lnTo>
                    <a:pt x="2130" y="2854"/>
                  </a:lnTo>
                  <a:lnTo>
                    <a:pt x="2142" y="2835"/>
                  </a:lnTo>
                  <a:lnTo>
                    <a:pt x="2148" y="2782"/>
                  </a:lnTo>
                  <a:lnTo>
                    <a:pt x="2159" y="2741"/>
                  </a:lnTo>
                  <a:lnTo>
                    <a:pt x="2171" y="2700"/>
                  </a:lnTo>
                  <a:lnTo>
                    <a:pt x="2174" y="2648"/>
                  </a:lnTo>
                  <a:lnTo>
                    <a:pt x="2187" y="2640"/>
                  </a:lnTo>
                  <a:lnTo>
                    <a:pt x="2201" y="2628"/>
                  </a:lnTo>
                  <a:lnTo>
                    <a:pt x="2217" y="2616"/>
                  </a:lnTo>
                  <a:lnTo>
                    <a:pt x="2232" y="2603"/>
                  </a:lnTo>
                  <a:lnTo>
                    <a:pt x="2247" y="2589"/>
                  </a:lnTo>
                  <a:lnTo>
                    <a:pt x="2263" y="2576"/>
                  </a:lnTo>
                  <a:lnTo>
                    <a:pt x="2276" y="2565"/>
                  </a:lnTo>
                  <a:lnTo>
                    <a:pt x="2289" y="2556"/>
                  </a:lnTo>
                  <a:lnTo>
                    <a:pt x="2298" y="2505"/>
                  </a:lnTo>
                  <a:lnTo>
                    <a:pt x="2304" y="2464"/>
                  </a:lnTo>
                  <a:lnTo>
                    <a:pt x="2309" y="2424"/>
                  </a:lnTo>
                  <a:lnTo>
                    <a:pt x="2320" y="2370"/>
                  </a:lnTo>
                  <a:lnTo>
                    <a:pt x="2330" y="2360"/>
                  </a:lnTo>
                  <a:lnTo>
                    <a:pt x="2347" y="2349"/>
                  </a:lnTo>
                  <a:lnTo>
                    <a:pt x="2366" y="2336"/>
                  </a:lnTo>
                  <a:lnTo>
                    <a:pt x="2388" y="2322"/>
                  </a:lnTo>
                  <a:lnTo>
                    <a:pt x="2412" y="2307"/>
                  </a:lnTo>
                  <a:lnTo>
                    <a:pt x="2431" y="2294"/>
                  </a:lnTo>
                  <a:lnTo>
                    <a:pt x="2448" y="2284"/>
                  </a:lnTo>
                  <a:lnTo>
                    <a:pt x="2457" y="2274"/>
                  </a:lnTo>
                  <a:lnTo>
                    <a:pt x="2455" y="2260"/>
                  </a:lnTo>
                  <a:lnTo>
                    <a:pt x="2455" y="2246"/>
                  </a:lnTo>
                  <a:lnTo>
                    <a:pt x="2459" y="2234"/>
                  </a:lnTo>
                  <a:lnTo>
                    <a:pt x="2462" y="2221"/>
                  </a:lnTo>
                  <a:lnTo>
                    <a:pt x="2467" y="2208"/>
                  </a:lnTo>
                  <a:lnTo>
                    <a:pt x="2470" y="2195"/>
                  </a:lnTo>
                  <a:lnTo>
                    <a:pt x="2472" y="2180"/>
                  </a:lnTo>
                  <a:lnTo>
                    <a:pt x="2470" y="2167"/>
                  </a:lnTo>
                  <a:lnTo>
                    <a:pt x="2482" y="2165"/>
                  </a:lnTo>
                  <a:lnTo>
                    <a:pt x="2493" y="2161"/>
                  </a:lnTo>
                  <a:lnTo>
                    <a:pt x="2504" y="2158"/>
                  </a:lnTo>
                  <a:lnTo>
                    <a:pt x="2516" y="2154"/>
                  </a:lnTo>
                  <a:lnTo>
                    <a:pt x="2528" y="2150"/>
                  </a:lnTo>
                  <a:lnTo>
                    <a:pt x="2538" y="2147"/>
                  </a:lnTo>
                  <a:lnTo>
                    <a:pt x="2549" y="2141"/>
                  </a:lnTo>
                  <a:lnTo>
                    <a:pt x="2560" y="2138"/>
                  </a:lnTo>
                  <a:lnTo>
                    <a:pt x="2565" y="2118"/>
                  </a:lnTo>
                  <a:lnTo>
                    <a:pt x="2573" y="2099"/>
                  </a:lnTo>
                  <a:lnTo>
                    <a:pt x="2580" y="2080"/>
                  </a:lnTo>
                  <a:lnTo>
                    <a:pt x="2589" y="2059"/>
                  </a:lnTo>
                  <a:lnTo>
                    <a:pt x="2597" y="2063"/>
                  </a:lnTo>
                  <a:lnTo>
                    <a:pt x="2603" y="2065"/>
                  </a:lnTo>
                  <a:lnTo>
                    <a:pt x="2610" y="2068"/>
                  </a:lnTo>
                  <a:lnTo>
                    <a:pt x="2618" y="2070"/>
                  </a:lnTo>
                  <a:lnTo>
                    <a:pt x="2625" y="2073"/>
                  </a:lnTo>
                  <a:lnTo>
                    <a:pt x="2634" y="2075"/>
                  </a:lnTo>
                  <a:lnTo>
                    <a:pt x="2642" y="2078"/>
                  </a:lnTo>
                  <a:lnTo>
                    <a:pt x="2650" y="2080"/>
                  </a:lnTo>
                  <a:lnTo>
                    <a:pt x="2657" y="2063"/>
                  </a:lnTo>
                  <a:lnTo>
                    <a:pt x="2664" y="2046"/>
                  </a:lnTo>
                  <a:lnTo>
                    <a:pt x="2668" y="2028"/>
                  </a:lnTo>
                  <a:lnTo>
                    <a:pt x="2673" y="2012"/>
                  </a:lnTo>
                  <a:lnTo>
                    <a:pt x="2678" y="2007"/>
                  </a:lnTo>
                  <a:lnTo>
                    <a:pt x="2683" y="2002"/>
                  </a:lnTo>
                  <a:lnTo>
                    <a:pt x="2689" y="1998"/>
                  </a:lnTo>
                  <a:lnTo>
                    <a:pt x="2694" y="1991"/>
                  </a:lnTo>
                  <a:lnTo>
                    <a:pt x="2700" y="1987"/>
                  </a:lnTo>
                  <a:lnTo>
                    <a:pt x="2705" y="1982"/>
                  </a:lnTo>
                  <a:lnTo>
                    <a:pt x="2712" y="1976"/>
                  </a:lnTo>
                  <a:lnTo>
                    <a:pt x="2716" y="1971"/>
                  </a:lnTo>
                  <a:lnTo>
                    <a:pt x="2726" y="1955"/>
                  </a:lnTo>
                  <a:lnTo>
                    <a:pt x="2736" y="1940"/>
                  </a:lnTo>
                  <a:lnTo>
                    <a:pt x="2747" y="1924"/>
                  </a:lnTo>
                  <a:lnTo>
                    <a:pt x="2760" y="1908"/>
                  </a:lnTo>
                  <a:lnTo>
                    <a:pt x="2771" y="1892"/>
                  </a:lnTo>
                  <a:lnTo>
                    <a:pt x="2783" y="1877"/>
                  </a:lnTo>
                  <a:lnTo>
                    <a:pt x="2798" y="1860"/>
                  </a:lnTo>
                  <a:lnTo>
                    <a:pt x="2811" y="1844"/>
                  </a:lnTo>
                  <a:lnTo>
                    <a:pt x="2834" y="1825"/>
                  </a:lnTo>
                  <a:lnTo>
                    <a:pt x="2859" y="1804"/>
                  </a:lnTo>
                  <a:lnTo>
                    <a:pt x="2882" y="1783"/>
                  </a:lnTo>
                  <a:lnTo>
                    <a:pt x="2906" y="1764"/>
                  </a:lnTo>
                  <a:lnTo>
                    <a:pt x="2929" y="1743"/>
                  </a:lnTo>
                  <a:lnTo>
                    <a:pt x="2953" y="1722"/>
                  </a:lnTo>
                  <a:lnTo>
                    <a:pt x="2974" y="1700"/>
                  </a:lnTo>
                  <a:lnTo>
                    <a:pt x="2998" y="1678"/>
                  </a:lnTo>
                  <a:lnTo>
                    <a:pt x="3019" y="1656"/>
                  </a:lnTo>
                  <a:lnTo>
                    <a:pt x="3043" y="1635"/>
                  </a:lnTo>
                  <a:lnTo>
                    <a:pt x="3067" y="1612"/>
                  </a:lnTo>
                  <a:lnTo>
                    <a:pt x="3089" y="1589"/>
                  </a:lnTo>
                  <a:lnTo>
                    <a:pt x="3112" y="1565"/>
                  </a:lnTo>
                  <a:lnTo>
                    <a:pt x="3135" y="1542"/>
                  </a:lnTo>
                  <a:lnTo>
                    <a:pt x="3160" y="1520"/>
                  </a:lnTo>
                  <a:lnTo>
                    <a:pt x="3183" y="1496"/>
                  </a:lnTo>
                  <a:lnTo>
                    <a:pt x="3208" y="1471"/>
                  </a:lnTo>
                  <a:lnTo>
                    <a:pt x="3233" y="1448"/>
                  </a:lnTo>
                  <a:lnTo>
                    <a:pt x="3259" y="1424"/>
                  </a:lnTo>
                  <a:lnTo>
                    <a:pt x="3284" y="1400"/>
                  </a:lnTo>
                  <a:lnTo>
                    <a:pt x="3311" y="1375"/>
                  </a:lnTo>
                  <a:lnTo>
                    <a:pt x="3339" y="1350"/>
                  </a:lnTo>
                  <a:lnTo>
                    <a:pt x="3368" y="1326"/>
                  </a:lnTo>
                  <a:lnTo>
                    <a:pt x="3397" y="1302"/>
                  </a:lnTo>
                  <a:lnTo>
                    <a:pt x="3428" y="1277"/>
                  </a:lnTo>
                  <a:lnTo>
                    <a:pt x="3458" y="1252"/>
                  </a:lnTo>
                  <a:lnTo>
                    <a:pt x="3489" y="1227"/>
                  </a:lnTo>
                  <a:lnTo>
                    <a:pt x="3523" y="1201"/>
                  </a:lnTo>
                  <a:lnTo>
                    <a:pt x="3556" y="1178"/>
                  </a:lnTo>
                  <a:lnTo>
                    <a:pt x="3591" y="1152"/>
                  </a:lnTo>
                  <a:lnTo>
                    <a:pt x="3628" y="1127"/>
                  </a:lnTo>
                  <a:lnTo>
                    <a:pt x="3666" y="1102"/>
                  </a:lnTo>
                  <a:lnTo>
                    <a:pt x="3682" y="1091"/>
                  </a:lnTo>
                  <a:lnTo>
                    <a:pt x="3700" y="1080"/>
                  </a:lnTo>
                  <a:lnTo>
                    <a:pt x="3717" y="1070"/>
                  </a:lnTo>
                  <a:lnTo>
                    <a:pt x="3733" y="1059"/>
                  </a:lnTo>
                  <a:lnTo>
                    <a:pt x="3751" y="1050"/>
                  </a:lnTo>
                  <a:lnTo>
                    <a:pt x="3768" y="1039"/>
                  </a:lnTo>
                  <a:lnTo>
                    <a:pt x="3785" y="1029"/>
                  </a:lnTo>
                  <a:lnTo>
                    <a:pt x="3805" y="1020"/>
                  </a:lnTo>
                  <a:lnTo>
                    <a:pt x="3814" y="1013"/>
                  </a:lnTo>
                  <a:lnTo>
                    <a:pt x="3825" y="1009"/>
                  </a:lnTo>
                  <a:lnTo>
                    <a:pt x="3836" y="1004"/>
                  </a:lnTo>
                  <a:lnTo>
                    <a:pt x="3846" y="1000"/>
                  </a:lnTo>
                  <a:lnTo>
                    <a:pt x="3856" y="994"/>
                  </a:lnTo>
                  <a:lnTo>
                    <a:pt x="3866" y="990"/>
                  </a:lnTo>
                  <a:lnTo>
                    <a:pt x="3876" y="983"/>
                  </a:lnTo>
                  <a:lnTo>
                    <a:pt x="3888" y="978"/>
                  </a:lnTo>
                  <a:lnTo>
                    <a:pt x="3906" y="967"/>
                  </a:lnTo>
                  <a:lnTo>
                    <a:pt x="3925" y="956"/>
                  </a:lnTo>
                  <a:lnTo>
                    <a:pt x="3943" y="946"/>
                  </a:lnTo>
                  <a:lnTo>
                    <a:pt x="3961" y="933"/>
                  </a:lnTo>
                  <a:lnTo>
                    <a:pt x="3980" y="923"/>
                  </a:lnTo>
                  <a:lnTo>
                    <a:pt x="3998" y="910"/>
                  </a:lnTo>
                  <a:lnTo>
                    <a:pt x="4017" y="899"/>
                  </a:lnTo>
                  <a:lnTo>
                    <a:pt x="4035" y="887"/>
                  </a:lnTo>
                  <a:lnTo>
                    <a:pt x="4047" y="879"/>
                  </a:lnTo>
                  <a:lnTo>
                    <a:pt x="4060" y="869"/>
                  </a:lnTo>
                  <a:lnTo>
                    <a:pt x="4071" y="860"/>
                  </a:lnTo>
                  <a:lnTo>
                    <a:pt x="4085" y="851"/>
                  </a:lnTo>
                  <a:lnTo>
                    <a:pt x="4097" y="842"/>
                  </a:lnTo>
                  <a:lnTo>
                    <a:pt x="4111" y="833"/>
                  </a:lnTo>
                  <a:lnTo>
                    <a:pt x="4123" y="825"/>
                  </a:lnTo>
                  <a:lnTo>
                    <a:pt x="4136" y="815"/>
                  </a:lnTo>
                  <a:lnTo>
                    <a:pt x="4141" y="803"/>
                  </a:lnTo>
                  <a:lnTo>
                    <a:pt x="4146" y="792"/>
                  </a:lnTo>
                  <a:lnTo>
                    <a:pt x="4152" y="781"/>
                  </a:lnTo>
                  <a:lnTo>
                    <a:pt x="4156" y="772"/>
                  </a:lnTo>
                  <a:lnTo>
                    <a:pt x="4165" y="764"/>
                  </a:lnTo>
                  <a:lnTo>
                    <a:pt x="4172" y="759"/>
                  </a:lnTo>
                  <a:lnTo>
                    <a:pt x="4180" y="751"/>
                  </a:lnTo>
                  <a:lnTo>
                    <a:pt x="4189" y="745"/>
                  </a:lnTo>
                  <a:lnTo>
                    <a:pt x="4198" y="738"/>
                  </a:lnTo>
                  <a:lnTo>
                    <a:pt x="4207" y="732"/>
                  </a:lnTo>
                  <a:lnTo>
                    <a:pt x="4215" y="725"/>
                  </a:lnTo>
                  <a:lnTo>
                    <a:pt x="4224" y="719"/>
                  </a:lnTo>
                  <a:lnTo>
                    <a:pt x="4227" y="725"/>
                  </a:lnTo>
                  <a:lnTo>
                    <a:pt x="4230" y="731"/>
                  </a:lnTo>
                  <a:lnTo>
                    <a:pt x="4233" y="737"/>
                  </a:lnTo>
                  <a:lnTo>
                    <a:pt x="4235" y="743"/>
                  </a:lnTo>
                  <a:lnTo>
                    <a:pt x="4249" y="734"/>
                  </a:lnTo>
                  <a:lnTo>
                    <a:pt x="4261" y="728"/>
                  </a:lnTo>
                  <a:lnTo>
                    <a:pt x="4275" y="719"/>
                  </a:lnTo>
                  <a:lnTo>
                    <a:pt x="4289" y="711"/>
                  </a:lnTo>
                  <a:lnTo>
                    <a:pt x="4302" y="704"/>
                  </a:lnTo>
                  <a:lnTo>
                    <a:pt x="4316" y="695"/>
                  </a:lnTo>
                  <a:lnTo>
                    <a:pt x="4330" y="688"/>
                  </a:lnTo>
                  <a:lnTo>
                    <a:pt x="4341" y="681"/>
                  </a:lnTo>
                  <a:lnTo>
                    <a:pt x="4351" y="666"/>
                  </a:lnTo>
                  <a:lnTo>
                    <a:pt x="4360" y="649"/>
                  </a:lnTo>
                  <a:lnTo>
                    <a:pt x="4369" y="633"/>
                  </a:lnTo>
                  <a:lnTo>
                    <a:pt x="4378" y="619"/>
                  </a:lnTo>
                  <a:lnTo>
                    <a:pt x="4389" y="609"/>
                  </a:lnTo>
                  <a:lnTo>
                    <a:pt x="4401" y="600"/>
                  </a:lnTo>
                  <a:lnTo>
                    <a:pt x="4413" y="592"/>
                  </a:lnTo>
                  <a:lnTo>
                    <a:pt x="4426" y="584"/>
                  </a:lnTo>
                  <a:lnTo>
                    <a:pt x="4437" y="576"/>
                  </a:lnTo>
                  <a:lnTo>
                    <a:pt x="4449" y="567"/>
                  </a:lnTo>
                  <a:lnTo>
                    <a:pt x="4459" y="556"/>
                  </a:lnTo>
                  <a:lnTo>
                    <a:pt x="4470" y="548"/>
                  </a:lnTo>
                  <a:lnTo>
                    <a:pt x="4475" y="534"/>
                  </a:lnTo>
                  <a:lnTo>
                    <a:pt x="4479" y="519"/>
                  </a:lnTo>
                  <a:lnTo>
                    <a:pt x="4483" y="505"/>
                  </a:lnTo>
                  <a:lnTo>
                    <a:pt x="4490" y="489"/>
                  </a:lnTo>
                  <a:lnTo>
                    <a:pt x="4500" y="481"/>
                  </a:lnTo>
                  <a:lnTo>
                    <a:pt x="4514" y="473"/>
                  </a:lnTo>
                  <a:lnTo>
                    <a:pt x="4525" y="466"/>
                  </a:lnTo>
                  <a:lnTo>
                    <a:pt x="4537" y="457"/>
                  </a:lnTo>
                  <a:lnTo>
                    <a:pt x="4548" y="448"/>
                  </a:lnTo>
                  <a:lnTo>
                    <a:pt x="4561" y="439"/>
                  </a:lnTo>
                  <a:lnTo>
                    <a:pt x="4571" y="432"/>
                  </a:lnTo>
                  <a:lnTo>
                    <a:pt x="4581" y="424"/>
                  </a:lnTo>
                  <a:lnTo>
                    <a:pt x="4595" y="420"/>
                  </a:lnTo>
                  <a:lnTo>
                    <a:pt x="4609" y="416"/>
                  </a:lnTo>
                  <a:lnTo>
                    <a:pt x="4622" y="412"/>
                  </a:lnTo>
                  <a:lnTo>
                    <a:pt x="4634" y="408"/>
                  </a:lnTo>
                  <a:lnTo>
                    <a:pt x="4648" y="403"/>
                  </a:lnTo>
                  <a:lnTo>
                    <a:pt x="4660" y="400"/>
                  </a:lnTo>
                  <a:lnTo>
                    <a:pt x="4672" y="395"/>
                  </a:lnTo>
                  <a:lnTo>
                    <a:pt x="4685" y="392"/>
                  </a:lnTo>
                  <a:lnTo>
                    <a:pt x="4692" y="384"/>
                  </a:lnTo>
                  <a:lnTo>
                    <a:pt x="4698" y="375"/>
                  </a:lnTo>
                  <a:lnTo>
                    <a:pt x="4704" y="368"/>
                  </a:lnTo>
                  <a:lnTo>
                    <a:pt x="4710" y="359"/>
                  </a:lnTo>
                  <a:lnTo>
                    <a:pt x="4716" y="351"/>
                  </a:lnTo>
                  <a:lnTo>
                    <a:pt x="4722" y="342"/>
                  </a:lnTo>
                  <a:lnTo>
                    <a:pt x="4728" y="333"/>
                  </a:lnTo>
                  <a:lnTo>
                    <a:pt x="4735" y="324"/>
                  </a:lnTo>
                  <a:lnTo>
                    <a:pt x="4745" y="318"/>
                  </a:lnTo>
                  <a:lnTo>
                    <a:pt x="4755" y="311"/>
                  </a:lnTo>
                  <a:lnTo>
                    <a:pt x="4764" y="305"/>
                  </a:lnTo>
                  <a:lnTo>
                    <a:pt x="4773" y="298"/>
                  </a:lnTo>
                  <a:lnTo>
                    <a:pt x="4784" y="291"/>
                  </a:lnTo>
                  <a:lnTo>
                    <a:pt x="4793" y="284"/>
                  </a:lnTo>
                  <a:lnTo>
                    <a:pt x="4802" y="277"/>
                  </a:lnTo>
                  <a:lnTo>
                    <a:pt x="4810" y="269"/>
                  </a:lnTo>
                  <a:lnTo>
                    <a:pt x="4816" y="274"/>
                  </a:lnTo>
                  <a:lnTo>
                    <a:pt x="4824" y="279"/>
                  </a:lnTo>
                  <a:lnTo>
                    <a:pt x="4831" y="285"/>
                  </a:lnTo>
                  <a:lnTo>
                    <a:pt x="4835" y="290"/>
                  </a:lnTo>
                  <a:lnTo>
                    <a:pt x="4845" y="282"/>
                  </a:lnTo>
                  <a:lnTo>
                    <a:pt x="4856" y="274"/>
                  </a:lnTo>
                  <a:lnTo>
                    <a:pt x="4865" y="266"/>
                  </a:lnTo>
                  <a:lnTo>
                    <a:pt x="4876" y="258"/>
                  </a:lnTo>
                  <a:lnTo>
                    <a:pt x="4885" y="248"/>
                  </a:lnTo>
                  <a:lnTo>
                    <a:pt x="4895" y="239"/>
                  </a:lnTo>
                  <a:lnTo>
                    <a:pt x="4906" y="231"/>
                  </a:lnTo>
                  <a:lnTo>
                    <a:pt x="4916" y="222"/>
                  </a:lnTo>
                  <a:lnTo>
                    <a:pt x="4904" y="228"/>
                  </a:lnTo>
                  <a:lnTo>
                    <a:pt x="4893" y="234"/>
                  </a:lnTo>
                  <a:lnTo>
                    <a:pt x="4881" y="241"/>
                  </a:lnTo>
                  <a:lnTo>
                    <a:pt x="4867" y="245"/>
                  </a:lnTo>
                  <a:lnTo>
                    <a:pt x="4856" y="251"/>
                  </a:lnTo>
                  <a:lnTo>
                    <a:pt x="4845" y="256"/>
                  </a:lnTo>
                  <a:lnTo>
                    <a:pt x="4833" y="261"/>
                  </a:lnTo>
                  <a:lnTo>
                    <a:pt x="4821" y="266"/>
                  </a:lnTo>
                  <a:lnTo>
                    <a:pt x="4832" y="241"/>
                  </a:lnTo>
                  <a:lnTo>
                    <a:pt x="4841" y="218"/>
                  </a:lnTo>
                  <a:lnTo>
                    <a:pt x="4847" y="194"/>
                  </a:lnTo>
                  <a:lnTo>
                    <a:pt x="4852" y="171"/>
                  </a:lnTo>
                  <a:lnTo>
                    <a:pt x="4844" y="178"/>
                  </a:lnTo>
                  <a:lnTo>
                    <a:pt x="4835" y="187"/>
                  </a:lnTo>
                  <a:lnTo>
                    <a:pt x="4826" y="195"/>
                  </a:lnTo>
                  <a:lnTo>
                    <a:pt x="4815" y="203"/>
                  </a:lnTo>
                  <a:lnTo>
                    <a:pt x="4806" y="211"/>
                  </a:lnTo>
                  <a:lnTo>
                    <a:pt x="4796" y="219"/>
                  </a:lnTo>
                  <a:lnTo>
                    <a:pt x="4785" y="228"/>
                  </a:lnTo>
                  <a:lnTo>
                    <a:pt x="4775" y="237"/>
                  </a:lnTo>
                  <a:lnTo>
                    <a:pt x="4768" y="247"/>
                  </a:lnTo>
                  <a:lnTo>
                    <a:pt x="4759" y="256"/>
                  </a:lnTo>
                  <a:lnTo>
                    <a:pt x="4752" y="266"/>
                  </a:lnTo>
                  <a:lnTo>
                    <a:pt x="4745" y="277"/>
                  </a:lnTo>
                  <a:lnTo>
                    <a:pt x="4738" y="288"/>
                  </a:lnTo>
                  <a:lnTo>
                    <a:pt x="4729" y="298"/>
                  </a:lnTo>
                  <a:lnTo>
                    <a:pt x="4722" y="309"/>
                  </a:lnTo>
                  <a:lnTo>
                    <a:pt x="4715" y="320"/>
                  </a:lnTo>
                  <a:lnTo>
                    <a:pt x="4708" y="324"/>
                  </a:lnTo>
                  <a:lnTo>
                    <a:pt x="4701" y="329"/>
                  </a:lnTo>
                  <a:lnTo>
                    <a:pt x="4694" y="335"/>
                  </a:lnTo>
                  <a:lnTo>
                    <a:pt x="4687" y="341"/>
                  </a:lnTo>
                  <a:lnTo>
                    <a:pt x="4679" y="346"/>
                  </a:lnTo>
                  <a:lnTo>
                    <a:pt x="4673" y="351"/>
                  </a:lnTo>
                  <a:lnTo>
                    <a:pt x="4667" y="355"/>
                  </a:lnTo>
                  <a:lnTo>
                    <a:pt x="4660" y="360"/>
                  </a:lnTo>
                  <a:lnTo>
                    <a:pt x="4655" y="359"/>
                  </a:lnTo>
                  <a:lnTo>
                    <a:pt x="4650" y="358"/>
                  </a:lnTo>
                  <a:lnTo>
                    <a:pt x="4646" y="355"/>
                  </a:lnTo>
                  <a:lnTo>
                    <a:pt x="4641" y="354"/>
                  </a:lnTo>
                  <a:lnTo>
                    <a:pt x="4636" y="353"/>
                  </a:lnTo>
                  <a:lnTo>
                    <a:pt x="4632" y="351"/>
                  </a:lnTo>
                  <a:lnTo>
                    <a:pt x="4626" y="349"/>
                  </a:lnTo>
                  <a:lnTo>
                    <a:pt x="4622" y="349"/>
                  </a:lnTo>
                  <a:lnTo>
                    <a:pt x="4600" y="366"/>
                  </a:lnTo>
                  <a:lnTo>
                    <a:pt x="4579" y="384"/>
                  </a:lnTo>
                  <a:lnTo>
                    <a:pt x="4558" y="402"/>
                  </a:lnTo>
                  <a:lnTo>
                    <a:pt x="4536" y="420"/>
                  </a:lnTo>
                  <a:lnTo>
                    <a:pt x="4514" y="438"/>
                  </a:lnTo>
                  <a:lnTo>
                    <a:pt x="4490" y="457"/>
                  </a:lnTo>
                  <a:lnTo>
                    <a:pt x="4469" y="476"/>
                  </a:lnTo>
                  <a:lnTo>
                    <a:pt x="4445" y="494"/>
                  </a:lnTo>
                  <a:lnTo>
                    <a:pt x="4435" y="499"/>
                  </a:lnTo>
                  <a:lnTo>
                    <a:pt x="4426" y="505"/>
                  </a:lnTo>
                  <a:lnTo>
                    <a:pt x="4415" y="509"/>
                  </a:lnTo>
                  <a:lnTo>
                    <a:pt x="4406" y="515"/>
                  </a:lnTo>
                  <a:lnTo>
                    <a:pt x="4396" y="519"/>
                  </a:lnTo>
                  <a:lnTo>
                    <a:pt x="4388" y="524"/>
                  </a:lnTo>
                  <a:lnTo>
                    <a:pt x="4378" y="530"/>
                  </a:lnTo>
                  <a:lnTo>
                    <a:pt x="4369" y="535"/>
                  </a:lnTo>
                  <a:lnTo>
                    <a:pt x="4363" y="533"/>
                  </a:lnTo>
                  <a:lnTo>
                    <a:pt x="4357" y="530"/>
                  </a:lnTo>
                  <a:lnTo>
                    <a:pt x="4351" y="528"/>
                  </a:lnTo>
                  <a:lnTo>
                    <a:pt x="4347" y="524"/>
                  </a:lnTo>
                  <a:lnTo>
                    <a:pt x="4340" y="522"/>
                  </a:lnTo>
                  <a:lnTo>
                    <a:pt x="4336" y="519"/>
                  </a:lnTo>
                  <a:lnTo>
                    <a:pt x="4330" y="517"/>
                  </a:lnTo>
                  <a:lnTo>
                    <a:pt x="4324" y="515"/>
                  </a:lnTo>
                  <a:lnTo>
                    <a:pt x="4299" y="533"/>
                  </a:lnTo>
                  <a:lnTo>
                    <a:pt x="4274" y="549"/>
                  </a:lnTo>
                  <a:lnTo>
                    <a:pt x="4249" y="568"/>
                  </a:lnTo>
                  <a:lnTo>
                    <a:pt x="4224" y="585"/>
                  </a:lnTo>
                  <a:lnTo>
                    <a:pt x="4201" y="602"/>
                  </a:lnTo>
                  <a:lnTo>
                    <a:pt x="4174" y="620"/>
                  </a:lnTo>
                  <a:lnTo>
                    <a:pt x="4150" y="637"/>
                  </a:lnTo>
                  <a:lnTo>
                    <a:pt x="4125" y="654"/>
                  </a:lnTo>
                  <a:lnTo>
                    <a:pt x="4099" y="671"/>
                  </a:lnTo>
                  <a:lnTo>
                    <a:pt x="4075" y="691"/>
                  </a:lnTo>
                  <a:lnTo>
                    <a:pt x="4050" y="707"/>
                  </a:lnTo>
                  <a:lnTo>
                    <a:pt x="4025" y="725"/>
                  </a:lnTo>
                  <a:lnTo>
                    <a:pt x="4000" y="742"/>
                  </a:lnTo>
                  <a:lnTo>
                    <a:pt x="3975" y="760"/>
                  </a:lnTo>
                  <a:lnTo>
                    <a:pt x="3950" y="778"/>
                  </a:lnTo>
                  <a:lnTo>
                    <a:pt x="3925" y="797"/>
                  </a:lnTo>
                  <a:lnTo>
                    <a:pt x="3918" y="788"/>
                  </a:lnTo>
                  <a:lnTo>
                    <a:pt x="3912" y="781"/>
                  </a:lnTo>
                  <a:lnTo>
                    <a:pt x="3906" y="771"/>
                  </a:lnTo>
                  <a:lnTo>
                    <a:pt x="3902" y="761"/>
                  </a:lnTo>
                  <a:lnTo>
                    <a:pt x="3912" y="754"/>
                  </a:lnTo>
                  <a:lnTo>
                    <a:pt x="3920" y="747"/>
                  </a:lnTo>
                  <a:lnTo>
                    <a:pt x="3931" y="738"/>
                  </a:lnTo>
                  <a:lnTo>
                    <a:pt x="3939" y="730"/>
                  </a:lnTo>
                  <a:lnTo>
                    <a:pt x="3949" y="721"/>
                  </a:lnTo>
                  <a:lnTo>
                    <a:pt x="3958" y="713"/>
                  </a:lnTo>
                  <a:lnTo>
                    <a:pt x="3969" y="704"/>
                  </a:lnTo>
                  <a:lnTo>
                    <a:pt x="3979" y="696"/>
                  </a:lnTo>
                  <a:lnTo>
                    <a:pt x="3986" y="694"/>
                  </a:lnTo>
                  <a:lnTo>
                    <a:pt x="3993" y="691"/>
                  </a:lnTo>
                  <a:lnTo>
                    <a:pt x="4000" y="691"/>
                  </a:lnTo>
                  <a:lnTo>
                    <a:pt x="4009" y="688"/>
                  </a:lnTo>
                  <a:lnTo>
                    <a:pt x="4017" y="685"/>
                  </a:lnTo>
                  <a:lnTo>
                    <a:pt x="4024" y="683"/>
                  </a:lnTo>
                  <a:lnTo>
                    <a:pt x="4033" y="680"/>
                  </a:lnTo>
                  <a:lnTo>
                    <a:pt x="4040" y="677"/>
                  </a:lnTo>
                  <a:lnTo>
                    <a:pt x="4044" y="670"/>
                  </a:lnTo>
                  <a:lnTo>
                    <a:pt x="4049" y="663"/>
                  </a:lnTo>
                  <a:lnTo>
                    <a:pt x="4054" y="657"/>
                  </a:lnTo>
                  <a:lnTo>
                    <a:pt x="4060" y="650"/>
                  </a:lnTo>
                  <a:lnTo>
                    <a:pt x="4064" y="643"/>
                  </a:lnTo>
                  <a:lnTo>
                    <a:pt x="4069" y="636"/>
                  </a:lnTo>
                  <a:lnTo>
                    <a:pt x="4075" y="628"/>
                  </a:lnTo>
                  <a:lnTo>
                    <a:pt x="4080" y="621"/>
                  </a:lnTo>
                  <a:lnTo>
                    <a:pt x="4090" y="617"/>
                  </a:lnTo>
                  <a:lnTo>
                    <a:pt x="4098" y="611"/>
                  </a:lnTo>
                  <a:lnTo>
                    <a:pt x="4109" y="606"/>
                  </a:lnTo>
                  <a:lnTo>
                    <a:pt x="4119" y="600"/>
                  </a:lnTo>
                  <a:lnTo>
                    <a:pt x="4127" y="595"/>
                  </a:lnTo>
                  <a:lnTo>
                    <a:pt x="4136" y="590"/>
                  </a:lnTo>
                  <a:lnTo>
                    <a:pt x="4146" y="584"/>
                  </a:lnTo>
                  <a:lnTo>
                    <a:pt x="4156" y="579"/>
                  </a:lnTo>
                  <a:lnTo>
                    <a:pt x="4163" y="565"/>
                  </a:lnTo>
                  <a:lnTo>
                    <a:pt x="4170" y="552"/>
                  </a:lnTo>
                  <a:lnTo>
                    <a:pt x="4176" y="539"/>
                  </a:lnTo>
                  <a:lnTo>
                    <a:pt x="4184" y="524"/>
                  </a:lnTo>
                  <a:lnTo>
                    <a:pt x="4190" y="517"/>
                  </a:lnTo>
                  <a:lnTo>
                    <a:pt x="4198" y="511"/>
                  </a:lnTo>
                  <a:lnTo>
                    <a:pt x="4205" y="505"/>
                  </a:lnTo>
                  <a:lnTo>
                    <a:pt x="4211" y="499"/>
                  </a:lnTo>
                  <a:lnTo>
                    <a:pt x="4218" y="493"/>
                  </a:lnTo>
                  <a:lnTo>
                    <a:pt x="4226" y="487"/>
                  </a:lnTo>
                  <a:lnTo>
                    <a:pt x="4234" y="481"/>
                  </a:lnTo>
                  <a:lnTo>
                    <a:pt x="4242" y="475"/>
                  </a:lnTo>
                  <a:lnTo>
                    <a:pt x="4235" y="473"/>
                  </a:lnTo>
                  <a:lnTo>
                    <a:pt x="4230" y="470"/>
                  </a:lnTo>
                  <a:lnTo>
                    <a:pt x="4224" y="468"/>
                  </a:lnTo>
                  <a:lnTo>
                    <a:pt x="4218" y="464"/>
                  </a:lnTo>
                  <a:lnTo>
                    <a:pt x="4213" y="462"/>
                  </a:lnTo>
                  <a:lnTo>
                    <a:pt x="4207" y="458"/>
                  </a:lnTo>
                  <a:lnTo>
                    <a:pt x="4202" y="455"/>
                  </a:lnTo>
                  <a:lnTo>
                    <a:pt x="4196" y="450"/>
                  </a:lnTo>
                  <a:lnTo>
                    <a:pt x="4207" y="442"/>
                  </a:lnTo>
                  <a:lnTo>
                    <a:pt x="4217" y="433"/>
                  </a:lnTo>
                  <a:lnTo>
                    <a:pt x="4228" y="425"/>
                  </a:lnTo>
                  <a:lnTo>
                    <a:pt x="4241" y="416"/>
                  </a:lnTo>
                  <a:lnTo>
                    <a:pt x="4252" y="408"/>
                  </a:lnTo>
                  <a:lnTo>
                    <a:pt x="4263" y="400"/>
                  </a:lnTo>
                  <a:lnTo>
                    <a:pt x="4274" y="392"/>
                  </a:lnTo>
                  <a:lnTo>
                    <a:pt x="4286" y="383"/>
                  </a:lnTo>
                  <a:lnTo>
                    <a:pt x="4291" y="377"/>
                  </a:lnTo>
                  <a:lnTo>
                    <a:pt x="4299" y="372"/>
                  </a:lnTo>
                  <a:lnTo>
                    <a:pt x="4307" y="366"/>
                  </a:lnTo>
                  <a:lnTo>
                    <a:pt x="4312" y="359"/>
                  </a:lnTo>
                  <a:lnTo>
                    <a:pt x="4321" y="349"/>
                  </a:lnTo>
                  <a:lnTo>
                    <a:pt x="4332" y="337"/>
                  </a:lnTo>
                  <a:lnTo>
                    <a:pt x="4339" y="326"/>
                  </a:lnTo>
                  <a:lnTo>
                    <a:pt x="4347" y="315"/>
                  </a:lnTo>
                  <a:lnTo>
                    <a:pt x="4356" y="304"/>
                  </a:lnTo>
                  <a:lnTo>
                    <a:pt x="4364" y="293"/>
                  </a:lnTo>
                  <a:lnTo>
                    <a:pt x="4374" y="282"/>
                  </a:lnTo>
                  <a:lnTo>
                    <a:pt x="4382" y="271"/>
                  </a:lnTo>
                  <a:lnTo>
                    <a:pt x="4360" y="281"/>
                  </a:lnTo>
                  <a:lnTo>
                    <a:pt x="4341" y="290"/>
                  </a:lnTo>
                  <a:lnTo>
                    <a:pt x="4320" y="299"/>
                  </a:lnTo>
                  <a:lnTo>
                    <a:pt x="4301" y="308"/>
                  </a:lnTo>
                  <a:lnTo>
                    <a:pt x="4279" y="318"/>
                  </a:lnTo>
                  <a:lnTo>
                    <a:pt x="4259" y="327"/>
                  </a:lnTo>
                  <a:lnTo>
                    <a:pt x="4238" y="338"/>
                  </a:lnTo>
                  <a:lnTo>
                    <a:pt x="4217" y="349"/>
                  </a:lnTo>
                  <a:lnTo>
                    <a:pt x="4213" y="346"/>
                  </a:lnTo>
                  <a:lnTo>
                    <a:pt x="4209" y="343"/>
                  </a:lnTo>
                  <a:lnTo>
                    <a:pt x="4204" y="342"/>
                  </a:lnTo>
                  <a:lnTo>
                    <a:pt x="4200" y="339"/>
                  </a:lnTo>
                  <a:lnTo>
                    <a:pt x="4194" y="338"/>
                  </a:lnTo>
                  <a:lnTo>
                    <a:pt x="4189" y="335"/>
                  </a:lnTo>
                  <a:lnTo>
                    <a:pt x="4185" y="335"/>
                  </a:lnTo>
                  <a:lnTo>
                    <a:pt x="4180" y="334"/>
                  </a:lnTo>
                  <a:lnTo>
                    <a:pt x="4186" y="328"/>
                  </a:lnTo>
                  <a:lnTo>
                    <a:pt x="4194" y="322"/>
                  </a:lnTo>
                  <a:lnTo>
                    <a:pt x="4200" y="316"/>
                  </a:lnTo>
                  <a:lnTo>
                    <a:pt x="4205" y="309"/>
                  </a:lnTo>
                  <a:lnTo>
                    <a:pt x="4211" y="303"/>
                  </a:lnTo>
                  <a:lnTo>
                    <a:pt x="4217" y="297"/>
                  </a:lnTo>
                  <a:lnTo>
                    <a:pt x="4224" y="291"/>
                  </a:lnTo>
                  <a:lnTo>
                    <a:pt x="4232" y="285"/>
                  </a:lnTo>
                  <a:lnTo>
                    <a:pt x="4251" y="271"/>
                  </a:lnTo>
                  <a:lnTo>
                    <a:pt x="4272" y="253"/>
                  </a:lnTo>
                  <a:lnTo>
                    <a:pt x="4297" y="234"/>
                  </a:lnTo>
                  <a:lnTo>
                    <a:pt x="4324" y="214"/>
                  </a:lnTo>
                  <a:lnTo>
                    <a:pt x="4351" y="195"/>
                  </a:lnTo>
                  <a:lnTo>
                    <a:pt x="4376" y="177"/>
                  </a:lnTo>
                  <a:lnTo>
                    <a:pt x="4398" y="162"/>
                  </a:lnTo>
                  <a:lnTo>
                    <a:pt x="4414" y="147"/>
                  </a:lnTo>
                  <a:lnTo>
                    <a:pt x="4419" y="124"/>
                  </a:lnTo>
                  <a:lnTo>
                    <a:pt x="4415" y="112"/>
                  </a:lnTo>
                  <a:lnTo>
                    <a:pt x="4408" y="112"/>
                  </a:lnTo>
                  <a:lnTo>
                    <a:pt x="4399" y="119"/>
                  </a:lnTo>
                  <a:lnTo>
                    <a:pt x="4387" y="127"/>
                  </a:lnTo>
                  <a:lnTo>
                    <a:pt x="4376" y="135"/>
                  </a:lnTo>
                  <a:lnTo>
                    <a:pt x="4367" y="140"/>
                  </a:lnTo>
                  <a:lnTo>
                    <a:pt x="4360" y="139"/>
                  </a:lnTo>
                  <a:lnTo>
                    <a:pt x="4351" y="146"/>
                  </a:lnTo>
                  <a:lnTo>
                    <a:pt x="4338" y="152"/>
                  </a:lnTo>
                  <a:lnTo>
                    <a:pt x="4322" y="160"/>
                  </a:lnTo>
                  <a:lnTo>
                    <a:pt x="4307" y="165"/>
                  </a:lnTo>
                  <a:lnTo>
                    <a:pt x="4291" y="173"/>
                  </a:lnTo>
                  <a:lnTo>
                    <a:pt x="4275" y="178"/>
                  </a:lnTo>
                  <a:lnTo>
                    <a:pt x="4261" y="187"/>
                  </a:lnTo>
                  <a:lnTo>
                    <a:pt x="4251" y="194"/>
                  </a:lnTo>
                  <a:lnTo>
                    <a:pt x="4247" y="203"/>
                  </a:lnTo>
                  <a:lnTo>
                    <a:pt x="4244" y="213"/>
                  </a:lnTo>
                  <a:lnTo>
                    <a:pt x="4241" y="223"/>
                  </a:lnTo>
                  <a:lnTo>
                    <a:pt x="4238" y="234"/>
                  </a:lnTo>
                  <a:lnTo>
                    <a:pt x="4232" y="239"/>
                  </a:lnTo>
                  <a:lnTo>
                    <a:pt x="4227" y="245"/>
                  </a:lnTo>
                  <a:lnTo>
                    <a:pt x="4221" y="251"/>
                  </a:lnTo>
                  <a:lnTo>
                    <a:pt x="4215" y="256"/>
                  </a:lnTo>
                  <a:lnTo>
                    <a:pt x="4207" y="262"/>
                  </a:lnTo>
                  <a:lnTo>
                    <a:pt x="4202" y="267"/>
                  </a:lnTo>
                  <a:lnTo>
                    <a:pt x="4194" y="273"/>
                  </a:lnTo>
                  <a:lnTo>
                    <a:pt x="4186" y="278"/>
                  </a:lnTo>
                  <a:lnTo>
                    <a:pt x="4180" y="271"/>
                  </a:lnTo>
                  <a:lnTo>
                    <a:pt x="4176" y="264"/>
                  </a:lnTo>
                  <a:lnTo>
                    <a:pt x="4170" y="258"/>
                  </a:lnTo>
                  <a:lnTo>
                    <a:pt x="4163" y="251"/>
                  </a:lnTo>
                  <a:lnTo>
                    <a:pt x="4158" y="244"/>
                  </a:lnTo>
                  <a:lnTo>
                    <a:pt x="4150" y="238"/>
                  </a:lnTo>
                  <a:lnTo>
                    <a:pt x="4143" y="232"/>
                  </a:lnTo>
                  <a:lnTo>
                    <a:pt x="4138" y="225"/>
                  </a:lnTo>
                  <a:lnTo>
                    <a:pt x="4146" y="212"/>
                  </a:lnTo>
                  <a:lnTo>
                    <a:pt x="4154" y="200"/>
                  </a:lnTo>
                  <a:lnTo>
                    <a:pt x="4161" y="187"/>
                  </a:lnTo>
                  <a:lnTo>
                    <a:pt x="4170" y="173"/>
                  </a:lnTo>
                  <a:lnTo>
                    <a:pt x="4180" y="167"/>
                  </a:lnTo>
                  <a:lnTo>
                    <a:pt x="4188" y="160"/>
                  </a:lnTo>
                  <a:lnTo>
                    <a:pt x="4197" y="152"/>
                  </a:lnTo>
                  <a:lnTo>
                    <a:pt x="4205" y="145"/>
                  </a:lnTo>
                  <a:lnTo>
                    <a:pt x="4214" y="137"/>
                  </a:lnTo>
                  <a:lnTo>
                    <a:pt x="4222" y="130"/>
                  </a:lnTo>
                  <a:lnTo>
                    <a:pt x="4230" y="123"/>
                  </a:lnTo>
                  <a:lnTo>
                    <a:pt x="4238" y="116"/>
                  </a:lnTo>
                  <a:lnTo>
                    <a:pt x="4245" y="106"/>
                  </a:lnTo>
                  <a:lnTo>
                    <a:pt x="4249" y="99"/>
                  </a:lnTo>
                  <a:lnTo>
                    <a:pt x="4255" y="90"/>
                  </a:lnTo>
                  <a:lnTo>
                    <a:pt x="4260" y="82"/>
                  </a:lnTo>
                  <a:lnTo>
                    <a:pt x="4266" y="73"/>
                  </a:lnTo>
                  <a:lnTo>
                    <a:pt x="4271" y="65"/>
                  </a:lnTo>
                  <a:lnTo>
                    <a:pt x="4277" y="55"/>
                  </a:lnTo>
                  <a:lnTo>
                    <a:pt x="4284" y="47"/>
                  </a:lnTo>
                  <a:lnTo>
                    <a:pt x="4274" y="48"/>
                  </a:lnTo>
                  <a:lnTo>
                    <a:pt x="4264" y="50"/>
                  </a:lnTo>
                  <a:lnTo>
                    <a:pt x="4255" y="52"/>
                  </a:lnTo>
                  <a:lnTo>
                    <a:pt x="4245" y="52"/>
                  </a:lnTo>
                  <a:lnTo>
                    <a:pt x="4234" y="55"/>
                  </a:lnTo>
                  <a:lnTo>
                    <a:pt x="4224" y="56"/>
                  </a:lnTo>
                  <a:lnTo>
                    <a:pt x="4214" y="59"/>
                  </a:lnTo>
                  <a:lnTo>
                    <a:pt x="4204" y="60"/>
                  </a:lnTo>
                  <a:lnTo>
                    <a:pt x="4207" y="44"/>
                  </a:lnTo>
                  <a:lnTo>
                    <a:pt x="4211" y="30"/>
                  </a:lnTo>
                  <a:lnTo>
                    <a:pt x="4213" y="16"/>
                  </a:lnTo>
                  <a:lnTo>
                    <a:pt x="4215" y="0"/>
                  </a:lnTo>
                  <a:lnTo>
                    <a:pt x="4205" y="7"/>
                  </a:lnTo>
                  <a:lnTo>
                    <a:pt x="4196" y="13"/>
                  </a:lnTo>
                  <a:lnTo>
                    <a:pt x="4185" y="19"/>
                  </a:lnTo>
                  <a:lnTo>
                    <a:pt x="4176" y="26"/>
                  </a:lnTo>
                  <a:lnTo>
                    <a:pt x="4167" y="33"/>
                  </a:lnTo>
                  <a:lnTo>
                    <a:pt x="4158" y="41"/>
                  </a:lnTo>
                  <a:lnTo>
                    <a:pt x="4150" y="48"/>
                  </a:lnTo>
                  <a:lnTo>
                    <a:pt x="4139" y="55"/>
                  </a:lnTo>
                  <a:lnTo>
                    <a:pt x="4134" y="63"/>
                  </a:lnTo>
                  <a:lnTo>
                    <a:pt x="4129" y="73"/>
                  </a:lnTo>
                  <a:lnTo>
                    <a:pt x="4123" y="82"/>
                  </a:lnTo>
                  <a:lnTo>
                    <a:pt x="4119" y="92"/>
                  </a:lnTo>
                  <a:lnTo>
                    <a:pt x="4113" y="102"/>
                  </a:lnTo>
                  <a:lnTo>
                    <a:pt x="4108" y="112"/>
                  </a:lnTo>
                  <a:lnTo>
                    <a:pt x="4101" y="123"/>
                  </a:lnTo>
                  <a:lnTo>
                    <a:pt x="4097" y="134"/>
                  </a:lnTo>
                  <a:lnTo>
                    <a:pt x="4088" y="134"/>
                  </a:lnTo>
                  <a:lnTo>
                    <a:pt x="4080" y="134"/>
                  </a:lnTo>
                  <a:lnTo>
                    <a:pt x="4071" y="134"/>
                  </a:lnTo>
                  <a:lnTo>
                    <a:pt x="4064" y="134"/>
                  </a:lnTo>
                  <a:lnTo>
                    <a:pt x="4054" y="134"/>
                  </a:lnTo>
                  <a:lnTo>
                    <a:pt x="4047" y="134"/>
                  </a:lnTo>
                  <a:lnTo>
                    <a:pt x="4038" y="134"/>
                  </a:lnTo>
                  <a:lnTo>
                    <a:pt x="4030" y="133"/>
                  </a:lnTo>
                  <a:lnTo>
                    <a:pt x="4016" y="143"/>
                  </a:lnTo>
                  <a:lnTo>
                    <a:pt x="4000" y="154"/>
                  </a:lnTo>
                  <a:lnTo>
                    <a:pt x="3986" y="165"/>
                  </a:lnTo>
                  <a:lnTo>
                    <a:pt x="3972" y="175"/>
                  </a:lnTo>
                  <a:lnTo>
                    <a:pt x="3956" y="186"/>
                  </a:lnTo>
                  <a:lnTo>
                    <a:pt x="3941" y="197"/>
                  </a:lnTo>
                  <a:lnTo>
                    <a:pt x="3928" y="207"/>
                  </a:lnTo>
                  <a:lnTo>
                    <a:pt x="3910" y="218"/>
                  </a:lnTo>
                  <a:lnTo>
                    <a:pt x="3863" y="251"/>
                  </a:lnTo>
                  <a:lnTo>
                    <a:pt x="3815" y="280"/>
                  </a:lnTo>
                  <a:lnTo>
                    <a:pt x="3768" y="307"/>
                  </a:lnTo>
                  <a:lnTo>
                    <a:pt x="3720" y="331"/>
                  </a:lnTo>
                  <a:lnTo>
                    <a:pt x="3672" y="357"/>
                  </a:lnTo>
                  <a:lnTo>
                    <a:pt x="3625" y="381"/>
                  </a:lnTo>
                  <a:lnTo>
                    <a:pt x="3577" y="405"/>
                  </a:lnTo>
                  <a:lnTo>
                    <a:pt x="3530" y="428"/>
                  </a:lnTo>
                  <a:lnTo>
                    <a:pt x="3483" y="456"/>
                  </a:lnTo>
                  <a:lnTo>
                    <a:pt x="3436" y="485"/>
                  </a:lnTo>
                  <a:lnTo>
                    <a:pt x="3389" y="516"/>
                  </a:lnTo>
                  <a:lnTo>
                    <a:pt x="3342" y="549"/>
                  </a:lnTo>
                  <a:lnTo>
                    <a:pt x="3296" y="590"/>
                  </a:lnTo>
                  <a:lnTo>
                    <a:pt x="3250" y="633"/>
                  </a:lnTo>
                  <a:lnTo>
                    <a:pt x="3203" y="682"/>
                  </a:lnTo>
                  <a:lnTo>
                    <a:pt x="3155" y="736"/>
                  </a:lnTo>
                  <a:lnTo>
                    <a:pt x="3112" y="764"/>
                  </a:lnTo>
                  <a:lnTo>
                    <a:pt x="3078" y="786"/>
                  </a:lnTo>
                  <a:lnTo>
                    <a:pt x="3052" y="803"/>
                  </a:lnTo>
                  <a:lnTo>
                    <a:pt x="3036" y="812"/>
                  </a:lnTo>
                  <a:lnTo>
                    <a:pt x="3028" y="815"/>
                  </a:lnTo>
                  <a:lnTo>
                    <a:pt x="3026" y="814"/>
                  </a:lnTo>
                  <a:lnTo>
                    <a:pt x="3028" y="809"/>
                  </a:lnTo>
                  <a:lnTo>
                    <a:pt x="3035" y="800"/>
                  </a:lnTo>
                  <a:lnTo>
                    <a:pt x="3044" y="790"/>
                  </a:lnTo>
                  <a:lnTo>
                    <a:pt x="3055" y="778"/>
                  </a:lnTo>
                  <a:lnTo>
                    <a:pt x="3070" y="766"/>
                  </a:lnTo>
                  <a:lnTo>
                    <a:pt x="3083" y="754"/>
                  </a:lnTo>
                  <a:lnTo>
                    <a:pt x="3094" y="743"/>
                  </a:lnTo>
                  <a:lnTo>
                    <a:pt x="3104" y="732"/>
                  </a:lnTo>
                  <a:lnTo>
                    <a:pt x="3112" y="725"/>
                  </a:lnTo>
                  <a:lnTo>
                    <a:pt x="3114" y="721"/>
                  </a:lnTo>
                  <a:lnTo>
                    <a:pt x="3136" y="710"/>
                  </a:lnTo>
                  <a:lnTo>
                    <a:pt x="3154" y="700"/>
                  </a:lnTo>
                  <a:lnTo>
                    <a:pt x="3167" y="691"/>
                  </a:lnTo>
                  <a:lnTo>
                    <a:pt x="3175" y="685"/>
                  </a:lnTo>
                  <a:lnTo>
                    <a:pt x="3180" y="682"/>
                  </a:lnTo>
                  <a:lnTo>
                    <a:pt x="3183" y="677"/>
                  </a:lnTo>
                  <a:lnTo>
                    <a:pt x="3180" y="675"/>
                  </a:lnTo>
                  <a:lnTo>
                    <a:pt x="3177" y="674"/>
                  </a:lnTo>
                  <a:lnTo>
                    <a:pt x="3173" y="674"/>
                  </a:lnTo>
                  <a:lnTo>
                    <a:pt x="3169" y="674"/>
                  </a:lnTo>
                  <a:lnTo>
                    <a:pt x="3164" y="673"/>
                  </a:lnTo>
                  <a:lnTo>
                    <a:pt x="3160" y="671"/>
                  </a:lnTo>
                  <a:lnTo>
                    <a:pt x="3158" y="669"/>
                  </a:lnTo>
                  <a:lnTo>
                    <a:pt x="3158" y="666"/>
                  </a:lnTo>
                  <a:lnTo>
                    <a:pt x="3160" y="660"/>
                  </a:lnTo>
                  <a:lnTo>
                    <a:pt x="3165" y="654"/>
                  </a:lnTo>
                  <a:lnTo>
                    <a:pt x="3173" y="645"/>
                  </a:lnTo>
                  <a:lnTo>
                    <a:pt x="3185" y="633"/>
                  </a:lnTo>
                  <a:lnTo>
                    <a:pt x="3203" y="620"/>
                  </a:lnTo>
                  <a:lnTo>
                    <a:pt x="3225" y="603"/>
                  </a:lnTo>
                  <a:lnTo>
                    <a:pt x="3253" y="584"/>
                  </a:lnTo>
                  <a:lnTo>
                    <a:pt x="3287" y="560"/>
                  </a:lnTo>
                  <a:lnTo>
                    <a:pt x="3327" y="533"/>
                  </a:lnTo>
                  <a:lnTo>
                    <a:pt x="3375" y="503"/>
                  </a:lnTo>
                  <a:lnTo>
                    <a:pt x="3432" y="466"/>
                  </a:lnTo>
                  <a:lnTo>
                    <a:pt x="3495" y="426"/>
                  </a:lnTo>
                  <a:lnTo>
                    <a:pt x="3569" y="383"/>
                  </a:lnTo>
                  <a:lnTo>
                    <a:pt x="3651" y="331"/>
                  </a:lnTo>
                  <a:lnTo>
                    <a:pt x="3744" y="278"/>
                  </a:lnTo>
                  <a:lnTo>
                    <a:pt x="3849" y="216"/>
                  </a:lnTo>
                  <a:lnTo>
                    <a:pt x="3962" y="150"/>
                  </a:lnTo>
                  <a:lnTo>
                    <a:pt x="3989" y="133"/>
                  </a:lnTo>
                  <a:lnTo>
                    <a:pt x="4011" y="116"/>
                  </a:lnTo>
                  <a:lnTo>
                    <a:pt x="4029" y="99"/>
                  </a:lnTo>
                  <a:lnTo>
                    <a:pt x="4042" y="84"/>
                  </a:lnTo>
                  <a:lnTo>
                    <a:pt x="4050" y="71"/>
                  </a:lnTo>
                  <a:lnTo>
                    <a:pt x="4054" y="61"/>
                  </a:lnTo>
                  <a:lnTo>
                    <a:pt x="4054" y="54"/>
                  </a:lnTo>
                  <a:lnTo>
                    <a:pt x="4050" y="52"/>
                  </a:lnTo>
                  <a:lnTo>
                    <a:pt x="4025" y="56"/>
                  </a:lnTo>
                  <a:lnTo>
                    <a:pt x="3998" y="69"/>
                  </a:lnTo>
                  <a:lnTo>
                    <a:pt x="3972" y="88"/>
                  </a:lnTo>
                  <a:lnTo>
                    <a:pt x="3944" y="106"/>
                  </a:lnTo>
                  <a:lnTo>
                    <a:pt x="3920" y="126"/>
                  </a:lnTo>
                  <a:lnTo>
                    <a:pt x="3899" y="139"/>
                  </a:lnTo>
                  <a:lnTo>
                    <a:pt x="3883" y="143"/>
                  </a:lnTo>
                  <a:lnTo>
                    <a:pt x="3870" y="133"/>
                  </a:lnTo>
                  <a:lnTo>
                    <a:pt x="3857" y="154"/>
                  </a:lnTo>
                  <a:lnTo>
                    <a:pt x="3855" y="162"/>
                  </a:lnTo>
                  <a:lnTo>
                    <a:pt x="3857" y="160"/>
                  </a:lnTo>
                  <a:lnTo>
                    <a:pt x="3860" y="151"/>
                  </a:lnTo>
                  <a:lnTo>
                    <a:pt x="3858" y="143"/>
                  </a:lnTo>
                  <a:lnTo>
                    <a:pt x="3845" y="143"/>
                  </a:lnTo>
                  <a:lnTo>
                    <a:pt x="3813" y="152"/>
                  </a:lnTo>
                  <a:lnTo>
                    <a:pt x="3759" y="177"/>
                  </a:lnTo>
                  <a:lnTo>
                    <a:pt x="3741" y="187"/>
                  </a:lnTo>
                  <a:lnTo>
                    <a:pt x="3722" y="197"/>
                  </a:lnTo>
                  <a:lnTo>
                    <a:pt x="3702" y="208"/>
                  </a:lnTo>
                  <a:lnTo>
                    <a:pt x="3678" y="222"/>
                  </a:lnTo>
                  <a:lnTo>
                    <a:pt x="3656" y="237"/>
                  </a:lnTo>
                  <a:lnTo>
                    <a:pt x="3630" y="251"/>
                  </a:lnTo>
                  <a:lnTo>
                    <a:pt x="3603" y="267"/>
                  </a:lnTo>
                  <a:lnTo>
                    <a:pt x="3577" y="284"/>
                  </a:lnTo>
                  <a:lnTo>
                    <a:pt x="3548" y="301"/>
                  </a:lnTo>
                  <a:lnTo>
                    <a:pt x="3520" y="318"/>
                  </a:lnTo>
                  <a:lnTo>
                    <a:pt x="3491" y="337"/>
                  </a:lnTo>
                  <a:lnTo>
                    <a:pt x="3460" y="357"/>
                  </a:lnTo>
                  <a:lnTo>
                    <a:pt x="3431" y="375"/>
                  </a:lnTo>
                  <a:lnTo>
                    <a:pt x="3400" y="395"/>
                  </a:lnTo>
                  <a:lnTo>
                    <a:pt x="3368" y="415"/>
                  </a:lnTo>
                  <a:lnTo>
                    <a:pt x="3338" y="435"/>
                  </a:lnTo>
                  <a:lnTo>
                    <a:pt x="3307" y="456"/>
                  </a:lnTo>
                  <a:lnTo>
                    <a:pt x="3274" y="476"/>
                  </a:lnTo>
                  <a:lnTo>
                    <a:pt x="3244" y="496"/>
                  </a:lnTo>
                  <a:lnTo>
                    <a:pt x="3214" y="516"/>
                  </a:lnTo>
                  <a:lnTo>
                    <a:pt x="3184" y="535"/>
                  </a:lnTo>
                  <a:lnTo>
                    <a:pt x="3154" y="556"/>
                  </a:lnTo>
                  <a:lnTo>
                    <a:pt x="3127" y="574"/>
                  </a:lnTo>
                  <a:lnTo>
                    <a:pt x="3098" y="594"/>
                  </a:lnTo>
                  <a:lnTo>
                    <a:pt x="3072" y="611"/>
                  </a:lnTo>
                  <a:lnTo>
                    <a:pt x="3046" y="628"/>
                  </a:lnTo>
                  <a:lnTo>
                    <a:pt x="3022" y="645"/>
                  </a:lnTo>
                  <a:lnTo>
                    <a:pt x="2998" y="660"/>
                  </a:lnTo>
                  <a:lnTo>
                    <a:pt x="2974" y="677"/>
                  </a:lnTo>
                  <a:lnTo>
                    <a:pt x="2955" y="691"/>
                  </a:lnTo>
                  <a:lnTo>
                    <a:pt x="2936" y="704"/>
                  </a:lnTo>
                  <a:lnTo>
                    <a:pt x="2918" y="715"/>
                  </a:lnTo>
                  <a:lnTo>
                    <a:pt x="2869" y="749"/>
                  </a:lnTo>
                  <a:lnTo>
                    <a:pt x="2819" y="783"/>
                  </a:lnTo>
                  <a:lnTo>
                    <a:pt x="2771" y="816"/>
                  </a:lnTo>
                  <a:lnTo>
                    <a:pt x="2723" y="847"/>
                  </a:lnTo>
                  <a:lnTo>
                    <a:pt x="2675" y="879"/>
                  </a:lnTo>
                  <a:lnTo>
                    <a:pt x="2628" y="910"/>
                  </a:lnTo>
                  <a:lnTo>
                    <a:pt x="2581" y="940"/>
                  </a:lnTo>
                  <a:lnTo>
                    <a:pt x="2536" y="970"/>
                  </a:lnTo>
                  <a:lnTo>
                    <a:pt x="2491" y="1000"/>
                  </a:lnTo>
                  <a:lnTo>
                    <a:pt x="2447" y="1031"/>
                  </a:lnTo>
                  <a:lnTo>
                    <a:pt x="2402" y="1060"/>
                  </a:lnTo>
                  <a:lnTo>
                    <a:pt x="2359" y="1089"/>
                  </a:lnTo>
                  <a:lnTo>
                    <a:pt x="2316" y="1117"/>
                  </a:lnTo>
                  <a:lnTo>
                    <a:pt x="2273" y="1148"/>
                  </a:lnTo>
                  <a:lnTo>
                    <a:pt x="2232" y="1178"/>
                  </a:lnTo>
                  <a:lnTo>
                    <a:pt x="2191" y="1206"/>
                  </a:lnTo>
                  <a:lnTo>
                    <a:pt x="2168" y="1227"/>
                  </a:lnTo>
                  <a:lnTo>
                    <a:pt x="2146" y="1249"/>
                  </a:lnTo>
                  <a:lnTo>
                    <a:pt x="2125" y="1271"/>
                  </a:lnTo>
                  <a:lnTo>
                    <a:pt x="2104" y="1293"/>
                  </a:lnTo>
                  <a:lnTo>
                    <a:pt x="2085" y="1316"/>
                  </a:lnTo>
                  <a:lnTo>
                    <a:pt x="2065" y="1338"/>
                  </a:lnTo>
                  <a:lnTo>
                    <a:pt x="2048" y="1362"/>
                  </a:lnTo>
                  <a:lnTo>
                    <a:pt x="2029" y="1384"/>
                  </a:lnTo>
                  <a:lnTo>
                    <a:pt x="2010" y="1407"/>
                  </a:lnTo>
                  <a:lnTo>
                    <a:pt x="1994" y="1430"/>
                  </a:lnTo>
                  <a:lnTo>
                    <a:pt x="1975" y="1453"/>
                  </a:lnTo>
                  <a:lnTo>
                    <a:pt x="1957" y="1475"/>
                  </a:lnTo>
                  <a:lnTo>
                    <a:pt x="1938" y="1498"/>
                  </a:lnTo>
                  <a:lnTo>
                    <a:pt x="1920" y="1518"/>
                  </a:lnTo>
                  <a:lnTo>
                    <a:pt x="1901" y="1539"/>
                  </a:lnTo>
                  <a:lnTo>
                    <a:pt x="1881" y="1559"/>
                  </a:lnTo>
                  <a:lnTo>
                    <a:pt x="1859" y="1580"/>
                  </a:lnTo>
                  <a:lnTo>
                    <a:pt x="1835" y="1607"/>
                  </a:lnTo>
                  <a:lnTo>
                    <a:pt x="1811" y="1637"/>
                  </a:lnTo>
                  <a:lnTo>
                    <a:pt x="1786" y="1671"/>
                  </a:lnTo>
                  <a:lnTo>
                    <a:pt x="1762" y="1704"/>
                  </a:lnTo>
                  <a:lnTo>
                    <a:pt x="1738" y="1734"/>
                  </a:lnTo>
                  <a:lnTo>
                    <a:pt x="1717" y="1760"/>
                  </a:lnTo>
                  <a:lnTo>
                    <a:pt x="1697" y="1779"/>
                  </a:lnTo>
                  <a:lnTo>
                    <a:pt x="1669" y="1799"/>
                  </a:lnTo>
                  <a:lnTo>
                    <a:pt x="1651" y="1814"/>
                  </a:lnTo>
                  <a:lnTo>
                    <a:pt x="1638" y="1823"/>
                  </a:lnTo>
                  <a:lnTo>
                    <a:pt x="1629" y="1830"/>
                  </a:lnTo>
                  <a:lnTo>
                    <a:pt x="1618" y="1836"/>
                  </a:lnTo>
                  <a:lnTo>
                    <a:pt x="1607" y="1846"/>
                  </a:lnTo>
                  <a:lnTo>
                    <a:pt x="1593" y="1859"/>
                  </a:lnTo>
                  <a:lnTo>
                    <a:pt x="1571" y="1880"/>
                  </a:lnTo>
                  <a:lnTo>
                    <a:pt x="1550" y="1913"/>
                  </a:lnTo>
                  <a:lnTo>
                    <a:pt x="1531" y="1947"/>
                  </a:lnTo>
                  <a:lnTo>
                    <a:pt x="1514" y="1983"/>
                  </a:lnTo>
                  <a:lnTo>
                    <a:pt x="1499" y="2021"/>
                  </a:lnTo>
                  <a:lnTo>
                    <a:pt x="1482" y="2057"/>
                  </a:lnTo>
                  <a:lnTo>
                    <a:pt x="1466" y="2093"/>
                  </a:lnTo>
                  <a:lnTo>
                    <a:pt x="1452" y="2128"/>
                  </a:lnTo>
                  <a:lnTo>
                    <a:pt x="1435" y="2161"/>
                  </a:lnTo>
                  <a:lnTo>
                    <a:pt x="1420" y="2132"/>
                  </a:lnTo>
                  <a:lnTo>
                    <a:pt x="1402" y="2104"/>
                  </a:lnTo>
                  <a:lnTo>
                    <a:pt x="1383" y="2075"/>
                  </a:lnTo>
                  <a:lnTo>
                    <a:pt x="1363" y="2046"/>
                  </a:lnTo>
                  <a:lnTo>
                    <a:pt x="1340" y="2018"/>
                  </a:lnTo>
                  <a:lnTo>
                    <a:pt x="1319" y="1989"/>
                  </a:lnTo>
                  <a:lnTo>
                    <a:pt x="1296" y="1961"/>
                  </a:lnTo>
                  <a:lnTo>
                    <a:pt x="1274" y="1933"/>
                  </a:lnTo>
                  <a:lnTo>
                    <a:pt x="1251" y="1903"/>
                  </a:lnTo>
                  <a:lnTo>
                    <a:pt x="1230" y="1874"/>
                  </a:lnTo>
                  <a:lnTo>
                    <a:pt x="1210" y="1847"/>
                  </a:lnTo>
                  <a:lnTo>
                    <a:pt x="1192" y="1818"/>
                  </a:lnTo>
                  <a:lnTo>
                    <a:pt x="1175" y="1789"/>
                  </a:lnTo>
                  <a:lnTo>
                    <a:pt x="1159" y="1761"/>
                  </a:lnTo>
                  <a:lnTo>
                    <a:pt x="1146" y="1732"/>
                  </a:lnTo>
                  <a:lnTo>
                    <a:pt x="1137" y="1705"/>
                  </a:lnTo>
                  <a:lnTo>
                    <a:pt x="1121" y="1665"/>
                  </a:lnTo>
                  <a:lnTo>
                    <a:pt x="1105" y="1624"/>
                  </a:lnTo>
                  <a:lnTo>
                    <a:pt x="1087" y="1580"/>
                  </a:lnTo>
                  <a:lnTo>
                    <a:pt x="1068" y="1537"/>
                  </a:lnTo>
                  <a:lnTo>
                    <a:pt x="1050" y="1493"/>
                  </a:lnTo>
                  <a:lnTo>
                    <a:pt x="1032" y="1449"/>
                  </a:lnTo>
                  <a:lnTo>
                    <a:pt x="1016" y="1407"/>
                  </a:lnTo>
                  <a:lnTo>
                    <a:pt x="1003" y="1367"/>
                  </a:lnTo>
                  <a:lnTo>
                    <a:pt x="979" y="1376"/>
                  </a:lnTo>
                  <a:lnTo>
                    <a:pt x="958" y="1386"/>
                  </a:lnTo>
                  <a:lnTo>
                    <a:pt x="935" y="1394"/>
                  </a:lnTo>
                  <a:lnTo>
                    <a:pt x="914" y="1403"/>
                  </a:lnTo>
                  <a:lnTo>
                    <a:pt x="891" y="1411"/>
                  </a:lnTo>
                  <a:lnTo>
                    <a:pt x="870" y="1418"/>
                  </a:lnTo>
                  <a:lnTo>
                    <a:pt x="847" y="1426"/>
                  </a:lnTo>
                  <a:lnTo>
                    <a:pt x="825" y="1435"/>
                  </a:lnTo>
                  <a:lnTo>
                    <a:pt x="808" y="1443"/>
                  </a:lnTo>
                  <a:lnTo>
                    <a:pt x="790" y="1450"/>
                  </a:lnTo>
                  <a:lnTo>
                    <a:pt x="773" y="1459"/>
                  </a:lnTo>
                  <a:lnTo>
                    <a:pt x="755" y="1467"/>
                  </a:lnTo>
                  <a:lnTo>
                    <a:pt x="738" y="1475"/>
                  </a:lnTo>
                  <a:lnTo>
                    <a:pt x="721" y="1484"/>
                  </a:lnTo>
                  <a:lnTo>
                    <a:pt x="704" y="1491"/>
                  </a:lnTo>
                  <a:lnTo>
                    <a:pt x="687" y="1499"/>
                  </a:lnTo>
                  <a:lnTo>
                    <a:pt x="669" y="1507"/>
                  </a:lnTo>
                  <a:lnTo>
                    <a:pt x="652" y="1515"/>
                  </a:lnTo>
                  <a:lnTo>
                    <a:pt x="636" y="1522"/>
                  </a:lnTo>
                  <a:lnTo>
                    <a:pt x="619" y="1531"/>
                  </a:lnTo>
                  <a:lnTo>
                    <a:pt x="602" y="1537"/>
                  </a:lnTo>
                  <a:lnTo>
                    <a:pt x="586" y="1546"/>
                  </a:lnTo>
                  <a:lnTo>
                    <a:pt x="569" y="1553"/>
                  </a:lnTo>
                  <a:lnTo>
                    <a:pt x="553" y="1561"/>
                  </a:lnTo>
                  <a:lnTo>
                    <a:pt x="550" y="1561"/>
                  </a:lnTo>
                  <a:lnTo>
                    <a:pt x="541" y="1561"/>
                  </a:lnTo>
                  <a:lnTo>
                    <a:pt x="527" y="1563"/>
                  </a:lnTo>
                  <a:lnTo>
                    <a:pt x="511" y="1567"/>
                  </a:lnTo>
                  <a:lnTo>
                    <a:pt x="491" y="1571"/>
                  </a:lnTo>
                  <a:lnTo>
                    <a:pt x="469" y="1577"/>
                  </a:lnTo>
                  <a:lnTo>
                    <a:pt x="445" y="1585"/>
                  </a:lnTo>
                  <a:lnTo>
                    <a:pt x="421" y="1592"/>
                  </a:lnTo>
                  <a:lnTo>
                    <a:pt x="396" y="1598"/>
                  </a:lnTo>
                  <a:lnTo>
                    <a:pt x="373" y="1605"/>
                  </a:lnTo>
                  <a:lnTo>
                    <a:pt x="351" y="1612"/>
                  </a:lnTo>
                  <a:lnTo>
                    <a:pt x="333" y="1616"/>
                  </a:lnTo>
                  <a:lnTo>
                    <a:pt x="315" y="1620"/>
                  </a:lnTo>
                  <a:lnTo>
                    <a:pt x="304" y="1624"/>
                  </a:lnTo>
                  <a:lnTo>
                    <a:pt x="297" y="1624"/>
                  </a:lnTo>
                  <a:lnTo>
                    <a:pt x="294" y="1622"/>
                  </a:lnTo>
                  <a:lnTo>
                    <a:pt x="275" y="1633"/>
                  </a:lnTo>
                  <a:lnTo>
                    <a:pt x="256" y="1643"/>
                  </a:lnTo>
                  <a:lnTo>
                    <a:pt x="237" y="1654"/>
                  </a:lnTo>
                  <a:lnTo>
                    <a:pt x="219" y="1665"/>
                  </a:lnTo>
                  <a:lnTo>
                    <a:pt x="199" y="1675"/>
                  </a:lnTo>
                  <a:lnTo>
                    <a:pt x="180" y="1685"/>
                  </a:lnTo>
                  <a:lnTo>
                    <a:pt x="161" y="1696"/>
                  </a:lnTo>
                  <a:lnTo>
                    <a:pt x="143" y="1707"/>
                  </a:lnTo>
                  <a:lnTo>
                    <a:pt x="124" y="1718"/>
                  </a:lnTo>
                  <a:lnTo>
                    <a:pt x="106" y="1729"/>
                  </a:lnTo>
                  <a:lnTo>
                    <a:pt x="87" y="1739"/>
                  </a:lnTo>
                  <a:lnTo>
                    <a:pt x="70" y="1750"/>
                  </a:lnTo>
                  <a:lnTo>
                    <a:pt x="53" y="1760"/>
                  </a:lnTo>
                  <a:lnTo>
                    <a:pt x="35" y="1771"/>
                  </a:lnTo>
                  <a:lnTo>
                    <a:pt x="18" y="1781"/>
                  </a:lnTo>
                  <a:lnTo>
                    <a:pt x="0" y="1792"/>
                  </a:lnTo>
                  <a:close/>
                </a:path>
              </a:pathLst>
            </a:custGeom>
            <a:solidFill>
              <a:srgbClr val="F58220"/>
            </a:solidFill>
            <a:ln w="19050">
              <a:solidFill>
                <a:srgbClr val="FFFFFF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196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맑은 고딕" panose="020B0200000000000000" pitchFamily="50" charset="-127"/>
                <a:ea typeface="맑은 고딕" panose="020B0200000000000000" pitchFamily="50" charset="-127"/>
                <a:sym typeface="나눔고딕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12008396-B9D7-4A7F-B5A7-19FE2B439264}"/>
                </a:ext>
              </a:extLst>
            </p:cNvPr>
            <p:cNvSpPr txBox="1"/>
            <p:nvPr/>
          </p:nvSpPr>
          <p:spPr>
            <a:xfrm>
              <a:off x="10744284" y="1602307"/>
              <a:ext cx="1065696" cy="252000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txBody>
            <a:bodyPr wrap="square" lIns="0" rtlCol="0" anchor="ctr">
              <a:noAutofit/>
            </a:bodyPr>
            <a:lstStyle/>
            <a:p>
              <a:pPr algn="r"/>
              <a:r>
                <a:rPr lang="en-US" altLang="ko-KR" sz="800"/>
                <a:t> : </a:t>
              </a:r>
              <a:r>
                <a:rPr lang="ko-KR" altLang="en-US" sz="800"/>
                <a:t>협의체 장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6765B6F2-1D67-33BD-EE25-25D7FC4A0535}"/>
                </a:ext>
              </a:extLst>
            </p:cNvPr>
            <p:cNvSpPr txBox="1"/>
            <p:nvPr/>
          </p:nvSpPr>
          <p:spPr>
            <a:xfrm>
              <a:off x="10521226" y="1644483"/>
              <a:ext cx="360000" cy="18000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r>
                <a:rPr lang="ko-KR" altLang="en-US" sz="800">
                  <a:latin typeface="+mn-ea"/>
                </a:rPr>
                <a:t>범례</a:t>
              </a: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F7E3C9D6-51EB-E4E1-9C32-76B9CADE7C83}"/>
              </a:ext>
            </a:extLst>
          </p:cNvPr>
          <p:cNvGrpSpPr/>
          <p:nvPr/>
        </p:nvGrpSpPr>
        <p:grpSpPr>
          <a:xfrm>
            <a:off x="331785" y="26929"/>
            <a:ext cx="900000" cy="180000"/>
            <a:chOff x="407985" y="52329"/>
            <a:chExt cx="900000" cy="180000"/>
          </a:xfrm>
        </p:grpSpPr>
        <p:sp>
          <p:nvSpPr>
            <p:cNvPr id="3" name="사각형: 둥근 모서리 2">
              <a:extLst>
                <a:ext uri="{FF2B5EF4-FFF2-40B4-BE49-F238E27FC236}">
                  <a16:creationId xmlns:a16="http://schemas.microsoft.com/office/drawing/2014/main" id="{5BB2F4B6-3BF3-92EE-046F-ED84D921440F}"/>
                </a:ext>
              </a:extLst>
            </p:cNvPr>
            <p:cNvSpPr/>
            <p:nvPr/>
          </p:nvSpPr>
          <p:spPr>
            <a:xfrm>
              <a:off x="407985" y="52329"/>
              <a:ext cx="180000" cy="18000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+mn-ea"/>
                </a:rPr>
                <a:t>1</a:t>
              </a:r>
            </a:p>
          </p:txBody>
        </p:sp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91DAD5B9-07AB-667E-8C80-CB27D391E07B}"/>
                </a:ext>
              </a:extLst>
            </p:cNvPr>
            <p:cNvSpPr/>
            <p:nvPr/>
          </p:nvSpPr>
          <p:spPr>
            <a:xfrm>
              <a:off x="587985" y="52329"/>
              <a:ext cx="180000" cy="18000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+mn-ea"/>
                </a:rPr>
                <a:t>2</a:t>
              </a:r>
            </a:p>
          </p:txBody>
        </p:sp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2E95337B-2722-761C-02DA-ECF079DE42C6}"/>
                </a:ext>
              </a:extLst>
            </p:cNvPr>
            <p:cNvSpPr/>
            <p:nvPr/>
          </p:nvSpPr>
          <p:spPr>
            <a:xfrm>
              <a:off x="767985" y="52329"/>
              <a:ext cx="180000" cy="18000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+mn-ea"/>
                </a:rPr>
                <a:t>3</a:t>
              </a:r>
            </a:p>
          </p:txBody>
        </p:sp>
        <p:sp>
          <p:nvSpPr>
            <p:cNvPr id="61" name="사각형: 둥근 모서리 60">
              <a:extLst>
                <a:ext uri="{FF2B5EF4-FFF2-40B4-BE49-F238E27FC236}">
                  <a16:creationId xmlns:a16="http://schemas.microsoft.com/office/drawing/2014/main" id="{7D1E4F65-7994-00C5-DE6D-02C0891D93F6}"/>
                </a:ext>
              </a:extLst>
            </p:cNvPr>
            <p:cNvSpPr/>
            <p:nvPr/>
          </p:nvSpPr>
          <p:spPr>
            <a:xfrm>
              <a:off x="947985" y="52329"/>
              <a:ext cx="180000" cy="180000"/>
            </a:xfrm>
            <a:prstGeom prst="round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+mn-ea"/>
                </a:rPr>
                <a:t>4</a:t>
              </a:r>
            </a:p>
          </p:txBody>
        </p:sp>
        <p:sp>
          <p:nvSpPr>
            <p:cNvPr id="62" name="사각형: 둥근 모서리 61">
              <a:extLst>
                <a:ext uri="{FF2B5EF4-FFF2-40B4-BE49-F238E27FC236}">
                  <a16:creationId xmlns:a16="http://schemas.microsoft.com/office/drawing/2014/main" id="{4D8B53AD-D5BD-6C7A-4EF1-6030027404E7}"/>
                </a:ext>
              </a:extLst>
            </p:cNvPr>
            <p:cNvSpPr/>
            <p:nvPr/>
          </p:nvSpPr>
          <p:spPr>
            <a:xfrm>
              <a:off x="1127985" y="52329"/>
              <a:ext cx="180000" cy="180000"/>
            </a:xfrm>
            <a:prstGeom prst="round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+mn-ea"/>
                </a:rPr>
                <a:t>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327003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텍스트 개체 틀 57">
            <a:extLst>
              <a:ext uri="{FF2B5EF4-FFF2-40B4-BE49-F238E27FC236}">
                <a16:creationId xmlns:a16="http://schemas.microsoft.com/office/drawing/2014/main" id="{F907824D-B8B1-CA0C-83C7-399C11AD261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9" name="텍스트 개체 틀 58">
            <a:extLst>
              <a:ext uri="{FF2B5EF4-FFF2-40B4-BE49-F238E27FC236}">
                <a16:creationId xmlns:a16="http://schemas.microsoft.com/office/drawing/2014/main" id="{2D38DA9D-33DD-BF9D-9A81-21E4DD95019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/>
              <a:t>AI</a:t>
            </a:r>
            <a:r>
              <a:rPr lang="ko-KR" altLang="en-US"/>
              <a:t>거버넌스 협의체를 통해 결의 및 심의 사항을 수행하고 있으며</a:t>
            </a:r>
            <a:r>
              <a:rPr lang="en-US" altLang="ko-KR"/>
              <a:t>, </a:t>
            </a:r>
            <a:r>
              <a:rPr lang="ko-KR" altLang="en-US"/>
              <a:t>세 </a:t>
            </a:r>
            <a:r>
              <a:rPr lang="ko-KR" altLang="en-US" err="1"/>
              <a:t>금융사</a:t>
            </a:r>
            <a:r>
              <a:rPr lang="ko-KR" altLang="en-US"/>
              <a:t> 모두 </a:t>
            </a:r>
            <a:r>
              <a:rPr lang="en-US" altLang="ko-KR"/>
              <a:t>2025.09</a:t>
            </a:r>
            <a:r>
              <a:rPr lang="ko-KR" altLang="en-US"/>
              <a:t>에 발표된 </a:t>
            </a:r>
            <a:r>
              <a:rPr lang="ko-KR" altLang="en-US" err="1"/>
              <a:t>고영향</a:t>
            </a:r>
            <a:r>
              <a:rPr lang="ko-KR" altLang="en-US"/>
              <a:t> 및 인공지능 안전성에 대한 활동 추가가 필요함</a:t>
            </a:r>
          </a:p>
        </p:txBody>
      </p:sp>
      <p:sp>
        <p:nvSpPr>
          <p:cNvPr id="60" name="텍스트 개체 틀 59">
            <a:extLst>
              <a:ext uri="{FF2B5EF4-FFF2-40B4-BE49-F238E27FC236}">
                <a16:creationId xmlns:a16="http://schemas.microsoft.com/office/drawing/2014/main" id="{78E65744-CC6E-DC2D-7AD1-8AF63A78D90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[Back-up] AI</a:t>
            </a:r>
            <a:r>
              <a:rPr lang="ko-KR" altLang="en-US" err="1"/>
              <a:t>거버넌스협의체</a:t>
            </a:r>
            <a:r>
              <a:rPr lang="ko-KR" altLang="en-US"/>
              <a:t> 주요 활동</a:t>
            </a:r>
          </a:p>
        </p:txBody>
      </p:sp>
      <p:sp>
        <p:nvSpPr>
          <p:cNvPr id="61" name="텍스트 개체 틀 60">
            <a:extLst>
              <a:ext uri="{FF2B5EF4-FFF2-40B4-BE49-F238E27FC236}">
                <a16:creationId xmlns:a16="http://schemas.microsoft.com/office/drawing/2014/main" id="{16396FE1-83FA-37F3-0B97-8690E21D51E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altLang="ko-KR"/>
              <a:t>AI</a:t>
            </a:r>
            <a:r>
              <a:rPr lang="ko-KR" altLang="en-US"/>
              <a:t>거버넌스 협의체 주요 결의</a:t>
            </a:r>
            <a:r>
              <a:rPr lang="en-US" altLang="ko-KR"/>
              <a:t>&amp;</a:t>
            </a:r>
            <a:r>
              <a:rPr lang="ko-KR" altLang="en-US"/>
              <a:t>심의 사항과 현황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98577107-5F55-E8FE-CD40-0A3E6F616CE9}"/>
              </a:ext>
            </a:extLst>
          </p:cNvPr>
          <p:cNvGrpSpPr/>
          <p:nvPr/>
        </p:nvGrpSpPr>
        <p:grpSpPr>
          <a:xfrm>
            <a:off x="334963" y="1736725"/>
            <a:ext cx="11557000" cy="4787900"/>
            <a:chOff x="395511" y="1881188"/>
            <a:chExt cx="11388503" cy="4572000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0EE9CA35-C2A9-0A36-A4A4-F3CEC7503CE4}"/>
                </a:ext>
              </a:extLst>
            </p:cNvPr>
            <p:cNvSpPr/>
            <p:nvPr/>
          </p:nvSpPr>
          <p:spPr>
            <a:xfrm>
              <a:off x="395515" y="5409188"/>
              <a:ext cx="702365" cy="1044000"/>
            </a:xfrm>
            <a:prstGeom prst="rect">
              <a:avLst/>
            </a:prstGeom>
            <a:solidFill>
              <a:srgbClr val="043B72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1200" b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+mn-ea"/>
                </a:rPr>
                <a:t>주요 </a:t>
              </a:r>
              <a:br>
                <a:rPr lang="en-US" altLang="ko-KR" sz="1200" b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+mn-ea"/>
                </a:rPr>
              </a:br>
              <a:r>
                <a:rPr lang="ko-KR" altLang="en-US" sz="1200" b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+mn-ea"/>
                </a:rPr>
                <a:t>현황</a:t>
              </a: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54B171BF-1829-AA62-6E1C-A748D9E16A68}"/>
                </a:ext>
              </a:extLst>
            </p:cNvPr>
            <p:cNvSpPr/>
            <p:nvPr/>
          </p:nvSpPr>
          <p:spPr>
            <a:xfrm>
              <a:off x="1170858" y="5409188"/>
              <a:ext cx="10613156" cy="1044000"/>
            </a:xfrm>
            <a:prstGeom prst="rect">
              <a:avLst/>
            </a:prstGeom>
            <a:pattFill prst="dkUpDiag">
              <a:fgClr>
                <a:schemeClr val="accent1">
                  <a:lumMod val="20000"/>
                  <a:lumOff val="80000"/>
                </a:schemeClr>
              </a:fgClr>
              <a:bgClr>
                <a:schemeClr val="bg1"/>
              </a:bgClr>
            </a:pattFill>
            <a:ln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72000" rtlCol="0" anchor="ctr"/>
            <a:lstStyle/>
            <a:p>
              <a:pPr marL="171450" indent="-17145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ko-KR" altLang="en-US" sz="1200">
                  <a:ln>
                    <a:solidFill>
                      <a:schemeClr val="accent2">
                        <a:lumMod val="60000"/>
                        <a:lumOff val="40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인공지능 기본법 및 가이드라인 </a:t>
              </a:r>
              <a:r>
                <a:rPr lang="en-US" altLang="ko-KR" sz="1200">
                  <a:ln>
                    <a:solidFill>
                      <a:schemeClr val="accent2">
                        <a:lumMod val="60000"/>
                        <a:lumOff val="40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3</a:t>
              </a:r>
              <a:r>
                <a:rPr lang="ko-KR" altLang="en-US" sz="1200">
                  <a:ln>
                    <a:solidFill>
                      <a:schemeClr val="accent2">
                        <a:lumMod val="60000"/>
                        <a:lumOff val="40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종</a:t>
              </a:r>
              <a:r>
                <a:rPr lang="en-US" altLang="ko-KR" sz="1200" baseline="30000">
                  <a:ln>
                    <a:solidFill>
                      <a:schemeClr val="accent2">
                        <a:lumMod val="60000"/>
                        <a:lumOff val="40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(</a:t>
              </a:r>
              <a:r>
                <a:rPr lang="ko-KR" altLang="en-US" sz="1200" baseline="30000">
                  <a:ln>
                    <a:solidFill>
                      <a:schemeClr val="accent2">
                        <a:lumMod val="60000"/>
                        <a:lumOff val="40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금융분야 </a:t>
              </a:r>
              <a:r>
                <a:rPr lang="en-US" altLang="ko-KR" sz="1200" baseline="30000">
                  <a:ln>
                    <a:solidFill>
                      <a:schemeClr val="accent2">
                        <a:lumMod val="60000"/>
                        <a:lumOff val="40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AI</a:t>
              </a:r>
              <a:r>
                <a:rPr lang="ko-KR" altLang="en-US" sz="1200" baseline="30000">
                  <a:ln>
                    <a:solidFill>
                      <a:schemeClr val="accent2">
                        <a:lumMod val="60000"/>
                        <a:lumOff val="40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개발</a:t>
              </a:r>
              <a:r>
                <a:rPr lang="en-US" altLang="ko-KR" sz="1200" baseline="30000">
                  <a:ln>
                    <a:solidFill>
                      <a:schemeClr val="accent2">
                        <a:lumMod val="60000"/>
                        <a:lumOff val="40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·</a:t>
              </a:r>
              <a:r>
                <a:rPr lang="ko-KR" altLang="en-US" sz="1200" baseline="30000">
                  <a:ln>
                    <a:solidFill>
                      <a:schemeClr val="accent2">
                        <a:lumMod val="60000"/>
                        <a:lumOff val="40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활용 안내서</a:t>
              </a:r>
              <a:r>
                <a:rPr lang="en-US" altLang="ko-KR" sz="1200" baseline="30000">
                  <a:ln>
                    <a:solidFill>
                      <a:schemeClr val="accent2">
                        <a:lumMod val="60000"/>
                        <a:lumOff val="40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,</a:t>
              </a:r>
              <a:r>
                <a:rPr lang="ko-KR" altLang="en-US" sz="1200" baseline="30000">
                  <a:ln>
                    <a:solidFill>
                      <a:schemeClr val="accent2">
                        <a:lumMod val="60000"/>
                        <a:lumOff val="40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 금융분야 </a:t>
              </a:r>
              <a:r>
                <a:rPr lang="en-US" altLang="ko-KR" sz="1200" baseline="30000">
                  <a:ln>
                    <a:solidFill>
                      <a:schemeClr val="accent2">
                        <a:lumMod val="60000"/>
                        <a:lumOff val="40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AI</a:t>
              </a:r>
              <a:r>
                <a:rPr lang="ko-KR" altLang="en-US" sz="1200" baseline="30000">
                  <a:ln>
                    <a:solidFill>
                      <a:schemeClr val="accent2">
                        <a:lumMod val="60000"/>
                        <a:lumOff val="40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운영 가이드라인</a:t>
              </a:r>
              <a:r>
                <a:rPr lang="en-US" altLang="ko-KR" sz="1200" baseline="30000">
                  <a:ln>
                    <a:solidFill>
                      <a:schemeClr val="accent2">
                        <a:lumMod val="60000"/>
                        <a:lumOff val="40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, </a:t>
              </a:r>
              <a:r>
                <a:rPr lang="ko-KR" altLang="en-US" sz="1200" baseline="30000">
                  <a:ln>
                    <a:solidFill>
                      <a:schemeClr val="accent2">
                        <a:lumMod val="60000"/>
                        <a:lumOff val="40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금융분야 </a:t>
              </a:r>
              <a:r>
                <a:rPr lang="en-US" altLang="ko-KR" sz="1200" baseline="30000">
                  <a:ln>
                    <a:solidFill>
                      <a:schemeClr val="accent2">
                        <a:lumMod val="60000"/>
                        <a:lumOff val="40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AI</a:t>
              </a:r>
              <a:r>
                <a:rPr lang="ko-KR" altLang="en-US" sz="1200" baseline="30000">
                  <a:ln>
                    <a:solidFill>
                      <a:schemeClr val="accent2">
                        <a:lumMod val="60000"/>
                        <a:lumOff val="40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기반 보안 가이드라인</a:t>
              </a:r>
              <a:r>
                <a:rPr lang="en-US" altLang="ko-KR" sz="1200" baseline="30000">
                  <a:ln>
                    <a:solidFill>
                      <a:schemeClr val="accent2">
                        <a:lumMod val="60000"/>
                        <a:lumOff val="40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)</a:t>
              </a:r>
              <a:r>
                <a:rPr lang="ko-KR" altLang="en-US" sz="1200">
                  <a:ln>
                    <a:solidFill>
                      <a:schemeClr val="accent2">
                        <a:lumMod val="60000"/>
                        <a:lumOff val="40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을 기반으로 협의체 주요 활동을 정의함</a:t>
              </a:r>
              <a:endPara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endParaRPr>
            </a:p>
            <a:p>
              <a:pPr marL="171450" indent="-17145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en-US" altLang="ko-KR" sz="1200" b="1" u="sng">
                  <a:ln>
                    <a:solidFill>
                      <a:schemeClr val="accent2">
                        <a:lumMod val="60000"/>
                        <a:lumOff val="40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2026.01.22.</a:t>
              </a:r>
              <a:r>
                <a:rPr lang="ko-KR" altLang="en-US" sz="1200" b="1" u="sng">
                  <a:ln>
                    <a:solidFill>
                      <a:schemeClr val="accent2">
                        <a:lumMod val="60000"/>
                        <a:lumOff val="40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에 시행될 </a:t>
              </a:r>
              <a:r>
                <a:rPr lang="ko-KR" altLang="en-US" sz="1200" b="1" u="sng" err="1">
                  <a:ln>
                    <a:solidFill>
                      <a:schemeClr val="accent2">
                        <a:lumMod val="60000"/>
                        <a:lumOff val="40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고영향</a:t>
              </a:r>
              <a:r>
                <a:rPr lang="ko-KR" altLang="en-US" sz="1200" b="1" u="sng">
                  <a:ln>
                    <a:solidFill>
                      <a:schemeClr val="accent2">
                        <a:lumMod val="60000"/>
                        <a:lumOff val="40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 인공지능 및 인공지능 안전성 확보 관련 가이드라인에 대한 결의 사항이 부족</a:t>
              </a:r>
              <a:r>
                <a:rPr lang="ko-KR" altLang="en-US" sz="1200">
                  <a:ln>
                    <a:solidFill>
                      <a:schemeClr val="accent2">
                        <a:lumMod val="60000"/>
                        <a:lumOff val="40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하여 보완이 필요함</a:t>
              </a:r>
              <a:endPara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endParaRPr>
            </a:p>
            <a:p>
              <a:pPr marL="171450" indent="-171450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en-US" altLang="ko-KR" sz="1200">
                  <a:ln>
                    <a:solidFill>
                      <a:schemeClr val="accent2">
                        <a:lumMod val="60000"/>
                        <a:lumOff val="40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N</a:t>
              </a:r>
              <a:r>
                <a:rPr lang="ko-KR" altLang="en-US" sz="1200">
                  <a:ln>
                    <a:solidFill>
                      <a:schemeClr val="accent2">
                        <a:lumMod val="60000"/>
                        <a:lumOff val="40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은행의 경우 타사 대비 </a:t>
              </a:r>
              <a:r>
                <a:rPr lang="en-US" altLang="ko-KR" sz="1200">
                  <a:ln>
                    <a:solidFill>
                      <a:schemeClr val="accent2">
                        <a:lumMod val="60000"/>
                        <a:lumOff val="40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AI</a:t>
              </a:r>
              <a:r>
                <a:rPr lang="ko-KR" altLang="en-US" sz="1200">
                  <a:ln>
                    <a:solidFill>
                      <a:schemeClr val="accent2">
                        <a:lumMod val="60000"/>
                        <a:lumOff val="40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거버넌스 협의체의 결의</a:t>
              </a:r>
              <a:r>
                <a:rPr lang="en-US" altLang="ko-KR" sz="1200">
                  <a:ln>
                    <a:solidFill>
                      <a:schemeClr val="accent2">
                        <a:lumMod val="60000"/>
                        <a:lumOff val="40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&amp;</a:t>
              </a:r>
              <a:r>
                <a:rPr lang="ko-KR" altLang="en-US" sz="1200">
                  <a:ln>
                    <a:solidFill>
                      <a:schemeClr val="accent2">
                        <a:lumMod val="60000"/>
                        <a:lumOff val="40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심의 활동이 부족함</a:t>
              </a:r>
              <a:r>
                <a:rPr lang="en-US" altLang="ko-KR" sz="1200">
                  <a:ln>
                    <a:solidFill>
                      <a:schemeClr val="accent2">
                        <a:lumMod val="60000"/>
                        <a:lumOff val="40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. </a:t>
              </a:r>
              <a:r>
                <a:rPr lang="ko-KR" altLang="en-US" sz="1200">
                  <a:ln>
                    <a:solidFill>
                      <a:schemeClr val="accent2">
                        <a:lumMod val="60000"/>
                        <a:lumOff val="40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특히 </a:t>
              </a:r>
              <a:r>
                <a:rPr lang="ko-KR" altLang="en-US" sz="1200" b="1" u="sng">
                  <a:ln>
                    <a:solidFill>
                      <a:schemeClr val="accent2">
                        <a:lumMod val="60000"/>
                        <a:lumOff val="40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위험 관리 계획에 대한 보완과 </a:t>
              </a:r>
              <a:r>
                <a:rPr lang="en-US" altLang="ko-KR" sz="1200" b="1" u="sng">
                  <a:ln>
                    <a:solidFill>
                      <a:schemeClr val="accent2">
                        <a:lumMod val="60000"/>
                        <a:lumOff val="40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AI</a:t>
              </a:r>
              <a:r>
                <a:rPr lang="ko-KR" altLang="en-US" sz="1200" b="1" u="sng">
                  <a:ln>
                    <a:solidFill>
                      <a:schemeClr val="accent2">
                        <a:lumMod val="60000"/>
                        <a:lumOff val="40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서비스 모니터링 결과 개선에 대한 보완이 필요함</a:t>
              </a:r>
            </a:p>
          </p:txBody>
        </p:sp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5A4F1C67-AB1C-156F-96F5-B153862916C5}"/>
                </a:ext>
              </a:extLst>
            </p:cNvPr>
            <p:cNvGrpSpPr/>
            <p:nvPr/>
          </p:nvGrpSpPr>
          <p:grpSpPr>
            <a:xfrm>
              <a:off x="395511" y="1881188"/>
              <a:ext cx="5824871" cy="3347916"/>
              <a:chOff x="395511" y="1881188"/>
              <a:chExt cx="5824871" cy="3347916"/>
            </a:xfrm>
          </p:grpSpPr>
          <p:sp>
            <p:nvSpPr>
              <p:cNvPr id="47" name="직사각형 46">
                <a:extLst>
                  <a:ext uri="{FF2B5EF4-FFF2-40B4-BE49-F238E27FC236}">
                    <a16:creationId xmlns:a16="http://schemas.microsoft.com/office/drawing/2014/main" id="{AF3F9134-47A2-EE6B-FC07-76BED26E6AB9}"/>
                  </a:ext>
                </a:extLst>
              </p:cNvPr>
              <p:cNvSpPr/>
              <p:nvPr/>
            </p:nvSpPr>
            <p:spPr>
              <a:xfrm>
                <a:off x="395513" y="2324597"/>
                <a:ext cx="702368" cy="2148122"/>
              </a:xfrm>
              <a:prstGeom prst="rect">
                <a:avLst/>
              </a:prstGeom>
              <a:solidFill>
                <a:srgbClr val="F4B183"/>
              </a:solidFill>
              <a:ln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0" rIns="72000" bIns="0" rtlCol="0" anchor="ctr"/>
              <a:lstStyle/>
              <a:p>
                <a:pPr algn="ctr"/>
                <a:r>
                  <a:rPr lang="ko-KR" altLang="en-US" sz="1200" b="1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+mn-ea"/>
                  </a:rPr>
                  <a:t>결의 사항</a:t>
                </a:r>
              </a:p>
            </p:txBody>
          </p:sp>
          <p:sp>
            <p:nvSpPr>
              <p:cNvPr id="48" name="직사각형 47">
                <a:extLst>
                  <a:ext uri="{FF2B5EF4-FFF2-40B4-BE49-F238E27FC236}">
                    <a16:creationId xmlns:a16="http://schemas.microsoft.com/office/drawing/2014/main" id="{594527A8-5C26-3C2B-3616-F50100810785}"/>
                  </a:ext>
                </a:extLst>
              </p:cNvPr>
              <p:cNvSpPr/>
              <p:nvPr/>
            </p:nvSpPr>
            <p:spPr>
              <a:xfrm>
                <a:off x="1170857" y="2697154"/>
                <a:ext cx="5040000" cy="288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rIns="72000" rtlCol="0" anchor="ctr"/>
              <a:lstStyle/>
              <a:p>
                <a:r>
                  <a:rPr lang="en-US" altLang="ko-KR" sz="1200">
                    <a:ln>
                      <a:solidFill>
                        <a:schemeClr val="accent2">
                          <a:lumMod val="60000"/>
                          <a:lumOff val="40000"/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+mn-ea"/>
                  </a:rPr>
                  <a:t>AI</a:t>
                </a:r>
                <a:r>
                  <a:rPr lang="ko-KR" altLang="ko-KR" sz="1200">
                    <a:ln>
                      <a:solidFill>
                        <a:schemeClr val="accent2">
                          <a:lumMod val="60000"/>
                          <a:lumOff val="40000"/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+mn-ea"/>
                  </a:rPr>
                  <a:t>위험관리정책의 </a:t>
                </a:r>
                <a:r>
                  <a:rPr lang="ko-KR" altLang="ko-KR" sz="1200" err="1">
                    <a:ln>
                      <a:solidFill>
                        <a:schemeClr val="accent2">
                          <a:lumMod val="60000"/>
                          <a:lumOff val="40000"/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+mn-ea"/>
                  </a:rPr>
                  <a:t>제·개정</a:t>
                </a:r>
                <a:endParaRPr lang="ko-KR" altLang="en-US" sz="1200">
                  <a:ln>
                    <a:solidFill>
                      <a:schemeClr val="accent2">
                        <a:lumMod val="60000"/>
                        <a:lumOff val="40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49" name="직사각형 48">
                <a:extLst>
                  <a:ext uri="{FF2B5EF4-FFF2-40B4-BE49-F238E27FC236}">
                    <a16:creationId xmlns:a16="http://schemas.microsoft.com/office/drawing/2014/main" id="{30572044-10D1-69FA-29FD-A28528D06F0C}"/>
                  </a:ext>
                </a:extLst>
              </p:cNvPr>
              <p:cNvSpPr/>
              <p:nvPr/>
            </p:nvSpPr>
            <p:spPr>
              <a:xfrm>
                <a:off x="1170857" y="3069137"/>
                <a:ext cx="5040000" cy="288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rIns="72000" rtlCol="0" anchor="ctr"/>
              <a:lstStyle/>
              <a:p>
                <a:r>
                  <a:rPr lang="ko-KR" altLang="ko-KR" sz="1200">
                    <a:ln>
                      <a:solidFill>
                        <a:schemeClr val="accent2">
                          <a:lumMod val="60000"/>
                          <a:lumOff val="40000"/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+mn-ea"/>
                  </a:rPr>
                  <a:t>고위험 등급으로 분류된</a:t>
                </a:r>
                <a:r>
                  <a:rPr lang="en-US" altLang="ko-KR" sz="1200">
                    <a:ln>
                      <a:solidFill>
                        <a:schemeClr val="accent2">
                          <a:lumMod val="60000"/>
                          <a:lumOff val="40000"/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+mn-ea"/>
                  </a:rPr>
                  <a:t> AI</a:t>
                </a:r>
                <a:r>
                  <a:rPr lang="ko-KR" altLang="ko-KR" sz="1200">
                    <a:ln>
                      <a:solidFill>
                        <a:schemeClr val="accent2">
                          <a:lumMod val="60000"/>
                          <a:lumOff val="40000"/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+mn-ea"/>
                  </a:rPr>
                  <a:t>서비스의 위험관리계획 </a:t>
                </a:r>
                <a:r>
                  <a:rPr lang="en-US" altLang="ko-KR" sz="1200">
                    <a:ln>
                      <a:solidFill>
                        <a:schemeClr val="accent2">
                          <a:lumMod val="60000"/>
                          <a:lumOff val="40000"/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+mn-ea"/>
                  </a:rPr>
                  <a:t>(</a:t>
                </a:r>
                <a:r>
                  <a:rPr lang="ko-KR" altLang="ko-KR" sz="1200">
                    <a:ln>
                      <a:solidFill>
                        <a:schemeClr val="accent2">
                          <a:lumMod val="60000"/>
                          <a:lumOff val="40000"/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+mn-ea"/>
                  </a:rPr>
                  <a:t>사전</a:t>
                </a:r>
                <a:r>
                  <a:rPr lang="en-US" altLang="ko-KR" sz="1200">
                    <a:ln>
                      <a:solidFill>
                        <a:schemeClr val="accent2">
                          <a:lumMod val="60000"/>
                          <a:lumOff val="40000"/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+mn-ea"/>
                  </a:rPr>
                  <a:t>) </a:t>
                </a:r>
                <a:r>
                  <a:rPr lang="ko-KR" altLang="ko-KR" sz="1200">
                    <a:ln>
                      <a:solidFill>
                        <a:schemeClr val="accent2">
                          <a:lumMod val="60000"/>
                          <a:lumOff val="40000"/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+mn-ea"/>
                  </a:rPr>
                  <a:t>승인</a:t>
                </a:r>
                <a:endParaRPr lang="ko-KR" altLang="en-US" sz="1200">
                  <a:ln>
                    <a:solidFill>
                      <a:schemeClr val="accent2">
                        <a:lumMod val="60000"/>
                        <a:lumOff val="40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50" name="직사각형 49">
                <a:extLst>
                  <a:ext uri="{FF2B5EF4-FFF2-40B4-BE49-F238E27FC236}">
                    <a16:creationId xmlns:a16="http://schemas.microsoft.com/office/drawing/2014/main" id="{CFE0EEDA-A08B-3E3F-3BFF-BDCD9579785D}"/>
                  </a:ext>
                </a:extLst>
              </p:cNvPr>
              <p:cNvSpPr/>
              <p:nvPr/>
            </p:nvSpPr>
            <p:spPr>
              <a:xfrm>
                <a:off x="395511" y="4557069"/>
                <a:ext cx="702369" cy="672035"/>
              </a:xfrm>
              <a:prstGeom prst="rect">
                <a:avLst/>
              </a:prstGeom>
              <a:solidFill>
                <a:srgbClr val="F4B183"/>
              </a:solidFill>
              <a:ln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0" rIns="72000" bIns="0" rtlCol="0" anchor="ctr"/>
              <a:lstStyle/>
              <a:p>
                <a:pPr algn="ctr"/>
                <a:r>
                  <a:rPr lang="ko-KR" altLang="en-US" sz="1200" b="1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+mn-ea"/>
                  </a:rPr>
                  <a:t>심의 사항</a:t>
                </a:r>
              </a:p>
            </p:txBody>
          </p:sp>
          <p:sp>
            <p:nvSpPr>
              <p:cNvPr id="51" name="직사각형 50">
                <a:extLst>
                  <a:ext uri="{FF2B5EF4-FFF2-40B4-BE49-F238E27FC236}">
                    <a16:creationId xmlns:a16="http://schemas.microsoft.com/office/drawing/2014/main" id="{5CC92D6E-63A3-65E9-A4C4-FFD203BFEE00}"/>
                  </a:ext>
                </a:extLst>
              </p:cNvPr>
              <p:cNvSpPr/>
              <p:nvPr/>
            </p:nvSpPr>
            <p:spPr>
              <a:xfrm>
                <a:off x="1170857" y="4557069"/>
                <a:ext cx="5040000" cy="288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rIns="72000" rtlCol="0" anchor="ctr"/>
              <a:lstStyle/>
              <a:p>
                <a:r>
                  <a:rPr lang="en-US" altLang="ko-KR" sz="1200">
                    <a:ln>
                      <a:solidFill>
                        <a:schemeClr val="accent2">
                          <a:lumMod val="60000"/>
                          <a:lumOff val="40000"/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+mn-ea"/>
                  </a:rPr>
                  <a:t>AI</a:t>
                </a:r>
                <a:r>
                  <a:rPr lang="ko-KR" altLang="ko-KR" sz="1200">
                    <a:ln>
                      <a:solidFill>
                        <a:schemeClr val="accent2">
                          <a:lumMod val="60000"/>
                          <a:lumOff val="40000"/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+mn-ea"/>
                  </a:rPr>
                  <a:t>서비스 위험등급분류 결과 이견에 대한 조정</a:t>
                </a:r>
                <a:endParaRPr lang="ko-KR" altLang="en-US" sz="1200">
                  <a:ln>
                    <a:solidFill>
                      <a:schemeClr val="accent2">
                        <a:lumMod val="60000"/>
                        <a:lumOff val="40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52" name="직사각형 51">
                <a:extLst>
                  <a:ext uri="{FF2B5EF4-FFF2-40B4-BE49-F238E27FC236}">
                    <a16:creationId xmlns:a16="http://schemas.microsoft.com/office/drawing/2014/main" id="{F8D20666-5353-1306-328A-8047C9792FEF}"/>
                  </a:ext>
                </a:extLst>
              </p:cNvPr>
              <p:cNvSpPr/>
              <p:nvPr/>
            </p:nvSpPr>
            <p:spPr>
              <a:xfrm>
                <a:off x="1180382" y="4929055"/>
                <a:ext cx="5040000" cy="288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rIns="72000" rtlCol="0" anchor="ctr"/>
              <a:lstStyle/>
              <a:p>
                <a:r>
                  <a:rPr lang="en-US" altLang="ko-KR" sz="1200">
                    <a:ln>
                      <a:solidFill>
                        <a:schemeClr val="accent2">
                          <a:lumMod val="60000"/>
                          <a:lumOff val="40000"/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+mn-ea"/>
                  </a:rPr>
                  <a:t>AI</a:t>
                </a:r>
                <a:r>
                  <a:rPr lang="ko-KR" altLang="ko-KR" sz="1200">
                    <a:ln>
                      <a:solidFill>
                        <a:schemeClr val="accent2">
                          <a:lumMod val="60000"/>
                          <a:lumOff val="40000"/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+mn-ea"/>
                  </a:rPr>
                  <a:t>서비스 모니터링 등 결과에 따른 개선 권고</a:t>
                </a:r>
                <a:endParaRPr lang="ko-KR" altLang="en-US" sz="1200">
                  <a:ln>
                    <a:solidFill>
                      <a:schemeClr val="accent2">
                        <a:lumMod val="60000"/>
                        <a:lumOff val="40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53" name="직사각형 52">
                <a:extLst>
                  <a:ext uri="{FF2B5EF4-FFF2-40B4-BE49-F238E27FC236}">
                    <a16:creationId xmlns:a16="http://schemas.microsoft.com/office/drawing/2014/main" id="{E5C10144-4FD7-ED67-974F-0BCFDA8942D8}"/>
                  </a:ext>
                </a:extLst>
              </p:cNvPr>
              <p:cNvSpPr/>
              <p:nvPr/>
            </p:nvSpPr>
            <p:spPr>
              <a:xfrm>
                <a:off x="1170857" y="3813103"/>
                <a:ext cx="5040000" cy="288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rIns="72000" rtlCol="0" anchor="ctr"/>
              <a:lstStyle/>
              <a:p>
                <a:r>
                  <a:rPr lang="ko-KR" altLang="en-US" sz="1200">
                    <a:ln>
                      <a:solidFill>
                        <a:schemeClr val="accent2">
                          <a:lumMod val="60000"/>
                          <a:lumOff val="40000"/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+mn-ea"/>
                  </a:rPr>
                  <a:t>고영향 인공지능</a:t>
                </a:r>
                <a:r>
                  <a:rPr lang="en-US" altLang="ko-KR" sz="1200" baseline="30000">
                    <a:ln>
                      <a:solidFill>
                        <a:schemeClr val="accent2">
                          <a:lumMod val="60000"/>
                          <a:lumOff val="40000"/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+mn-ea"/>
                  </a:rPr>
                  <a:t>1)</a:t>
                </a:r>
                <a:r>
                  <a:rPr lang="ko-KR" altLang="en-US" sz="1200">
                    <a:ln>
                      <a:solidFill>
                        <a:schemeClr val="accent2">
                          <a:lumMod val="60000"/>
                          <a:lumOff val="40000"/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+mn-ea"/>
                  </a:rPr>
                  <a:t>에 대한 평가 및 승인</a:t>
                </a:r>
              </a:p>
            </p:txBody>
          </p:sp>
          <p:sp>
            <p:nvSpPr>
              <p:cNvPr id="54" name="직사각형 53">
                <a:extLst>
                  <a:ext uri="{FF2B5EF4-FFF2-40B4-BE49-F238E27FC236}">
                    <a16:creationId xmlns:a16="http://schemas.microsoft.com/office/drawing/2014/main" id="{DEF9064E-98FD-77A0-A857-4D4F18ACA201}"/>
                  </a:ext>
                </a:extLst>
              </p:cNvPr>
              <p:cNvSpPr/>
              <p:nvPr/>
            </p:nvSpPr>
            <p:spPr>
              <a:xfrm>
                <a:off x="1170857" y="2325171"/>
                <a:ext cx="5040000" cy="288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rIns="72000" rtlCol="0" anchor="ctr"/>
              <a:lstStyle/>
              <a:p>
                <a:r>
                  <a:rPr lang="en-US" altLang="ko-KR" sz="1200">
                    <a:ln>
                      <a:solidFill>
                        <a:schemeClr val="accent2">
                          <a:lumMod val="60000"/>
                          <a:lumOff val="40000"/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+mn-ea"/>
                  </a:rPr>
                  <a:t>AI</a:t>
                </a:r>
                <a:r>
                  <a:rPr lang="ko-KR" altLang="en-US" sz="1200">
                    <a:ln>
                      <a:solidFill>
                        <a:schemeClr val="accent2">
                          <a:lumMod val="60000"/>
                          <a:lumOff val="40000"/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+mn-ea"/>
                  </a:rPr>
                  <a:t>윤리 기준의 </a:t>
                </a:r>
                <a:r>
                  <a:rPr lang="ko-KR" altLang="en-US" sz="1200" err="1">
                    <a:ln>
                      <a:solidFill>
                        <a:schemeClr val="accent2">
                          <a:lumMod val="60000"/>
                          <a:lumOff val="40000"/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+mn-ea"/>
                  </a:rPr>
                  <a:t>제</a:t>
                </a:r>
                <a:r>
                  <a:rPr lang="ko-KR" altLang="ko-KR" sz="1200" err="1">
                    <a:ln>
                      <a:solidFill>
                        <a:schemeClr val="accent2">
                          <a:lumMod val="60000"/>
                          <a:lumOff val="40000"/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+mn-ea"/>
                  </a:rPr>
                  <a:t>·</a:t>
                </a:r>
                <a:r>
                  <a:rPr lang="ko-KR" altLang="en-US" sz="1200" err="1">
                    <a:ln>
                      <a:solidFill>
                        <a:schemeClr val="accent2">
                          <a:lumMod val="60000"/>
                          <a:lumOff val="40000"/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+mn-ea"/>
                  </a:rPr>
                  <a:t>개정</a:t>
                </a:r>
                <a:endParaRPr lang="ko-KR" altLang="en-US" sz="1200">
                  <a:ln>
                    <a:solidFill>
                      <a:schemeClr val="accent2">
                        <a:lumMod val="60000"/>
                        <a:lumOff val="40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55" name="직사각형 54">
                <a:extLst>
                  <a:ext uri="{FF2B5EF4-FFF2-40B4-BE49-F238E27FC236}">
                    <a16:creationId xmlns:a16="http://schemas.microsoft.com/office/drawing/2014/main" id="{D71B8F06-8674-9A77-ECCF-3BF309965D20}"/>
                  </a:ext>
                </a:extLst>
              </p:cNvPr>
              <p:cNvSpPr/>
              <p:nvPr/>
            </p:nvSpPr>
            <p:spPr>
              <a:xfrm>
                <a:off x="1170857" y="3441120"/>
                <a:ext cx="5040000" cy="288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rIns="72000" rtlCol="0" anchor="ctr"/>
              <a:lstStyle/>
              <a:p>
                <a:r>
                  <a:rPr lang="ko-KR" altLang="ko-KR" sz="1200">
                    <a:ln>
                      <a:solidFill>
                        <a:schemeClr val="accent2">
                          <a:lumMod val="60000"/>
                          <a:lumOff val="40000"/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+mn-ea"/>
                  </a:rPr>
                  <a:t>고위험 등급으로 분류된</a:t>
                </a:r>
                <a:r>
                  <a:rPr lang="en-US" altLang="ko-KR" sz="1200">
                    <a:ln>
                      <a:solidFill>
                        <a:schemeClr val="accent2">
                          <a:lumMod val="60000"/>
                          <a:lumOff val="40000"/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+mn-ea"/>
                  </a:rPr>
                  <a:t> AI</a:t>
                </a:r>
                <a:r>
                  <a:rPr lang="ko-KR" altLang="ko-KR" sz="1200">
                    <a:ln>
                      <a:solidFill>
                        <a:schemeClr val="accent2">
                          <a:lumMod val="60000"/>
                          <a:lumOff val="40000"/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+mn-ea"/>
                  </a:rPr>
                  <a:t>서비스의 운영요청에 대한 </a:t>
                </a:r>
                <a:r>
                  <a:rPr lang="en-US" altLang="ko-KR" sz="1200">
                    <a:ln>
                      <a:solidFill>
                        <a:schemeClr val="accent2">
                          <a:lumMod val="60000"/>
                          <a:lumOff val="40000"/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+mn-ea"/>
                  </a:rPr>
                  <a:t>(</a:t>
                </a:r>
                <a:r>
                  <a:rPr lang="ko-KR" altLang="ko-KR" sz="1200">
                    <a:ln>
                      <a:solidFill>
                        <a:schemeClr val="accent2">
                          <a:lumMod val="60000"/>
                          <a:lumOff val="40000"/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+mn-ea"/>
                  </a:rPr>
                  <a:t>사전</a:t>
                </a:r>
                <a:r>
                  <a:rPr lang="en-US" altLang="ko-KR" sz="1200">
                    <a:ln>
                      <a:solidFill>
                        <a:schemeClr val="accent2">
                          <a:lumMod val="60000"/>
                          <a:lumOff val="40000"/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+mn-ea"/>
                  </a:rPr>
                  <a:t>) </a:t>
                </a:r>
                <a:r>
                  <a:rPr lang="ko-KR" altLang="ko-KR" sz="1200">
                    <a:ln>
                      <a:solidFill>
                        <a:schemeClr val="accent2">
                          <a:lumMod val="60000"/>
                          <a:lumOff val="40000"/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+mn-ea"/>
                  </a:rPr>
                  <a:t>승인</a:t>
                </a:r>
                <a:endParaRPr lang="ko-KR" altLang="en-US" sz="1200">
                  <a:ln>
                    <a:solidFill>
                      <a:schemeClr val="accent2">
                        <a:lumMod val="60000"/>
                        <a:lumOff val="40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56" name="직사각형 55">
                <a:extLst>
                  <a:ext uri="{FF2B5EF4-FFF2-40B4-BE49-F238E27FC236}">
                    <a16:creationId xmlns:a16="http://schemas.microsoft.com/office/drawing/2014/main" id="{23B5BBC9-1C08-AAF5-705A-9E999610437D}"/>
                  </a:ext>
                </a:extLst>
              </p:cNvPr>
              <p:cNvSpPr/>
              <p:nvPr/>
            </p:nvSpPr>
            <p:spPr>
              <a:xfrm>
                <a:off x="395513" y="1881188"/>
                <a:ext cx="5815344" cy="360000"/>
              </a:xfrm>
              <a:prstGeom prst="rect">
                <a:avLst/>
              </a:prstGeom>
              <a:solidFill>
                <a:schemeClr val="accent2"/>
              </a:solidFill>
              <a:ln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rtlCol="0" anchor="ctr"/>
              <a:lstStyle/>
              <a:p>
                <a:pPr algn="ctr"/>
                <a:r>
                  <a:rPr lang="ko-KR" altLang="en-US" sz="1400" b="1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latin typeface="+mn-ea"/>
                  </a:rPr>
                  <a:t>주요 활동</a:t>
                </a:r>
              </a:p>
            </p:txBody>
          </p:sp>
          <p:sp>
            <p:nvSpPr>
              <p:cNvPr id="57" name="직사각형 56">
                <a:extLst>
                  <a:ext uri="{FF2B5EF4-FFF2-40B4-BE49-F238E27FC236}">
                    <a16:creationId xmlns:a16="http://schemas.microsoft.com/office/drawing/2014/main" id="{39A512E4-CB3B-7E7A-7206-2BA305C38DB1}"/>
                  </a:ext>
                </a:extLst>
              </p:cNvPr>
              <p:cNvSpPr/>
              <p:nvPr/>
            </p:nvSpPr>
            <p:spPr>
              <a:xfrm>
                <a:off x="1170857" y="4185086"/>
                <a:ext cx="5040000" cy="288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rIns="72000" rtlCol="0" anchor="ctr"/>
              <a:lstStyle/>
              <a:p>
                <a:r>
                  <a:rPr lang="ko-KR" altLang="en-US" sz="1200">
                    <a:ln>
                      <a:solidFill>
                        <a:schemeClr val="accent2">
                          <a:lumMod val="60000"/>
                          <a:lumOff val="40000"/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+mn-ea"/>
                  </a:rPr>
                  <a:t>인공지능 안전성 확보</a:t>
                </a:r>
                <a:r>
                  <a:rPr lang="en-US" altLang="ko-KR" sz="1200" baseline="30000">
                    <a:ln>
                      <a:solidFill>
                        <a:schemeClr val="accent2">
                          <a:lumMod val="60000"/>
                          <a:lumOff val="40000"/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+mn-ea"/>
                  </a:rPr>
                  <a:t>1)</a:t>
                </a:r>
                <a:r>
                  <a:rPr lang="ko-KR" altLang="en-US" sz="1200">
                    <a:ln>
                      <a:solidFill>
                        <a:schemeClr val="accent2">
                          <a:lumMod val="60000"/>
                          <a:lumOff val="40000"/>
                          <a:alpha val="0"/>
                        </a:schemeClr>
                      </a:solidFill>
                    </a:ln>
                    <a:solidFill>
                      <a:schemeClr val="tx1"/>
                    </a:solidFill>
                    <a:latin typeface="+mn-ea"/>
                  </a:rPr>
                  <a:t>에 대한 평가 및 승인</a:t>
                </a:r>
              </a:p>
            </p:txBody>
          </p:sp>
        </p:grp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AA6CF395-B951-C28A-2FB3-B945C2B7EA2F}"/>
                </a:ext>
              </a:extLst>
            </p:cNvPr>
            <p:cNvGrpSpPr/>
            <p:nvPr/>
          </p:nvGrpSpPr>
          <p:grpSpPr>
            <a:xfrm>
              <a:off x="6266913" y="1881188"/>
              <a:ext cx="1809525" cy="3335867"/>
              <a:chOff x="6280287" y="1881188"/>
              <a:chExt cx="1809525" cy="3335867"/>
            </a:xfrm>
          </p:grpSpPr>
          <p:sp>
            <p:nvSpPr>
              <p:cNvPr id="35" name="직사각형 34">
                <a:extLst>
                  <a:ext uri="{FF2B5EF4-FFF2-40B4-BE49-F238E27FC236}">
                    <a16:creationId xmlns:a16="http://schemas.microsoft.com/office/drawing/2014/main" id="{AA41BD84-A918-AB77-9BB7-242F5147CC7A}"/>
                  </a:ext>
                </a:extLst>
              </p:cNvPr>
              <p:cNvSpPr/>
              <p:nvPr/>
            </p:nvSpPr>
            <p:spPr>
              <a:xfrm>
                <a:off x="6283833" y="1881188"/>
                <a:ext cx="1800000" cy="360000"/>
              </a:xfrm>
              <a:prstGeom prst="rect">
                <a:avLst/>
              </a:prstGeom>
              <a:solidFill>
                <a:schemeClr val="accent2"/>
              </a:solidFill>
              <a:ln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b="1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latin typeface="+mn-ea"/>
                  </a:rPr>
                  <a:t>K</a:t>
                </a:r>
                <a:r>
                  <a:rPr lang="ko-KR" altLang="en-US" sz="1400" b="1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latin typeface="+mn-ea"/>
                  </a:rPr>
                  <a:t>은행</a:t>
                </a:r>
              </a:p>
            </p:txBody>
          </p:sp>
          <p:sp>
            <p:nvSpPr>
              <p:cNvPr id="36" name="직사각형 35">
                <a:extLst>
                  <a:ext uri="{FF2B5EF4-FFF2-40B4-BE49-F238E27FC236}">
                    <a16:creationId xmlns:a16="http://schemas.microsoft.com/office/drawing/2014/main" id="{978A61A4-C020-0E4C-F767-55CECC0EE921}"/>
                  </a:ext>
                </a:extLst>
              </p:cNvPr>
              <p:cNvSpPr/>
              <p:nvPr/>
            </p:nvSpPr>
            <p:spPr>
              <a:xfrm>
                <a:off x="6280287" y="2697154"/>
                <a:ext cx="1800000" cy="288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rIns="72000" rtlCol="0" anchor="ctr"/>
              <a:lstStyle/>
              <a:p>
                <a:pPr algn="ctr"/>
                <a:r>
                  <a:rPr lang="en-US" altLang="ko-KR" sz="1000">
                    <a:ln>
                      <a:solidFill>
                        <a:schemeClr val="accent2">
                          <a:lumMod val="60000"/>
                          <a:lumOff val="40000"/>
                          <a:alpha val="0"/>
                        </a:schemeClr>
                      </a:solidFill>
                    </a:ln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O</a:t>
                </a:r>
                <a:endParaRPr lang="ko-KR" altLang="en-US" sz="1000">
                  <a:ln>
                    <a:solidFill>
                      <a:schemeClr val="accent2">
                        <a:lumMod val="60000"/>
                        <a:lumOff val="40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37" name="직사각형 36">
                <a:extLst>
                  <a:ext uri="{FF2B5EF4-FFF2-40B4-BE49-F238E27FC236}">
                    <a16:creationId xmlns:a16="http://schemas.microsoft.com/office/drawing/2014/main" id="{6CC368CA-2328-A39B-BF1A-48D61F2DD1CB}"/>
                  </a:ext>
                </a:extLst>
              </p:cNvPr>
              <p:cNvSpPr/>
              <p:nvPr/>
            </p:nvSpPr>
            <p:spPr>
              <a:xfrm>
                <a:off x="6280287" y="3069137"/>
                <a:ext cx="1800000" cy="288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rIns="72000" rtlCol="0" anchor="ctr"/>
              <a:lstStyle/>
              <a:p>
                <a:pPr algn="ctr"/>
                <a:r>
                  <a:rPr lang="en-US" altLang="ko-KR" sz="1000">
                    <a:ln>
                      <a:solidFill>
                        <a:schemeClr val="accent2">
                          <a:lumMod val="60000"/>
                          <a:lumOff val="40000"/>
                          <a:alpha val="0"/>
                        </a:schemeClr>
                      </a:solidFill>
                    </a:ln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O</a:t>
                </a:r>
                <a:endParaRPr lang="ko-KR" altLang="en-US" sz="1000">
                  <a:ln>
                    <a:solidFill>
                      <a:schemeClr val="accent2">
                        <a:lumMod val="60000"/>
                        <a:lumOff val="40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38" name="직사각형 37">
                <a:extLst>
                  <a:ext uri="{FF2B5EF4-FFF2-40B4-BE49-F238E27FC236}">
                    <a16:creationId xmlns:a16="http://schemas.microsoft.com/office/drawing/2014/main" id="{4F1A748E-F523-BA21-CECC-D9350AF13E56}"/>
                  </a:ext>
                </a:extLst>
              </p:cNvPr>
              <p:cNvSpPr/>
              <p:nvPr/>
            </p:nvSpPr>
            <p:spPr>
              <a:xfrm>
                <a:off x="6280287" y="3813103"/>
                <a:ext cx="1800000" cy="288000"/>
              </a:xfrm>
              <a:prstGeom prst="rect">
                <a:avLst/>
              </a:prstGeom>
              <a:solidFill>
                <a:srgbClr val="595959"/>
              </a:solidFill>
              <a:ln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2000" b="1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latin typeface="+mn-ea"/>
                  </a:rPr>
                  <a:t>X</a:t>
                </a:r>
                <a:endParaRPr lang="ko-KR" altLang="en-US" sz="2000" b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+mn-ea"/>
                </a:endParaRPr>
              </a:p>
            </p:txBody>
          </p:sp>
          <p:sp>
            <p:nvSpPr>
              <p:cNvPr id="39" name="직사각형 38">
                <a:extLst>
                  <a:ext uri="{FF2B5EF4-FFF2-40B4-BE49-F238E27FC236}">
                    <a16:creationId xmlns:a16="http://schemas.microsoft.com/office/drawing/2014/main" id="{5C8231BE-9CBF-54A4-BE15-023333513517}"/>
                  </a:ext>
                </a:extLst>
              </p:cNvPr>
              <p:cNvSpPr/>
              <p:nvPr/>
            </p:nvSpPr>
            <p:spPr>
              <a:xfrm>
                <a:off x="6280287" y="4557069"/>
                <a:ext cx="1800000" cy="288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rIns="72000" rtlCol="0" anchor="ctr"/>
              <a:lstStyle/>
              <a:p>
                <a:pPr algn="ctr"/>
                <a:r>
                  <a:rPr lang="en-US" altLang="ko-KR" sz="1000">
                    <a:ln>
                      <a:solidFill>
                        <a:schemeClr val="accent2">
                          <a:lumMod val="60000"/>
                          <a:lumOff val="40000"/>
                          <a:alpha val="0"/>
                        </a:schemeClr>
                      </a:solidFill>
                    </a:ln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O</a:t>
                </a:r>
                <a:endParaRPr lang="ko-KR" altLang="en-US" sz="1000">
                  <a:ln>
                    <a:solidFill>
                      <a:schemeClr val="accent2">
                        <a:lumMod val="60000"/>
                        <a:lumOff val="40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40" name="직사각형 39">
                <a:extLst>
                  <a:ext uri="{FF2B5EF4-FFF2-40B4-BE49-F238E27FC236}">
                    <a16:creationId xmlns:a16="http://schemas.microsoft.com/office/drawing/2014/main" id="{EC0525D8-13F0-2FE4-BBE6-B08249AC47A4}"/>
                  </a:ext>
                </a:extLst>
              </p:cNvPr>
              <p:cNvSpPr/>
              <p:nvPr/>
            </p:nvSpPr>
            <p:spPr>
              <a:xfrm>
                <a:off x="6289812" y="4929055"/>
                <a:ext cx="1800000" cy="288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rIns="72000" rtlCol="0" anchor="ctr"/>
              <a:lstStyle/>
              <a:p>
                <a:pPr algn="ctr"/>
                <a:r>
                  <a:rPr lang="en-US" altLang="ko-KR" sz="1000">
                    <a:ln>
                      <a:solidFill>
                        <a:schemeClr val="accent2">
                          <a:lumMod val="60000"/>
                          <a:lumOff val="40000"/>
                          <a:alpha val="0"/>
                        </a:schemeClr>
                      </a:solidFill>
                    </a:ln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O</a:t>
                </a:r>
                <a:endParaRPr lang="ko-KR" altLang="en-US" sz="1000">
                  <a:ln>
                    <a:solidFill>
                      <a:schemeClr val="accent2">
                        <a:lumMod val="60000"/>
                        <a:lumOff val="40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41" name="직사각형 40">
                <a:extLst>
                  <a:ext uri="{FF2B5EF4-FFF2-40B4-BE49-F238E27FC236}">
                    <a16:creationId xmlns:a16="http://schemas.microsoft.com/office/drawing/2014/main" id="{D4244E6C-9C43-87C9-3864-974F36180F03}"/>
                  </a:ext>
                </a:extLst>
              </p:cNvPr>
              <p:cNvSpPr/>
              <p:nvPr/>
            </p:nvSpPr>
            <p:spPr>
              <a:xfrm>
                <a:off x="6280287" y="2325171"/>
                <a:ext cx="1800000" cy="288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rIns="72000" rtlCol="0" anchor="ctr"/>
              <a:lstStyle/>
              <a:p>
                <a:pPr algn="ctr"/>
                <a:r>
                  <a:rPr lang="en-US" altLang="ko-KR" sz="1000">
                    <a:ln>
                      <a:solidFill>
                        <a:schemeClr val="accent2">
                          <a:lumMod val="60000"/>
                          <a:lumOff val="40000"/>
                          <a:alpha val="0"/>
                        </a:schemeClr>
                      </a:solidFill>
                    </a:ln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O</a:t>
                </a:r>
                <a:endParaRPr lang="ko-KR" altLang="en-US" sz="1000">
                  <a:ln>
                    <a:solidFill>
                      <a:schemeClr val="accent2">
                        <a:lumMod val="60000"/>
                        <a:lumOff val="40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42" name="직사각형 41">
                <a:extLst>
                  <a:ext uri="{FF2B5EF4-FFF2-40B4-BE49-F238E27FC236}">
                    <a16:creationId xmlns:a16="http://schemas.microsoft.com/office/drawing/2014/main" id="{427BB09A-59D2-0634-5608-EE80925D69EE}"/>
                  </a:ext>
                </a:extLst>
              </p:cNvPr>
              <p:cNvSpPr/>
              <p:nvPr/>
            </p:nvSpPr>
            <p:spPr>
              <a:xfrm>
                <a:off x="6280287" y="3441120"/>
                <a:ext cx="1800000" cy="288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rIns="72000" rtlCol="0" anchor="ctr"/>
              <a:lstStyle/>
              <a:p>
                <a:pPr algn="ctr"/>
                <a:r>
                  <a:rPr lang="en-US" altLang="ko-KR" sz="1000">
                    <a:ln>
                      <a:solidFill>
                        <a:schemeClr val="accent2">
                          <a:lumMod val="60000"/>
                          <a:lumOff val="40000"/>
                          <a:alpha val="0"/>
                        </a:schemeClr>
                      </a:solidFill>
                    </a:ln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O</a:t>
                </a:r>
                <a:endParaRPr lang="ko-KR" altLang="en-US" sz="1000">
                  <a:ln>
                    <a:solidFill>
                      <a:schemeClr val="accent2">
                        <a:lumMod val="60000"/>
                        <a:lumOff val="40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43" name="직사각형 42">
                <a:extLst>
                  <a:ext uri="{FF2B5EF4-FFF2-40B4-BE49-F238E27FC236}">
                    <a16:creationId xmlns:a16="http://schemas.microsoft.com/office/drawing/2014/main" id="{BDE3074A-1AE8-3D61-536E-FCBB436BC6E1}"/>
                  </a:ext>
                </a:extLst>
              </p:cNvPr>
              <p:cNvSpPr/>
              <p:nvPr/>
            </p:nvSpPr>
            <p:spPr>
              <a:xfrm>
                <a:off x="6280287" y="4185086"/>
                <a:ext cx="1800000" cy="288000"/>
              </a:xfrm>
              <a:prstGeom prst="rect">
                <a:avLst/>
              </a:prstGeom>
              <a:solidFill>
                <a:srgbClr val="595959"/>
              </a:solidFill>
              <a:ln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2000" b="1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latin typeface="+mn-ea"/>
                  </a:rPr>
                  <a:t>X</a:t>
                </a:r>
                <a:endParaRPr lang="ko-KR" altLang="en-US" sz="2000" b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+mn-ea"/>
                </a:endParaRPr>
              </a:p>
            </p:txBody>
          </p:sp>
          <p:grpSp>
            <p:nvGrpSpPr>
              <p:cNvPr id="44" name="그룹 43">
                <a:extLst>
                  <a:ext uri="{FF2B5EF4-FFF2-40B4-BE49-F238E27FC236}">
                    <a16:creationId xmlns:a16="http://schemas.microsoft.com/office/drawing/2014/main" id="{62852CDE-F204-E3A6-599B-4EF2B7A14B6F}"/>
                  </a:ext>
                </a:extLst>
              </p:cNvPr>
              <p:cNvGrpSpPr/>
              <p:nvPr/>
            </p:nvGrpSpPr>
            <p:grpSpPr>
              <a:xfrm>
                <a:off x="6436233" y="1933553"/>
                <a:ext cx="255270" cy="255270"/>
                <a:chOff x="2444115" y="2050000"/>
                <a:chExt cx="255270" cy="255270"/>
              </a:xfrm>
            </p:grpSpPr>
            <p:sp>
              <p:nvSpPr>
                <p:cNvPr id="45" name="타원 44">
                  <a:extLst>
                    <a:ext uri="{FF2B5EF4-FFF2-40B4-BE49-F238E27FC236}">
                      <a16:creationId xmlns:a16="http://schemas.microsoft.com/office/drawing/2014/main" id="{B223EB9D-9AB4-1EDC-A80B-569453286E2A}"/>
                    </a:ext>
                  </a:extLst>
                </p:cNvPr>
                <p:cNvSpPr/>
                <p:nvPr/>
              </p:nvSpPr>
              <p:spPr>
                <a:xfrm>
                  <a:off x="2444115" y="2050000"/>
                  <a:ext cx="255270" cy="255270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noFill/>
                </a:ln>
                <a:effectLst>
                  <a:outerShdw blurRad="50800" dist="38100" dir="2700000" algn="tl" rotWithShape="0">
                    <a:prstClr val="black">
                      <a:alpha val="2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+mn-ea"/>
                  </a:endParaRPr>
                </a:p>
              </p:txBody>
            </p:sp>
            <p:pic>
              <p:nvPicPr>
                <p:cNvPr id="46" name="Picture 2" descr="KB 국민 로고 소개 (ai파일)">
                  <a:extLst>
                    <a:ext uri="{FF2B5EF4-FFF2-40B4-BE49-F238E27FC236}">
                      <a16:creationId xmlns:a16="http://schemas.microsoft.com/office/drawing/2014/main" id="{65EA1761-DB73-DBFA-2B85-D58292A66BC2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2">
                  <a:clrChange>
                    <a:clrFrom>
                      <a:srgbClr val="F9F9F9"/>
                    </a:clrFrom>
                    <a:clrTo>
                      <a:srgbClr val="F9F9F9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3054" t="22190" r="23617" b="22050"/>
                <a:stretch>
                  <a:fillRect/>
                </a:stretch>
              </p:blipFill>
              <p:spPr bwMode="auto">
                <a:xfrm>
                  <a:off x="2460307" y="2099433"/>
                  <a:ext cx="222885" cy="16072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</p:grp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EC395DD6-827E-554A-85C8-9C0A8F1235ED}"/>
                </a:ext>
              </a:extLst>
            </p:cNvPr>
            <p:cNvGrpSpPr/>
            <p:nvPr/>
          </p:nvGrpSpPr>
          <p:grpSpPr>
            <a:xfrm>
              <a:off x="8122969" y="1881188"/>
              <a:ext cx="1809525" cy="3335867"/>
              <a:chOff x="8153263" y="1881188"/>
              <a:chExt cx="1809525" cy="3335867"/>
            </a:xfrm>
          </p:grpSpPr>
          <p:sp>
            <p:nvSpPr>
              <p:cNvPr id="23" name="직사각형 22">
                <a:extLst>
                  <a:ext uri="{FF2B5EF4-FFF2-40B4-BE49-F238E27FC236}">
                    <a16:creationId xmlns:a16="http://schemas.microsoft.com/office/drawing/2014/main" id="{DE944697-37E5-1682-F537-814F9E896D7C}"/>
                  </a:ext>
                </a:extLst>
              </p:cNvPr>
              <p:cNvSpPr/>
              <p:nvPr/>
            </p:nvSpPr>
            <p:spPr>
              <a:xfrm>
                <a:off x="8153263" y="1881188"/>
                <a:ext cx="1800000" cy="360000"/>
              </a:xfrm>
              <a:prstGeom prst="rect">
                <a:avLst/>
              </a:prstGeom>
              <a:solidFill>
                <a:schemeClr val="accent2"/>
              </a:solidFill>
              <a:ln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b="1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latin typeface="+mn-ea"/>
                  </a:rPr>
                  <a:t>N</a:t>
                </a:r>
                <a:r>
                  <a:rPr lang="ko-KR" altLang="en-US" sz="1400" b="1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latin typeface="+mn-ea"/>
                  </a:rPr>
                  <a:t>은행</a:t>
                </a:r>
              </a:p>
            </p:txBody>
          </p:sp>
          <p:sp>
            <p:nvSpPr>
              <p:cNvPr id="24" name="직사각형 23">
                <a:extLst>
                  <a:ext uri="{FF2B5EF4-FFF2-40B4-BE49-F238E27FC236}">
                    <a16:creationId xmlns:a16="http://schemas.microsoft.com/office/drawing/2014/main" id="{B8937262-7764-6F3D-7B0B-9B9A98E1848D}"/>
                  </a:ext>
                </a:extLst>
              </p:cNvPr>
              <p:cNvSpPr/>
              <p:nvPr/>
            </p:nvSpPr>
            <p:spPr>
              <a:xfrm>
                <a:off x="8153263" y="2697154"/>
                <a:ext cx="1800000" cy="288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rIns="72000" rtlCol="0" anchor="ctr"/>
              <a:lstStyle/>
              <a:p>
                <a:pPr algn="ctr"/>
                <a:r>
                  <a:rPr lang="en-US" altLang="ko-KR" sz="1000">
                    <a:ln>
                      <a:solidFill>
                        <a:schemeClr val="accent2">
                          <a:lumMod val="60000"/>
                          <a:lumOff val="40000"/>
                          <a:alpha val="0"/>
                        </a:schemeClr>
                      </a:solidFill>
                    </a:ln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O</a:t>
                </a:r>
                <a:endParaRPr lang="ko-KR" altLang="en-US" sz="1000">
                  <a:ln>
                    <a:solidFill>
                      <a:schemeClr val="accent2">
                        <a:lumMod val="60000"/>
                        <a:lumOff val="40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25" name="직사각형 24">
                <a:extLst>
                  <a:ext uri="{FF2B5EF4-FFF2-40B4-BE49-F238E27FC236}">
                    <a16:creationId xmlns:a16="http://schemas.microsoft.com/office/drawing/2014/main" id="{2F91A6C7-4514-2A6C-06CA-EAD9BCD86080}"/>
                  </a:ext>
                </a:extLst>
              </p:cNvPr>
              <p:cNvSpPr/>
              <p:nvPr/>
            </p:nvSpPr>
            <p:spPr>
              <a:xfrm>
                <a:off x="8153263" y="3069137"/>
                <a:ext cx="1800000" cy="288000"/>
              </a:xfrm>
              <a:prstGeom prst="rect">
                <a:avLst/>
              </a:prstGeom>
              <a:solidFill>
                <a:srgbClr val="595959"/>
              </a:solidFill>
              <a:ln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2000" b="1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latin typeface="+mn-ea"/>
                  </a:rPr>
                  <a:t>X</a:t>
                </a:r>
                <a:endParaRPr lang="ko-KR" altLang="en-US" sz="2000" b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+mn-ea"/>
                </a:endParaRPr>
              </a:p>
            </p:txBody>
          </p:sp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01816629-5CF4-8F7A-8717-7350043BFE64}"/>
                  </a:ext>
                </a:extLst>
              </p:cNvPr>
              <p:cNvSpPr/>
              <p:nvPr/>
            </p:nvSpPr>
            <p:spPr>
              <a:xfrm>
                <a:off x="8153263" y="3813103"/>
                <a:ext cx="1800000" cy="288000"/>
              </a:xfrm>
              <a:prstGeom prst="rect">
                <a:avLst/>
              </a:prstGeom>
              <a:solidFill>
                <a:srgbClr val="595959"/>
              </a:solidFill>
              <a:ln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2000" b="1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latin typeface="+mn-ea"/>
                  </a:rPr>
                  <a:t>X</a:t>
                </a:r>
                <a:endParaRPr lang="ko-KR" altLang="en-US" sz="2000" b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+mn-ea"/>
                </a:endParaRPr>
              </a:p>
            </p:txBody>
          </p:sp>
          <p:sp>
            <p:nvSpPr>
              <p:cNvPr id="27" name="직사각형 26">
                <a:extLst>
                  <a:ext uri="{FF2B5EF4-FFF2-40B4-BE49-F238E27FC236}">
                    <a16:creationId xmlns:a16="http://schemas.microsoft.com/office/drawing/2014/main" id="{BA9A2683-9A74-B05A-0438-8DD3A1B81058}"/>
                  </a:ext>
                </a:extLst>
              </p:cNvPr>
              <p:cNvSpPr/>
              <p:nvPr/>
            </p:nvSpPr>
            <p:spPr>
              <a:xfrm>
                <a:off x="8153263" y="4557069"/>
                <a:ext cx="1800000" cy="288000"/>
              </a:xfrm>
              <a:prstGeom prst="rect">
                <a:avLst/>
              </a:prstGeom>
              <a:solidFill>
                <a:srgbClr val="595959"/>
              </a:solidFill>
              <a:ln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2000" b="1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latin typeface="+mn-ea"/>
                  </a:rPr>
                  <a:t>X</a:t>
                </a:r>
                <a:endParaRPr lang="ko-KR" altLang="en-US" sz="2000" b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+mn-ea"/>
                </a:endParaRPr>
              </a:p>
            </p:txBody>
          </p:sp>
          <p:sp>
            <p:nvSpPr>
              <p:cNvPr id="28" name="직사각형 27">
                <a:extLst>
                  <a:ext uri="{FF2B5EF4-FFF2-40B4-BE49-F238E27FC236}">
                    <a16:creationId xmlns:a16="http://schemas.microsoft.com/office/drawing/2014/main" id="{677BA646-2C59-F681-0C2B-093FB27617D4}"/>
                  </a:ext>
                </a:extLst>
              </p:cNvPr>
              <p:cNvSpPr/>
              <p:nvPr/>
            </p:nvSpPr>
            <p:spPr>
              <a:xfrm>
                <a:off x="8162788" y="4929055"/>
                <a:ext cx="1800000" cy="288000"/>
              </a:xfrm>
              <a:prstGeom prst="rect">
                <a:avLst/>
              </a:prstGeom>
              <a:solidFill>
                <a:srgbClr val="595959"/>
              </a:solidFill>
              <a:ln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2000" b="1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latin typeface="+mn-ea"/>
                  </a:rPr>
                  <a:t>X</a:t>
                </a:r>
                <a:endParaRPr lang="ko-KR" altLang="en-US" sz="2000" b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+mn-ea"/>
                </a:endParaRPr>
              </a:p>
            </p:txBody>
          </p:sp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E6B58BAE-2949-87C9-D967-5C397AD06071}"/>
                  </a:ext>
                </a:extLst>
              </p:cNvPr>
              <p:cNvSpPr/>
              <p:nvPr/>
            </p:nvSpPr>
            <p:spPr>
              <a:xfrm>
                <a:off x="8153263" y="2325171"/>
                <a:ext cx="1800000" cy="288000"/>
              </a:xfrm>
              <a:prstGeom prst="rect">
                <a:avLst/>
              </a:prstGeom>
              <a:solidFill>
                <a:srgbClr val="595959"/>
              </a:solidFill>
              <a:ln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2000" b="1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latin typeface="+mn-ea"/>
                  </a:rPr>
                  <a:t>X</a:t>
                </a:r>
                <a:endParaRPr lang="ko-KR" altLang="en-US" sz="2000" b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+mn-ea"/>
                </a:endParaRPr>
              </a:p>
            </p:txBody>
          </p:sp>
          <p:sp>
            <p:nvSpPr>
              <p:cNvPr id="30" name="직사각형 29">
                <a:extLst>
                  <a:ext uri="{FF2B5EF4-FFF2-40B4-BE49-F238E27FC236}">
                    <a16:creationId xmlns:a16="http://schemas.microsoft.com/office/drawing/2014/main" id="{38D63E23-DBAD-D31E-5926-2ED53ED1AA8A}"/>
                  </a:ext>
                </a:extLst>
              </p:cNvPr>
              <p:cNvSpPr/>
              <p:nvPr/>
            </p:nvSpPr>
            <p:spPr>
              <a:xfrm>
                <a:off x="8153263" y="3441120"/>
                <a:ext cx="1800000" cy="288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>
                    <a:lumMod val="5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rIns="72000" rtlCol="0" anchor="ctr"/>
              <a:lstStyle/>
              <a:p>
                <a:pPr algn="ctr"/>
                <a:r>
                  <a:rPr lang="en-US" altLang="ko-KR" sz="1000">
                    <a:ln>
                      <a:solidFill>
                        <a:schemeClr val="accent2">
                          <a:lumMod val="60000"/>
                          <a:lumOff val="40000"/>
                          <a:alpha val="0"/>
                        </a:schemeClr>
                      </a:solidFill>
                    </a:ln>
                    <a:solidFill>
                      <a:schemeClr val="bg1">
                        <a:lumMod val="50000"/>
                      </a:schemeClr>
                    </a:solidFill>
                    <a:latin typeface="+mn-ea"/>
                  </a:rPr>
                  <a:t>O</a:t>
                </a:r>
                <a:endParaRPr lang="ko-KR" altLang="en-US" sz="1000">
                  <a:ln>
                    <a:solidFill>
                      <a:schemeClr val="accent2">
                        <a:lumMod val="60000"/>
                        <a:lumOff val="40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31" name="직사각형 30">
                <a:extLst>
                  <a:ext uri="{FF2B5EF4-FFF2-40B4-BE49-F238E27FC236}">
                    <a16:creationId xmlns:a16="http://schemas.microsoft.com/office/drawing/2014/main" id="{52E05E5C-8D5C-FD6D-6F71-25CFBB90D6EF}"/>
                  </a:ext>
                </a:extLst>
              </p:cNvPr>
              <p:cNvSpPr/>
              <p:nvPr/>
            </p:nvSpPr>
            <p:spPr>
              <a:xfrm>
                <a:off x="8153263" y="4185086"/>
                <a:ext cx="1800000" cy="288000"/>
              </a:xfrm>
              <a:prstGeom prst="rect">
                <a:avLst/>
              </a:prstGeom>
              <a:solidFill>
                <a:srgbClr val="595959"/>
              </a:solidFill>
              <a:ln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2000" b="1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latin typeface="+mn-ea"/>
                  </a:rPr>
                  <a:t>X</a:t>
                </a:r>
                <a:endParaRPr lang="ko-KR" altLang="en-US" sz="2000" b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+mn-ea"/>
                </a:endParaRPr>
              </a:p>
            </p:txBody>
          </p:sp>
          <p:grpSp>
            <p:nvGrpSpPr>
              <p:cNvPr id="32" name="그룹 31">
                <a:extLst>
                  <a:ext uri="{FF2B5EF4-FFF2-40B4-BE49-F238E27FC236}">
                    <a16:creationId xmlns:a16="http://schemas.microsoft.com/office/drawing/2014/main" id="{4BC6EC1F-B106-D1C2-D84E-773BC4BA6531}"/>
                  </a:ext>
                </a:extLst>
              </p:cNvPr>
              <p:cNvGrpSpPr/>
              <p:nvPr/>
            </p:nvGrpSpPr>
            <p:grpSpPr>
              <a:xfrm>
                <a:off x="8305663" y="1933553"/>
                <a:ext cx="259610" cy="255270"/>
                <a:chOff x="5892841" y="2046405"/>
                <a:chExt cx="259610" cy="255270"/>
              </a:xfrm>
            </p:grpSpPr>
            <p:sp>
              <p:nvSpPr>
                <p:cNvPr id="33" name="타원 32">
                  <a:extLst>
                    <a:ext uri="{FF2B5EF4-FFF2-40B4-BE49-F238E27FC236}">
                      <a16:creationId xmlns:a16="http://schemas.microsoft.com/office/drawing/2014/main" id="{114659E3-612B-8678-9699-D5EC66145605}"/>
                    </a:ext>
                  </a:extLst>
                </p:cNvPr>
                <p:cNvSpPr/>
                <p:nvPr/>
              </p:nvSpPr>
              <p:spPr>
                <a:xfrm>
                  <a:off x="5895276" y="2046405"/>
                  <a:ext cx="255270" cy="255270"/>
                </a:xfrm>
                <a:prstGeom prst="ellipse">
                  <a:avLst/>
                </a:prstGeom>
                <a:solidFill>
                  <a:schemeClr val="bg1"/>
                </a:solidFill>
                <a:ln w="6350">
                  <a:noFill/>
                </a:ln>
                <a:effectLst>
                  <a:outerShdw blurRad="50800" dist="38100" dir="2700000" algn="tl" rotWithShape="0">
                    <a:prstClr val="black">
                      <a:alpha val="2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+mn-ea"/>
                  </a:endParaRPr>
                </a:p>
              </p:txBody>
            </p:sp>
            <p:pic>
              <p:nvPicPr>
                <p:cNvPr id="34" name="Picture 4" descr="NH농협 CI 소개 (ai파일)">
                  <a:extLst>
                    <a:ext uri="{FF2B5EF4-FFF2-40B4-BE49-F238E27FC236}">
                      <a16:creationId xmlns:a16="http://schemas.microsoft.com/office/drawing/2014/main" id="{17AD1E35-C701-23DD-07C4-E80D076FDCD8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3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1212" t="29692" r="20987" b="30247"/>
                <a:stretch>
                  <a:fillRect/>
                </a:stretch>
              </p:blipFill>
              <p:spPr bwMode="auto">
                <a:xfrm>
                  <a:off x="5892841" y="2109480"/>
                  <a:ext cx="259610" cy="124752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</p:grp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1821EA7D-5C4D-B79A-3F52-44E32E40D174}"/>
                </a:ext>
              </a:extLst>
            </p:cNvPr>
            <p:cNvSpPr/>
            <p:nvPr/>
          </p:nvSpPr>
          <p:spPr>
            <a:xfrm>
              <a:off x="9979025" y="1881188"/>
              <a:ext cx="1800000" cy="36000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b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+mn-ea"/>
                </a:rPr>
                <a:t>M</a:t>
              </a:r>
              <a:r>
                <a:rPr lang="ko-KR" altLang="en-US" sz="1400" b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+mn-ea"/>
                </a:rPr>
                <a:t>금고 </a:t>
              </a:r>
              <a:r>
                <a:rPr lang="en-US" altLang="ko-KR" sz="1400" b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+mn-ea"/>
                </a:rPr>
                <a:t>(</a:t>
              </a:r>
              <a:r>
                <a:rPr lang="ko-KR" altLang="en-US" sz="1400" b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+mn-ea"/>
                </a:rPr>
                <a:t>案</a:t>
              </a:r>
              <a:r>
                <a:rPr lang="en-US" altLang="ko-KR" sz="1400" b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+mn-ea"/>
                </a:rPr>
                <a:t>)</a:t>
              </a:r>
              <a:endPara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B79BBDF0-16B0-422E-BDAF-3035FC836BB0}"/>
                </a:ext>
              </a:extLst>
            </p:cNvPr>
            <p:cNvSpPr/>
            <p:nvPr/>
          </p:nvSpPr>
          <p:spPr>
            <a:xfrm>
              <a:off x="9979025" y="2697154"/>
              <a:ext cx="1800000" cy="288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rIns="72000" rtlCol="0" anchor="ctr"/>
            <a:lstStyle/>
            <a:p>
              <a:pPr algn="ctr"/>
              <a:r>
                <a:rPr lang="en-US" altLang="ko-KR" sz="1000">
                  <a:ln>
                    <a:solidFill>
                      <a:schemeClr val="accent2">
                        <a:lumMod val="60000"/>
                        <a:lumOff val="40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O</a:t>
              </a:r>
              <a:endParaRPr lang="ko-KR" altLang="en-US" sz="10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791324CE-41C9-C3F5-55BC-7DE25C0D1660}"/>
                </a:ext>
              </a:extLst>
            </p:cNvPr>
            <p:cNvSpPr/>
            <p:nvPr/>
          </p:nvSpPr>
          <p:spPr>
            <a:xfrm>
              <a:off x="9979025" y="3069137"/>
              <a:ext cx="1800000" cy="288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rIns="72000" rtlCol="0" anchor="ctr"/>
            <a:lstStyle/>
            <a:p>
              <a:pPr algn="ctr"/>
              <a:r>
                <a:rPr lang="en-US" altLang="ko-KR" sz="1000">
                  <a:ln>
                    <a:solidFill>
                      <a:schemeClr val="accent2">
                        <a:lumMod val="60000"/>
                        <a:lumOff val="40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O</a:t>
              </a:r>
              <a:endParaRPr lang="ko-KR" altLang="en-US" sz="10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1F8BBAA9-DA81-1BA0-B213-A0C588C6F653}"/>
                </a:ext>
              </a:extLst>
            </p:cNvPr>
            <p:cNvSpPr/>
            <p:nvPr/>
          </p:nvSpPr>
          <p:spPr>
            <a:xfrm>
              <a:off x="9979025" y="4557069"/>
              <a:ext cx="1800000" cy="288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rIns="72000" rtlCol="0" anchor="ctr"/>
            <a:lstStyle/>
            <a:p>
              <a:pPr algn="ctr"/>
              <a:r>
                <a:rPr lang="en-US" altLang="ko-KR" sz="1000">
                  <a:ln>
                    <a:solidFill>
                      <a:schemeClr val="accent2">
                        <a:lumMod val="60000"/>
                        <a:lumOff val="40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O</a:t>
              </a:r>
              <a:endParaRPr lang="ko-KR" altLang="en-US" sz="10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479A1B7A-AC19-EF38-AB4D-F4E510A920C1}"/>
                </a:ext>
              </a:extLst>
            </p:cNvPr>
            <p:cNvSpPr/>
            <p:nvPr/>
          </p:nvSpPr>
          <p:spPr>
            <a:xfrm>
              <a:off x="9979025" y="4929055"/>
              <a:ext cx="1800000" cy="288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rIns="72000" rtlCol="0" anchor="ctr"/>
            <a:lstStyle/>
            <a:p>
              <a:pPr algn="ctr"/>
              <a:r>
                <a:rPr lang="en-US" altLang="ko-KR" sz="1000">
                  <a:ln>
                    <a:solidFill>
                      <a:schemeClr val="accent2">
                        <a:lumMod val="60000"/>
                        <a:lumOff val="40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O</a:t>
              </a:r>
              <a:endParaRPr lang="ko-KR" altLang="en-US" sz="10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F153913E-E473-9924-AA2B-EEE891729D61}"/>
                </a:ext>
              </a:extLst>
            </p:cNvPr>
            <p:cNvSpPr/>
            <p:nvPr/>
          </p:nvSpPr>
          <p:spPr>
            <a:xfrm>
              <a:off x="9979025" y="2325171"/>
              <a:ext cx="1800000" cy="288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rIns="72000" rtlCol="0" anchor="ctr"/>
            <a:lstStyle/>
            <a:p>
              <a:pPr algn="ctr"/>
              <a:r>
                <a:rPr lang="en-US" altLang="ko-KR" sz="1000">
                  <a:ln>
                    <a:solidFill>
                      <a:schemeClr val="accent2">
                        <a:lumMod val="60000"/>
                        <a:lumOff val="40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O</a:t>
              </a:r>
              <a:endParaRPr lang="ko-KR" altLang="en-US" sz="10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B2C6D75B-16BF-18BA-390B-07C3C25735DC}"/>
                </a:ext>
              </a:extLst>
            </p:cNvPr>
            <p:cNvSpPr/>
            <p:nvPr/>
          </p:nvSpPr>
          <p:spPr>
            <a:xfrm>
              <a:off x="9979025" y="3441120"/>
              <a:ext cx="1800000" cy="288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rIns="72000" rtlCol="0" anchor="ctr"/>
            <a:lstStyle/>
            <a:p>
              <a:pPr algn="ctr"/>
              <a:r>
                <a:rPr lang="en-US" altLang="ko-KR" sz="1000">
                  <a:ln>
                    <a:solidFill>
                      <a:schemeClr val="accent2">
                        <a:lumMod val="60000"/>
                        <a:lumOff val="40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O</a:t>
              </a:r>
              <a:endParaRPr lang="ko-KR" altLang="en-US" sz="10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68262E5F-C4A5-DFE6-2EB7-B632D8B249F7}"/>
                </a:ext>
              </a:extLst>
            </p:cNvPr>
            <p:cNvSpPr/>
            <p:nvPr/>
          </p:nvSpPr>
          <p:spPr>
            <a:xfrm>
              <a:off x="9979025" y="3813103"/>
              <a:ext cx="1800000" cy="28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rIns="72000" rtlCol="0" anchor="ctr"/>
            <a:lstStyle/>
            <a:p>
              <a:pPr algn="ctr"/>
              <a:r>
                <a:rPr lang="ko-KR" altLang="en-US" sz="1200" b="1" i="1">
                  <a:ln>
                    <a:solidFill>
                      <a:schemeClr val="accent2">
                        <a:lumMod val="60000"/>
                        <a:lumOff val="40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진행 중</a:t>
              </a: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E38234D3-501B-9798-07DA-AC4FC3611AEB}"/>
                </a:ext>
              </a:extLst>
            </p:cNvPr>
            <p:cNvSpPr/>
            <p:nvPr/>
          </p:nvSpPr>
          <p:spPr>
            <a:xfrm>
              <a:off x="9979025" y="4185086"/>
              <a:ext cx="1800000" cy="28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rIns="72000" rtlCol="0" anchor="ctr"/>
            <a:lstStyle/>
            <a:p>
              <a:pPr algn="ctr"/>
              <a:r>
                <a:rPr lang="ko-KR" altLang="en-US" sz="1200" b="1" i="1">
                  <a:ln>
                    <a:solidFill>
                      <a:schemeClr val="accent2">
                        <a:lumMod val="60000"/>
                        <a:lumOff val="40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진행 중</a:t>
              </a:r>
            </a:p>
          </p:txBody>
        </p: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C2D43A96-C5EB-B644-3D2D-C5C3C308C08F}"/>
                </a:ext>
              </a:extLst>
            </p:cNvPr>
            <p:cNvGrpSpPr/>
            <p:nvPr/>
          </p:nvGrpSpPr>
          <p:grpSpPr>
            <a:xfrm>
              <a:off x="10131425" y="1933553"/>
              <a:ext cx="255270" cy="255270"/>
              <a:chOff x="9243276" y="2046405"/>
              <a:chExt cx="255270" cy="255270"/>
            </a:xfrm>
          </p:grpSpPr>
          <p:sp>
            <p:nvSpPr>
              <p:cNvPr id="21" name="타원 20">
                <a:extLst>
                  <a:ext uri="{FF2B5EF4-FFF2-40B4-BE49-F238E27FC236}">
                    <a16:creationId xmlns:a16="http://schemas.microsoft.com/office/drawing/2014/main" id="{82AA7BA5-19B9-5EF8-0995-41E3919D61A6}"/>
                  </a:ext>
                </a:extLst>
              </p:cNvPr>
              <p:cNvSpPr/>
              <p:nvPr/>
            </p:nvSpPr>
            <p:spPr>
              <a:xfrm>
                <a:off x="9243276" y="2046405"/>
                <a:ext cx="255270" cy="255270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+mn-ea"/>
                </a:endParaRPr>
              </a:p>
            </p:txBody>
          </p:sp>
          <p:pic>
            <p:nvPicPr>
              <p:cNvPr id="22" name="Picture 6" descr="MG손보 손절수순에…MG새마을금고 “상표권 계약 해지추진” - 매일경제">
                <a:extLst>
                  <a:ext uri="{FF2B5EF4-FFF2-40B4-BE49-F238E27FC236}">
                    <a16:creationId xmlns:a16="http://schemas.microsoft.com/office/drawing/2014/main" id="{754B4B59-A268-46CA-A188-68212A6AC6C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760" t="3390" r="22832" b="30791"/>
              <a:stretch>
                <a:fillRect/>
              </a:stretch>
            </p:blipFill>
            <p:spPr bwMode="auto">
              <a:xfrm>
                <a:off x="9255766" y="2065794"/>
                <a:ext cx="230289" cy="20069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18918CC9-EBEE-CF65-C77A-30C458B5538E}"/>
              </a:ext>
            </a:extLst>
          </p:cNvPr>
          <p:cNvGrpSpPr/>
          <p:nvPr/>
        </p:nvGrpSpPr>
        <p:grpSpPr>
          <a:xfrm>
            <a:off x="331785" y="26929"/>
            <a:ext cx="900000" cy="180000"/>
            <a:chOff x="407985" y="52329"/>
            <a:chExt cx="900000" cy="180000"/>
          </a:xfrm>
        </p:grpSpPr>
        <p:sp>
          <p:nvSpPr>
            <p:cNvPr id="3" name="사각형: 둥근 모서리 2">
              <a:extLst>
                <a:ext uri="{FF2B5EF4-FFF2-40B4-BE49-F238E27FC236}">
                  <a16:creationId xmlns:a16="http://schemas.microsoft.com/office/drawing/2014/main" id="{0ABEEB73-C897-D1DF-E47F-A0FE3D9BCBEB}"/>
                </a:ext>
              </a:extLst>
            </p:cNvPr>
            <p:cNvSpPr/>
            <p:nvPr/>
          </p:nvSpPr>
          <p:spPr>
            <a:xfrm>
              <a:off x="407985" y="52329"/>
              <a:ext cx="180000" cy="18000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+mn-ea"/>
                </a:rPr>
                <a:t>1</a:t>
              </a:r>
            </a:p>
          </p:txBody>
        </p:sp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8316276C-F9A9-8946-0BC5-BBAF79385FEA}"/>
                </a:ext>
              </a:extLst>
            </p:cNvPr>
            <p:cNvSpPr/>
            <p:nvPr/>
          </p:nvSpPr>
          <p:spPr>
            <a:xfrm>
              <a:off x="587985" y="52329"/>
              <a:ext cx="180000" cy="18000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+mn-ea"/>
                </a:rPr>
                <a:t>2</a:t>
              </a:r>
            </a:p>
          </p:txBody>
        </p:sp>
        <p:sp>
          <p:nvSpPr>
            <p:cNvPr id="62" name="사각형: 둥근 모서리 61">
              <a:extLst>
                <a:ext uri="{FF2B5EF4-FFF2-40B4-BE49-F238E27FC236}">
                  <a16:creationId xmlns:a16="http://schemas.microsoft.com/office/drawing/2014/main" id="{CE0E2DA7-0622-0EED-7603-A9139B3D4272}"/>
                </a:ext>
              </a:extLst>
            </p:cNvPr>
            <p:cNvSpPr/>
            <p:nvPr/>
          </p:nvSpPr>
          <p:spPr>
            <a:xfrm>
              <a:off x="767985" y="52329"/>
              <a:ext cx="180000" cy="18000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+mn-ea"/>
                </a:rPr>
                <a:t>3</a:t>
              </a:r>
            </a:p>
          </p:txBody>
        </p:sp>
        <p:sp>
          <p:nvSpPr>
            <p:cNvPr id="63" name="사각형: 둥근 모서리 62">
              <a:extLst>
                <a:ext uri="{FF2B5EF4-FFF2-40B4-BE49-F238E27FC236}">
                  <a16:creationId xmlns:a16="http://schemas.microsoft.com/office/drawing/2014/main" id="{D0C73D8E-DFE6-F92B-BE01-059D11760387}"/>
                </a:ext>
              </a:extLst>
            </p:cNvPr>
            <p:cNvSpPr/>
            <p:nvPr/>
          </p:nvSpPr>
          <p:spPr>
            <a:xfrm>
              <a:off x="947985" y="52329"/>
              <a:ext cx="180000" cy="180000"/>
            </a:xfrm>
            <a:prstGeom prst="round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+mn-ea"/>
                </a:rPr>
                <a:t>4</a:t>
              </a:r>
            </a:p>
          </p:txBody>
        </p:sp>
        <p:sp>
          <p:nvSpPr>
            <p:cNvPr id="64" name="사각형: 둥근 모서리 63">
              <a:extLst>
                <a:ext uri="{FF2B5EF4-FFF2-40B4-BE49-F238E27FC236}">
                  <a16:creationId xmlns:a16="http://schemas.microsoft.com/office/drawing/2014/main" id="{B4B62308-DD88-E981-579E-AA3598D36498}"/>
                </a:ext>
              </a:extLst>
            </p:cNvPr>
            <p:cNvSpPr/>
            <p:nvPr/>
          </p:nvSpPr>
          <p:spPr>
            <a:xfrm>
              <a:off x="1127985" y="52329"/>
              <a:ext cx="180000" cy="180000"/>
            </a:xfrm>
            <a:prstGeom prst="round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+mn-ea"/>
                </a:rPr>
                <a:t>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911130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8492A6F-2DC2-8F5A-F53A-74FB499F1BD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ko-KR" altLang="en-US"/>
              <a:t>他 </a:t>
            </a:r>
            <a:r>
              <a:rPr lang="ko-KR" altLang="en-US" err="1"/>
              <a:t>금융사</a:t>
            </a:r>
            <a:r>
              <a:rPr lang="ko-KR" altLang="en-US"/>
              <a:t> </a:t>
            </a:r>
            <a:r>
              <a:rPr lang="en-US" altLang="ko-KR"/>
              <a:t>AI</a:t>
            </a:r>
            <a:r>
              <a:rPr lang="ko-KR" altLang="en-US"/>
              <a:t>거버넌스 협의체 지침 발췌</a:t>
            </a:r>
          </a:p>
        </p:txBody>
      </p:sp>
      <p:sp>
        <p:nvSpPr>
          <p:cNvPr id="24" name="텍스트 개체 틀 23">
            <a:extLst>
              <a:ext uri="{FF2B5EF4-FFF2-40B4-BE49-F238E27FC236}">
                <a16:creationId xmlns:a16="http://schemas.microsoft.com/office/drawing/2014/main" id="{EE6875B5-D9AB-642B-CB2C-6B2CD6ED2E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25" name="텍스트 개체 틀 24">
            <a:extLst>
              <a:ext uri="{FF2B5EF4-FFF2-40B4-BE49-F238E27FC236}">
                <a16:creationId xmlns:a16="http://schemas.microsoft.com/office/drawing/2014/main" id="{68AFE943-04F0-37D7-12F6-446F30340AE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/>
              <a:t>[Back-up] AI</a:t>
            </a:r>
            <a:r>
              <a:rPr lang="ko-KR" altLang="en-US" err="1"/>
              <a:t>거버넌스협의체</a:t>
            </a:r>
            <a:r>
              <a:rPr lang="ko-KR" altLang="en-US"/>
              <a:t> 관련 지침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6FD6658-8BED-3E54-1267-A2DF2738B91E}"/>
              </a:ext>
            </a:extLst>
          </p:cNvPr>
          <p:cNvSpPr/>
          <p:nvPr/>
        </p:nvSpPr>
        <p:spPr>
          <a:xfrm>
            <a:off x="334964" y="1341437"/>
            <a:ext cx="3827848" cy="37242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K</a:t>
            </a:r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은행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046266D-858F-CB03-D35F-E6D3EA7E48A5}"/>
              </a:ext>
            </a:extLst>
          </p:cNvPr>
          <p:cNvSpPr/>
          <p:nvPr/>
        </p:nvSpPr>
        <p:spPr>
          <a:xfrm>
            <a:off x="334964" y="1794829"/>
            <a:ext cx="3827848" cy="4729795"/>
          </a:xfrm>
          <a:prstGeom prst="rect">
            <a:avLst/>
          </a:prstGeo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72000" rtlCol="0" anchor="ctr"/>
          <a:lstStyle/>
          <a:p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제 </a:t>
            </a: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3</a:t>
            </a:r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조</a:t>
            </a: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구성</a:t>
            </a: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) ① </a:t>
            </a:r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위원회의 위원은 </a:t>
            </a: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AI·DT </a:t>
            </a:r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추진그룹대표</a:t>
            </a: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err="1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리스크관리그룹대표</a:t>
            </a: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소비자보호그룹대표</a:t>
            </a: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err="1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테크인프라본부장</a:t>
            </a: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정보보호본부장으로 구성하고 </a:t>
            </a: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AI·DT </a:t>
            </a:r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추진그룹대표를 위원장으로 한다</a:t>
            </a: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. </a:t>
            </a:r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위원장은 사안에 따라 위원을 조정하여 운영할 수 있다</a:t>
            </a: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. </a:t>
            </a:r>
          </a:p>
          <a:p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….(</a:t>
            </a:r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중략</a:t>
            </a: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)….</a:t>
            </a:r>
          </a:p>
          <a:p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제</a:t>
            </a: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4</a:t>
            </a:r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조</a:t>
            </a: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결의사항 등</a:t>
            </a: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) ① </a:t>
            </a:r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위원회의 결의사항은 다음 각 호로 한다</a:t>
            </a: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. </a:t>
            </a:r>
          </a:p>
          <a:p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1. AI </a:t>
            </a:r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윤리기준의 제</a:t>
            </a: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·</a:t>
            </a:r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개정</a:t>
            </a:r>
          </a:p>
          <a:p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2. AI </a:t>
            </a:r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위험관리정책의 제</a:t>
            </a: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·</a:t>
            </a:r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개정에 관한 사항</a:t>
            </a:r>
          </a:p>
          <a:p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3. </a:t>
            </a:r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고위험 등급으로 분류된 </a:t>
            </a: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AI </a:t>
            </a:r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서비스의 위험관리계획 사전승인 및 운영요청에 대한 사전승인</a:t>
            </a:r>
          </a:p>
          <a:p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4. </a:t>
            </a:r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기타 위원회 또는 위원장이 필요하다고 인정하는 사항</a:t>
            </a:r>
          </a:p>
          <a:p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② 위원회의 심의사항은 다음 각 호로 한다</a:t>
            </a: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. </a:t>
            </a:r>
          </a:p>
          <a:p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1. AI </a:t>
            </a:r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서비스 위험등급분류 결과 이견에 대한 조정</a:t>
            </a:r>
          </a:p>
          <a:p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2. AI </a:t>
            </a:r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서비스 모니터링 등 결과에 따른 개선 권고에 관한 사항</a:t>
            </a:r>
          </a:p>
          <a:p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3. </a:t>
            </a:r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기타 위원회 또는 위원장이 필요하다고 인정하는 사항</a:t>
            </a:r>
            <a:endParaRPr lang="en-US" altLang="ko-KR" sz="1200">
              <a:ln>
                <a:solidFill>
                  <a:schemeClr val="accent2">
                    <a:lumMod val="60000"/>
                    <a:lumOff val="40000"/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D953C45B-DE38-19DF-A30C-FCA807A63CC6}"/>
              </a:ext>
            </a:extLst>
          </p:cNvPr>
          <p:cNvGrpSpPr/>
          <p:nvPr/>
        </p:nvGrpSpPr>
        <p:grpSpPr>
          <a:xfrm>
            <a:off x="1485626" y="1385221"/>
            <a:ext cx="258501" cy="264080"/>
            <a:chOff x="2444115" y="2050000"/>
            <a:chExt cx="255270" cy="255270"/>
          </a:xfrm>
        </p:grpSpPr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843AE58B-8786-FD5C-F2B3-0726B632727C}"/>
                </a:ext>
              </a:extLst>
            </p:cNvPr>
            <p:cNvSpPr/>
            <p:nvPr/>
          </p:nvSpPr>
          <p:spPr>
            <a:xfrm>
              <a:off x="2444115" y="2050000"/>
              <a:ext cx="255270" cy="255270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pic>
          <p:nvPicPr>
            <p:cNvPr id="23" name="Picture 2" descr="KB 국민 로고 소개 (ai파일)">
              <a:extLst>
                <a:ext uri="{FF2B5EF4-FFF2-40B4-BE49-F238E27FC236}">
                  <a16:creationId xmlns:a16="http://schemas.microsoft.com/office/drawing/2014/main" id="{9E2CEC5B-E9BE-760A-2297-FA1497C3BE5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clrChange>
                <a:clrFrom>
                  <a:srgbClr val="F9F9F9"/>
                </a:clrFrom>
                <a:clrTo>
                  <a:srgbClr val="F9F9F9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054" t="22190" r="23617" b="22050"/>
            <a:stretch>
              <a:fillRect/>
            </a:stretch>
          </p:blipFill>
          <p:spPr bwMode="auto">
            <a:xfrm>
              <a:off x="2460307" y="2099433"/>
              <a:ext cx="222885" cy="1607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E546A62-DBB7-14A2-E149-46FB51519D8B}"/>
              </a:ext>
            </a:extLst>
          </p:cNvPr>
          <p:cNvSpPr/>
          <p:nvPr/>
        </p:nvSpPr>
        <p:spPr>
          <a:xfrm>
            <a:off x="4199539" y="1341437"/>
            <a:ext cx="3827848" cy="37242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N</a:t>
            </a:r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은행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5980C05-3F7D-F849-3DA5-B5F4AF84B9F7}"/>
              </a:ext>
            </a:extLst>
          </p:cNvPr>
          <p:cNvSpPr/>
          <p:nvPr/>
        </p:nvSpPr>
        <p:spPr>
          <a:xfrm>
            <a:off x="4199539" y="1794829"/>
            <a:ext cx="3827848" cy="4729795"/>
          </a:xfrm>
          <a:prstGeom prst="rect">
            <a:avLst/>
          </a:prstGeo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72000" rtlCol="0" anchor="ctr"/>
          <a:lstStyle/>
          <a:p>
            <a:r>
              <a:rPr lang="ko-KR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제</a:t>
            </a: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8</a:t>
            </a:r>
            <a:r>
              <a:rPr lang="ko-KR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조 </a:t>
            </a: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(AI</a:t>
            </a:r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거버넌스</a:t>
            </a:r>
            <a:r>
              <a:rPr lang="ko-KR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 협의회</a:t>
            </a: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) </a:t>
            </a:r>
          </a:p>
          <a:p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….(</a:t>
            </a:r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중략</a:t>
            </a: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)….</a:t>
            </a:r>
            <a:endParaRPr lang="ko-KR" altLang="ko-KR" sz="1200">
              <a:ln>
                <a:solidFill>
                  <a:schemeClr val="accent2">
                    <a:lumMod val="60000"/>
                    <a:lumOff val="40000"/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  <a:p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② </a:t>
            </a:r>
            <a:r>
              <a:rPr lang="ko-KR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위원장은 </a:t>
            </a: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AI</a:t>
            </a:r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거버넌스</a:t>
            </a:r>
            <a:r>
              <a:rPr lang="ko-KR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 최고책임자로 하며</a:t>
            </a: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위원은 다음 각 호와 같이 구성한다</a:t>
            </a: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. </a:t>
            </a:r>
            <a:endParaRPr lang="ko-KR" altLang="ko-KR" sz="1200">
              <a:ln>
                <a:solidFill>
                  <a:schemeClr val="accent2">
                    <a:lumMod val="60000"/>
                    <a:lumOff val="40000"/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  <a:p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1. AI</a:t>
            </a:r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거버넌스</a:t>
            </a:r>
            <a:r>
              <a:rPr lang="ko-KR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 총괄부서장</a:t>
            </a:r>
          </a:p>
          <a:p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2. </a:t>
            </a:r>
            <a:r>
              <a:rPr lang="ko-KR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데이터 담당부서장 </a:t>
            </a:r>
          </a:p>
          <a:p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3. IT</a:t>
            </a:r>
            <a:r>
              <a:rPr lang="ko-KR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기획 담당부서장 </a:t>
            </a:r>
          </a:p>
          <a:p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4. </a:t>
            </a:r>
            <a:r>
              <a:rPr lang="ko-KR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고객정보보호 담당부서장 </a:t>
            </a:r>
          </a:p>
          <a:p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5. </a:t>
            </a:r>
            <a:r>
              <a:rPr lang="ko-KR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정보보호 담당부서장 </a:t>
            </a:r>
          </a:p>
          <a:p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6. </a:t>
            </a:r>
            <a:r>
              <a:rPr lang="ko-KR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소비자보호 담당부서장 </a:t>
            </a:r>
          </a:p>
          <a:p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7. </a:t>
            </a:r>
            <a:r>
              <a:rPr lang="ko-KR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부의 안건 담당부서장 및 관련부서장 </a:t>
            </a:r>
          </a:p>
          <a:p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8. </a:t>
            </a:r>
            <a:r>
              <a:rPr lang="ko-KR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기타 위원장이 필요하다고 인정하는 부서장</a:t>
            </a:r>
          </a:p>
          <a:p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….(</a:t>
            </a:r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중략</a:t>
            </a: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)….</a:t>
            </a:r>
          </a:p>
          <a:p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⑦ </a:t>
            </a:r>
            <a:r>
              <a:rPr lang="ko-KR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협의회에 제출할 사항은 다음 각 호와 같이 심의•의결사항과 보고사항으로 구분한다</a:t>
            </a: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.</a:t>
            </a:r>
            <a:endParaRPr lang="ko-KR" altLang="ko-KR" sz="1200">
              <a:ln>
                <a:solidFill>
                  <a:schemeClr val="accent2">
                    <a:lumMod val="60000"/>
                    <a:lumOff val="40000"/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  <a:p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1. </a:t>
            </a:r>
            <a:r>
              <a:rPr lang="ko-KR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심의•의결사항은 다음 각 목과 같다</a:t>
            </a: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. </a:t>
            </a:r>
            <a:endParaRPr lang="ko-KR" altLang="ko-KR" sz="1200">
              <a:ln>
                <a:solidFill>
                  <a:schemeClr val="accent2">
                    <a:lumMod val="60000"/>
                    <a:lumOff val="40000"/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  <a:p>
            <a:r>
              <a:rPr lang="ko-KR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가</a:t>
            </a: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. AI</a:t>
            </a:r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거버넌스</a:t>
            </a:r>
            <a:r>
              <a:rPr lang="ko-KR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 정책 및 과제에 관한 사항 </a:t>
            </a:r>
          </a:p>
          <a:p>
            <a:r>
              <a:rPr lang="ko-KR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나</a:t>
            </a: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. </a:t>
            </a:r>
            <a:r>
              <a:rPr lang="ko-KR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신규 고위험 </a:t>
            </a: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AI </a:t>
            </a:r>
            <a:r>
              <a:rPr lang="ko-KR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서비스에 대한 운영 승인에 관한 사항 </a:t>
            </a:r>
          </a:p>
          <a:p>
            <a:r>
              <a:rPr lang="ko-KR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다</a:t>
            </a: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. </a:t>
            </a:r>
            <a:r>
              <a:rPr lang="ko-KR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기타 위원장이 필요하다고 정한 사항 </a:t>
            </a:r>
          </a:p>
          <a:p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2. </a:t>
            </a:r>
            <a:r>
              <a:rPr lang="ko-KR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보고사항은 다음 각 목과 같다</a:t>
            </a: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. </a:t>
            </a:r>
            <a:endParaRPr lang="ko-KR" altLang="ko-KR" sz="1200">
              <a:ln>
                <a:solidFill>
                  <a:schemeClr val="accent2">
                    <a:lumMod val="60000"/>
                    <a:lumOff val="40000"/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  <a:p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…(</a:t>
            </a:r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후략</a:t>
            </a: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)…</a:t>
            </a:r>
            <a:endParaRPr lang="ko-KR" altLang="ko-KR" sz="1200">
              <a:ln>
                <a:solidFill>
                  <a:schemeClr val="accent2">
                    <a:lumMod val="60000"/>
                    <a:lumOff val="40000"/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C64E4723-31A4-8E65-74AA-BF9042C5E9FE}"/>
              </a:ext>
            </a:extLst>
          </p:cNvPr>
          <p:cNvGrpSpPr/>
          <p:nvPr/>
        </p:nvGrpSpPr>
        <p:grpSpPr>
          <a:xfrm>
            <a:off x="5334465" y="1385221"/>
            <a:ext cx="262896" cy="264080"/>
            <a:chOff x="5892841" y="2046405"/>
            <a:chExt cx="259610" cy="255270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E18A1433-5045-920E-D9CB-0675FBF6F62A}"/>
                </a:ext>
              </a:extLst>
            </p:cNvPr>
            <p:cNvSpPr/>
            <p:nvPr/>
          </p:nvSpPr>
          <p:spPr>
            <a:xfrm>
              <a:off x="5895276" y="2046405"/>
              <a:ext cx="255270" cy="255270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pic>
          <p:nvPicPr>
            <p:cNvPr id="18" name="Picture 4" descr="NH농협 CI 소개 (ai파일)">
              <a:extLst>
                <a:ext uri="{FF2B5EF4-FFF2-40B4-BE49-F238E27FC236}">
                  <a16:creationId xmlns:a16="http://schemas.microsoft.com/office/drawing/2014/main" id="{0235C080-7998-85A9-A484-F05F9AA951D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212" t="29692" r="20987" b="30247"/>
            <a:stretch>
              <a:fillRect/>
            </a:stretch>
          </p:blipFill>
          <p:spPr bwMode="auto">
            <a:xfrm>
              <a:off x="5892841" y="2109480"/>
              <a:ext cx="259610" cy="12475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" name="직사각형 8">
            <a:extLst>
              <a:ext uri="{FF2B5EF4-FFF2-40B4-BE49-F238E27FC236}">
                <a16:creationId xmlns:a16="http://schemas.microsoft.com/office/drawing/2014/main" id="{E1759C10-77E2-56A6-D3B3-9096B9AF2980}"/>
              </a:ext>
            </a:extLst>
          </p:cNvPr>
          <p:cNvSpPr/>
          <p:nvPr/>
        </p:nvSpPr>
        <p:spPr>
          <a:xfrm>
            <a:off x="8064116" y="1341437"/>
            <a:ext cx="3827848" cy="37242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M</a:t>
            </a:r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금고 </a:t>
            </a:r>
            <a:r>
              <a:rPr lang="en-US" altLang="ko-KR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(</a:t>
            </a:r>
            <a:r>
              <a:rPr lang="ko-KR" altLang="en-US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案</a:t>
            </a:r>
            <a:r>
              <a:rPr lang="en-US" altLang="ko-KR" sz="1400" b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)</a:t>
            </a:r>
            <a:endParaRPr lang="ko-KR" altLang="en-US" sz="1400" b="1">
              <a:ln>
                <a:solidFill>
                  <a:schemeClr val="bg1"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4EBCF69-D70C-00DD-029C-4A5394CADDC7}"/>
              </a:ext>
            </a:extLst>
          </p:cNvPr>
          <p:cNvSpPr/>
          <p:nvPr/>
        </p:nvSpPr>
        <p:spPr>
          <a:xfrm>
            <a:off x="8064116" y="1794829"/>
            <a:ext cx="3827848" cy="4729795"/>
          </a:xfrm>
          <a:prstGeom prst="rect">
            <a:avLst/>
          </a:prstGeo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Ins="72000" rtlCol="0" anchor="ctr"/>
          <a:lstStyle/>
          <a:p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제</a:t>
            </a: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11</a:t>
            </a:r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조</a:t>
            </a: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(AI</a:t>
            </a:r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협의체 구성 및 운영</a:t>
            </a: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) ① AI</a:t>
            </a:r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협의체는 사안별 성격과 필요에 따라 구성원을 유연하게 조정하며</a:t>
            </a: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협의체장은 운영을 총괄한다</a:t>
            </a: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.</a:t>
            </a:r>
          </a:p>
          <a:p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….(</a:t>
            </a:r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중략</a:t>
            </a: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)….</a:t>
            </a:r>
          </a:p>
          <a:p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제</a:t>
            </a: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12</a:t>
            </a:r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조</a:t>
            </a: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(AI</a:t>
            </a:r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협의체 결의 및 심의</a:t>
            </a: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사항</a:t>
            </a: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) AI</a:t>
            </a:r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협의체는 다음 각 호의 사항을 결의 및 심의한다</a:t>
            </a: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.</a:t>
            </a:r>
          </a:p>
          <a:p>
            <a:pPr marL="228600" indent="-228600">
              <a:buAutoNum type="arabicPeriod"/>
            </a:pP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AI </a:t>
            </a:r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윤리기준 및 위험관리정책의 제</a:t>
            </a: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 · </a:t>
            </a:r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개정</a:t>
            </a:r>
            <a:endParaRPr lang="en-US" altLang="ko-KR" sz="1200">
              <a:ln>
                <a:solidFill>
                  <a:schemeClr val="accent2">
                    <a:lumMod val="60000"/>
                    <a:lumOff val="40000"/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  <a:p>
            <a:pPr marL="228600" indent="-228600">
              <a:buAutoNum type="arabicPeriod"/>
            </a:pPr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고위험등급 </a:t>
            </a: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AI</a:t>
            </a:r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서비스의 사전승인 및 관리방안</a:t>
            </a:r>
            <a:endParaRPr lang="en-US" altLang="ko-KR" sz="1200">
              <a:ln>
                <a:solidFill>
                  <a:schemeClr val="accent2">
                    <a:lumMod val="60000"/>
                    <a:lumOff val="40000"/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  <a:p>
            <a:pPr marL="228600" indent="-228600">
              <a:buAutoNum type="arabicPeriod"/>
            </a:pPr>
            <a:r>
              <a:rPr lang="en-US" altLang="ko-KR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AI</a:t>
            </a:r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서비스위험등급 분류결과 및 개선 권고</a:t>
            </a:r>
            <a:endParaRPr lang="en-US" altLang="ko-KR" sz="1200">
              <a:ln>
                <a:solidFill>
                  <a:schemeClr val="accent2">
                    <a:lumMod val="60000"/>
                    <a:lumOff val="40000"/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  <a:p>
            <a:pPr marL="228600" indent="-228600">
              <a:buAutoNum type="arabicPeriod"/>
            </a:pPr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주요 모니터링 결과에 따른 대응방안</a:t>
            </a:r>
            <a:endParaRPr lang="en-US" altLang="ko-KR" sz="1200">
              <a:ln>
                <a:solidFill>
                  <a:schemeClr val="accent2">
                    <a:lumMod val="60000"/>
                    <a:lumOff val="40000"/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  <a:p>
            <a:pPr marL="228600" indent="-228600">
              <a:buAutoNum type="arabicPeriod"/>
            </a:pPr>
            <a:r>
              <a:rPr lang="ko-KR" altLang="en-US" sz="1200">
                <a:ln>
                  <a:solidFill>
                    <a:schemeClr val="accent2">
                      <a:lumMod val="60000"/>
                      <a:lumOff val="4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</a:rPr>
              <a:t>그 밖에 협의체장이 필요하다고 인정하는 사항</a:t>
            </a:r>
            <a:endParaRPr lang="en-US" altLang="ko-KR" sz="1200">
              <a:ln>
                <a:solidFill>
                  <a:schemeClr val="accent2">
                    <a:lumMod val="60000"/>
                    <a:lumOff val="40000"/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0353BEA4-AA45-72A2-C97F-854246B9F0D6}"/>
              </a:ext>
            </a:extLst>
          </p:cNvPr>
          <p:cNvGrpSpPr/>
          <p:nvPr/>
        </p:nvGrpSpPr>
        <p:grpSpPr>
          <a:xfrm>
            <a:off x="8935243" y="1385221"/>
            <a:ext cx="258501" cy="264080"/>
            <a:chOff x="9243276" y="2046405"/>
            <a:chExt cx="255270" cy="255270"/>
          </a:xfrm>
        </p:grpSpPr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47B7379D-EAB7-0A7C-758E-1046402D53CB}"/>
                </a:ext>
              </a:extLst>
            </p:cNvPr>
            <p:cNvSpPr/>
            <p:nvPr/>
          </p:nvSpPr>
          <p:spPr>
            <a:xfrm>
              <a:off x="9243276" y="2046405"/>
              <a:ext cx="255270" cy="255270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3" name="Picture 6" descr="MG손보 손절수순에…MG새마을금고 “상표권 계약 해지추진” - 매일경제">
              <a:extLst>
                <a:ext uri="{FF2B5EF4-FFF2-40B4-BE49-F238E27FC236}">
                  <a16:creationId xmlns:a16="http://schemas.microsoft.com/office/drawing/2014/main" id="{0062F785-2BF9-7CDE-E5DB-1A8C0C5CD84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760" t="3390" r="22832" b="30791"/>
            <a:stretch>
              <a:fillRect/>
            </a:stretch>
          </p:blipFill>
          <p:spPr bwMode="auto">
            <a:xfrm>
              <a:off x="9255766" y="2065794"/>
              <a:ext cx="230289" cy="20069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8B23048C-41B1-C7F5-6AF2-2FC4852CA590}"/>
              </a:ext>
            </a:extLst>
          </p:cNvPr>
          <p:cNvGrpSpPr/>
          <p:nvPr/>
        </p:nvGrpSpPr>
        <p:grpSpPr>
          <a:xfrm>
            <a:off x="331785" y="26929"/>
            <a:ext cx="900000" cy="180000"/>
            <a:chOff x="407985" y="52329"/>
            <a:chExt cx="900000" cy="180000"/>
          </a:xfrm>
        </p:grpSpPr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E4E6CD2A-4572-12AE-90D5-C59ED86EFF57}"/>
                </a:ext>
              </a:extLst>
            </p:cNvPr>
            <p:cNvSpPr/>
            <p:nvPr/>
          </p:nvSpPr>
          <p:spPr>
            <a:xfrm>
              <a:off x="407985" y="52329"/>
              <a:ext cx="180000" cy="18000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+mn-ea"/>
                </a:rPr>
                <a:t>1</a:t>
              </a:r>
            </a:p>
          </p:txBody>
        </p:sp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00F08A43-1D32-D94B-D203-0FB2728139E0}"/>
                </a:ext>
              </a:extLst>
            </p:cNvPr>
            <p:cNvSpPr/>
            <p:nvPr/>
          </p:nvSpPr>
          <p:spPr>
            <a:xfrm>
              <a:off x="587985" y="52329"/>
              <a:ext cx="180000" cy="18000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+mn-ea"/>
                </a:rPr>
                <a:t>2</a:t>
              </a:r>
            </a:p>
          </p:txBody>
        </p:sp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B8D574FF-6E93-E97D-729D-90A1B23B54CB}"/>
                </a:ext>
              </a:extLst>
            </p:cNvPr>
            <p:cNvSpPr/>
            <p:nvPr/>
          </p:nvSpPr>
          <p:spPr>
            <a:xfrm>
              <a:off x="767985" y="52329"/>
              <a:ext cx="180000" cy="18000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+mn-ea"/>
                </a:rPr>
                <a:t>3</a:t>
              </a:r>
            </a:p>
          </p:txBody>
        </p:sp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3622F6D3-7BFB-98D1-4A19-6156FAC8BC00}"/>
                </a:ext>
              </a:extLst>
            </p:cNvPr>
            <p:cNvSpPr/>
            <p:nvPr/>
          </p:nvSpPr>
          <p:spPr>
            <a:xfrm>
              <a:off x="947985" y="52329"/>
              <a:ext cx="180000" cy="180000"/>
            </a:xfrm>
            <a:prstGeom prst="round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+mn-ea"/>
                </a:rPr>
                <a:t>4</a:t>
              </a:r>
            </a:p>
          </p:txBody>
        </p:sp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87AABF79-A4DB-95C8-0BC4-E986E340F8E8}"/>
                </a:ext>
              </a:extLst>
            </p:cNvPr>
            <p:cNvSpPr/>
            <p:nvPr/>
          </p:nvSpPr>
          <p:spPr>
            <a:xfrm>
              <a:off x="1127985" y="52329"/>
              <a:ext cx="180000" cy="180000"/>
            </a:xfrm>
            <a:prstGeom prst="roundRect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200" b="1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+mn-ea"/>
                </a:rPr>
                <a:t>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388311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12;p27">
            <a:extLst>
              <a:ext uri="{FF2B5EF4-FFF2-40B4-BE49-F238E27FC236}">
                <a16:creationId xmlns:a16="http://schemas.microsoft.com/office/drawing/2014/main" id="{5ADCDE71-882A-415A-A2B9-0068815FA276}"/>
              </a:ext>
            </a:extLst>
          </p:cNvPr>
          <p:cNvSpPr txBox="1"/>
          <p:nvPr/>
        </p:nvSpPr>
        <p:spPr>
          <a:xfrm>
            <a:off x="458561" y="3181627"/>
            <a:ext cx="11274878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1" i="0" u="none" strike="noStrike" cap="none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Verdana"/>
                <a:sym typeface="Verdana"/>
              </a:rPr>
              <a:t>Thank you!</a:t>
            </a:r>
            <a:endParaRPr sz="1400" b="0" i="0" u="none" strike="noStrike" cap="none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7154930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USTOMLAYOUT" val="F"/>
  <p:tag name="EYLAYOUT" val="White"/>
</p:tagLst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25df02f-3aee-47af-b2f3-c2ea8bcae9a6" xsi:nil="true"/>
    <lcf76f155ced4ddcb4097134ff3c332f xmlns="5192ee0d-e524-4888-b581-1910cadcd210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EB971F96850C604FA9DD4A6FAA1D7E94" ma:contentTypeVersion="11" ma:contentTypeDescription="새 문서를 만듭니다." ma:contentTypeScope="" ma:versionID="a185cea0baeaa08cace236fb6fd1ebef">
  <xsd:schema xmlns:xsd="http://www.w3.org/2001/XMLSchema" xmlns:xs="http://www.w3.org/2001/XMLSchema" xmlns:p="http://schemas.microsoft.com/office/2006/metadata/properties" xmlns:ns2="5192ee0d-e524-4888-b581-1910cadcd210" xmlns:ns3="525df02f-3aee-47af-b2f3-c2ea8bcae9a6" targetNamespace="http://schemas.microsoft.com/office/2006/metadata/properties" ma:root="true" ma:fieldsID="46a0fe0a5856e7b3d34195bf7e8182f7" ns2:_="" ns3:_="">
    <xsd:import namespace="5192ee0d-e524-4888-b581-1910cadcd210"/>
    <xsd:import namespace="525df02f-3aee-47af-b2f3-c2ea8bcae9a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192ee0d-e524-4888-b581-1910cadcd21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이미지 태그" ma:readOnly="false" ma:fieldId="{5cf76f15-5ced-4ddc-b409-7134ff3c332f}" ma:taxonomyMulti="true" ma:sspId="33ef62f9-2e07-484b-bd79-00aec90129f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5df02f-3aee-47af-b2f3-c2ea8bcae9a6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34e75e4-fe8a-42ea-8266-b68b6e213225}" ma:internalName="TaxCatchAll" ma:showField="CatchAllData" ma:web="525df02f-3aee-47af-b2f3-c2ea8bcae9a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1BAB7E2-13DC-4732-9DFB-383F58CEC96B}">
  <ds:schemaRefs>
    <ds:schemaRef ds:uri="5192ee0d-e524-4888-b581-1910cadcd210"/>
    <ds:schemaRef ds:uri="525df02f-3aee-47af-b2f3-c2ea8bcae9a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DD3A233F-28FB-4429-9E02-0CA71BF85946}"/>
</file>

<file path=customXml/itemProps3.xml><?xml version="1.0" encoding="utf-8"?>
<ds:datastoreItem xmlns:ds="http://schemas.openxmlformats.org/officeDocument/2006/customXml" ds:itemID="{AE12B1EA-3C89-46A2-890B-9A8BBB0EB05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511</TotalTime>
  <Words>7546</Words>
  <Application>Microsoft Office PowerPoint</Application>
  <PresentationFormat>Widescreen</PresentationFormat>
  <Paragraphs>1473</Paragraphs>
  <Slides>32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맑은 고딕</vt:lpstr>
      <vt:lpstr>Arial</vt:lpstr>
      <vt:lpstr>Calibri</vt:lpstr>
      <vt:lpstr>Calibri Light</vt:lpstr>
      <vt:lpstr>Wingdings</vt:lpstr>
      <vt:lpstr>Office 테마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ji-eun</dc:creator>
  <cp:lastModifiedBy>Jong-Min La</cp:lastModifiedBy>
  <cp:revision>2</cp:revision>
  <dcterms:created xsi:type="dcterms:W3CDTF">2025-09-15T04:25:44Z</dcterms:created>
  <dcterms:modified xsi:type="dcterms:W3CDTF">2026-02-23T07:55:34Z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0x010100EB971F96850C604FA9DD4A6FAA1D7E94</vt:lpwstr>
  </property>
  <property fmtid="{D5CDD505-2E9C-101B-9397-08002B2CF9AE}" pid="3" name="MediaServiceImageTags">
    <vt:lpwstr/>
  </property>
</Properties>
</file>